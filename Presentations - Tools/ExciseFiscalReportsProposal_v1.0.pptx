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4" r:id="rId3"/>
    <p:sldId id="263" r:id="rId4"/>
    <p:sldId id="257" r:id="rId5"/>
    <p:sldId id="266" r:id="rId6"/>
    <p:sldId id="258" r:id="rId7"/>
    <p:sldId id="262" r:id="rId8"/>
    <p:sldId id="259" r:id="rId9"/>
    <p:sldId id="260" r:id="rId10"/>
    <p:sldId id="265" r:id="rId11"/>
    <p:sldId id="261" r:id="rId12"/>
  </p:sldIdLst>
  <p:sldSz cx="12192000" cy="6858000"/>
  <p:notesSz cx="6980238"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918"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en John Stretton" userId="da8c780b-1aa2-4e36-94fb-871dc8111504" providerId="ADAL" clId="{461C8D16-F91C-40AB-8163-8272BCB3CEB6}"/>
    <pc:docChg chg="modSld">
      <pc:chgData name="Stephen John Stretton" userId="da8c780b-1aa2-4e36-94fb-871dc8111504" providerId="ADAL" clId="{461C8D16-F91C-40AB-8163-8272BCB3CEB6}" dt="2026-05-21T21:13:33.252" v="1" actId="14100"/>
      <pc:docMkLst>
        <pc:docMk/>
      </pc:docMkLst>
      <pc:sldChg chg="modSp mod">
        <pc:chgData name="Stephen John Stretton" userId="da8c780b-1aa2-4e36-94fb-871dc8111504" providerId="ADAL" clId="{461C8D16-F91C-40AB-8163-8272BCB3CEB6}" dt="2026-05-21T21:13:33.252" v="1" actId="14100"/>
        <pc:sldMkLst>
          <pc:docMk/>
          <pc:sldMk cId="1294642696" sldId="262"/>
        </pc:sldMkLst>
        <pc:spChg chg="mod">
          <ac:chgData name="Stephen John Stretton" userId="da8c780b-1aa2-4e36-94fb-871dc8111504" providerId="ADAL" clId="{461C8D16-F91C-40AB-8163-8272BCB3CEB6}" dt="2026-05-21T21:13:33.252" v="1" actId="14100"/>
          <ac:spMkLst>
            <pc:docMk/>
            <pc:sldMk cId="1294642696" sldId="262"/>
            <ac:spMk id="10" creationId="{A81947C6-D60E-5958-EE2C-8484A93C9B5C}"/>
          </ac:spMkLst>
        </pc:spChg>
        <pc:spChg chg="mod">
          <ac:chgData name="Stephen John Stretton" userId="da8c780b-1aa2-4e36-94fb-871dc8111504" providerId="ADAL" clId="{461C8D16-F91C-40AB-8163-8272BCB3CEB6}" dt="2026-05-21T21:09:40.287" v="0" actId="14100"/>
          <ac:spMkLst>
            <pc:docMk/>
            <pc:sldMk cId="1294642696" sldId="262"/>
            <ac:spMk id="14" creationId="{8E4CA1FA-9750-042B-10E1-877AD56D572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5574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287AD-2185-708C-111C-602D35A20E11}"/>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333BA0AF-F1AD-F368-FAE5-2428E66E52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04395C-B46E-4EB6-6E36-7F200F6B28B9}"/>
              </a:ext>
            </a:extLst>
          </p:cNvPr>
          <p:cNvSpPr>
            <a:spLocks noGrp="1"/>
          </p:cNvSpPr>
          <p:nvPr>
            <p:ph type="sldNum" sz="quarter" idx="4294967295"/>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6279975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2FDCD-10CE-2C27-5F1F-5D94C0584D9C}"/>
            </a:ext>
          </a:extLst>
        </p:cNvPr>
        <p:cNvGrpSpPr/>
        <p:nvPr/>
      </p:nvGrpSpPr>
      <p:grpSpPr>
        <a:xfrm>
          <a:off x="0" y="0"/>
          <a:ext cx="0" cy="0"/>
          <a:chOff x="0" y="0"/>
          <a:chExt cx="0" cy="0"/>
        </a:xfrm>
      </p:grpSpPr>
      <p:sp>
        <p:nvSpPr>
          <p:cNvPr id="3" name="Notes Placeholder 2">
            <a:extLst>
              <a:ext uri="{FF2B5EF4-FFF2-40B4-BE49-F238E27FC236}">
                <a16:creationId xmlns:a16="http://schemas.microsoft.com/office/drawing/2014/main" id="{C3A3157D-5699-65A1-43CA-F6214BD3D1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77276D-E92E-7675-E3CB-A4942D4E03A0}"/>
              </a:ext>
            </a:extLst>
          </p:cNvPr>
          <p:cNvSpPr>
            <a:spLocks noGrp="1"/>
          </p:cNvSpPr>
          <p:nvPr>
            <p:ph type="sldNum" sz="quarter" idx="4294967295"/>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4008164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47"/>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4A24C"/>
          </a:solidFill>
          <a:ln/>
        </p:spPr>
        <p:txBody>
          <a:bodyPr/>
          <a:lstStyle/>
          <a:p>
            <a:endParaRPr lang="en-US"/>
          </a:p>
        </p:txBody>
      </p:sp>
      <p:sp>
        <p:nvSpPr>
          <p:cNvPr id="3" name="Text 1"/>
          <p:cNvSpPr/>
          <p:nvPr/>
        </p:nvSpPr>
        <p:spPr>
          <a:xfrm>
            <a:off x="731520" y="1280160"/>
            <a:ext cx="10058400" cy="320040"/>
          </a:xfrm>
          <a:prstGeom prst="rect">
            <a:avLst/>
          </a:prstGeom>
          <a:noFill/>
          <a:ln/>
        </p:spPr>
        <p:txBody>
          <a:bodyPr wrap="square" lIns="0" tIns="0" rIns="0" bIns="0" rtlCol="0" anchor="ctr"/>
          <a:lstStyle/>
          <a:p>
            <a:pPr marL="0" indent="0">
              <a:buNone/>
            </a:pPr>
            <a:r>
              <a:rPr lang="en-US" sz="1200" b="1" kern="0" spc="800" dirty="0">
                <a:solidFill>
                  <a:srgbClr val="CADCFC"/>
                </a:solidFill>
                <a:latin typeface="Calibri" pitchFamily="34" charset="0"/>
                <a:ea typeface="Calibri" pitchFamily="34" charset="-122"/>
                <a:cs typeface="Calibri" pitchFamily="34" charset="-120"/>
              </a:rPr>
              <a:t>PROPOSAL — DRAFT FOR DISCUSSION</a:t>
            </a:r>
            <a:endParaRPr lang="en-US" sz="1200" dirty="0"/>
          </a:p>
        </p:txBody>
      </p:sp>
      <p:sp>
        <p:nvSpPr>
          <p:cNvPr id="4" name="Text 2"/>
          <p:cNvSpPr/>
          <p:nvPr/>
        </p:nvSpPr>
        <p:spPr>
          <a:xfrm>
            <a:off x="731520" y="1691640"/>
            <a:ext cx="10515600" cy="1280160"/>
          </a:xfrm>
          <a:prstGeom prst="rect">
            <a:avLst/>
          </a:prstGeom>
          <a:noFill/>
          <a:ln/>
        </p:spPr>
        <p:txBody>
          <a:bodyPr wrap="square" lIns="0" tIns="0" rIns="0" bIns="0" rtlCol="0" anchor="ctr"/>
          <a:lstStyle/>
          <a:p>
            <a:pPr marL="0" indent="0">
              <a:buNone/>
            </a:pPr>
            <a:r>
              <a:rPr lang="en-US" sz="4600" b="1" dirty="0">
                <a:solidFill>
                  <a:srgbClr val="FFFFFF"/>
                </a:solidFill>
                <a:latin typeface="Georgia" pitchFamily="34" charset="0"/>
                <a:ea typeface="Georgia" pitchFamily="34" charset="-122"/>
                <a:cs typeface="Georgia" pitchFamily="34" charset="-120"/>
              </a:rPr>
              <a:t>Automated Excise-Fiscal Reports</a:t>
            </a:r>
            <a:endParaRPr lang="en-US" sz="4600" dirty="0"/>
          </a:p>
        </p:txBody>
      </p:sp>
      <p:sp>
        <p:nvSpPr>
          <p:cNvPr id="5" name="Text 3"/>
          <p:cNvSpPr/>
          <p:nvPr/>
        </p:nvSpPr>
        <p:spPr>
          <a:xfrm>
            <a:off x="731520" y="3063240"/>
            <a:ext cx="10515600" cy="914400"/>
          </a:xfrm>
          <a:prstGeom prst="rect">
            <a:avLst/>
          </a:prstGeom>
          <a:noFill/>
          <a:ln/>
        </p:spPr>
        <p:txBody>
          <a:bodyPr wrap="square" lIns="0" tIns="0" rIns="0" bIns="0"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A standardised three-part diagnostic — instruments, externalities, pathways — for country fiscal teams</a:t>
            </a:r>
            <a:endParaRPr lang="en-US" sz="1800" dirty="0"/>
          </a:p>
        </p:txBody>
      </p:sp>
      <p:sp>
        <p:nvSpPr>
          <p:cNvPr id="6" name="Shape 4"/>
          <p:cNvSpPr/>
          <p:nvPr/>
        </p:nvSpPr>
        <p:spPr>
          <a:xfrm>
            <a:off x="731520" y="4526280"/>
            <a:ext cx="2743200" cy="822960"/>
          </a:xfrm>
          <a:prstGeom prst="rect">
            <a:avLst/>
          </a:prstGeom>
          <a:solidFill>
            <a:srgbClr val="1E2761"/>
          </a:solidFill>
          <a:ln/>
        </p:spPr>
        <p:txBody>
          <a:bodyPr/>
          <a:lstStyle/>
          <a:p>
            <a:endParaRPr lang="en-US"/>
          </a:p>
        </p:txBody>
      </p:sp>
      <p:sp>
        <p:nvSpPr>
          <p:cNvPr id="7" name="Shape 5"/>
          <p:cNvSpPr/>
          <p:nvPr/>
        </p:nvSpPr>
        <p:spPr>
          <a:xfrm>
            <a:off x="896112" y="4690872"/>
            <a:ext cx="502920" cy="502920"/>
          </a:xfrm>
          <a:prstGeom prst="ellipse">
            <a:avLst/>
          </a:prstGeom>
          <a:solidFill>
            <a:srgbClr val="D4A24C"/>
          </a:solidFill>
          <a:ln/>
        </p:spPr>
        <p:txBody>
          <a:bodyPr/>
          <a:lstStyle/>
          <a:p>
            <a:endParaRPr lang="en-US"/>
          </a:p>
        </p:txBody>
      </p:sp>
      <p:sp>
        <p:nvSpPr>
          <p:cNvPr id="8" name="Text 6"/>
          <p:cNvSpPr/>
          <p:nvPr/>
        </p:nvSpPr>
        <p:spPr>
          <a:xfrm>
            <a:off x="896112" y="4690872"/>
            <a:ext cx="502920" cy="502920"/>
          </a:xfrm>
          <a:prstGeom prst="rect">
            <a:avLst/>
          </a:prstGeom>
          <a:noFill/>
          <a:ln/>
        </p:spPr>
        <p:txBody>
          <a:bodyPr wrap="square" lIns="0" tIns="0" rIns="0" bIns="0" rtlCol="0" anchor="ctr"/>
          <a:lstStyle/>
          <a:p>
            <a:pPr marL="0" indent="0" algn="ctr">
              <a:buNone/>
            </a:pPr>
            <a:r>
              <a:rPr lang="en-US" sz="1800" b="1" dirty="0">
                <a:solidFill>
                  <a:srgbClr val="121A47"/>
                </a:solidFill>
                <a:latin typeface="Georgia" pitchFamily="34" charset="0"/>
                <a:ea typeface="Georgia" pitchFamily="34" charset="-122"/>
                <a:cs typeface="Georgia" pitchFamily="34" charset="-120"/>
              </a:rPr>
              <a:t>A</a:t>
            </a:r>
            <a:endParaRPr lang="en-US" sz="1800" dirty="0"/>
          </a:p>
        </p:txBody>
      </p:sp>
      <p:sp>
        <p:nvSpPr>
          <p:cNvPr id="9" name="Text 7"/>
          <p:cNvSpPr/>
          <p:nvPr/>
        </p:nvSpPr>
        <p:spPr>
          <a:xfrm>
            <a:off x="1508760" y="4672584"/>
            <a:ext cx="1645920" cy="228600"/>
          </a:xfrm>
          <a:prstGeom prst="rect">
            <a:avLst/>
          </a:prstGeom>
          <a:noFill/>
          <a:ln/>
        </p:spPr>
        <p:txBody>
          <a:bodyPr wrap="square" lIns="0" tIns="0" rIns="0" bIns="0" rtlCol="0" anchor="ctr"/>
          <a:lstStyle/>
          <a:p>
            <a:pPr marL="0" indent="0">
              <a:buNone/>
            </a:pPr>
            <a:endParaRPr lang="en-US" sz="900" dirty="0"/>
          </a:p>
        </p:txBody>
      </p:sp>
      <p:sp>
        <p:nvSpPr>
          <p:cNvPr id="10" name="Text 8"/>
          <p:cNvSpPr/>
          <p:nvPr/>
        </p:nvSpPr>
        <p:spPr>
          <a:xfrm>
            <a:off x="1508760" y="4585063"/>
            <a:ext cx="1828800" cy="718457"/>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Part A: Excise Diagnostic</a:t>
            </a:r>
            <a:endParaRPr lang="en-US" sz="1400" dirty="0"/>
          </a:p>
        </p:txBody>
      </p:sp>
      <p:sp>
        <p:nvSpPr>
          <p:cNvPr id="11" name="Shape 9"/>
          <p:cNvSpPr/>
          <p:nvPr/>
        </p:nvSpPr>
        <p:spPr>
          <a:xfrm>
            <a:off x="3657600" y="4526280"/>
            <a:ext cx="2743200" cy="822960"/>
          </a:xfrm>
          <a:prstGeom prst="rect">
            <a:avLst/>
          </a:prstGeom>
          <a:solidFill>
            <a:srgbClr val="1E2761"/>
          </a:solidFill>
          <a:ln/>
        </p:spPr>
        <p:txBody>
          <a:bodyPr/>
          <a:lstStyle/>
          <a:p>
            <a:endParaRPr lang="en-US"/>
          </a:p>
        </p:txBody>
      </p:sp>
      <p:sp>
        <p:nvSpPr>
          <p:cNvPr id="12" name="Shape 10"/>
          <p:cNvSpPr/>
          <p:nvPr/>
        </p:nvSpPr>
        <p:spPr>
          <a:xfrm>
            <a:off x="3822192" y="4690872"/>
            <a:ext cx="502920" cy="502920"/>
          </a:xfrm>
          <a:prstGeom prst="ellipse">
            <a:avLst/>
          </a:prstGeom>
          <a:solidFill>
            <a:srgbClr val="D4A24C"/>
          </a:solidFill>
          <a:ln/>
        </p:spPr>
        <p:txBody>
          <a:bodyPr/>
          <a:lstStyle/>
          <a:p>
            <a:endParaRPr lang="en-US"/>
          </a:p>
        </p:txBody>
      </p:sp>
      <p:sp>
        <p:nvSpPr>
          <p:cNvPr id="13" name="Text 11"/>
          <p:cNvSpPr/>
          <p:nvPr/>
        </p:nvSpPr>
        <p:spPr>
          <a:xfrm>
            <a:off x="3822192" y="4690872"/>
            <a:ext cx="502920" cy="502920"/>
          </a:xfrm>
          <a:prstGeom prst="rect">
            <a:avLst/>
          </a:prstGeom>
          <a:noFill/>
          <a:ln/>
        </p:spPr>
        <p:txBody>
          <a:bodyPr wrap="square" lIns="0" tIns="0" rIns="0" bIns="0" rtlCol="0" anchor="ctr"/>
          <a:lstStyle/>
          <a:p>
            <a:pPr marL="0" indent="0" algn="ctr">
              <a:buNone/>
            </a:pPr>
            <a:r>
              <a:rPr lang="en-US" sz="1800" b="1" dirty="0">
                <a:solidFill>
                  <a:srgbClr val="121A47"/>
                </a:solidFill>
                <a:latin typeface="Georgia" pitchFamily="34" charset="0"/>
                <a:ea typeface="Georgia" pitchFamily="34" charset="-122"/>
                <a:cs typeface="Georgia" pitchFamily="34" charset="-120"/>
              </a:rPr>
              <a:t>B</a:t>
            </a:r>
            <a:endParaRPr lang="en-US" sz="1800" dirty="0"/>
          </a:p>
        </p:txBody>
      </p:sp>
      <p:sp>
        <p:nvSpPr>
          <p:cNvPr id="14" name="Text 12"/>
          <p:cNvSpPr/>
          <p:nvPr/>
        </p:nvSpPr>
        <p:spPr>
          <a:xfrm>
            <a:off x="4434840" y="4672584"/>
            <a:ext cx="1645920" cy="228600"/>
          </a:xfrm>
          <a:prstGeom prst="rect">
            <a:avLst/>
          </a:prstGeom>
          <a:noFill/>
          <a:ln/>
        </p:spPr>
        <p:txBody>
          <a:bodyPr wrap="square" lIns="0" tIns="0" rIns="0" bIns="0" rtlCol="0" anchor="ctr"/>
          <a:lstStyle/>
          <a:p>
            <a:pPr marL="0" indent="0">
              <a:buNone/>
            </a:pPr>
            <a:endParaRPr lang="en-US" sz="900" dirty="0"/>
          </a:p>
        </p:txBody>
      </p:sp>
      <p:sp>
        <p:nvSpPr>
          <p:cNvPr id="15" name="Text 13"/>
          <p:cNvSpPr/>
          <p:nvPr/>
        </p:nvSpPr>
        <p:spPr>
          <a:xfrm>
            <a:off x="4434840" y="4585063"/>
            <a:ext cx="1828800" cy="718457"/>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Part B: Externality Diagnostic</a:t>
            </a:r>
            <a:endParaRPr lang="en-US" sz="1400" dirty="0"/>
          </a:p>
        </p:txBody>
      </p:sp>
      <p:sp>
        <p:nvSpPr>
          <p:cNvPr id="16" name="Shape 14"/>
          <p:cNvSpPr/>
          <p:nvPr/>
        </p:nvSpPr>
        <p:spPr>
          <a:xfrm>
            <a:off x="6583680" y="4526280"/>
            <a:ext cx="2743200" cy="822960"/>
          </a:xfrm>
          <a:prstGeom prst="rect">
            <a:avLst/>
          </a:prstGeom>
          <a:solidFill>
            <a:srgbClr val="1E2761"/>
          </a:solidFill>
          <a:ln/>
        </p:spPr>
        <p:txBody>
          <a:bodyPr/>
          <a:lstStyle/>
          <a:p>
            <a:endParaRPr lang="en-US"/>
          </a:p>
        </p:txBody>
      </p:sp>
      <p:sp>
        <p:nvSpPr>
          <p:cNvPr id="17" name="Shape 15"/>
          <p:cNvSpPr/>
          <p:nvPr/>
        </p:nvSpPr>
        <p:spPr>
          <a:xfrm>
            <a:off x="6748272" y="4690872"/>
            <a:ext cx="502920" cy="502920"/>
          </a:xfrm>
          <a:prstGeom prst="ellipse">
            <a:avLst/>
          </a:prstGeom>
          <a:solidFill>
            <a:srgbClr val="D4A24C"/>
          </a:solidFill>
          <a:ln/>
        </p:spPr>
        <p:txBody>
          <a:bodyPr/>
          <a:lstStyle/>
          <a:p>
            <a:endParaRPr lang="en-US"/>
          </a:p>
        </p:txBody>
      </p:sp>
      <p:sp>
        <p:nvSpPr>
          <p:cNvPr id="18" name="Text 16"/>
          <p:cNvSpPr/>
          <p:nvPr/>
        </p:nvSpPr>
        <p:spPr>
          <a:xfrm>
            <a:off x="6748272" y="4690872"/>
            <a:ext cx="502920" cy="502920"/>
          </a:xfrm>
          <a:prstGeom prst="rect">
            <a:avLst/>
          </a:prstGeom>
          <a:noFill/>
          <a:ln/>
        </p:spPr>
        <p:txBody>
          <a:bodyPr wrap="square" lIns="0" tIns="0" rIns="0" bIns="0" rtlCol="0" anchor="ctr"/>
          <a:lstStyle/>
          <a:p>
            <a:pPr marL="0" indent="0" algn="ctr">
              <a:buNone/>
            </a:pPr>
            <a:r>
              <a:rPr lang="en-US" sz="1800" b="1" dirty="0">
                <a:solidFill>
                  <a:srgbClr val="121A47"/>
                </a:solidFill>
                <a:latin typeface="Georgia" pitchFamily="34" charset="0"/>
                <a:ea typeface="Georgia" pitchFamily="34" charset="-122"/>
                <a:cs typeface="Georgia" pitchFamily="34" charset="-120"/>
              </a:rPr>
              <a:t>C</a:t>
            </a:r>
            <a:endParaRPr lang="en-US" sz="1800" dirty="0"/>
          </a:p>
        </p:txBody>
      </p:sp>
      <p:sp>
        <p:nvSpPr>
          <p:cNvPr id="19" name="Text 17"/>
          <p:cNvSpPr/>
          <p:nvPr/>
        </p:nvSpPr>
        <p:spPr>
          <a:xfrm>
            <a:off x="7360920" y="4672584"/>
            <a:ext cx="1645920" cy="228600"/>
          </a:xfrm>
          <a:prstGeom prst="rect">
            <a:avLst/>
          </a:prstGeom>
          <a:noFill/>
          <a:ln/>
        </p:spPr>
        <p:txBody>
          <a:bodyPr wrap="square" lIns="0" tIns="0" rIns="0" bIns="0" rtlCol="0" anchor="ctr"/>
          <a:lstStyle/>
          <a:p>
            <a:pPr marL="0" indent="0">
              <a:buNone/>
            </a:pPr>
            <a:endParaRPr lang="en-US" sz="900" dirty="0"/>
          </a:p>
        </p:txBody>
      </p:sp>
      <p:sp>
        <p:nvSpPr>
          <p:cNvPr id="20" name="Text 18"/>
          <p:cNvSpPr/>
          <p:nvPr/>
        </p:nvSpPr>
        <p:spPr>
          <a:xfrm>
            <a:off x="7360920" y="4585063"/>
            <a:ext cx="1828800" cy="718457"/>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Part C: Policy Pathways</a:t>
            </a:r>
            <a:endParaRPr lang="en-US" sz="1400" dirty="0"/>
          </a:p>
        </p:txBody>
      </p:sp>
      <p:sp>
        <p:nvSpPr>
          <p:cNvPr id="21" name="Text 19"/>
          <p:cNvSpPr/>
          <p:nvPr/>
        </p:nvSpPr>
        <p:spPr>
          <a:xfrm>
            <a:off x="731520" y="6263640"/>
            <a:ext cx="8229600" cy="274320"/>
          </a:xfrm>
          <a:prstGeom prst="rect">
            <a:avLst/>
          </a:prstGeom>
          <a:noFill/>
          <a:ln/>
        </p:spPr>
        <p:txBody>
          <a:bodyPr wrap="square" lIns="0" tIns="0" rIns="0" bIns="0" rtlCol="0" anchor="ctr"/>
          <a:lstStyle/>
          <a:p>
            <a:pPr marL="0" indent="0">
              <a:buNone/>
            </a:pPr>
            <a:r>
              <a:rPr lang="en-US" sz="1000" dirty="0">
                <a:solidFill>
                  <a:srgbClr val="CADCFC">
                    <a:alpha val="70000"/>
                  </a:srgbClr>
                </a:solidFill>
                <a:latin typeface="Calibri" pitchFamily="34" charset="0"/>
                <a:ea typeface="Calibri" pitchFamily="34" charset="-122"/>
                <a:cs typeface="Calibri" pitchFamily="34" charset="-120"/>
              </a:rPr>
              <a:t>World Bank · Fiscal Policy Unit · </a:t>
            </a:r>
            <a:r>
              <a:rPr lang="en-US" sz="1000">
                <a:solidFill>
                  <a:srgbClr val="CADCFC">
                    <a:alpha val="70000"/>
                  </a:srgbClr>
                </a:solidFill>
                <a:latin typeface="Calibri" pitchFamily="34" charset="0"/>
                <a:ea typeface="Calibri" pitchFamily="34" charset="-122"/>
                <a:cs typeface="Calibri" pitchFamily="34" charset="-120"/>
              </a:rPr>
              <a:t>Draft v0.2 </a:t>
            </a:r>
            <a:r>
              <a:rPr lang="en-US" sz="1000" dirty="0">
                <a:solidFill>
                  <a:srgbClr val="CADCFC">
                    <a:alpha val="70000"/>
                  </a:srgbClr>
                </a:solidFill>
                <a:latin typeface="Calibri" pitchFamily="34" charset="0"/>
                <a:ea typeface="Calibri" pitchFamily="34" charset="-122"/>
                <a:cs typeface="Calibri" pitchFamily="34" charset="-120"/>
              </a:rPr>
              <a:t>· May-June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Table of Contents">
    <p:bg>
      <p:bgPr>
        <a:solidFill>
          <a:srgbClr val="121A47"/>
        </a:solidFill>
        <a:effectLst/>
      </p:bgPr>
    </p:bg>
    <p:spTree>
      <p:nvGrpSpPr>
        <p:cNvPr id="1" name=""/>
        <p:cNvGrpSpPr/>
        <p:nvPr/>
      </p:nvGrpSpPr>
      <p:grpSpPr>
        <a:xfrm>
          <a:off x="0" y="0"/>
          <a:ext cx="0" cy="0"/>
          <a:chOff x="0" y="0"/>
          <a:chExt cx="0" cy="0"/>
        </a:xfrm>
      </p:grpSpPr>
      <p:sp>
        <p:nvSpPr>
          <p:cNvPr id="100" name="GoldBar"/>
          <p:cNvSpPr/>
          <p:nvPr/>
        </p:nvSpPr>
        <p:spPr>
          <a:xfrm>
            <a:off x="0" y="0"/>
            <a:ext cx="164592" cy="6858000"/>
          </a:xfrm>
          <a:prstGeom prst="rect">
            <a:avLst/>
          </a:prstGeom>
          <a:solidFill>
            <a:srgbClr val="D4A24C"/>
          </a:solidFill>
          <a:ln/>
        </p:spPr>
        <p:txBody>
          <a:bodyPr/>
          <a:lstStyle/>
          <a:p>
            <a:endParaRPr lang="en-US"/>
          </a:p>
        </p:txBody>
      </p:sp>
      <p:sp>
        <p:nvSpPr>
          <p:cNvPr id="101" name="Eyebrow"/>
          <p:cNvSpPr/>
          <p:nvPr/>
        </p:nvSpPr>
        <p:spPr>
          <a:xfrm>
            <a:off x="640080" y="411480"/>
            <a:ext cx="6000000" cy="274320"/>
          </a:xfrm>
          <a:prstGeom prst="rect">
            <a:avLst/>
          </a:prstGeom>
          <a:noFill/>
          <a:ln/>
        </p:spPr>
        <p:txBody>
          <a:bodyPr wrap="square" lIns="0" tIns="0" rIns="0" bIns="0" rtlCol="0" anchor="ctr"/>
          <a:lstStyle/>
          <a:p>
            <a:pPr marL="0" indent="0" algn="l">
              <a:buNone/>
            </a:pPr>
            <a:r>
              <a:rPr lang="en-US" sz="1100" b="1" kern="0" spc="600" dirty="0">
                <a:solidFill>
                  <a:srgbClr val="D4A24C"/>
                </a:solidFill>
                <a:latin typeface="Calibri" pitchFamily="34" charset="0"/>
                <a:ea typeface="Calibri" pitchFamily="34" charset="-122"/>
                <a:cs typeface="Calibri" pitchFamily="34" charset="-120"/>
              </a:rPr>
              <a:t>CONTENTS</a:t>
            </a:r>
            <a:endParaRPr lang="en-US" dirty="0"/>
          </a:p>
        </p:txBody>
      </p:sp>
      <p:sp>
        <p:nvSpPr>
          <p:cNvPr id="102" name="Title"/>
          <p:cNvSpPr/>
          <p:nvPr/>
        </p:nvSpPr>
        <p:spPr>
          <a:xfrm>
            <a:off x="640080" y="713232"/>
            <a:ext cx="10972800" cy="777240"/>
          </a:xfrm>
          <a:prstGeom prst="rect">
            <a:avLst/>
          </a:prstGeom>
          <a:noFill/>
          <a:ln/>
        </p:spPr>
        <p:txBody>
          <a:bodyPr wrap="square" lIns="0" tIns="0" rIns="0" bIns="0" rtlCol="0" anchor="ctr"/>
          <a:lstStyle/>
          <a:p>
            <a:pPr marL="0" indent="0" algn="l">
              <a:buNone/>
            </a:pPr>
            <a:r>
              <a:rPr lang="en-US" sz="3200" b="1" kern="0" dirty="0">
                <a:solidFill>
                  <a:srgbClr val="FFFFFF"/>
                </a:solidFill>
                <a:latin typeface="Georgia" pitchFamily="34" charset="0"/>
                <a:ea typeface="Georgia" pitchFamily="34" charset="-122"/>
                <a:cs typeface="Georgia" pitchFamily="34" charset="-120"/>
              </a:rPr>
              <a:t>Table of Contents</a:t>
            </a:r>
            <a:endParaRPr lang="en-US" dirty="0"/>
          </a:p>
        </p:txBody>
      </p:sp>
      <p:sp>
        <p:nvSpPr>
          <p:cNvPr id="103" name="Intro"/>
          <p:cNvSpPr/>
          <p:nvPr/>
        </p:nvSpPr>
        <p:spPr>
          <a:xfrm>
            <a:off x="640080" y="1554480"/>
            <a:ext cx="10972800" cy="320040"/>
          </a:xfrm>
          <a:prstGeom prst="rect">
            <a:avLst/>
          </a:prstGeom>
          <a:noFill/>
          <a:ln/>
        </p:spPr>
        <p:txBody>
          <a:bodyPr wrap="square" lIns="0" tIns="0" rIns="0" bIns="0" rtlCol="0" anchor="ctr"/>
          <a:lstStyle/>
          <a:p>
            <a:pPr marL="0" indent="0" algn="l">
              <a:buNone/>
            </a:pPr>
            <a:r>
              <a:rPr lang="en-US" sz="1300" i="1" kern="0" dirty="0">
                <a:solidFill>
                  <a:srgbClr val="CADCFC"/>
                </a:solidFill>
                <a:latin typeface="Calibri" pitchFamily="34" charset="0"/>
                <a:ea typeface="Calibri" pitchFamily="34" charset="-122"/>
                <a:cs typeface="Calibri" pitchFamily="34" charset="-120"/>
              </a:rPr>
              <a:t>A standardised three-part diagnostic — instruments, externalities, pathways — for country fiscal teams</a:t>
            </a:r>
            <a:endParaRPr lang="en-US" dirty="0"/>
          </a:p>
        </p:txBody>
      </p:sp>
      <p:sp>
        <p:nvSpPr>
          <p:cNvPr id="200" name="NumCircle03"/>
          <p:cNvSpPr/>
          <p:nvPr/>
        </p:nvSpPr>
        <p:spPr>
          <a:xfrm>
            <a:off x="640080" y="1950000"/>
            <a:ext cx="411480" cy="411480"/>
          </a:xfrm>
          <a:prstGeom prst="ellipse">
            <a:avLst/>
          </a:prstGeom>
          <a:solidFill>
            <a:srgbClr val="D4A24C"/>
          </a:solidFill>
          <a:ln/>
        </p:spPr>
        <p:txBody>
          <a:bodyPr/>
          <a:lstStyle/>
          <a:p>
            <a:endParaRPr lang="en-US"/>
          </a:p>
        </p:txBody>
      </p:sp>
      <p:sp>
        <p:nvSpPr>
          <p:cNvPr id="201" name="NumText03"/>
          <p:cNvSpPr/>
          <p:nvPr/>
        </p:nvSpPr>
        <p:spPr>
          <a:xfrm>
            <a:off x="640080" y="195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03</a:t>
            </a:r>
          </a:p>
        </p:txBody>
      </p:sp>
      <p:sp>
        <p:nvSpPr>
          <p:cNvPr id="202" name="ItemTitle"/>
          <p:cNvSpPr/>
          <p:nvPr/>
        </p:nvSpPr>
        <p:spPr>
          <a:xfrm>
            <a:off x="1234440" y="193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Overview (i)</a:t>
            </a:r>
          </a:p>
        </p:txBody>
      </p:sp>
      <p:sp>
        <p:nvSpPr>
          <p:cNvPr id="203" name="ItemSub"/>
          <p:cNvSpPr/>
          <p:nvPr/>
        </p:nvSpPr>
        <p:spPr>
          <a:xfrm>
            <a:off x="1234440" y="225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Purpose, the fiscal bottom line, and scope</a:t>
            </a:r>
          </a:p>
        </p:txBody>
      </p:sp>
      <p:sp>
        <p:nvSpPr>
          <p:cNvPr id="204" name="NumCircle04"/>
          <p:cNvSpPr/>
          <p:nvPr/>
        </p:nvSpPr>
        <p:spPr>
          <a:xfrm>
            <a:off x="640080" y="2870000"/>
            <a:ext cx="411480" cy="411480"/>
          </a:xfrm>
          <a:prstGeom prst="ellipse">
            <a:avLst/>
          </a:prstGeom>
          <a:solidFill>
            <a:srgbClr val="D4A24C"/>
          </a:solidFill>
          <a:ln/>
        </p:spPr>
        <p:txBody>
          <a:bodyPr/>
          <a:lstStyle/>
          <a:p>
            <a:endParaRPr lang="en-US"/>
          </a:p>
        </p:txBody>
      </p:sp>
      <p:sp>
        <p:nvSpPr>
          <p:cNvPr id="205" name="NumText04"/>
          <p:cNvSpPr/>
          <p:nvPr/>
        </p:nvSpPr>
        <p:spPr>
          <a:xfrm>
            <a:off x="640080" y="287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04</a:t>
            </a:r>
          </a:p>
        </p:txBody>
      </p:sp>
      <p:sp>
        <p:nvSpPr>
          <p:cNvPr id="206" name="ItemTitle"/>
          <p:cNvSpPr/>
          <p:nvPr/>
        </p:nvSpPr>
        <p:spPr>
          <a:xfrm>
            <a:off x="1234440" y="285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Overview (ii)</a:t>
            </a:r>
          </a:p>
        </p:txBody>
      </p:sp>
      <p:sp>
        <p:nvSpPr>
          <p:cNvPr id="207" name="ItemSub"/>
          <p:cNvSpPr/>
          <p:nvPr/>
        </p:nvSpPr>
        <p:spPr>
          <a:xfrm>
            <a:off x="1234440" y="317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Why a synthesis layer is needed; what it delivers</a:t>
            </a:r>
          </a:p>
        </p:txBody>
      </p:sp>
      <p:sp>
        <p:nvSpPr>
          <p:cNvPr id="208" name="NumCircle05"/>
          <p:cNvSpPr/>
          <p:nvPr/>
        </p:nvSpPr>
        <p:spPr>
          <a:xfrm>
            <a:off x="640080" y="3790000"/>
            <a:ext cx="411480" cy="411480"/>
          </a:xfrm>
          <a:prstGeom prst="ellipse">
            <a:avLst/>
          </a:prstGeom>
          <a:solidFill>
            <a:srgbClr val="D4A24C"/>
          </a:solidFill>
          <a:ln/>
        </p:spPr>
        <p:txBody>
          <a:bodyPr/>
          <a:lstStyle/>
          <a:p>
            <a:endParaRPr lang="en-US"/>
          </a:p>
        </p:txBody>
      </p:sp>
      <p:sp>
        <p:nvSpPr>
          <p:cNvPr id="209" name="NumText05"/>
          <p:cNvSpPr/>
          <p:nvPr/>
        </p:nvSpPr>
        <p:spPr>
          <a:xfrm>
            <a:off x="640080" y="379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05</a:t>
            </a:r>
          </a:p>
        </p:txBody>
      </p:sp>
      <p:sp>
        <p:nvSpPr>
          <p:cNvPr id="210" name="ItemTitle"/>
          <p:cNvSpPr/>
          <p:nvPr/>
        </p:nvSpPr>
        <p:spPr>
          <a:xfrm>
            <a:off x="1234440" y="377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Key questions</a:t>
            </a:r>
          </a:p>
        </p:txBody>
      </p:sp>
      <p:sp>
        <p:nvSpPr>
          <p:cNvPr id="211" name="ItemSub"/>
          <p:cNvSpPr/>
          <p:nvPr/>
        </p:nvSpPr>
        <p:spPr>
          <a:xfrm>
            <a:off x="1234440" y="409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The 28 questions and the climate–health link</a:t>
            </a:r>
          </a:p>
        </p:txBody>
      </p:sp>
      <p:sp>
        <p:nvSpPr>
          <p:cNvPr id="212" name="NumCircle06"/>
          <p:cNvSpPr/>
          <p:nvPr/>
        </p:nvSpPr>
        <p:spPr>
          <a:xfrm>
            <a:off x="640080" y="4710000"/>
            <a:ext cx="411480" cy="411480"/>
          </a:xfrm>
          <a:prstGeom prst="ellipse">
            <a:avLst/>
          </a:prstGeom>
          <a:solidFill>
            <a:srgbClr val="D4A24C"/>
          </a:solidFill>
          <a:ln/>
        </p:spPr>
        <p:txBody>
          <a:bodyPr/>
          <a:lstStyle/>
          <a:p>
            <a:endParaRPr lang="en-US"/>
          </a:p>
        </p:txBody>
      </p:sp>
      <p:sp>
        <p:nvSpPr>
          <p:cNvPr id="213" name="NumText06"/>
          <p:cNvSpPr/>
          <p:nvPr/>
        </p:nvSpPr>
        <p:spPr>
          <a:xfrm>
            <a:off x="640080" y="471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06</a:t>
            </a:r>
          </a:p>
        </p:txBody>
      </p:sp>
      <p:sp>
        <p:nvSpPr>
          <p:cNvPr id="214" name="ItemTitle"/>
          <p:cNvSpPr/>
          <p:nvPr/>
        </p:nvSpPr>
        <p:spPr>
          <a:xfrm>
            <a:off x="1234440" y="469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Structure</a:t>
            </a:r>
          </a:p>
        </p:txBody>
      </p:sp>
      <p:sp>
        <p:nvSpPr>
          <p:cNvPr id="215" name="ItemSub"/>
          <p:cNvSpPr/>
          <p:nvPr/>
        </p:nvSpPr>
        <p:spPr>
          <a:xfrm>
            <a:off x="1234440" y="501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Structure of the three-part report</a:t>
            </a:r>
          </a:p>
        </p:txBody>
      </p:sp>
      <p:sp>
        <p:nvSpPr>
          <p:cNvPr id="216" name="NumCircle07"/>
          <p:cNvSpPr/>
          <p:nvPr/>
        </p:nvSpPr>
        <p:spPr>
          <a:xfrm>
            <a:off x="640080" y="5630000"/>
            <a:ext cx="411480" cy="411480"/>
          </a:xfrm>
          <a:prstGeom prst="ellipse">
            <a:avLst/>
          </a:prstGeom>
          <a:solidFill>
            <a:srgbClr val="D4A24C"/>
          </a:solidFill>
          <a:ln/>
        </p:spPr>
        <p:txBody>
          <a:bodyPr/>
          <a:lstStyle/>
          <a:p>
            <a:endParaRPr lang="en-US"/>
          </a:p>
        </p:txBody>
      </p:sp>
      <p:sp>
        <p:nvSpPr>
          <p:cNvPr id="217" name="NumText07"/>
          <p:cNvSpPr/>
          <p:nvPr/>
        </p:nvSpPr>
        <p:spPr>
          <a:xfrm>
            <a:off x="640080" y="563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07</a:t>
            </a:r>
          </a:p>
        </p:txBody>
      </p:sp>
      <p:sp>
        <p:nvSpPr>
          <p:cNvPr id="218" name="ItemTitle"/>
          <p:cNvSpPr/>
          <p:nvPr/>
        </p:nvSpPr>
        <p:spPr>
          <a:xfrm>
            <a:off x="1234440" y="561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Process: Use of AI</a:t>
            </a:r>
          </a:p>
        </p:txBody>
      </p:sp>
      <p:sp>
        <p:nvSpPr>
          <p:cNvPr id="219" name="ItemSub"/>
          <p:cNvSpPr/>
          <p:nvPr/>
        </p:nvSpPr>
        <p:spPr>
          <a:xfrm>
            <a:off x="1234440" y="593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How we use AI — proposed tool and process</a:t>
            </a:r>
          </a:p>
        </p:txBody>
      </p:sp>
      <p:sp>
        <p:nvSpPr>
          <p:cNvPr id="220" name="NumCircle08"/>
          <p:cNvSpPr/>
          <p:nvPr/>
        </p:nvSpPr>
        <p:spPr>
          <a:xfrm>
            <a:off x="6126480" y="1950000"/>
            <a:ext cx="411480" cy="411480"/>
          </a:xfrm>
          <a:prstGeom prst="ellipse">
            <a:avLst/>
          </a:prstGeom>
          <a:solidFill>
            <a:srgbClr val="D4A24C"/>
          </a:solidFill>
          <a:ln/>
        </p:spPr>
        <p:txBody>
          <a:bodyPr/>
          <a:lstStyle/>
          <a:p>
            <a:endParaRPr lang="en-US"/>
          </a:p>
        </p:txBody>
      </p:sp>
      <p:sp>
        <p:nvSpPr>
          <p:cNvPr id="221" name="NumText08"/>
          <p:cNvSpPr/>
          <p:nvPr/>
        </p:nvSpPr>
        <p:spPr>
          <a:xfrm>
            <a:off x="6126480" y="195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08</a:t>
            </a:r>
          </a:p>
        </p:txBody>
      </p:sp>
      <p:sp>
        <p:nvSpPr>
          <p:cNvPr id="222" name="ItemTitle"/>
          <p:cNvSpPr/>
          <p:nvPr/>
        </p:nvSpPr>
        <p:spPr>
          <a:xfrm>
            <a:off x="6720840" y="193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Examples</a:t>
            </a:r>
          </a:p>
        </p:txBody>
      </p:sp>
      <p:sp>
        <p:nvSpPr>
          <p:cNvPr id="223" name="ItemSub"/>
          <p:cNvSpPr/>
          <p:nvPr/>
        </p:nvSpPr>
        <p:spPr>
          <a:xfrm>
            <a:off x="6720840" y="225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Two worked applications — Uganda and Sierra Leone</a:t>
            </a:r>
          </a:p>
        </p:txBody>
      </p:sp>
      <p:sp>
        <p:nvSpPr>
          <p:cNvPr id="224" name="NumCircle09"/>
          <p:cNvSpPr/>
          <p:nvPr/>
        </p:nvSpPr>
        <p:spPr>
          <a:xfrm>
            <a:off x="6126480" y="2870000"/>
            <a:ext cx="411480" cy="411480"/>
          </a:xfrm>
          <a:prstGeom prst="ellipse">
            <a:avLst/>
          </a:prstGeom>
          <a:solidFill>
            <a:srgbClr val="D4A24C"/>
          </a:solidFill>
          <a:ln/>
        </p:spPr>
        <p:txBody>
          <a:bodyPr/>
          <a:lstStyle/>
          <a:p>
            <a:endParaRPr lang="en-US"/>
          </a:p>
        </p:txBody>
      </p:sp>
      <p:sp>
        <p:nvSpPr>
          <p:cNvPr id="225" name="NumText09"/>
          <p:cNvSpPr/>
          <p:nvPr/>
        </p:nvSpPr>
        <p:spPr>
          <a:xfrm>
            <a:off x="6126480" y="287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09</a:t>
            </a:r>
          </a:p>
        </p:txBody>
      </p:sp>
      <p:sp>
        <p:nvSpPr>
          <p:cNvPr id="226" name="ItemTitle"/>
          <p:cNvSpPr/>
          <p:nvPr/>
        </p:nvSpPr>
        <p:spPr>
          <a:xfrm>
            <a:off x="6720840" y="285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Conclusion (i)</a:t>
            </a:r>
          </a:p>
        </p:txBody>
      </p:sp>
      <p:sp>
        <p:nvSpPr>
          <p:cNvPr id="227" name="ItemSub"/>
          <p:cNvSpPr/>
          <p:nvPr/>
        </p:nvSpPr>
        <p:spPr>
          <a:xfrm>
            <a:off x="6720840" y="317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Synthesis, not new modelling</a:t>
            </a:r>
          </a:p>
        </p:txBody>
      </p:sp>
      <p:sp>
        <p:nvSpPr>
          <p:cNvPr id="228" name="NumCircle10"/>
          <p:cNvSpPr/>
          <p:nvPr/>
        </p:nvSpPr>
        <p:spPr>
          <a:xfrm>
            <a:off x="6126480" y="3790000"/>
            <a:ext cx="411480" cy="411480"/>
          </a:xfrm>
          <a:prstGeom prst="ellipse">
            <a:avLst/>
          </a:prstGeom>
          <a:solidFill>
            <a:srgbClr val="D4A24C"/>
          </a:solidFill>
          <a:ln/>
        </p:spPr>
        <p:txBody>
          <a:bodyPr/>
          <a:lstStyle/>
          <a:p>
            <a:endParaRPr lang="en-US"/>
          </a:p>
        </p:txBody>
      </p:sp>
      <p:sp>
        <p:nvSpPr>
          <p:cNvPr id="229" name="NumText10"/>
          <p:cNvSpPr/>
          <p:nvPr/>
        </p:nvSpPr>
        <p:spPr>
          <a:xfrm>
            <a:off x="6126480" y="379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10</a:t>
            </a:r>
          </a:p>
        </p:txBody>
      </p:sp>
      <p:sp>
        <p:nvSpPr>
          <p:cNvPr id="230" name="ItemTitle"/>
          <p:cNvSpPr/>
          <p:nvPr/>
        </p:nvSpPr>
        <p:spPr>
          <a:xfrm>
            <a:off x="6720840" y="377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Conclusion (ii)</a:t>
            </a:r>
          </a:p>
        </p:txBody>
      </p:sp>
      <p:sp>
        <p:nvSpPr>
          <p:cNvPr id="231" name="ItemSub"/>
          <p:cNvSpPr/>
          <p:nvPr/>
        </p:nvSpPr>
        <p:spPr>
          <a:xfrm>
            <a:off x="6720840" y="409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The case for the diagnostic, in one place</a:t>
            </a:r>
          </a:p>
        </p:txBody>
      </p:sp>
      <p:sp>
        <p:nvSpPr>
          <p:cNvPr id="232" name="NumCircle11"/>
          <p:cNvSpPr/>
          <p:nvPr/>
        </p:nvSpPr>
        <p:spPr>
          <a:xfrm>
            <a:off x="6126480" y="4710000"/>
            <a:ext cx="411480" cy="411480"/>
          </a:xfrm>
          <a:prstGeom prst="ellipse">
            <a:avLst/>
          </a:prstGeom>
          <a:solidFill>
            <a:srgbClr val="D4A24C"/>
          </a:solidFill>
          <a:ln/>
        </p:spPr>
        <p:txBody>
          <a:bodyPr/>
          <a:lstStyle/>
          <a:p>
            <a:endParaRPr lang="en-US"/>
          </a:p>
        </p:txBody>
      </p:sp>
      <p:sp>
        <p:nvSpPr>
          <p:cNvPr id="233" name="NumText11"/>
          <p:cNvSpPr/>
          <p:nvPr/>
        </p:nvSpPr>
        <p:spPr>
          <a:xfrm>
            <a:off x="6126480" y="4710000"/>
            <a:ext cx="411480" cy="411480"/>
          </a:xfrm>
          <a:prstGeom prst="rect">
            <a:avLst/>
          </a:prstGeom>
          <a:noFill/>
          <a:ln/>
        </p:spPr>
        <p:txBody>
          <a:bodyPr wrap="square" lIns="0" tIns="0" rIns="0" bIns="0" rtlCol="0" anchor="ctr"/>
          <a:lstStyle/>
          <a:p>
            <a:pPr marL="0" indent="0" algn="ctr">
              <a:buNone/>
            </a:pPr>
            <a:r>
              <a:rPr lang="en-US" sz="1400" b="1" kern="0" dirty="0">
                <a:solidFill>
                  <a:srgbClr val="121A47"/>
                </a:solidFill>
                <a:latin typeface="Georgia" pitchFamily="34" charset="0"/>
                <a:ea typeface="Georgia" pitchFamily="34" charset="-122"/>
                <a:cs typeface="Georgia" pitchFamily="34" charset="-120"/>
              </a:rPr>
              <a:t>11</a:t>
            </a:r>
          </a:p>
        </p:txBody>
      </p:sp>
      <p:sp>
        <p:nvSpPr>
          <p:cNvPr id="234" name="ItemTitle"/>
          <p:cNvSpPr/>
          <p:nvPr/>
        </p:nvSpPr>
        <p:spPr>
          <a:xfrm>
            <a:off x="6720840" y="4692000"/>
            <a:ext cx="4617720" cy="300000"/>
          </a:xfrm>
          <a:prstGeom prst="rect">
            <a:avLst/>
          </a:prstGeom>
          <a:noFill/>
          <a:ln/>
        </p:spPr>
        <p:txBody>
          <a:bodyPr wrap="square" lIns="0" tIns="0" rIns="0" bIns="0" rtlCol="0" anchor="b"/>
          <a:lstStyle/>
          <a:p>
            <a:pPr marL="0" indent="0" algn="l">
              <a:buNone/>
            </a:pPr>
            <a:r>
              <a:rPr lang="en-US" sz="1500" b="1" kern="0" dirty="0">
                <a:solidFill>
                  <a:srgbClr val="FFFFFF"/>
                </a:solidFill>
                <a:latin typeface="Calibri" pitchFamily="34" charset="0"/>
                <a:ea typeface="Calibri" pitchFamily="34" charset="-122"/>
                <a:cs typeface="Calibri" pitchFamily="34" charset="-120"/>
              </a:rPr>
              <a:t>Annex</a:t>
            </a:r>
          </a:p>
        </p:txBody>
      </p:sp>
      <p:sp>
        <p:nvSpPr>
          <p:cNvPr id="235" name="ItemSub"/>
          <p:cNvSpPr/>
          <p:nvPr/>
        </p:nvSpPr>
        <p:spPr>
          <a:xfrm>
            <a:off x="6720840" y="5010000"/>
            <a:ext cx="4900000" cy="30000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Inputs, methods and outputs at a glance</a:t>
            </a:r>
          </a:p>
        </p:txBody>
      </p:sp>
      <p:sp>
        <p:nvSpPr>
          <p:cNvPr id="136" name="Footer"/>
          <p:cNvSpPr/>
          <p:nvPr/>
        </p:nvSpPr>
        <p:spPr>
          <a:xfrm>
            <a:off x="640080" y="6565392"/>
            <a:ext cx="10972800" cy="228600"/>
          </a:xfrm>
          <a:prstGeom prst="rect">
            <a:avLst/>
          </a:prstGeom>
          <a:noFill/>
          <a:ln/>
        </p:spPr>
        <p:txBody>
          <a:bodyPr wrap="square" lIns="0" tIns="0" rIns="0" bIns="0" rtlCol="0" anchor="ctr"/>
          <a:lstStyle/>
          <a:p>
            <a:pPr marL="0" indent="0" algn="l">
              <a:buNone/>
            </a:pPr>
            <a:r>
              <a:rPr lang="en-US" sz="900" kern="0" dirty="0">
                <a:solidFill>
                  <a:srgbClr val="CADCFC"/>
                </a:solidFill>
                <a:latin typeface="Calibri" pitchFamily="34" charset="0"/>
                <a:ea typeface="Calibri" pitchFamily="34" charset="-122"/>
                <a:cs typeface="Calibri" pitchFamily="34" charset="-120"/>
              </a:rPr>
              <a:t>Automated Excise-Fiscal Reports  ·  02 / 11</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0C6AD9A-24DE-4BED-3D17-02D024ECA3A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03ECA43-349B-DC11-FA7A-4B37B2993369}"/>
              </a:ext>
            </a:extLst>
          </p:cNvPr>
          <p:cNvSpPr/>
          <p:nvPr/>
        </p:nvSpPr>
        <p:spPr>
          <a:xfrm>
            <a:off x="0" y="0"/>
            <a:ext cx="164592" cy="6858000"/>
          </a:xfrm>
          <a:prstGeom prst="rect">
            <a:avLst/>
          </a:prstGeom>
          <a:solidFill>
            <a:srgbClr val="D4A24C"/>
          </a:solidFill>
          <a:ln/>
        </p:spPr>
        <p:txBody>
          <a:bodyPr/>
          <a:lstStyle/>
          <a:p>
            <a:endParaRPr lang="en-US"/>
          </a:p>
        </p:txBody>
      </p:sp>
      <p:sp>
        <p:nvSpPr>
          <p:cNvPr id="3" name="Text 1">
            <a:extLst>
              <a:ext uri="{FF2B5EF4-FFF2-40B4-BE49-F238E27FC236}">
                <a16:creationId xmlns:a16="http://schemas.microsoft.com/office/drawing/2014/main" id="{835083E7-7E2B-EAB5-2F9E-416CD1E28246}"/>
              </a:ext>
            </a:extLst>
          </p:cNvPr>
          <p:cNvSpPr/>
          <p:nvPr/>
        </p:nvSpPr>
        <p:spPr>
          <a:xfrm>
            <a:off x="640080" y="411480"/>
            <a:ext cx="54864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01  — OVERVIEW (i)</a:t>
            </a:r>
            <a:endParaRPr lang="en-US" sz="1100" dirty="0"/>
          </a:p>
        </p:txBody>
      </p:sp>
      <p:sp>
        <p:nvSpPr>
          <p:cNvPr id="4" name="Text 2">
            <a:extLst>
              <a:ext uri="{FF2B5EF4-FFF2-40B4-BE49-F238E27FC236}">
                <a16:creationId xmlns:a16="http://schemas.microsoft.com/office/drawing/2014/main" id="{F1ADFAA3-A96C-2BEC-D079-0AF2B0F6F94D}"/>
              </a:ext>
            </a:extLst>
          </p:cNvPr>
          <p:cNvSpPr/>
          <p:nvPr/>
        </p:nvSpPr>
        <p:spPr>
          <a:xfrm>
            <a:off x="640080" y="713232"/>
            <a:ext cx="10972800" cy="7772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Purpose, Context, Definition and Scope</a:t>
            </a:r>
            <a:endParaRPr lang="en-US" sz="3200" dirty="0"/>
          </a:p>
        </p:txBody>
      </p:sp>
      <p:sp>
        <p:nvSpPr>
          <p:cNvPr id="5" name="Text 3">
            <a:extLst>
              <a:ext uri="{FF2B5EF4-FFF2-40B4-BE49-F238E27FC236}">
                <a16:creationId xmlns:a16="http://schemas.microsoft.com/office/drawing/2014/main" id="{90387760-A346-0C68-5131-B6DF49F15C41}"/>
              </a:ext>
            </a:extLst>
          </p:cNvPr>
          <p:cNvSpPr/>
          <p:nvPr/>
        </p:nvSpPr>
        <p:spPr>
          <a:xfrm>
            <a:off x="640080" y="1691640"/>
            <a:ext cx="10607040" cy="1005840"/>
          </a:xfrm>
          <a:prstGeom prst="rect">
            <a:avLst/>
          </a:prstGeom>
          <a:noFill/>
          <a:ln/>
        </p:spPr>
        <p:txBody>
          <a:bodyPr wrap="square" lIns="0" tIns="0" rIns="0" bIns="0" rtlCol="0" anchor="ctr"/>
          <a:lstStyle/>
          <a:p>
            <a:r>
              <a:rPr lang="en-US" sz="1400" dirty="0">
                <a:solidFill>
                  <a:schemeClr val="bg1"/>
                </a:solidFill>
              </a:rPr>
              <a:t>The </a:t>
            </a:r>
            <a:r>
              <a:rPr lang="en-US" sz="1400" b="1" dirty="0">
                <a:solidFill>
                  <a:schemeClr val="bg1"/>
                </a:solidFill>
              </a:rPr>
              <a:t>purpose of this project </a:t>
            </a:r>
            <a:r>
              <a:rPr lang="en-US" sz="1400" dirty="0">
                <a:solidFill>
                  <a:schemeClr val="bg1"/>
                </a:solidFill>
              </a:rPr>
              <a:t>is to develop an AI-augmented tool that provides a unified framework for analyzing excise taxes, including tax diagnostics, the market failures they address, and potential reform pathways. Given their corrective role, excise taxes can reduce economic distortions, improve price signals, expand fiscal space, and generate additional public revenue. By bringing different excise taxes into a single analytical framework, the tool will help estimate country economists both current revenue performance and the additional revenue potential associated with improved tax design, in order to support excise tax reforms.  </a:t>
            </a:r>
          </a:p>
          <a:p>
            <a:endParaRPr lang="en-US" sz="1100" dirty="0">
              <a:solidFill>
                <a:schemeClr val="bg1"/>
              </a:solidFill>
            </a:endParaRPr>
          </a:p>
        </p:txBody>
      </p:sp>
      <p:sp>
        <p:nvSpPr>
          <p:cNvPr id="6" name="Shape 4">
            <a:extLst>
              <a:ext uri="{FF2B5EF4-FFF2-40B4-BE49-F238E27FC236}">
                <a16:creationId xmlns:a16="http://schemas.microsoft.com/office/drawing/2014/main" id="{97753FCE-81C2-0AD4-E14C-6C517BF5146B}"/>
              </a:ext>
            </a:extLst>
          </p:cNvPr>
          <p:cNvSpPr/>
          <p:nvPr/>
        </p:nvSpPr>
        <p:spPr>
          <a:xfrm>
            <a:off x="64008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7" name="Shape 5">
            <a:extLst>
              <a:ext uri="{FF2B5EF4-FFF2-40B4-BE49-F238E27FC236}">
                <a16:creationId xmlns:a16="http://schemas.microsoft.com/office/drawing/2014/main" id="{4FB771B9-1D4A-A344-08D5-D340CC9D6513}"/>
              </a:ext>
            </a:extLst>
          </p:cNvPr>
          <p:cNvSpPr/>
          <p:nvPr/>
        </p:nvSpPr>
        <p:spPr>
          <a:xfrm>
            <a:off x="640080" y="2926080"/>
            <a:ext cx="3520440" cy="54864"/>
          </a:xfrm>
          <a:prstGeom prst="rect">
            <a:avLst/>
          </a:prstGeom>
          <a:solidFill>
            <a:srgbClr val="D4A24C"/>
          </a:solidFill>
          <a:ln/>
        </p:spPr>
        <p:txBody>
          <a:bodyPr/>
          <a:lstStyle/>
          <a:p>
            <a:endParaRPr lang="en-US"/>
          </a:p>
        </p:txBody>
      </p:sp>
      <p:pic>
        <p:nvPicPr>
          <p:cNvPr id="8" name="Image 0" descr="preencoded.png">
            <a:extLst>
              <a:ext uri="{FF2B5EF4-FFF2-40B4-BE49-F238E27FC236}">
                <a16:creationId xmlns:a16="http://schemas.microsoft.com/office/drawing/2014/main" id="{229B9C1D-DAA6-03A4-F85D-2C524D6AA2D8}"/>
              </a:ext>
            </a:extLst>
          </p:cNvPr>
          <p:cNvPicPr>
            <a:picLocks noChangeAspect="1"/>
          </p:cNvPicPr>
          <p:nvPr/>
        </p:nvPicPr>
        <p:blipFill>
          <a:blip r:embed="rId3"/>
          <a:stretch>
            <a:fillRect/>
          </a:stretch>
        </p:blipFill>
        <p:spPr>
          <a:xfrm>
            <a:off x="914400" y="3200400"/>
            <a:ext cx="411480" cy="411480"/>
          </a:xfrm>
          <a:prstGeom prst="rect">
            <a:avLst/>
          </a:prstGeom>
        </p:spPr>
      </p:pic>
      <p:sp>
        <p:nvSpPr>
          <p:cNvPr id="9" name="Text 6">
            <a:extLst>
              <a:ext uri="{FF2B5EF4-FFF2-40B4-BE49-F238E27FC236}">
                <a16:creationId xmlns:a16="http://schemas.microsoft.com/office/drawing/2014/main" id="{2A3ED7C0-3816-236D-E874-A880E69350F2}"/>
              </a:ext>
            </a:extLst>
          </p:cNvPr>
          <p:cNvSpPr/>
          <p:nvPr/>
        </p:nvSpPr>
        <p:spPr>
          <a:xfrm>
            <a:off x="91440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CONTEXT</a:t>
            </a:r>
            <a:endParaRPr lang="en-US" sz="1100" dirty="0"/>
          </a:p>
        </p:txBody>
      </p:sp>
      <p:sp>
        <p:nvSpPr>
          <p:cNvPr id="10" name="Text 7">
            <a:extLst>
              <a:ext uri="{FF2B5EF4-FFF2-40B4-BE49-F238E27FC236}">
                <a16:creationId xmlns:a16="http://schemas.microsoft.com/office/drawing/2014/main" id="{2220F0E7-1E2E-812B-9A6B-289A107F6A10}"/>
              </a:ext>
            </a:extLst>
          </p:cNvPr>
          <p:cNvSpPr/>
          <p:nvPr/>
        </p:nvSpPr>
        <p:spPr>
          <a:xfrm>
            <a:off x="91440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Need to integrate health and climate related excise programs around inputs to the PFR. Excise diagnostic developed earlier as one-off for Sierra Leone (2023) provides inspiration.</a:t>
            </a:r>
            <a:endParaRPr lang="en-US" sz="1200" dirty="0"/>
          </a:p>
        </p:txBody>
      </p:sp>
      <p:sp>
        <p:nvSpPr>
          <p:cNvPr id="11" name="Shape 8">
            <a:extLst>
              <a:ext uri="{FF2B5EF4-FFF2-40B4-BE49-F238E27FC236}">
                <a16:creationId xmlns:a16="http://schemas.microsoft.com/office/drawing/2014/main" id="{2C1EF02A-8FC2-04AA-4AF2-A97DDF206BB2}"/>
              </a:ext>
            </a:extLst>
          </p:cNvPr>
          <p:cNvSpPr/>
          <p:nvPr/>
        </p:nvSpPr>
        <p:spPr>
          <a:xfrm>
            <a:off x="434340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12" name="Shape 9">
            <a:extLst>
              <a:ext uri="{FF2B5EF4-FFF2-40B4-BE49-F238E27FC236}">
                <a16:creationId xmlns:a16="http://schemas.microsoft.com/office/drawing/2014/main" id="{A4705832-C87A-1D3C-A681-57DDDD189B23}"/>
              </a:ext>
            </a:extLst>
          </p:cNvPr>
          <p:cNvSpPr/>
          <p:nvPr/>
        </p:nvSpPr>
        <p:spPr>
          <a:xfrm>
            <a:off x="4343400" y="2926080"/>
            <a:ext cx="3520440" cy="54864"/>
          </a:xfrm>
          <a:prstGeom prst="rect">
            <a:avLst/>
          </a:prstGeom>
          <a:solidFill>
            <a:srgbClr val="D4A24C"/>
          </a:solidFill>
          <a:ln/>
        </p:spPr>
        <p:txBody>
          <a:bodyPr/>
          <a:lstStyle/>
          <a:p>
            <a:endParaRPr lang="en-US"/>
          </a:p>
        </p:txBody>
      </p:sp>
      <p:pic>
        <p:nvPicPr>
          <p:cNvPr id="13" name="Image 1" descr="preencoded.png">
            <a:extLst>
              <a:ext uri="{FF2B5EF4-FFF2-40B4-BE49-F238E27FC236}">
                <a16:creationId xmlns:a16="http://schemas.microsoft.com/office/drawing/2014/main" id="{BC43369A-A433-C615-7406-1FD86239FEA5}"/>
              </a:ext>
            </a:extLst>
          </p:cNvPr>
          <p:cNvPicPr>
            <a:picLocks noChangeAspect="1"/>
          </p:cNvPicPr>
          <p:nvPr/>
        </p:nvPicPr>
        <p:blipFill>
          <a:blip r:embed="rId4"/>
          <a:stretch>
            <a:fillRect/>
          </a:stretch>
        </p:blipFill>
        <p:spPr>
          <a:xfrm>
            <a:off x="4617720" y="3200400"/>
            <a:ext cx="411480" cy="411480"/>
          </a:xfrm>
          <a:prstGeom prst="rect">
            <a:avLst/>
          </a:prstGeom>
        </p:spPr>
      </p:pic>
      <p:sp>
        <p:nvSpPr>
          <p:cNvPr id="14" name="Text 10">
            <a:extLst>
              <a:ext uri="{FF2B5EF4-FFF2-40B4-BE49-F238E27FC236}">
                <a16:creationId xmlns:a16="http://schemas.microsoft.com/office/drawing/2014/main" id="{53F34CFC-92BD-B02D-3425-B975D8D11D04}"/>
              </a:ext>
            </a:extLst>
          </p:cNvPr>
          <p:cNvSpPr/>
          <p:nvPr/>
        </p:nvSpPr>
        <p:spPr>
          <a:xfrm>
            <a:off x="461772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WHAT IT IS</a:t>
            </a:r>
            <a:endParaRPr lang="en-US" sz="1100" dirty="0"/>
          </a:p>
        </p:txBody>
      </p:sp>
      <p:sp>
        <p:nvSpPr>
          <p:cNvPr id="15" name="Text 11">
            <a:extLst>
              <a:ext uri="{FF2B5EF4-FFF2-40B4-BE49-F238E27FC236}">
                <a16:creationId xmlns:a16="http://schemas.microsoft.com/office/drawing/2014/main" id="{26A2C623-548E-EE54-F9E1-BD295DBA0E00}"/>
              </a:ext>
            </a:extLst>
          </p:cNvPr>
          <p:cNvSpPr/>
          <p:nvPr/>
        </p:nvSpPr>
        <p:spPr>
          <a:xfrm>
            <a:off x="461772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An automated three-part report on excises, externalities and policy pathways, with examples of part one (excise diagnostic) developed already, that can then be tailored by humans to PFR and country context.</a:t>
            </a:r>
          </a:p>
          <a:p>
            <a:pPr marL="0" indent="0">
              <a:buNone/>
            </a:pPr>
            <a:r>
              <a:rPr lang="en-US" sz="1200" dirty="0">
                <a:solidFill>
                  <a:srgbClr val="FFFFFF"/>
                </a:solidFill>
                <a:latin typeface="Calibri" pitchFamily="34" charset="0"/>
                <a:ea typeface="Calibri" pitchFamily="34" charset="-122"/>
                <a:cs typeface="Calibri" pitchFamily="34" charset="-120"/>
              </a:rPr>
              <a:t>Feeds PFR Visualization tool with data.</a:t>
            </a:r>
            <a:endParaRPr lang="en-US" sz="1200" dirty="0"/>
          </a:p>
        </p:txBody>
      </p:sp>
      <p:sp>
        <p:nvSpPr>
          <p:cNvPr id="16" name="Shape 12">
            <a:extLst>
              <a:ext uri="{FF2B5EF4-FFF2-40B4-BE49-F238E27FC236}">
                <a16:creationId xmlns:a16="http://schemas.microsoft.com/office/drawing/2014/main" id="{952F58EF-2568-F4B4-CF0C-407FE3740331}"/>
              </a:ext>
            </a:extLst>
          </p:cNvPr>
          <p:cNvSpPr/>
          <p:nvPr/>
        </p:nvSpPr>
        <p:spPr>
          <a:xfrm>
            <a:off x="804672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17" name="Shape 13">
            <a:extLst>
              <a:ext uri="{FF2B5EF4-FFF2-40B4-BE49-F238E27FC236}">
                <a16:creationId xmlns:a16="http://schemas.microsoft.com/office/drawing/2014/main" id="{421A5B82-156D-E0C8-E908-59D79B329B07}"/>
              </a:ext>
            </a:extLst>
          </p:cNvPr>
          <p:cNvSpPr/>
          <p:nvPr/>
        </p:nvSpPr>
        <p:spPr>
          <a:xfrm>
            <a:off x="8046720" y="2926080"/>
            <a:ext cx="3520440" cy="54864"/>
          </a:xfrm>
          <a:prstGeom prst="rect">
            <a:avLst/>
          </a:prstGeom>
          <a:solidFill>
            <a:srgbClr val="D4A24C"/>
          </a:solidFill>
          <a:ln/>
        </p:spPr>
        <p:txBody>
          <a:bodyPr/>
          <a:lstStyle/>
          <a:p>
            <a:endParaRPr lang="en-US"/>
          </a:p>
        </p:txBody>
      </p:sp>
      <p:pic>
        <p:nvPicPr>
          <p:cNvPr id="18" name="Image 2" descr="preencoded.png">
            <a:extLst>
              <a:ext uri="{FF2B5EF4-FFF2-40B4-BE49-F238E27FC236}">
                <a16:creationId xmlns:a16="http://schemas.microsoft.com/office/drawing/2014/main" id="{BCB3ED0E-CC70-6B15-9782-FCB887891864}"/>
              </a:ext>
            </a:extLst>
          </p:cNvPr>
          <p:cNvPicPr>
            <a:picLocks noChangeAspect="1"/>
          </p:cNvPicPr>
          <p:nvPr/>
        </p:nvPicPr>
        <p:blipFill>
          <a:blip r:embed="rId5"/>
          <a:stretch>
            <a:fillRect/>
          </a:stretch>
        </p:blipFill>
        <p:spPr>
          <a:xfrm>
            <a:off x="8321040" y="3200400"/>
            <a:ext cx="411480" cy="411480"/>
          </a:xfrm>
          <a:prstGeom prst="rect">
            <a:avLst/>
          </a:prstGeom>
        </p:spPr>
      </p:pic>
      <p:sp>
        <p:nvSpPr>
          <p:cNvPr id="19" name="Text 14">
            <a:extLst>
              <a:ext uri="{FF2B5EF4-FFF2-40B4-BE49-F238E27FC236}">
                <a16:creationId xmlns:a16="http://schemas.microsoft.com/office/drawing/2014/main" id="{21FFBC34-8314-0873-FD8A-BD968E82408F}"/>
              </a:ext>
            </a:extLst>
          </p:cNvPr>
          <p:cNvSpPr/>
          <p:nvPr/>
        </p:nvSpPr>
        <p:spPr>
          <a:xfrm>
            <a:off x="832104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SCOPE</a:t>
            </a:r>
            <a:endParaRPr lang="en-US" sz="1100" dirty="0"/>
          </a:p>
        </p:txBody>
      </p:sp>
      <p:sp>
        <p:nvSpPr>
          <p:cNvPr id="20" name="Text 15">
            <a:extLst>
              <a:ext uri="{FF2B5EF4-FFF2-40B4-BE49-F238E27FC236}">
                <a16:creationId xmlns:a16="http://schemas.microsoft.com/office/drawing/2014/main" id="{3AB8C3F0-CE07-758F-2D7B-571BA29E2A40}"/>
              </a:ext>
            </a:extLst>
          </p:cNvPr>
          <p:cNvSpPr/>
          <p:nvPr/>
        </p:nvSpPr>
        <p:spPr>
          <a:xfrm>
            <a:off x="832104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All excises but analytical focus on six major categories: fuel, vehicle, tobacco, alcohol, sugar sweetened beverages (SSBs), and gambling.</a:t>
            </a:r>
            <a:endParaRPr lang="en-US" sz="1200" dirty="0"/>
          </a:p>
        </p:txBody>
      </p:sp>
      <p:sp>
        <p:nvSpPr>
          <p:cNvPr id="21" name="Shape 16">
            <a:extLst>
              <a:ext uri="{FF2B5EF4-FFF2-40B4-BE49-F238E27FC236}">
                <a16:creationId xmlns:a16="http://schemas.microsoft.com/office/drawing/2014/main" id="{22FE4924-989F-D833-6E34-F6CCD5AE6D94}"/>
              </a:ext>
            </a:extLst>
          </p:cNvPr>
          <p:cNvSpPr/>
          <p:nvPr/>
        </p:nvSpPr>
        <p:spPr>
          <a:xfrm>
            <a:off x="640080" y="5577840"/>
            <a:ext cx="10972800" cy="777240"/>
          </a:xfrm>
          <a:prstGeom prst="rect">
            <a:avLst/>
          </a:prstGeom>
          <a:solidFill>
            <a:srgbClr val="1E2761"/>
          </a:solidFill>
          <a:ln w="12700">
            <a:solidFill>
              <a:srgbClr val="D4A24C"/>
            </a:solidFill>
            <a:prstDash val="solid"/>
          </a:ln>
        </p:spPr>
        <p:txBody>
          <a:bodyPr/>
          <a:lstStyle/>
          <a:p>
            <a:endParaRPr lang="en-US"/>
          </a:p>
        </p:txBody>
      </p:sp>
      <p:sp>
        <p:nvSpPr>
          <p:cNvPr id="22" name="Text 17">
            <a:extLst>
              <a:ext uri="{FF2B5EF4-FFF2-40B4-BE49-F238E27FC236}">
                <a16:creationId xmlns:a16="http://schemas.microsoft.com/office/drawing/2014/main" id="{32E8C82A-C7F5-765E-2A1A-30E87835FCB2}"/>
              </a:ext>
            </a:extLst>
          </p:cNvPr>
          <p:cNvSpPr/>
          <p:nvPr/>
        </p:nvSpPr>
        <p:spPr>
          <a:xfrm>
            <a:off x="868680" y="5605272"/>
            <a:ext cx="10515600" cy="731520"/>
          </a:xfrm>
          <a:prstGeom prst="rect">
            <a:avLst/>
          </a:prstGeom>
          <a:noFill/>
          <a:ln/>
        </p:spPr>
        <p:txBody>
          <a:bodyPr wrap="square" lIns="0" tIns="0" rIns="0" bIns="0" rtlCol="0" anchor="ctr"/>
          <a:lstStyle/>
          <a:p>
            <a:pPr marL="0" indent="0">
              <a:buNone/>
            </a:pPr>
            <a:r>
              <a:rPr lang="en-US" sz="1400" i="1" dirty="0">
                <a:solidFill>
                  <a:srgbClr val="FFFFFF"/>
                </a:solidFill>
                <a:latin typeface="Georgia" pitchFamily="34" charset="0"/>
                <a:ea typeface="Georgia" pitchFamily="34" charset="-122"/>
                <a:cs typeface="Georgia" pitchFamily="34" charset="-120"/>
              </a:rPr>
              <a:t>“The report shows the revenue mobilizing capabilities by country of simple and efficient excise systems that also tackle social costs”</a:t>
            </a:r>
            <a:endParaRPr lang="en-US" sz="1400" dirty="0"/>
          </a:p>
        </p:txBody>
      </p:sp>
      <p:sp>
        <p:nvSpPr>
          <p:cNvPr id="23" name="Text 18">
            <a:extLst>
              <a:ext uri="{FF2B5EF4-FFF2-40B4-BE49-F238E27FC236}">
                <a16:creationId xmlns:a16="http://schemas.microsoft.com/office/drawing/2014/main" id="{D58AC046-EE62-40C9-2DDD-9070B9241D3C}"/>
              </a:ext>
            </a:extLst>
          </p:cNvPr>
          <p:cNvSpPr/>
          <p:nvPr/>
        </p:nvSpPr>
        <p:spPr>
          <a:xfrm>
            <a:off x="640080" y="6565392"/>
            <a:ext cx="10972800" cy="228600"/>
          </a:xfrm>
          <a:prstGeom prst="rect">
            <a:avLst/>
          </a:prstGeom>
          <a:noFill/>
          <a:ln/>
        </p:spPr>
        <p:txBody>
          <a:bodyPr wrap="square" lIns="0" tIns="0" rIns="0" bIns="0" rtlCol="0" anchor="ctr"/>
          <a:lstStyle/>
          <a:p>
            <a:pPr marL="0" indent="0">
              <a:buNone/>
            </a:pPr>
            <a:r>
              <a:rPr lang="en-US" sz="900" dirty="0">
                <a:solidFill>
                  <a:srgbClr val="CADCFC">
                    <a:alpha val="70000"/>
                  </a:srgbClr>
                </a:solidFill>
                <a:latin typeface="Calibri" pitchFamily="34" charset="0"/>
                <a:ea typeface="Calibri" pitchFamily="34" charset="-122"/>
                <a:cs typeface="Calibri" pitchFamily="34" charset="-120"/>
              </a:rPr>
              <a:t>Automated Excise-Fiscal Reports  ·  03 / 11</a:t>
            </a:r>
            <a:endParaRPr lang="en-US" sz="900" dirty="0"/>
          </a:p>
        </p:txBody>
      </p:sp>
    </p:spTree>
    <p:extLst>
      <p:ext uri="{BB962C8B-B14F-4D97-AF65-F5344CB8AC3E}">
        <p14:creationId xmlns:p14="http://schemas.microsoft.com/office/powerpoint/2010/main" val="4060204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274320"/>
          </a:xfrm>
          <a:prstGeom prst="rect">
            <a:avLst/>
          </a:prstGeom>
          <a:noFill/>
          <a:ln/>
        </p:spPr>
        <p:txBody>
          <a:bodyPr wrap="square" lIns="0" tIns="0" rIns="0" bIns="0" rtlCol="0" anchor="ctr"/>
          <a:lstStyle/>
          <a:p>
            <a:r>
              <a:rPr lang="en-US" sz="1100" b="1" kern="0" spc="600" dirty="0">
                <a:solidFill>
                  <a:srgbClr val="D4A24C"/>
                </a:solidFill>
                <a:latin typeface="Calibri" pitchFamily="34" charset="0"/>
                <a:ea typeface="Calibri" pitchFamily="34" charset="-122"/>
                <a:cs typeface="Calibri" pitchFamily="34" charset="-120"/>
              </a:rPr>
              <a:t>02 — OVERVIEW (ii)</a:t>
            </a:r>
            <a:endParaRPr lang="en-US" sz="11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Why a synthesis layer is needed; what it delivers</a:t>
            </a:r>
            <a:endParaRPr lang="en-US" sz="3000" dirty="0"/>
          </a:p>
        </p:txBody>
      </p:sp>
      <p:sp>
        <p:nvSpPr>
          <p:cNvPr id="4" name="Text 2"/>
          <p:cNvSpPr/>
          <p:nvPr/>
        </p:nvSpPr>
        <p:spPr>
          <a:xfrm>
            <a:off x="548640" y="1371600"/>
            <a:ext cx="11064240" cy="594360"/>
          </a:xfrm>
          <a:prstGeom prst="rect">
            <a:avLst/>
          </a:prstGeom>
          <a:noFill/>
          <a:ln/>
        </p:spPr>
        <p:txBody>
          <a:bodyPr wrap="square" lIns="0" tIns="0" rIns="0" bIns="0" rtlCol="0" anchor="ctr"/>
          <a:lstStyle/>
          <a:p>
            <a:pPr marL="0" indent="0">
              <a:buNone/>
            </a:pPr>
            <a:r>
              <a:rPr lang="en-US" sz="1400" i="1" dirty="0">
                <a:solidFill>
                  <a:srgbClr val="1F2747"/>
                </a:solidFill>
                <a:latin typeface="Calibri" pitchFamily="34" charset="0"/>
                <a:ea typeface="Calibri" pitchFamily="34" charset="-122"/>
                <a:cs typeface="Calibri" pitchFamily="34" charset="-120"/>
              </a:rPr>
              <a:t>The PFR reads excise instrument-by-instrument. It does not ask whether the tax system, taken together, deals with externalities. </a:t>
            </a:r>
          </a:p>
          <a:p>
            <a:pPr marL="0" indent="0">
              <a:buNone/>
            </a:pPr>
            <a:r>
              <a:rPr lang="en-US" sz="1400" i="1" dirty="0">
                <a:solidFill>
                  <a:srgbClr val="1F2747"/>
                </a:solidFill>
                <a:latin typeface="Calibri" pitchFamily="34" charset="0"/>
                <a:ea typeface="Calibri" pitchFamily="34" charset="-122"/>
                <a:cs typeface="Calibri" pitchFamily="34" charset="-120"/>
              </a:rPr>
              <a:t>The diagnostic closes gaps on instrument-by-instrument detail into aggregated metrics and on externality coverage.</a:t>
            </a:r>
            <a:endParaRPr lang="en-US" sz="1400" dirty="0"/>
          </a:p>
        </p:txBody>
      </p:sp>
      <p:sp>
        <p:nvSpPr>
          <p:cNvPr id="5" name="Shape 3"/>
          <p:cNvSpPr/>
          <p:nvPr/>
        </p:nvSpPr>
        <p:spPr>
          <a:xfrm>
            <a:off x="548640" y="2240280"/>
            <a:ext cx="5486400" cy="1463040"/>
          </a:xfrm>
          <a:prstGeom prst="rect">
            <a:avLst/>
          </a:prstGeom>
          <a:solidFill>
            <a:srgbClr val="F6F8FE"/>
          </a:solidFill>
          <a:ln/>
          <a:effectLst>
            <a:outerShdw blurRad="101600" dist="25400" dir="5400000" algn="bl" rotWithShape="0">
              <a:srgbClr val="000000">
                <a:alpha val="8000"/>
              </a:srgbClr>
            </a:outerShdw>
          </a:effectLst>
        </p:spPr>
        <p:txBody>
          <a:bodyPr/>
          <a:lstStyle/>
          <a:p>
            <a:endParaRPr lang="en-US"/>
          </a:p>
        </p:txBody>
      </p:sp>
      <p:sp>
        <p:nvSpPr>
          <p:cNvPr id="6" name="Shape 4"/>
          <p:cNvSpPr/>
          <p:nvPr/>
        </p:nvSpPr>
        <p:spPr>
          <a:xfrm>
            <a:off x="548640" y="2240280"/>
            <a:ext cx="73152" cy="1463040"/>
          </a:xfrm>
          <a:prstGeom prst="rect">
            <a:avLst/>
          </a:prstGeom>
          <a:solidFill>
            <a:srgbClr val="1E2761"/>
          </a:solidFill>
          <a:ln/>
        </p:spPr>
        <p:txBody>
          <a:bodyPr/>
          <a:lstStyle/>
          <a:p>
            <a:endParaRPr lang="en-US"/>
          </a:p>
        </p:txBody>
      </p:sp>
      <p:sp>
        <p:nvSpPr>
          <p:cNvPr id="7" name="Text 5"/>
          <p:cNvSpPr/>
          <p:nvPr/>
        </p:nvSpPr>
        <p:spPr>
          <a:xfrm>
            <a:off x="868680" y="2404872"/>
            <a:ext cx="5029200" cy="274320"/>
          </a:xfrm>
          <a:prstGeom prst="rect">
            <a:avLst/>
          </a:prstGeom>
          <a:noFill/>
          <a:ln/>
        </p:spPr>
        <p:txBody>
          <a:bodyPr wrap="square" lIns="0" tIns="0" rIns="0" bIns="0" rtlCol="0" anchor="ctr"/>
          <a:lstStyle/>
          <a:p>
            <a:pPr marL="0" indent="0">
              <a:buNone/>
            </a:pPr>
            <a:r>
              <a:rPr lang="en-US" sz="1000" b="1" kern="0" spc="500" dirty="0">
                <a:solidFill>
                  <a:srgbClr val="1E2761"/>
                </a:solidFill>
                <a:latin typeface="Calibri" pitchFamily="34" charset="0"/>
                <a:ea typeface="Calibri" pitchFamily="34" charset="-122"/>
                <a:cs typeface="Calibri" pitchFamily="34" charset="-120"/>
              </a:rPr>
              <a:t>GAP 1 — INSTRUMENT LEGIBILITY</a:t>
            </a:r>
            <a:endParaRPr lang="en-US" sz="1000" dirty="0"/>
          </a:p>
        </p:txBody>
      </p:sp>
      <p:sp>
        <p:nvSpPr>
          <p:cNvPr id="8" name="Text 6"/>
          <p:cNvSpPr/>
          <p:nvPr/>
        </p:nvSpPr>
        <p:spPr>
          <a:xfrm>
            <a:off x="868680" y="2660904"/>
            <a:ext cx="5029200" cy="36576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PFR: By-instrument approach</a:t>
            </a:r>
            <a:endParaRPr lang="en-US" sz="1700" dirty="0"/>
          </a:p>
        </p:txBody>
      </p:sp>
      <p:sp>
        <p:nvSpPr>
          <p:cNvPr id="9" name="Text 7"/>
          <p:cNvSpPr/>
          <p:nvPr/>
        </p:nvSpPr>
        <p:spPr>
          <a:xfrm>
            <a:off x="868680" y="3081528"/>
            <a:ext cx="5227320" cy="594360"/>
          </a:xfrm>
          <a:prstGeom prst="rect">
            <a:avLst/>
          </a:prstGeom>
          <a:noFill/>
          <a:ln/>
        </p:spPr>
        <p:txBody>
          <a:bodyPr wrap="square" lIns="0" tIns="0" rIns="0" bIns="0" rtlCol="0" anchor="ctr"/>
          <a:lstStyle/>
          <a:p>
            <a:pPr marL="0" indent="0">
              <a:buNone/>
            </a:pPr>
            <a:r>
              <a:rPr lang="en-US" sz="1150" dirty="0">
                <a:solidFill>
                  <a:srgbClr val="1F2747"/>
                </a:solidFill>
                <a:latin typeface="Calibri" pitchFamily="34" charset="0"/>
                <a:ea typeface="Calibri" pitchFamily="34" charset="-122"/>
                <a:cs typeface="Calibri" pitchFamily="34" charset="-120"/>
              </a:rPr>
              <a:t>Schedules accrete line-by-line over decades. Nobody fully owns them; few read them end-to-end. We need a structured snapshot — categorised, standardised, with rates scaled to feed standard global metrics.</a:t>
            </a:r>
            <a:endParaRPr lang="en-US" sz="1150" dirty="0"/>
          </a:p>
        </p:txBody>
      </p:sp>
      <p:sp>
        <p:nvSpPr>
          <p:cNvPr id="10" name="Shape 8"/>
          <p:cNvSpPr/>
          <p:nvPr/>
        </p:nvSpPr>
        <p:spPr>
          <a:xfrm>
            <a:off x="6263640" y="2240280"/>
            <a:ext cx="5486400" cy="1463040"/>
          </a:xfrm>
          <a:prstGeom prst="rect">
            <a:avLst/>
          </a:prstGeom>
          <a:solidFill>
            <a:srgbClr val="F6F8FE"/>
          </a:solidFill>
          <a:ln/>
          <a:effectLst>
            <a:outerShdw blurRad="101600" dist="25400" dir="5400000" algn="bl" rotWithShape="0">
              <a:srgbClr val="000000">
                <a:alpha val="8000"/>
              </a:srgbClr>
            </a:outerShdw>
          </a:effectLst>
        </p:spPr>
        <p:txBody>
          <a:bodyPr/>
          <a:lstStyle/>
          <a:p>
            <a:endParaRPr lang="en-US"/>
          </a:p>
        </p:txBody>
      </p:sp>
      <p:sp>
        <p:nvSpPr>
          <p:cNvPr id="11" name="Shape 9"/>
          <p:cNvSpPr/>
          <p:nvPr/>
        </p:nvSpPr>
        <p:spPr>
          <a:xfrm>
            <a:off x="6263640" y="2240280"/>
            <a:ext cx="73152" cy="1463040"/>
          </a:xfrm>
          <a:prstGeom prst="rect">
            <a:avLst/>
          </a:prstGeom>
          <a:solidFill>
            <a:srgbClr val="D4A24C"/>
          </a:solidFill>
          <a:ln/>
        </p:spPr>
        <p:txBody>
          <a:bodyPr/>
          <a:lstStyle/>
          <a:p>
            <a:endParaRPr lang="en-US"/>
          </a:p>
        </p:txBody>
      </p:sp>
      <p:sp>
        <p:nvSpPr>
          <p:cNvPr id="12" name="Text 10"/>
          <p:cNvSpPr/>
          <p:nvPr/>
        </p:nvSpPr>
        <p:spPr>
          <a:xfrm>
            <a:off x="6583680" y="2404872"/>
            <a:ext cx="5029200" cy="274320"/>
          </a:xfrm>
          <a:prstGeom prst="rect">
            <a:avLst/>
          </a:prstGeom>
          <a:noFill/>
          <a:ln/>
        </p:spPr>
        <p:txBody>
          <a:bodyPr wrap="square" lIns="0" tIns="0" rIns="0" bIns="0" rtlCol="0" anchor="ctr"/>
          <a:lstStyle/>
          <a:p>
            <a:pPr marL="0" indent="0">
              <a:buNone/>
            </a:pPr>
            <a:r>
              <a:rPr lang="en-US" sz="1000" b="1" kern="0" spc="500" dirty="0">
                <a:solidFill>
                  <a:srgbClr val="1E2761"/>
                </a:solidFill>
                <a:latin typeface="Calibri" pitchFamily="34" charset="0"/>
                <a:ea typeface="Calibri" pitchFamily="34" charset="-122"/>
                <a:cs typeface="Calibri" pitchFamily="34" charset="-120"/>
              </a:rPr>
              <a:t>GAP 2 — THE EXTERNALITY QUESTION</a:t>
            </a:r>
            <a:endParaRPr lang="en-US" sz="1000" dirty="0"/>
          </a:p>
        </p:txBody>
      </p:sp>
      <p:sp>
        <p:nvSpPr>
          <p:cNvPr id="13" name="Text 11"/>
          <p:cNvSpPr/>
          <p:nvPr/>
        </p:nvSpPr>
        <p:spPr>
          <a:xfrm>
            <a:off x="6583680" y="2660904"/>
            <a:ext cx="5029200" cy="36576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PFR: Does the system handle externalities?</a:t>
            </a:r>
            <a:endParaRPr lang="en-US" sz="1700" dirty="0"/>
          </a:p>
        </p:txBody>
      </p:sp>
      <p:sp>
        <p:nvSpPr>
          <p:cNvPr id="14" name="Text 12"/>
          <p:cNvSpPr/>
          <p:nvPr/>
        </p:nvSpPr>
        <p:spPr>
          <a:xfrm>
            <a:off x="6583680" y="3081528"/>
            <a:ext cx="5166360" cy="594360"/>
          </a:xfrm>
          <a:prstGeom prst="rect">
            <a:avLst/>
          </a:prstGeom>
          <a:noFill/>
          <a:ln/>
        </p:spPr>
        <p:txBody>
          <a:bodyPr wrap="square" lIns="0" tIns="0" rIns="0" bIns="0" rtlCol="0" anchor="ctr"/>
          <a:lstStyle/>
          <a:p>
            <a:pPr marL="0" indent="0">
              <a:buNone/>
            </a:pPr>
            <a:r>
              <a:rPr lang="en-US" sz="1150" dirty="0">
                <a:solidFill>
                  <a:srgbClr val="1F2747"/>
                </a:solidFill>
                <a:latin typeface="Calibri" pitchFamily="34" charset="0"/>
                <a:ea typeface="Calibri" pitchFamily="34" charset="-122"/>
                <a:cs typeface="Calibri" pitchFamily="34" charset="-120"/>
              </a:rPr>
              <a:t>Core question in PFRs. Carbon, local air pollution, accidents, congestion, road damage — each lives in a different silo. CPAT, the Climate &amp; Health Program, transport CBA, IMF GEPR. No product brings them together for a finance minister to read.</a:t>
            </a:r>
            <a:endParaRPr lang="en-US" sz="1150" dirty="0"/>
          </a:p>
        </p:txBody>
      </p:sp>
      <p:sp>
        <p:nvSpPr>
          <p:cNvPr id="15" name="Text 13"/>
          <p:cNvSpPr/>
          <p:nvPr/>
        </p:nvSpPr>
        <p:spPr>
          <a:xfrm>
            <a:off x="548640" y="3977640"/>
            <a:ext cx="7315200" cy="274320"/>
          </a:xfrm>
          <a:prstGeom prst="rect">
            <a:avLst/>
          </a:prstGeom>
          <a:noFill/>
          <a:ln/>
        </p:spPr>
        <p:txBody>
          <a:bodyPr wrap="square" lIns="0" tIns="0" rIns="0" bIns="0" rtlCol="0" anchor="ctr"/>
          <a:lstStyle/>
          <a:p>
            <a:pPr marL="0" indent="0">
              <a:buNone/>
            </a:pPr>
            <a:r>
              <a:rPr lang="en-US" sz="1000" b="1" kern="0" spc="500" dirty="0">
                <a:solidFill>
                  <a:srgbClr val="6B7693"/>
                </a:solidFill>
                <a:latin typeface="Calibri" pitchFamily="34" charset="0"/>
                <a:ea typeface="Calibri" pitchFamily="34" charset="-122"/>
                <a:cs typeface="Calibri" pitchFamily="34" charset="-120"/>
              </a:rPr>
              <a:t>WHAT THE REPORT DELIVERS</a:t>
            </a:r>
            <a:endParaRPr lang="en-US" sz="1000" dirty="0"/>
          </a:p>
        </p:txBody>
      </p:sp>
      <p:sp>
        <p:nvSpPr>
          <p:cNvPr id="16" name="Shape 14"/>
          <p:cNvSpPr/>
          <p:nvPr/>
        </p:nvSpPr>
        <p:spPr>
          <a:xfrm>
            <a:off x="548640" y="4370832"/>
            <a:ext cx="3657600" cy="502920"/>
          </a:xfrm>
          <a:prstGeom prst="rect">
            <a:avLst/>
          </a:prstGeom>
          <a:solidFill>
            <a:srgbClr val="1E2761"/>
          </a:solidFill>
          <a:ln/>
        </p:spPr>
        <p:txBody>
          <a:bodyPr/>
          <a:lstStyle/>
          <a:p>
            <a:endParaRPr lang="en-US"/>
          </a:p>
        </p:txBody>
      </p:sp>
      <p:sp>
        <p:nvSpPr>
          <p:cNvPr id="17" name="Shape 15"/>
          <p:cNvSpPr/>
          <p:nvPr/>
        </p:nvSpPr>
        <p:spPr>
          <a:xfrm>
            <a:off x="548640" y="4873752"/>
            <a:ext cx="365760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18" name="Text 16"/>
          <p:cNvSpPr/>
          <p:nvPr/>
        </p:nvSpPr>
        <p:spPr>
          <a:xfrm>
            <a:off x="777240" y="4489704"/>
            <a:ext cx="1828800" cy="27432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A</a:t>
            </a:r>
            <a:endParaRPr lang="en-US" sz="1100" dirty="0"/>
          </a:p>
        </p:txBody>
      </p:sp>
      <p:sp>
        <p:nvSpPr>
          <p:cNvPr id="19" name="Text 17"/>
          <p:cNvSpPr/>
          <p:nvPr/>
        </p:nvSpPr>
        <p:spPr>
          <a:xfrm>
            <a:off x="777240" y="5010912"/>
            <a:ext cx="3200400" cy="41148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Excise Diagnostic</a:t>
            </a:r>
            <a:endParaRPr lang="en-US" sz="1700" dirty="0"/>
          </a:p>
        </p:txBody>
      </p:sp>
      <p:sp>
        <p:nvSpPr>
          <p:cNvPr id="20" name="Text 18"/>
          <p:cNvSpPr/>
          <p:nvPr/>
        </p:nvSpPr>
        <p:spPr>
          <a:xfrm>
            <a:off x="777240" y="5404104"/>
            <a:ext cx="320040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Read the schedule</a:t>
            </a:r>
            <a:endParaRPr lang="en-US" sz="1100" dirty="0"/>
          </a:p>
        </p:txBody>
      </p:sp>
      <p:sp>
        <p:nvSpPr>
          <p:cNvPr id="21" name="Text 19"/>
          <p:cNvSpPr/>
          <p:nvPr/>
        </p:nvSpPr>
        <p:spPr>
          <a:xfrm>
            <a:off x="777240" y="5678424"/>
            <a:ext cx="3200400" cy="640080"/>
          </a:xfrm>
          <a:prstGeom prst="rect">
            <a:avLst/>
          </a:prstGeom>
          <a:noFill/>
          <a:ln/>
        </p:spPr>
        <p:txBody>
          <a:bodyPr wrap="square" lIns="0" tIns="0" rIns="0" bIns="0" rtlCol="0" anchor="ctr"/>
          <a:lstStyle/>
          <a:p>
            <a:pPr marL="0" indent="0">
              <a:buNone/>
            </a:pPr>
            <a:r>
              <a:rPr lang="en-US" sz="1100" dirty="0">
                <a:solidFill>
                  <a:srgbClr val="1F2747"/>
                </a:solidFill>
                <a:latin typeface="Calibri" pitchFamily="34" charset="0"/>
                <a:ea typeface="Calibri" pitchFamily="34" charset="-122"/>
                <a:cs typeface="Calibri" pitchFamily="34" charset="-120"/>
              </a:rPr>
              <a:t>Categorise every line. Standardise on three measures: $/unit, % of consumer price, % of GDP. Surface erosion, gaps, incoherence.</a:t>
            </a:r>
            <a:endParaRPr lang="en-US" sz="1100" dirty="0"/>
          </a:p>
        </p:txBody>
      </p:sp>
      <p:sp>
        <p:nvSpPr>
          <p:cNvPr id="22" name="Shape 20"/>
          <p:cNvSpPr/>
          <p:nvPr/>
        </p:nvSpPr>
        <p:spPr>
          <a:xfrm>
            <a:off x="4434840" y="4370832"/>
            <a:ext cx="3657600" cy="502920"/>
          </a:xfrm>
          <a:prstGeom prst="rect">
            <a:avLst/>
          </a:prstGeom>
          <a:solidFill>
            <a:srgbClr val="3A4A8A"/>
          </a:solidFill>
          <a:ln/>
        </p:spPr>
        <p:txBody>
          <a:bodyPr/>
          <a:lstStyle/>
          <a:p>
            <a:endParaRPr lang="en-US"/>
          </a:p>
        </p:txBody>
      </p:sp>
      <p:sp>
        <p:nvSpPr>
          <p:cNvPr id="23" name="Shape 21"/>
          <p:cNvSpPr/>
          <p:nvPr/>
        </p:nvSpPr>
        <p:spPr>
          <a:xfrm>
            <a:off x="4434840" y="4873752"/>
            <a:ext cx="365760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24" name="Text 22"/>
          <p:cNvSpPr/>
          <p:nvPr/>
        </p:nvSpPr>
        <p:spPr>
          <a:xfrm>
            <a:off x="4663440" y="4489704"/>
            <a:ext cx="1828800" cy="27432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B</a:t>
            </a:r>
            <a:endParaRPr lang="en-US" sz="1100" dirty="0"/>
          </a:p>
        </p:txBody>
      </p:sp>
      <p:sp>
        <p:nvSpPr>
          <p:cNvPr id="25" name="Text 23"/>
          <p:cNvSpPr/>
          <p:nvPr/>
        </p:nvSpPr>
        <p:spPr>
          <a:xfrm>
            <a:off x="4663440" y="5010912"/>
            <a:ext cx="3200400" cy="41148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Externality Diagnostic</a:t>
            </a:r>
            <a:endParaRPr lang="en-US" sz="1700" dirty="0"/>
          </a:p>
        </p:txBody>
      </p:sp>
      <p:sp>
        <p:nvSpPr>
          <p:cNvPr id="26" name="Text 24"/>
          <p:cNvSpPr/>
          <p:nvPr/>
        </p:nvSpPr>
        <p:spPr>
          <a:xfrm>
            <a:off x="4663440" y="5404104"/>
            <a:ext cx="320040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Ask the system question</a:t>
            </a:r>
            <a:endParaRPr lang="en-US" sz="1100" dirty="0"/>
          </a:p>
        </p:txBody>
      </p:sp>
      <p:sp>
        <p:nvSpPr>
          <p:cNvPr id="27" name="Text 25"/>
          <p:cNvSpPr/>
          <p:nvPr/>
        </p:nvSpPr>
        <p:spPr>
          <a:xfrm>
            <a:off x="4663440" y="5678424"/>
            <a:ext cx="3200400" cy="640080"/>
          </a:xfrm>
          <a:prstGeom prst="rect">
            <a:avLst/>
          </a:prstGeom>
          <a:noFill/>
          <a:ln/>
        </p:spPr>
        <p:txBody>
          <a:bodyPr wrap="square" lIns="0" tIns="0" rIns="0" bIns="0" rtlCol="0" anchor="ctr"/>
          <a:lstStyle/>
          <a:p>
            <a:pPr marL="0" indent="0">
              <a:buNone/>
            </a:pPr>
            <a:r>
              <a:rPr lang="en-US" sz="1100" dirty="0">
                <a:solidFill>
                  <a:srgbClr val="1F2747"/>
                </a:solidFill>
                <a:latin typeface="Calibri" pitchFamily="34" charset="0"/>
                <a:ea typeface="Calibri" pitchFamily="34" charset="-122"/>
                <a:cs typeface="Calibri" pitchFamily="34" charset="-120"/>
              </a:rPr>
              <a:t>Seven-section spine. Answer: “what is the biggest externality?”. Carbon, PM2.5, accidents, congestion, sugar, tobacco, alcohol — valued on a single spine, with consistent VSL.</a:t>
            </a:r>
            <a:endParaRPr lang="en-US" sz="1100" dirty="0"/>
          </a:p>
        </p:txBody>
      </p:sp>
      <p:sp>
        <p:nvSpPr>
          <p:cNvPr id="28" name="Shape 26"/>
          <p:cNvSpPr/>
          <p:nvPr/>
        </p:nvSpPr>
        <p:spPr>
          <a:xfrm>
            <a:off x="8321040" y="4370832"/>
            <a:ext cx="3291840" cy="502920"/>
          </a:xfrm>
          <a:prstGeom prst="rect">
            <a:avLst/>
          </a:prstGeom>
          <a:solidFill>
            <a:srgbClr val="D4A24C"/>
          </a:solidFill>
          <a:ln/>
        </p:spPr>
        <p:txBody>
          <a:bodyPr/>
          <a:lstStyle/>
          <a:p>
            <a:endParaRPr lang="en-US"/>
          </a:p>
        </p:txBody>
      </p:sp>
      <p:sp>
        <p:nvSpPr>
          <p:cNvPr id="29" name="Shape 27"/>
          <p:cNvSpPr/>
          <p:nvPr/>
        </p:nvSpPr>
        <p:spPr>
          <a:xfrm>
            <a:off x="8321040" y="4873752"/>
            <a:ext cx="329184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30" name="Text 28"/>
          <p:cNvSpPr/>
          <p:nvPr/>
        </p:nvSpPr>
        <p:spPr>
          <a:xfrm>
            <a:off x="8549640" y="4489704"/>
            <a:ext cx="1828800" cy="27432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C</a:t>
            </a:r>
            <a:endParaRPr lang="en-US" sz="1100" dirty="0"/>
          </a:p>
        </p:txBody>
      </p:sp>
      <p:sp>
        <p:nvSpPr>
          <p:cNvPr id="31" name="Text 29"/>
          <p:cNvSpPr/>
          <p:nvPr/>
        </p:nvSpPr>
        <p:spPr>
          <a:xfrm>
            <a:off x="8549640" y="5010912"/>
            <a:ext cx="2834640" cy="41148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Policy Pathways</a:t>
            </a:r>
            <a:endParaRPr lang="en-US" sz="1700" dirty="0"/>
          </a:p>
        </p:txBody>
      </p:sp>
      <p:sp>
        <p:nvSpPr>
          <p:cNvPr id="32" name="Text 30"/>
          <p:cNvSpPr/>
          <p:nvPr/>
        </p:nvSpPr>
        <p:spPr>
          <a:xfrm>
            <a:off x="8549640" y="5404104"/>
            <a:ext cx="283464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Decide what to do</a:t>
            </a:r>
            <a:endParaRPr lang="en-US" sz="1100" dirty="0"/>
          </a:p>
        </p:txBody>
      </p:sp>
      <p:sp>
        <p:nvSpPr>
          <p:cNvPr id="33" name="Text 31"/>
          <p:cNvSpPr/>
          <p:nvPr/>
        </p:nvSpPr>
        <p:spPr>
          <a:xfrm>
            <a:off x="8549640" y="5678424"/>
            <a:ext cx="2834640" cy="640080"/>
          </a:xfrm>
          <a:prstGeom prst="rect">
            <a:avLst/>
          </a:prstGeom>
          <a:noFill/>
          <a:ln/>
        </p:spPr>
        <p:txBody>
          <a:bodyPr wrap="square" lIns="0" tIns="0" rIns="0" bIns="0" rtlCol="0" anchor="ctr"/>
          <a:lstStyle/>
          <a:p>
            <a:pPr marL="0" indent="0">
              <a:buNone/>
            </a:pPr>
            <a:r>
              <a:rPr lang="en-US" sz="1100" dirty="0">
                <a:solidFill>
                  <a:srgbClr val="1F2747"/>
                </a:solidFill>
                <a:latin typeface="Calibri" pitchFamily="34" charset="0"/>
                <a:ea typeface="Calibri" pitchFamily="34" charset="-122"/>
                <a:cs typeface="Calibri" pitchFamily="34" charset="-120"/>
              </a:rPr>
              <a:t>IMF benchmarks + Part B summary. Success stories. Narrative political-economy analysis. Success stories. Reform proposals.</a:t>
            </a:r>
            <a:endParaRPr lang="en-US" sz="1100" dirty="0"/>
          </a:p>
        </p:txBody>
      </p:sp>
      <p:pic>
        <p:nvPicPr>
          <p:cNvPr id="34" name="Image 0" descr="preencoded.png"/>
          <p:cNvPicPr>
            <a:picLocks noChangeAspect="1"/>
          </p:cNvPicPr>
          <p:nvPr/>
        </p:nvPicPr>
        <p:blipFill>
          <a:blip r:embed="rId3"/>
          <a:stretch>
            <a:fillRect/>
          </a:stretch>
        </p:blipFill>
        <p:spPr>
          <a:xfrm>
            <a:off x="4160520" y="5239512"/>
            <a:ext cx="274320" cy="274320"/>
          </a:xfrm>
          <a:prstGeom prst="rect">
            <a:avLst/>
          </a:prstGeom>
        </p:spPr>
      </p:pic>
      <p:pic>
        <p:nvPicPr>
          <p:cNvPr id="35" name="Image 1" descr="preencoded.png"/>
          <p:cNvPicPr>
            <a:picLocks noChangeAspect="1"/>
          </p:cNvPicPr>
          <p:nvPr/>
        </p:nvPicPr>
        <p:blipFill>
          <a:blip r:embed="rId3"/>
          <a:stretch>
            <a:fillRect/>
          </a:stretch>
        </p:blipFill>
        <p:spPr>
          <a:xfrm>
            <a:off x="8046720" y="5239512"/>
            <a:ext cx="274320" cy="274320"/>
          </a:xfrm>
          <a:prstGeom prst="rect">
            <a:avLst/>
          </a:prstGeom>
        </p:spPr>
      </p:pic>
      <p:sp>
        <p:nvSpPr>
          <p:cNvPr id="36" name="Text 32"/>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Automated Excise-Fiscal Reports  ·  04 / 11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101" name="Text"/>
          <p:cNvSpPr/>
          <p:nvPr/>
        </p:nvSpPr>
        <p:spPr>
          <a:xfrm>
            <a:off x="548640" y="365760"/>
            <a:ext cx="5000000" cy="274320"/>
          </a:xfrm>
          <a:prstGeom prst="rect">
            <a:avLst/>
          </a:prstGeom>
          <a:noFill/>
          <a:ln/>
        </p:spPr>
        <p:txBody>
          <a:bodyPr wrap="square" lIns="0" tIns="0" rIns="0" bIns="0" rtlCol="0" anchor="ctr"/>
          <a:lstStyle/>
          <a:p>
            <a:pPr marL="0" indent="0" algn="l">
              <a:buNone/>
            </a:pPr>
            <a:r>
              <a:rPr lang="en-US" sz="1100" b="1" kern="0" spc="600" dirty="0">
                <a:solidFill>
                  <a:srgbClr val="D4A24C"/>
                </a:solidFill>
                <a:latin typeface="Calibri" pitchFamily="34" charset="0"/>
                <a:ea typeface="Calibri" pitchFamily="34" charset="-122"/>
                <a:cs typeface="Calibri" pitchFamily="34" charset="-120"/>
              </a:rPr>
              <a:t>03 — KEY QUESTIONS</a:t>
            </a:r>
          </a:p>
        </p:txBody>
      </p:sp>
      <p:sp>
        <p:nvSpPr>
          <p:cNvPr id="102" name="Text"/>
          <p:cNvSpPr/>
          <p:nvPr/>
        </p:nvSpPr>
        <p:spPr>
          <a:xfrm>
            <a:off x="548640" y="658368"/>
            <a:ext cx="11094720" cy="640080"/>
          </a:xfrm>
          <a:prstGeom prst="rect">
            <a:avLst/>
          </a:prstGeom>
          <a:noFill/>
          <a:ln/>
        </p:spPr>
        <p:txBody>
          <a:bodyPr wrap="square" lIns="0" tIns="0" rIns="0" bIns="0" rtlCol="0" anchor="ctr"/>
          <a:lstStyle/>
          <a:p>
            <a:pPr marL="0" indent="0" algn="l">
              <a:buNone/>
            </a:pPr>
            <a:r>
              <a:rPr lang="en-US" sz="3000" b="1" kern="0" dirty="0">
                <a:solidFill>
                  <a:srgbClr val="1E2761"/>
                </a:solidFill>
                <a:latin typeface="Georgia" pitchFamily="34" charset="0"/>
                <a:ea typeface="Georgia" pitchFamily="34" charset="-122"/>
                <a:cs typeface="Georgia" pitchFamily="34" charset="-120"/>
              </a:rPr>
              <a:t>Key questions — and the climate–health link</a:t>
            </a:r>
          </a:p>
        </p:txBody>
      </p:sp>
      <p:sp>
        <p:nvSpPr>
          <p:cNvPr id="103" name="Text"/>
          <p:cNvSpPr/>
          <p:nvPr/>
        </p:nvSpPr>
        <p:spPr>
          <a:xfrm>
            <a:off x="548640" y="1371600"/>
            <a:ext cx="11094720" cy="520700"/>
          </a:xfrm>
          <a:prstGeom prst="rect">
            <a:avLst/>
          </a:prstGeom>
          <a:noFill/>
          <a:ln/>
        </p:spPr>
        <p:txBody>
          <a:bodyPr wrap="square" lIns="0" tIns="0" rIns="0" bIns="0" rtlCol="0" anchor="ctr"/>
          <a:lstStyle/>
          <a:p>
            <a:pPr marL="0" indent="0" algn="l">
              <a:buNone/>
            </a:pPr>
            <a:r>
              <a:rPr lang="en-US" sz="1400" i="1" kern="0" dirty="0">
                <a:solidFill>
                  <a:srgbClr val="1F2747"/>
                </a:solidFill>
                <a:latin typeface="Calibri" pitchFamily="34" charset="0"/>
                <a:ea typeface="Calibri" pitchFamily="34" charset="-122"/>
                <a:cs typeface="Calibri" pitchFamily="34" charset="-120"/>
              </a:rPr>
              <a:t>Twenty-eight key questions drive the diagnostic. Most are not new — they are inherited from the climate and health programs’ existing capacities, and harmonised onto one spine.</a:t>
            </a:r>
          </a:p>
        </p:txBody>
      </p:sp>
      <p:sp>
        <p:nvSpPr>
          <p:cNvPr id="104" name="Shape"/>
          <p:cNvSpPr/>
          <p:nvPr/>
        </p:nvSpPr>
        <p:spPr>
          <a:xfrm>
            <a:off x="548640" y="2057400"/>
            <a:ext cx="3551272" cy="1645920"/>
          </a:xfrm>
          <a:prstGeom prst="roundRect">
            <a:avLst/>
          </a:prstGeom>
          <a:solidFill>
            <a:srgbClr val="F6F8FE"/>
          </a:solidFill>
          <a:ln w="12700">
            <a:solidFill>
              <a:srgbClr val="E3E8F4"/>
            </a:solidFill>
          </a:ln>
        </p:spPr>
        <p:txBody>
          <a:bodyPr/>
          <a:lstStyle/>
          <a:p>
            <a:endParaRPr lang="en-US"/>
          </a:p>
        </p:txBody>
      </p:sp>
      <p:sp>
        <p:nvSpPr>
          <p:cNvPr id="105" name="Shape"/>
          <p:cNvSpPr/>
          <p:nvPr/>
        </p:nvSpPr>
        <p:spPr>
          <a:xfrm>
            <a:off x="731520" y="2240280"/>
            <a:ext cx="438912" cy="438912"/>
          </a:xfrm>
          <a:prstGeom prst="roundRect">
            <a:avLst/>
          </a:prstGeom>
          <a:solidFill>
            <a:srgbClr val="D4A24C"/>
          </a:solidFill>
          <a:ln/>
        </p:spPr>
        <p:txBody>
          <a:bodyPr/>
          <a:lstStyle/>
          <a:p>
            <a:endParaRPr lang="en-US"/>
          </a:p>
        </p:txBody>
      </p:sp>
      <p:sp>
        <p:nvSpPr>
          <p:cNvPr id="106" name="Text"/>
          <p:cNvSpPr/>
          <p:nvPr/>
        </p:nvSpPr>
        <p:spPr>
          <a:xfrm>
            <a:off x="731520" y="2240280"/>
            <a:ext cx="438912" cy="438912"/>
          </a:xfrm>
          <a:prstGeom prst="rect">
            <a:avLst/>
          </a:prstGeom>
          <a:noFill/>
          <a:ln/>
        </p:spPr>
        <p:txBody>
          <a:bodyPr wrap="square" lIns="0" tIns="0" rIns="0" bIns="0" rtlCol="0" anchor="ctr"/>
          <a:lstStyle/>
          <a:p>
            <a:pPr marL="0" indent="0" algn="ctr">
              <a:buNone/>
            </a:pPr>
            <a:r>
              <a:rPr lang="en-US" sz="1800" b="1" kern="0" dirty="0">
                <a:solidFill>
                  <a:srgbClr val="FFFFFF"/>
                </a:solidFill>
                <a:latin typeface="Georgia" pitchFamily="34" charset="0"/>
                <a:ea typeface="Georgia" pitchFamily="34" charset="-122"/>
                <a:cs typeface="Georgia" pitchFamily="34" charset="-120"/>
              </a:rPr>
              <a:t>A</a:t>
            </a:r>
          </a:p>
        </p:txBody>
      </p:sp>
      <p:sp>
        <p:nvSpPr>
          <p:cNvPr id="107" name="Text"/>
          <p:cNvSpPr/>
          <p:nvPr/>
        </p:nvSpPr>
        <p:spPr>
          <a:xfrm>
            <a:off x="1280160" y="2240280"/>
            <a:ext cx="2636872" cy="228600"/>
          </a:xfrm>
          <a:prstGeom prst="rect">
            <a:avLst/>
          </a:prstGeom>
          <a:noFill/>
          <a:ln/>
        </p:spPr>
        <p:txBody>
          <a:bodyPr wrap="square" lIns="0" tIns="0" rIns="0" bIns="0" rtlCol="0" anchor="ctr"/>
          <a:lstStyle/>
          <a:p>
            <a:pPr marL="0" indent="0" algn="l">
              <a:buNone/>
            </a:pPr>
            <a:r>
              <a:rPr lang="en-US" sz="900" b="1" kern="0" spc="400" dirty="0">
                <a:solidFill>
                  <a:srgbClr val="D4A24C"/>
                </a:solidFill>
                <a:latin typeface="Calibri" pitchFamily="34" charset="0"/>
                <a:ea typeface="Calibri" pitchFamily="34" charset="-122"/>
                <a:cs typeface="Calibri" pitchFamily="34" charset="-120"/>
              </a:rPr>
              <a:t>PART A</a:t>
            </a:r>
          </a:p>
        </p:txBody>
      </p:sp>
      <p:sp>
        <p:nvSpPr>
          <p:cNvPr id="108" name="Text"/>
          <p:cNvSpPr/>
          <p:nvPr/>
        </p:nvSpPr>
        <p:spPr>
          <a:xfrm>
            <a:off x="1280160" y="2451100"/>
            <a:ext cx="2636872" cy="300000"/>
          </a:xfrm>
          <a:prstGeom prst="rect">
            <a:avLst/>
          </a:prstGeom>
          <a:noFill/>
          <a:ln/>
        </p:spPr>
        <p:txBody>
          <a:bodyPr wrap="square" lIns="0" tIns="0" rIns="0" bIns="0" rtlCol="0" anchor="ctr"/>
          <a:lstStyle/>
          <a:p>
            <a:pPr marL="0" indent="0" algn="l">
              <a:buNone/>
            </a:pPr>
            <a:r>
              <a:rPr lang="en-US" sz="1300" b="1" kern="0" dirty="0">
                <a:solidFill>
                  <a:srgbClr val="1E2761"/>
                </a:solidFill>
                <a:latin typeface="Georgia" pitchFamily="34" charset="0"/>
                <a:ea typeface="Georgia" pitchFamily="34" charset="-122"/>
                <a:cs typeface="Georgia" pitchFamily="34" charset="-120"/>
              </a:rPr>
              <a:t>Excise Diagnostic</a:t>
            </a:r>
          </a:p>
        </p:txBody>
      </p:sp>
      <p:sp>
        <p:nvSpPr>
          <p:cNvPr id="109" name="Text"/>
          <p:cNvSpPr/>
          <p:nvPr/>
        </p:nvSpPr>
        <p:spPr>
          <a:xfrm>
            <a:off x="731520" y="2834640"/>
            <a:ext cx="3185512" cy="220000"/>
          </a:xfrm>
          <a:prstGeom prst="rect">
            <a:avLst/>
          </a:prstGeom>
          <a:noFill/>
          <a:ln/>
        </p:spPr>
        <p:txBody>
          <a:bodyPr wrap="square" lIns="0" tIns="0" rIns="0" bIns="0" rtlCol="0" anchor="ctr"/>
          <a:lstStyle/>
          <a:p>
            <a:pPr marL="0" indent="0" algn="l">
              <a:buNone/>
            </a:pPr>
            <a:r>
              <a:rPr lang="en-US" sz="1100" b="1" kern="0" dirty="0">
                <a:solidFill>
                  <a:srgbClr val="1E2761"/>
                </a:solidFill>
                <a:latin typeface="Calibri" pitchFamily="34" charset="0"/>
                <a:ea typeface="Calibri" pitchFamily="34" charset="-122"/>
                <a:cs typeface="Calibri" pitchFamily="34" charset="-120"/>
              </a:rPr>
              <a:t>Q1–Q7   </a:t>
            </a:r>
            <a:r>
              <a:rPr lang="en-US" sz="1000" kern="0" dirty="0">
                <a:solidFill>
                  <a:srgbClr val="6B7693"/>
                </a:solidFill>
                <a:latin typeface="Calibri" pitchFamily="34" charset="0"/>
                <a:ea typeface="Calibri" pitchFamily="34" charset="-122"/>
                <a:cs typeface="Calibri" pitchFamily="34" charset="-120"/>
              </a:rPr>
              <a:t>·  7 questions</a:t>
            </a:r>
          </a:p>
        </p:txBody>
      </p:sp>
      <p:sp>
        <p:nvSpPr>
          <p:cNvPr id="110" name="Text"/>
          <p:cNvSpPr/>
          <p:nvPr/>
        </p:nvSpPr>
        <p:spPr>
          <a:xfrm>
            <a:off x="731520" y="3108960"/>
            <a:ext cx="3185512" cy="548640"/>
          </a:xfrm>
          <a:prstGeom prst="rect">
            <a:avLst/>
          </a:prstGeom>
          <a:noFill/>
          <a:ln/>
        </p:spPr>
        <p:txBody>
          <a:bodyPr wrap="square" lIns="0" tIns="0" rIns="0" bIns="0" rtlCol="0" anchor="t"/>
          <a:lstStyle/>
          <a:p>
            <a:pPr marL="0" indent="0" algn="l">
              <a:buNone/>
            </a:pPr>
            <a:r>
              <a:rPr lang="en-US" sz="900" kern="0" dirty="0">
                <a:solidFill>
                  <a:srgbClr val="1F2747"/>
                </a:solidFill>
                <a:latin typeface="Calibri" pitchFamily="34" charset="0"/>
                <a:ea typeface="Calibri" pitchFamily="34" charset="-122"/>
                <a:cs typeface="Calibri" pitchFamily="34" charset="-120"/>
              </a:rPr>
              <a:t>Is each instrument set correctly? Coverage, structure, intensity, benchmarking, erosion, coherence, price tracking.</a:t>
            </a:r>
          </a:p>
        </p:txBody>
      </p:sp>
      <p:sp>
        <p:nvSpPr>
          <p:cNvPr id="111" name="Shape"/>
          <p:cNvSpPr/>
          <p:nvPr/>
        </p:nvSpPr>
        <p:spPr>
          <a:xfrm>
            <a:off x="4328512" y="2057400"/>
            <a:ext cx="3551272" cy="1645920"/>
          </a:xfrm>
          <a:prstGeom prst="roundRect">
            <a:avLst/>
          </a:prstGeom>
          <a:solidFill>
            <a:srgbClr val="F6F8FE"/>
          </a:solidFill>
          <a:ln w="12700">
            <a:solidFill>
              <a:srgbClr val="E3E8F4"/>
            </a:solidFill>
          </a:ln>
        </p:spPr>
        <p:txBody>
          <a:bodyPr/>
          <a:lstStyle/>
          <a:p>
            <a:endParaRPr lang="en-US"/>
          </a:p>
        </p:txBody>
      </p:sp>
      <p:sp>
        <p:nvSpPr>
          <p:cNvPr id="112" name="Shape"/>
          <p:cNvSpPr/>
          <p:nvPr/>
        </p:nvSpPr>
        <p:spPr>
          <a:xfrm>
            <a:off x="4511392" y="2240280"/>
            <a:ext cx="438912" cy="438912"/>
          </a:xfrm>
          <a:prstGeom prst="roundRect">
            <a:avLst/>
          </a:prstGeom>
          <a:solidFill>
            <a:srgbClr val="D4A24C"/>
          </a:solidFill>
          <a:ln/>
        </p:spPr>
        <p:txBody>
          <a:bodyPr/>
          <a:lstStyle/>
          <a:p>
            <a:endParaRPr lang="en-US"/>
          </a:p>
        </p:txBody>
      </p:sp>
      <p:sp>
        <p:nvSpPr>
          <p:cNvPr id="113" name="Text"/>
          <p:cNvSpPr/>
          <p:nvPr/>
        </p:nvSpPr>
        <p:spPr>
          <a:xfrm>
            <a:off x="4511392" y="2240280"/>
            <a:ext cx="438912" cy="438912"/>
          </a:xfrm>
          <a:prstGeom prst="rect">
            <a:avLst/>
          </a:prstGeom>
          <a:noFill/>
          <a:ln/>
        </p:spPr>
        <p:txBody>
          <a:bodyPr wrap="square" lIns="0" tIns="0" rIns="0" bIns="0" rtlCol="0" anchor="ctr"/>
          <a:lstStyle/>
          <a:p>
            <a:pPr marL="0" indent="0" algn="ctr">
              <a:buNone/>
            </a:pPr>
            <a:r>
              <a:rPr lang="en-US" sz="1800" b="1" kern="0" dirty="0">
                <a:solidFill>
                  <a:srgbClr val="FFFFFF"/>
                </a:solidFill>
                <a:latin typeface="Georgia" pitchFamily="34" charset="0"/>
                <a:ea typeface="Georgia" pitchFamily="34" charset="-122"/>
                <a:cs typeface="Georgia" pitchFamily="34" charset="-120"/>
              </a:rPr>
              <a:t>B</a:t>
            </a:r>
          </a:p>
        </p:txBody>
      </p:sp>
      <p:sp>
        <p:nvSpPr>
          <p:cNvPr id="114" name="Text"/>
          <p:cNvSpPr/>
          <p:nvPr/>
        </p:nvSpPr>
        <p:spPr>
          <a:xfrm>
            <a:off x="5060032" y="2240280"/>
            <a:ext cx="2636872" cy="228600"/>
          </a:xfrm>
          <a:prstGeom prst="rect">
            <a:avLst/>
          </a:prstGeom>
          <a:noFill/>
          <a:ln/>
        </p:spPr>
        <p:txBody>
          <a:bodyPr wrap="square" lIns="0" tIns="0" rIns="0" bIns="0" rtlCol="0" anchor="ctr"/>
          <a:lstStyle/>
          <a:p>
            <a:pPr marL="0" indent="0" algn="l">
              <a:buNone/>
            </a:pPr>
            <a:r>
              <a:rPr lang="en-US" sz="900" b="1" kern="0" spc="400" dirty="0">
                <a:solidFill>
                  <a:srgbClr val="D4A24C"/>
                </a:solidFill>
                <a:latin typeface="Calibri" pitchFamily="34" charset="0"/>
                <a:ea typeface="Calibri" pitchFamily="34" charset="-122"/>
                <a:cs typeface="Calibri" pitchFamily="34" charset="-120"/>
              </a:rPr>
              <a:t>PART B</a:t>
            </a:r>
          </a:p>
        </p:txBody>
      </p:sp>
      <p:sp>
        <p:nvSpPr>
          <p:cNvPr id="115" name="Text"/>
          <p:cNvSpPr/>
          <p:nvPr/>
        </p:nvSpPr>
        <p:spPr>
          <a:xfrm>
            <a:off x="5060032" y="2451100"/>
            <a:ext cx="2636872" cy="300000"/>
          </a:xfrm>
          <a:prstGeom prst="rect">
            <a:avLst/>
          </a:prstGeom>
          <a:noFill/>
          <a:ln/>
        </p:spPr>
        <p:txBody>
          <a:bodyPr wrap="square" lIns="0" tIns="0" rIns="0" bIns="0" rtlCol="0" anchor="ctr"/>
          <a:lstStyle/>
          <a:p>
            <a:pPr marL="0" indent="0" algn="l">
              <a:buNone/>
            </a:pPr>
            <a:r>
              <a:rPr lang="en-US" sz="1300" b="1" kern="0" dirty="0">
                <a:solidFill>
                  <a:srgbClr val="1E2761"/>
                </a:solidFill>
                <a:latin typeface="Georgia" pitchFamily="34" charset="0"/>
                <a:ea typeface="Georgia" pitchFamily="34" charset="-122"/>
                <a:cs typeface="Georgia" pitchFamily="34" charset="-120"/>
              </a:rPr>
              <a:t>Externality Diagnostic</a:t>
            </a:r>
          </a:p>
        </p:txBody>
      </p:sp>
      <p:sp>
        <p:nvSpPr>
          <p:cNvPr id="116" name="Text"/>
          <p:cNvSpPr/>
          <p:nvPr/>
        </p:nvSpPr>
        <p:spPr>
          <a:xfrm>
            <a:off x="4511392" y="2834640"/>
            <a:ext cx="3185512" cy="220000"/>
          </a:xfrm>
          <a:prstGeom prst="rect">
            <a:avLst/>
          </a:prstGeom>
          <a:noFill/>
          <a:ln/>
        </p:spPr>
        <p:txBody>
          <a:bodyPr wrap="square" lIns="0" tIns="0" rIns="0" bIns="0" rtlCol="0" anchor="ctr"/>
          <a:lstStyle/>
          <a:p>
            <a:pPr marL="0" indent="0" algn="l">
              <a:buNone/>
            </a:pPr>
            <a:r>
              <a:rPr lang="en-US" sz="1100" b="1" kern="0" dirty="0">
                <a:solidFill>
                  <a:srgbClr val="1E2761"/>
                </a:solidFill>
                <a:latin typeface="Calibri" pitchFamily="34" charset="0"/>
                <a:ea typeface="Calibri" pitchFamily="34" charset="-122"/>
                <a:cs typeface="Calibri" pitchFamily="34" charset="-120"/>
              </a:rPr>
              <a:t>Q8–Q23   </a:t>
            </a:r>
            <a:r>
              <a:rPr lang="en-US" sz="1000" kern="0" dirty="0">
                <a:solidFill>
                  <a:srgbClr val="6B7693"/>
                </a:solidFill>
                <a:latin typeface="Calibri" pitchFamily="34" charset="0"/>
                <a:ea typeface="Calibri" pitchFamily="34" charset="-122"/>
                <a:cs typeface="Calibri" pitchFamily="34" charset="-120"/>
              </a:rPr>
              <a:t>·  16 questions</a:t>
            </a:r>
          </a:p>
        </p:txBody>
      </p:sp>
      <p:sp>
        <p:nvSpPr>
          <p:cNvPr id="117" name="Text"/>
          <p:cNvSpPr/>
          <p:nvPr/>
        </p:nvSpPr>
        <p:spPr>
          <a:xfrm>
            <a:off x="4511392" y="3108960"/>
            <a:ext cx="3185512" cy="548640"/>
          </a:xfrm>
          <a:prstGeom prst="rect">
            <a:avLst/>
          </a:prstGeom>
          <a:noFill/>
          <a:ln/>
        </p:spPr>
        <p:txBody>
          <a:bodyPr wrap="square" lIns="0" tIns="0" rIns="0" bIns="0" rtlCol="0" anchor="t"/>
          <a:lstStyle/>
          <a:p>
            <a:pPr marL="0" indent="0" algn="l">
              <a:buNone/>
            </a:pPr>
            <a:r>
              <a:rPr lang="en-US" sz="900" kern="0" dirty="0">
                <a:solidFill>
                  <a:srgbClr val="1F2747"/>
                </a:solidFill>
                <a:latin typeface="Calibri" pitchFamily="34" charset="0"/>
                <a:ea typeface="Calibri" pitchFamily="34" charset="-122"/>
                <a:cs typeface="Calibri" pitchFamily="34" charset="-120"/>
              </a:rPr>
              <a:t>Does the system handle the externalities that matter? Benchmarking, tax gaps, disease, reform effects, equity, design — the climate–health core.</a:t>
            </a:r>
          </a:p>
        </p:txBody>
      </p:sp>
      <p:sp>
        <p:nvSpPr>
          <p:cNvPr id="118" name="Shape"/>
          <p:cNvSpPr/>
          <p:nvPr/>
        </p:nvSpPr>
        <p:spPr>
          <a:xfrm>
            <a:off x="8108384" y="2057400"/>
            <a:ext cx="3551272" cy="1645920"/>
          </a:xfrm>
          <a:prstGeom prst="roundRect">
            <a:avLst/>
          </a:prstGeom>
          <a:solidFill>
            <a:srgbClr val="F6F8FE"/>
          </a:solidFill>
          <a:ln w="12700">
            <a:solidFill>
              <a:srgbClr val="E3E8F4"/>
            </a:solidFill>
          </a:ln>
        </p:spPr>
        <p:txBody>
          <a:bodyPr/>
          <a:lstStyle/>
          <a:p>
            <a:endParaRPr lang="en-US"/>
          </a:p>
        </p:txBody>
      </p:sp>
      <p:sp>
        <p:nvSpPr>
          <p:cNvPr id="119" name="Shape"/>
          <p:cNvSpPr/>
          <p:nvPr/>
        </p:nvSpPr>
        <p:spPr>
          <a:xfrm>
            <a:off x="8291264" y="2240280"/>
            <a:ext cx="438912" cy="438912"/>
          </a:xfrm>
          <a:prstGeom prst="roundRect">
            <a:avLst/>
          </a:prstGeom>
          <a:solidFill>
            <a:srgbClr val="D4A24C"/>
          </a:solidFill>
          <a:ln/>
        </p:spPr>
        <p:txBody>
          <a:bodyPr/>
          <a:lstStyle/>
          <a:p>
            <a:endParaRPr lang="en-US"/>
          </a:p>
        </p:txBody>
      </p:sp>
      <p:sp>
        <p:nvSpPr>
          <p:cNvPr id="120" name="Text"/>
          <p:cNvSpPr/>
          <p:nvPr/>
        </p:nvSpPr>
        <p:spPr>
          <a:xfrm>
            <a:off x="8291264" y="2240280"/>
            <a:ext cx="438912" cy="438912"/>
          </a:xfrm>
          <a:prstGeom prst="rect">
            <a:avLst/>
          </a:prstGeom>
          <a:noFill/>
          <a:ln/>
        </p:spPr>
        <p:txBody>
          <a:bodyPr wrap="square" lIns="0" tIns="0" rIns="0" bIns="0" rtlCol="0" anchor="ctr"/>
          <a:lstStyle/>
          <a:p>
            <a:pPr marL="0" indent="0" algn="ctr">
              <a:buNone/>
            </a:pPr>
            <a:r>
              <a:rPr lang="en-US" sz="1800" b="1" kern="0" dirty="0">
                <a:solidFill>
                  <a:srgbClr val="FFFFFF"/>
                </a:solidFill>
                <a:latin typeface="Georgia" pitchFamily="34" charset="0"/>
                <a:ea typeface="Georgia" pitchFamily="34" charset="-122"/>
                <a:cs typeface="Georgia" pitchFamily="34" charset="-120"/>
              </a:rPr>
              <a:t>C</a:t>
            </a:r>
          </a:p>
        </p:txBody>
      </p:sp>
      <p:sp>
        <p:nvSpPr>
          <p:cNvPr id="121" name="Text"/>
          <p:cNvSpPr/>
          <p:nvPr/>
        </p:nvSpPr>
        <p:spPr>
          <a:xfrm>
            <a:off x="8839904" y="2240280"/>
            <a:ext cx="2636872" cy="228600"/>
          </a:xfrm>
          <a:prstGeom prst="rect">
            <a:avLst/>
          </a:prstGeom>
          <a:noFill/>
          <a:ln/>
        </p:spPr>
        <p:txBody>
          <a:bodyPr wrap="square" lIns="0" tIns="0" rIns="0" bIns="0" rtlCol="0" anchor="ctr"/>
          <a:lstStyle/>
          <a:p>
            <a:pPr marL="0" indent="0" algn="l">
              <a:buNone/>
            </a:pPr>
            <a:r>
              <a:rPr lang="en-US" sz="900" b="1" kern="0" spc="400" dirty="0">
                <a:solidFill>
                  <a:srgbClr val="D4A24C"/>
                </a:solidFill>
                <a:latin typeface="Calibri" pitchFamily="34" charset="0"/>
                <a:ea typeface="Calibri" pitchFamily="34" charset="-122"/>
                <a:cs typeface="Calibri" pitchFamily="34" charset="-120"/>
              </a:rPr>
              <a:t>PART C</a:t>
            </a:r>
          </a:p>
        </p:txBody>
      </p:sp>
      <p:sp>
        <p:nvSpPr>
          <p:cNvPr id="122" name="Text"/>
          <p:cNvSpPr/>
          <p:nvPr/>
        </p:nvSpPr>
        <p:spPr>
          <a:xfrm>
            <a:off x="8839904" y="2451100"/>
            <a:ext cx="2636872" cy="300000"/>
          </a:xfrm>
          <a:prstGeom prst="rect">
            <a:avLst/>
          </a:prstGeom>
          <a:noFill/>
          <a:ln/>
        </p:spPr>
        <p:txBody>
          <a:bodyPr wrap="square" lIns="0" tIns="0" rIns="0" bIns="0" rtlCol="0" anchor="ctr"/>
          <a:lstStyle/>
          <a:p>
            <a:pPr marL="0" indent="0" algn="l">
              <a:buNone/>
            </a:pPr>
            <a:r>
              <a:rPr lang="en-US" sz="1300" b="1" kern="0" dirty="0">
                <a:solidFill>
                  <a:srgbClr val="1E2761"/>
                </a:solidFill>
                <a:latin typeface="Georgia" pitchFamily="34" charset="0"/>
                <a:ea typeface="Georgia" pitchFamily="34" charset="-122"/>
                <a:cs typeface="Georgia" pitchFamily="34" charset="-120"/>
              </a:rPr>
              <a:t>Policy Pathways</a:t>
            </a:r>
          </a:p>
        </p:txBody>
      </p:sp>
      <p:sp>
        <p:nvSpPr>
          <p:cNvPr id="123" name="Text"/>
          <p:cNvSpPr/>
          <p:nvPr/>
        </p:nvSpPr>
        <p:spPr>
          <a:xfrm>
            <a:off x="8291264" y="2834640"/>
            <a:ext cx="3185512" cy="220000"/>
          </a:xfrm>
          <a:prstGeom prst="rect">
            <a:avLst/>
          </a:prstGeom>
          <a:noFill/>
          <a:ln/>
        </p:spPr>
        <p:txBody>
          <a:bodyPr wrap="square" lIns="0" tIns="0" rIns="0" bIns="0" rtlCol="0" anchor="ctr"/>
          <a:lstStyle/>
          <a:p>
            <a:pPr marL="0" indent="0" algn="l">
              <a:buNone/>
            </a:pPr>
            <a:r>
              <a:rPr lang="en-US" sz="1100" b="1" kern="0" dirty="0">
                <a:solidFill>
                  <a:srgbClr val="1E2761"/>
                </a:solidFill>
                <a:latin typeface="Calibri" pitchFamily="34" charset="0"/>
                <a:ea typeface="Calibri" pitchFamily="34" charset="-122"/>
                <a:cs typeface="Calibri" pitchFamily="34" charset="-120"/>
              </a:rPr>
              <a:t>Q24–Q28   </a:t>
            </a:r>
            <a:r>
              <a:rPr lang="en-US" sz="1000" kern="0" dirty="0">
                <a:solidFill>
                  <a:srgbClr val="6B7693"/>
                </a:solidFill>
                <a:latin typeface="Calibri" pitchFamily="34" charset="0"/>
                <a:ea typeface="Calibri" pitchFamily="34" charset="-122"/>
                <a:cs typeface="Calibri" pitchFamily="34" charset="-120"/>
              </a:rPr>
              <a:t>·  5 questions</a:t>
            </a:r>
          </a:p>
        </p:txBody>
      </p:sp>
      <p:sp>
        <p:nvSpPr>
          <p:cNvPr id="124" name="Text"/>
          <p:cNvSpPr/>
          <p:nvPr/>
        </p:nvSpPr>
        <p:spPr>
          <a:xfrm>
            <a:off x="8291264" y="3108960"/>
            <a:ext cx="3185512" cy="548640"/>
          </a:xfrm>
          <a:prstGeom prst="rect">
            <a:avLst/>
          </a:prstGeom>
          <a:noFill/>
          <a:ln/>
        </p:spPr>
        <p:txBody>
          <a:bodyPr wrap="square" lIns="0" tIns="0" rIns="0" bIns="0" rtlCol="0" anchor="t"/>
          <a:lstStyle/>
          <a:p>
            <a:pPr marL="0" indent="0" algn="l">
              <a:buNone/>
            </a:pPr>
            <a:r>
              <a:rPr lang="en-US" sz="900" kern="0" dirty="0">
                <a:solidFill>
                  <a:srgbClr val="1F2747"/>
                </a:solidFill>
                <a:latin typeface="Calibri" pitchFamily="34" charset="0"/>
                <a:ea typeface="Calibri" pitchFamily="34" charset="-122"/>
                <a:cs typeface="Calibri" pitchFamily="34" charset="-120"/>
              </a:rPr>
              <a:t>What to do, and in what order? Sequencing, tractability, compensation, framing, comparators.</a:t>
            </a:r>
          </a:p>
        </p:txBody>
      </p:sp>
      <p:sp>
        <p:nvSpPr>
          <p:cNvPr id="125" name="Shape"/>
          <p:cNvSpPr/>
          <p:nvPr/>
        </p:nvSpPr>
        <p:spPr>
          <a:xfrm>
            <a:off x="548640" y="3886200"/>
            <a:ext cx="11094720" cy="731520"/>
          </a:xfrm>
          <a:prstGeom prst="roundRect">
            <a:avLst/>
          </a:prstGeom>
          <a:solidFill>
            <a:srgbClr val="1E2761"/>
          </a:solidFill>
          <a:ln/>
        </p:spPr>
        <p:txBody>
          <a:bodyPr/>
          <a:lstStyle/>
          <a:p>
            <a:endParaRPr lang="en-US"/>
          </a:p>
        </p:txBody>
      </p:sp>
      <p:sp>
        <p:nvSpPr>
          <p:cNvPr id="126" name="Text"/>
          <p:cNvSpPr/>
          <p:nvPr/>
        </p:nvSpPr>
        <p:spPr>
          <a:xfrm>
            <a:off x="850000" y="4004200"/>
            <a:ext cx="11000000" cy="250000"/>
          </a:xfrm>
          <a:prstGeom prst="rect">
            <a:avLst/>
          </a:prstGeom>
          <a:noFill/>
          <a:ln/>
        </p:spPr>
        <p:txBody>
          <a:bodyPr wrap="square" lIns="0" tIns="0" rIns="0" bIns="0" rtlCol="0" anchor="ctr"/>
          <a:lstStyle/>
          <a:p>
            <a:pPr marL="0" indent="0" algn="l">
              <a:buNone/>
            </a:pPr>
            <a:r>
              <a:rPr lang="en-US" sz="1000" b="1" kern="0" spc="400" dirty="0">
                <a:solidFill>
                  <a:srgbClr val="D4A24C"/>
                </a:solidFill>
                <a:latin typeface="Calibri" pitchFamily="34" charset="0"/>
                <a:ea typeface="Calibri" pitchFamily="34" charset="-122"/>
                <a:cs typeface="Calibri" pitchFamily="34" charset="-120"/>
              </a:rPr>
              <a:t>THE CLIMATE–HEALTH LINK</a:t>
            </a:r>
          </a:p>
        </p:txBody>
      </p:sp>
      <p:sp>
        <p:nvSpPr>
          <p:cNvPr id="127" name="Text"/>
          <p:cNvSpPr/>
          <p:nvPr/>
        </p:nvSpPr>
        <p:spPr>
          <a:xfrm>
            <a:off x="850000" y="4246200"/>
            <a:ext cx="10500000" cy="300000"/>
          </a:xfrm>
          <a:prstGeom prst="rect">
            <a:avLst/>
          </a:prstGeom>
          <a:noFill/>
          <a:ln/>
        </p:spPr>
        <p:txBody>
          <a:bodyPr wrap="square" lIns="0" tIns="0" rIns="0" bIns="0" rtlCol="0" anchor="ctr"/>
          <a:lstStyle/>
          <a:p>
            <a:pPr marL="0" indent="0" algn="l">
              <a:buNone/>
            </a:pPr>
            <a:r>
              <a:rPr lang="en-US" sz="1200" b="1" kern="0" dirty="0">
                <a:solidFill>
                  <a:srgbClr val="FFFFFF"/>
                </a:solidFill>
                <a:latin typeface="Calibri" pitchFamily="34" charset="0"/>
                <a:ea typeface="Calibri" pitchFamily="34" charset="-122"/>
                <a:cs typeface="Calibri" pitchFamily="34" charset="-120"/>
              </a:rPr>
              <a:t>20 of the 28 questions come straight from the climate &amp; health programs’ existing capacities</a:t>
            </a:r>
            <a:r>
              <a:rPr lang="en-US" sz="1200" kern="0" dirty="0">
                <a:solidFill>
                  <a:srgbClr val="CADCFC"/>
                </a:solidFill>
                <a:latin typeface="Calibri" pitchFamily="34" charset="0"/>
                <a:ea typeface="Calibri" pitchFamily="34" charset="-122"/>
                <a:cs typeface="Calibri" pitchFamily="34" charset="-120"/>
              </a:rPr>
              <a:t>  — CPAT, the Climate &amp; Health Program, IMF GEPR. The diagnostic harmonises them; it does not reinvent them.</a:t>
            </a:r>
          </a:p>
        </p:txBody>
      </p:sp>
      <p:sp>
        <p:nvSpPr>
          <p:cNvPr id="128" name="Shape"/>
          <p:cNvSpPr/>
          <p:nvPr/>
        </p:nvSpPr>
        <p:spPr>
          <a:xfrm>
            <a:off x="548640" y="4837000"/>
            <a:ext cx="2638425" cy="1005840"/>
          </a:xfrm>
          <a:prstGeom prst="roundRect">
            <a:avLst/>
          </a:prstGeom>
          <a:solidFill>
            <a:srgbClr val="F6F8FE"/>
          </a:solidFill>
          <a:ln w="12700">
            <a:solidFill>
              <a:srgbClr val="E3E8F4"/>
            </a:solidFill>
          </a:ln>
        </p:spPr>
        <p:txBody>
          <a:bodyPr/>
          <a:lstStyle/>
          <a:p>
            <a:endParaRPr lang="en-US"/>
          </a:p>
        </p:txBody>
      </p:sp>
      <p:sp>
        <p:nvSpPr>
          <p:cNvPr id="129" name="Text"/>
          <p:cNvSpPr/>
          <p:nvPr/>
        </p:nvSpPr>
        <p:spPr>
          <a:xfrm>
            <a:off x="777240" y="4987000"/>
            <a:ext cx="2181225" cy="360000"/>
          </a:xfrm>
          <a:prstGeom prst="rect">
            <a:avLst/>
          </a:prstGeom>
          <a:noFill/>
          <a:ln/>
        </p:spPr>
        <p:txBody>
          <a:bodyPr wrap="square" lIns="0" tIns="0" rIns="0" bIns="0" rtlCol="0" anchor="ctr"/>
          <a:lstStyle/>
          <a:p>
            <a:pPr marL="0" indent="0" algn="l">
              <a:buNone/>
            </a:pPr>
            <a:r>
              <a:rPr lang="en-US" sz="2000" b="1" kern="0" dirty="0">
                <a:solidFill>
                  <a:srgbClr val="1E2761"/>
                </a:solidFill>
                <a:latin typeface="Georgia" pitchFamily="34" charset="0"/>
                <a:ea typeface="Georgia" pitchFamily="34" charset="-122"/>
                <a:cs typeface="Georgia" pitchFamily="34" charset="-120"/>
              </a:rPr>
              <a:t>20 / 28</a:t>
            </a:r>
          </a:p>
        </p:txBody>
      </p:sp>
      <p:sp>
        <p:nvSpPr>
          <p:cNvPr id="130" name="Text"/>
          <p:cNvSpPr/>
          <p:nvPr/>
        </p:nvSpPr>
        <p:spPr>
          <a:xfrm>
            <a:off x="777240" y="5377000"/>
            <a:ext cx="2181225" cy="360000"/>
          </a:xfrm>
          <a:prstGeom prst="rect">
            <a:avLst/>
          </a:prstGeom>
          <a:noFill/>
          <a:ln/>
        </p:spPr>
        <p:txBody>
          <a:bodyPr wrap="square" lIns="0" tIns="0" rIns="0" bIns="0" rtlCol="0" anchor="t"/>
          <a:lstStyle/>
          <a:p>
            <a:pPr marL="0" indent="0" algn="l">
              <a:buNone/>
            </a:pPr>
            <a:r>
              <a:rPr lang="en-US" sz="950" kern="0" dirty="0">
                <a:solidFill>
                  <a:srgbClr val="6B7693"/>
                </a:solidFill>
                <a:latin typeface="Calibri" pitchFamily="34" charset="0"/>
                <a:ea typeface="Calibri" pitchFamily="34" charset="-122"/>
                <a:cs typeface="Calibri" pitchFamily="34" charset="-120"/>
              </a:rPr>
              <a:t>from climate &amp; health spec</a:t>
            </a:r>
          </a:p>
        </p:txBody>
      </p:sp>
      <p:sp>
        <p:nvSpPr>
          <p:cNvPr id="131" name="Shape"/>
          <p:cNvSpPr/>
          <p:nvPr/>
        </p:nvSpPr>
        <p:spPr>
          <a:xfrm>
            <a:off x="3415665" y="4837000"/>
            <a:ext cx="2638425" cy="1005840"/>
          </a:xfrm>
          <a:prstGeom prst="roundRect">
            <a:avLst/>
          </a:prstGeom>
          <a:solidFill>
            <a:srgbClr val="F6F8FE"/>
          </a:solidFill>
          <a:ln w="12700">
            <a:solidFill>
              <a:srgbClr val="E3E8F4"/>
            </a:solidFill>
          </a:ln>
        </p:spPr>
        <p:txBody>
          <a:bodyPr/>
          <a:lstStyle/>
          <a:p>
            <a:endParaRPr lang="en-US"/>
          </a:p>
        </p:txBody>
      </p:sp>
      <p:sp>
        <p:nvSpPr>
          <p:cNvPr id="132" name="Text"/>
          <p:cNvSpPr/>
          <p:nvPr/>
        </p:nvSpPr>
        <p:spPr>
          <a:xfrm>
            <a:off x="3644265" y="4987000"/>
            <a:ext cx="2181225" cy="360000"/>
          </a:xfrm>
          <a:prstGeom prst="rect">
            <a:avLst/>
          </a:prstGeom>
          <a:noFill/>
          <a:ln/>
        </p:spPr>
        <p:txBody>
          <a:bodyPr wrap="square" lIns="0" tIns="0" rIns="0" bIns="0" rtlCol="0" anchor="ctr"/>
          <a:lstStyle/>
          <a:p>
            <a:pPr marL="0" indent="0" algn="l">
              <a:buNone/>
            </a:pPr>
            <a:r>
              <a:rPr lang="en-US" sz="2000" b="1" kern="0" dirty="0">
                <a:solidFill>
                  <a:srgbClr val="6B7693"/>
                </a:solidFill>
                <a:latin typeface="Georgia" pitchFamily="34" charset="0"/>
                <a:ea typeface="Georgia" pitchFamily="34" charset="-122"/>
                <a:cs typeface="Georgia" pitchFamily="34" charset="-120"/>
              </a:rPr>
              <a:t>8 / 28</a:t>
            </a:r>
          </a:p>
        </p:txBody>
      </p:sp>
      <p:sp>
        <p:nvSpPr>
          <p:cNvPr id="133" name="Text"/>
          <p:cNvSpPr/>
          <p:nvPr/>
        </p:nvSpPr>
        <p:spPr>
          <a:xfrm>
            <a:off x="3644265" y="5377000"/>
            <a:ext cx="2181225" cy="360000"/>
          </a:xfrm>
          <a:prstGeom prst="rect">
            <a:avLst/>
          </a:prstGeom>
          <a:noFill/>
          <a:ln/>
        </p:spPr>
        <p:txBody>
          <a:bodyPr wrap="square" lIns="0" tIns="0" rIns="0" bIns="0" rtlCol="0" anchor="t"/>
          <a:lstStyle/>
          <a:p>
            <a:pPr marL="0" indent="0" algn="l">
              <a:buNone/>
            </a:pPr>
            <a:r>
              <a:rPr lang="en-US" sz="950" kern="0" dirty="0">
                <a:solidFill>
                  <a:srgbClr val="6B7693"/>
                </a:solidFill>
                <a:latin typeface="Calibri" pitchFamily="34" charset="0"/>
                <a:ea typeface="Calibri" pitchFamily="34" charset="-122"/>
                <a:cs typeface="Calibri" pitchFamily="34" charset="-120"/>
              </a:rPr>
              <a:t>added by the diagnostic</a:t>
            </a:r>
          </a:p>
        </p:txBody>
      </p:sp>
      <p:sp>
        <p:nvSpPr>
          <p:cNvPr id="134" name="Shape"/>
          <p:cNvSpPr/>
          <p:nvPr/>
        </p:nvSpPr>
        <p:spPr>
          <a:xfrm>
            <a:off x="6282690" y="4837000"/>
            <a:ext cx="2638425" cy="1005840"/>
          </a:xfrm>
          <a:prstGeom prst="roundRect">
            <a:avLst/>
          </a:prstGeom>
          <a:solidFill>
            <a:srgbClr val="F6F8FE"/>
          </a:solidFill>
          <a:ln w="12700">
            <a:solidFill>
              <a:srgbClr val="E3E8F4"/>
            </a:solidFill>
          </a:ln>
        </p:spPr>
        <p:txBody>
          <a:bodyPr/>
          <a:lstStyle/>
          <a:p>
            <a:endParaRPr lang="en-US"/>
          </a:p>
        </p:txBody>
      </p:sp>
      <p:sp>
        <p:nvSpPr>
          <p:cNvPr id="135" name="Text"/>
          <p:cNvSpPr/>
          <p:nvPr/>
        </p:nvSpPr>
        <p:spPr>
          <a:xfrm>
            <a:off x="6511290" y="4987000"/>
            <a:ext cx="2181225" cy="360000"/>
          </a:xfrm>
          <a:prstGeom prst="rect">
            <a:avLst/>
          </a:prstGeom>
          <a:noFill/>
          <a:ln/>
        </p:spPr>
        <p:txBody>
          <a:bodyPr wrap="square" lIns="0" tIns="0" rIns="0" bIns="0" rtlCol="0" anchor="ctr"/>
          <a:lstStyle/>
          <a:p>
            <a:pPr marL="0" indent="0" algn="l">
              <a:buNone/>
            </a:pPr>
            <a:r>
              <a:rPr lang="en-US" sz="2000" b="1" kern="0" dirty="0">
                <a:solidFill>
                  <a:srgbClr val="1E6F4C"/>
                </a:solidFill>
                <a:latin typeface="Georgia" pitchFamily="34" charset="0"/>
                <a:ea typeface="Georgia" pitchFamily="34" charset="-122"/>
                <a:cs typeface="Georgia" pitchFamily="34" charset="-120"/>
              </a:rPr>
              <a:t>8 Easy</a:t>
            </a:r>
          </a:p>
        </p:txBody>
      </p:sp>
      <p:sp>
        <p:nvSpPr>
          <p:cNvPr id="136" name="Text"/>
          <p:cNvSpPr/>
          <p:nvPr/>
        </p:nvSpPr>
        <p:spPr>
          <a:xfrm>
            <a:off x="6511290" y="5377000"/>
            <a:ext cx="2181225" cy="360000"/>
          </a:xfrm>
          <a:prstGeom prst="rect">
            <a:avLst/>
          </a:prstGeom>
          <a:noFill/>
          <a:ln/>
        </p:spPr>
        <p:txBody>
          <a:bodyPr wrap="square" lIns="0" tIns="0" rIns="0" bIns="0" rtlCol="0" anchor="t"/>
          <a:lstStyle/>
          <a:p>
            <a:pPr marL="0" indent="0" algn="l">
              <a:buNone/>
            </a:pPr>
            <a:r>
              <a:rPr lang="en-US" sz="950" kern="0" dirty="0">
                <a:solidFill>
                  <a:srgbClr val="6B7693"/>
                </a:solidFill>
                <a:latin typeface="Calibri" pitchFamily="34" charset="0"/>
                <a:ea typeface="Calibri" pitchFamily="34" charset="-122"/>
                <a:cs typeface="Calibri" pitchFamily="34" charset="-120"/>
              </a:rPr>
              <a:t>answerable from the schedule alone</a:t>
            </a:r>
          </a:p>
        </p:txBody>
      </p:sp>
      <p:sp>
        <p:nvSpPr>
          <p:cNvPr id="137" name="Shape"/>
          <p:cNvSpPr/>
          <p:nvPr/>
        </p:nvSpPr>
        <p:spPr>
          <a:xfrm>
            <a:off x="9149715" y="4837000"/>
            <a:ext cx="2638425" cy="1005840"/>
          </a:xfrm>
          <a:prstGeom prst="roundRect">
            <a:avLst/>
          </a:prstGeom>
          <a:solidFill>
            <a:srgbClr val="F6F8FE"/>
          </a:solidFill>
          <a:ln w="12700">
            <a:solidFill>
              <a:srgbClr val="E3E8F4"/>
            </a:solidFill>
          </a:ln>
        </p:spPr>
        <p:txBody>
          <a:bodyPr/>
          <a:lstStyle/>
          <a:p>
            <a:endParaRPr lang="en-US"/>
          </a:p>
        </p:txBody>
      </p:sp>
      <p:sp>
        <p:nvSpPr>
          <p:cNvPr id="138" name="Text"/>
          <p:cNvSpPr/>
          <p:nvPr/>
        </p:nvSpPr>
        <p:spPr>
          <a:xfrm>
            <a:off x="9378315" y="4987000"/>
            <a:ext cx="2181225" cy="360000"/>
          </a:xfrm>
          <a:prstGeom prst="rect">
            <a:avLst/>
          </a:prstGeom>
          <a:noFill/>
          <a:ln/>
        </p:spPr>
        <p:txBody>
          <a:bodyPr wrap="square" lIns="0" tIns="0" rIns="0" bIns="0" rtlCol="0" anchor="ctr"/>
          <a:lstStyle/>
          <a:p>
            <a:pPr marL="0" indent="0" algn="l">
              <a:buNone/>
            </a:pPr>
            <a:r>
              <a:rPr lang="en-US" sz="2000" b="1" kern="0" dirty="0">
                <a:solidFill>
                  <a:srgbClr val="9A6A12"/>
                </a:solidFill>
                <a:latin typeface="Georgia" pitchFamily="34" charset="0"/>
                <a:ea typeface="Georgia" pitchFamily="34" charset="-122"/>
                <a:cs typeface="Georgia" pitchFamily="34" charset="-120"/>
              </a:rPr>
              <a:t>16 Comp.</a:t>
            </a:r>
          </a:p>
        </p:txBody>
      </p:sp>
      <p:sp>
        <p:nvSpPr>
          <p:cNvPr id="139" name="Text"/>
          <p:cNvSpPr/>
          <p:nvPr/>
        </p:nvSpPr>
        <p:spPr>
          <a:xfrm>
            <a:off x="9378315" y="5377000"/>
            <a:ext cx="2181225" cy="360000"/>
          </a:xfrm>
          <a:prstGeom prst="rect">
            <a:avLst/>
          </a:prstGeom>
          <a:noFill/>
          <a:ln/>
        </p:spPr>
        <p:txBody>
          <a:bodyPr wrap="square" lIns="0" tIns="0" rIns="0" bIns="0" rtlCol="0" anchor="t"/>
          <a:lstStyle/>
          <a:p>
            <a:pPr marL="0" indent="0" algn="l">
              <a:buNone/>
            </a:pPr>
            <a:r>
              <a:rPr lang="en-US" sz="950" kern="0" dirty="0">
                <a:solidFill>
                  <a:srgbClr val="6B7693"/>
                </a:solidFill>
                <a:latin typeface="Calibri" pitchFamily="34" charset="0"/>
                <a:ea typeface="Calibri" pitchFamily="34" charset="-122"/>
                <a:cs typeface="Calibri" pitchFamily="34" charset="-120"/>
              </a:rPr>
              <a:t>need full data + integration</a:t>
            </a:r>
          </a:p>
        </p:txBody>
      </p:sp>
      <p:sp>
        <p:nvSpPr>
          <p:cNvPr id="140" name="Text"/>
          <p:cNvSpPr/>
          <p:nvPr/>
        </p:nvSpPr>
        <p:spPr>
          <a:xfrm>
            <a:off x="548640" y="5969000"/>
            <a:ext cx="11094720" cy="300000"/>
          </a:xfrm>
          <a:prstGeom prst="rect">
            <a:avLst/>
          </a:prstGeom>
          <a:noFill/>
          <a:ln/>
        </p:spPr>
        <p:txBody>
          <a:bodyPr wrap="square" lIns="0" tIns="0" rIns="0" bIns="0" rtlCol="0" anchor="ctr"/>
          <a:lstStyle/>
          <a:p>
            <a:pPr marL="0" indent="0" algn="l">
              <a:buNone/>
            </a:pPr>
            <a:r>
              <a:rPr lang="en-US" sz="950" i="1" kern="0" dirty="0">
                <a:solidFill>
                  <a:srgbClr val="6B7693"/>
                </a:solidFill>
                <a:latin typeface="Calibri" pitchFamily="34" charset="0"/>
                <a:ea typeface="Calibri" pitchFamily="34" charset="-122"/>
                <a:cs typeface="Calibri" pitchFamily="34" charset="-120"/>
              </a:rPr>
              <a:t>Full mapping — question, spec origin, data requirements, Easy/Comprehensive and section — in the master table (working paper, executive summary).</a:t>
            </a:r>
          </a:p>
        </p:txBody>
      </p:sp>
      <p:sp>
        <p:nvSpPr>
          <p:cNvPr id="141" name="Text"/>
          <p:cNvSpPr/>
          <p:nvPr/>
        </p:nvSpPr>
        <p:spPr>
          <a:xfrm>
            <a:off x="548640" y="6565392"/>
            <a:ext cx="10972800" cy="228600"/>
          </a:xfrm>
          <a:prstGeom prst="rect">
            <a:avLst/>
          </a:prstGeom>
          <a:noFill/>
          <a:ln/>
        </p:spPr>
        <p:txBody>
          <a:bodyPr wrap="square" lIns="0" tIns="0" rIns="0" bIns="0" rtlCol="0" anchor="ctr"/>
          <a:lstStyle/>
          <a:p>
            <a:pPr marL="0" indent="0" algn="l">
              <a:buNone/>
            </a:pPr>
            <a:r>
              <a:rPr lang="en-US" sz="900" kern="0" dirty="0">
                <a:solidFill>
                  <a:srgbClr val="6B7693"/>
                </a:solidFill>
                <a:latin typeface="Calibri" pitchFamily="34" charset="0"/>
                <a:ea typeface="Calibri" pitchFamily="34" charset="-122"/>
                <a:cs typeface="Calibri" pitchFamily="34" charset="-120"/>
              </a:rPr>
              <a:t>Automated Excise-Fiscal Reports  ·  05 / 11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04 — STRUCTURE</a:t>
            </a:r>
            <a:endParaRPr lang="en-US" sz="11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Structure of the reports</a:t>
            </a:r>
            <a:endParaRPr lang="en-US" sz="3000" dirty="0"/>
          </a:p>
        </p:txBody>
      </p:sp>
      <p:sp>
        <p:nvSpPr>
          <p:cNvPr id="4" name="Text 2"/>
          <p:cNvSpPr/>
          <p:nvPr/>
        </p:nvSpPr>
        <p:spPr>
          <a:xfrm>
            <a:off x="548640" y="1371600"/>
            <a:ext cx="11064240" cy="457200"/>
          </a:xfrm>
          <a:prstGeom prst="rect">
            <a:avLst/>
          </a:prstGeom>
          <a:noFill/>
          <a:ln/>
        </p:spPr>
        <p:txBody>
          <a:bodyPr wrap="square" lIns="0" tIns="0" rIns="0" bIns="0" rtlCol="0" anchor="ctr"/>
          <a:lstStyle/>
          <a:p>
            <a:pPr marL="0" indent="0">
              <a:buNone/>
            </a:pPr>
            <a:r>
              <a:rPr lang="en-US" sz="1300" i="1" dirty="0">
                <a:solidFill>
                  <a:srgbClr val="1F2747"/>
                </a:solidFill>
                <a:latin typeface="Calibri" pitchFamily="34" charset="0"/>
                <a:ea typeface="Calibri" pitchFamily="34" charset="-122"/>
                <a:cs typeface="Calibri" pitchFamily="34" charset="-120"/>
              </a:rPr>
              <a:t>Each part has fixed inputs, a fixed method, and a fixed output. Country teams populate a parameter spreadsheet; the template renders the report.</a:t>
            </a:r>
            <a:endParaRPr lang="en-US" sz="1300" dirty="0"/>
          </a:p>
        </p:txBody>
      </p:sp>
      <p:sp>
        <p:nvSpPr>
          <p:cNvPr id="5" name="Shape 3"/>
          <p:cNvSpPr/>
          <p:nvPr/>
        </p:nvSpPr>
        <p:spPr>
          <a:xfrm>
            <a:off x="548640" y="1965960"/>
            <a:ext cx="3657600" cy="777240"/>
          </a:xfrm>
          <a:prstGeom prst="rect">
            <a:avLst/>
          </a:prstGeom>
          <a:solidFill>
            <a:srgbClr val="1E2761"/>
          </a:solidFill>
          <a:ln/>
        </p:spPr>
        <p:txBody>
          <a:bodyPr/>
          <a:lstStyle/>
          <a:p>
            <a:endParaRPr lang="en-US"/>
          </a:p>
        </p:txBody>
      </p:sp>
      <p:sp>
        <p:nvSpPr>
          <p:cNvPr id="6" name="Shape 4"/>
          <p:cNvSpPr/>
          <p:nvPr/>
        </p:nvSpPr>
        <p:spPr>
          <a:xfrm>
            <a:off x="548640" y="2801985"/>
            <a:ext cx="3657600" cy="286990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sz="1100"/>
          </a:p>
        </p:txBody>
      </p:sp>
      <p:sp>
        <p:nvSpPr>
          <p:cNvPr id="7" name="Shape 5"/>
          <p:cNvSpPr/>
          <p:nvPr/>
        </p:nvSpPr>
        <p:spPr>
          <a:xfrm>
            <a:off x="777240" y="2130552"/>
            <a:ext cx="457200" cy="457200"/>
          </a:xfrm>
          <a:prstGeom prst="ellipse">
            <a:avLst/>
          </a:prstGeom>
          <a:solidFill>
            <a:srgbClr val="FFFFFF">
              <a:alpha val="20000"/>
            </a:srgbClr>
          </a:solidFill>
          <a:ln w="12700">
            <a:solidFill>
              <a:srgbClr val="FFFFFF"/>
            </a:solidFill>
            <a:prstDash val="solid"/>
          </a:ln>
        </p:spPr>
        <p:txBody>
          <a:bodyPr/>
          <a:lstStyle/>
          <a:p>
            <a:endParaRPr lang="en-US"/>
          </a:p>
        </p:txBody>
      </p:sp>
      <p:sp>
        <p:nvSpPr>
          <p:cNvPr id="8" name="Text 6"/>
          <p:cNvSpPr/>
          <p:nvPr/>
        </p:nvSpPr>
        <p:spPr>
          <a:xfrm>
            <a:off x="777240" y="213055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A</a:t>
            </a:r>
            <a:endParaRPr lang="en-US" sz="1800" dirty="0"/>
          </a:p>
        </p:txBody>
      </p:sp>
      <p:sp>
        <p:nvSpPr>
          <p:cNvPr id="9" name="Text 7"/>
          <p:cNvSpPr/>
          <p:nvPr/>
        </p:nvSpPr>
        <p:spPr>
          <a:xfrm>
            <a:off x="1325880" y="2167128"/>
            <a:ext cx="2743200" cy="45720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Excise Diagnostic</a:t>
            </a:r>
            <a:endParaRPr lang="en-US" sz="1700" dirty="0"/>
          </a:p>
        </p:txBody>
      </p:sp>
      <p:sp>
        <p:nvSpPr>
          <p:cNvPr id="10" name="Text 8"/>
          <p:cNvSpPr/>
          <p:nvPr/>
        </p:nvSpPr>
        <p:spPr>
          <a:xfrm>
            <a:off x="777240" y="2880360"/>
            <a:ext cx="320040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BASIS</a:t>
            </a:r>
            <a:endParaRPr lang="en-US" sz="1100" dirty="0"/>
          </a:p>
        </p:txBody>
      </p:sp>
      <p:sp>
        <p:nvSpPr>
          <p:cNvPr id="11" name="Text 9"/>
          <p:cNvSpPr/>
          <p:nvPr/>
        </p:nvSpPr>
        <p:spPr>
          <a:xfrm>
            <a:off x="777240" y="3081528"/>
            <a:ext cx="3200400" cy="365760"/>
          </a:xfrm>
          <a:prstGeom prst="rect">
            <a:avLst/>
          </a:prstGeom>
          <a:noFill/>
          <a:ln/>
        </p:spPr>
        <p:txBody>
          <a:bodyPr wrap="square" lIns="0" tIns="0" rIns="0" bIns="0" rtlCol="0" anchor="ctr"/>
          <a:lstStyle/>
          <a:p>
            <a:pPr marL="0" indent="0">
              <a:buNone/>
            </a:pPr>
            <a:r>
              <a:rPr lang="en-US" sz="1100" i="1" dirty="0">
                <a:solidFill>
                  <a:srgbClr val="1F2747"/>
                </a:solidFill>
                <a:latin typeface="Calibri" pitchFamily="34" charset="0"/>
                <a:ea typeface="Calibri" pitchFamily="34" charset="-122"/>
                <a:cs typeface="Calibri" pitchFamily="34" charset="-120"/>
              </a:rPr>
              <a:t>Excise diagnostic working paper</a:t>
            </a:r>
            <a:endParaRPr lang="en-US" sz="1100" dirty="0"/>
          </a:p>
        </p:txBody>
      </p:sp>
      <p:sp>
        <p:nvSpPr>
          <p:cNvPr id="12" name="Text 10"/>
          <p:cNvSpPr/>
          <p:nvPr/>
        </p:nvSpPr>
        <p:spPr>
          <a:xfrm>
            <a:off x="777240" y="3440535"/>
            <a:ext cx="320040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METHOD</a:t>
            </a:r>
            <a:endParaRPr lang="en-US" sz="1100" dirty="0"/>
          </a:p>
        </p:txBody>
      </p:sp>
      <p:sp>
        <p:nvSpPr>
          <p:cNvPr id="13" name="Text 11"/>
          <p:cNvSpPr/>
          <p:nvPr/>
        </p:nvSpPr>
        <p:spPr>
          <a:xfrm>
            <a:off x="777240" y="3659991"/>
            <a:ext cx="3200400" cy="867809"/>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Categorise every line (7 typology classes)</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Record: rate, structure, differentiation, history</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Compute three measures: $/unit, % price, % GDP</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Surface erosion, gaps, incoherence</a:t>
            </a:r>
            <a:endParaRPr lang="en-US" sz="1100" dirty="0"/>
          </a:p>
        </p:txBody>
      </p:sp>
      <p:sp>
        <p:nvSpPr>
          <p:cNvPr id="17" name="Shape 15"/>
          <p:cNvSpPr/>
          <p:nvPr/>
        </p:nvSpPr>
        <p:spPr>
          <a:xfrm>
            <a:off x="4434840" y="1965960"/>
            <a:ext cx="3657600" cy="777240"/>
          </a:xfrm>
          <a:prstGeom prst="rect">
            <a:avLst/>
          </a:prstGeom>
          <a:solidFill>
            <a:srgbClr val="3A4A8A"/>
          </a:solidFill>
          <a:ln/>
        </p:spPr>
        <p:txBody>
          <a:bodyPr/>
          <a:lstStyle/>
          <a:p>
            <a:endParaRPr lang="en-US"/>
          </a:p>
        </p:txBody>
      </p:sp>
      <p:sp>
        <p:nvSpPr>
          <p:cNvPr id="18" name="Shape 16"/>
          <p:cNvSpPr/>
          <p:nvPr/>
        </p:nvSpPr>
        <p:spPr>
          <a:xfrm>
            <a:off x="4434840" y="2743201"/>
            <a:ext cx="3657600" cy="2928684"/>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19" name="Shape 17"/>
          <p:cNvSpPr/>
          <p:nvPr/>
        </p:nvSpPr>
        <p:spPr>
          <a:xfrm>
            <a:off x="4663440" y="2130552"/>
            <a:ext cx="457200" cy="457200"/>
          </a:xfrm>
          <a:prstGeom prst="ellipse">
            <a:avLst/>
          </a:prstGeom>
          <a:solidFill>
            <a:srgbClr val="FFFFFF">
              <a:alpha val="20000"/>
            </a:srgbClr>
          </a:solidFill>
          <a:ln w="12700">
            <a:solidFill>
              <a:srgbClr val="FFFFFF"/>
            </a:solidFill>
            <a:prstDash val="solid"/>
          </a:ln>
        </p:spPr>
        <p:txBody>
          <a:bodyPr/>
          <a:lstStyle/>
          <a:p>
            <a:endParaRPr lang="en-US"/>
          </a:p>
        </p:txBody>
      </p:sp>
      <p:sp>
        <p:nvSpPr>
          <p:cNvPr id="20" name="Text 18"/>
          <p:cNvSpPr/>
          <p:nvPr/>
        </p:nvSpPr>
        <p:spPr>
          <a:xfrm>
            <a:off x="4663440" y="213055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B</a:t>
            </a:r>
            <a:endParaRPr lang="en-US" sz="1800" dirty="0"/>
          </a:p>
        </p:txBody>
      </p:sp>
      <p:sp>
        <p:nvSpPr>
          <p:cNvPr id="21" name="Text 19"/>
          <p:cNvSpPr/>
          <p:nvPr/>
        </p:nvSpPr>
        <p:spPr>
          <a:xfrm>
            <a:off x="5212080" y="2167128"/>
            <a:ext cx="2743200" cy="45720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Externality Diagnostic</a:t>
            </a:r>
            <a:endParaRPr lang="en-US" sz="1700" dirty="0"/>
          </a:p>
        </p:txBody>
      </p:sp>
      <p:sp>
        <p:nvSpPr>
          <p:cNvPr id="22" name="Text 20"/>
          <p:cNvSpPr/>
          <p:nvPr/>
        </p:nvSpPr>
        <p:spPr>
          <a:xfrm>
            <a:off x="4663440" y="2880360"/>
            <a:ext cx="320040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BASIS</a:t>
            </a:r>
            <a:endParaRPr lang="en-US" sz="1100" dirty="0"/>
          </a:p>
        </p:txBody>
      </p:sp>
      <p:sp>
        <p:nvSpPr>
          <p:cNvPr id="23" name="Text 21"/>
          <p:cNvSpPr/>
          <p:nvPr/>
        </p:nvSpPr>
        <p:spPr>
          <a:xfrm>
            <a:off x="4663440" y="3081528"/>
            <a:ext cx="3200400" cy="365760"/>
          </a:xfrm>
          <a:prstGeom prst="rect">
            <a:avLst/>
          </a:prstGeom>
          <a:noFill/>
          <a:ln/>
        </p:spPr>
        <p:txBody>
          <a:bodyPr wrap="square" lIns="0" tIns="0" rIns="0" bIns="0" rtlCol="0" anchor="ctr"/>
          <a:lstStyle/>
          <a:p>
            <a:pPr marL="0" indent="0">
              <a:buNone/>
            </a:pPr>
            <a:r>
              <a:rPr lang="en-US" sz="1100" i="1" dirty="0">
                <a:solidFill>
                  <a:srgbClr val="1F2747"/>
                </a:solidFill>
                <a:latin typeface="Calibri" pitchFamily="34" charset="0"/>
                <a:ea typeface="Calibri" pitchFamily="34" charset="-122"/>
                <a:cs typeface="Calibri" pitchFamily="34" charset="-120"/>
              </a:rPr>
              <a:t>Seven-section spine + new sub-question</a:t>
            </a:r>
            <a:endParaRPr lang="en-US" sz="1100" dirty="0"/>
          </a:p>
        </p:txBody>
      </p:sp>
      <p:sp>
        <p:nvSpPr>
          <p:cNvPr id="24" name="Text 22"/>
          <p:cNvSpPr/>
          <p:nvPr/>
        </p:nvSpPr>
        <p:spPr>
          <a:xfrm>
            <a:off x="4663440" y="3440535"/>
            <a:ext cx="320040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METHOD</a:t>
            </a:r>
            <a:endParaRPr lang="en-US" sz="1100" dirty="0"/>
          </a:p>
        </p:txBody>
      </p:sp>
      <p:sp>
        <p:nvSpPr>
          <p:cNvPr id="25" name="Text 23"/>
          <p:cNvSpPr/>
          <p:nvPr/>
        </p:nvSpPr>
        <p:spPr>
          <a:xfrm>
            <a:off x="4663440" y="3739199"/>
            <a:ext cx="3200400" cy="1132344"/>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Section 1–7: tax baseline, externalities, optimal rate, gap, incidence, norms, pathway</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Add: “what is the biggest externality?” ranking</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Inputs: CPAT, Climate &amp; Health Program, IMF GEPR</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Tier 1 country data; Tier 2 pooled defaults</a:t>
            </a:r>
            <a:endParaRPr lang="en-US" sz="1100" dirty="0"/>
          </a:p>
        </p:txBody>
      </p:sp>
      <p:sp>
        <p:nvSpPr>
          <p:cNvPr id="29" name="Shape 27"/>
          <p:cNvSpPr/>
          <p:nvPr/>
        </p:nvSpPr>
        <p:spPr>
          <a:xfrm>
            <a:off x="8321040" y="1965960"/>
            <a:ext cx="3291840" cy="777240"/>
          </a:xfrm>
          <a:prstGeom prst="rect">
            <a:avLst/>
          </a:prstGeom>
          <a:solidFill>
            <a:srgbClr val="D4A24C"/>
          </a:solidFill>
          <a:ln/>
        </p:spPr>
        <p:txBody>
          <a:bodyPr/>
          <a:lstStyle/>
          <a:p>
            <a:endParaRPr lang="en-US"/>
          </a:p>
        </p:txBody>
      </p:sp>
      <p:sp>
        <p:nvSpPr>
          <p:cNvPr id="30" name="Shape 28"/>
          <p:cNvSpPr/>
          <p:nvPr/>
        </p:nvSpPr>
        <p:spPr>
          <a:xfrm>
            <a:off x="8321040" y="2743200"/>
            <a:ext cx="3291840" cy="2928685"/>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31" name="Shape 29"/>
          <p:cNvSpPr/>
          <p:nvPr/>
        </p:nvSpPr>
        <p:spPr>
          <a:xfrm>
            <a:off x="8549640" y="2130552"/>
            <a:ext cx="457200" cy="457200"/>
          </a:xfrm>
          <a:prstGeom prst="ellipse">
            <a:avLst/>
          </a:prstGeom>
          <a:solidFill>
            <a:srgbClr val="FFFFFF">
              <a:alpha val="20000"/>
            </a:srgbClr>
          </a:solidFill>
          <a:ln w="12700">
            <a:solidFill>
              <a:srgbClr val="FFFFFF"/>
            </a:solidFill>
            <a:prstDash val="solid"/>
          </a:ln>
        </p:spPr>
        <p:txBody>
          <a:bodyPr/>
          <a:lstStyle/>
          <a:p>
            <a:endParaRPr lang="en-US"/>
          </a:p>
        </p:txBody>
      </p:sp>
      <p:sp>
        <p:nvSpPr>
          <p:cNvPr id="32" name="Text 30"/>
          <p:cNvSpPr/>
          <p:nvPr/>
        </p:nvSpPr>
        <p:spPr>
          <a:xfrm>
            <a:off x="8549640" y="213055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C</a:t>
            </a:r>
            <a:endParaRPr lang="en-US" sz="1800" dirty="0"/>
          </a:p>
        </p:txBody>
      </p:sp>
      <p:sp>
        <p:nvSpPr>
          <p:cNvPr id="33" name="Text 31"/>
          <p:cNvSpPr/>
          <p:nvPr/>
        </p:nvSpPr>
        <p:spPr>
          <a:xfrm>
            <a:off x="9098280" y="2167128"/>
            <a:ext cx="2377440" cy="45720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Policy Pathways</a:t>
            </a:r>
            <a:endParaRPr lang="en-US" sz="1700" dirty="0"/>
          </a:p>
        </p:txBody>
      </p:sp>
      <p:sp>
        <p:nvSpPr>
          <p:cNvPr id="34" name="Text 32"/>
          <p:cNvSpPr/>
          <p:nvPr/>
        </p:nvSpPr>
        <p:spPr>
          <a:xfrm>
            <a:off x="8549640" y="2880360"/>
            <a:ext cx="283464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BASIS</a:t>
            </a:r>
            <a:endParaRPr lang="en-US" sz="1100" dirty="0"/>
          </a:p>
        </p:txBody>
      </p:sp>
      <p:sp>
        <p:nvSpPr>
          <p:cNvPr id="35" name="Text 33"/>
          <p:cNvSpPr/>
          <p:nvPr/>
        </p:nvSpPr>
        <p:spPr>
          <a:xfrm>
            <a:off x="8549640" y="3081528"/>
            <a:ext cx="2834640" cy="365760"/>
          </a:xfrm>
          <a:prstGeom prst="rect">
            <a:avLst/>
          </a:prstGeom>
          <a:noFill/>
          <a:ln/>
        </p:spPr>
        <p:txBody>
          <a:bodyPr wrap="square" lIns="0" tIns="0" rIns="0" bIns="0" rtlCol="0" anchor="ctr"/>
          <a:lstStyle/>
          <a:p>
            <a:r>
              <a:rPr lang="en-US" sz="1100" i="1" dirty="0">
                <a:solidFill>
                  <a:srgbClr val="1F2747"/>
                </a:solidFill>
                <a:latin typeface="Calibri" pitchFamily="34" charset="0"/>
                <a:ea typeface="Calibri" pitchFamily="34" charset="-122"/>
                <a:cs typeface="Calibri" pitchFamily="34" charset="-120"/>
              </a:rPr>
              <a:t>Existing proposals + Part A + Part B + country context</a:t>
            </a:r>
            <a:endParaRPr lang="en-US" sz="1100" dirty="0"/>
          </a:p>
        </p:txBody>
      </p:sp>
      <p:sp>
        <p:nvSpPr>
          <p:cNvPr id="36" name="Text 34"/>
          <p:cNvSpPr/>
          <p:nvPr/>
        </p:nvSpPr>
        <p:spPr>
          <a:xfrm>
            <a:off x="8549640" y="3440535"/>
            <a:ext cx="2834640" cy="228600"/>
          </a:xfrm>
          <a:prstGeom prst="rect">
            <a:avLst/>
          </a:prstGeom>
          <a:noFill/>
          <a:ln/>
        </p:spPr>
        <p:txBody>
          <a:bodyPr wrap="square" lIns="0" tIns="0" rIns="0" bIns="0" rtlCol="0" anchor="ctr"/>
          <a:lstStyle/>
          <a:p>
            <a:pPr marL="0" indent="0">
              <a:buNone/>
            </a:pPr>
            <a:r>
              <a:rPr lang="en-US" sz="1100" b="1" kern="0" spc="500" dirty="0">
                <a:solidFill>
                  <a:srgbClr val="6B7693"/>
                </a:solidFill>
                <a:latin typeface="Calibri" pitchFamily="34" charset="0"/>
                <a:ea typeface="Calibri" pitchFamily="34" charset="-122"/>
                <a:cs typeface="Calibri" pitchFamily="34" charset="-120"/>
              </a:rPr>
              <a:t>METHOD</a:t>
            </a:r>
            <a:endParaRPr lang="en-US" sz="1100" dirty="0"/>
          </a:p>
        </p:txBody>
      </p:sp>
      <p:sp>
        <p:nvSpPr>
          <p:cNvPr id="37" name="Text 35"/>
          <p:cNvSpPr/>
          <p:nvPr/>
        </p:nvSpPr>
        <p:spPr>
          <a:xfrm>
            <a:off x="8549640" y="3659991"/>
            <a:ext cx="2834640" cy="1011501"/>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Existing proposals: IMF benchmarks + summary of Part B</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Success stories from comparator countries</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Narrative political-economy analysis</a:t>
            </a:r>
            <a:endParaRPr lang="en-US" sz="1100" dirty="0"/>
          </a:p>
          <a:p>
            <a:pPr marL="342900" indent="-342900">
              <a:spcAft>
                <a:spcPts val="400"/>
              </a:spcAft>
              <a:buSzPct val="100000"/>
              <a:buChar char="▪"/>
            </a:pPr>
            <a:r>
              <a:rPr lang="en-US" sz="1100" dirty="0">
                <a:solidFill>
                  <a:srgbClr val="1F2747"/>
                </a:solidFill>
                <a:latin typeface="Calibri" pitchFamily="34" charset="0"/>
                <a:ea typeface="Calibri" pitchFamily="34" charset="-122"/>
                <a:cs typeface="Calibri" pitchFamily="34" charset="-120"/>
              </a:rPr>
              <a:t>Conclusion: prioritised reform proposals</a:t>
            </a:r>
            <a:endParaRPr lang="en-US" sz="1100" dirty="0"/>
          </a:p>
        </p:txBody>
      </p:sp>
      <p:grpSp>
        <p:nvGrpSpPr>
          <p:cNvPr id="44" name="Group 43">
            <a:extLst>
              <a:ext uri="{FF2B5EF4-FFF2-40B4-BE49-F238E27FC236}">
                <a16:creationId xmlns:a16="http://schemas.microsoft.com/office/drawing/2014/main" id="{012048B2-39D0-E270-1BB2-25127F29FCC6}"/>
              </a:ext>
            </a:extLst>
          </p:cNvPr>
          <p:cNvGrpSpPr/>
          <p:nvPr/>
        </p:nvGrpSpPr>
        <p:grpSpPr>
          <a:xfrm>
            <a:off x="658368" y="4946903"/>
            <a:ext cx="10753344" cy="578451"/>
            <a:chOff x="694944" y="5577839"/>
            <a:chExt cx="10753344" cy="578451"/>
          </a:xfrm>
        </p:grpSpPr>
        <p:sp>
          <p:nvSpPr>
            <p:cNvPr id="14" name="Shape 12"/>
            <p:cNvSpPr/>
            <p:nvPr/>
          </p:nvSpPr>
          <p:spPr>
            <a:xfrm>
              <a:off x="694944" y="5577839"/>
              <a:ext cx="3328416" cy="578449"/>
            </a:xfrm>
            <a:prstGeom prst="rect">
              <a:avLst/>
            </a:prstGeom>
            <a:solidFill>
              <a:srgbClr val="F6F8FE"/>
            </a:solidFill>
            <a:ln/>
          </p:spPr>
          <p:txBody>
            <a:bodyPr/>
            <a:lstStyle/>
            <a:p>
              <a:endParaRPr lang="en-US" sz="1100"/>
            </a:p>
          </p:txBody>
        </p:sp>
        <p:sp>
          <p:nvSpPr>
            <p:cNvPr id="15" name="Text 13"/>
            <p:cNvSpPr/>
            <p:nvPr/>
          </p:nvSpPr>
          <p:spPr>
            <a:xfrm>
              <a:off x="822960" y="5596128"/>
              <a:ext cx="3200400" cy="182880"/>
            </a:xfrm>
            <a:prstGeom prst="rect">
              <a:avLst/>
            </a:prstGeom>
            <a:noFill/>
            <a:ln/>
          </p:spPr>
          <p:txBody>
            <a:bodyPr wrap="square" lIns="0" tIns="0" rIns="0" bIns="0" rtlCol="0" anchor="ctr"/>
            <a:lstStyle/>
            <a:p>
              <a:pPr marL="0" indent="0">
                <a:buNone/>
              </a:pPr>
              <a:r>
                <a:rPr lang="en-US" sz="1100" b="1" kern="0" spc="500" dirty="0">
                  <a:solidFill>
                    <a:srgbClr val="1E2761"/>
                  </a:solidFill>
                  <a:latin typeface="Calibri" pitchFamily="34" charset="0"/>
                  <a:ea typeface="Calibri" pitchFamily="34" charset="-122"/>
                  <a:cs typeface="Calibri" pitchFamily="34" charset="-120"/>
                </a:rPr>
                <a:t>OUTPUT</a:t>
              </a:r>
              <a:endParaRPr lang="en-US" sz="1100" dirty="0"/>
            </a:p>
          </p:txBody>
        </p:sp>
        <p:sp>
          <p:nvSpPr>
            <p:cNvPr id="16" name="Text 14"/>
            <p:cNvSpPr/>
            <p:nvPr/>
          </p:nvSpPr>
          <p:spPr>
            <a:xfrm>
              <a:off x="822960" y="5788152"/>
              <a:ext cx="3200400" cy="228600"/>
            </a:xfrm>
            <a:prstGeom prst="rect">
              <a:avLst/>
            </a:prstGeom>
            <a:noFill/>
            <a:ln/>
          </p:spPr>
          <p:txBody>
            <a:bodyPr wrap="square" lIns="0" tIns="0" rIns="0" bIns="0" rtlCol="0" anchor="ctr"/>
            <a:lstStyle/>
            <a:p>
              <a:pPr marL="0" indent="0">
                <a:buNone/>
              </a:pPr>
              <a:r>
                <a:rPr lang="en-US" sz="1100" b="1" dirty="0">
                  <a:solidFill>
                    <a:srgbClr val="121A47"/>
                  </a:solidFill>
                  <a:latin typeface="Calibri" pitchFamily="34" charset="0"/>
                  <a:ea typeface="Calibri" pitchFamily="34" charset="-122"/>
                  <a:cs typeface="Calibri" pitchFamily="34" charset="-120"/>
                </a:rPr>
                <a:t>Appendix-style structured tables + narrative summary</a:t>
              </a:r>
              <a:endParaRPr lang="en-US" sz="1100" dirty="0"/>
            </a:p>
          </p:txBody>
        </p:sp>
        <p:sp>
          <p:nvSpPr>
            <p:cNvPr id="26" name="Shape 24"/>
            <p:cNvSpPr/>
            <p:nvPr/>
          </p:nvSpPr>
          <p:spPr>
            <a:xfrm>
              <a:off x="4599432" y="5577840"/>
              <a:ext cx="3328416" cy="578450"/>
            </a:xfrm>
            <a:prstGeom prst="rect">
              <a:avLst/>
            </a:prstGeom>
            <a:solidFill>
              <a:srgbClr val="F6F8FE"/>
            </a:solidFill>
            <a:ln/>
          </p:spPr>
          <p:txBody>
            <a:bodyPr/>
            <a:lstStyle/>
            <a:p>
              <a:endParaRPr lang="en-US" sz="1100"/>
            </a:p>
          </p:txBody>
        </p:sp>
        <p:sp>
          <p:nvSpPr>
            <p:cNvPr id="27" name="Text 25"/>
            <p:cNvSpPr/>
            <p:nvPr/>
          </p:nvSpPr>
          <p:spPr>
            <a:xfrm>
              <a:off x="4709160" y="5596128"/>
              <a:ext cx="3200400" cy="182880"/>
            </a:xfrm>
            <a:prstGeom prst="rect">
              <a:avLst/>
            </a:prstGeom>
            <a:noFill/>
            <a:ln/>
          </p:spPr>
          <p:txBody>
            <a:bodyPr wrap="square" lIns="0" tIns="0" rIns="0" bIns="0" rtlCol="0" anchor="ctr"/>
            <a:lstStyle/>
            <a:p>
              <a:pPr marL="0" indent="0">
                <a:buNone/>
              </a:pPr>
              <a:r>
                <a:rPr lang="en-US" sz="1100" b="1" kern="0" spc="500" dirty="0">
                  <a:solidFill>
                    <a:srgbClr val="1E2761"/>
                  </a:solidFill>
                  <a:latin typeface="Calibri" pitchFamily="34" charset="0"/>
                  <a:ea typeface="Calibri" pitchFamily="34" charset="-122"/>
                  <a:cs typeface="Calibri" pitchFamily="34" charset="-120"/>
                </a:rPr>
                <a:t>OUTPUT</a:t>
              </a:r>
              <a:endParaRPr lang="en-US" sz="1100" dirty="0"/>
            </a:p>
          </p:txBody>
        </p:sp>
        <p:sp>
          <p:nvSpPr>
            <p:cNvPr id="28" name="Text 26"/>
            <p:cNvSpPr/>
            <p:nvPr/>
          </p:nvSpPr>
          <p:spPr>
            <a:xfrm>
              <a:off x="4709160" y="5788152"/>
              <a:ext cx="3200400" cy="228600"/>
            </a:xfrm>
            <a:prstGeom prst="rect">
              <a:avLst/>
            </a:prstGeom>
            <a:noFill/>
            <a:ln/>
          </p:spPr>
          <p:txBody>
            <a:bodyPr wrap="square" lIns="0" tIns="0" rIns="0" bIns="0" rtlCol="0" anchor="ctr"/>
            <a:lstStyle/>
            <a:p>
              <a:pPr marL="0" indent="0">
                <a:buNone/>
              </a:pPr>
              <a:r>
                <a:rPr lang="en-US" sz="1100" b="1" dirty="0">
                  <a:solidFill>
                    <a:srgbClr val="121A47"/>
                  </a:solidFill>
                  <a:latin typeface="Calibri" pitchFamily="34" charset="0"/>
                  <a:ea typeface="Calibri" pitchFamily="34" charset="-122"/>
                  <a:cs typeface="Calibri" pitchFamily="34" charset="-120"/>
                </a:rPr>
                <a:t>Standardised externality assessment with ranges</a:t>
              </a:r>
              <a:endParaRPr lang="en-US" sz="1100" dirty="0"/>
            </a:p>
          </p:txBody>
        </p:sp>
        <p:sp>
          <p:nvSpPr>
            <p:cNvPr id="38" name="Shape 36"/>
            <p:cNvSpPr/>
            <p:nvPr/>
          </p:nvSpPr>
          <p:spPr>
            <a:xfrm>
              <a:off x="8485632" y="5577839"/>
              <a:ext cx="2962656" cy="578451"/>
            </a:xfrm>
            <a:prstGeom prst="rect">
              <a:avLst/>
            </a:prstGeom>
            <a:solidFill>
              <a:srgbClr val="F6F8FE"/>
            </a:solidFill>
            <a:ln/>
          </p:spPr>
          <p:txBody>
            <a:bodyPr/>
            <a:lstStyle/>
            <a:p>
              <a:endParaRPr lang="en-US" sz="1100"/>
            </a:p>
          </p:txBody>
        </p:sp>
        <p:sp>
          <p:nvSpPr>
            <p:cNvPr id="39" name="Text 37"/>
            <p:cNvSpPr/>
            <p:nvPr/>
          </p:nvSpPr>
          <p:spPr>
            <a:xfrm>
              <a:off x="8595360" y="5596128"/>
              <a:ext cx="2834640" cy="182880"/>
            </a:xfrm>
            <a:prstGeom prst="rect">
              <a:avLst/>
            </a:prstGeom>
            <a:noFill/>
            <a:ln/>
          </p:spPr>
          <p:txBody>
            <a:bodyPr wrap="square" lIns="0" tIns="0" rIns="0" bIns="0" rtlCol="0" anchor="ctr"/>
            <a:lstStyle/>
            <a:p>
              <a:pPr marL="0" indent="0">
                <a:buNone/>
              </a:pPr>
              <a:r>
                <a:rPr lang="en-US" sz="1100" b="1" kern="0" spc="500" dirty="0">
                  <a:solidFill>
                    <a:srgbClr val="1E2761"/>
                  </a:solidFill>
                  <a:latin typeface="Calibri" pitchFamily="34" charset="0"/>
                  <a:ea typeface="Calibri" pitchFamily="34" charset="-122"/>
                  <a:cs typeface="Calibri" pitchFamily="34" charset="-120"/>
                </a:rPr>
                <a:t>OUTPUT</a:t>
              </a:r>
              <a:endParaRPr lang="en-US" sz="1100" dirty="0"/>
            </a:p>
          </p:txBody>
        </p:sp>
        <p:sp>
          <p:nvSpPr>
            <p:cNvPr id="40" name="Text 38"/>
            <p:cNvSpPr/>
            <p:nvPr/>
          </p:nvSpPr>
          <p:spPr>
            <a:xfrm>
              <a:off x="8595360" y="5788152"/>
              <a:ext cx="2834640" cy="228600"/>
            </a:xfrm>
            <a:prstGeom prst="rect">
              <a:avLst/>
            </a:prstGeom>
            <a:noFill/>
            <a:ln/>
          </p:spPr>
          <p:txBody>
            <a:bodyPr wrap="square" lIns="0" tIns="0" rIns="0" bIns="0" rtlCol="0" anchor="ctr"/>
            <a:lstStyle/>
            <a:p>
              <a:pPr marL="0" indent="0">
                <a:buNone/>
              </a:pPr>
              <a:r>
                <a:rPr lang="en-US" sz="1100" b="1" dirty="0">
                  <a:solidFill>
                    <a:srgbClr val="121A47"/>
                  </a:solidFill>
                  <a:latin typeface="Calibri" pitchFamily="34" charset="0"/>
                  <a:ea typeface="Calibri" pitchFamily="34" charset="-122"/>
                  <a:cs typeface="Calibri" pitchFamily="34" charset="-120"/>
                </a:rPr>
                <a:t>Sequenced reform package with comparators</a:t>
              </a:r>
              <a:endParaRPr lang="en-US" sz="1100" dirty="0"/>
            </a:p>
          </p:txBody>
        </p:sp>
      </p:grpSp>
      <p:pic>
        <p:nvPicPr>
          <p:cNvPr id="41" name="Image 0" descr="preencoded.png"/>
          <p:cNvPicPr>
            <a:picLocks noChangeAspect="1"/>
          </p:cNvPicPr>
          <p:nvPr/>
        </p:nvPicPr>
        <p:blipFill>
          <a:blip r:embed="rId3"/>
          <a:stretch>
            <a:fillRect/>
          </a:stretch>
        </p:blipFill>
        <p:spPr>
          <a:xfrm>
            <a:off x="4160520" y="3641703"/>
            <a:ext cx="274320" cy="274320"/>
          </a:xfrm>
          <a:prstGeom prst="rect">
            <a:avLst/>
          </a:prstGeom>
        </p:spPr>
      </p:pic>
      <p:pic>
        <p:nvPicPr>
          <p:cNvPr id="42" name="Image 1" descr="preencoded.png"/>
          <p:cNvPicPr>
            <a:picLocks noChangeAspect="1"/>
          </p:cNvPicPr>
          <p:nvPr/>
        </p:nvPicPr>
        <p:blipFill>
          <a:blip r:embed="rId3"/>
          <a:stretch>
            <a:fillRect/>
          </a:stretch>
        </p:blipFill>
        <p:spPr>
          <a:xfrm>
            <a:off x="8046720" y="3641703"/>
            <a:ext cx="274320" cy="274320"/>
          </a:xfrm>
          <a:prstGeom prst="rect">
            <a:avLst/>
          </a:prstGeom>
        </p:spPr>
      </p:pic>
      <p:sp>
        <p:nvSpPr>
          <p:cNvPr id="43" name="Text 39"/>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Automated Excise-Fiscal Reports  ·  06 / 11</a:t>
            </a:r>
            <a:endParaRPr lang="en-US" sz="900" dirty="0"/>
          </a:p>
        </p:txBody>
      </p:sp>
      <p:sp>
        <p:nvSpPr>
          <p:cNvPr id="55" name="Shape 3">
            <a:extLst>
              <a:ext uri="{FF2B5EF4-FFF2-40B4-BE49-F238E27FC236}">
                <a16:creationId xmlns:a16="http://schemas.microsoft.com/office/drawing/2014/main" id="{D8DFDA28-1E11-D757-4881-A5038FFB852A}"/>
              </a:ext>
            </a:extLst>
          </p:cNvPr>
          <p:cNvSpPr/>
          <p:nvPr/>
        </p:nvSpPr>
        <p:spPr>
          <a:xfrm>
            <a:off x="548640" y="5974944"/>
            <a:ext cx="5440680" cy="471575"/>
          </a:xfrm>
          <a:prstGeom prst="rect">
            <a:avLst/>
          </a:prstGeom>
          <a:solidFill>
            <a:srgbClr val="F6F8FE"/>
          </a:solidFill>
          <a:ln/>
        </p:spPr>
        <p:txBody>
          <a:bodyPr/>
          <a:lstStyle/>
          <a:p>
            <a:endParaRPr lang="en-US" sz="1100"/>
          </a:p>
        </p:txBody>
      </p:sp>
      <p:sp>
        <p:nvSpPr>
          <p:cNvPr id="56" name="Shape 4">
            <a:extLst>
              <a:ext uri="{FF2B5EF4-FFF2-40B4-BE49-F238E27FC236}">
                <a16:creationId xmlns:a16="http://schemas.microsoft.com/office/drawing/2014/main" id="{32C5146C-7D20-88AA-A27D-2E52BADC4086}"/>
              </a:ext>
            </a:extLst>
          </p:cNvPr>
          <p:cNvSpPr/>
          <p:nvPr/>
        </p:nvSpPr>
        <p:spPr>
          <a:xfrm>
            <a:off x="548640" y="5974944"/>
            <a:ext cx="73152" cy="471575"/>
          </a:xfrm>
          <a:prstGeom prst="rect">
            <a:avLst/>
          </a:prstGeom>
          <a:solidFill>
            <a:srgbClr val="1E2761"/>
          </a:solidFill>
          <a:ln/>
        </p:spPr>
        <p:txBody>
          <a:bodyPr/>
          <a:lstStyle/>
          <a:p>
            <a:endParaRPr lang="en-US" sz="1100"/>
          </a:p>
        </p:txBody>
      </p:sp>
      <p:sp>
        <p:nvSpPr>
          <p:cNvPr id="57" name="Text 5">
            <a:extLst>
              <a:ext uri="{FF2B5EF4-FFF2-40B4-BE49-F238E27FC236}">
                <a16:creationId xmlns:a16="http://schemas.microsoft.com/office/drawing/2014/main" id="{3EE9943E-63E8-BD9C-4049-B387777B117F}"/>
              </a:ext>
            </a:extLst>
          </p:cNvPr>
          <p:cNvSpPr/>
          <p:nvPr/>
        </p:nvSpPr>
        <p:spPr>
          <a:xfrm>
            <a:off x="783771" y="5765534"/>
            <a:ext cx="5029200" cy="125753"/>
          </a:xfrm>
          <a:prstGeom prst="rect">
            <a:avLst/>
          </a:prstGeom>
          <a:noFill/>
          <a:ln/>
        </p:spPr>
        <p:txBody>
          <a:bodyPr wrap="square" lIns="0" tIns="0" rIns="0" bIns="0" rtlCol="0" anchor="ctr"/>
          <a:lstStyle/>
          <a:p>
            <a:pPr marL="0" indent="0">
              <a:buNone/>
            </a:pPr>
            <a:r>
              <a:rPr lang="en-US" sz="1100" b="1" dirty="0">
                <a:solidFill>
                  <a:srgbClr val="121A47"/>
                </a:solidFill>
                <a:latin typeface="Georgia" pitchFamily="34" charset="0"/>
                <a:ea typeface="Georgia" pitchFamily="34" charset="-122"/>
                <a:cs typeface="Georgia" pitchFamily="34" charset="-120"/>
              </a:rPr>
              <a:t>Tier 1 — capable LMICs / UMICs</a:t>
            </a:r>
            <a:endParaRPr lang="en-US" sz="1100" dirty="0"/>
          </a:p>
        </p:txBody>
      </p:sp>
      <p:sp>
        <p:nvSpPr>
          <p:cNvPr id="58" name="Text 6">
            <a:extLst>
              <a:ext uri="{FF2B5EF4-FFF2-40B4-BE49-F238E27FC236}">
                <a16:creationId xmlns:a16="http://schemas.microsoft.com/office/drawing/2014/main" id="{3372DBF6-12A7-2080-31AD-01E455B0BDAE}"/>
              </a:ext>
            </a:extLst>
          </p:cNvPr>
          <p:cNvSpPr/>
          <p:nvPr/>
        </p:nvSpPr>
        <p:spPr>
          <a:xfrm>
            <a:off x="777240" y="6030902"/>
            <a:ext cx="5074920" cy="415618"/>
          </a:xfrm>
          <a:prstGeom prst="rect">
            <a:avLst/>
          </a:prstGeom>
          <a:noFill/>
          <a:ln/>
        </p:spPr>
        <p:txBody>
          <a:bodyPr wrap="square" lIns="0" tIns="0" rIns="0" bIns="0" rtlCol="0" anchor="ctr"/>
          <a:lstStyle/>
          <a:p>
            <a:pPr marL="0" indent="0">
              <a:buNone/>
            </a:pPr>
            <a:r>
              <a:rPr lang="en-US" sz="1100" dirty="0">
                <a:solidFill>
                  <a:srgbClr val="1F2747"/>
                </a:solidFill>
                <a:latin typeface="Calibri" pitchFamily="34" charset="0"/>
                <a:ea typeface="Calibri" pitchFamily="34" charset="-122"/>
                <a:cs typeface="Calibri" pitchFamily="34" charset="-120"/>
              </a:rPr>
              <a:t>Country-specific data; income-elasticity-transferred VSL; active-travel benefits via WHO HEAT; vintage modelling. Candidates: Chile, Colombia, South Africa, Mexico, Brazil, Indonesia.</a:t>
            </a:r>
            <a:endParaRPr lang="en-US" sz="1100" dirty="0"/>
          </a:p>
        </p:txBody>
      </p:sp>
      <p:sp>
        <p:nvSpPr>
          <p:cNvPr id="59" name="Shape 7">
            <a:extLst>
              <a:ext uri="{FF2B5EF4-FFF2-40B4-BE49-F238E27FC236}">
                <a16:creationId xmlns:a16="http://schemas.microsoft.com/office/drawing/2014/main" id="{059D66D8-9787-64CF-35D9-7541443DF24C}"/>
              </a:ext>
            </a:extLst>
          </p:cNvPr>
          <p:cNvSpPr/>
          <p:nvPr/>
        </p:nvSpPr>
        <p:spPr>
          <a:xfrm>
            <a:off x="6172200" y="5974944"/>
            <a:ext cx="5440680" cy="471575"/>
          </a:xfrm>
          <a:prstGeom prst="rect">
            <a:avLst/>
          </a:prstGeom>
          <a:solidFill>
            <a:srgbClr val="F6F8FE"/>
          </a:solidFill>
          <a:ln/>
        </p:spPr>
        <p:txBody>
          <a:bodyPr/>
          <a:lstStyle/>
          <a:p>
            <a:endParaRPr lang="en-US" sz="1100"/>
          </a:p>
        </p:txBody>
      </p:sp>
      <p:sp>
        <p:nvSpPr>
          <p:cNvPr id="60" name="Shape 8">
            <a:extLst>
              <a:ext uri="{FF2B5EF4-FFF2-40B4-BE49-F238E27FC236}">
                <a16:creationId xmlns:a16="http://schemas.microsoft.com/office/drawing/2014/main" id="{7E5EEFCA-F7CB-7D76-9872-FE835CA6AD12}"/>
              </a:ext>
            </a:extLst>
          </p:cNvPr>
          <p:cNvSpPr/>
          <p:nvPr/>
        </p:nvSpPr>
        <p:spPr>
          <a:xfrm>
            <a:off x="6172200" y="5974944"/>
            <a:ext cx="73152" cy="471575"/>
          </a:xfrm>
          <a:prstGeom prst="rect">
            <a:avLst/>
          </a:prstGeom>
          <a:solidFill>
            <a:srgbClr val="D4A24C"/>
          </a:solidFill>
          <a:ln/>
        </p:spPr>
        <p:txBody>
          <a:bodyPr/>
          <a:lstStyle/>
          <a:p>
            <a:endParaRPr lang="en-US" sz="1100"/>
          </a:p>
        </p:txBody>
      </p:sp>
      <p:sp>
        <p:nvSpPr>
          <p:cNvPr id="61" name="Text 9">
            <a:extLst>
              <a:ext uri="{FF2B5EF4-FFF2-40B4-BE49-F238E27FC236}">
                <a16:creationId xmlns:a16="http://schemas.microsoft.com/office/drawing/2014/main" id="{A2A26E5A-8B8E-510F-F251-6ABB0DAAC92D}"/>
              </a:ext>
            </a:extLst>
          </p:cNvPr>
          <p:cNvSpPr/>
          <p:nvPr/>
        </p:nvSpPr>
        <p:spPr>
          <a:xfrm>
            <a:off x="6400800" y="5779127"/>
            <a:ext cx="5029200" cy="125753"/>
          </a:xfrm>
          <a:prstGeom prst="rect">
            <a:avLst/>
          </a:prstGeom>
          <a:noFill/>
          <a:ln/>
        </p:spPr>
        <p:txBody>
          <a:bodyPr wrap="square" lIns="0" tIns="0" rIns="0" bIns="0" rtlCol="0" anchor="ctr"/>
          <a:lstStyle/>
          <a:p>
            <a:pPr marL="0" indent="0">
              <a:buNone/>
            </a:pPr>
            <a:r>
              <a:rPr lang="en-US" sz="1100" b="1" dirty="0">
                <a:solidFill>
                  <a:srgbClr val="121A47"/>
                </a:solidFill>
                <a:latin typeface="Georgia" pitchFamily="34" charset="0"/>
                <a:ea typeface="Georgia" pitchFamily="34" charset="-122"/>
                <a:cs typeface="Georgia" pitchFamily="34" charset="-120"/>
              </a:rPr>
              <a:t>Tier 2 — LICs / weak-data LMICs</a:t>
            </a:r>
            <a:endParaRPr lang="en-US" sz="1100" dirty="0"/>
          </a:p>
        </p:txBody>
      </p:sp>
      <p:sp>
        <p:nvSpPr>
          <p:cNvPr id="62" name="Text 10">
            <a:extLst>
              <a:ext uri="{FF2B5EF4-FFF2-40B4-BE49-F238E27FC236}">
                <a16:creationId xmlns:a16="http://schemas.microsoft.com/office/drawing/2014/main" id="{FC818035-7099-01B3-5574-9901B2F4CE91}"/>
              </a:ext>
            </a:extLst>
          </p:cNvPr>
          <p:cNvSpPr/>
          <p:nvPr/>
        </p:nvSpPr>
        <p:spPr>
          <a:xfrm>
            <a:off x="6400800" y="5989320"/>
            <a:ext cx="5074920" cy="411480"/>
          </a:xfrm>
          <a:prstGeom prst="rect">
            <a:avLst/>
          </a:prstGeom>
          <a:noFill/>
          <a:ln/>
        </p:spPr>
        <p:txBody>
          <a:bodyPr wrap="square" lIns="0" tIns="0" rIns="0" bIns="0" rtlCol="0" anchor="ctr"/>
          <a:lstStyle/>
          <a:p>
            <a:pPr marL="0" indent="0">
              <a:buNone/>
            </a:pPr>
            <a:r>
              <a:rPr lang="en-US" sz="1100" dirty="0">
                <a:solidFill>
                  <a:srgbClr val="1F2747"/>
                </a:solidFill>
                <a:latin typeface="Calibri" pitchFamily="34" charset="0"/>
                <a:ea typeface="Calibri" pitchFamily="34" charset="-122"/>
                <a:cs typeface="Calibri" pitchFamily="34" charset="-120"/>
              </a:rPr>
              <a:t>Same seven-section spine; pooled regional elasticities; benefit-transferred VSL; congestion only for primary city. Deliverable is direction and magnitude. Candidates: Uganda, Tanzania, Ghana, Senegal.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59FA2-9EF2-F5DE-5DED-A9BFB1DF2D5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AE0D2D5-668A-C353-FA4C-078331DC855C}"/>
              </a:ext>
            </a:extLst>
          </p:cNvPr>
          <p:cNvSpPr/>
          <p:nvPr/>
        </p:nvSpPr>
        <p:spPr>
          <a:xfrm>
            <a:off x="548640" y="365760"/>
            <a:ext cx="36576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05 — PROCESS: USE OF AI</a:t>
            </a:r>
            <a:endParaRPr lang="en-US" sz="1100" dirty="0"/>
          </a:p>
        </p:txBody>
      </p:sp>
      <p:sp>
        <p:nvSpPr>
          <p:cNvPr id="3" name="Text 1">
            <a:extLst>
              <a:ext uri="{FF2B5EF4-FFF2-40B4-BE49-F238E27FC236}">
                <a16:creationId xmlns:a16="http://schemas.microsoft.com/office/drawing/2014/main" id="{8B2ABA58-1AF0-1231-E228-E668693B7A61}"/>
              </a:ext>
            </a:extLst>
          </p:cNvPr>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How we use AI</a:t>
            </a:r>
            <a:endParaRPr lang="en-US" sz="3000" dirty="0"/>
          </a:p>
        </p:txBody>
      </p:sp>
      <p:sp>
        <p:nvSpPr>
          <p:cNvPr id="4" name="Text 2">
            <a:extLst>
              <a:ext uri="{FF2B5EF4-FFF2-40B4-BE49-F238E27FC236}">
                <a16:creationId xmlns:a16="http://schemas.microsoft.com/office/drawing/2014/main" id="{28866365-F595-A070-EF08-BBDED6B68631}"/>
              </a:ext>
            </a:extLst>
          </p:cNvPr>
          <p:cNvSpPr/>
          <p:nvPr/>
        </p:nvSpPr>
        <p:spPr>
          <a:xfrm>
            <a:off x="548640" y="1371600"/>
            <a:ext cx="11064240" cy="594360"/>
          </a:xfrm>
          <a:prstGeom prst="rect">
            <a:avLst/>
          </a:prstGeom>
          <a:noFill/>
          <a:ln/>
        </p:spPr>
        <p:txBody>
          <a:bodyPr wrap="square" lIns="0" tIns="0" rIns="0" bIns="0" rtlCol="0" anchor="ctr"/>
          <a:lstStyle/>
          <a:p>
            <a:r>
              <a:rPr lang="en-US" sz="1400" i="1" dirty="0">
                <a:solidFill>
                  <a:srgbClr val="1F2747"/>
                </a:solidFill>
                <a:latin typeface="Calibri" pitchFamily="34" charset="0"/>
                <a:ea typeface="Calibri" pitchFamily="34" charset="-122"/>
                <a:cs typeface="Calibri" pitchFamily="34" charset="-120"/>
              </a:rPr>
              <a:t>Proposed Tool and Process</a:t>
            </a:r>
          </a:p>
        </p:txBody>
      </p:sp>
      <p:sp>
        <p:nvSpPr>
          <p:cNvPr id="5" name="Shape 3">
            <a:extLst>
              <a:ext uri="{FF2B5EF4-FFF2-40B4-BE49-F238E27FC236}">
                <a16:creationId xmlns:a16="http://schemas.microsoft.com/office/drawing/2014/main" id="{ABD08DA9-499D-8573-74F6-CF48B85EFB9C}"/>
              </a:ext>
            </a:extLst>
          </p:cNvPr>
          <p:cNvSpPr/>
          <p:nvPr/>
        </p:nvSpPr>
        <p:spPr>
          <a:xfrm>
            <a:off x="548640" y="2240280"/>
            <a:ext cx="5486400" cy="1659636"/>
          </a:xfrm>
          <a:prstGeom prst="rect">
            <a:avLst/>
          </a:prstGeom>
          <a:solidFill>
            <a:srgbClr val="F6F8FE"/>
          </a:solidFill>
          <a:ln/>
          <a:effectLst>
            <a:outerShdw blurRad="101600" dist="25400" dir="5400000" algn="bl" rotWithShape="0">
              <a:srgbClr val="000000">
                <a:alpha val="8000"/>
              </a:srgbClr>
            </a:outerShdw>
          </a:effectLst>
        </p:spPr>
        <p:txBody>
          <a:bodyPr/>
          <a:lstStyle/>
          <a:p>
            <a:endParaRPr lang="en-US"/>
          </a:p>
        </p:txBody>
      </p:sp>
      <p:sp>
        <p:nvSpPr>
          <p:cNvPr id="6" name="Shape 4">
            <a:extLst>
              <a:ext uri="{FF2B5EF4-FFF2-40B4-BE49-F238E27FC236}">
                <a16:creationId xmlns:a16="http://schemas.microsoft.com/office/drawing/2014/main" id="{5F0BA6C2-3D1A-90DC-677C-94DB327EFE3A}"/>
              </a:ext>
            </a:extLst>
          </p:cNvPr>
          <p:cNvSpPr/>
          <p:nvPr/>
        </p:nvSpPr>
        <p:spPr>
          <a:xfrm>
            <a:off x="548640" y="2240280"/>
            <a:ext cx="73152" cy="1463040"/>
          </a:xfrm>
          <a:prstGeom prst="rect">
            <a:avLst/>
          </a:prstGeom>
          <a:solidFill>
            <a:srgbClr val="1E2761"/>
          </a:solidFill>
          <a:ln/>
        </p:spPr>
        <p:txBody>
          <a:bodyPr/>
          <a:lstStyle/>
          <a:p>
            <a:endParaRPr lang="en-US"/>
          </a:p>
        </p:txBody>
      </p:sp>
      <p:sp>
        <p:nvSpPr>
          <p:cNvPr id="7" name="Text 5">
            <a:extLst>
              <a:ext uri="{FF2B5EF4-FFF2-40B4-BE49-F238E27FC236}">
                <a16:creationId xmlns:a16="http://schemas.microsoft.com/office/drawing/2014/main" id="{7250AF76-0BFE-AF7D-ADFC-38B9C28369BC}"/>
              </a:ext>
            </a:extLst>
          </p:cNvPr>
          <p:cNvSpPr/>
          <p:nvPr/>
        </p:nvSpPr>
        <p:spPr>
          <a:xfrm>
            <a:off x="868680" y="2404872"/>
            <a:ext cx="5029200" cy="274320"/>
          </a:xfrm>
          <a:prstGeom prst="rect">
            <a:avLst/>
          </a:prstGeom>
          <a:noFill/>
          <a:ln/>
        </p:spPr>
        <p:txBody>
          <a:bodyPr wrap="square" lIns="0" tIns="0" rIns="0" bIns="0" rtlCol="0" anchor="ctr"/>
          <a:lstStyle/>
          <a:p>
            <a:pPr marL="0" indent="0">
              <a:buNone/>
            </a:pPr>
            <a:r>
              <a:rPr lang="en-US" sz="1000" b="1" kern="0" spc="500" dirty="0">
                <a:solidFill>
                  <a:srgbClr val="1E2761"/>
                </a:solidFill>
                <a:latin typeface="Calibri" pitchFamily="34" charset="0"/>
                <a:ea typeface="Calibri" pitchFamily="34" charset="-122"/>
                <a:cs typeface="Calibri" pitchFamily="34" charset="-120"/>
              </a:rPr>
              <a:t>TOOL - CLAUDE</a:t>
            </a:r>
            <a:endParaRPr lang="en-US" sz="1000" dirty="0"/>
          </a:p>
        </p:txBody>
      </p:sp>
      <p:sp>
        <p:nvSpPr>
          <p:cNvPr id="8" name="Text 6">
            <a:extLst>
              <a:ext uri="{FF2B5EF4-FFF2-40B4-BE49-F238E27FC236}">
                <a16:creationId xmlns:a16="http://schemas.microsoft.com/office/drawing/2014/main" id="{1D4A82F1-BDB6-B533-3E98-9A59AFCA3331}"/>
              </a:ext>
            </a:extLst>
          </p:cNvPr>
          <p:cNvSpPr/>
          <p:nvPr/>
        </p:nvSpPr>
        <p:spPr>
          <a:xfrm>
            <a:off x="868680" y="2660904"/>
            <a:ext cx="5029200" cy="36576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Using Claude With Shared Projects</a:t>
            </a:r>
            <a:endParaRPr lang="en-US" sz="1700" dirty="0"/>
          </a:p>
        </p:txBody>
      </p:sp>
      <p:sp>
        <p:nvSpPr>
          <p:cNvPr id="9" name="Text 7">
            <a:extLst>
              <a:ext uri="{FF2B5EF4-FFF2-40B4-BE49-F238E27FC236}">
                <a16:creationId xmlns:a16="http://schemas.microsoft.com/office/drawing/2014/main" id="{DEDB8EE9-ECCD-448F-37B1-42A3C8268260}"/>
              </a:ext>
            </a:extLst>
          </p:cNvPr>
          <p:cNvSpPr/>
          <p:nvPr/>
        </p:nvSpPr>
        <p:spPr>
          <a:xfrm>
            <a:off x="868680" y="3081528"/>
            <a:ext cx="5029200" cy="594360"/>
          </a:xfrm>
          <a:prstGeom prst="rect">
            <a:avLst/>
          </a:prstGeom>
          <a:noFill/>
          <a:ln/>
        </p:spPr>
        <p:txBody>
          <a:bodyPr wrap="square" lIns="0" tIns="0" rIns="0" bIns="0" rtlCol="0" anchor="ctr"/>
          <a:lstStyle/>
          <a:p>
            <a:pPr marL="0" indent="0">
              <a:buNone/>
            </a:pPr>
            <a:r>
              <a:rPr lang="en-US" sz="1150" dirty="0">
                <a:solidFill>
                  <a:srgbClr val="1F2747"/>
                </a:solidFill>
                <a:latin typeface="Calibri" pitchFamily="34" charset="0"/>
                <a:ea typeface="Calibri" pitchFamily="34" charset="-122"/>
                <a:cs typeface="Calibri" pitchFamily="34" charset="-120"/>
              </a:rPr>
              <a:t>Claude (Anthropic) is emerging as the market leader both in terms of capability and ethics.  Many (WB MAI as an option, IMF FAD, SiSePuede team) already use Claude. To get it to work on shared projects, share a Claude </a:t>
            </a:r>
            <a:r>
              <a:rPr lang="en-US" sz="1150" i="1" dirty="0">
                <a:solidFill>
                  <a:srgbClr val="1F2747"/>
                </a:solidFill>
                <a:latin typeface="Calibri" pitchFamily="34" charset="0"/>
                <a:ea typeface="Calibri" pitchFamily="34" charset="-122"/>
                <a:cs typeface="Calibri" pitchFamily="34" charset="-120"/>
              </a:rPr>
              <a:t>project</a:t>
            </a:r>
            <a:r>
              <a:rPr lang="en-US" sz="1150" dirty="0">
                <a:solidFill>
                  <a:srgbClr val="1F2747"/>
                </a:solidFill>
                <a:latin typeface="Calibri" pitchFamily="34" charset="0"/>
                <a:ea typeface="Calibri" pitchFamily="34" charset="-122"/>
                <a:cs typeface="Calibri" pitchFamily="34" charset="-120"/>
              </a:rPr>
              <a:t> with multiple users.</a:t>
            </a:r>
            <a:endParaRPr lang="en-US" sz="1150" dirty="0"/>
          </a:p>
        </p:txBody>
      </p:sp>
      <p:sp>
        <p:nvSpPr>
          <p:cNvPr id="10" name="Shape 8">
            <a:extLst>
              <a:ext uri="{FF2B5EF4-FFF2-40B4-BE49-F238E27FC236}">
                <a16:creationId xmlns:a16="http://schemas.microsoft.com/office/drawing/2014/main" id="{A81947C6-D60E-5958-EE2C-8484A93C9B5C}"/>
              </a:ext>
            </a:extLst>
          </p:cNvPr>
          <p:cNvSpPr/>
          <p:nvPr/>
        </p:nvSpPr>
        <p:spPr>
          <a:xfrm>
            <a:off x="6263640" y="2240280"/>
            <a:ext cx="5486400" cy="1659636"/>
          </a:xfrm>
          <a:prstGeom prst="rect">
            <a:avLst/>
          </a:prstGeom>
          <a:solidFill>
            <a:srgbClr val="F6F8FE"/>
          </a:solidFill>
          <a:ln/>
          <a:effectLst>
            <a:outerShdw blurRad="101600" dist="25400" dir="5400000" algn="bl" rotWithShape="0">
              <a:srgbClr val="000000">
                <a:alpha val="8000"/>
              </a:srgbClr>
            </a:outerShdw>
          </a:effectLst>
        </p:spPr>
        <p:txBody>
          <a:bodyPr/>
          <a:lstStyle/>
          <a:p>
            <a:endParaRPr lang="en-US"/>
          </a:p>
        </p:txBody>
      </p:sp>
      <p:sp>
        <p:nvSpPr>
          <p:cNvPr id="11" name="Shape 9">
            <a:extLst>
              <a:ext uri="{FF2B5EF4-FFF2-40B4-BE49-F238E27FC236}">
                <a16:creationId xmlns:a16="http://schemas.microsoft.com/office/drawing/2014/main" id="{64967345-58C8-AE43-5F5B-E7C656C73C53}"/>
              </a:ext>
            </a:extLst>
          </p:cNvPr>
          <p:cNvSpPr/>
          <p:nvPr/>
        </p:nvSpPr>
        <p:spPr>
          <a:xfrm>
            <a:off x="6263640" y="2240280"/>
            <a:ext cx="73152" cy="1463040"/>
          </a:xfrm>
          <a:prstGeom prst="rect">
            <a:avLst/>
          </a:prstGeom>
          <a:solidFill>
            <a:srgbClr val="D4A24C"/>
          </a:solidFill>
          <a:ln/>
        </p:spPr>
        <p:txBody>
          <a:bodyPr/>
          <a:lstStyle/>
          <a:p>
            <a:endParaRPr lang="en-US"/>
          </a:p>
        </p:txBody>
      </p:sp>
      <p:sp>
        <p:nvSpPr>
          <p:cNvPr id="12" name="Text 10">
            <a:extLst>
              <a:ext uri="{FF2B5EF4-FFF2-40B4-BE49-F238E27FC236}">
                <a16:creationId xmlns:a16="http://schemas.microsoft.com/office/drawing/2014/main" id="{D2E2F4E6-747C-0292-5726-6C693434E949}"/>
              </a:ext>
            </a:extLst>
          </p:cNvPr>
          <p:cNvSpPr/>
          <p:nvPr/>
        </p:nvSpPr>
        <p:spPr>
          <a:xfrm>
            <a:off x="6583680" y="2404872"/>
            <a:ext cx="5029200" cy="274320"/>
          </a:xfrm>
          <a:prstGeom prst="rect">
            <a:avLst/>
          </a:prstGeom>
          <a:noFill/>
          <a:ln/>
        </p:spPr>
        <p:txBody>
          <a:bodyPr wrap="square" lIns="0" tIns="0" rIns="0" bIns="0" rtlCol="0" anchor="ctr"/>
          <a:lstStyle/>
          <a:p>
            <a:pPr marL="0" indent="0">
              <a:buNone/>
            </a:pPr>
            <a:r>
              <a:rPr lang="en-US" sz="1000" b="1" kern="0" spc="500" dirty="0">
                <a:solidFill>
                  <a:srgbClr val="1E2761"/>
                </a:solidFill>
                <a:latin typeface="Calibri" pitchFamily="34" charset="0"/>
                <a:ea typeface="Calibri" pitchFamily="34" charset="-122"/>
                <a:cs typeface="Calibri" pitchFamily="34" charset="-120"/>
              </a:rPr>
              <a:t>WHAT IS NEEDED</a:t>
            </a:r>
            <a:endParaRPr lang="en-US" sz="1000" dirty="0"/>
          </a:p>
        </p:txBody>
      </p:sp>
      <p:sp>
        <p:nvSpPr>
          <p:cNvPr id="13" name="Text 11">
            <a:extLst>
              <a:ext uri="{FF2B5EF4-FFF2-40B4-BE49-F238E27FC236}">
                <a16:creationId xmlns:a16="http://schemas.microsoft.com/office/drawing/2014/main" id="{51C37E75-5282-8A44-1D99-9BA2E74E7F27}"/>
              </a:ext>
            </a:extLst>
          </p:cNvPr>
          <p:cNvSpPr/>
          <p:nvPr/>
        </p:nvSpPr>
        <p:spPr>
          <a:xfrm>
            <a:off x="6583680" y="2660904"/>
            <a:ext cx="5029200" cy="36576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rPr>
              <a:t>Claude Projects, Accounts, Tokens</a:t>
            </a:r>
            <a:endParaRPr lang="en-US" sz="1700" dirty="0"/>
          </a:p>
        </p:txBody>
      </p:sp>
      <p:sp>
        <p:nvSpPr>
          <p:cNvPr id="14" name="Text 12">
            <a:extLst>
              <a:ext uri="{FF2B5EF4-FFF2-40B4-BE49-F238E27FC236}">
                <a16:creationId xmlns:a16="http://schemas.microsoft.com/office/drawing/2014/main" id="{8E4CA1FA-9750-042B-10E1-877AD56D572E}"/>
              </a:ext>
            </a:extLst>
          </p:cNvPr>
          <p:cNvSpPr/>
          <p:nvPr/>
        </p:nvSpPr>
        <p:spPr>
          <a:xfrm>
            <a:off x="6583680" y="3081528"/>
            <a:ext cx="4983480" cy="539496"/>
          </a:xfrm>
          <a:prstGeom prst="rect">
            <a:avLst/>
          </a:prstGeom>
          <a:noFill/>
          <a:ln/>
        </p:spPr>
        <p:txBody>
          <a:bodyPr wrap="square" lIns="0" tIns="0" rIns="0" bIns="0" rtlCol="0" anchor="ctr"/>
          <a:lstStyle/>
          <a:p>
            <a:pPr marL="0" indent="0">
              <a:buNone/>
            </a:pPr>
            <a:r>
              <a:rPr lang="en-US" sz="1150" dirty="0">
                <a:solidFill>
                  <a:srgbClr val="1F2747"/>
                </a:solidFill>
                <a:latin typeface="Calibri" pitchFamily="34" charset="0"/>
                <a:ea typeface="Calibri" pitchFamily="34" charset="-122"/>
                <a:cs typeface="Calibri" pitchFamily="34" charset="-120"/>
              </a:rPr>
              <a:t>Claude can be run on MAI (limited), on personal Claude accounts, or on ‘team’ Claude accounts. To work as a team, we need </a:t>
            </a:r>
            <a:r>
              <a:rPr lang="en-US" sz="1150" i="1" dirty="0">
                <a:solidFill>
                  <a:srgbClr val="1F2747"/>
                </a:solidFill>
                <a:latin typeface="Calibri" pitchFamily="34" charset="0"/>
                <a:ea typeface="Calibri" pitchFamily="34" charset="-122"/>
                <a:cs typeface="Calibri" pitchFamily="34" charset="-120"/>
              </a:rPr>
              <a:t>projects</a:t>
            </a:r>
            <a:r>
              <a:rPr lang="en-US" sz="1150" dirty="0">
                <a:solidFill>
                  <a:srgbClr val="1F2747"/>
                </a:solidFill>
                <a:latin typeface="Calibri" pitchFamily="34" charset="0"/>
                <a:ea typeface="Calibri" pitchFamily="34" charset="-122"/>
                <a:cs typeface="Calibri" pitchFamily="34" charset="-120"/>
              </a:rPr>
              <a:t>. Use is intensive and may require ‘</a:t>
            </a:r>
            <a:r>
              <a:rPr lang="en-US" sz="1150" dirty="0" err="1">
                <a:solidFill>
                  <a:srgbClr val="1F2747"/>
                </a:solidFill>
                <a:latin typeface="Calibri" pitchFamily="34" charset="0"/>
                <a:ea typeface="Calibri" pitchFamily="34" charset="-122"/>
                <a:cs typeface="Calibri" pitchFamily="34" charset="-120"/>
              </a:rPr>
              <a:t>plus’</a:t>
            </a:r>
            <a:r>
              <a:rPr lang="en-US" sz="1150" dirty="0">
                <a:solidFill>
                  <a:srgbClr val="1F2747"/>
                </a:solidFill>
                <a:latin typeface="Calibri" pitchFamily="34" charset="0"/>
                <a:ea typeface="Calibri" pitchFamily="34" charset="-122"/>
                <a:cs typeface="Calibri" pitchFamily="34" charset="-120"/>
              </a:rPr>
              <a:t> or ‘team’ accounts ($25/month/user) plus additional tokens.</a:t>
            </a:r>
            <a:endParaRPr lang="en-US" sz="1150" dirty="0"/>
          </a:p>
        </p:txBody>
      </p:sp>
      <p:sp>
        <p:nvSpPr>
          <p:cNvPr id="15" name="Text 13">
            <a:extLst>
              <a:ext uri="{FF2B5EF4-FFF2-40B4-BE49-F238E27FC236}">
                <a16:creationId xmlns:a16="http://schemas.microsoft.com/office/drawing/2014/main" id="{08F3240E-7FC5-47A8-95D8-23F69EF636A4}"/>
              </a:ext>
            </a:extLst>
          </p:cNvPr>
          <p:cNvSpPr/>
          <p:nvPr/>
        </p:nvSpPr>
        <p:spPr>
          <a:xfrm>
            <a:off x="548640" y="3977640"/>
            <a:ext cx="7315200" cy="274320"/>
          </a:xfrm>
          <a:prstGeom prst="rect">
            <a:avLst/>
          </a:prstGeom>
          <a:noFill/>
          <a:ln/>
        </p:spPr>
        <p:txBody>
          <a:bodyPr wrap="square" lIns="0" tIns="0" rIns="0" bIns="0" rtlCol="0" anchor="ctr"/>
          <a:lstStyle/>
          <a:p>
            <a:pPr marL="0" indent="0">
              <a:buNone/>
            </a:pPr>
            <a:r>
              <a:rPr lang="en-US" sz="1400" b="1" kern="0" spc="500" dirty="0">
                <a:solidFill>
                  <a:srgbClr val="6B7693"/>
                </a:solidFill>
                <a:latin typeface="Calibri" pitchFamily="34" charset="0"/>
                <a:ea typeface="Calibri" pitchFamily="34" charset="-122"/>
                <a:cs typeface="Calibri" pitchFamily="34" charset="-120"/>
              </a:rPr>
              <a:t>How it works</a:t>
            </a:r>
            <a:endParaRPr lang="en-US" sz="1400" dirty="0"/>
          </a:p>
        </p:txBody>
      </p:sp>
      <p:sp>
        <p:nvSpPr>
          <p:cNvPr id="16" name="Shape 14">
            <a:extLst>
              <a:ext uri="{FF2B5EF4-FFF2-40B4-BE49-F238E27FC236}">
                <a16:creationId xmlns:a16="http://schemas.microsoft.com/office/drawing/2014/main" id="{F11752B9-B758-B872-560C-AF440F480757}"/>
              </a:ext>
            </a:extLst>
          </p:cNvPr>
          <p:cNvSpPr/>
          <p:nvPr/>
        </p:nvSpPr>
        <p:spPr>
          <a:xfrm>
            <a:off x="548640" y="4370832"/>
            <a:ext cx="3657600" cy="502920"/>
          </a:xfrm>
          <a:prstGeom prst="rect">
            <a:avLst/>
          </a:prstGeom>
          <a:solidFill>
            <a:srgbClr val="1E2761"/>
          </a:solidFill>
          <a:ln/>
        </p:spPr>
        <p:txBody>
          <a:bodyPr/>
          <a:lstStyle/>
          <a:p>
            <a:endParaRPr lang="en-US"/>
          </a:p>
        </p:txBody>
      </p:sp>
      <p:sp>
        <p:nvSpPr>
          <p:cNvPr id="17" name="Shape 15">
            <a:extLst>
              <a:ext uri="{FF2B5EF4-FFF2-40B4-BE49-F238E27FC236}">
                <a16:creationId xmlns:a16="http://schemas.microsoft.com/office/drawing/2014/main" id="{9EBBE189-CE18-EE12-8E87-FA3F5D9A8FF7}"/>
              </a:ext>
            </a:extLst>
          </p:cNvPr>
          <p:cNvSpPr/>
          <p:nvPr/>
        </p:nvSpPr>
        <p:spPr>
          <a:xfrm>
            <a:off x="548640" y="4873752"/>
            <a:ext cx="365760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18" name="Text 16">
            <a:extLst>
              <a:ext uri="{FF2B5EF4-FFF2-40B4-BE49-F238E27FC236}">
                <a16:creationId xmlns:a16="http://schemas.microsoft.com/office/drawing/2014/main" id="{03444173-B61D-A25C-C30B-40DDB0C97003}"/>
              </a:ext>
            </a:extLst>
          </p:cNvPr>
          <p:cNvSpPr/>
          <p:nvPr/>
        </p:nvSpPr>
        <p:spPr>
          <a:xfrm>
            <a:off x="777240" y="4489704"/>
            <a:ext cx="1828800" cy="27432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Stage A1 – A2</a:t>
            </a:r>
            <a:endParaRPr lang="en-US" sz="1100" dirty="0"/>
          </a:p>
        </p:txBody>
      </p:sp>
      <p:sp>
        <p:nvSpPr>
          <p:cNvPr id="19" name="Text 17">
            <a:extLst>
              <a:ext uri="{FF2B5EF4-FFF2-40B4-BE49-F238E27FC236}">
                <a16:creationId xmlns:a16="http://schemas.microsoft.com/office/drawing/2014/main" id="{8689EECB-97A5-E73D-032D-C05016567289}"/>
              </a:ext>
            </a:extLst>
          </p:cNvPr>
          <p:cNvSpPr/>
          <p:nvPr/>
        </p:nvSpPr>
        <p:spPr>
          <a:xfrm>
            <a:off x="777240" y="5010912"/>
            <a:ext cx="3200400" cy="411480"/>
          </a:xfrm>
          <a:prstGeom prst="rect">
            <a:avLst/>
          </a:prstGeom>
          <a:noFill/>
          <a:ln/>
        </p:spPr>
        <p:txBody>
          <a:bodyPr wrap="square" lIns="0" tIns="0" rIns="0" bIns="0" rtlCol="0" anchor="ctr"/>
          <a:lstStyle/>
          <a:p>
            <a:pPr marL="0" indent="0">
              <a:buNone/>
            </a:pPr>
            <a:r>
              <a:rPr lang="en-US" sz="1600" b="1" dirty="0">
                <a:solidFill>
                  <a:srgbClr val="121A47"/>
                </a:solidFill>
                <a:latin typeface="Georgia" pitchFamily="34" charset="0"/>
                <a:ea typeface="Georgia" pitchFamily="34" charset="-122"/>
                <a:cs typeface="Georgia" pitchFamily="34" charset="-120"/>
              </a:rPr>
              <a:t>Trends and Current Status</a:t>
            </a:r>
            <a:endParaRPr lang="en-US" sz="1600" dirty="0"/>
          </a:p>
        </p:txBody>
      </p:sp>
      <p:sp>
        <p:nvSpPr>
          <p:cNvPr id="20" name="Text 18">
            <a:extLst>
              <a:ext uri="{FF2B5EF4-FFF2-40B4-BE49-F238E27FC236}">
                <a16:creationId xmlns:a16="http://schemas.microsoft.com/office/drawing/2014/main" id="{161335E0-7B9B-E86A-D8DB-10C6A18FE692}"/>
              </a:ext>
            </a:extLst>
          </p:cNvPr>
          <p:cNvSpPr/>
          <p:nvPr/>
        </p:nvSpPr>
        <p:spPr>
          <a:xfrm>
            <a:off x="777240" y="5404104"/>
            <a:ext cx="320040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Read the schedule; summarize current status</a:t>
            </a:r>
            <a:endParaRPr lang="en-US" sz="1100" dirty="0"/>
          </a:p>
        </p:txBody>
      </p:sp>
      <p:sp>
        <p:nvSpPr>
          <p:cNvPr id="21" name="Text 19">
            <a:extLst>
              <a:ext uri="{FF2B5EF4-FFF2-40B4-BE49-F238E27FC236}">
                <a16:creationId xmlns:a16="http://schemas.microsoft.com/office/drawing/2014/main" id="{1F8A0E2F-0AD7-4AE1-147B-DEFEFE6F1E29}"/>
              </a:ext>
            </a:extLst>
          </p:cNvPr>
          <p:cNvSpPr/>
          <p:nvPr/>
        </p:nvSpPr>
        <p:spPr>
          <a:xfrm>
            <a:off x="777240" y="5678424"/>
            <a:ext cx="3200400" cy="64008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Find starting point (2020) and recent changes to excises</a:t>
            </a:r>
          </a:p>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Determine current status</a:t>
            </a:r>
          </a:p>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AI ‘peer review’</a:t>
            </a:r>
            <a:endParaRPr lang="en-US" sz="1050" dirty="0"/>
          </a:p>
        </p:txBody>
      </p:sp>
      <p:sp>
        <p:nvSpPr>
          <p:cNvPr id="22" name="Shape 20">
            <a:extLst>
              <a:ext uri="{FF2B5EF4-FFF2-40B4-BE49-F238E27FC236}">
                <a16:creationId xmlns:a16="http://schemas.microsoft.com/office/drawing/2014/main" id="{47E7C4DA-ABC9-15BD-11E5-79825B1C9D08}"/>
              </a:ext>
            </a:extLst>
          </p:cNvPr>
          <p:cNvSpPr/>
          <p:nvPr/>
        </p:nvSpPr>
        <p:spPr>
          <a:xfrm>
            <a:off x="4434840" y="4370832"/>
            <a:ext cx="3657600" cy="502920"/>
          </a:xfrm>
          <a:prstGeom prst="rect">
            <a:avLst/>
          </a:prstGeom>
          <a:solidFill>
            <a:srgbClr val="3A4A8A"/>
          </a:solidFill>
          <a:ln/>
        </p:spPr>
        <p:txBody>
          <a:bodyPr/>
          <a:lstStyle/>
          <a:p>
            <a:endParaRPr lang="en-US" dirty="0"/>
          </a:p>
        </p:txBody>
      </p:sp>
      <p:sp>
        <p:nvSpPr>
          <p:cNvPr id="23" name="Shape 21">
            <a:extLst>
              <a:ext uri="{FF2B5EF4-FFF2-40B4-BE49-F238E27FC236}">
                <a16:creationId xmlns:a16="http://schemas.microsoft.com/office/drawing/2014/main" id="{4A232B17-E645-8184-0A4C-33477636C2FB}"/>
              </a:ext>
            </a:extLst>
          </p:cNvPr>
          <p:cNvSpPr/>
          <p:nvPr/>
        </p:nvSpPr>
        <p:spPr>
          <a:xfrm>
            <a:off x="4434840" y="4873752"/>
            <a:ext cx="365760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24" name="Text 22">
            <a:extLst>
              <a:ext uri="{FF2B5EF4-FFF2-40B4-BE49-F238E27FC236}">
                <a16:creationId xmlns:a16="http://schemas.microsoft.com/office/drawing/2014/main" id="{14BDC7D8-72C1-DA77-43D2-F9C97C4AB9E8}"/>
              </a:ext>
            </a:extLst>
          </p:cNvPr>
          <p:cNvSpPr/>
          <p:nvPr/>
        </p:nvSpPr>
        <p:spPr>
          <a:xfrm>
            <a:off x="4663440" y="4489704"/>
            <a:ext cx="1828800" cy="274320"/>
          </a:xfrm>
          <a:prstGeom prst="rect">
            <a:avLst/>
          </a:prstGeom>
          <a:noFill/>
          <a:ln/>
        </p:spPr>
        <p:txBody>
          <a:bodyPr wrap="square" lIns="0" tIns="0" rIns="0" bIns="0" rtlCol="0" anchor="ctr"/>
          <a:lstStyle/>
          <a:p>
            <a:r>
              <a:rPr lang="en-US" sz="1100" b="1" kern="0" spc="500" dirty="0">
                <a:solidFill>
                  <a:srgbClr val="FFFFFF"/>
                </a:solidFill>
                <a:latin typeface="Calibri" pitchFamily="34" charset="0"/>
                <a:ea typeface="Calibri" pitchFamily="34" charset="-122"/>
                <a:cs typeface="Calibri" pitchFamily="34" charset="-120"/>
              </a:rPr>
              <a:t>Stage A3-A4, Stage B</a:t>
            </a:r>
            <a:endParaRPr lang="en-US" sz="1100" dirty="0"/>
          </a:p>
        </p:txBody>
      </p:sp>
      <p:sp>
        <p:nvSpPr>
          <p:cNvPr id="25" name="Text 23">
            <a:extLst>
              <a:ext uri="{FF2B5EF4-FFF2-40B4-BE49-F238E27FC236}">
                <a16:creationId xmlns:a16="http://schemas.microsoft.com/office/drawing/2014/main" id="{3E6CF399-837E-7400-6A4C-4464A7D87FB1}"/>
              </a:ext>
            </a:extLst>
          </p:cNvPr>
          <p:cNvSpPr/>
          <p:nvPr/>
        </p:nvSpPr>
        <p:spPr>
          <a:xfrm>
            <a:off x="4663440" y="5010912"/>
            <a:ext cx="3429000" cy="411480"/>
          </a:xfrm>
          <a:prstGeom prst="rect">
            <a:avLst/>
          </a:prstGeom>
          <a:noFill/>
          <a:ln/>
        </p:spPr>
        <p:txBody>
          <a:bodyPr wrap="square" lIns="0" tIns="0" rIns="0" bIns="0" rtlCol="0" anchor="ctr"/>
          <a:lstStyle/>
          <a:p>
            <a:pPr marL="0" indent="0">
              <a:buNone/>
            </a:pPr>
            <a:r>
              <a:rPr lang="en-US" sz="1600" b="1" dirty="0">
                <a:solidFill>
                  <a:srgbClr val="121A47"/>
                </a:solidFill>
                <a:latin typeface="Georgia" pitchFamily="34" charset="0"/>
                <a:ea typeface="Georgia" pitchFamily="34" charset="-122"/>
                <a:cs typeface="Georgia" pitchFamily="34" charset="-120"/>
              </a:rPr>
              <a:t>Aggregation, Gaps, Externalities</a:t>
            </a:r>
            <a:endParaRPr lang="en-US" sz="1600" dirty="0"/>
          </a:p>
        </p:txBody>
      </p:sp>
      <p:sp>
        <p:nvSpPr>
          <p:cNvPr id="26" name="Text 24">
            <a:extLst>
              <a:ext uri="{FF2B5EF4-FFF2-40B4-BE49-F238E27FC236}">
                <a16:creationId xmlns:a16="http://schemas.microsoft.com/office/drawing/2014/main" id="{D04E8C83-9A4A-FF0D-8EC5-B290416C0700}"/>
              </a:ext>
            </a:extLst>
          </p:cNvPr>
          <p:cNvSpPr/>
          <p:nvPr/>
        </p:nvSpPr>
        <p:spPr>
          <a:xfrm>
            <a:off x="4663440" y="5404104"/>
            <a:ext cx="320040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Aggregate into key metrics</a:t>
            </a:r>
            <a:endParaRPr lang="en-US" sz="1100" dirty="0"/>
          </a:p>
        </p:txBody>
      </p:sp>
      <p:sp>
        <p:nvSpPr>
          <p:cNvPr id="27" name="Text 25">
            <a:extLst>
              <a:ext uri="{FF2B5EF4-FFF2-40B4-BE49-F238E27FC236}">
                <a16:creationId xmlns:a16="http://schemas.microsoft.com/office/drawing/2014/main" id="{19514AAC-3208-5C4B-F7A9-49355B39A392}"/>
              </a:ext>
            </a:extLst>
          </p:cNvPr>
          <p:cNvSpPr/>
          <p:nvPr/>
        </p:nvSpPr>
        <p:spPr>
          <a:xfrm>
            <a:off x="4663440" y="5678424"/>
            <a:ext cx="3200400" cy="640080"/>
          </a:xfrm>
          <a:prstGeom prst="rect">
            <a:avLst/>
          </a:prstGeom>
          <a:noFill/>
          <a:ln/>
        </p:spPr>
        <p:txBody>
          <a:bodyPr wrap="square" lIns="0" tIns="0" rIns="0" bIns="0" rtlCol="0" anchor="ctr"/>
          <a:lstStyle/>
          <a:p>
            <a:pPr marL="0" indent="0">
              <a:buNone/>
            </a:pPr>
            <a:endParaRPr lang="en-US" sz="1100" dirty="0"/>
          </a:p>
        </p:txBody>
      </p:sp>
      <p:sp>
        <p:nvSpPr>
          <p:cNvPr id="28" name="Shape 26">
            <a:extLst>
              <a:ext uri="{FF2B5EF4-FFF2-40B4-BE49-F238E27FC236}">
                <a16:creationId xmlns:a16="http://schemas.microsoft.com/office/drawing/2014/main" id="{DF569A5D-DA4E-4800-6A34-CEAB8F2841C1}"/>
              </a:ext>
            </a:extLst>
          </p:cNvPr>
          <p:cNvSpPr/>
          <p:nvPr/>
        </p:nvSpPr>
        <p:spPr>
          <a:xfrm>
            <a:off x="8321040" y="4370832"/>
            <a:ext cx="3291840" cy="502920"/>
          </a:xfrm>
          <a:prstGeom prst="rect">
            <a:avLst/>
          </a:prstGeom>
          <a:solidFill>
            <a:srgbClr val="D4A24C"/>
          </a:solidFill>
          <a:ln/>
        </p:spPr>
        <p:txBody>
          <a:bodyPr/>
          <a:lstStyle/>
          <a:p>
            <a:endParaRPr lang="en-US"/>
          </a:p>
        </p:txBody>
      </p:sp>
      <p:sp>
        <p:nvSpPr>
          <p:cNvPr id="29" name="Shape 27">
            <a:extLst>
              <a:ext uri="{FF2B5EF4-FFF2-40B4-BE49-F238E27FC236}">
                <a16:creationId xmlns:a16="http://schemas.microsoft.com/office/drawing/2014/main" id="{D6825879-BB1D-E188-B91E-DDF8A34225AC}"/>
              </a:ext>
            </a:extLst>
          </p:cNvPr>
          <p:cNvSpPr/>
          <p:nvPr/>
        </p:nvSpPr>
        <p:spPr>
          <a:xfrm>
            <a:off x="8321040" y="4873752"/>
            <a:ext cx="3291840" cy="150876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30" name="Text 28">
            <a:extLst>
              <a:ext uri="{FF2B5EF4-FFF2-40B4-BE49-F238E27FC236}">
                <a16:creationId xmlns:a16="http://schemas.microsoft.com/office/drawing/2014/main" id="{1B74947B-AF84-C133-E64A-A1DB342B3550}"/>
              </a:ext>
            </a:extLst>
          </p:cNvPr>
          <p:cNvSpPr/>
          <p:nvPr/>
        </p:nvSpPr>
        <p:spPr>
          <a:xfrm>
            <a:off x="8549640" y="4489704"/>
            <a:ext cx="1828800" cy="274320"/>
          </a:xfrm>
          <a:prstGeom prst="rect">
            <a:avLst/>
          </a:prstGeom>
          <a:noFill/>
          <a:ln/>
        </p:spPr>
        <p:txBody>
          <a:bodyPr wrap="square" lIns="0" tIns="0" rIns="0" bIns="0" rtlCol="0" anchor="ctr"/>
          <a:lstStyle/>
          <a:p>
            <a:pPr marL="0" indent="0">
              <a:buNone/>
            </a:pPr>
            <a:r>
              <a:rPr lang="en-US" sz="1100" b="1" kern="0" spc="500" dirty="0">
                <a:solidFill>
                  <a:srgbClr val="FFFFFF"/>
                </a:solidFill>
                <a:latin typeface="Calibri" pitchFamily="34" charset="0"/>
                <a:ea typeface="Calibri" pitchFamily="34" charset="-122"/>
                <a:cs typeface="Calibri" pitchFamily="34" charset="-120"/>
              </a:rPr>
              <a:t>PART C</a:t>
            </a:r>
            <a:endParaRPr lang="en-US" sz="1100" dirty="0"/>
          </a:p>
        </p:txBody>
      </p:sp>
      <p:sp>
        <p:nvSpPr>
          <p:cNvPr id="31" name="Text 29">
            <a:extLst>
              <a:ext uri="{FF2B5EF4-FFF2-40B4-BE49-F238E27FC236}">
                <a16:creationId xmlns:a16="http://schemas.microsoft.com/office/drawing/2014/main" id="{91BFD4CC-41A2-37C3-28F0-403F04766395}"/>
              </a:ext>
            </a:extLst>
          </p:cNvPr>
          <p:cNvSpPr/>
          <p:nvPr/>
        </p:nvSpPr>
        <p:spPr>
          <a:xfrm>
            <a:off x="8549640" y="5010912"/>
            <a:ext cx="2834640" cy="411480"/>
          </a:xfrm>
          <a:prstGeom prst="rect">
            <a:avLst/>
          </a:prstGeom>
          <a:noFill/>
          <a:ln/>
        </p:spPr>
        <p:txBody>
          <a:bodyPr wrap="square" lIns="0" tIns="0" rIns="0" bIns="0" rtlCol="0" anchor="ctr"/>
          <a:lstStyle/>
          <a:p>
            <a:pPr marL="0" indent="0">
              <a:buNone/>
            </a:pPr>
            <a:r>
              <a:rPr lang="en-US" sz="1700" b="1" dirty="0">
                <a:solidFill>
                  <a:srgbClr val="121A47"/>
                </a:solidFill>
                <a:latin typeface="Georgia" pitchFamily="34" charset="0"/>
                <a:ea typeface="Georgia" pitchFamily="34" charset="-122"/>
                <a:cs typeface="Georgia" pitchFamily="34" charset="-120"/>
              </a:rPr>
              <a:t>Legal, Political, Reforms</a:t>
            </a:r>
            <a:endParaRPr lang="en-US" sz="1700" dirty="0"/>
          </a:p>
        </p:txBody>
      </p:sp>
      <p:sp>
        <p:nvSpPr>
          <p:cNvPr id="32" name="Text 30">
            <a:extLst>
              <a:ext uri="{FF2B5EF4-FFF2-40B4-BE49-F238E27FC236}">
                <a16:creationId xmlns:a16="http://schemas.microsoft.com/office/drawing/2014/main" id="{C65DA104-DB9D-5339-0C40-ACB50AE7FF14}"/>
              </a:ext>
            </a:extLst>
          </p:cNvPr>
          <p:cNvSpPr/>
          <p:nvPr/>
        </p:nvSpPr>
        <p:spPr>
          <a:xfrm>
            <a:off x="8549640" y="5404104"/>
            <a:ext cx="2834640" cy="274320"/>
          </a:xfrm>
          <a:prstGeom prst="rect">
            <a:avLst/>
          </a:prstGeom>
          <a:noFill/>
          <a:ln/>
        </p:spPr>
        <p:txBody>
          <a:bodyPr wrap="square" lIns="0" tIns="0" rIns="0" bIns="0" rtlCol="0" anchor="ctr"/>
          <a:lstStyle/>
          <a:p>
            <a:pPr marL="0" indent="0">
              <a:buNone/>
            </a:pPr>
            <a:r>
              <a:rPr lang="en-US" sz="1100" b="1" i="1" dirty="0">
                <a:solidFill>
                  <a:srgbClr val="D4A24C"/>
                </a:solidFill>
                <a:latin typeface="Calibri" pitchFamily="34" charset="0"/>
                <a:ea typeface="Calibri" pitchFamily="34" charset="-122"/>
                <a:cs typeface="Calibri" pitchFamily="34" charset="-120"/>
              </a:rPr>
              <a:t>Decide what to do</a:t>
            </a:r>
            <a:endParaRPr lang="en-US" sz="1100" dirty="0"/>
          </a:p>
        </p:txBody>
      </p:sp>
      <p:sp>
        <p:nvSpPr>
          <p:cNvPr id="33" name="Text 31">
            <a:extLst>
              <a:ext uri="{FF2B5EF4-FFF2-40B4-BE49-F238E27FC236}">
                <a16:creationId xmlns:a16="http://schemas.microsoft.com/office/drawing/2014/main" id="{5F64DAE0-AFC4-FC75-DEC0-661D242B1657}"/>
              </a:ext>
            </a:extLst>
          </p:cNvPr>
          <p:cNvSpPr/>
          <p:nvPr/>
        </p:nvSpPr>
        <p:spPr>
          <a:xfrm>
            <a:off x="8549640" y="5678424"/>
            <a:ext cx="2834640" cy="64008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00" dirty="0">
                <a:solidFill>
                  <a:srgbClr val="1F2747"/>
                </a:solidFill>
                <a:latin typeface="Calibri" pitchFamily="34" charset="0"/>
                <a:ea typeface="Calibri" pitchFamily="34" charset="-122"/>
                <a:cs typeface="Calibri" pitchFamily="34" charset="-120"/>
              </a:rPr>
              <a:t>Summarize latest IMF/WB reports.</a:t>
            </a:r>
          </a:p>
          <a:p>
            <a:pPr marL="171450" indent="-171450">
              <a:buFont typeface="Arial" panose="020B0604020202020204" pitchFamily="34" charset="0"/>
              <a:buChar char="•"/>
            </a:pPr>
            <a:r>
              <a:rPr lang="en-US" sz="1000" dirty="0">
                <a:solidFill>
                  <a:srgbClr val="1F2747"/>
                </a:solidFill>
                <a:latin typeface="Calibri" pitchFamily="34" charset="0"/>
                <a:ea typeface="Calibri" pitchFamily="34" charset="-122"/>
                <a:cs typeface="Calibri" pitchFamily="34" charset="-120"/>
              </a:rPr>
              <a:t>Identify legal and political climate</a:t>
            </a:r>
          </a:p>
          <a:p>
            <a:pPr marL="171450" indent="-171450">
              <a:buFont typeface="Arial" panose="020B0604020202020204" pitchFamily="34" charset="0"/>
              <a:buChar char="•"/>
            </a:pPr>
            <a:r>
              <a:rPr lang="en-US" sz="1000" dirty="0">
                <a:solidFill>
                  <a:srgbClr val="1F2747"/>
                </a:solidFill>
                <a:latin typeface="Calibri" pitchFamily="34" charset="0"/>
                <a:ea typeface="Calibri" pitchFamily="34" charset="-122"/>
                <a:cs typeface="Calibri" pitchFamily="34" charset="-120"/>
              </a:rPr>
              <a:t>Integrate into recommendations</a:t>
            </a:r>
          </a:p>
          <a:p>
            <a:pPr marL="171450" indent="-171450">
              <a:buFont typeface="Arial" panose="020B0604020202020204" pitchFamily="34" charset="0"/>
              <a:buChar char="•"/>
            </a:pPr>
            <a:r>
              <a:rPr lang="en-US" sz="1000" dirty="0">
                <a:solidFill>
                  <a:srgbClr val="1F2747"/>
                </a:solidFill>
                <a:latin typeface="Calibri" pitchFamily="34" charset="0"/>
                <a:ea typeface="Calibri" pitchFamily="34" charset="-122"/>
                <a:cs typeface="Calibri" pitchFamily="34" charset="-120"/>
              </a:rPr>
              <a:t>AI ‘peer review’</a:t>
            </a:r>
            <a:endParaRPr lang="en-US" sz="1000" dirty="0"/>
          </a:p>
        </p:txBody>
      </p:sp>
      <p:pic>
        <p:nvPicPr>
          <p:cNvPr id="34" name="Image 0" descr="preencoded.png">
            <a:extLst>
              <a:ext uri="{FF2B5EF4-FFF2-40B4-BE49-F238E27FC236}">
                <a16:creationId xmlns:a16="http://schemas.microsoft.com/office/drawing/2014/main" id="{617AC698-87C3-00DE-F833-D086DBBB1CD1}"/>
              </a:ext>
            </a:extLst>
          </p:cNvPr>
          <p:cNvPicPr>
            <a:picLocks noChangeAspect="1"/>
          </p:cNvPicPr>
          <p:nvPr/>
        </p:nvPicPr>
        <p:blipFill>
          <a:blip r:embed="rId3"/>
          <a:stretch>
            <a:fillRect/>
          </a:stretch>
        </p:blipFill>
        <p:spPr>
          <a:xfrm>
            <a:off x="4160520" y="5239512"/>
            <a:ext cx="274320" cy="274320"/>
          </a:xfrm>
          <a:prstGeom prst="rect">
            <a:avLst/>
          </a:prstGeom>
        </p:spPr>
      </p:pic>
      <p:pic>
        <p:nvPicPr>
          <p:cNvPr id="35" name="Image 1" descr="preencoded.png">
            <a:extLst>
              <a:ext uri="{FF2B5EF4-FFF2-40B4-BE49-F238E27FC236}">
                <a16:creationId xmlns:a16="http://schemas.microsoft.com/office/drawing/2014/main" id="{EC22170A-68FE-7118-12A4-4D8D84F90804}"/>
              </a:ext>
            </a:extLst>
          </p:cNvPr>
          <p:cNvPicPr>
            <a:picLocks noChangeAspect="1"/>
          </p:cNvPicPr>
          <p:nvPr/>
        </p:nvPicPr>
        <p:blipFill>
          <a:blip r:embed="rId3"/>
          <a:stretch>
            <a:fillRect/>
          </a:stretch>
        </p:blipFill>
        <p:spPr>
          <a:xfrm>
            <a:off x="8046720" y="5239512"/>
            <a:ext cx="274320" cy="274320"/>
          </a:xfrm>
          <a:prstGeom prst="rect">
            <a:avLst/>
          </a:prstGeom>
        </p:spPr>
      </p:pic>
      <p:sp>
        <p:nvSpPr>
          <p:cNvPr id="36" name="Text 32">
            <a:extLst>
              <a:ext uri="{FF2B5EF4-FFF2-40B4-BE49-F238E27FC236}">
                <a16:creationId xmlns:a16="http://schemas.microsoft.com/office/drawing/2014/main" id="{A4B7F91F-B239-C907-7E07-2640AF4CFBDD}"/>
              </a:ext>
            </a:extLst>
          </p:cNvPr>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Automated Excise-Fiscal Reports  ·  07 / 11</a:t>
            </a:r>
            <a:endParaRPr lang="en-US" sz="900" dirty="0"/>
          </a:p>
        </p:txBody>
      </p:sp>
      <p:sp>
        <p:nvSpPr>
          <p:cNvPr id="37" name="Text 19">
            <a:extLst>
              <a:ext uri="{FF2B5EF4-FFF2-40B4-BE49-F238E27FC236}">
                <a16:creationId xmlns:a16="http://schemas.microsoft.com/office/drawing/2014/main" id="{80E348B0-BAD8-CC5D-131C-CB9A7883CC21}"/>
              </a:ext>
            </a:extLst>
          </p:cNvPr>
          <p:cNvSpPr/>
          <p:nvPr/>
        </p:nvSpPr>
        <p:spPr>
          <a:xfrm>
            <a:off x="4576354" y="5628132"/>
            <a:ext cx="3470366" cy="64008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Aggregate excise reports into key metrics; peer comparison.</a:t>
            </a:r>
          </a:p>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Identify key inconsistencies and anomalies</a:t>
            </a:r>
          </a:p>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Identify gaps with optimal externalities (from part B)</a:t>
            </a:r>
          </a:p>
          <a:p>
            <a:pPr marL="171450" indent="-171450">
              <a:buFont typeface="Arial" panose="020B0604020202020204" pitchFamily="34" charset="0"/>
              <a:buChar char="•"/>
            </a:pPr>
            <a:r>
              <a:rPr lang="en-US" sz="1050" dirty="0">
                <a:solidFill>
                  <a:srgbClr val="1F2747"/>
                </a:solidFill>
                <a:latin typeface="Calibri" pitchFamily="34" charset="0"/>
                <a:ea typeface="Calibri" pitchFamily="34" charset="-122"/>
                <a:cs typeface="Calibri" pitchFamily="34" charset="-120"/>
              </a:rPr>
              <a:t>AI ‘peer review’</a:t>
            </a:r>
            <a:endParaRPr lang="en-US" sz="1100" dirty="0">
              <a:solidFill>
                <a:srgbClr val="1F2747"/>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1294642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06 — EXAMPLES</a:t>
            </a:r>
            <a:endParaRPr lang="en-US" sz="11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Two worked applications (focused on Part A)</a:t>
            </a:r>
            <a:endParaRPr lang="en-US" sz="3000" dirty="0"/>
          </a:p>
        </p:txBody>
      </p:sp>
      <p:sp>
        <p:nvSpPr>
          <p:cNvPr id="4" name="Text 2"/>
          <p:cNvSpPr/>
          <p:nvPr/>
        </p:nvSpPr>
        <p:spPr>
          <a:xfrm>
            <a:off x="548640" y="1371600"/>
            <a:ext cx="11064240" cy="457200"/>
          </a:xfrm>
          <a:prstGeom prst="rect">
            <a:avLst/>
          </a:prstGeom>
          <a:noFill/>
          <a:ln/>
        </p:spPr>
        <p:txBody>
          <a:bodyPr wrap="square" lIns="0" tIns="0" rIns="0" bIns="0" rtlCol="0" anchor="ctr"/>
          <a:lstStyle/>
          <a:p>
            <a:pPr marL="0" indent="0">
              <a:buNone/>
            </a:pPr>
            <a:r>
              <a:rPr lang="en-US" sz="2000" i="1" dirty="0">
                <a:solidFill>
                  <a:srgbClr val="1F2747"/>
                </a:solidFill>
                <a:latin typeface="Calibri" pitchFamily="34" charset="0"/>
                <a:ea typeface="Calibri" pitchFamily="34" charset="-122"/>
                <a:cs typeface="Calibri" pitchFamily="34" charset="-120"/>
              </a:rPr>
              <a:t>Drawn directly from the Excise Diagnostic (Uganda / Sierra Leone) and the externalities pilot framework. Both demonstrate Parts A and B; pathway logic for Part C is sketched.</a:t>
            </a:r>
            <a:endParaRPr lang="en-US" sz="2000" dirty="0"/>
          </a:p>
        </p:txBody>
      </p:sp>
      <p:sp>
        <p:nvSpPr>
          <p:cNvPr id="5" name="Shape 3"/>
          <p:cNvSpPr/>
          <p:nvPr/>
        </p:nvSpPr>
        <p:spPr>
          <a:xfrm>
            <a:off x="548640" y="1965960"/>
            <a:ext cx="5532120" cy="640080"/>
          </a:xfrm>
          <a:prstGeom prst="rect">
            <a:avLst/>
          </a:prstGeom>
          <a:solidFill>
            <a:srgbClr val="1E2761"/>
          </a:solidFill>
          <a:ln/>
        </p:spPr>
        <p:txBody>
          <a:bodyPr/>
          <a:lstStyle/>
          <a:p>
            <a:endParaRPr lang="en-US"/>
          </a:p>
        </p:txBody>
      </p:sp>
      <p:sp>
        <p:nvSpPr>
          <p:cNvPr id="6" name="Shape 4"/>
          <p:cNvSpPr/>
          <p:nvPr/>
        </p:nvSpPr>
        <p:spPr>
          <a:xfrm>
            <a:off x="548640" y="2606040"/>
            <a:ext cx="5532120" cy="352044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7" name="Text 5"/>
          <p:cNvSpPr/>
          <p:nvPr/>
        </p:nvSpPr>
        <p:spPr>
          <a:xfrm>
            <a:off x="822960" y="2130552"/>
            <a:ext cx="1828800" cy="365760"/>
          </a:xfrm>
          <a:prstGeom prst="rect">
            <a:avLst/>
          </a:prstGeom>
          <a:noFill/>
          <a:ln/>
        </p:spPr>
        <p:txBody>
          <a:bodyPr wrap="square" lIns="0" tIns="0" rIns="0" bIns="0" rtlCol="0" anchor="ctr"/>
          <a:lstStyle/>
          <a:p>
            <a:pPr marL="0" indent="0">
              <a:buNone/>
            </a:pPr>
            <a:r>
              <a:rPr lang="en-US" sz="1800" b="1" kern="0" spc="400" dirty="0">
                <a:solidFill>
                  <a:srgbClr val="FFFFFF"/>
                </a:solidFill>
                <a:latin typeface="Georgia" pitchFamily="34" charset="0"/>
                <a:ea typeface="Georgia" pitchFamily="34" charset="-122"/>
                <a:cs typeface="Georgia" pitchFamily="34" charset="-120"/>
              </a:rPr>
              <a:t>UGANDA</a:t>
            </a:r>
            <a:endParaRPr lang="en-US" sz="1800" dirty="0"/>
          </a:p>
        </p:txBody>
      </p:sp>
      <p:sp>
        <p:nvSpPr>
          <p:cNvPr id="8" name="Text 6"/>
          <p:cNvSpPr/>
          <p:nvPr/>
        </p:nvSpPr>
        <p:spPr>
          <a:xfrm>
            <a:off x="2651760" y="2130552"/>
            <a:ext cx="3154680" cy="365760"/>
          </a:xfrm>
          <a:prstGeom prst="rect">
            <a:avLst/>
          </a:prstGeom>
          <a:noFill/>
          <a:ln/>
        </p:spPr>
        <p:txBody>
          <a:bodyPr wrap="square" lIns="0" tIns="0" rIns="0" bIns="0" rtlCol="0" anchor="ctr"/>
          <a:lstStyle/>
          <a:p>
            <a:pPr marL="0" indent="0" algn="r">
              <a:buNone/>
            </a:pPr>
            <a:r>
              <a:rPr lang="en-US" sz="1400" i="1" dirty="0">
                <a:solidFill>
                  <a:srgbClr val="CADCFC"/>
                </a:solidFill>
                <a:latin typeface="Calibri" pitchFamily="34" charset="0"/>
                <a:ea typeface="Calibri" pitchFamily="34" charset="-122"/>
                <a:cs typeface="Calibri" pitchFamily="34" charset="-120"/>
              </a:rPr>
              <a:t>Full A + B + C candidate (Tier 2)</a:t>
            </a:r>
            <a:endParaRPr lang="en-US" sz="1400" dirty="0"/>
          </a:p>
        </p:txBody>
      </p:sp>
      <p:sp>
        <p:nvSpPr>
          <p:cNvPr id="9" name="Text 7"/>
          <p:cNvSpPr/>
          <p:nvPr/>
        </p:nvSpPr>
        <p:spPr>
          <a:xfrm>
            <a:off x="822960" y="2834640"/>
            <a:ext cx="1691640" cy="59436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1.5–1.7%</a:t>
            </a:r>
            <a:endParaRPr lang="en-US" sz="2400" dirty="0"/>
          </a:p>
        </p:txBody>
      </p:sp>
      <p:sp>
        <p:nvSpPr>
          <p:cNvPr id="10" name="Text 8"/>
          <p:cNvSpPr/>
          <p:nvPr/>
        </p:nvSpPr>
        <p:spPr>
          <a:xfrm>
            <a:off x="822960" y="3447288"/>
            <a:ext cx="1691640" cy="777240"/>
          </a:xfrm>
          <a:prstGeom prst="rect">
            <a:avLst/>
          </a:prstGeom>
          <a:noFill/>
          <a:ln/>
        </p:spPr>
        <p:txBody>
          <a:bodyPr wrap="square" lIns="0" tIns="0" rIns="0" bIns="0" rtlCol="0" anchor="ctr"/>
          <a:lstStyle/>
          <a:p>
            <a:pPr marL="0" indent="0">
              <a:buNone/>
            </a:pPr>
            <a:r>
              <a:rPr lang="en-US" sz="950" dirty="0">
                <a:solidFill>
                  <a:srgbClr val="6B7693"/>
                </a:solidFill>
                <a:latin typeface="Calibri" pitchFamily="34" charset="0"/>
                <a:ea typeface="Calibri" pitchFamily="34" charset="-122"/>
                <a:cs typeface="Calibri" pitchFamily="34" charset="-120"/>
              </a:rPr>
              <a:t>of GDP from energy + tobacco + alcohol + SSB excise</a:t>
            </a:r>
            <a:endParaRPr lang="en-US" sz="950" dirty="0"/>
          </a:p>
        </p:txBody>
      </p:sp>
      <p:sp>
        <p:nvSpPr>
          <p:cNvPr id="11" name="Text 9"/>
          <p:cNvSpPr/>
          <p:nvPr/>
        </p:nvSpPr>
        <p:spPr>
          <a:xfrm>
            <a:off x="2651760" y="2834640"/>
            <a:ext cx="1508760" cy="59436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30%</a:t>
            </a:r>
            <a:endParaRPr lang="en-US" sz="2400" dirty="0"/>
          </a:p>
        </p:txBody>
      </p:sp>
      <p:sp>
        <p:nvSpPr>
          <p:cNvPr id="12" name="Text 10"/>
          <p:cNvSpPr/>
          <p:nvPr/>
        </p:nvSpPr>
        <p:spPr>
          <a:xfrm>
            <a:off x="2651760" y="3447288"/>
            <a:ext cx="1508760" cy="777240"/>
          </a:xfrm>
          <a:prstGeom prst="rect">
            <a:avLst/>
          </a:prstGeom>
          <a:noFill/>
          <a:ln/>
        </p:spPr>
        <p:txBody>
          <a:bodyPr wrap="square" lIns="0" tIns="0" rIns="0" bIns="0" rtlCol="0" anchor="ctr"/>
          <a:lstStyle/>
          <a:p>
            <a:pPr marL="0" indent="0">
              <a:buNone/>
            </a:pPr>
            <a:r>
              <a:rPr lang="en-US" sz="950" dirty="0">
                <a:solidFill>
                  <a:srgbClr val="6B7693"/>
                </a:solidFill>
                <a:latin typeface="Calibri" pitchFamily="34" charset="0"/>
                <a:ea typeface="Calibri" pitchFamily="34" charset="-122"/>
                <a:cs typeface="Calibri" pitchFamily="34" charset="-120"/>
              </a:rPr>
              <a:t>of pump price as petrol excise — close to OECD lower band</a:t>
            </a:r>
            <a:endParaRPr lang="en-US" sz="950" dirty="0"/>
          </a:p>
        </p:txBody>
      </p:sp>
      <p:sp>
        <p:nvSpPr>
          <p:cNvPr id="13" name="Text 11"/>
          <p:cNvSpPr/>
          <p:nvPr/>
        </p:nvSpPr>
        <p:spPr>
          <a:xfrm>
            <a:off x="4297680" y="2834640"/>
            <a:ext cx="1600200" cy="594360"/>
          </a:xfrm>
          <a:prstGeom prst="rect">
            <a:avLst/>
          </a:prstGeom>
          <a:noFill/>
          <a:ln/>
        </p:spPr>
        <p:txBody>
          <a:bodyPr wrap="square" lIns="0" tIns="0" rIns="0" bIns="0" rtlCol="0" anchor="ctr"/>
          <a:lstStyle/>
          <a:p>
            <a:pPr marL="0" indent="0">
              <a:buNone/>
            </a:pPr>
            <a:r>
              <a:rPr lang="en-US" sz="2400" b="1" dirty="0">
                <a:solidFill>
                  <a:srgbClr val="1E2761"/>
                </a:solidFill>
                <a:latin typeface="Georgia" pitchFamily="34" charset="0"/>
                <a:ea typeface="Georgia" pitchFamily="34" charset="-122"/>
                <a:cs typeface="Georgia" pitchFamily="34" charset="-120"/>
              </a:rPr>
              <a:t>0.05%</a:t>
            </a:r>
            <a:endParaRPr lang="en-US" sz="2400" dirty="0"/>
          </a:p>
        </p:txBody>
      </p:sp>
      <p:sp>
        <p:nvSpPr>
          <p:cNvPr id="14" name="Text 12"/>
          <p:cNvSpPr/>
          <p:nvPr/>
        </p:nvSpPr>
        <p:spPr>
          <a:xfrm>
            <a:off x="4297680" y="3447288"/>
            <a:ext cx="1600200" cy="777240"/>
          </a:xfrm>
          <a:prstGeom prst="rect">
            <a:avLst/>
          </a:prstGeom>
          <a:noFill/>
          <a:ln/>
        </p:spPr>
        <p:txBody>
          <a:bodyPr wrap="square" lIns="0" tIns="0" rIns="0" bIns="0" rtlCol="0" anchor="ctr"/>
          <a:lstStyle/>
          <a:p>
            <a:pPr marL="0" indent="0">
              <a:buNone/>
            </a:pPr>
            <a:r>
              <a:rPr lang="en-US" sz="950" dirty="0">
                <a:solidFill>
                  <a:srgbClr val="6B7693"/>
                </a:solidFill>
                <a:latin typeface="Calibri" pitchFamily="34" charset="0"/>
                <a:ea typeface="Calibri" pitchFamily="34" charset="-122"/>
                <a:cs typeface="Calibri" pitchFamily="34" charset="-120"/>
              </a:rPr>
              <a:t>of GDP from tobacco — below SA (0.4%) and EU (0.6%)</a:t>
            </a:r>
            <a:endParaRPr lang="en-US" sz="950" dirty="0"/>
          </a:p>
        </p:txBody>
      </p:sp>
      <p:sp>
        <p:nvSpPr>
          <p:cNvPr id="15" name="Text 13"/>
          <p:cNvSpPr/>
          <p:nvPr/>
        </p:nvSpPr>
        <p:spPr>
          <a:xfrm>
            <a:off x="822960" y="4251960"/>
            <a:ext cx="4983480" cy="228600"/>
          </a:xfrm>
          <a:prstGeom prst="rect">
            <a:avLst/>
          </a:prstGeom>
          <a:noFill/>
          <a:ln/>
        </p:spPr>
        <p:txBody>
          <a:bodyPr wrap="square" lIns="0" tIns="0" rIns="0" bIns="0" rtlCol="0" anchor="ctr"/>
          <a:lstStyle/>
          <a:p>
            <a:pPr marL="0" indent="0">
              <a:buNone/>
            </a:pPr>
            <a:r>
              <a:rPr lang="en-US" sz="1400" b="1" kern="0" spc="500" dirty="0">
                <a:solidFill>
                  <a:srgbClr val="1E2761"/>
                </a:solidFill>
                <a:latin typeface="Calibri" pitchFamily="34" charset="0"/>
                <a:ea typeface="Calibri" pitchFamily="34" charset="-122"/>
                <a:cs typeface="Calibri" pitchFamily="34" charset="-120"/>
              </a:rPr>
              <a:t>WHAT THE DIAGNOSTIC SURFACES</a:t>
            </a:r>
            <a:endParaRPr lang="en-US" sz="1400" dirty="0"/>
          </a:p>
        </p:txBody>
      </p:sp>
      <p:sp>
        <p:nvSpPr>
          <p:cNvPr id="16" name="Text 14"/>
          <p:cNvSpPr/>
          <p:nvPr/>
        </p:nvSpPr>
        <p:spPr>
          <a:xfrm>
            <a:off x="822960" y="4480560"/>
            <a:ext cx="4983480" cy="150876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Part A: kerosene at UGX 200/litre — under 5% of pump price, unchanged since 2018</a:t>
            </a:r>
            <a:endParaRPr lang="en-US" sz="1200" dirty="0"/>
          </a:p>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Part A: SSB excise is flat 12% — no sugar-content differentiation</a:t>
            </a:r>
            <a:endParaRPr lang="en-US" sz="1200" dirty="0"/>
          </a:p>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Part B: fuel is closer to OECD intensity than tobacco; SSB is the largest gap</a:t>
            </a:r>
            <a:endParaRPr lang="en-US" sz="1200" dirty="0"/>
          </a:p>
          <a:p>
            <a:pPr marL="342900" indent="-342900">
              <a:buSzPct val="100000"/>
              <a:buChar char="▪"/>
            </a:pPr>
            <a:r>
              <a:rPr lang="en-US" sz="1200" dirty="0">
                <a:solidFill>
                  <a:srgbClr val="1F2747"/>
                </a:solidFill>
                <a:latin typeface="Calibri" pitchFamily="34" charset="0"/>
                <a:ea typeface="Calibri" pitchFamily="34" charset="-122"/>
                <a:cs typeface="Calibri" pitchFamily="34" charset="-120"/>
              </a:rPr>
              <a:t>Part C: phase tobacco ↑; introduce sugar-graduated SSB; index specific rates</a:t>
            </a:r>
            <a:endParaRPr lang="en-US" sz="1200" dirty="0"/>
          </a:p>
        </p:txBody>
      </p:sp>
      <p:sp>
        <p:nvSpPr>
          <p:cNvPr id="17" name="Shape 15"/>
          <p:cNvSpPr/>
          <p:nvPr/>
        </p:nvSpPr>
        <p:spPr>
          <a:xfrm>
            <a:off x="6355080" y="1965960"/>
            <a:ext cx="5285232" cy="640080"/>
          </a:xfrm>
          <a:prstGeom prst="rect">
            <a:avLst/>
          </a:prstGeom>
          <a:solidFill>
            <a:srgbClr val="3A4A8A"/>
          </a:solidFill>
          <a:ln/>
        </p:spPr>
        <p:txBody>
          <a:bodyPr/>
          <a:lstStyle/>
          <a:p>
            <a:endParaRPr lang="en-US"/>
          </a:p>
        </p:txBody>
      </p:sp>
      <p:sp>
        <p:nvSpPr>
          <p:cNvPr id="18" name="Shape 16"/>
          <p:cNvSpPr/>
          <p:nvPr/>
        </p:nvSpPr>
        <p:spPr>
          <a:xfrm>
            <a:off x="6355080" y="2606040"/>
            <a:ext cx="5285232" cy="3520440"/>
          </a:xfrm>
          <a:prstGeom prst="rect">
            <a:avLst/>
          </a:prstGeom>
          <a:solidFill>
            <a:srgbClr val="FFFFFF"/>
          </a:solidFill>
          <a:ln w="9525">
            <a:solidFill>
              <a:srgbClr val="E3E8F4"/>
            </a:solidFill>
            <a:prstDash val="solid"/>
          </a:ln>
          <a:effectLst>
            <a:outerShdw blurRad="101600" dist="25400" dir="5400000" algn="bl" rotWithShape="0">
              <a:srgbClr val="000000">
                <a:alpha val="8000"/>
              </a:srgbClr>
            </a:outerShdw>
          </a:effectLst>
        </p:spPr>
        <p:txBody>
          <a:bodyPr/>
          <a:lstStyle/>
          <a:p>
            <a:endParaRPr lang="en-US"/>
          </a:p>
        </p:txBody>
      </p:sp>
      <p:sp>
        <p:nvSpPr>
          <p:cNvPr id="19" name="Text 17"/>
          <p:cNvSpPr/>
          <p:nvPr/>
        </p:nvSpPr>
        <p:spPr>
          <a:xfrm>
            <a:off x="6629400" y="2130552"/>
            <a:ext cx="2651760" cy="365760"/>
          </a:xfrm>
          <a:prstGeom prst="rect">
            <a:avLst/>
          </a:prstGeom>
          <a:noFill/>
          <a:ln/>
        </p:spPr>
        <p:txBody>
          <a:bodyPr wrap="square" lIns="0" tIns="0" rIns="0" bIns="0" rtlCol="0" anchor="ctr"/>
          <a:lstStyle/>
          <a:p>
            <a:pPr marL="0" indent="0">
              <a:buNone/>
            </a:pPr>
            <a:r>
              <a:rPr lang="en-US" sz="1800" b="1" kern="0" spc="400" dirty="0">
                <a:solidFill>
                  <a:srgbClr val="FFFFFF"/>
                </a:solidFill>
                <a:latin typeface="Georgia" pitchFamily="34" charset="0"/>
                <a:ea typeface="Georgia" pitchFamily="34" charset="-122"/>
                <a:cs typeface="Georgia" pitchFamily="34" charset="-120"/>
              </a:rPr>
              <a:t>SIERRA LEONE</a:t>
            </a:r>
            <a:endParaRPr lang="en-US" sz="1800" dirty="0"/>
          </a:p>
        </p:txBody>
      </p:sp>
      <p:sp>
        <p:nvSpPr>
          <p:cNvPr id="20" name="Text 18"/>
          <p:cNvSpPr/>
          <p:nvPr/>
        </p:nvSpPr>
        <p:spPr>
          <a:xfrm>
            <a:off x="9326880" y="2130552"/>
            <a:ext cx="2039112" cy="365760"/>
          </a:xfrm>
          <a:prstGeom prst="rect">
            <a:avLst/>
          </a:prstGeom>
          <a:noFill/>
          <a:ln/>
        </p:spPr>
        <p:txBody>
          <a:bodyPr wrap="square" lIns="0" tIns="0" rIns="0" bIns="0" rtlCol="0" anchor="ctr"/>
          <a:lstStyle/>
          <a:p>
            <a:pPr marL="0" indent="0" algn="r">
              <a:buNone/>
            </a:pPr>
            <a:r>
              <a:rPr lang="en-US" sz="1400" i="1" dirty="0">
                <a:solidFill>
                  <a:srgbClr val="CADCFC"/>
                </a:solidFill>
                <a:latin typeface="Calibri" pitchFamily="34" charset="0"/>
                <a:ea typeface="Calibri" pitchFamily="34" charset="-122"/>
                <a:cs typeface="Calibri" pitchFamily="34" charset="-120"/>
              </a:rPr>
              <a:t>Part A surfaces what schedules hide</a:t>
            </a:r>
            <a:endParaRPr lang="en-US" sz="1400" dirty="0"/>
          </a:p>
        </p:txBody>
      </p:sp>
      <p:sp>
        <p:nvSpPr>
          <p:cNvPr id="21" name="Shape 19"/>
          <p:cNvSpPr/>
          <p:nvPr/>
        </p:nvSpPr>
        <p:spPr>
          <a:xfrm>
            <a:off x="6629400" y="2834640"/>
            <a:ext cx="4736592" cy="1188720"/>
          </a:xfrm>
          <a:prstGeom prst="rect">
            <a:avLst/>
          </a:prstGeom>
          <a:solidFill>
            <a:srgbClr val="FBF4E2"/>
          </a:solidFill>
          <a:ln/>
        </p:spPr>
        <p:txBody>
          <a:bodyPr/>
          <a:lstStyle/>
          <a:p>
            <a:endParaRPr lang="en-US"/>
          </a:p>
        </p:txBody>
      </p:sp>
      <p:sp>
        <p:nvSpPr>
          <p:cNvPr id="22" name="Shape 20"/>
          <p:cNvSpPr/>
          <p:nvPr/>
        </p:nvSpPr>
        <p:spPr>
          <a:xfrm>
            <a:off x="6629400" y="2834640"/>
            <a:ext cx="64008" cy="1188720"/>
          </a:xfrm>
          <a:prstGeom prst="rect">
            <a:avLst/>
          </a:prstGeom>
          <a:solidFill>
            <a:srgbClr val="D4A24C"/>
          </a:solidFill>
          <a:ln/>
        </p:spPr>
        <p:txBody>
          <a:bodyPr/>
          <a:lstStyle/>
          <a:p>
            <a:endParaRPr lang="en-US"/>
          </a:p>
        </p:txBody>
      </p:sp>
      <p:sp>
        <p:nvSpPr>
          <p:cNvPr id="25" name="Text 22"/>
          <p:cNvSpPr/>
          <p:nvPr/>
        </p:nvSpPr>
        <p:spPr>
          <a:xfrm>
            <a:off x="6812280" y="2935224"/>
            <a:ext cx="4553712" cy="953564"/>
          </a:xfrm>
          <a:prstGeom prst="rect">
            <a:avLst/>
          </a:prstGeom>
          <a:noFill/>
          <a:ln/>
        </p:spPr>
        <p:txBody>
          <a:bodyPr wrap="square" lIns="0" tIns="0" rIns="0" bIns="0" rtlCol="0" anchor="ctr"/>
          <a:lstStyle/>
          <a:p>
            <a:r>
              <a:rPr lang="en-US" sz="1050" b="1" dirty="0"/>
              <a:t>Key Opportunity: Tobacco</a:t>
            </a:r>
          </a:p>
          <a:p>
            <a:r>
              <a:rPr lang="en-US" sz="1050" dirty="0"/>
              <a:t>Sierra Leone taxes cigarettes at ≈ USD 0.14/pack — 10–15% of retail, against a WHO benchmark of 75% and Uganda's USD 0.35. With no domestic tobacco industry to resist it, this is among the clearest revenue-and-health opportunities the diagnostic surfaces.</a:t>
            </a:r>
          </a:p>
        </p:txBody>
      </p:sp>
      <p:sp>
        <p:nvSpPr>
          <p:cNvPr id="26" name="Text 23"/>
          <p:cNvSpPr/>
          <p:nvPr/>
        </p:nvSpPr>
        <p:spPr>
          <a:xfrm>
            <a:off x="6629400" y="4251960"/>
            <a:ext cx="4736592" cy="228600"/>
          </a:xfrm>
          <a:prstGeom prst="rect">
            <a:avLst/>
          </a:prstGeom>
          <a:noFill/>
          <a:ln/>
        </p:spPr>
        <p:txBody>
          <a:bodyPr wrap="square" lIns="0" tIns="0" rIns="0" bIns="0" rtlCol="0" anchor="ctr"/>
          <a:lstStyle/>
          <a:p>
            <a:pPr marL="0" indent="0">
              <a:buNone/>
            </a:pPr>
            <a:r>
              <a:rPr lang="en-US" sz="1400" b="1" kern="0" spc="500" dirty="0">
                <a:solidFill>
                  <a:srgbClr val="1E2761"/>
                </a:solidFill>
                <a:latin typeface="Calibri" pitchFamily="34" charset="0"/>
                <a:ea typeface="Calibri" pitchFamily="34" charset="-122"/>
                <a:cs typeface="Calibri" pitchFamily="34" charset="-120"/>
              </a:rPr>
              <a:t>OTHER FINDINGS</a:t>
            </a:r>
            <a:endParaRPr lang="en-US" sz="1400" dirty="0"/>
          </a:p>
        </p:txBody>
      </p:sp>
      <p:sp>
        <p:nvSpPr>
          <p:cNvPr id="27" name="Text 24"/>
          <p:cNvSpPr/>
          <p:nvPr/>
        </p:nvSpPr>
        <p:spPr>
          <a:xfrm>
            <a:off x="6629400" y="4480560"/>
            <a:ext cx="4736592" cy="1135236"/>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General soft drinks essentially untaxed by excise</a:t>
            </a:r>
            <a:endParaRPr lang="en-US" sz="1200" dirty="0"/>
          </a:p>
          <a:p>
            <a:pPr marL="342900" indent="-342900">
              <a:spcAft>
                <a:spcPts val="400"/>
              </a:spcAft>
              <a:buSzPct val="100000"/>
              <a:buChar char="▪"/>
            </a:pPr>
            <a:r>
              <a:rPr lang="en-US" sz="1200" dirty="0">
                <a:solidFill>
                  <a:srgbClr val="1F2747"/>
                </a:solidFill>
                <a:latin typeface="Calibri" pitchFamily="34" charset="0"/>
                <a:ea typeface="Calibri" pitchFamily="34" charset="-122"/>
                <a:cs typeface="Calibri" pitchFamily="34" charset="-120"/>
              </a:rPr>
              <a:t>Aggregate priority excise raises 0.7–0.9% of GDP — half of Uganda</a:t>
            </a:r>
            <a:endParaRPr lang="en-US" sz="1200" dirty="0"/>
          </a:p>
          <a:p>
            <a:pPr marL="342900" indent="-342900">
              <a:buSzPct val="100000"/>
              <a:buChar char="▪"/>
            </a:pPr>
            <a:r>
              <a:rPr lang="en-US" sz="1200" dirty="0">
                <a:solidFill>
                  <a:srgbClr val="1F2747"/>
                </a:solidFill>
                <a:latin typeface="Calibri" pitchFamily="34" charset="0"/>
                <a:ea typeface="Calibri" pitchFamily="34" charset="-122"/>
                <a:cs typeface="Calibri" pitchFamily="34" charset="-120"/>
              </a:rPr>
              <a:t>Part C: redenominate wine; phase tobacco ↑; broaden SSB base</a:t>
            </a:r>
            <a:endParaRPr lang="en-US" sz="1200" dirty="0"/>
          </a:p>
        </p:txBody>
      </p:sp>
      <p:sp>
        <p:nvSpPr>
          <p:cNvPr id="28" name="Text 25"/>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Automated Excise-Fiscal Reports  ·  08 / 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121A47"/>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4A24C"/>
          </a:solidFill>
          <a:ln/>
        </p:spPr>
        <p:txBody>
          <a:bodyPr/>
          <a:lstStyle/>
          <a:p>
            <a:endParaRPr lang="en-US"/>
          </a:p>
        </p:txBody>
      </p:sp>
      <p:sp>
        <p:nvSpPr>
          <p:cNvPr id="3" name="Text 1"/>
          <p:cNvSpPr/>
          <p:nvPr/>
        </p:nvSpPr>
        <p:spPr>
          <a:xfrm>
            <a:off x="640080" y="411480"/>
            <a:ext cx="54864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07 — CONCLUSION (i)</a:t>
            </a:r>
            <a:endParaRPr lang="en-US" sz="1100" dirty="0"/>
          </a:p>
        </p:txBody>
      </p:sp>
      <p:sp>
        <p:nvSpPr>
          <p:cNvPr id="4" name="Text 2"/>
          <p:cNvSpPr/>
          <p:nvPr/>
        </p:nvSpPr>
        <p:spPr>
          <a:xfrm>
            <a:off x="640080" y="713232"/>
            <a:ext cx="10972800" cy="77724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Synthesis, not new modelling</a:t>
            </a:r>
            <a:endParaRPr lang="en-US" sz="3200" dirty="0"/>
          </a:p>
        </p:txBody>
      </p:sp>
      <p:sp>
        <p:nvSpPr>
          <p:cNvPr id="5" name="Text 3"/>
          <p:cNvSpPr/>
          <p:nvPr/>
        </p:nvSpPr>
        <p:spPr>
          <a:xfrm>
            <a:off x="640080" y="1691640"/>
            <a:ext cx="10607040" cy="100584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The diagnostic does not generate new estimates where existing tools already do. It harmonises CPAT, the Climate &amp; Health Program, IMF GEPR, and country excise schedules into one report a finance minister can read and act on. The discipline of fixed structure and fixed valuation parameters is the contribution.</a:t>
            </a:r>
            <a:endParaRPr lang="en-US" sz="1400" dirty="0"/>
          </a:p>
        </p:txBody>
      </p:sp>
      <p:sp>
        <p:nvSpPr>
          <p:cNvPr id="6" name="Shape 4"/>
          <p:cNvSpPr/>
          <p:nvPr/>
        </p:nvSpPr>
        <p:spPr>
          <a:xfrm>
            <a:off x="64008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7" name="Shape 5"/>
          <p:cNvSpPr/>
          <p:nvPr/>
        </p:nvSpPr>
        <p:spPr>
          <a:xfrm>
            <a:off x="640080" y="2926080"/>
            <a:ext cx="3520440" cy="54864"/>
          </a:xfrm>
          <a:prstGeom prst="rect">
            <a:avLst/>
          </a:prstGeom>
          <a:solidFill>
            <a:srgbClr val="D4A24C"/>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914400" y="3200400"/>
            <a:ext cx="411480" cy="411480"/>
          </a:xfrm>
          <a:prstGeom prst="rect">
            <a:avLst/>
          </a:prstGeom>
        </p:spPr>
      </p:pic>
      <p:sp>
        <p:nvSpPr>
          <p:cNvPr id="9" name="Text 6"/>
          <p:cNvSpPr/>
          <p:nvPr/>
        </p:nvSpPr>
        <p:spPr>
          <a:xfrm>
            <a:off x="91440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METHODOLOGY NOTE</a:t>
            </a:r>
            <a:endParaRPr lang="en-US" sz="1100" dirty="0"/>
          </a:p>
        </p:txBody>
      </p:sp>
      <p:sp>
        <p:nvSpPr>
          <p:cNvPr id="10" name="Text 7"/>
          <p:cNvSpPr/>
          <p:nvPr/>
        </p:nvSpPr>
        <p:spPr>
          <a:xfrm>
            <a:off x="91440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~30 pages. Fixes, the typology, the three measures, and the default valuation parameters. Drafted with CPAT, Health input.</a:t>
            </a:r>
            <a:endParaRPr lang="en-US" sz="1200" dirty="0"/>
          </a:p>
        </p:txBody>
      </p:sp>
      <p:sp>
        <p:nvSpPr>
          <p:cNvPr id="11" name="Shape 8"/>
          <p:cNvSpPr/>
          <p:nvPr/>
        </p:nvSpPr>
        <p:spPr>
          <a:xfrm>
            <a:off x="434340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12" name="Shape 9"/>
          <p:cNvSpPr/>
          <p:nvPr/>
        </p:nvSpPr>
        <p:spPr>
          <a:xfrm>
            <a:off x="4343400" y="2926080"/>
            <a:ext cx="3520440" cy="54864"/>
          </a:xfrm>
          <a:prstGeom prst="rect">
            <a:avLst/>
          </a:prstGeom>
          <a:solidFill>
            <a:srgbClr val="D4A24C"/>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4617720" y="3200400"/>
            <a:ext cx="411480" cy="411480"/>
          </a:xfrm>
          <a:prstGeom prst="rect">
            <a:avLst/>
          </a:prstGeom>
        </p:spPr>
      </p:pic>
      <p:sp>
        <p:nvSpPr>
          <p:cNvPr id="14" name="Text 10"/>
          <p:cNvSpPr/>
          <p:nvPr/>
        </p:nvSpPr>
        <p:spPr>
          <a:xfrm>
            <a:off x="461772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TEMPLATE + SPREADSHEET</a:t>
            </a:r>
            <a:endParaRPr lang="en-US" sz="1100" dirty="0"/>
          </a:p>
        </p:txBody>
      </p:sp>
      <p:sp>
        <p:nvSpPr>
          <p:cNvPr id="15" name="Text 11"/>
          <p:cNvSpPr/>
          <p:nvPr/>
        </p:nvSpPr>
        <p:spPr>
          <a:xfrm>
            <a:off x="461772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 fixed Word template populated from a parameter spreadsheet. Country teams produce a draft report in 2–3 weeks using existing inputs.</a:t>
            </a:r>
            <a:endParaRPr lang="en-US" sz="1200" dirty="0"/>
          </a:p>
        </p:txBody>
      </p:sp>
      <p:sp>
        <p:nvSpPr>
          <p:cNvPr id="16" name="Shape 12"/>
          <p:cNvSpPr/>
          <p:nvPr/>
        </p:nvSpPr>
        <p:spPr>
          <a:xfrm>
            <a:off x="8046720" y="2926080"/>
            <a:ext cx="3520440" cy="2286000"/>
          </a:xfrm>
          <a:prstGeom prst="rect">
            <a:avLst/>
          </a:prstGeom>
          <a:solidFill>
            <a:srgbClr val="1E2761"/>
          </a:solidFill>
          <a:ln w="6350">
            <a:solidFill>
              <a:srgbClr val="FFFFFF">
                <a:alpha val="40000"/>
              </a:srgbClr>
            </a:solidFill>
            <a:prstDash val="solid"/>
          </a:ln>
        </p:spPr>
        <p:txBody>
          <a:bodyPr/>
          <a:lstStyle/>
          <a:p>
            <a:endParaRPr lang="en-US"/>
          </a:p>
        </p:txBody>
      </p:sp>
      <p:sp>
        <p:nvSpPr>
          <p:cNvPr id="17" name="Shape 13"/>
          <p:cNvSpPr/>
          <p:nvPr/>
        </p:nvSpPr>
        <p:spPr>
          <a:xfrm>
            <a:off x="8046720" y="2926080"/>
            <a:ext cx="3520440" cy="54864"/>
          </a:xfrm>
          <a:prstGeom prst="rect">
            <a:avLst/>
          </a:prstGeom>
          <a:solidFill>
            <a:srgbClr val="D4A24C"/>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8321040" y="3200400"/>
            <a:ext cx="411480" cy="411480"/>
          </a:xfrm>
          <a:prstGeom prst="rect">
            <a:avLst/>
          </a:prstGeom>
        </p:spPr>
      </p:pic>
      <p:sp>
        <p:nvSpPr>
          <p:cNvPr id="19" name="Text 14"/>
          <p:cNvSpPr/>
          <p:nvPr/>
        </p:nvSpPr>
        <p:spPr>
          <a:xfrm>
            <a:off x="8321040" y="3703320"/>
            <a:ext cx="2971800" cy="365760"/>
          </a:xfrm>
          <a:prstGeom prst="rect">
            <a:avLst/>
          </a:prstGeom>
          <a:noFill/>
          <a:ln/>
        </p:spPr>
        <p:txBody>
          <a:bodyPr wrap="square" lIns="0" tIns="0" rIns="0" bIns="0" rtlCol="0" anchor="ctr"/>
          <a:lstStyle/>
          <a:p>
            <a:pPr marL="0" indent="0">
              <a:buNone/>
            </a:pPr>
            <a:r>
              <a:rPr lang="en-US" sz="1100" b="1" kern="0" spc="500" dirty="0">
                <a:solidFill>
                  <a:srgbClr val="D4A24C"/>
                </a:solidFill>
                <a:latin typeface="Calibri" pitchFamily="34" charset="0"/>
                <a:ea typeface="Calibri" pitchFamily="34" charset="-122"/>
                <a:cs typeface="Calibri" pitchFamily="34" charset="-120"/>
              </a:rPr>
              <a:t>TWO PILOTS</a:t>
            </a:r>
            <a:endParaRPr lang="en-US" sz="1100" dirty="0"/>
          </a:p>
        </p:txBody>
      </p:sp>
      <p:sp>
        <p:nvSpPr>
          <p:cNvPr id="20" name="Text 15"/>
          <p:cNvSpPr/>
          <p:nvPr/>
        </p:nvSpPr>
        <p:spPr>
          <a:xfrm>
            <a:off x="8321040" y="4069080"/>
            <a:ext cx="2971800" cy="10515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Tier 1: Colombia or Chile (strong analytical infrastructure). Tier 2: Uganda (existing engagement, Part A already drafted). Stress-test data needs and political reception.</a:t>
            </a:r>
            <a:endParaRPr lang="en-US" sz="1200" dirty="0"/>
          </a:p>
        </p:txBody>
      </p:sp>
      <p:sp>
        <p:nvSpPr>
          <p:cNvPr id="21" name="Shape 16"/>
          <p:cNvSpPr/>
          <p:nvPr/>
        </p:nvSpPr>
        <p:spPr>
          <a:xfrm>
            <a:off x="640080" y="5577840"/>
            <a:ext cx="10972800" cy="777240"/>
          </a:xfrm>
          <a:prstGeom prst="rect">
            <a:avLst/>
          </a:prstGeom>
          <a:solidFill>
            <a:srgbClr val="1E2761"/>
          </a:solidFill>
          <a:ln w="12700">
            <a:solidFill>
              <a:srgbClr val="D4A24C"/>
            </a:solidFill>
            <a:prstDash val="solid"/>
          </a:ln>
        </p:spPr>
        <p:txBody>
          <a:bodyPr/>
          <a:lstStyle/>
          <a:p>
            <a:endParaRPr lang="en-US"/>
          </a:p>
        </p:txBody>
      </p:sp>
      <p:sp>
        <p:nvSpPr>
          <p:cNvPr id="22" name="Text 17"/>
          <p:cNvSpPr/>
          <p:nvPr/>
        </p:nvSpPr>
        <p:spPr>
          <a:xfrm>
            <a:off x="868680" y="5605272"/>
            <a:ext cx="10515600" cy="731520"/>
          </a:xfrm>
          <a:prstGeom prst="rect">
            <a:avLst/>
          </a:prstGeom>
          <a:noFill/>
          <a:ln/>
        </p:spPr>
        <p:txBody>
          <a:bodyPr wrap="square" lIns="0" tIns="0" rIns="0" bIns="0" rtlCol="0" anchor="ctr"/>
          <a:lstStyle/>
          <a:p>
            <a:pPr marL="0" indent="0">
              <a:buNone/>
            </a:pPr>
            <a:r>
              <a:rPr lang="en-US" sz="1400" i="1" dirty="0">
                <a:solidFill>
                  <a:srgbClr val="FFFFFF"/>
                </a:solidFill>
                <a:latin typeface="Georgia" pitchFamily="34" charset="0"/>
                <a:ea typeface="Georgia" pitchFamily="34" charset="-122"/>
                <a:cs typeface="Georgia" pitchFamily="34" charset="-120"/>
              </a:rPr>
              <a:t>“The diagnostic does not require new institutional architecture. It sits between existing products as a synthesis layer.”</a:t>
            </a:r>
            <a:endParaRPr lang="en-US" sz="1400" dirty="0"/>
          </a:p>
        </p:txBody>
      </p:sp>
      <p:sp>
        <p:nvSpPr>
          <p:cNvPr id="23" name="Text 18"/>
          <p:cNvSpPr/>
          <p:nvPr/>
        </p:nvSpPr>
        <p:spPr>
          <a:xfrm>
            <a:off x="640080" y="6565392"/>
            <a:ext cx="10972800" cy="228600"/>
          </a:xfrm>
          <a:prstGeom prst="rect">
            <a:avLst/>
          </a:prstGeom>
          <a:noFill/>
          <a:ln/>
        </p:spPr>
        <p:txBody>
          <a:bodyPr wrap="square" lIns="0" tIns="0" rIns="0" bIns="0" rtlCol="0" anchor="ctr"/>
          <a:lstStyle/>
          <a:p>
            <a:pPr marL="0" indent="0">
              <a:buNone/>
            </a:pPr>
            <a:r>
              <a:rPr lang="en-US" sz="900" dirty="0">
                <a:solidFill>
                  <a:srgbClr val="CADCFC">
                    <a:alpha val="70000"/>
                  </a:srgbClr>
                </a:solidFill>
                <a:latin typeface="Calibri" pitchFamily="34" charset="0"/>
                <a:ea typeface="Calibri" pitchFamily="34" charset="-122"/>
                <a:cs typeface="Calibri" pitchFamily="34" charset="-120"/>
              </a:rPr>
              <a:t>Automated Excise-Fiscal Reports  ·  09 / 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Overall Conclusion">
    <p:bg>
      <p:bgPr>
        <a:solidFill>
          <a:srgbClr val="121A47"/>
        </a:solidFill>
        <a:effectLst/>
      </p:bgPr>
    </p:bg>
    <p:spTree>
      <p:nvGrpSpPr>
        <p:cNvPr id="1" name=""/>
        <p:cNvGrpSpPr/>
        <p:nvPr/>
      </p:nvGrpSpPr>
      <p:grpSpPr>
        <a:xfrm>
          <a:off x="0" y="0"/>
          <a:ext cx="0" cy="0"/>
          <a:chOff x="0" y="0"/>
          <a:chExt cx="0" cy="0"/>
        </a:xfrm>
      </p:grpSpPr>
      <p:sp>
        <p:nvSpPr>
          <p:cNvPr id="100" name="GoldBar"/>
          <p:cNvSpPr/>
          <p:nvPr/>
        </p:nvSpPr>
        <p:spPr>
          <a:xfrm>
            <a:off x="0" y="0"/>
            <a:ext cx="164592" cy="6858000"/>
          </a:xfrm>
          <a:prstGeom prst="rect">
            <a:avLst/>
          </a:prstGeom>
          <a:solidFill>
            <a:srgbClr val="D4A24C"/>
          </a:solidFill>
          <a:ln/>
        </p:spPr>
        <p:txBody>
          <a:bodyPr/>
          <a:lstStyle/>
          <a:p>
            <a:endParaRPr lang="en-US"/>
          </a:p>
        </p:txBody>
      </p:sp>
      <p:sp>
        <p:nvSpPr>
          <p:cNvPr id="101" name="Eyebrow"/>
          <p:cNvSpPr/>
          <p:nvPr/>
        </p:nvSpPr>
        <p:spPr>
          <a:xfrm>
            <a:off x="640080" y="411480"/>
            <a:ext cx="6000000" cy="274320"/>
          </a:xfrm>
          <a:prstGeom prst="rect">
            <a:avLst/>
          </a:prstGeom>
          <a:noFill/>
          <a:ln/>
        </p:spPr>
        <p:txBody>
          <a:bodyPr wrap="square" lIns="0" tIns="0" rIns="0" bIns="0" rtlCol="0" anchor="ctr"/>
          <a:lstStyle/>
          <a:p>
            <a:pPr marL="0" indent="0" algn="l">
              <a:buNone/>
            </a:pPr>
            <a:r>
              <a:rPr lang="en-US" sz="1100" b="1" kern="0" spc="600" dirty="0">
                <a:solidFill>
                  <a:srgbClr val="D4A24C"/>
                </a:solidFill>
                <a:latin typeface="Calibri" pitchFamily="34" charset="0"/>
                <a:ea typeface="Calibri" pitchFamily="34" charset="-122"/>
                <a:cs typeface="Calibri" pitchFamily="34" charset="-120"/>
              </a:rPr>
              <a:t>08  — CONCLUSION (ii)</a:t>
            </a:r>
          </a:p>
        </p:txBody>
      </p:sp>
      <p:sp>
        <p:nvSpPr>
          <p:cNvPr id="102" name="Title"/>
          <p:cNvSpPr/>
          <p:nvPr/>
        </p:nvSpPr>
        <p:spPr>
          <a:xfrm>
            <a:off x="640080" y="713232"/>
            <a:ext cx="10972800" cy="777240"/>
          </a:xfrm>
          <a:prstGeom prst="rect">
            <a:avLst/>
          </a:prstGeom>
          <a:noFill/>
          <a:ln/>
        </p:spPr>
        <p:txBody>
          <a:bodyPr wrap="square" lIns="0" tIns="0" rIns="0" bIns="0" rtlCol="0" anchor="ctr"/>
          <a:lstStyle/>
          <a:p>
            <a:pPr marL="0" indent="0" algn="l">
              <a:buNone/>
            </a:pPr>
            <a:r>
              <a:rPr lang="en-US" sz="3000" b="1" kern="0" dirty="0">
                <a:solidFill>
                  <a:srgbClr val="FFFFFF"/>
                </a:solidFill>
                <a:latin typeface="Georgia" pitchFamily="34" charset="0"/>
                <a:ea typeface="Georgia" pitchFamily="34" charset="-122"/>
                <a:cs typeface="Georgia" pitchFamily="34" charset="-120"/>
              </a:rPr>
              <a:t>Joining the parts a finance minister must read</a:t>
            </a:r>
          </a:p>
        </p:txBody>
      </p:sp>
      <p:sp>
        <p:nvSpPr>
          <p:cNvPr id="103" name="Lead"/>
          <p:cNvSpPr/>
          <p:nvPr/>
        </p:nvSpPr>
        <p:spPr>
          <a:xfrm>
            <a:off x="640080" y="1600200"/>
            <a:ext cx="10972800" cy="640080"/>
          </a:xfrm>
          <a:prstGeom prst="rect">
            <a:avLst/>
          </a:prstGeom>
          <a:noFill/>
          <a:ln/>
        </p:spPr>
        <p:txBody>
          <a:bodyPr wrap="square" lIns="0" tIns="0" rIns="0" bIns="0" rtlCol="0" anchor="t"/>
          <a:lstStyle/>
          <a:p>
            <a:pPr marL="0" indent="0" algn="l">
              <a:buNone/>
            </a:pPr>
            <a:r>
              <a:rPr lang="en-US" sz="1300" kern="0" dirty="0">
                <a:solidFill>
                  <a:srgbClr val="CADCFC"/>
                </a:solidFill>
                <a:latin typeface="Calibri" pitchFamily="34" charset="0"/>
                <a:ea typeface="Calibri" pitchFamily="34" charset="-122"/>
                <a:cs typeface="Calibri" pitchFamily="34" charset="-120"/>
              </a:rPr>
              <a:t>The tools already exist — excise schedules, CPAT, the Climate &amp; Health Program, IMF GEPR. They sit in different silos and produce outputs at the wrong unit of analysis. The diagnostic is a synthesis layer, not a new model: it joins instrument-level legibility to system-level externality reasoning and converts both into a sequenced reform pathway.</a:t>
            </a:r>
          </a:p>
        </p:txBody>
      </p:sp>
      <p:sp>
        <p:nvSpPr>
          <p:cNvPr id="104" name="Panel0"/>
          <p:cNvSpPr/>
          <p:nvPr/>
        </p:nvSpPr>
        <p:spPr>
          <a:xfrm>
            <a:off x="640080" y="2697480"/>
            <a:ext cx="3291840" cy="2484120"/>
          </a:xfrm>
          <a:prstGeom prst="rect">
            <a:avLst/>
          </a:prstGeom>
          <a:solidFill>
            <a:srgbClr val="1E2761"/>
          </a:solidFill>
          <a:ln/>
        </p:spPr>
        <p:txBody>
          <a:bodyPr/>
          <a:lstStyle/>
          <a:p>
            <a:endParaRPr lang="en-US"/>
          </a:p>
        </p:txBody>
      </p:sp>
      <p:sp>
        <p:nvSpPr>
          <p:cNvPr id="105" name="Tag0"/>
          <p:cNvSpPr/>
          <p:nvPr/>
        </p:nvSpPr>
        <p:spPr>
          <a:xfrm>
            <a:off x="914400" y="2926080"/>
            <a:ext cx="2743200" cy="320040"/>
          </a:xfrm>
          <a:prstGeom prst="rect">
            <a:avLst/>
          </a:prstGeom>
          <a:noFill/>
          <a:ln/>
        </p:spPr>
        <p:txBody>
          <a:bodyPr wrap="square" lIns="0" tIns="0" rIns="0" bIns="0" rtlCol="0" anchor="ctr"/>
          <a:lstStyle/>
          <a:p>
            <a:pPr marL="0" indent="0" algn="l">
              <a:buNone/>
            </a:pPr>
            <a:r>
              <a:rPr lang="en-US" sz="1300" b="1" kern="0" spc="200" dirty="0">
                <a:solidFill>
                  <a:srgbClr val="D4A24C"/>
                </a:solidFill>
                <a:latin typeface="Calibri" pitchFamily="34" charset="0"/>
                <a:ea typeface="Calibri" pitchFamily="34" charset="-122"/>
                <a:cs typeface="Calibri" pitchFamily="34" charset="-120"/>
              </a:rPr>
              <a:t>A → B → C</a:t>
            </a:r>
          </a:p>
        </p:txBody>
      </p:sp>
      <p:sp>
        <p:nvSpPr>
          <p:cNvPr id="106" name="Head0"/>
          <p:cNvSpPr/>
          <p:nvPr/>
        </p:nvSpPr>
        <p:spPr>
          <a:xfrm>
            <a:off x="914400" y="3383280"/>
            <a:ext cx="2743200" cy="548640"/>
          </a:xfrm>
          <a:prstGeom prst="rect">
            <a:avLst/>
          </a:prstGeom>
          <a:noFill/>
          <a:ln/>
        </p:spPr>
        <p:txBody>
          <a:bodyPr wrap="square" lIns="0" tIns="0" rIns="0" bIns="0" rtlCol="0" anchor="ctr"/>
          <a:lstStyle/>
          <a:p>
            <a:pPr marL="0" indent="0" algn="l">
              <a:buNone/>
            </a:pPr>
            <a:r>
              <a:rPr lang="en-US" sz="1600" b="1" kern="0" dirty="0">
                <a:solidFill>
                  <a:srgbClr val="FFFFFF"/>
                </a:solidFill>
                <a:latin typeface="Georgia" pitchFamily="34" charset="0"/>
                <a:ea typeface="Georgia" pitchFamily="34" charset="-122"/>
                <a:cs typeface="Georgia" pitchFamily="34" charset="-120"/>
              </a:rPr>
              <a:t>One coherent chain</a:t>
            </a:r>
          </a:p>
        </p:txBody>
      </p:sp>
      <p:sp>
        <p:nvSpPr>
          <p:cNvPr id="107" name="Body0"/>
          <p:cNvSpPr/>
          <p:nvPr/>
        </p:nvSpPr>
        <p:spPr>
          <a:xfrm>
            <a:off x="914400" y="4023360"/>
            <a:ext cx="2743200" cy="100584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Part A reads the schedule; Part B asks the system-level externality question; Part C sequences the answers into a reform calendar. Each part feeds the next.</a:t>
            </a:r>
          </a:p>
        </p:txBody>
      </p:sp>
      <p:sp>
        <p:nvSpPr>
          <p:cNvPr id="108" name="Panel1"/>
          <p:cNvSpPr/>
          <p:nvPr/>
        </p:nvSpPr>
        <p:spPr>
          <a:xfrm>
            <a:off x="4297680" y="2697480"/>
            <a:ext cx="3291840" cy="2484120"/>
          </a:xfrm>
          <a:prstGeom prst="rect">
            <a:avLst/>
          </a:prstGeom>
          <a:solidFill>
            <a:srgbClr val="1E2761"/>
          </a:solidFill>
          <a:ln/>
        </p:spPr>
        <p:txBody>
          <a:bodyPr/>
          <a:lstStyle/>
          <a:p>
            <a:endParaRPr lang="en-US"/>
          </a:p>
        </p:txBody>
      </p:sp>
      <p:sp>
        <p:nvSpPr>
          <p:cNvPr id="109" name="Tag1"/>
          <p:cNvSpPr/>
          <p:nvPr/>
        </p:nvSpPr>
        <p:spPr>
          <a:xfrm>
            <a:off x="4572000" y="2926080"/>
            <a:ext cx="2743200" cy="320040"/>
          </a:xfrm>
          <a:prstGeom prst="rect">
            <a:avLst/>
          </a:prstGeom>
          <a:noFill/>
          <a:ln/>
        </p:spPr>
        <p:txBody>
          <a:bodyPr wrap="square" lIns="0" tIns="0" rIns="0" bIns="0" rtlCol="0" anchor="ctr"/>
          <a:lstStyle/>
          <a:p>
            <a:pPr marL="0" indent="0" algn="l">
              <a:buNone/>
            </a:pPr>
            <a:r>
              <a:rPr lang="en-US" sz="1300" b="1" kern="0" spc="200" dirty="0">
                <a:solidFill>
                  <a:srgbClr val="D4A24C"/>
                </a:solidFill>
                <a:latin typeface="Calibri" pitchFamily="34" charset="0"/>
                <a:ea typeface="Calibri" pitchFamily="34" charset="-122"/>
                <a:cs typeface="Calibri" pitchFamily="34" charset="-120"/>
              </a:rPr>
              <a:t>Discipline</a:t>
            </a:r>
          </a:p>
        </p:txBody>
      </p:sp>
      <p:sp>
        <p:nvSpPr>
          <p:cNvPr id="110" name="Head1"/>
          <p:cNvSpPr/>
          <p:nvPr/>
        </p:nvSpPr>
        <p:spPr>
          <a:xfrm>
            <a:off x="4572000" y="3383280"/>
            <a:ext cx="2743200" cy="548640"/>
          </a:xfrm>
          <a:prstGeom prst="rect">
            <a:avLst/>
          </a:prstGeom>
          <a:noFill/>
          <a:ln/>
        </p:spPr>
        <p:txBody>
          <a:bodyPr wrap="square" lIns="0" tIns="0" rIns="0" bIns="0" rtlCol="0" anchor="ctr"/>
          <a:lstStyle/>
          <a:p>
            <a:pPr marL="0" indent="0" algn="l">
              <a:buNone/>
            </a:pPr>
            <a:r>
              <a:rPr lang="en-US" sz="1600" b="1" kern="0" dirty="0">
                <a:solidFill>
                  <a:srgbClr val="FFFFFF"/>
                </a:solidFill>
                <a:latin typeface="Georgia" pitchFamily="34" charset="0"/>
                <a:ea typeface="Georgia" pitchFamily="34" charset="-122"/>
                <a:cs typeface="Georgia" pitchFamily="34" charset="-120"/>
              </a:rPr>
              <a:t>A single valuation spine</a:t>
            </a:r>
          </a:p>
        </p:txBody>
      </p:sp>
      <p:sp>
        <p:nvSpPr>
          <p:cNvPr id="111" name="Body1"/>
          <p:cNvSpPr/>
          <p:nvPr/>
        </p:nvSpPr>
        <p:spPr>
          <a:xfrm>
            <a:off x="4572000" y="4023360"/>
            <a:ext cx="2743200" cy="100584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One value of statistical life, one carbon shadow price, one set of accident-cost parameters — applied consistently across every sectoral input, in a fixed-structure report.</a:t>
            </a:r>
          </a:p>
        </p:txBody>
      </p:sp>
      <p:sp>
        <p:nvSpPr>
          <p:cNvPr id="112" name="Panel2"/>
          <p:cNvSpPr/>
          <p:nvPr/>
        </p:nvSpPr>
        <p:spPr>
          <a:xfrm>
            <a:off x="7955280" y="2697480"/>
            <a:ext cx="3291840" cy="2484120"/>
          </a:xfrm>
          <a:prstGeom prst="rect">
            <a:avLst/>
          </a:prstGeom>
          <a:solidFill>
            <a:srgbClr val="1E2761"/>
          </a:solidFill>
          <a:ln/>
        </p:spPr>
        <p:txBody>
          <a:bodyPr/>
          <a:lstStyle/>
          <a:p>
            <a:endParaRPr lang="en-US"/>
          </a:p>
        </p:txBody>
      </p:sp>
      <p:sp>
        <p:nvSpPr>
          <p:cNvPr id="113" name="Tag2"/>
          <p:cNvSpPr/>
          <p:nvPr/>
        </p:nvSpPr>
        <p:spPr>
          <a:xfrm>
            <a:off x="8229600" y="2926080"/>
            <a:ext cx="2743200" cy="320040"/>
          </a:xfrm>
          <a:prstGeom prst="rect">
            <a:avLst/>
          </a:prstGeom>
          <a:noFill/>
          <a:ln/>
        </p:spPr>
        <p:txBody>
          <a:bodyPr wrap="square" lIns="0" tIns="0" rIns="0" bIns="0" rtlCol="0" anchor="ctr"/>
          <a:lstStyle/>
          <a:p>
            <a:pPr marL="0" indent="0" algn="l">
              <a:buNone/>
            </a:pPr>
            <a:r>
              <a:rPr lang="en-US" sz="1300" b="1" kern="0" spc="200" dirty="0">
                <a:solidFill>
                  <a:srgbClr val="D4A24C"/>
                </a:solidFill>
                <a:latin typeface="Calibri" pitchFamily="34" charset="0"/>
                <a:ea typeface="Calibri" pitchFamily="34" charset="-122"/>
                <a:cs typeface="Calibri" pitchFamily="34" charset="-120"/>
              </a:rPr>
              <a:t>Evidence</a:t>
            </a:r>
          </a:p>
        </p:txBody>
      </p:sp>
      <p:sp>
        <p:nvSpPr>
          <p:cNvPr id="114" name="Head2"/>
          <p:cNvSpPr/>
          <p:nvPr/>
        </p:nvSpPr>
        <p:spPr>
          <a:xfrm>
            <a:off x="8229600" y="3383280"/>
            <a:ext cx="2743200" cy="548640"/>
          </a:xfrm>
          <a:prstGeom prst="rect">
            <a:avLst/>
          </a:prstGeom>
          <a:noFill/>
          <a:ln/>
        </p:spPr>
        <p:txBody>
          <a:bodyPr wrap="square" lIns="0" tIns="0" rIns="0" bIns="0" rtlCol="0" anchor="ctr"/>
          <a:lstStyle/>
          <a:p>
            <a:pPr marL="0" indent="0" algn="l">
              <a:buNone/>
            </a:pPr>
            <a:r>
              <a:rPr lang="en-US" sz="1600" b="1" kern="0" dirty="0">
                <a:solidFill>
                  <a:srgbClr val="FFFFFF"/>
                </a:solidFill>
                <a:latin typeface="Georgia" pitchFamily="34" charset="0"/>
                <a:ea typeface="Georgia" pitchFamily="34" charset="-122"/>
                <a:cs typeface="Georgia" pitchFamily="34" charset="-120"/>
              </a:rPr>
              <a:t>Pilots already drafted</a:t>
            </a:r>
          </a:p>
        </p:txBody>
      </p:sp>
      <p:sp>
        <p:nvSpPr>
          <p:cNvPr id="115" name="Body2"/>
          <p:cNvSpPr/>
          <p:nvPr/>
        </p:nvSpPr>
        <p:spPr>
          <a:xfrm>
            <a:off x="8229600" y="4023360"/>
            <a:ext cx="2743200" cy="1005840"/>
          </a:xfrm>
          <a:prstGeom prst="rect">
            <a:avLst/>
          </a:prstGeom>
          <a:noFill/>
          <a:ln/>
        </p:spPr>
        <p:txBody>
          <a:bodyPr wrap="square" lIns="0" tIns="0" rIns="0" bIns="0" rtlCol="0" anchor="t"/>
          <a:lstStyle/>
          <a:p>
            <a:pPr marL="0" indent="0" algn="l">
              <a:buNone/>
            </a:pPr>
            <a:r>
              <a:rPr lang="en-US" sz="1100" kern="0" dirty="0">
                <a:solidFill>
                  <a:srgbClr val="CADCFC"/>
                </a:solidFill>
                <a:latin typeface="Calibri" pitchFamily="34" charset="0"/>
                <a:ea typeface="Calibri" pitchFamily="34" charset="-122"/>
                <a:cs typeface="Calibri" pitchFamily="34" charset="-120"/>
              </a:rPr>
              <a:t>The Uganda and Sierra Leone Part A diagnostics are done. They surface anomalies invisible on the schedule — from untaxed wine to eroded kerosene.</a:t>
            </a:r>
          </a:p>
        </p:txBody>
      </p:sp>
      <p:sp>
        <p:nvSpPr>
          <p:cNvPr id="116" name="Quote"/>
          <p:cNvSpPr/>
          <p:nvPr/>
        </p:nvSpPr>
        <p:spPr>
          <a:xfrm>
            <a:off x="640080" y="5440680"/>
            <a:ext cx="10515600" cy="685800"/>
          </a:xfrm>
          <a:prstGeom prst="rect">
            <a:avLst/>
          </a:prstGeom>
          <a:noFill/>
          <a:ln/>
        </p:spPr>
        <p:txBody>
          <a:bodyPr wrap="square" lIns="0" tIns="0" rIns="0" bIns="0" rtlCol="0" anchor="ctr"/>
          <a:lstStyle/>
          <a:p>
            <a:pPr marL="0" indent="0" algn="l">
              <a:buNone/>
            </a:pPr>
            <a:r>
              <a:rPr lang="en-US" sz="1400" i="1" kern="0" dirty="0">
                <a:solidFill>
                  <a:srgbClr val="FFFFFF"/>
                </a:solidFill>
                <a:latin typeface="Georgia" pitchFamily="34" charset="0"/>
                <a:ea typeface="Georgia" pitchFamily="34" charset="-122"/>
                <a:cs typeface="Georgia" pitchFamily="34" charset="-120"/>
              </a:rPr>
              <a:t>“The diagnostic does not require new institutional architecture. It sits between existing products as a synthesis layer — producing, in two to three weeks, a draft a country team can act on.”</a:t>
            </a:r>
          </a:p>
        </p:txBody>
      </p:sp>
      <p:sp>
        <p:nvSpPr>
          <p:cNvPr id="117" name="Footer"/>
          <p:cNvSpPr/>
          <p:nvPr/>
        </p:nvSpPr>
        <p:spPr>
          <a:xfrm>
            <a:off x="640080" y="6565392"/>
            <a:ext cx="10972800" cy="228600"/>
          </a:xfrm>
          <a:prstGeom prst="rect">
            <a:avLst/>
          </a:prstGeom>
          <a:noFill/>
          <a:ln/>
        </p:spPr>
        <p:txBody>
          <a:bodyPr wrap="square" lIns="0" tIns="0" rIns="0" bIns="0" rtlCol="0" anchor="ctr"/>
          <a:lstStyle/>
          <a:p>
            <a:pPr marL="0" indent="0" algn="l">
              <a:buNone/>
            </a:pPr>
            <a:r>
              <a:rPr lang="en-US" sz="900" kern="0" dirty="0">
                <a:solidFill>
                  <a:srgbClr val="CADCFC"/>
                </a:solidFill>
                <a:latin typeface="Calibri" pitchFamily="34" charset="0"/>
                <a:ea typeface="Calibri" pitchFamily="34" charset="-122"/>
                <a:cs typeface="Calibri" pitchFamily="34" charset="-120"/>
              </a:rPr>
              <a:t>Automated Excise-Fiscal Reports  ·  10 / 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3657600" cy="274320"/>
          </a:xfrm>
          <a:prstGeom prst="rect">
            <a:avLst/>
          </a:prstGeom>
          <a:noFill/>
          <a:ln/>
        </p:spPr>
        <p:txBody>
          <a:bodyPr wrap="square" lIns="0" tIns="0" rIns="0" bIns="0" rtlCol="0" anchor="ctr"/>
          <a:lstStyle/>
          <a:p>
            <a:pPr marL="0" indent="0">
              <a:buNone/>
            </a:pPr>
            <a:r>
              <a:rPr lang="en-US" sz="1100" b="1" kern="0" spc="600" dirty="0">
                <a:solidFill>
                  <a:srgbClr val="D4A24C"/>
                </a:solidFill>
                <a:latin typeface="Calibri" pitchFamily="34" charset="0"/>
                <a:ea typeface="Calibri" pitchFamily="34" charset="-122"/>
                <a:cs typeface="Calibri" pitchFamily="34" charset="-120"/>
              </a:rPr>
              <a:t>ANNEX</a:t>
            </a:r>
            <a:endParaRPr lang="en-US" sz="11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Inputs, methods, outputs at a glance</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472874469"/>
              </p:ext>
            </p:extLst>
          </p:nvPr>
        </p:nvGraphicFramePr>
        <p:xfrm>
          <a:off x="548640" y="1691640"/>
          <a:ext cx="11064240" cy="4251960"/>
        </p:xfrm>
        <a:graphic>
          <a:graphicData uri="http://schemas.openxmlformats.org/drawingml/2006/table">
            <a:tbl>
              <a:tblPr/>
              <a:tblGrid>
                <a:gridCol w="219456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777240">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Component</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Primary input</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Method</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Output</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777240">
                <a:tc>
                  <a:txBody>
                    <a:bodyPr/>
                    <a:lstStyle/>
                    <a:p>
                      <a:pPr marL="0" indent="0">
                        <a:buNone/>
                      </a:pPr>
                      <a:r>
                        <a:rPr lang="en-US" sz="1800" b="1" dirty="0">
                          <a:solidFill>
                            <a:srgbClr val="1E2761"/>
                          </a:solidFill>
                          <a:latin typeface="Calibri" pitchFamily="34" charset="0"/>
                          <a:ea typeface="Calibri" pitchFamily="34" charset="-122"/>
                          <a:cs typeface="Calibri" pitchFamily="34" charset="-120"/>
                        </a:rPr>
                        <a:t>A. Excise Diagnostic</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Country excise schedule (current law + recent FAs)</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Categorise lines; record on five fields; compute three measures ($/unit, % of consumer price, % of GDP)</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Structured tables + narrative on erosion, gaps, incoherence</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extLst>
                  <a:ext uri="{0D108BD9-81ED-4DB2-BD59-A6C34878D82A}">
                    <a16:rowId xmlns:a16="http://schemas.microsoft.com/office/drawing/2014/main" val="10001"/>
                  </a:ext>
                </a:extLst>
              </a:tr>
              <a:tr h="777240">
                <a:tc>
                  <a:txBody>
                    <a:bodyPr/>
                    <a:lstStyle/>
                    <a:p>
                      <a:pPr marL="0" indent="0">
                        <a:buNone/>
                      </a:pPr>
                      <a:r>
                        <a:rPr lang="en-US" sz="1800" b="1" dirty="0">
                          <a:solidFill>
                            <a:srgbClr val="1E2761"/>
                          </a:solidFill>
                          <a:latin typeface="Calibri" pitchFamily="34" charset="0"/>
                          <a:ea typeface="Calibri" pitchFamily="34" charset="-122"/>
                          <a:cs typeface="Calibri" pitchFamily="34" charset="-120"/>
                        </a:rPr>
                        <a:t>B. Externality Diagnostic</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CPAT &amp; other Climate/Health outputs; IMF GEPR; country exposure data</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Seven-section spine + standardised valuation parameters; “biggest externality” ranking</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Fixed-structure externality assessment with sensitivity ranges</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marL="0" indent="0">
                        <a:buNone/>
                      </a:pPr>
                      <a:r>
                        <a:rPr lang="en-US" sz="1800" b="1" dirty="0">
                          <a:solidFill>
                            <a:srgbClr val="1E2761"/>
                          </a:solidFill>
                          <a:latin typeface="Calibri" pitchFamily="34" charset="0"/>
                          <a:ea typeface="Calibri" pitchFamily="34" charset="-122"/>
                          <a:cs typeface="Calibri" pitchFamily="34" charset="-120"/>
                        </a:rPr>
                        <a:t>C. Policy Pathways</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IMF benchmarks; comparator country experience; Part A + B summaries</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Existing proposals → success stories → narrative political economy → conclusion</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tc>
                  <a:txBody>
                    <a:bodyPr/>
                    <a:lstStyle/>
                    <a:p>
                      <a:pPr marL="0" indent="0">
                        <a:buNone/>
                      </a:pPr>
                      <a:r>
                        <a:rPr lang="en-US" sz="1800" dirty="0">
                          <a:solidFill>
                            <a:srgbClr val="1F2747"/>
                          </a:solidFill>
                          <a:latin typeface="Calibri" pitchFamily="34" charset="0"/>
                          <a:ea typeface="Calibri" pitchFamily="34" charset="-122"/>
                          <a:cs typeface="Calibri" pitchFamily="34" charset="-120"/>
                        </a:rPr>
                        <a:t>Sequenced, prioritised reform package</a:t>
                      </a:r>
                      <a:endParaRPr lang="en-US" sz="1800" dirty="0">
                        <a:latin typeface="Calibri" charset="0"/>
                        <a:ea typeface="Calibri" charset="0"/>
                        <a:cs typeface="Calibri" charset="0"/>
                      </a:endParaRPr>
                    </a:p>
                  </a:txBody>
                  <a:tcPr marL="101600" marR="101600" marT="76200" marB="76200">
                    <a:lnL w="6350" cap="flat" cmpd="sng" algn="ctr">
                      <a:solidFill>
                        <a:srgbClr val="DDE3F0"/>
                      </a:solidFill>
                      <a:prstDash val="solid"/>
                      <a:round/>
                      <a:headEnd type="none" w="med" len="med"/>
                      <a:tailEnd type="none" w="med" len="med"/>
                    </a:lnL>
                    <a:lnR w="6350" cap="flat" cmpd="sng" algn="ctr">
                      <a:solidFill>
                        <a:srgbClr val="DDE3F0"/>
                      </a:solidFill>
                      <a:prstDash val="solid"/>
                      <a:round/>
                      <a:headEnd type="none" w="med" len="med"/>
                      <a:tailEnd type="none" w="med" len="med"/>
                    </a:lnR>
                    <a:lnT w="6350" cap="flat" cmpd="sng" algn="ctr">
                      <a:solidFill>
                        <a:srgbClr val="DDE3F0"/>
                      </a:solidFill>
                      <a:prstDash val="solid"/>
                      <a:round/>
                      <a:headEnd type="none" w="med" len="med"/>
                      <a:tailEnd type="none" w="med" len="med"/>
                    </a:lnT>
                    <a:lnB w="6350" cap="flat" cmpd="sng" algn="ctr">
                      <a:solidFill>
                        <a:srgbClr val="DDE3F0"/>
                      </a:solidFill>
                      <a:prstDash val="solid"/>
                      <a:round/>
                      <a:headEnd type="none" w="med" len="med"/>
                      <a:tailEnd type="none" w="med" len="med"/>
                    </a:lnB>
                    <a:solidFill>
                      <a:srgbClr val="F6F8FE"/>
                    </a:solidFill>
                  </a:tcPr>
                </a:tc>
                <a:extLst>
                  <a:ext uri="{0D108BD9-81ED-4DB2-BD59-A6C34878D82A}">
                    <a16:rowId xmlns:a16="http://schemas.microsoft.com/office/drawing/2014/main" val="10003"/>
                  </a:ext>
                </a:extLst>
              </a:tr>
            </a:tbl>
          </a:graphicData>
        </a:graphic>
      </p:graphicFrame>
      <p:sp>
        <p:nvSpPr>
          <p:cNvPr id="24" name="Text 11">
            <a:extLst>
              <a:ext uri="{FF2B5EF4-FFF2-40B4-BE49-F238E27FC236}">
                <a16:creationId xmlns:a16="http://schemas.microsoft.com/office/drawing/2014/main" id="{E20E4AE1-314E-D030-04EB-22BD54821FCE}"/>
              </a:ext>
            </a:extLst>
          </p:cNvPr>
          <p:cNvSpPr/>
          <p:nvPr/>
        </p:nvSpPr>
        <p:spPr>
          <a:xfrm>
            <a:off x="548640" y="6565392"/>
            <a:ext cx="10972800" cy="228600"/>
          </a:xfrm>
          <a:prstGeom prst="rect">
            <a:avLst/>
          </a:prstGeom>
          <a:noFill/>
          <a:ln/>
        </p:spPr>
        <p:txBody>
          <a:bodyPr wrap="square" lIns="0" tIns="0" rIns="0" bIns="0" rtlCol="0" anchor="ctr"/>
          <a:lstStyle/>
          <a:p>
            <a:pPr marL="0" indent="0">
              <a:buNone/>
            </a:pPr>
            <a:r>
              <a:rPr lang="en-US" sz="900" dirty="0">
                <a:solidFill>
                  <a:srgbClr val="6B7693"/>
                </a:solidFill>
                <a:latin typeface="Calibri" pitchFamily="34" charset="0"/>
                <a:ea typeface="Calibri" pitchFamily="34" charset="-122"/>
                <a:cs typeface="Calibri" pitchFamily="34" charset="-120"/>
              </a:rPr>
              <a:t>Automated Excise-Fiscal Reports  ·  11 / 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135</TotalTime>
  <Words>2329</Words>
  <Application>Microsoft Office PowerPoint</Application>
  <PresentationFormat>Widescreen</PresentationFormat>
  <Paragraphs>256</Paragraphs>
  <Slides>11</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Excise-Fiscal Reports</dc:title>
  <dc:subject>PptxGenJS Presentation</dc:subject>
  <dc:creator>Stephen — World Bank</dc:creator>
  <cp:lastModifiedBy>Stephen John Stretton</cp:lastModifiedBy>
  <cp:revision>6</cp:revision>
  <cp:lastPrinted>2026-05-21T16:58:06Z</cp:lastPrinted>
  <dcterms:created xsi:type="dcterms:W3CDTF">2026-05-07T22:14:14Z</dcterms:created>
  <dcterms:modified xsi:type="dcterms:W3CDTF">2026-05-21T21:13:43Z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608d83-f952-409d-b7c5-456515bbbf5a_Enabled">
    <vt:lpwstr>true</vt:lpwstr>
  </property>
  <property fmtid="{D5CDD505-2E9C-101B-9397-08002B2CF9AE}" pid="3" name="MSIP_Label_89608d83-f952-409d-b7c5-456515bbbf5a_SetDate">
    <vt:lpwstr>2026-05-21T18:38:31Z</vt:lpwstr>
  </property>
  <property fmtid="{D5CDD505-2E9C-101B-9397-08002B2CF9AE}" pid="4" name="MSIP_Label_89608d83-f952-409d-b7c5-456515bbbf5a_Method">
    <vt:lpwstr>Privileged</vt:lpwstr>
  </property>
  <property fmtid="{D5CDD505-2E9C-101B-9397-08002B2CF9AE}" pid="5" name="MSIP_Label_89608d83-f952-409d-b7c5-456515bbbf5a_Name">
    <vt:lpwstr>Public</vt:lpwstr>
  </property>
  <property fmtid="{D5CDD505-2E9C-101B-9397-08002B2CF9AE}" pid="6" name="MSIP_Label_89608d83-f952-409d-b7c5-456515bbbf5a_SiteId">
    <vt:lpwstr>31a2fec0-266b-4c67-b56e-2796d8f59c36</vt:lpwstr>
  </property>
  <property fmtid="{D5CDD505-2E9C-101B-9397-08002B2CF9AE}" pid="7" name="MSIP_Label_89608d83-f952-409d-b7c5-456515bbbf5a_ActionId">
    <vt:lpwstr>4a398676-1ad7-4fc2-be92-53d8c175ee45</vt:lpwstr>
  </property>
  <property fmtid="{D5CDD505-2E9C-101B-9397-08002B2CF9AE}" pid="8" name="MSIP_Label_89608d83-f952-409d-b7c5-456515bbbf5a_ContentBits">
    <vt:lpwstr>0</vt:lpwstr>
  </property>
  <property fmtid="{D5CDD505-2E9C-101B-9397-08002B2CF9AE}" pid="9" name="MSIP_Label_89608d83-f952-409d-b7c5-456515bbbf5a_Tag">
    <vt:lpwstr>10, 0, 1, 1</vt:lpwstr>
  </property>
</Properties>
</file>