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92" r:id="rId39"/>
    <p:sldId id="257" r:id="rId3"/>
    <p:sldId id="282" r:id="rId33"/>
    <p:sldId id="277" r:id="rId28"/>
    <p:sldId id="278" r:id="rId29"/>
    <p:sldId id="283" r:id="rId34"/>
    <p:sldId id="279" r:id="rId30"/>
    <p:sldId id="258" r:id="rId4"/>
    <p:sldId id="261" r:id="rId7"/>
    <p:sldId id="262" r:id="rId8"/>
    <p:sldId id="263" r:id="rId9"/>
    <p:sldId id="264" r:id="rId10"/>
    <p:sldId id="265" r:id="rId11"/>
    <p:sldId id="291" r:id="rId38"/>
    <p:sldId id="267" r:id="rId13"/>
    <p:sldId id="270" r:id="rId16"/>
    <p:sldId id="280" r:id="rId31"/>
    <p:sldId id="271" r:id="rId17"/>
    <p:sldId id="272" r:id="rId18"/>
    <p:sldId id="287" r:id="rId14"/>
    <p:sldId id="288" r:id="rId6"/>
    <p:sldId id="289" r:id="rId19"/>
    <p:sldId id="290" r:id="rId5"/>
    <p:sldId id="281" r:id="rId32"/>
    <p:sldId id="266" r:id="rId12"/>
    <p:sldId id="284" r:id="rId35"/>
    <p:sldId id="285" r:id="rId36"/>
    <p:sldId id="275" r:id="rId21"/>
    <p:sldId id="286" r:id="rId37"/>
    <p:sldId id="276" r:id="rId22"/>
    <p:sldId id="293" r:id="rId40"/>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9.xml"/><Relationship Id="rId5" Type="http://schemas.openxmlformats.org/officeDocument/2006/relationships/slide" Target="slides/slide24.xml"/><Relationship Id="rId6" Type="http://schemas.openxmlformats.org/officeDocument/2006/relationships/slide" Target="slides/slide22.xml"/><Relationship Id="rId7" Type="http://schemas.openxmlformats.org/officeDocument/2006/relationships/slide" Target="slides/slide10.xml"/><Relationship Id="rId8" Type="http://schemas.openxmlformats.org/officeDocument/2006/relationships/slide" Target="slides/slide11.xml"/><Relationship Id="rId9" Type="http://schemas.openxmlformats.org/officeDocument/2006/relationships/slide" Target="slides/slide12.xml"/><Relationship Id="rId10" Type="http://schemas.openxmlformats.org/officeDocument/2006/relationships/slide" Target="slides/slide13.xml"/><Relationship Id="rId11" Type="http://schemas.openxmlformats.org/officeDocument/2006/relationships/slide" Target="slides/slide14.xml"/><Relationship Id="rId12" Type="http://schemas.openxmlformats.org/officeDocument/2006/relationships/slide" Target="slides/slide26.xml"/><Relationship Id="rId13" Type="http://schemas.openxmlformats.org/officeDocument/2006/relationships/slide" Target="slides/slide16.xml"/><Relationship Id="rId14" Type="http://schemas.openxmlformats.org/officeDocument/2006/relationships/slide" Target="slides/slide21.xml"/><Relationship Id="rId16" Type="http://schemas.openxmlformats.org/officeDocument/2006/relationships/slide" Target="slides/slide17.xml"/><Relationship Id="rId17" Type="http://schemas.openxmlformats.org/officeDocument/2006/relationships/slide" Target="slides/slide19.xml"/><Relationship Id="rId18" Type="http://schemas.openxmlformats.org/officeDocument/2006/relationships/slide" Target="slides/slide20.xml"/><Relationship Id="rId19" Type="http://schemas.openxmlformats.org/officeDocument/2006/relationships/slide" Target="slides/slide23.xml"/><Relationship Id="rId21" Type="http://schemas.openxmlformats.org/officeDocument/2006/relationships/slide" Target="slides/slide29.xml"/><Relationship Id="rId22" Type="http://schemas.openxmlformats.org/officeDocument/2006/relationships/slide" Target="slides/slide3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5.xml"/><Relationship Id="rId29" Type="http://schemas.openxmlformats.org/officeDocument/2006/relationships/slide" Target="slides/slide6.xml"/><Relationship Id="rId30" Type="http://schemas.openxmlformats.org/officeDocument/2006/relationships/slide" Target="slides/slide8.xml"/><Relationship Id="rId31" Type="http://schemas.openxmlformats.org/officeDocument/2006/relationships/slide" Target="slides/slide18.xml"/><Relationship Id="rId32" Type="http://schemas.openxmlformats.org/officeDocument/2006/relationships/slide" Target="slides/slide25.xml"/><Relationship Id="rId33" Type="http://schemas.openxmlformats.org/officeDocument/2006/relationships/slide" Target="slides/slide4.xml"/><Relationship Id="rId34" Type="http://schemas.openxmlformats.org/officeDocument/2006/relationships/slide" Target="slides/slide7.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30.xml"/><Relationship Id="rId38" Type="http://schemas.openxmlformats.org/officeDocument/2006/relationships/slide" Target="slides/slide15.xml"/><Relationship Id="rId39" Type="http://schemas.openxmlformats.org/officeDocument/2006/relationships/slide" Target="slides/slide2.xml"/><Relationship Id="rId40"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Draws on Issues with CPAT and Options for Remediation (first presented April 2026), the Coded CPAT and other AI tools plan (September 2026) and the FY27 work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Behind the code-quality problem: the mitigation module is the largest part of CPAT; other modules wait for it; 250,000+ cells are hard to understand and validate; Excel, Python CPAT and the documentation drift apart, and a spreadsheet is hard to publish in a peer-reviewed journal; and policy mixes for the new user interface need every sector and fuel combination handled consistently.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forms share one set of equations, kept equal by script, and one scope: basic mitigation (prices and energy use equations), power, remaining mitigation and distribution, built in Excel-AI-CPAT (1a) and Python (1b) together. The Shiny app (1c) is the online dashboard for the coded version. Not included: other mitigation (GDP, IMF transport mitigation); co-benefits (transport, air pollution); integration of mitigation code with air pollution code. GHG accounting and crediting are in Objective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Excel-AI-CPAT also lowers the risk of building a new user interface on an archaic back end. It is not meant to replace legacy CPAT yet; that is for later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Joint working with AI: rather than passing around long context, we keep small generative files and concise scripts. Anyone, with any AI tool, can regenerate the Excel, the code and the documentation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other issues should we plan for? These points come from discussion with Dirk.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FY27 master plan (Excel). Planning and Egypt work this week; the Excel-AI-CPAT MVP for basic mitigation in the week of 5 Oct (committed for 23 Oct, the end of the week of 19 Oct); the handover packs for the Excise Diagnostic and the dashboard, to Dirk on 16 Oct and 23 Oct; vacation 26–30 Oct. Power (two weeks), remaining mitigation (two weeks) and distribution (one week, already 80% complete) are built in Excel-AI-CPAT and Python together: the final Excel-AI-CPAT on 4 Dec, then a week of Python testing for the final Coded-Conversion on 11 Dec, before the Christmas leave from 14 Dec. Zoe’s FTT project completes at the end of November (27 Nov); she is not part of the 2027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coded engine feeds the CPAT–SiSePuede pathways tool (2c) and sits on the single Python platform with the existing models (2b). Excel-AI-CPAT goes to the WB–IMF process, the GHG accounting, policy crediting and FFI tool (2a) and cross-checking. The next three slides take the applications in code order: 2a, 2b, 2c.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GitHub Copilot building and checking code, then the two Excel-AI-CPAT MVPs, prices and 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Deliverable 2 has three applications, in this order. 2c, January: coded CPAT goes into the CPM (formerly SiSePuede) country pathways tool with David Groves (CPAT, CPM, MANAGE and MINDSET in one country policy analysis tool); pathways integration 4–8 Jan, supervising the CPM team, and pilot country projects 11–15 Jan, starting with Egypt; the pathways tool is complete by 15 Jan (2c_m1). The first phase, to July 2026, reconciled assumptions and outputs, mapped variables, ran coded CPAT in full on the SiSePuede side and partly brought in prices and policies. 2b, 8–12 Feb: CPAT, MFMod-Python (tbc) and FTT made easy to use on one platform, with one user guide and FTT data aligned to CPAT countries; no further model development or full merging (2b_m2, 12 Feb). Zoe’s FTT project completes 27 Nov (2b_m1). 2a, 15 Feb–5 Mar: the GHG accounting MVP in Excel-AI-CPAT with the Total Carbon Price, then its application to crediting and FFI; a simple tool only, delivered 5 Mar (2a_m1).</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AI-built dashboard MVP (delivered 25 September), with a full data audit trail. Its handover pack is built in the week of 19 October and it goes to Dirk as it stands on 23 October. The screenshot shows the MVP; the dashboard now covers 53 indicators for 217 countries in nine blocks (see the dashboard user guide, 30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show how we use AI to build climate fiscal tools, agree the plan to March (three deliverables and their timelines) and who does what, then demo the tools. Context: we are updating the Excel user interface; much of the coded conversion is done but not complete; CPAT holds all country data, which we slice, and is hard to maintain, with core equations hard to change and possible bugs. AI is here, and we want to see how we can use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work plan v2.5 and the master Excel. 125 days, no buffer: Objective One 50 days (Excel-AI-CPAT 20, Python 15, Shiny app 15), Objective Two 35 (2a 15, 2b 5, 2c 15), Objective Three 40 (25 already spent). Funding: TF-CSF-LTS 70, TF-TCAF-Crediting 15 (charge code to be confirmed), TF-GTP-NONSECO 20, TF-GTP-SECO 20; Energy GP cross-support (3c, tbc) is not funded. The April items (ETS pilot, downstream industrial pricing, CPAT working paper) are not in the FY27 plan: confirm whether they are done, handed over or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12800" y="1688405"/>
            <a:ext cx="10566400" cy="248841"/>
          </a:xfrm>
          <a:prstGeom prst="rect">
            <a:avLst/>
          </a:prstGeom>
          <a:noFill/>
          <a:ln/>
        </p:spPr>
        <p:txBody>
          <a:bodyPr wrap="square" lIns="0" tIns="0" rIns="0" bIns="0" rtlCol="0" anchor="t"/>
          <a:lstStyle/>
          <a:p>
            <a:pPr algn="l" indent="0" marL="0">
              <a:lnSpc>
                <a:spcPct val="140000"/>
              </a:lnSpc>
              <a:buNone/>
            </a:pPr>
            <a:r>
              <a:rPr lang="en-US" sz="1400" spc="200" kern="0" dirty="0">
                <a:solidFill>
                  <a:srgbClr val="E3A36B"/>
                </a:solidFill>
                <a:latin typeface="Calibri" pitchFamily="34" charset="0"/>
                <a:ea typeface="Calibri" pitchFamily="34" charset="-122"/>
                <a:cs typeface="Calibri" pitchFamily="34" charset="-120"/>
              </a:rPr>
              <a:t>FOR DISCUSSION · SEPTEMBER 2026</a:t>
            </a:r>
            <a:endParaRPr lang="en-US" sz="1400" dirty="0"/>
          </a:p>
        </p:txBody>
      </p:sp>
      <p:sp>
        <p:nvSpPr>
          <p:cNvPr id="3" name="Text 1"/>
          <p:cNvSpPr txBox="1"/>
          <p:nvPr/>
        </p:nvSpPr>
        <p:spPr>
          <a:xfrm>
            <a:off x="812800" y="2191246"/>
            <a:ext cx="9810750" cy="1426369"/>
          </a:xfrm>
          <a:prstGeom prst="rect">
            <a:avLst/>
          </a:prstGeom>
          <a:noFill/>
          <a:ln/>
        </p:spPr>
        <p:txBody>
          <a:bodyPr wrap="square" lIns="0" tIns="0" rIns="0" bIns="0" rtlCol="0" anchor="t"/>
          <a:lstStyle/>
          <a:p>
            <a:pPr algn="l" indent="0" marL="0">
              <a:lnSpc>
                <a:spcPct val="108000"/>
              </a:lnSpc>
              <a:buNone/>
            </a:pPr>
            <a:r>
              <a:rPr lang="en-US" sz="5200" b="1" dirty="0">
                <a:solidFill>
                  <a:srgbClr val="F7F6F1"/>
                </a:solidFill>
                <a:latin typeface="Cambria" pitchFamily="34" charset="0"/>
                <a:ea typeface="Cambria" pitchFamily="34" charset="-122"/>
                <a:cs typeface="Cambria" pitchFamily="34" charset="-120"/>
              </a:rPr>
              <a:t>Use of AI in developing climate fiscal tools</a:t>
            </a:r>
            <a:endParaRPr lang="en-US" sz="5200" dirty="0"/>
          </a:p>
        </p:txBody>
      </p:sp>
      <p:sp>
        <p:nvSpPr>
          <p:cNvPr id="4" name="Text 2"/>
          <p:cNvSpPr txBox="1"/>
          <p:nvPr/>
        </p:nvSpPr>
        <p:spPr>
          <a:xfrm>
            <a:off x="812800" y="3871615"/>
            <a:ext cx="10570464" cy="685800"/>
          </a:xfrm>
          <a:prstGeom prst="rect">
            <a:avLst/>
          </a:prstGeom>
          <a:noFill/>
          <a:ln/>
        </p:spPr>
        <p:txBody>
          <a:bodyPr wrap="square" lIns="0" tIns="0" rIns="0" bIns="0" rtlCol="0" anchor="t"/>
          <a:lstStyle/>
          <a:p>
            <a:pPr algn="l" indent="0" marL="0">
              <a:lnSpc>
                <a:spcPct val="135000"/>
              </a:lnSpc>
              <a:buNone/>
            </a:pPr>
            <a:r>
              <a:rPr lang="en-US" sz="2000" dirty="0">
                <a:solidFill>
                  <a:srgbClr val="C9D3E0"/>
                </a:solidFill>
                <a:latin typeface="Calibri" pitchFamily="34" charset="0"/>
                <a:ea typeface="Calibri" pitchFamily="34" charset="-122"/>
                <a:cs typeface="Calibri" pitchFamily="34" charset="-120"/>
              </a:rPr>
              <a:t>Coded CPAT, Excel-AI-CPAT, the Tax and Macro-Fiscal Dashboard and the Excise Diagnostic</a:t>
            </a:r>
            <a:endParaRPr lang="en-US" sz="2000" dirty="0"/>
          </a:p>
        </p:txBody>
      </p:sp>
      <p:sp>
        <p:nvSpPr>
          <p:cNvPr id="11" name="Text 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9AA8BC"/>
                </a:solidFill>
                <a:latin typeface="Calibri" pitchFamily="34" charset="0"/>
                <a:ea typeface="Calibri" pitchFamily="34" charset="-122"/>
                <a:cs typeface="Calibri" pitchFamily="34" charset="-120"/>
              </a:rPr>
              <a:t>Stephen Stretton · World Bank</a:t>
            </a:r>
            <a:endParaRPr lang="en-US" sz="1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6F1"/>
        </a:solidFill>
      </p:bgPr>
    </p:bg>
    <p:spTree>
      <p:nvGrpSpPr>
        <p:cNvPr id="1" name=""/>
        <p:cNvGrpSpPr/>
        <p:nvPr/>
      </p:nvGrpSpPr>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PURPOSE AND CONTEXT</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CPAT is hard to change, and AI is here</a:t>
            </a:r>
            <a:endParaRPr lang="en-US" sz="3200" dirty="0"/>
          </a:p>
        </p:txBody>
      </p:sp>
      <p:sp>
        <p:nvSpPr>
          <p:cNvPr id="4" name="Shape 2"/>
          <p:cNvSpPr/>
          <p:nvPr/>
        </p:nvSpPr>
        <p:spPr>
          <a:xfrm>
            <a:off x="812800" y="3456432"/>
            <a:ext cx="10570464" cy="1847088"/>
          </a:xfrm>
          <a:prstGeom prst="roundRect">
            <a:avLst>
              <a:gd name="adj" fmla="val 2621"/>
            </a:avLst>
          </a:prstGeom>
          <a:solidFill>
            <a:srgbClr val="FFFFFF"/>
          </a:solidFill>
          <a:ln/>
        </p:spPr>
        <p:txBody>
          <a:bodyPr/>
          <a:p/>
        </p:txBody>
      </p:sp>
      <p:sp>
        <p:nvSpPr>
          <p:cNvPr id="5" name="Shape 3"/>
          <p:cNvSpPr/>
          <p:nvPr/>
        </p:nvSpPr>
        <p:spPr>
          <a:xfrm>
            <a:off x="812800" y="3456432"/>
            <a:ext cx="10570464" cy="38100"/>
          </a:xfrm>
          <a:prstGeom prst="rect">
            <a:avLst/>
          </a:prstGeom>
          <a:solidFill>
            <a:srgbClr val="14213D"/>
          </a:solidFill>
          <a:ln/>
        </p:spPr>
        <p:txBody>
          <a:bodyPr/>
          <a:p/>
        </p:txBody>
      </p:sp>
      <p:sp>
        <p:nvSpPr>
          <p:cNvPr id="6" name="Text 4"/>
          <p:cNvSpPr txBox="1"/>
          <p:nvPr/>
        </p:nvSpPr>
        <p:spPr>
          <a:xfrm>
            <a:off x="1088136" y="4069080"/>
            <a:ext cx="3154680" cy="237744"/>
          </a:xfrm>
          <a:prstGeom prst="rect">
            <a:avLst/>
          </a:prstGeom>
          <a:noFill/>
          <a:ln/>
        </p:spPr>
        <p:txBody>
          <a:bodyPr wrap="square" lIns="0" tIns="0" rIns="0" bIns="0" rtlCol="0" anchor="t"/>
          <a:lstStyle/>
          <a:p>
            <a:pPr algn="l" indent="0" marL="0">
              <a:lnSpc>
                <a:spcPct val="120000"/>
              </a:lnSpc>
              <a:buNone/>
            </a:pPr>
            <a:r>
              <a:rPr lang="en-US" sz="1400" b="1" dirty="0">
                <a:solidFill>
                  <a:srgbClr val="14213D"/>
                </a:solidFill>
                <a:latin typeface="Calibri" pitchFamily="34" charset="0"/>
                <a:ea typeface="Calibri" pitchFamily="34" charset="-122"/>
                <a:cs typeface="Calibri" pitchFamily="34" charset="-120"/>
              </a:rPr>
              <a:t>A new Excel interface</a:t>
            </a:r>
            <a:endParaRPr lang="en-US" sz="1400" dirty="0"/>
          </a:p>
        </p:txBody>
      </p:sp>
      <p:sp>
        <p:nvSpPr>
          <p:cNvPr id="7" name="Text 5"/>
          <p:cNvSpPr txBox="1"/>
          <p:nvPr/>
        </p:nvSpPr>
        <p:spPr>
          <a:xfrm>
            <a:off x="1088136" y="4352544"/>
            <a:ext cx="3154680" cy="868680"/>
          </a:xfrm>
          <a:prstGeom prst="rect">
            <a:avLst/>
          </a:prstGeom>
          <a:noFill/>
          <a:ln/>
        </p:spPr>
        <p:txBody>
          <a:bodyPr wrap="square" lIns="0" tIns="0" rIns="0" bIns="0" rtlCol="0" anchor="t"/>
          <a:lstStyle/>
          <a:p>
            <a:pPr algn="l" indent="0" marL="0">
              <a:lnSpc>
                <a:spcPct val="120000"/>
              </a:lnSpc>
              <a:buNone/>
            </a:pPr>
            <a:r>
              <a:rPr lang="en-US" sz="1400" dirty="0">
                <a:solidFill>
                  <a:srgbClr val="3F4A5A"/>
                </a:solidFill>
                <a:latin typeface="Calibri" pitchFamily="34" charset="0"/>
                <a:ea typeface="Calibri" pitchFamily="34" charset="-122"/>
                <a:cs typeface="Calibri" pitchFamily="34" charset="-120"/>
              </a:rPr>
              <a:t>We are updating the Excel user interface: the new WB–IMF interface needs a clean engine behind it.</a:t>
            </a:r>
            <a:endParaRPr lang="en-US" sz="1400" dirty="0"/>
          </a:p>
        </p:txBody>
      </p:sp>
      <p:sp>
        <p:nvSpPr>
          <p:cNvPr id="10" name="Text 8"/>
          <p:cNvSpPr txBox="1"/>
          <p:nvPr/>
        </p:nvSpPr>
        <p:spPr>
          <a:xfrm>
            <a:off x="4517136" y="4069080"/>
            <a:ext cx="3154680" cy="237744"/>
          </a:xfrm>
          <a:prstGeom prst="rect">
            <a:avLst/>
          </a:prstGeom>
          <a:noFill/>
          <a:ln/>
        </p:spPr>
        <p:txBody>
          <a:bodyPr wrap="square" lIns="0" tIns="0" rIns="0" bIns="0" rtlCol="0" anchor="t"/>
          <a:lstStyle/>
          <a:p>
            <a:pPr algn="l" indent="0" marL="0">
              <a:lnSpc>
                <a:spcPct val="120000"/>
              </a:lnSpc>
              <a:buNone/>
            </a:pPr>
            <a:r>
              <a:rPr lang="en-US" sz="1400" b="1" dirty="0">
                <a:solidFill>
                  <a:srgbClr val="14213D"/>
                </a:solidFill>
                <a:latin typeface="Calibri" pitchFamily="34" charset="0"/>
                <a:ea typeface="Calibri" pitchFamily="34" charset="-122"/>
                <a:cs typeface="Calibri" pitchFamily="34" charset="-120"/>
              </a:rPr>
              <a:t>The coded conversion</a:t>
            </a:r>
            <a:endParaRPr lang="en-US" sz="1400" dirty="0"/>
          </a:p>
        </p:txBody>
      </p:sp>
      <p:sp>
        <p:nvSpPr>
          <p:cNvPr id="11" name="Text 9"/>
          <p:cNvSpPr txBox="1"/>
          <p:nvPr/>
        </p:nvSpPr>
        <p:spPr>
          <a:xfrm>
            <a:off x="4517136" y="4352544"/>
            <a:ext cx="3154680" cy="868680"/>
          </a:xfrm>
          <a:prstGeom prst="rect">
            <a:avLst/>
          </a:prstGeom>
          <a:noFill/>
          <a:ln/>
        </p:spPr>
        <p:txBody>
          <a:bodyPr wrap="square" lIns="0" tIns="0" rIns="0" bIns="0" rtlCol="0" anchor="t"/>
          <a:lstStyle/>
          <a:p>
            <a:pPr algn="l" indent="0" marL="0">
              <a:lnSpc>
                <a:spcPct val="120000"/>
              </a:lnSpc>
              <a:buNone/>
            </a:pPr>
            <a:r>
              <a:rPr lang="en-US" sz="1400" dirty="0">
                <a:solidFill>
                  <a:srgbClr val="3F4A5A"/>
                </a:solidFill>
                <a:latin typeface="Calibri" pitchFamily="34" charset="0"/>
                <a:ea typeface="Calibri" pitchFamily="34" charset="-122"/>
                <a:cs typeface="Calibri" pitchFamily="34" charset="-120"/>
              </a:rPr>
              <a:t>A lot of work done on the coded conversion (Coded-Conversion), but it is not yet complete.</a:t>
            </a:r>
            <a:endParaRPr lang="en-US" sz="1400" dirty="0"/>
          </a:p>
        </p:txBody>
      </p:sp>
      <p:sp>
        <p:nvSpPr>
          <p:cNvPr id="14" name="Text 12"/>
          <p:cNvSpPr txBox="1"/>
          <p:nvPr/>
        </p:nvSpPr>
        <p:spPr>
          <a:xfrm>
            <a:off x="7946136" y="4069080"/>
            <a:ext cx="3154680" cy="237744"/>
          </a:xfrm>
          <a:prstGeom prst="rect">
            <a:avLst/>
          </a:prstGeom>
          <a:noFill/>
          <a:ln/>
        </p:spPr>
        <p:txBody>
          <a:bodyPr wrap="square" lIns="0" tIns="0" rIns="0" bIns="0" rtlCol="0" anchor="t"/>
          <a:lstStyle/>
          <a:p>
            <a:pPr algn="l" indent="0" marL="0">
              <a:lnSpc>
                <a:spcPct val="120000"/>
              </a:lnSpc>
              <a:buNone/>
            </a:pPr>
            <a:r>
              <a:rPr lang="en-US" sz="1400" b="1" dirty="0">
                <a:solidFill>
                  <a:srgbClr val="14213D"/>
                </a:solidFill>
                <a:latin typeface="Calibri" pitchFamily="34" charset="0"/>
                <a:ea typeface="Calibri" pitchFamily="34" charset="-122"/>
                <a:cs typeface="Calibri" pitchFamily="34" charset="-120"/>
              </a:rPr>
              <a:t>CPAT today</a:t>
            </a:r>
            <a:endParaRPr lang="en-US" sz="1400" dirty="0"/>
          </a:p>
        </p:txBody>
      </p:sp>
      <p:sp>
        <p:nvSpPr>
          <p:cNvPr id="15" name="Text 13"/>
          <p:cNvSpPr txBox="1"/>
          <p:nvPr/>
        </p:nvSpPr>
        <p:spPr>
          <a:xfrm>
            <a:off x="7946136" y="4352544"/>
            <a:ext cx="3154680" cy="868680"/>
          </a:xfrm>
          <a:prstGeom prst="rect">
            <a:avLst/>
          </a:prstGeom>
          <a:noFill/>
          <a:ln/>
        </p:spPr>
        <p:txBody>
          <a:bodyPr wrap="square" lIns="0" tIns="0" rIns="0" bIns="0" rtlCol="0" anchor="t"/>
          <a:lstStyle/>
          <a:p>
            <a:pPr algn="l" indent="0" marL="0">
              <a:lnSpc>
                <a:spcPct val="120000"/>
              </a:lnSpc>
              <a:buNone/>
            </a:pPr>
            <a:r>
              <a:rPr lang="en-US" sz="1400" dirty="0">
                <a:solidFill>
                  <a:srgbClr val="3F4A5A"/>
                </a:solidFill>
                <a:latin typeface="Calibri" pitchFamily="34" charset="0"/>
                <a:ea typeface="Calibri" pitchFamily="34" charset="-122"/>
                <a:cs typeface="Calibri" pitchFamily="34" charset="-120"/>
              </a:rPr>
              <a:t>Holds all country data (we slice it); hard to maintain and to change core equations; there could be bugs.</a:t>
            </a:r>
            <a:endParaRPr lang="en-US" sz="1400" dirty="0"/>
          </a:p>
        </p:txBody>
      </p:sp>
      <p:sp>
        <p:nvSpPr>
          <p:cNvPr id="346" name="P1 Shape 7"/>
          <p:cNvSpPr/>
          <p:nvPr/>
        </p:nvSpPr>
        <p:spPr>
          <a:xfrm>
            <a:off x="812800" y="1828800"/>
            <a:ext cx="10566400" cy="1463040"/>
          </a:xfrm>
          <a:prstGeom prst="roundRect">
            <a:avLst>
              <a:gd name="adj" fmla="val 2901"/>
            </a:avLst>
          </a:prstGeom>
          <a:solidFill>
            <a:srgbClr val="FFFFFF"/>
          </a:solidFill>
          <a:ln/>
        </p:spPr>
        <p:txBody>
          <a:bodyPr/>
          <a:p/>
        </p:txBody>
      </p:sp>
      <p:sp>
        <p:nvSpPr>
          <p:cNvPr id="347" name="P1 Shape 8"/>
          <p:cNvSpPr/>
          <p:nvPr/>
        </p:nvSpPr>
        <p:spPr>
          <a:xfrm>
            <a:off x="812800" y="1828800"/>
            <a:ext cx="10566400" cy="38100"/>
          </a:xfrm>
          <a:prstGeom prst="rect">
            <a:avLst/>
          </a:prstGeom>
          <a:solidFill>
            <a:srgbClr val="14213D"/>
          </a:solidFill>
          <a:ln/>
        </p:spPr>
        <p:txBody>
          <a:bodyPr/>
          <a:p/>
        </p:txBody>
      </p:sp>
      <p:sp>
        <p:nvSpPr>
          <p:cNvPr id="348" name="P1 Text 9"/>
          <p:cNvSpPr txBox="1"/>
          <p:nvPr/>
        </p:nvSpPr>
        <p:spPr>
          <a:xfrm>
            <a:off x="1088136" y="2048256"/>
            <a:ext cx="10003536" cy="27432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Purpose</a:t>
            </a:r>
            <a:endParaRPr lang="en-US" sz="1700" dirty="0"/>
          </a:p>
        </p:txBody>
      </p:sp>
      <p:sp>
        <p:nvSpPr>
          <p:cNvPr id="354" name="Context heading"/>
          <p:cNvSpPr txBox="1"/>
          <p:nvPr/>
        </p:nvSpPr>
        <p:spPr>
          <a:xfrm>
            <a:off x="1088136" y="3675887"/>
            <a:ext cx="10003536" cy="27432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Context</a:t>
            </a:r>
            <a:endParaRPr lang="en-US" sz="1700" dirty="0"/>
          </a:p>
        </p:txBody>
      </p:sp>
      <p:sp>
        <p:nvSpPr>
          <p:cNvPr id="349" name="P1 Text 10"/>
          <p:cNvSpPr txBox="1"/>
          <p:nvPr/>
        </p:nvSpPr>
        <p:spPr>
          <a:xfrm>
            <a:off x="1088136" y="2450592"/>
            <a:ext cx="10008000" cy="256032"/>
          </a:xfrm>
          <a:prstGeom prst="rect">
            <a:avLst/>
          </a:prstGeom>
          <a:noFill/>
          <a:ln/>
        </p:spPr>
        <p:txBody>
          <a:bodyPr wrap="square" lIns="0" tIns="0" rIns="0" bIns="0" rtlCol="0" anchor="t"/>
          <a:lstStyle/>
          <a:p>
            <a:pPr algn="l" marL="189865" indent="-189865">
              <a:lnSpc>
                <a:spcPct val="120000"/>
              </a:lnSpc>
              <a:buSzPct val="100000"/>
              <a:buChar char="•"/>
            </a:pPr>
            <a:r>
              <a:rPr lang="en-US" sz="1400" dirty="0">
                <a:solidFill>
                  <a:srgbClr val="3F4A5A"/>
                </a:solidFill>
                <a:latin typeface="Calibri" pitchFamily="34" charset="0"/>
                <a:ea typeface="Calibri" pitchFamily="34" charset="-122"/>
                <a:cs typeface="Calibri" pitchFamily="34" charset="-120"/>
              </a:rPr>
              <a:t>Show how we use AI to build climate fiscal tools</a:t>
            </a:r>
            <a:endParaRPr lang="en-US" sz="1400" dirty="0"/>
          </a:p>
        </p:txBody>
      </p:sp>
      <p:sp>
        <p:nvSpPr>
          <p:cNvPr id="350" name="P1 Text 11"/>
          <p:cNvSpPr txBox="1"/>
          <p:nvPr/>
        </p:nvSpPr>
        <p:spPr>
          <a:xfrm>
            <a:off x="1088136" y="2724912"/>
            <a:ext cx="10008000" cy="256032"/>
          </a:xfrm>
          <a:prstGeom prst="rect">
            <a:avLst/>
          </a:prstGeom>
          <a:noFill/>
          <a:ln/>
        </p:spPr>
        <p:txBody>
          <a:bodyPr wrap="square" lIns="0" tIns="0" rIns="0" bIns="0" rtlCol="0" anchor="t"/>
          <a:lstStyle/>
          <a:p>
            <a:pPr algn="l" marL="189865" indent="-189865">
              <a:lnSpc>
                <a:spcPct val="120000"/>
              </a:lnSpc>
              <a:buSzPct val="100000"/>
              <a:buChar char="•"/>
            </a:pPr>
            <a:r>
              <a:rPr lang="en-US" sz="1400" dirty="0">
                <a:solidFill>
                  <a:srgbClr val="3F4A5A"/>
                </a:solidFill>
                <a:latin typeface="Calibri" pitchFamily="34" charset="0"/>
                <a:ea typeface="Calibri" pitchFamily="34" charset="-122"/>
                <a:cs typeface="Calibri" pitchFamily="34" charset="-120"/>
              </a:rPr>
              <a:t>Agree the plan to March: three deliverables and their timelines</a:t>
            </a:r>
            <a:endParaRPr lang="en-US" sz="1400" dirty="0"/>
          </a:p>
        </p:txBody>
      </p:sp>
      <p:sp>
        <p:nvSpPr>
          <p:cNvPr id="351" name="P1 Text 12"/>
          <p:cNvSpPr txBox="1"/>
          <p:nvPr/>
        </p:nvSpPr>
        <p:spPr>
          <a:xfrm>
            <a:off x="1088136" y="2999232"/>
            <a:ext cx="10008000" cy="256032"/>
          </a:xfrm>
          <a:prstGeom prst="rect">
            <a:avLst/>
          </a:prstGeom>
          <a:noFill/>
          <a:ln/>
        </p:spPr>
        <p:txBody>
          <a:bodyPr wrap="square" lIns="0" tIns="0" rIns="0" bIns="0" rtlCol="0" anchor="t"/>
          <a:lstStyle/>
          <a:p>
            <a:pPr algn="l" marL="189865" indent="-189865">
              <a:lnSpc>
                <a:spcPct val="120000"/>
              </a:lnSpc>
              <a:buSzPct val="100000"/>
              <a:buChar char="•"/>
            </a:pPr>
            <a:r>
              <a:rPr lang="en-US" sz="1400" dirty="0">
                <a:solidFill>
                  <a:srgbClr val="3F4A5A"/>
                </a:solidFill>
                <a:latin typeface="Calibri" pitchFamily="34" charset="0"/>
                <a:ea typeface="Calibri" pitchFamily="34" charset="-122"/>
                <a:cs typeface="Calibri" pitchFamily="34" charset="-120"/>
              </a:rPr>
              <a:t>Agree who does what, then demo the tools</a:t>
            </a:r>
            <a:endParaRPr lang="en-US" sz="1400" dirty="0"/>
          </a:p>
        </p:txBody>
      </p:sp>
      <p:sp>
        <p:nvSpPr>
          <p:cNvPr id="352" name="P1 Shape 13"/>
          <p:cNvSpPr/>
          <p:nvPr/>
        </p:nvSpPr>
        <p:spPr>
          <a:xfrm>
            <a:off x="812800" y="5468112"/>
            <a:ext cx="10566400" cy="502920"/>
          </a:xfrm>
          <a:prstGeom prst="roundRect">
            <a:avLst>
              <a:gd name="adj" fmla="val 8889"/>
            </a:avLst>
          </a:prstGeom>
          <a:solidFill>
            <a:srgbClr val="14213D"/>
          </a:solidFill>
          <a:ln/>
        </p:spPr>
        <p:txBody>
          <a:bodyPr/>
          <a:p/>
        </p:txBody>
      </p:sp>
      <p:sp>
        <p:nvSpPr>
          <p:cNvPr id="353" name="P1 Text 14"/>
          <p:cNvSpPr txBox="1"/>
          <p:nvPr/>
        </p:nvSpPr>
        <p:spPr>
          <a:xfrm>
            <a:off x="812800" y="5468112"/>
            <a:ext cx="10566400" cy="502920"/>
          </a:xfrm>
          <a:prstGeom prst="rect">
            <a:avLst/>
          </a:prstGeom>
          <a:noFill/>
          <a:ln/>
        </p:spPr>
        <p:txBody>
          <a:bodyPr wrap="square" lIns="228600" tIns="152400" rIns="228600" bIns="152400" rtlCol="0" anchor="ctr"/>
          <a:lstStyle/>
          <a:p>
            <a:pPr algn="l" indent="0" marL="0">
              <a:lnSpc>
                <a:spcPct val="140000"/>
              </a:lnSpc>
              <a:buNone/>
            </a:pPr>
            <a:r>
              <a:rPr lang="en-US" sz="1500" b="1" dirty="0">
                <a:solidFill>
                  <a:srgbClr val="F7F6F1"/>
                </a:solidFill>
                <a:latin typeface="Calibri" pitchFamily="34" charset="0"/>
                <a:ea typeface="Calibri" pitchFamily="34" charset="-122"/>
                <a:cs typeface="Calibri" pitchFamily="34" charset="-120"/>
              </a:rPr>
              <a:t>So:</a:t>
            </a:r>
            <a:pPr algn="l" indent="0" marL="0">
              <a:lnSpc>
                <a:spcPct val="140000"/>
              </a:lnSpc>
              <a:buNone/>
            </a:pPr>
            <a:r>
              <a:rPr lang="en-US" sz="1500" dirty="0">
                <a:solidFill>
                  <a:srgbClr val="F7F6F1"/>
                </a:solidFill>
                <a:latin typeface="Calibri" pitchFamily="34" charset="0"/>
                <a:ea typeface="Calibri" pitchFamily="34" charset="-122"/>
                <a:cs typeface="Calibri" pitchFamily="34" charset="-120"/>
              </a:rPr>
              <a:t> AI is here: we want to see how we can use it.</a:t>
            </a:r>
            <a:endParaRPr lang="en-US" sz="1500" dirty="0"/>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Contents</a:t>
            </a:r>
            <a:endParaRPr lang="en-US" sz="3200" dirty="0"/>
          </a:p>
        </p:txBody>
      </p:sp>
      <p:sp>
        <p:nvSpPr>
          <p:cNvPr id="3" name="Text 1"/>
          <p:cNvSpPr txBox="1"/>
          <p:nvPr/>
        </p:nvSpPr>
        <p:spPr>
          <a:xfrm>
            <a:off x="812800" y="1381720"/>
            <a:ext cx="9810750" cy="51554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An overview, three deliverables, then timelines, who does what and a demo.</a:t>
            </a:r>
            <a:endParaRPr lang="en-US" sz="1400" dirty="0"/>
          </a:p>
        </p:txBody>
      </p:sp>
      <p:sp>
        <p:nvSpPr>
          <p:cNvPr id="4" name="Shape 2"/>
          <p:cNvSpPr/>
          <p:nvPr/>
        </p:nvSpPr>
        <p:spPr>
          <a:xfrm>
            <a:off x="812901" y="2151261"/>
            <a:ext cx="1965960" cy="38100"/>
          </a:xfrm>
          <a:prstGeom prst="rect">
            <a:avLst/>
          </a:prstGeom>
          <a:solidFill>
            <a:srgbClr val="7A8494"/>
          </a:solidFill>
          <a:ln/>
        </p:spPr>
        <p:txBody>
          <a:bodyPr/>
          <a:p/>
        </p:txBody>
      </p:sp>
      <p:sp>
        <p:nvSpPr>
          <p:cNvPr id="5" name="Text 3"/>
          <p:cNvSpPr txBox="1"/>
          <p:nvPr/>
        </p:nvSpPr>
        <p:spPr>
          <a:xfrm>
            <a:off x="812901" y="2341761"/>
            <a:ext cx="1965960" cy="213320"/>
          </a:xfrm>
          <a:prstGeom prst="rect">
            <a:avLst/>
          </a:prstGeom>
          <a:noFill/>
          <a:ln/>
        </p:spPr>
        <p:txBody>
          <a:bodyPr wrap="square" lIns="0" tIns="0" rIns="0" bIns="0" rtlCol="0" anchor="t"/>
          <a:lstStyle/>
          <a:p>
            <a:pPr algn="l" indent="0" marL="0">
              <a:lnSpc>
                <a:spcPct val="140000"/>
              </a:lnSpc>
              <a:buNone/>
            </a:pPr>
            <a:r>
              <a:rPr lang="en-US" sz="1000" b="1" spc="60" kern="0" dirty="0">
                <a:solidFill>
                  <a:srgbClr val="5B6573"/>
                </a:solidFill>
                <a:latin typeface="Calibri" pitchFamily="34" charset="0"/>
                <a:ea typeface="Calibri" pitchFamily="34" charset="-122"/>
                <a:cs typeface="Calibri" pitchFamily="34" charset="-120"/>
              </a:rPr>
              <a:t>PART 0 · SLIDES 5–7</a:t>
            </a:r>
            <a:endParaRPr lang="en-US" sz="1200" dirty="0"/>
          </a:p>
        </p:txBody>
      </p:sp>
      <p:sp>
        <p:nvSpPr>
          <p:cNvPr id="6" name="Text 4"/>
          <p:cNvSpPr txBox="1"/>
          <p:nvPr/>
        </p:nvSpPr>
        <p:spPr>
          <a:xfrm>
            <a:off x="812901" y="2643981"/>
            <a:ext cx="1965960"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Overview</a:t>
            </a:r>
            <a:endParaRPr lang="en-US" sz="1600" dirty="0"/>
          </a:p>
        </p:txBody>
      </p:sp>
      <p:sp>
        <p:nvSpPr>
          <p:cNvPr id="10" name="Shape 8"/>
          <p:cNvSpPr/>
          <p:nvPr/>
        </p:nvSpPr>
        <p:spPr>
          <a:xfrm>
            <a:off x="2961741" y="2151261"/>
            <a:ext cx="1965960" cy="38100"/>
          </a:xfrm>
          <a:prstGeom prst="rect">
            <a:avLst/>
          </a:prstGeom>
          <a:solidFill>
            <a:srgbClr val="A8521A"/>
          </a:solidFill>
          <a:ln/>
        </p:spPr>
        <p:txBody>
          <a:bodyPr/>
          <a:p/>
        </p:txBody>
      </p:sp>
      <p:sp>
        <p:nvSpPr>
          <p:cNvPr id="11" name="Text 9"/>
          <p:cNvSpPr txBox="1"/>
          <p:nvPr/>
        </p:nvSpPr>
        <p:spPr>
          <a:xfrm>
            <a:off x="2961741" y="2341761"/>
            <a:ext cx="1965960" cy="213320"/>
          </a:xfrm>
          <a:prstGeom prst="rect">
            <a:avLst/>
          </a:prstGeom>
          <a:noFill/>
          <a:ln/>
        </p:spPr>
        <p:txBody>
          <a:bodyPr wrap="square" lIns="0" tIns="0" rIns="0" bIns="0" rtlCol="0" anchor="t"/>
          <a:lstStyle/>
          <a:p>
            <a:pPr algn="l" indent="0" marL="0">
              <a:lnSpc>
                <a:spcPct val="140000"/>
              </a:lnSpc>
              <a:buNone/>
            </a:pPr>
            <a:r>
              <a:rPr lang="en-US" sz="1000" b="1" spc="60" kern="0" dirty="0">
                <a:solidFill>
                  <a:srgbClr val="A8521A"/>
                </a:solidFill>
                <a:latin typeface="Calibri" pitchFamily="34" charset="0"/>
                <a:ea typeface="Calibri" pitchFamily="34" charset="-122"/>
                <a:cs typeface="Calibri" pitchFamily="34" charset="-120"/>
              </a:rPr>
              <a:t>DELIVERABLE 1 · SLIDES 9–14</a:t>
            </a:r>
            <a:endParaRPr lang="en-US" sz="1200" dirty="0"/>
          </a:p>
        </p:txBody>
      </p:sp>
      <p:sp>
        <p:nvSpPr>
          <p:cNvPr id="12" name="Text 10"/>
          <p:cNvSpPr txBox="1"/>
          <p:nvPr/>
        </p:nvSpPr>
        <p:spPr>
          <a:xfrm>
            <a:off x="2961741" y="2643981"/>
            <a:ext cx="1965960" cy="48756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Coded CPAT and Excel-AI-CPAT</a:t>
            </a:r>
            <a:endParaRPr lang="en-US" sz="1600" dirty="0"/>
          </a:p>
        </p:txBody>
      </p:sp>
      <p:sp>
        <p:nvSpPr>
          <p:cNvPr id="19" name="Shape 17"/>
          <p:cNvSpPr/>
          <p:nvPr/>
        </p:nvSpPr>
        <p:spPr>
          <a:xfrm>
            <a:off x="7259421" y="2151261"/>
            <a:ext cx="1965960" cy="38100"/>
          </a:xfrm>
          <a:prstGeom prst="rect">
            <a:avLst/>
          </a:prstGeom>
          <a:solidFill>
            <a:srgbClr val="1F5A96"/>
          </a:solidFill>
          <a:ln/>
        </p:spPr>
        <p:txBody>
          <a:bodyPr/>
          <a:p/>
        </p:txBody>
      </p:sp>
      <p:sp>
        <p:nvSpPr>
          <p:cNvPr id="20" name="Text 18"/>
          <p:cNvSpPr txBox="1"/>
          <p:nvPr/>
        </p:nvSpPr>
        <p:spPr>
          <a:xfrm>
            <a:off x="7259421" y="2341761"/>
            <a:ext cx="1965960" cy="213320"/>
          </a:xfrm>
          <a:prstGeom prst="rect">
            <a:avLst/>
          </a:prstGeom>
          <a:noFill/>
          <a:ln/>
        </p:spPr>
        <p:txBody>
          <a:bodyPr wrap="square" lIns="0" tIns="0" rIns="0" bIns="0" rtlCol="0" anchor="t"/>
          <a:lstStyle/>
          <a:p>
            <a:pPr algn="l" indent="0" marL="0">
              <a:lnSpc>
                <a:spcPct val="140000"/>
              </a:lnSpc>
              <a:buNone/>
            </a:pPr>
            <a:r>
              <a:rPr lang="en-US" sz="1000" b="1" spc="60" kern="0" dirty="0">
                <a:solidFill>
                  <a:srgbClr val="1F5A96"/>
                </a:solidFill>
                <a:latin typeface="Calibri" pitchFamily="34" charset="0"/>
                <a:ea typeface="Calibri" pitchFamily="34" charset="-122"/>
                <a:cs typeface="Calibri" pitchFamily="34" charset="-120"/>
              </a:rPr>
              <a:t>DELIVERABLE 3 · SLIDES 19–24</a:t>
            </a:r>
            <a:endParaRPr lang="en-US" sz="1200" dirty="0"/>
          </a:p>
        </p:txBody>
      </p:sp>
      <p:sp>
        <p:nvSpPr>
          <p:cNvPr id="21" name="Text 19"/>
          <p:cNvSpPr txBox="1"/>
          <p:nvPr/>
        </p:nvSpPr>
        <p:spPr>
          <a:xfrm>
            <a:off x="7259421" y="2643981"/>
            <a:ext cx="1965960"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Other AI tools</a:t>
            </a:r>
            <a:endParaRPr lang="en-US" sz="1600" dirty="0"/>
          </a:p>
        </p:txBody>
      </p:sp>
      <p:sp>
        <p:nvSpPr>
          <p:cNvPr id="27" name="Shape 25"/>
          <p:cNvSpPr/>
          <p:nvPr/>
        </p:nvSpPr>
        <p:spPr>
          <a:xfrm>
            <a:off x="9408261" y="2151261"/>
            <a:ext cx="1965960" cy="38100"/>
          </a:xfrm>
          <a:prstGeom prst="rect">
            <a:avLst/>
          </a:prstGeom>
          <a:solidFill>
            <a:srgbClr val="14213D"/>
          </a:solidFill>
          <a:ln/>
        </p:spPr>
        <p:txBody>
          <a:bodyPr/>
          <a:p/>
        </p:txBody>
      </p:sp>
      <p:sp>
        <p:nvSpPr>
          <p:cNvPr id="28" name="Text 26"/>
          <p:cNvSpPr txBox="1"/>
          <p:nvPr/>
        </p:nvSpPr>
        <p:spPr>
          <a:xfrm>
            <a:off x="9408261" y="2341761"/>
            <a:ext cx="1965960" cy="213320"/>
          </a:xfrm>
          <a:prstGeom prst="rect">
            <a:avLst/>
          </a:prstGeom>
          <a:noFill/>
          <a:ln/>
        </p:spPr>
        <p:txBody>
          <a:bodyPr wrap="square" lIns="0" tIns="0" rIns="0" bIns="0" rtlCol="0" anchor="t"/>
          <a:lstStyle/>
          <a:p>
            <a:pPr algn="l" indent="0" marL="0">
              <a:lnSpc>
                <a:spcPct val="140000"/>
              </a:lnSpc>
              <a:buNone/>
            </a:pPr>
            <a:r>
              <a:rPr lang="en-US" sz="1000" b="1" spc="60" kern="0" dirty="0">
                <a:solidFill>
                  <a:srgbClr val="14213D"/>
                </a:solidFill>
                <a:latin typeface="Calibri" pitchFamily="34" charset="0"/>
                <a:ea typeface="Calibri" pitchFamily="34" charset="-122"/>
                <a:cs typeface="Calibri" pitchFamily="34" charset="-120"/>
              </a:rPr>
              <a:t>PART 4 · SLIDES 26–32</a:t>
            </a:r>
            <a:endParaRPr lang="en-US" sz="1200" dirty="0"/>
          </a:p>
        </p:txBody>
      </p:sp>
      <p:sp>
        <p:nvSpPr>
          <p:cNvPr id="29" name="Text 27"/>
          <p:cNvSpPr txBox="1"/>
          <p:nvPr/>
        </p:nvSpPr>
        <p:spPr>
          <a:xfrm>
            <a:off x="9408261" y="2643981"/>
            <a:ext cx="1965960"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Conclusion</a:t>
            </a:r>
            <a:endParaRPr lang="en-US" sz="1600" dirty="0"/>
          </a:p>
        </p:txBody>
      </p:sp>
      <p:sp>
        <p:nvSpPr>
          <p:cNvPr id="459" name="Text 459"/>
          <p:cNvSpPr txBox="1"/>
          <p:nvPr/>
        </p:nvSpPr>
        <p:spPr>
          <a:xfrm>
            <a:off x="812901" y="3250000"/>
            <a:ext cx="1965960" cy="3000000"/>
          </a:xfrm>
          <a:prstGeom prst="rect">
            <a:avLst/>
          </a:prstGeom>
          <a:noFill/>
        </p:spPr>
        <p:txBody>
          <a:bodyPr wrap="square" lIns="0" tIns="0" rIns="0" bIns="0" rtlCol="0" anchor="t">
            <a:noAutofit/>
          </a:bodyPr>
          <a:lstStyle/>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Four products: scope and status</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Later tasks and applications</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How we use AI</a:t>
            </a:r>
          </a:p>
        </p:txBody>
      </p:sp>
      <p:sp>
        <p:nvSpPr>
          <p:cNvPr id="460" name="Text 460"/>
          <p:cNvSpPr txBox="1"/>
          <p:nvPr/>
        </p:nvSpPr>
        <p:spPr>
          <a:xfrm>
            <a:off x="2961741" y="3250000"/>
            <a:ext cx="1965960" cy="3000000"/>
          </a:xfrm>
          <a:prstGeom prst="rect">
            <a:avLst/>
          </a:prstGeom>
          <a:noFill/>
        </p:spPr>
        <p:txBody>
          <a:bodyPr wrap="square" lIns="0" tIns="0" rIns="0" bIns="0" rtlCol="0" anchor="t">
            <a:noAutofit/>
          </a:bodyPr>
          <a:lstStyle/>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The problem</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Two products compared</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Purposes of Excel-AI-CPAT</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Maintainability</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Issues and resolutions</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Status</a:t>
            </a:r>
          </a:p>
        </p:txBody>
      </p:sp>
      <p:sp>
        <p:nvSpPr>
          <p:cNvPr id="461" name="Text 461"/>
          <p:cNvSpPr txBox="1"/>
          <p:nvPr/>
        </p:nvSpPr>
        <p:spPr>
          <a:xfrm>
            <a:off x="7259421" y="3250000"/>
            <a:ext cx="1965960" cy="3000000"/>
          </a:xfrm>
          <a:prstGeom prst="rect">
            <a:avLst/>
          </a:prstGeom>
          <a:noFill/>
        </p:spPr>
        <p:txBody>
          <a:bodyPr wrap="square" lIns="0" tIns="0" rIns="0" bIns="0" rtlCol="0" anchor="t">
            <a:noAutofit/>
          </a:bodyPr>
          <a:lstStyle/>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Excise Diagnostic and Tax and Macro-Fiscal Dashboard</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The dashboard interface</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A new method of tool development</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How you can use these tools</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The Excise Diagnostic: scope, method and an example</a:t>
            </a:r>
          </a:p>
        </p:txBody>
      </p:sp>
      <p:sp>
        <p:nvSpPr>
          <p:cNvPr id="462" name="Text 462"/>
          <p:cNvSpPr txBox="1"/>
          <p:nvPr/>
        </p:nvSpPr>
        <p:spPr>
          <a:xfrm>
            <a:off x="9408261" y="3250000"/>
            <a:ext cx="1965960" cy="3000000"/>
          </a:xfrm>
          <a:prstGeom prst="rect">
            <a:avLst/>
          </a:prstGeom>
          <a:noFill/>
        </p:spPr>
        <p:txBody>
          <a:bodyPr wrap="square" lIns="0" tIns="0" rIns="0" bIns="0" rtlCol="0" anchor="t">
            <a:noAutofit/>
          </a:bodyPr>
          <a:lstStyle/>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Timelines: to December, from January</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Possible division of labor</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What to keep and what to drop</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What do you need to do?</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Summary</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Demo</a:t>
            </a:r>
          </a:p>
        </p:txBody>
      </p:sp>
      <p:sp>
        <p:nvSpPr>
          <p:cNvPr id="32" name="Text 30"/>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3</a:t>
            </a:r>
            <a:endParaRPr lang="en-US" sz="1200" dirty="0"/>
          </a:p>
        </p:txBody>
      </p:sp>
      <p:sp>
        <p:nvSpPr>
          <p:cNvPr id="463" name="Shape 8 D2"/>
          <p:cNvSpPr/>
          <p:nvPr/>
        </p:nvSpPr>
        <p:spPr>
          <a:xfrm>
            <a:off x="5110581" y="2151261"/>
            <a:ext cx="1965960" cy="38100"/>
          </a:xfrm>
          <a:prstGeom prst="rect">
            <a:avLst/>
          </a:prstGeom>
          <a:solidFill>
            <a:srgbClr val="3D7A73"/>
          </a:solidFill>
          <a:ln/>
        </p:spPr>
        <p:txBody>
          <a:bodyPr/>
          <a:p/>
        </p:txBody>
      </p:sp>
      <p:sp>
        <p:nvSpPr>
          <p:cNvPr id="464" name="Text 9 D2"/>
          <p:cNvSpPr txBox="1"/>
          <p:nvPr/>
        </p:nvSpPr>
        <p:spPr>
          <a:xfrm>
            <a:off x="5110581" y="2341761"/>
            <a:ext cx="1965960" cy="213320"/>
          </a:xfrm>
          <a:prstGeom prst="rect">
            <a:avLst/>
          </a:prstGeom>
          <a:noFill/>
          <a:ln/>
        </p:spPr>
        <p:txBody>
          <a:bodyPr wrap="square" lIns="0" tIns="0" rIns="0" bIns="0" rtlCol="0" anchor="t"/>
          <a:lstStyle/>
          <a:p>
            <a:pPr algn="l" indent="0" marL="0">
              <a:lnSpc>
                <a:spcPct val="140000"/>
              </a:lnSpc>
              <a:buNone/>
            </a:pPr>
            <a:r>
              <a:rPr lang="en-US" sz="1000" b="1" spc="60" kern="0" dirty="0">
                <a:solidFill>
                  <a:srgbClr val="3D7A73"/>
                </a:solidFill>
                <a:latin typeface="Calibri" pitchFamily="34" charset="0"/>
                <a:ea typeface="Calibri" pitchFamily="34" charset="-122"/>
                <a:cs typeface="Calibri" pitchFamily="34" charset="-120"/>
              </a:rPr>
              <a:t>DELIVERABLE 2 · SLIDES 16–17</a:t>
            </a:r>
            <a:endParaRPr lang="en-US" sz="1200" dirty="0"/>
          </a:p>
        </p:txBody>
      </p:sp>
      <p:sp>
        <p:nvSpPr>
          <p:cNvPr id="465" name="Text 10 D2"/>
          <p:cNvSpPr txBox="1"/>
          <p:nvPr/>
        </p:nvSpPr>
        <p:spPr>
          <a:xfrm>
            <a:off x="5110581" y="2643981"/>
            <a:ext cx="1965960" cy="48756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Applications</a:t>
            </a:r>
            <a:endParaRPr lang="en-US" sz="1600" dirty="0"/>
          </a:p>
        </p:txBody>
      </p:sp>
      <p:sp>
        <p:nvSpPr>
          <p:cNvPr id="466" name="Text 460 D2"/>
          <p:cNvSpPr txBox="1"/>
          <p:nvPr/>
        </p:nvSpPr>
        <p:spPr>
          <a:xfrm>
            <a:off x="5110581" y="3250000"/>
            <a:ext cx="1965960" cy="3000000"/>
          </a:xfrm>
          <a:prstGeom prst="rect">
            <a:avLst/>
          </a:prstGeom>
          <a:noFill/>
        </p:spPr>
        <p:txBody>
          <a:bodyPr wrap="square" lIns="0" tIns="0" rIns="0" bIns="0" rtlCol="0" anchor="t">
            <a:noAutofit/>
          </a:bodyPr>
          <a:lstStyle/>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Where each form goes</a:t>
            </a:r>
          </a:p>
          <a:p>
            <a:pPr algn="l" marL="171450" indent="-171450">
              <a:lnSpc>
                <a:spcPct val="120000"/>
              </a:lnSpc>
              <a:spcAft>
                <a:spcPts val="100"/>
              </a:spcAft>
              <a:buSzPct val="100000"/>
              <a:buChar char="•"/>
            </a:pPr>
            <a:r>
              <a:rPr lang="en-US" sz="1200" dirty="0">
                <a:solidFill>
                  <a:srgbClr val="3F4A5A"/>
                </a:solidFill>
                <a:latin typeface="Calibri" pitchFamily="34" charset="0"/>
                <a:ea typeface="Calibri" pitchFamily="34" charset="-122"/>
                <a:cs typeface="Calibri" pitchFamily="34" charset="-120"/>
              </a:rPr>
              <a:t>2a, 2b, 2c · The three applications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12800" y="1688405"/>
            <a:ext cx="10566400" cy="248841"/>
          </a:xfrm>
          <a:prstGeom prst="rect">
            <a:avLst/>
          </a:prstGeom>
          <a:noFill/>
          <a:ln/>
        </p:spPr>
        <p:txBody>
          <a:bodyPr wrap="square" lIns="0" tIns="0" rIns="0" bIns="0" rtlCol="0" anchor="t"/>
          <a:lstStyle/>
          <a:p>
            <a:pPr algn="l" indent="0" marL="0">
              <a:lnSpc>
                <a:spcPct val="140000"/>
              </a:lnSpc>
              <a:buNone/>
            </a:pPr>
            <a:r>
              <a:rPr lang="en-US" sz="1400" spc="200" kern="0" dirty="0">
                <a:solidFill>
                  <a:srgbClr val="E3A36B"/>
                </a:solidFill>
                <a:latin typeface="Calibri" pitchFamily="34" charset="0"/>
                <a:ea typeface="Calibri" pitchFamily="34" charset="-122"/>
                <a:cs typeface="Calibri" pitchFamily="34" charset="-120"/>
              </a:rPr>
              <a:t>PART 0 · SLIDES 5–7</a:t>
            </a:r>
            <a:endParaRPr lang="en-US" sz="1400" dirty="0"/>
          </a:p>
        </p:txBody>
      </p:sp>
      <p:sp>
        <p:nvSpPr>
          <p:cNvPr id="3" name="Text 1"/>
          <p:cNvSpPr txBox="1"/>
          <p:nvPr/>
        </p:nvSpPr>
        <p:spPr>
          <a:xfrm>
            <a:off x="812800" y="2191246"/>
            <a:ext cx="9810750" cy="1426369"/>
          </a:xfrm>
          <a:prstGeom prst="rect">
            <a:avLst/>
          </a:prstGeom>
          <a:noFill/>
          <a:ln/>
        </p:spPr>
        <p:txBody>
          <a:bodyPr wrap="square" lIns="0" tIns="0" rIns="0" bIns="0" rtlCol="0" anchor="t"/>
          <a:lstStyle/>
          <a:p>
            <a:pPr algn="l" indent="0" marL="0">
              <a:lnSpc>
                <a:spcPct val="108000"/>
              </a:lnSpc>
              <a:buNone/>
            </a:pPr>
            <a:r>
              <a:rPr lang="en-US" sz="5200" b="1" dirty="0">
                <a:solidFill>
                  <a:srgbClr val="F7F6F1"/>
                </a:solidFill>
                <a:latin typeface="Cambria" pitchFamily="34" charset="0"/>
                <a:ea typeface="Cambria" pitchFamily="34" charset="-122"/>
                <a:cs typeface="Cambria" pitchFamily="34" charset="-120"/>
              </a:rPr>
              <a:t>Overview</a:t>
            </a:r>
            <a:endParaRPr lang="en-US" sz="5200" dirty="0"/>
          </a:p>
        </p:txBody>
      </p:sp>
      <p:sp>
        <p:nvSpPr>
          <p:cNvPr id="4" name="Text 2"/>
          <p:cNvSpPr txBox="1"/>
          <p:nvPr/>
        </p:nvSpPr>
        <p:spPr>
          <a:xfrm>
            <a:off x="812800" y="4200000"/>
            <a:ext cx="9156700" cy="1100000"/>
          </a:xfrm>
          <a:prstGeom prst="rect">
            <a:avLst/>
          </a:prstGeom>
          <a:noFill/>
          <a:ln/>
        </p:spPr>
        <p:txBody>
          <a:bodyPr wrap="square" lIns="0" tIns="0" rIns="0" bIns="0" rtlCol="0" anchor="t"/>
          <a:lstStyle/>
          <a:p>
            <a:pPr algn="l" indent="0" marL="0">
              <a:lnSpc>
                <a:spcPct val="135000"/>
              </a:lnSpc>
              <a:buNone/>
            </a:pPr>
            <a:r>
              <a:rPr lang="en-US" sz="2000" dirty="0">
                <a:solidFill>
                  <a:srgbClr val="C9D3E0"/>
                </a:solidFill>
                <a:latin typeface="Calibri" pitchFamily="34" charset="0"/>
                <a:ea typeface="Calibri" pitchFamily="34" charset="-122"/>
                <a:cs typeface="Calibri" pitchFamily="34" charset="-120"/>
              </a:rPr>
              <a:t>Four products: scope and status · later tasks and applications · how we use AI</a:t>
            </a:r>
            <a:endParaRPr lang="en-US" sz="2000" dirty="0"/>
          </a:p>
        </p:txBody>
      </p:sp>
      <p:sp>
        <p:nvSpPr>
          <p:cNvPr id="11" name="Text 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9AA8BC"/>
                </a:solidFill>
                <a:latin typeface="Calibri" pitchFamily="34" charset="0"/>
                <a:ea typeface="Calibri" pitchFamily="34" charset="-122"/>
                <a:cs typeface="Calibri" pitchFamily="34" charset="-120"/>
              </a:rPr>
              <a:t>Use of AI in climate fiscal tools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0 · OVERVIEW</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Four products this FY: Stephen’s scope and status</a:t>
            </a:r>
            <a:endParaRPr lang="en-US" sz="3200" dirty="0"/>
          </a:p>
        </p:txBody>
      </p:sp>
      <p:sp>
        <p:nvSpPr>
          <p:cNvPr id="463" name="Card 464"/>
          <p:cNvSpPr/>
          <p:nvPr/>
        </p:nvSpPr>
        <p:spPr>
          <a:xfrm>
            <a:off x="812800" y="1800000"/>
            <a:ext cx="2504440" cy="3550000"/>
          </a:xfrm>
          <a:prstGeom prst="roundRect">
            <a:avLst>
              <a:gd name="adj" fmla="val 2703"/>
            </a:avLst>
          </a:prstGeom>
          <a:solidFill>
            <a:srgbClr val="FFFFFF"/>
          </a:solidFill>
          <a:ln/>
        </p:spPr>
        <p:txBody>
          <a:bodyPr/>
          <a:p/>
        </p:txBody>
      </p:sp>
      <p:sp>
        <p:nvSpPr>
          <p:cNvPr id="465" name="Text 465"/>
          <p:cNvSpPr txBox="1"/>
          <p:nvPr/>
        </p:nvSpPr>
        <p:spPr>
          <a:xfrm>
            <a:off x="1041400" y="2000000"/>
            <a:ext cx="2047240" cy="200000"/>
          </a:xfrm>
          <a:prstGeom prst="rect">
            <a:avLst/>
          </a:prstGeom>
          <a:noFill/>
        </p:spPr>
        <p:txBody>
          <a:bodyPr wrap="square" lIns="0" tIns="0" rIns="0" bIns="0" rtlCol="0" anchor="t">
            <a:noAutofit/>
          </a:bodyPr>
          <a:lstStyle/>
          <a:p>
            <a:pPr algn="l" marL="0" indent="0">
              <a:lnSpc>
                <a:spcPct val="120000"/>
              </a:lnSpc>
              <a:buNone/>
            </a:pPr>
            <a:r>
              <a:rPr lang="en-US" sz="1100" b="1" dirty="0">
                <a:solidFill>
                  <a:srgbClr val="A8521A"/>
                </a:solidFill>
                <a:latin typeface="Calibri" pitchFamily="34" charset="0"/>
                <a:ea typeface="Calibri" pitchFamily="34" charset="-122"/>
                <a:cs typeface="Calibri" pitchFamily="34" charset="-120"/>
              </a:rPr>
              <a:t>1a</a:t>
            </a:r>
            <a:r>
              <a:rPr lang="en-US" sz="1100" b="1" spc="100" dirty="0">
                <a:solidFill>
                  <a:srgbClr val="A8521A"/>
                </a:solidFill>
                <a:latin typeface="Calibri" pitchFamily="34" charset="0"/>
                <a:ea typeface="Calibri" pitchFamily="34" charset="-122"/>
                <a:cs typeface="Calibri" pitchFamily="34" charset="-120"/>
              </a:rPr>
              <a:t> · OBJECTIVE ONE</a:t>
            </a:r>
          </a:p>
        </p:txBody>
      </p:sp>
      <p:sp>
        <p:nvSpPr>
          <p:cNvPr id="466" name="Text 466"/>
          <p:cNvSpPr txBox="1"/>
          <p:nvPr/>
        </p:nvSpPr>
        <p:spPr>
          <a:xfrm>
            <a:off x="1041400" y="2220000"/>
            <a:ext cx="2047240" cy="560000"/>
          </a:xfrm>
          <a:prstGeom prst="rect">
            <a:avLst/>
          </a:prstGeom>
          <a:noFill/>
        </p:spPr>
        <p:txBody>
          <a:bodyPr wrap="square" lIns="0" tIns="0" rIns="0" bIns="0" rtlCol="0" anchor="t">
            <a:noAutofit/>
          </a:bodyPr>
          <a:lstStyle/>
          <a:p>
            <a:pPr algn="l" marL="0" indent="0">
              <a:lnSpc>
                <a:spcPct val="105000"/>
              </a:lnSpc>
              <a:buNone/>
            </a:pPr>
            <a:r>
              <a:rPr lang="en-US" sz="1600" b="1" dirty="0">
                <a:solidFill>
                  <a:srgbClr val="14213D"/>
                </a:solidFill>
                <a:latin typeface="Calibri" pitchFamily="34" charset="0"/>
                <a:ea typeface="Calibri" pitchFamily="34" charset="-122"/>
                <a:cs typeface="Calibri" pitchFamily="34" charset="-120"/>
              </a:rPr>
              <a:t>Excel-AI-CPAT</a:t>
            </a:r>
          </a:p>
        </p:txBody>
      </p:sp>
      <p:sp>
        <p:nvSpPr>
          <p:cNvPr id="467" name="Text 467"/>
          <p:cNvSpPr txBox="1"/>
          <p:nvPr/>
        </p:nvSpPr>
        <p:spPr>
          <a:xfrm>
            <a:off x="1041400" y="283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STEPHEN’S SCOPE</a:t>
            </a:r>
          </a:p>
        </p:txBody>
      </p:sp>
      <p:sp>
        <p:nvSpPr>
          <p:cNvPr id="468" name="Text 468"/>
          <p:cNvSpPr txBox="1"/>
          <p:nvPr/>
        </p:nvSpPr>
        <p:spPr>
          <a:xfrm>
            <a:off x="1041400" y="3030000"/>
            <a:ext cx="2047240" cy="1000000"/>
          </a:xfrm>
          <a:prstGeom prst="rect">
            <a:avLst/>
          </a:prstGeom>
          <a:noFill/>
        </p:spPr>
        <p:txBody>
          <a:bodyPr wrap="square" lIns="0" tIns="0" rIns="0" bIns="0" rtlCol="0" anchor="t">
            <a:noAutofit/>
          </a:bodyPr>
          <a:lstStyle/>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Basic mitigation</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Power</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Remaining mitigation</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Distribution (80% complete)</a:t>
            </a:r>
          </a:p>
        </p:txBody>
      </p:sp>
      <p:sp>
        <p:nvSpPr>
          <p:cNvPr id="469" name="Text 469"/>
          <p:cNvSpPr txBox="1"/>
          <p:nvPr/>
        </p:nvSpPr>
        <p:spPr>
          <a:xfrm>
            <a:off x="1041400" y="410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STATUS</a:t>
            </a:r>
          </a:p>
        </p:txBody>
      </p:sp>
      <p:sp>
        <p:nvSpPr>
          <p:cNvPr id="470" name="Text 470"/>
          <p:cNvSpPr txBox="1"/>
          <p:nvPr/>
        </p:nvSpPr>
        <p:spPr>
          <a:xfrm>
            <a:off x="1041400" y="4280000"/>
            <a:ext cx="2047240" cy="440000"/>
          </a:xfrm>
          <a:prstGeom prst="rect">
            <a:avLst/>
          </a:prstGeom>
          <a:noFill/>
        </p:spPr>
        <p:txBody>
          <a:bodyPr wrap="square" lIns="0" tIns="0" rIns="0" bIns="0" rtlCol="0" anchor="b">
            <a:noAutofit/>
          </a:bodyPr>
          <a:lstStyle/>
          <a:p>
            <a:pPr algn="l" marL="0" indent="0">
              <a:lnSpc>
                <a:spcPct val="100000"/>
              </a:lnSpc>
              <a:buNone/>
            </a:pPr>
            <a:r>
              <a:rPr lang="en-US" sz="3200" b="1" dirty="0">
                <a:solidFill>
                  <a:srgbClr val="A8521A"/>
                </a:solidFill>
                <a:latin typeface="Cambria" pitchFamily="34" charset="0"/>
                <a:ea typeface="Cambria" pitchFamily="34" charset="-122"/>
                <a:cs typeface="Cambria" pitchFamily="34" charset="-120"/>
              </a:rPr>
              <a:t>30%</a:t>
            </a:r>
            <a:r>
              <a:rPr lang="en-US" sz="1200" dirty="0">
                <a:solidFill>
                  <a:srgbClr val="5B6573"/>
                </a:solidFill>
                <a:latin typeface="Calibri" pitchFamily="34" charset="0"/>
                <a:ea typeface="Calibri" pitchFamily="34" charset="-122"/>
                <a:cs typeface="Calibri" pitchFamily="34" charset="-120"/>
              </a:rPr>
              <a:t>  complete</a:t>
            </a:r>
          </a:p>
        </p:txBody>
      </p:sp>
      <p:sp>
        <p:nvSpPr>
          <p:cNvPr id="471" name="Shape 471"/>
          <p:cNvSpPr/>
          <p:nvPr/>
        </p:nvSpPr>
        <p:spPr>
          <a:xfrm>
            <a:off x="1041400" y="4800000"/>
            <a:ext cx="2047240" cy="100000"/>
          </a:xfrm>
          <a:prstGeom prst="roundRect">
            <a:avLst>
              <a:gd name="adj" fmla="val 50000"/>
            </a:avLst>
          </a:prstGeom>
          <a:solidFill>
            <a:srgbClr val="E1E5EA"/>
          </a:solidFill>
          <a:ln>
            <a:noFill/>
          </a:ln>
        </p:spPr>
        <p:txBody>
          <a:bodyPr/>
          <a:p/>
        </p:txBody>
      </p:sp>
      <p:sp>
        <p:nvSpPr>
          <p:cNvPr id="472" name="Shape 472"/>
          <p:cNvSpPr/>
          <p:nvPr/>
        </p:nvSpPr>
        <p:spPr>
          <a:xfrm>
            <a:off x="1041400" y="4800000"/>
            <a:ext cx="614172" cy="100000"/>
          </a:xfrm>
          <a:prstGeom prst="roundRect">
            <a:avLst>
              <a:gd name="adj" fmla="val 50000"/>
            </a:avLst>
          </a:prstGeom>
          <a:solidFill>
            <a:srgbClr val="A8521A"/>
          </a:solidFill>
          <a:ln>
            <a:noFill/>
          </a:ln>
        </p:spPr>
        <p:txBody>
          <a:bodyPr/>
          <a:p/>
        </p:txBody>
      </p:sp>
      <p:sp>
        <p:nvSpPr>
          <p:cNvPr id="473" name="Text 473"/>
          <p:cNvSpPr txBox="1"/>
          <p:nvPr/>
        </p:nvSpPr>
        <p:spPr>
          <a:xfrm>
            <a:off x="1041400" y="4970000"/>
            <a:ext cx="2047240" cy="220000"/>
          </a:xfrm>
          <a:prstGeom prst="rect">
            <a:avLst/>
          </a:prstGeom>
          <a:noFill/>
        </p:spPr>
        <p:txBody>
          <a:bodyPr wrap="square" lIns="0" tIns="0" rIns="0" bIns="0" rtlCol="0" anchor="t">
            <a:noAutofit/>
          </a:bodyPr>
          <a:lstStyle/>
          <a:p>
            <a:pPr algn="l" marL="0" indent="0">
              <a:lnSpc>
                <a:spcPct val="120000"/>
              </a:lnSpc>
              <a:buNone/>
            </a:pPr>
            <a:r>
              <a:rPr lang="en-US" sz="1200" dirty="0">
                <a:solidFill>
                  <a:srgbClr val="5B6573"/>
                </a:solidFill>
                <a:latin typeface="Calibri" pitchFamily="34" charset="0"/>
                <a:ea typeface="Calibri" pitchFamily="34" charset="-122"/>
                <a:cs typeface="Calibri" pitchFamily="34" charset="-120"/>
              </a:rPr>
              <a:t>Final version by 4 Dec (1a_m2)</a:t>
            </a:r>
          </a:p>
        </p:txBody>
      </p:sp>
      <p:sp>
        <p:nvSpPr>
          <p:cNvPr id="474" name="Card 475"/>
          <p:cNvSpPr/>
          <p:nvPr/>
        </p:nvSpPr>
        <p:spPr>
          <a:xfrm>
            <a:off x="3500120" y="1800000"/>
            <a:ext cx="2504440" cy="3550000"/>
          </a:xfrm>
          <a:prstGeom prst="roundRect">
            <a:avLst>
              <a:gd name="adj" fmla="val 2703"/>
            </a:avLst>
          </a:prstGeom>
          <a:solidFill>
            <a:srgbClr val="FFFFFF"/>
          </a:solidFill>
          <a:ln/>
        </p:spPr>
        <p:txBody>
          <a:bodyPr/>
          <a:p/>
        </p:txBody>
      </p:sp>
      <p:sp>
        <p:nvSpPr>
          <p:cNvPr id="476" name="Text 476"/>
          <p:cNvSpPr txBox="1"/>
          <p:nvPr/>
        </p:nvSpPr>
        <p:spPr>
          <a:xfrm>
            <a:off x="3728720" y="2000000"/>
            <a:ext cx="2047240" cy="200000"/>
          </a:xfrm>
          <a:prstGeom prst="rect">
            <a:avLst/>
          </a:prstGeom>
          <a:noFill/>
        </p:spPr>
        <p:txBody>
          <a:bodyPr wrap="square" lIns="0" tIns="0" rIns="0" bIns="0" rtlCol="0" anchor="t">
            <a:noAutofit/>
          </a:bodyPr>
          <a:lstStyle/>
          <a:p>
            <a:pPr algn="l" marL="0" indent="0">
              <a:lnSpc>
                <a:spcPct val="120000"/>
              </a:lnSpc>
              <a:buNone/>
            </a:pPr>
            <a:r>
              <a:rPr lang="en-US" sz="1100" b="1" dirty="0">
                <a:solidFill>
                  <a:srgbClr val="A8521A"/>
                </a:solidFill>
                <a:latin typeface="Calibri" pitchFamily="34" charset="0"/>
                <a:ea typeface="Calibri" pitchFamily="34" charset="-122"/>
                <a:cs typeface="Calibri" pitchFamily="34" charset="-120"/>
              </a:rPr>
              <a:t>1b</a:t>
            </a:r>
            <a:r>
              <a:rPr lang="en-US" sz="1100" b="1" spc="100" dirty="0">
                <a:solidFill>
                  <a:srgbClr val="A8521A"/>
                </a:solidFill>
                <a:latin typeface="Calibri" pitchFamily="34" charset="0"/>
                <a:ea typeface="Calibri" pitchFamily="34" charset="-122"/>
                <a:cs typeface="Calibri" pitchFamily="34" charset="-120"/>
              </a:rPr>
              <a:t> · OBJECTIVE ONE</a:t>
            </a:r>
          </a:p>
        </p:txBody>
      </p:sp>
      <p:sp>
        <p:nvSpPr>
          <p:cNvPr id="477" name="Text 477"/>
          <p:cNvSpPr txBox="1"/>
          <p:nvPr/>
        </p:nvSpPr>
        <p:spPr>
          <a:xfrm>
            <a:off x="3728720" y="2220000"/>
            <a:ext cx="2047240" cy="560000"/>
          </a:xfrm>
          <a:prstGeom prst="rect">
            <a:avLst/>
          </a:prstGeom>
          <a:noFill/>
        </p:spPr>
        <p:txBody>
          <a:bodyPr wrap="square" lIns="0" tIns="0" rIns="0" bIns="0" rtlCol="0" anchor="t">
            <a:noAutofit/>
          </a:bodyPr>
          <a:lstStyle/>
          <a:p>
            <a:pPr algn="l" marL="0" indent="0">
              <a:lnSpc>
                <a:spcPct val="105000"/>
              </a:lnSpc>
              <a:buNone/>
            </a:pPr>
            <a:r>
              <a:rPr lang="en-US" sz="1600" b="1" dirty="0">
                <a:solidFill>
                  <a:srgbClr val="14213D"/>
                </a:solidFill>
                <a:latin typeface="Calibri" pitchFamily="34" charset="0"/>
                <a:ea typeface="Calibri" pitchFamily="34" charset="-122"/>
                <a:cs typeface="Calibri" pitchFamily="34" charset="-120"/>
              </a:rPr>
              <a:t>Coded-Conversion (Python)</a:t>
            </a:r>
          </a:p>
        </p:txBody>
      </p:sp>
      <p:sp>
        <p:nvSpPr>
          <p:cNvPr id="478" name="Text 478"/>
          <p:cNvSpPr txBox="1"/>
          <p:nvPr/>
        </p:nvSpPr>
        <p:spPr>
          <a:xfrm>
            <a:off x="3728720" y="283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STEPHEN’S SCOPE</a:t>
            </a:r>
          </a:p>
        </p:txBody>
      </p:sp>
      <p:sp>
        <p:nvSpPr>
          <p:cNvPr id="479" name="Text 479"/>
          <p:cNvSpPr txBox="1"/>
          <p:nvPr/>
        </p:nvSpPr>
        <p:spPr>
          <a:xfrm>
            <a:off x="3728720" y="3030000"/>
            <a:ext cx="2047240" cy="1000000"/>
          </a:xfrm>
          <a:prstGeom prst="rect">
            <a:avLst/>
          </a:prstGeom>
          <a:noFill/>
        </p:spPr>
        <p:txBody>
          <a:bodyPr wrap="square" lIns="0" tIns="0" rIns="0" bIns="0" rtlCol="0" anchor="t">
            <a:noAutofit/>
          </a:bodyPr>
          <a:lstStyle/>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Basic mitigation</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Power</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Remaining mitigation</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Distribution (80% complete)</a:t>
            </a:r>
          </a:p>
        </p:txBody>
      </p:sp>
      <p:sp>
        <p:nvSpPr>
          <p:cNvPr id="480" name="Text 480"/>
          <p:cNvSpPr txBox="1"/>
          <p:nvPr/>
        </p:nvSpPr>
        <p:spPr>
          <a:xfrm>
            <a:off x="3728720" y="410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STATUS</a:t>
            </a:r>
          </a:p>
        </p:txBody>
      </p:sp>
      <p:sp>
        <p:nvSpPr>
          <p:cNvPr id="481" name="Text 481"/>
          <p:cNvSpPr txBox="1"/>
          <p:nvPr/>
        </p:nvSpPr>
        <p:spPr>
          <a:xfrm>
            <a:off x="3728720" y="4280000"/>
            <a:ext cx="2047240" cy="440000"/>
          </a:xfrm>
          <a:prstGeom prst="rect">
            <a:avLst/>
          </a:prstGeom>
          <a:noFill/>
        </p:spPr>
        <p:txBody>
          <a:bodyPr wrap="square" lIns="0" tIns="0" rIns="0" bIns="0" rtlCol="0" anchor="b">
            <a:noAutofit/>
          </a:bodyPr>
          <a:lstStyle/>
          <a:p>
            <a:pPr algn="l" marL="0" indent="0">
              <a:lnSpc>
                <a:spcPct val="100000"/>
              </a:lnSpc>
              <a:buNone/>
            </a:pPr>
            <a:r>
              <a:rPr lang="en-US" sz="3200" b="1" dirty="0">
                <a:solidFill>
                  <a:srgbClr val="A8521A"/>
                </a:solidFill>
                <a:latin typeface="Cambria" pitchFamily="34" charset="0"/>
                <a:ea typeface="Cambria" pitchFamily="34" charset="-122"/>
                <a:cs typeface="Cambria" pitchFamily="34" charset="-120"/>
              </a:rPr>
              <a:t>60%</a:t>
            </a:r>
            <a:r>
              <a:rPr lang="en-US" sz="1200" dirty="0">
                <a:solidFill>
                  <a:srgbClr val="5B6573"/>
                </a:solidFill>
                <a:latin typeface="Calibri" pitchFamily="34" charset="0"/>
                <a:ea typeface="Calibri" pitchFamily="34" charset="-122"/>
                <a:cs typeface="Calibri" pitchFamily="34" charset="-120"/>
              </a:rPr>
              <a:t>  complete</a:t>
            </a:r>
          </a:p>
        </p:txBody>
      </p:sp>
      <p:sp>
        <p:nvSpPr>
          <p:cNvPr id="482" name="Shape 482"/>
          <p:cNvSpPr/>
          <p:nvPr/>
        </p:nvSpPr>
        <p:spPr>
          <a:xfrm>
            <a:off x="3728720" y="4800000"/>
            <a:ext cx="2047240" cy="100000"/>
          </a:xfrm>
          <a:prstGeom prst="roundRect">
            <a:avLst>
              <a:gd name="adj" fmla="val 50000"/>
            </a:avLst>
          </a:prstGeom>
          <a:solidFill>
            <a:srgbClr val="E1E5EA"/>
          </a:solidFill>
          <a:ln>
            <a:noFill/>
          </a:ln>
        </p:spPr>
        <p:txBody>
          <a:bodyPr/>
          <a:p/>
        </p:txBody>
      </p:sp>
      <p:sp>
        <p:nvSpPr>
          <p:cNvPr id="483" name="Shape 483"/>
          <p:cNvSpPr/>
          <p:nvPr/>
        </p:nvSpPr>
        <p:spPr>
          <a:xfrm>
            <a:off x="3728720" y="4800000"/>
            <a:ext cx="1228344" cy="100000"/>
          </a:xfrm>
          <a:prstGeom prst="roundRect">
            <a:avLst>
              <a:gd name="adj" fmla="val 50000"/>
            </a:avLst>
          </a:prstGeom>
          <a:solidFill>
            <a:srgbClr val="A8521A"/>
          </a:solidFill>
          <a:ln>
            <a:noFill/>
          </a:ln>
        </p:spPr>
        <p:txBody>
          <a:bodyPr/>
          <a:p/>
        </p:txBody>
      </p:sp>
      <p:sp>
        <p:nvSpPr>
          <p:cNvPr id="484" name="Text 484"/>
          <p:cNvSpPr txBox="1"/>
          <p:nvPr/>
        </p:nvSpPr>
        <p:spPr>
          <a:xfrm>
            <a:off x="3728720" y="4970000"/>
            <a:ext cx="2047240" cy="220000"/>
          </a:xfrm>
          <a:prstGeom prst="rect">
            <a:avLst/>
          </a:prstGeom>
          <a:noFill/>
        </p:spPr>
        <p:txBody>
          <a:bodyPr wrap="square" lIns="0" tIns="0" rIns="0" bIns="0" rtlCol="0" anchor="t">
            <a:noAutofit/>
          </a:bodyPr>
          <a:lstStyle/>
          <a:p>
            <a:pPr algn="l" marL="0" indent="0">
              <a:lnSpc>
                <a:spcPct val="120000"/>
              </a:lnSpc>
              <a:buNone/>
            </a:pPr>
            <a:r>
              <a:rPr lang="en-US" sz="1200" dirty="0">
                <a:solidFill>
                  <a:srgbClr val="5B6573"/>
                </a:solidFill>
                <a:latin typeface="Calibri" pitchFamily="34" charset="0"/>
                <a:ea typeface="Calibri" pitchFamily="34" charset="-122"/>
                <a:cs typeface="Calibri" pitchFamily="34" charset="-120"/>
              </a:rPr>
              <a:t>Final version by 11 Dec (1b_m1)</a:t>
            </a:r>
          </a:p>
        </p:txBody>
      </p:sp>
      <p:sp>
        <p:nvSpPr>
          <p:cNvPr id="485" name="Card 486"/>
          <p:cNvSpPr/>
          <p:nvPr/>
        </p:nvSpPr>
        <p:spPr>
          <a:xfrm>
            <a:off x="6187440" y="1800000"/>
            <a:ext cx="2504440" cy="3550000"/>
          </a:xfrm>
          <a:prstGeom prst="roundRect">
            <a:avLst>
              <a:gd name="adj" fmla="val 2703"/>
            </a:avLst>
          </a:prstGeom>
          <a:solidFill>
            <a:srgbClr val="FFFFFF"/>
          </a:solidFill>
          <a:ln/>
        </p:spPr>
        <p:txBody>
          <a:bodyPr/>
          <a:p/>
        </p:txBody>
      </p:sp>
      <p:sp>
        <p:nvSpPr>
          <p:cNvPr id="487" name="Text 487"/>
          <p:cNvSpPr txBox="1"/>
          <p:nvPr/>
        </p:nvSpPr>
        <p:spPr>
          <a:xfrm>
            <a:off x="6416040" y="2000000"/>
            <a:ext cx="2047240" cy="200000"/>
          </a:xfrm>
          <a:prstGeom prst="rect">
            <a:avLst/>
          </a:prstGeom>
          <a:noFill/>
        </p:spPr>
        <p:txBody>
          <a:bodyPr wrap="square" lIns="0" tIns="0" rIns="0" bIns="0" rtlCol="0" anchor="t">
            <a:noAutofit/>
          </a:bodyPr>
          <a:lstStyle/>
          <a:p>
            <a:pPr algn="l" marL="0" indent="0">
              <a:lnSpc>
                <a:spcPct val="120000"/>
              </a:lnSpc>
              <a:buNone/>
            </a:pPr>
            <a:r>
              <a:rPr lang="en-US" sz="1100" b="1" dirty="0">
                <a:solidFill>
                  <a:srgbClr val="3D7A73"/>
                </a:solidFill>
                <a:latin typeface="Calibri" pitchFamily="34" charset="0"/>
                <a:ea typeface="Calibri" pitchFamily="34" charset="-122"/>
                <a:cs typeface="Calibri" pitchFamily="34" charset="-120"/>
              </a:rPr>
              <a:t>3a</a:t>
            </a:r>
            <a:r>
              <a:rPr lang="en-US" sz="1100" b="1" spc="100" dirty="0">
                <a:solidFill>
                  <a:srgbClr val="3D7A73"/>
                </a:solidFill>
                <a:latin typeface="Calibri" pitchFamily="34" charset="0"/>
                <a:ea typeface="Calibri" pitchFamily="34" charset="-122"/>
                <a:cs typeface="Calibri" pitchFamily="34" charset="-120"/>
              </a:rPr>
              <a:t> · OBJECTIVE THREE</a:t>
            </a:r>
          </a:p>
        </p:txBody>
      </p:sp>
      <p:sp>
        <p:nvSpPr>
          <p:cNvPr id="488" name="Text 488"/>
          <p:cNvSpPr txBox="1"/>
          <p:nvPr/>
        </p:nvSpPr>
        <p:spPr>
          <a:xfrm>
            <a:off x="6416040" y="2220000"/>
            <a:ext cx="2047240" cy="560000"/>
          </a:xfrm>
          <a:prstGeom prst="rect">
            <a:avLst/>
          </a:prstGeom>
          <a:noFill/>
        </p:spPr>
        <p:txBody>
          <a:bodyPr wrap="square" lIns="0" tIns="0" rIns="0" bIns="0" rtlCol="0" anchor="t">
            <a:noAutofit/>
          </a:bodyPr>
          <a:lstStyle/>
          <a:p>
            <a:pPr algn="l" marL="0" indent="0">
              <a:lnSpc>
                <a:spcPct val="105000"/>
              </a:lnSpc>
              <a:buNone/>
            </a:pPr>
            <a:r>
              <a:rPr lang="en-US" sz="1600" b="1" dirty="0">
                <a:solidFill>
                  <a:srgbClr val="14213D"/>
                </a:solidFill>
                <a:latin typeface="Calibri" pitchFamily="34" charset="0"/>
                <a:ea typeface="Calibri" pitchFamily="34" charset="-122"/>
                <a:cs typeface="Calibri" pitchFamily="34" charset="-120"/>
              </a:rPr>
              <a:t>Excise Diagnostic</a:t>
            </a:r>
          </a:p>
        </p:txBody>
      </p:sp>
      <p:sp>
        <p:nvSpPr>
          <p:cNvPr id="489" name="Text 489"/>
          <p:cNvSpPr txBox="1"/>
          <p:nvPr/>
        </p:nvSpPr>
        <p:spPr>
          <a:xfrm>
            <a:off x="6416040" y="283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STEPHEN’S SCOPE</a:t>
            </a:r>
          </a:p>
        </p:txBody>
      </p:sp>
      <p:sp>
        <p:nvSpPr>
          <p:cNvPr id="490" name="Text 490"/>
          <p:cNvSpPr txBox="1"/>
          <p:nvPr/>
        </p:nvSpPr>
        <p:spPr>
          <a:xfrm>
            <a:off x="6416040" y="3030000"/>
            <a:ext cx="2047240" cy="1000000"/>
          </a:xfrm>
          <a:prstGeom prst="rect">
            <a:avLst/>
          </a:prstGeom>
          <a:noFill/>
        </p:spPr>
        <p:txBody>
          <a:bodyPr wrap="square" lIns="0" tIns="0" rIns="0" bIns="0" rtlCol="0" anchor="t">
            <a:noAutofit/>
          </a:bodyPr>
          <a:lstStyle/>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Fully working prototype</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Generative script</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User guide, so others can contribute</a:t>
            </a:r>
          </a:p>
        </p:txBody>
      </p:sp>
      <p:sp>
        <p:nvSpPr>
          <p:cNvPr id="491" name="Text 491"/>
          <p:cNvSpPr txBox="1"/>
          <p:nvPr/>
        </p:nvSpPr>
        <p:spPr>
          <a:xfrm>
            <a:off x="6416040" y="410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STATUS</a:t>
            </a:r>
          </a:p>
        </p:txBody>
      </p:sp>
      <p:sp>
        <p:nvSpPr>
          <p:cNvPr id="492" name="Text 492"/>
          <p:cNvSpPr txBox="1"/>
          <p:nvPr/>
        </p:nvSpPr>
        <p:spPr>
          <a:xfrm>
            <a:off x="6416040" y="4280000"/>
            <a:ext cx="2047240" cy="440000"/>
          </a:xfrm>
          <a:prstGeom prst="rect">
            <a:avLst/>
          </a:prstGeom>
          <a:noFill/>
        </p:spPr>
        <p:txBody>
          <a:bodyPr wrap="square" lIns="0" tIns="0" rIns="0" bIns="0" rtlCol="0" anchor="b">
            <a:noAutofit/>
          </a:bodyPr>
          <a:lstStyle/>
          <a:p>
            <a:pPr algn="l" marL="0" indent="0">
              <a:lnSpc>
                <a:spcPct val="100000"/>
              </a:lnSpc>
              <a:buNone/>
            </a:pPr>
            <a:r>
              <a:rPr lang="en-US" sz="3200" b="1" dirty="0">
                <a:solidFill>
                  <a:srgbClr val="3D7A73"/>
                </a:solidFill>
                <a:latin typeface="Cambria" pitchFamily="34" charset="0"/>
                <a:ea typeface="Cambria" pitchFamily="34" charset="-122"/>
                <a:cs typeface="Cambria" pitchFamily="34" charset="-120"/>
              </a:rPr>
              <a:t>90%</a:t>
            </a:r>
            <a:r>
              <a:rPr lang="en-US" sz="1200" dirty="0">
                <a:solidFill>
                  <a:srgbClr val="5B6573"/>
                </a:solidFill>
                <a:latin typeface="Calibri" pitchFamily="34" charset="0"/>
                <a:ea typeface="Calibri" pitchFamily="34" charset="-122"/>
                <a:cs typeface="Calibri" pitchFamily="34" charset="-120"/>
              </a:rPr>
              <a:t>  complete</a:t>
            </a:r>
          </a:p>
        </p:txBody>
      </p:sp>
      <p:sp>
        <p:nvSpPr>
          <p:cNvPr id="493" name="Shape 493"/>
          <p:cNvSpPr/>
          <p:nvPr/>
        </p:nvSpPr>
        <p:spPr>
          <a:xfrm>
            <a:off x="6416040" y="4800000"/>
            <a:ext cx="2047240" cy="100000"/>
          </a:xfrm>
          <a:prstGeom prst="roundRect">
            <a:avLst>
              <a:gd name="adj" fmla="val 50000"/>
            </a:avLst>
          </a:prstGeom>
          <a:solidFill>
            <a:srgbClr val="E1E5EA"/>
          </a:solidFill>
          <a:ln>
            <a:noFill/>
          </a:ln>
        </p:spPr>
        <p:txBody>
          <a:bodyPr/>
          <a:p/>
        </p:txBody>
      </p:sp>
      <p:sp>
        <p:nvSpPr>
          <p:cNvPr id="494" name="Shape 494"/>
          <p:cNvSpPr/>
          <p:nvPr/>
        </p:nvSpPr>
        <p:spPr>
          <a:xfrm>
            <a:off x="6416040" y="4800000"/>
            <a:ext cx="1842516" cy="100000"/>
          </a:xfrm>
          <a:prstGeom prst="roundRect">
            <a:avLst>
              <a:gd name="adj" fmla="val 50000"/>
            </a:avLst>
          </a:prstGeom>
          <a:solidFill>
            <a:srgbClr val="3D7A73"/>
          </a:solidFill>
          <a:ln>
            <a:noFill/>
          </a:ln>
        </p:spPr>
        <p:txBody>
          <a:bodyPr/>
          <a:p/>
        </p:txBody>
      </p:sp>
      <p:sp>
        <p:nvSpPr>
          <p:cNvPr id="495" name="Text 495"/>
          <p:cNvSpPr txBox="1"/>
          <p:nvPr/>
        </p:nvSpPr>
        <p:spPr>
          <a:xfrm>
            <a:off x="6416040" y="4970000"/>
            <a:ext cx="2047240" cy="220000"/>
          </a:xfrm>
          <a:prstGeom prst="rect">
            <a:avLst/>
          </a:prstGeom>
          <a:noFill/>
        </p:spPr>
        <p:txBody>
          <a:bodyPr wrap="square" lIns="0" tIns="0" rIns="0" bIns="0" rtlCol="0" anchor="t">
            <a:noAutofit/>
          </a:bodyPr>
          <a:lstStyle/>
          <a:p>
            <a:pPr algn="l" marL="0" indent="0">
              <a:lnSpc>
                <a:spcPct val="120000"/>
              </a:lnSpc>
              <a:buNone/>
            </a:pPr>
            <a:r>
              <a:rPr lang="en-US" sz="1200" dirty="0">
                <a:solidFill>
                  <a:srgbClr val="5B6573"/>
                </a:solidFill>
                <a:latin typeface="Calibri" pitchFamily="34" charset="0"/>
                <a:ea typeface="Calibri" pitchFamily="34" charset="-122"/>
                <a:cs typeface="Calibri" pitchFamily="34" charset="-120"/>
              </a:rPr>
              <a:t>To Dirk by 16 Oct (3a_m2)</a:t>
            </a:r>
          </a:p>
        </p:txBody>
      </p:sp>
      <p:sp>
        <p:nvSpPr>
          <p:cNvPr id="496" name="Card 497"/>
          <p:cNvSpPr/>
          <p:nvPr/>
        </p:nvSpPr>
        <p:spPr>
          <a:xfrm>
            <a:off x="8874760" y="1800000"/>
            <a:ext cx="2504440" cy="3550000"/>
          </a:xfrm>
          <a:prstGeom prst="roundRect">
            <a:avLst>
              <a:gd name="adj" fmla="val 2703"/>
            </a:avLst>
          </a:prstGeom>
          <a:solidFill>
            <a:srgbClr val="FFFFFF"/>
          </a:solidFill>
          <a:ln/>
        </p:spPr>
        <p:txBody>
          <a:bodyPr/>
          <a:p/>
        </p:txBody>
      </p:sp>
      <p:sp>
        <p:nvSpPr>
          <p:cNvPr id="498" name="Text 498"/>
          <p:cNvSpPr txBox="1"/>
          <p:nvPr/>
        </p:nvSpPr>
        <p:spPr>
          <a:xfrm>
            <a:off x="9103360" y="2000000"/>
            <a:ext cx="2047240" cy="200000"/>
          </a:xfrm>
          <a:prstGeom prst="rect">
            <a:avLst/>
          </a:prstGeom>
          <a:noFill/>
        </p:spPr>
        <p:txBody>
          <a:bodyPr wrap="square" lIns="0" tIns="0" rIns="0" bIns="0" rtlCol="0" anchor="t">
            <a:noAutofit/>
          </a:bodyPr>
          <a:lstStyle/>
          <a:p>
            <a:pPr algn="l" marL="0" indent="0">
              <a:lnSpc>
                <a:spcPct val="120000"/>
              </a:lnSpc>
              <a:buNone/>
            </a:pPr>
            <a:r>
              <a:rPr lang="en-US" sz="1100" b="1" dirty="0">
                <a:solidFill>
                  <a:srgbClr val="3D7A73"/>
                </a:solidFill>
                <a:latin typeface="Calibri" pitchFamily="34" charset="0"/>
                <a:ea typeface="Calibri" pitchFamily="34" charset="-122"/>
                <a:cs typeface="Calibri" pitchFamily="34" charset="-120"/>
              </a:rPr>
              <a:t>3b</a:t>
            </a:r>
            <a:r>
              <a:rPr lang="en-US" sz="1100" b="1" spc="100" dirty="0">
                <a:solidFill>
                  <a:srgbClr val="3D7A73"/>
                </a:solidFill>
                <a:latin typeface="Calibri" pitchFamily="34" charset="0"/>
                <a:ea typeface="Calibri" pitchFamily="34" charset="-122"/>
                <a:cs typeface="Calibri" pitchFamily="34" charset="-120"/>
              </a:rPr>
              <a:t> · OBJECTIVE THREE</a:t>
            </a:r>
          </a:p>
        </p:txBody>
      </p:sp>
      <p:sp>
        <p:nvSpPr>
          <p:cNvPr id="499" name="Text 499"/>
          <p:cNvSpPr txBox="1"/>
          <p:nvPr/>
        </p:nvSpPr>
        <p:spPr>
          <a:xfrm>
            <a:off x="9103360" y="2220000"/>
            <a:ext cx="2047240" cy="560000"/>
          </a:xfrm>
          <a:prstGeom prst="rect">
            <a:avLst/>
          </a:prstGeom>
          <a:noFill/>
        </p:spPr>
        <p:txBody>
          <a:bodyPr wrap="square" lIns="0" tIns="0" rIns="0" bIns="0" rtlCol="0" anchor="t">
            <a:noAutofit/>
          </a:bodyPr>
          <a:lstStyle/>
          <a:p>
            <a:pPr algn="l" marL="0" indent="0">
              <a:lnSpc>
                <a:spcPct val="105000"/>
              </a:lnSpc>
              <a:buNone/>
            </a:pPr>
            <a:r>
              <a:rPr lang="en-US" sz="1600" b="1" dirty="0">
                <a:solidFill>
                  <a:srgbClr val="14213D"/>
                </a:solidFill>
                <a:latin typeface="Calibri" pitchFamily="34" charset="0"/>
                <a:ea typeface="Calibri" pitchFamily="34" charset="-122"/>
                <a:cs typeface="Calibri" pitchFamily="34" charset="-120"/>
              </a:rPr>
              <a:t>Tax and Macro-Fiscal Dashboard</a:t>
            </a:r>
          </a:p>
        </p:txBody>
      </p:sp>
      <p:sp>
        <p:nvSpPr>
          <p:cNvPr id="500" name="Text 500"/>
          <p:cNvSpPr txBox="1"/>
          <p:nvPr/>
        </p:nvSpPr>
        <p:spPr>
          <a:xfrm>
            <a:off x="9103360" y="283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STEPHEN’S SCOPE</a:t>
            </a:r>
          </a:p>
        </p:txBody>
      </p:sp>
      <p:sp>
        <p:nvSpPr>
          <p:cNvPr id="501" name="Text 501"/>
          <p:cNvSpPr txBox="1"/>
          <p:nvPr/>
        </p:nvSpPr>
        <p:spPr>
          <a:xfrm>
            <a:off x="9103360" y="3030000"/>
            <a:ext cx="2047240" cy="1000000"/>
          </a:xfrm>
          <a:prstGeom prst="rect">
            <a:avLst/>
          </a:prstGeom>
          <a:noFill/>
        </p:spPr>
        <p:txBody>
          <a:bodyPr wrap="square" lIns="0" tIns="0" rIns="0" bIns="0" rtlCol="0" anchor="t">
            <a:noAutofit/>
          </a:bodyPr>
          <a:lstStyle/>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Fully working prototype</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Generative script</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User guide, so others can contribute</a:t>
            </a:r>
          </a:p>
        </p:txBody>
      </p:sp>
      <p:sp>
        <p:nvSpPr>
          <p:cNvPr id="502" name="Text 502"/>
          <p:cNvSpPr txBox="1"/>
          <p:nvPr/>
        </p:nvSpPr>
        <p:spPr>
          <a:xfrm>
            <a:off x="9103360" y="410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STATUS</a:t>
            </a:r>
          </a:p>
        </p:txBody>
      </p:sp>
      <p:sp>
        <p:nvSpPr>
          <p:cNvPr id="503" name="Text 503"/>
          <p:cNvSpPr txBox="1"/>
          <p:nvPr/>
        </p:nvSpPr>
        <p:spPr>
          <a:xfrm>
            <a:off x="9103360" y="4280000"/>
            <a:ext cx="2047240" cy="440000"/>
          </a:xfrm>
          <a:prstGeom prst="rect">
            <a:avLst/>
          </a:prstGeom>
          <a:noFill/>
        </p:spPr>
        <p:txBody>
          <a:bodyPr wrap="square" lIns="0" tIns="0" rIns="0" bIns="0" rtlCol="0" anchor="b">
            <a:noAutofit/>
          </a:bodyPr>
          <a:lstStyle/>
          <a:p>
            <a:pPr algn="l" marL="0" indent="0">
              <a:lnSpc>
                <a:spcPct val="100000"/>
              </a:lnSpc>
              <a:buNone/>
            </a:pPr>
            <a:r>
              <a:rPr lang="en-US" sz="3200" b="1" dirty="0">
                <a:solidFill>
                  <a:srgbClr val="3D7A73"/>
                </a:solidFill>
                <a:latin typeface="Cambria" pitchFamily="34" charset="0"/>
                <a:ea typeface="Cambria" pitchFamily="34" charset="-122"/>
                <a:cs typeface="Cambria" pitchFamily="34" charset="-120"/>
              </a:rPr>
              <a:t>90%</a:t>
            </a:r>
            <a:r>
              <a:rPr lang="en-US" sz="1200" dirty="0">
                <a:solidFill>
                  <a:srgbClr val="5B6573"/>
                </a:solidFill>
                <a:latin typeface="Calibri" pitchFamily="34" charset="0"/>
                <a:ea typeface="Calibri" pitchFamily="34" charset="-122"/>
                <a:cs typeface="Calibri" pitchFamily="34" charset="-120"/>
              </a:rPr>
              <a:t>  complete</a:t>
            </a:r>
          </a:p>
        </p:txBody>
      </p:sp>
      <p:sp>
        <p:nvSpPr>
          <p:cNvPr id="504" name="Shape 504"/>
          <p:cNvSpPr/>
          <p:nvPr/>
        </p:nvSpPr>
        <p:spPr>
          <a:xfrm>
            <a:off x="9103360" y="4800000"/>
            <a:ext cx="2047240" cy="100000"/>
          </a:xfrm>
          <a:prstGeom prst="roundRect">
            <a:avLst>
              <a:gd name="adj" fmla="val 50000"/>
            </a:avLst>
          </a:prstGeom>
          <a:solidFill>
            <a:srgbClr val="E1E5EA"/>
          </a:solidFill>
          <a:ln>
            <a:noFill/>
          </a:ln>
        </p:spPr>
        <p:txBody>
          <a:bodyPr/>
          <a:p/>
        </p:txBody>
      </p:sp>
      <p:sp>
        <p:nvSpPr>
          <p:cNvPr id="505" name="Shape 505"/>
          <p:cNvSpPr/>
          <p:nvPr/>
        </p:nvSpPr>
        <p:spPr>
          <a:xfrm>
            <a:off x="9103360" y="4800000"/>
            <a:ext cx="1842516" cy="100000"/>
          </a:xfrm>
          <a:prstGeom prst="roundRect">
            <a:avLst>
              <a:gd name="adj" fmla="val 50000"/>
            </a:avLst>
          </a:prstGeom>
          <a:solidFill>
            <a:srgbClr val="3D7A73"/>
          </a:solidFill>
          <a:ln>
            <a:noFill/>
          </a:ln>
        </p:spPr>
        <p:txBody>
          <a:bodyPr/>
          <a:p/>
        </p:txBody>
      </p:sp>
      <p:sp>
        <p:nvSpPr>
          <p:cNvPr id="506" name="Text 506"/>
          <p:cNvSpPr txBox="1"/>
          <p:nvPr/>
        </p:nvSpPr>
        <p:spPr>
          <a:xfrm>
            <a:off x="9103360" y="4970000"/>
            <a:ext cx="2047240" cy="220000"/>
          </a:xfrm>
          <a:prstGeom prst="rect">
            <a:avLst/>
          </a:prstGeom>
          <a:noFill/>
        </p:spPr>
        <p:txBody>
          <a:bodyPr wrap="square" lIns="0" tIns="0" rIns="0" bIns="0" rtlCol="0" anchor="t">
            <a:noAutofit/>
          </a:bodyPr>
          <a:lstStyle/>
          <a:p>
            <a:pPr algn="l" marL="0" indent="0">
              <a:lnSpc>
                <a:spcPct val="120000"/>
              </a:lnSpc>
              <a:buNone/>
            </a:pPr>
            <a:r>
              <a:rPr lang="en-US" sz="1200" dirty="0">
                <a:solidFill>
                  <a:srgbClr val="5B6573"/>
                </a:solidFill>
                <a:latin typeface="Calibri" pitchFamily="34" charset="0"/>
                <a:ea typeface="Calibri" pitchFamily="34" charset="-122"/>
                <a:cs typeface="Calibri" pitchFamily="34" charset="-120"/>
              </a:rPr>
              <a:t>To Dirk by 23 Oct (3b_m2)</a:t>
            </a:r>
          </a:p>
        </p:txBody>
      </p:sp>
      <p:sp>
        <p:nvSpPr>
          <p:cNvPr id="507" name="Text 507"/>
          <p:cNvSpPr txBox="1"/>
          <p:nvPr/>
        </p:nvSpPr>
        <p:spPr>
          <a:xfrm>
            <a:off x="812800" y="5480000"/>
            <a:ext cx="1350000" cy="20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LATER TASKS</a:t>
            </a:r>
          </a:p>
        </p:txBody>
      </p:sp>
      <p:sp>
        <p:nvSpPr>
          <p:cNvPr id="508" name="Text 508"/>
          <p:cNvSpPr txBox="1"/>
          <p:nvPr/>
        </p:nvSpPr>
        <p:spPr>
          <a:xfrm>
            <a:off x="2250000" y="5480000"/>
            <a:ext cx="9129200" cy="190000"/>
          </a:xfrm>
          <a:prstGeom prst="rect">
            <a:avLst/>
          </a:prstGeom>
          <a:noFill/>
        </p:spPr>
        <p:txBody>
          <a:bodyPr wrap="square" lIns="0" tIns="0" rIns="0" bIns="0" rtlCol="0" anchor="t">
            <a:noAutofit/>
          </a:bodyPr>
          <a:lstStyle/>
          <a:p>
            <a:pPr algn="l" marL="0" indent="0">
              <a:lnSpc>
                <a:spcPct val="110000"/>
              </a:lnSpc>
              <a:buNone/>
            </a:pPr>
            <a:r>
              <a:rPr lang="en-US" sz="1200" dirty="0">
                <a:solidFill>
                  <a:srgbClr val="3F4A5A"/>
                </a:solidFill>
                <a:latin typeface="Calibri" pitchFamily="34" charset="0"/>
                <a:ea typeface="Calibri" pitchFamily="34" charset="-122"/>
                <a:cs typeface="Calibri" pitchFamily="34" charset="-120"/>
              </a:rPr>
              <a:t>Shiny dashboard · Integration with the pathways tool · Applications of GHG accounting (next slide)</a:t>
            </a:r>
          </a:p>
        </p:txBody>
      </p:sp>
      <p:sp>
        <p:nvSpPr>
          <p:cNvPr id="509" name="Text 509"/>
          <p:cNvSpPr txBox="1"/>
          <p:nvPr/>
        </p:nvSpPr>
        <p:spPr>
          <a:xfrm>
            <a:off x="812800" y="5760000"/>
            <a:ext cx="1350000" cy="20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OUT OF SCOPE</a:t>
            </a:r>
          </a:p>
        </p:txBody>
      </p:sp>
      <p:sp>
        <p:nvSpPr>
          <p:cNvPr id="510" name="Text 510"/>
          <p:cNvSpPr txBox="1"/>
          <p:nvPr/>
        </p:nvSpPr>
        <p:spPr>
          <a:xfrm>
            <a:off x="2250000" y="5760000"/>
            <a:ext cx="9129200" cy="380000"/>
          </a:xfrm>
          <a:prstGeom prst="rect">
            <a:avLst/>
          </a:prstGeom>
          <a:noFill/>
        </p:spPr>
        <p:txBody>
          <a:bodyPr wrap="square" lIns="0" tIns="0" rIns="0" bIns="0" rtlCol="0" anchor="t">
            <a:noAutofit/>
          </a:bodyPr>
          <a:lstStyle/>
          <a:p>
            <a:pPr algn="l" marL="0" indent="0">
              <a:lnSpc>
                <a:spcPct val="110000"/>
              </a:lnSpc>
              <a:buNone/>
            </a:pPr>
            <a:r>
              <a:rPr lang="en-US" sz="1200" dirty="0">
                <a:solidFill>
                  <a:srgbClr val="3F4A5A"/>
                </a:solidFill>
                <a:latin typeface="Calibri" pitchFamily="34" charset="0"/>
                <a:ea typeface="Calibri" pitchFamily="34" charset="-122"/>
                <a:cs typeface="Calibri" pitchFamily="34" charset="-120"/>
              </a:rPr>
              <a:t>Integration of the existing mitigation and air pollution modules · Co-benefits in Excel-AI-CPAT · Full error checking of legacy CPAT · Additional indicators in the dashboard</a:t>
            </a:r>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Status at 30 September 2026 · Use of AI in climate fiscal tools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0 · OVERVIEW</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Later this FY: the Shiny app and the applications</a:t>
            </a:r>
            <a:endParaRPr lang="en-US" sz="3200" dirty="0"/>
          </a:p>
        </p:txBody>
      </p:sp>
      <p:sp>
        <p:nvSpPr>
          <p:cNvPr id="345" name="Card 0"/>
          <p:cNvSpPr/>
          <p:nvPr/>
        </p:nvSpPr>
        <p:spPr>
          <a:xfrm>
            <a:off x="812800" y="1800000"/>
            <a:ext cx="2504440" cy="3550000"/>
          </a:xfrm>
          <a:prstGeom prst="roundRect">
            <a:avLst>
              <a:gd name="adj" fmla="val 2703"/>
            </a:avLst>
          </a:prstGeom>
          <a:solidFill>
            <a:srgbClr val="FFFFFF"/>
          </a:solidFill>
          <a:ln/>
        </p:spPr>
        <p:txBody>
          <a:bodyPr/>
          <a:p/>
        </p:txBody>
      </p:sp>
      <p:sp>
        <p:nvSpPr>
          <p:cNvPr id="346" name="Text 346"/>
          <p:cNvSpPr txBox="1"/>
          <p:nvPr/>
        </p:nvSpPr>
        <p:spPr>
          <a:xfrm>
            <a:off x="1041400" y="2000000"/>
            <a:ext cx="2047240" cy="200000"/>
          </a:xfrm>
          <a:prstGeom prst="rect">
            <a:avLst/>
          </a:prstGeom>
          <a:noFill/>
        </p:spPr>
        <p:txBody>
          <a:bodyPr wrap="square" lIns="0" tIns="0" rIns="0" bIns="0" rtlCol="0" anchor="t">
            <a:noAutofit/>
          </a:bodyPr>
          <a:lstStyle/>
          <a:p>
            <a:pPr algn="l" marL="0" indent="0">
              <a:lnSpc>
                <a:spcPct val="120000"/>
              </a:lnSpc>
              <a:buNone/>
            </a:pPr>
            <a:r>
              <a:rPr lang="en-US" sz="1100" b="1" dirty="0">
                <a:solidFill>
                  <a:srgbClr val="1F5A96"/>
                </a:solidFill>
                <a:latin typeface="Calibri" pitchFamily="34" charset="0"/>
                <a:ea typeface="Calibri" pitchFamily="34" charset="-122"/>
                <a:cs typeface="Calibri" pitchFamily="34" charset="-120"/>
              </a:rPr>
              <a:t>1c</a:t>
            </a:r>
            <a:r>
              <a:rPr lang="en-US" sz="1100" b="1" spc="100" dirty="0">
                <a:solidFill>
                  <a:srgbClr val="1F5A96"/>
                </a:solidFill>
                <a:latin typeface="Calibri" pitchFamily="34" charset="0"/>
                <a:ea typeface="Calibri" pitchFamily="34" charset="-122"/>
                <a:cs typeface="Calibri" pitchFamily="34" charset="-120"/>
              </a:rPr>
              <a:t> · OBJECTIVE ONE</a:t>
            </a:r>
          </a:p>
        </p:txBody>
      </p:sp>
      <p:sp>
        <p:nvSpPr>
          <p:cNvPr id="347" name="Text 347"/>
          <p:cNvSpPr txBox="1"/>
          <p:nvPr/>
        </p:nvSpPr>
        <p:spPr>
          <a:xfrm>
            <a:off x="1041400" y="2220000"/>
            <a:ext cx="2047240" cy="560000"/>
          </a:xfrm>
          <a:prstGeom prst="rect">
            <a:avLst/>
          </a:prstGeom>
          <a:noFill/>
        </p:spPr>
        <p:txBody>
          <a:bodyPr wrap="square" lIns="0" tIns="0" rIns="0" bIns="0" rtlCol="0" anchor="t">
            <a:noAutofit/>
          </a:bodyPr>
          <a:lstStyle/>
          <a:p>
            <a:pPr algn="l" marL="0" indent="0">
              <a:lnSpc>
                <a:spcPct val="105000"/>
              </a:lnSpc>
              <a:buNone/>
            </a:pPr>
            <a:r>
              <a:rPr lang="en-US" sz="1600" b="1" dirty="0">
                <a:solidFill>
                  <a:srgbClr val="14213D"/>
                </a:solidFill>
                <a:latin typeface="Calibri" pitchFamily="34" charset="0"/>
                <a:ea typeface="Calibri" pitchFamily="34" charset="-122"/>
                <a:cs typeface="Calibri" pitchFamily="34" charset="-120"/>
              </a:rPr>
              <a:t>Shiny app (online dashboard)</a:t>
            </a:r>
          </a:p>
        </p:txBody>
      </p:sp>
      <p:sp>
        <p:nvSpPr>
          <p:cNvPr id="348" name="Text 348"/>
          <p:cNvSpPr txBox="1"/>
          <p:nvPr/>
        </p:nvSpPr>
        <p:spPr>
          <a:xfrm>
            <a:off x="1041400" y="283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STEPHEN’S SCOPE</a:t>
            </a:r>
          </a:p>
        </p:txBody>
      </p:sp>
      <p:sp>
        <p:nvSpPr>
          <p:cNvPr id="349" name="Text 349"/>
          <p:cNvSpPr txBox="1"/>
          <p:nvPr/>
        </p:nvSpPr>
        <p:spPr>
          <a:xfrm>
            <a:off x="1041400" y="3030000"/>
            <a:ext cx="2047240" cy="1000000"/>
          </a:xfrm>
          <a:prstGeom prst="rect">
            <a:avLst/>
          </a:prstGeom>
          <a:noFill/>
        </p:spPr>
        <p:txBody>
          <a:bodyPr wrap="square" lIns="0" tIns="0" rIns="0" bIns="0" rtlCol="0" anchor="t">
            <a:noAutofit/>
          </a:bodyPr>
          <a:lstStyle/>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Set-up, then build and testing</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Online dashboard for the coded version</a:t>
            </a:r>
          </a:p>
        </p:txBody>
      </p:sp>
      <p:sp>
        <p:nvSpPr>
          <p:cNvPr id="350" name="Text 350"/>
          <p:cNvSpPr txBox="1"/>
          <p:nvPr/>
        </p:nvSpPr>
        <p:spPr>
          <a:xfrm>
            <a:off x="1041400" y="410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STATUS</a:t>
            </a:r>
          </a:p>
        </p:txBody>
      </p:sp>
      <p:sp>
        <p:nvSpPr>
          <p:cNvPr id="351" name="Text 351"/>
          <p:cNvSpPr txBox="1"/>
          <p:nvPr/>
        </p:nvSpPr>
        <p:spPr>
          <a:xfrm>
            <a:off x="1041400" y="4280000"/>
            <a:ext cx="2047240" cy="440000"/>
          </a:xfrm>
          <a:prstGeom prst="rect">
            <a:avLst/>
          </a:prstGeom>
          <a:noFill/>
        </p:spPr>
        <p:txBody>
          <a:bodyPr wrap="square" lIns="0" tIns="0" rIns="0" bIns="0" rtlCol="0" anchor="b">
            <a:noAutofit/>
          </a:bodyPr>
          <a:lstStyle/>
          <a:p>
            <a:pPr algn="l" marL="0" indent="0">
              <a:lnSpc>
                <a:spcPct val="100000"/>
              </a:lnSpc>
              <a:buNone/>
            </a:pPr>
            <a:r>
              <a:rPr lang="en-US" sz="2400" b="1" dirty="0">
                <a:solidFill>
                  <a:srgbClr val="1F5A96"/>
                </a:solidFill>
                <a:latin typeface="Cambria" pitchFamily="34" charset="0"/>
                <a:ea typeface="Cambria" pitchFamily="34" charset="-122"/>
                <a:cs typeface="Cambria" pitchFamily="34" charset="-120"/>
              </a:rPr>
              <a:t>Planned</a:t>
            </a:r>
            <a:r>
              <a:rPr lang="en-US" sz="1200" dirty="0">
                <a:solidFill>
                  <a:srgbClr val="5B6573"/>
                </a:solidFill>
                <a:latin typeface="Calibri" pitchFamily="34" charset="0"/>
                <a:ea typeface="Calibri" pitchFamily="34" charset="-122"/>
                <a:cs typeface="Calibri" pitchFamily="34" charset="-120"/>
              </a:rPr>
              <a:t>  from 18 Jan</a:t>
            </a:r>
          </a:p>
        </p:txBody>
      </p:sp>
      <p:sp>
        <p:nvSpPr>
          <p:cNvPr id="352" name="Text 352"/>
          <p:cNvSpPr txBox="1"/>
          <p:nvPr/>
        </p:nvSpPr>
        <p:spPr>
          <a:xfrm>
            <a:off x="1041400" y="4800000"/>
            <a:ext cx="2047240" cy="400000"/>
          </a:xfrm>
          <a:prstGeom prst="rect">
            <a:avLst/>
          </a:prstGeom>
          <a:noFill/>
        </p:spPr>
        <p:txBody>
          <a:bodyPr wrap="square" lIns="0" tIns="0" rIns="0" bIns="0" rtlCol="0" anchor="t">
            <a:noAutofit/>
          </a:bodyPr>
          <a:lstStyle/>
          <a:p>
            <a:pPr algn="l" marL="0" indent="0">
              <a:lnSpc>
                <a:spcPct val="110000"/>
              </a:lnSpc>
              <a:buNone/>
            </a:pPr>
            <a:r>
              <a:rPr lang="en-US" sz="1200" dirty="0">
                <a:solidFill>
                  <a:srgbClr val="5B6573"/>
                </a:solidFill>
                <a:latin typeface="Calibri" pitchFamily="34" charset="0"/>
                <a:ea typeface="Calibri" pitchFamily="34" charset="-122"/>
                <a:cs typeface="Calibri" pitchFamily="34" charset="-120"/>
              </a:rPr>
              <a:t>Final version by 5 Feb (1c_m1)</a:t>
            </a:r>
          </a:p>
        </p:txBody>
      </p:sp>
      <p:sp>
        <p:nvSpPr>
          <p:cNvPr id="353" name="Card 1"/>
          <p:cNvSpPr/>
          <p:nvPr/>
        </p:nvSpPr>
        <p:spPr>
          <a:xfrm>
            <a:off x="3500120" y="1800000"/>
            <a:ext cx="2504440" cy="3550000"/>
          </a:xfrm>
          <a:prstGeom prst="roundRect">
            <a:avLst>
              <a:gd name="adj" fmla="val 2703"/>
            </a:avLst>
          </a:prstGeom>
          <a:solidFill>
            <a:srgbClr val="FFFFFF"/>
          </a:solidFill>
          <a:ln/>
        </p:spPr>
        <p:txBody>
          <a:bodyPr/>
          <a:p/>
        </p:txBody>
      </p:sp>
      <p:sp>
        <p:nvSpPr>
          <p:cNvPr id="354" name="Text 354"/>
          <p:cNvSpPr txBox="1"/>
          <p:nvPr/>
        </p:nvSpPr>
        <p:spPr>
          <a:xfrm>
            <a:off x="3728720" y="2000000"/>
            <a:ext cx="2047240" cy="200000"/>
          </a:xfrm>
          <a:prstGeom prst="rect">
            <a:avLst/>
          </a:prstGeom>
          <a:noFill/>
        </p:spPr>
        <p:txBody>
          <a:bodyPr wrap="square" lIns="0" tIns="0" rIns="0" bIns="0" rtlCol="0" anchor="t">
            <a:noAutofit/>
          </a:bodyPr>
          <a:lstStyle/>
          <a:p>
            <a:pPr algn="l" marL="0" indent="0">
              <a:lnSpc>
                <a:spcPct val="120000"/>
              </a:lnSpc>
              <a:buNone/>
            </a:pPr>
            <a:r>
              <a:rPr lang="en-US" sz="1100" b="1" dirty="0">
                <a:solidFill>
                  <a:srgbClr val="14213D"/>
                </a:solidFill>
                <a:latin typeface="Calibri" pitchFamily="34" charset="0"/>
                <a:ea typeface="Calibri" pitchFamily="34" charset="-122"/>
                <a:cs typeface="Calibri" pitchFamily="34" charset="-120"/>
              </a:rPr>
              <a:t>2a</a:t>
            </a:r>
            <a:r>
              <a:rPr lang="en-US" sz="1100" b="1" spc="100" dirty="0">
                <a:solidFill>
                  <a:srgbClr val="14213D"/>
                </a:solidFill>
                <a:latin typeface="Calibri" pitchFamily="34" charset="0"/>
                <a:ea typeface="Calibri" pitchFamily="34" charset="-122"/>
                <a:cs typeface="Calibri" pitchFamily="34" charset="-120"/>
              </a:rPr>
              <a:t> · OBJECTIVE TWO</a:t>
            </a:r>
          </a:p>
        </p:txBody>
      </p:sp>
      <p:sp>
        <p:nvSpPr>
          <p:cNvPr id="355" name="Text 355"/>
          <p:cNvSpPr txBox="1"/>
          <p:nvPr/>
        </p:nvSpPr>
        <p:spPr>
          <a:xfrm>
            <a:off x="3728720" y="2220000"/>
            <a:ext cx="2047240" cy="560000"/>
          </a:xfrm>
          <a:prstGeom prst="rect">
            <a:avLst/>
          </a:prstGeom>
          <a:noFill/>
        </p:spPr>
        <p:txBody>
          <a:bodyPr wrap="square" lIns="0" tIns="0" rIns="0" bIns="0" rtlCol="0" anchor="t">
            <a:noAutofit/>
          </a:bodyPr>
          <a:lstStyle/>
          <a:p>
            <a:pPr algn="l" marL="0" indent="0">
              <a:lnSpc>
                <a:spcPct val="105000"/>
              </a:lnSpc>
              <a:buNone/>
            </a:pPr>
            <a:r>
              <a:rPr lang="en-US" sz="1600" b="1" dirty="0">
                <a:solidFill>
                  <a:srgbClr val="14213D"/>
                </a:solidFill>
                <a:latin typeface="Calibri" pitchFamily="34" charset="0"/>
                <a:ea typeface="Calibri" pitchFamily="34" charset="-122"/>
                <a:cs typeface="Calibri" pitchFamily="34" charset="-120"/>
              </a:rPr>
              <a:t>Application to GHG accounting and FFI</a:t>
            </a:r>
          </a:p>
        </p:txBody>
      </p:sp>
      <p:sp>
        <p:nvSpPr>
          <p:cNvPr id="356" name="Text 356"/>
          <p:cNvSpPr txBox="1"/>
          <p:nvPr/>
        </p:nvSpPr>
        <p:spPr>
          <a:xfrm>
            <a:off x="3728720" y="283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STEPHEN’S SCOPE</a:t>
            </a:r>
          </a:p>
        </p:txBody>
      </p:sp>
      <p:sp>
        <p:nvSpPr>
          <p:cNvPr id="357" name="Text 357"/>
          <p:cNvSpPr txBox="1"/>
          <p:nvPr/>
        </p:nvSpPr>
        <p:spPr>
          <a:xfrm>
            <a:off x="3728720" y="3030000"/>
            <a:ext cx="2047240" cy="1000000"/>
          </a:xfrm>
          <a:prstGeom prst="rect">
            <a:avLst/>
          </a:prstGeom>
          <a:noFill/>
        </p:spPr>
        <p:txBody>
          <a:bodyPr wrap="square" lIns="0" tIns="0" rIns="0" bIns="0" rtlCol="0" anchor="t">
            <a:noAutofit/>
          </a:bodyPr>
          <a:lstStyle/>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GHG accounting MVP, with the Total Carbon Price</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Crediting and FFI</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Simple Excel-AI-CPAT tool only</a:t>
            </a:r>
          </a:p>
        </p:txBody>
      </p:sp>
      <p:sp>
        <p:nvSpPr>
          <p:cNvPr id="358" name="Text 358"/>
          <p:cNvSpPr txBox="1"/>
          <p:nvPr/>
        </p:nvSpPr>
        <p:spPr>
          <a:xfrm>
            <a:off x="3728720" y="410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STATUS</a:t>
            </a:r>
          </a:p>
        </p:txBody>
      </p:sp>
      <p:sp>
        <p:nvSpPr>
          <p:cNvPr id="359" name="Text 359"/>
          <p:cNvSpPr txBox="1"/>
          <p:nvPr/>
        </p:nvSpPr>
        <p:spPr>
          <a:xfrm>
            <a:off x="3728720" y="4280000"/>
            <a:ext cx="2047240" cy="440000"/>
          </a:xfrm>
          <a:prstGeom prst="rect">
            <a:avLst/>
          </a:prstGeom>
          <a:noFill/>
        </p:spPr>
        <p:txBody>
          <a:bodyPr wrap="square" lIns="0" tIns="0" rIns="0" bIns="0" rtlCol="0" anchor="b">
            <a:noAutofit/>
          </a:bodyPr>
          <a:lstStyle/>
          <a:p>
            <a:pPr algn="l" marL="0" indent="0">
              <a:lnSpc>
                <a:spcPct val="100000"/>
              </a:lnSpc>
              <a:buNone/>
            </a:pPr>
            <a:r>
              <a:rPr lang="en-US" sz="2400" b="1" dirty="0">
                <a:solidFill>
                  <a:srgbClr val="14213D"/>
                </a:solidFill>
                <a:latin typeface="Cambria" pitchFamily="34" charset="0"/>
                <a:ea typeface="Cambria" pitchFamily="34" charset="-122"/>
                <a:cs typeface="Cambria" pitchFamily="34" charset="-120"/>
              </a:rPr>
              <a:t>Planned</a:t>
            </a:r>
            <a:r>
              <a:rPr lang="en-US" sz="1200" dirty="0">
                <a:solidFill>
                  <a:srgbClr val="5B6573"/>
                </a:solidFill>
                <a:latin typeface="Calibri" pitchFamily="34" charset="0"/>
                <a:ea typeface="Calibri" pitchFamily="34" charset="-122"/>
                <a:cs typeface="Calibri" pitchFamily="34" charset="-120"/>
              </a:rPr>
              <a:t>  from 15 Feb</a:t>
            </a:r>
          </a:p>
        </p:txBody>
      </p:sp>
      <p:sp>
        <p:nvSpPr>
          <p:cNvPr id="360" name="Text 360"/>
          <p:cNvSpPr txBox="1"/>
          <p:nvPr/>
        </p:nvSpPr>
        <p:spPr>
          <a:xfrm>
            <a:off x="3728720" y="4800000"/>
            <a:ext cx="2047240" cy="400000"/>
          </a:xfrm>
          <a:prstGeom prst="rect">
            <a:avLst/>
          </a:prstGeom>
          <a:noFill/>
        </p:spPr>
        <p:txBody>
          <a:bodyPr wrap="square" lIns="0" tIns="0" rIns="0" bIns="0" rtlCol="0" anchor="t">
            <a:noAutofit/>
          </a:bodyPr>
          <a:lstStyle/>
          <a:p>
            <a:pPr algn="l" marL="0" indent="0">
              <a:lnSpc>
                <a:spcPct val="110000"/>
              </a:lnSpc>
              <a:buNone/>
            </a:pPr>
            <a:r>
              <a:rPr lang="en-US" sz="1200" dirty="0">
                <a:solidFill>
                  <a:srgbClr val="5B6573"/>
                </a:solidFill>
                <a:latin typeface="Calibri" pitchFamily="34" charset="0"/>
                <a:ea typeface="Calibri" pitchFamily="34" charset="-122"/>
                <a:cs typeface="Calibri" pitchFamily="34" charset="-120"/>
              </a:rPr>
              <a:t>Delivered by 5 Mar (2a_m1)</a:t>
            </a:r>
          </a:p>
        </p:txBody>
      </p:sp>
      <p:sp>
        <p:nvSpPr>
          <p:cNvPr id="361" name="Card 2"/>
          <p:cNvSpPr/>
          <p:nvPr/>
        </p:nvSpPr>
        <p:spPr>
          <a:xfrm>
            <a:off x="6187440" y="1800000"/>
            <a:ext cx="2504440" cy="3550000"/>
          </a:xfrm>
          <a:prstGeom prst="roundRect">
            <a:avLst>
              <a:gd name="adj" fmla="val 2703"/>
            </a:avLst>
          </a:prstGeom>
          <a:solidFill>
            <a:srgbClr val="FFFFFF"/>
          </a:solidFill>
          <a:ln/>
        </p:spPr>
        <p:txBody>
          <a:bodyPr/>
          <a:p/>
        </p:txBody>
      </p:sp>
      <p:sp>
        <p:nvSpPr>
          <p:cNvPr id="362" name="Text 362"/>
          <p:cNvSpPr txBox="1"/>
          <p:nvPr/>
        </p:nvSpPr>
        <p:spPr>
          <a:xfrm>
            <a:off x="6416040" y="2000000"/>
            <a:ext cx="2047240" cy="200000"/>
          </a:xfrm>
          <a:prstGeom prst="rect">
            <a:avLst/>
          </a:prstGeom>
          <a:noFill/>
        </p:spPr>
        <p:txBody>
          <a:bodyPr wrap="square" lIns="0" tIns="0" rIns="0" bIns="0" rtlCol="0" anchor="t">
            <a:noAutofit/>
          </a:bodyPr>
          <a:lstStyle/>
          <a:p>
            <a:pPr algn="l" marL="0" indent="0">
              <a:lnSpc>
                <a:spcPct val="120000"/>
              </a:lnSpc>
              <a:buNone/>
            </a:pPr>
            <a:r>
              <a:rPr lang="en-US" sz="1100" b="1" dirty="0">
                <a:solidFill>
                  <a:srgbClr val="14213D"/>
                </a:solidFill>
                <a:latin typeface="Calibri" pitchFamily="34" charset="0"/>
                <a:ea typeface="Calibri" pitchFamily="34" charset="-122"/>
                <a:cs typeface="Calibri" pitchFamily="34" charset="-120"/>
              </a:rPr>
              <a:t>2b</a:t>
            </a:r>
            <a:r>
              <a:rPr lang="en-US" sz="1100" b="1" spc="100" dirty="0">
                <a:solidFill>
                  <a:srgbClr val="14213D"/>
                </a:solidFill>
                <a:latin typeface="Calibri" pitchFamily="34" charset="0"/>
                <a:ea typeface="Calibri" pitchFamily="34" charset="-122"/>
                <a:cs typeface="Calibri" pitchFamily="34" charset="-120"/>
              </a:rPr>
              <a:t> · OBJECTIVE TWO</a:t>
            </a:r>
          </a:p>
        </p:txBody>
      </p:sp>
      <p:sp>
        <p:nvSpPr>
          <p:cNvPr id="363" name="Text 363"/>
          <p:cNvSpPr txBox="1"/>
          <p:nvPr/>
        </p:nvSpPr>
        <p:spPr>
          <a:xfrm>
            <a:off x="6416040" y="2220000"/>
            <a:ext cx="2047240" cy="560000"/>
          </a:xfrm>
          <a:prstGeom prst="rect">
            <a:avLst/>
          </a:prstGeom>
          <a:noFill/>
        </p:spPr>
        <p:txBody>
          <a:bodyPr wrap="square" lIns="0" tIns="0" rIns="0" bIns="0" rtlCol="0" anchor="t">
            <a:noAutofit/>
          </a:bodyPr>
          <a:lstStyle/>
          <a:p>
            <a:pPr algn="l" marL="0" indent="0">
              <a:lnSpc>
                <a:spcPct val="105000"/>
              </a:lnSpc>
              <a:buNone/>
            </a:pPr>
            <a:r>
              <a:rPr lang="en-US" sz="1600" b="1" dirty="0">
                <a:solidFill>
                  <a:srgbClr val="14213D"/>
                </a:solidFill>
                <a:latin typeface="Calibri" pitchFamily="34" charset="0"/>
                <a:ea typeface="Calibri" pitchFamily="34" charset="-122"/>
                <a:cs typeface="Calibri" pitchFamily="34" charset="-120"/>
              </a:rPr>
              <a:t>Existing models: FTT and MFMod (tbc)</a:t>
            </a:r>
          </a:p>
        </p:txBody>
      </p:sp>
      <p:sp>
        <p:nvSpPr>
          <p:cNvPr id="364" name="Text 364"/>
          <p:cNvSpPr txBox="1"/>
          <p:nvPr/>
        </p:nvSpPr>
        <p:spPr>
          <a:xfrm>
            <a:off x="6416040" y="283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STEPHEN’S SCOPE</a:t>
            </a:r>
          </a:p>
        </p:txBody>
      </p:sp>
      <p:sp>
        <p:nvSpPr>
          <p:cNvPr id="365" name="Text 365"/>
          <p:cNvSpPr txBox="1"/>
          <p:nvPr/>
        </p:nvSpPr>
        <p:spPr>
          <a:xfrm>
            <a:off x="6416040" y="3030000"/>
            <a:ext cx="2047240" cy="1000000"/>
          </a:xfrm>
          <a:prstGeom prst="rect">
            <a:avLst/>
          </a:prstGeom>
          <a:noFill/>
        </p:spPr>
        <p:txBody>
          <a:bodyPr wrap="square" lIns="0" tIns="0" rIns="0" bIns="0" rtlCol="0" anchor="t">
            <a:noAutofit/>
          </a:bodyPr>
          <a:lstStyle/>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CPAT, FTT and MFMod-Python (tbc) on one platform</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One user guide</a:t>
            </a:r>
          </a:p>
        </p:txBody>
      </p:sp>
      <p:sp>
        <p:nvSpPr>
          <p:cNvPr id="366" name="Text 366"/>
          <p:cNvSpPr txBox="1"/>
          <p:nvPr/>
        </p:nvSpPr>
        <p:spPr>
          <a:xfrm>
            <a:off x="6416040" y="410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STATUS</a:t>
            </a:r>
          </a:p>
        </p:txBody>
      </p:sp>
      <p:sp>
        <p:nvSpPr>
          <p:cNvPr id="367" name="Text 367"/>
          <p:cNvSpPr txBox="1"/>
          <p:nvPr/>
        </p:nvSpPr>
        <p:spPr>
          <a:xfrm>
            <a:off x="6416040" y="4280000"/>
            <a:ext cx="2047240" cy="440000"/>
          </a:xfrm>
          <a:prstGeom prst="rect">
            <a:avLst/>
          </a:prstGeom>
          <a:noFill/>
        </p:spPr>
        <p:txBody>
          <a:bodyPr wrap="square" lIns="0" tIns="0" rIns="0" bIns="0" rtlCol="0" anchor="b">
            <a:noAutofit/>
          </a:bodyPr>
          <a:lstStyle/>
          <a:p>
            <a:pPr algn="l" marL="0" indent="0">
              <a:lnSpc>
                <a:spcPct val="100000"/>
              </a:lnSpc>
              <a:buNone/>
            </a:pPr>
            <a:r>
              <a:rPr lang="en-US" sz="2400" b="1" dirty="0">
                <a:solidFill>
                  <a:srgbClr val="14213D"/>
                </a:solidFill>
                <a:latin typeface="Cambria" pitchFamily="34" charset="0"/>
                <a:ea typeface="Cambria" pitchFamily="34" charset="-122"/>
                <a:cs typeface="Cambria" pitchFamily="34" charset="-120"/>
              </a:rPr>
              <a:t>Planned</a:t>
            </a:r>
            <a:r>
              <a:rPr lang="en-US" sz="1200" dirty="0">
                <a:solidFill>
                  <a:srgbClr val="5B6573"/>
                </a:solidFill>
                <a:latin typeface="Calibri" pitchFamily="34" charset="0"/>
                <a:ea typeface="Calibri" pitchFamily="34" charset="-122"/>
                <a:cs typeface="Calibri" pitchFamily="34" charset="-120"/>
              </a:rPr>
              <a:t>  from 8 Feb</a:t>
            </a:r>
          </a:p>
        </p:txBody>
      </p:sp>
      <p:sp>
        <p:nvSpPr>
          <p:cNvPr id="368" name="Text 368"/>
          <p:cNvSpPr txBox="1"/>
          <p:nvPr/>
        </p:nvSpPr>
        <p:spPr>
          <a:xfrm>
            <a:off x="6416040" y="4800000"/>
            <a:ext cx="2047240" cy="400000"/>
          </a:xfrm>
          <a:prstGeom prst="rect">
            <a:avLst/>
          </a:prstGeom>
          <a:noFill/>
        </p:spPr>
        <p:txBody>
          <a:bodyPr wrap="square" lIns="0" tIns="0" rIns="0" bIns="0" rtlCol="0" anchor="t">
            <a:noAutofit/>
          </a:bodyPr>
          <a:lstStyle/>
          <a:p>
            <a:pPr algn="l" marL="0" indent="0">
              <a:lnSpc>
                <a:spcPct val="110000"/>
              </a:lnSpc>
              <a:buNone/>
            </a:pPr>
            <a:r>
              <a:rPr lang="en-US" sz="1200" dirty="0">
                <a:solidFill>
                  <a:srgbClr val="5B6573"/>
                </a:solidFill>
                <a:latin typeface="Calibri" pitchFamily="34" charset="0"/>
                <a:ea typeface="Calibri" pitchFamily="34" charset="-122"/>
                <a:cs typeface="Calibri" pitchFamily="34" charset="-120"/>
              </a:rPr>
              <a:t>Working smoothly by 12 Feb (2b_m2)</a:t>
            </a:r>
          </a:p>
        </p:txBody>
      </p:sp>
      <p:sp>
        <p:nvSpPr>
          <p:cNvPr id="369" name="Card 3"/>
          <p:cNvSpPr/>
          <p:nvPr/>
        </p:nvSpPr>
        <p:spPr>
          <a:xfrm>
            <a:off x="8874760" y="1800000"/>
            <a:ext cx="2504440" cy="3550000"/>
          </a:xfrm>
          <a:prstGeom prst="roundRect">
            <a:avLst>
              <a:gd name="adj" fmla="val 2703"/>
            </a:avLst>
          </a:prstGeom>
          <a:solidFill>
            <a:srgbClr val="FFFFFF"/>
          </a:solidFill>
          <a:ln/>
        </p:spPr>
        <p:txBody>
          <a:bodyPr/>
          <a:p/>
        </p:txBody>
      </p:sp>
      <p:sp>
        <p:nvSpPr>
          <p:cNvPr id="370" name="Text 370"/>
          <p:cNvSpPr txBox="1"/>
          <p:nvPr/>
        </p:nvSpPr>
        <p:spPr>
          <a:xfrm>
            <a:off x="9103360" y="2000000"/>
            <a:ext cx="2047240" cy="200000"/>
          </a:xfrm>
          <a:prstGeom prst="rect">
            <a:avLst/>
          </a:prstGeom>
          <a:noFill/>
        </p:spPr>
        <p:txBody>
          <a:bodyPr wrap="square" lIns="0" tIns="0" rIns="0" bIns="0" rtlCol="0" anchor="t">
            <a:noAutofit/>
          </a:bodyPr>
          <a:lstStyle/>
          <a:p>
            <a:pPr algn="l" marL="0" indent="0">
              <a:lnSpc>
                <a:spcPct val="120000"/>
              </a:lnSpc>
              <a:buNone/>
            </a:pPr>
            <a:r>
              <a:rPr lang="en-US" sz="1100" b="1" dirty="0">
                <a:solidFill>
                  <a:srgbClr val="14213D"/>
                </a:solidFill>
                <a:latin typeface="Calibri" pitchFamily="34" charset="0"/>
                <a:ea typeface="Calibri" pitchFamily="34" charset="-122"/>
                <a:cs typeface="Calibri" pitchFamily="34" charset="-120"/>
              </a:rPr>
              <a:t>2c</a:t>
            </a:r>
            <a:r>
              <a:rPr lang="en-US" sz="1100" b="1" spc="100" dirty="0">
                <a:solidFill>
                  <a:srgbClr val="14213D"/>
                </a:solidFill>
                <a:latin typeface="Calibri" pitchFamily="34" charset="0"/>
                <a:ea typeface="Calibri" pitchFamily="34" charset="-122"/>
                <a:cs typeface="Calibri" pitchFamily="34" charset="-120"/>
              </a:rPr>
              <a:t> · OBJECTIVE TWO</a:t>
            </a:r>
          </a:p>
        </p:txBody>
      </p:sp>
      <p:sp>
        <p:nvSpPr>
          <p:cNvPr id="371" name="Text 371"/>
          <p:cNvSpPr txBox="1"/>
          <p:nvPr/>
        </p:nvSpPr>
        <p:spPr>
          <a:xfrm>
            <a:off x="9103360" y="2220000"/>
            <a:ext cx="2047240" cy="560000"/>
          </a:xfrm>
          <a:prstGeom prst="rect">
            <a:avLst/>
          </a:prstGeom>
          <a:noFill/>
        </p:spPr>
        <p:txBody>
          <a:bodyPr wrap="square" lIns="0" tIns="0" rIns="0" bIns="0" rtlCol="0" anchor="t">
            <a:noAutofit/>
          </a:bodyPr>
          <a:lstStyle/>
          <a:p>
            <a:pPr algn="l" marL="0" indent="0">
              <a:lnSpc>
                <a:spcPct val="105000"/>
              </a:lnSpc>
              <a:buNone/>
            </a:pPr>
            <a:r>
              <a:rPr lang="en-US" sz="1600" b="1" dirty="0">
                <a:solidFill>
                  <a:srgbClr val="14213D"/>
                </a:solidFill>
                <a:latin typeface="Calibri" pitchFamily="34" charset="0"/>
                <a:ea typeface="Calibri" pitchFamily="34" charset="-122"/>
                <a:cs typeface="Calibri" pitchFamily="34" charset="-120"/>
              </a:rPr>
              <a:t>Pathways tool and pilot country projects</a:t>
            </a:r>
          </a:p>
        </p:txBody>
      </p:sp>
      <p:sp>
        <p:nvSpPr>
          <p:cNvPr id="372" name="Text 372"/>
          <p:cNvSpPr txBox="1"/>
          <p:nvPr/>
        </p:nvSpPr>
        <p:spPr>
          <a:xfrm>
            <a:off x="9103360" y="283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STEPHEN’S SCOPE</a:t>
            </a:r>
          </a:p>
        </p:txBody>
      </p:sp>
      <p:sp>
        <p:nvSpPr>
          <p:cNvPr id="373" name="Text 373"/>
          <p:cNvSpPr txBox="1"/>
          <p:nvPr/>
        </p:nvSpPr>
        <p:spPr>
          <a:xfrm>
            <a:off x="9103360" y="3030000"/>
            <a:ext cx="2047240" cy="1000000"/>
          </a:xfrm>
          <a:prstGeom prst="rect">
            <a:avLst/>
          </a:prstGeom>
          <a:noFill/>
        </p:spPr>
        <p:txBody>
          <a:bodyPr wrap="square" lIns="0" tIns="0" rIns="0" bIns="0" rtlCol="0" anchor="t">
            <a:noAutofit/>
          </a:bodyPr>
          <a:lstStyle/>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Planning and Egypt work</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Pathways integration, supervising the CPM team</a:t>
            </a:r>
          </a:p>
          <a:p>
            <a:pPr algn="l" marL="171450" indent="-171450">
              <a:lnSpc>
                <a:spcPct val="110000"/>
              </a:lnSpc>
              <a:spcAft>
                <a:spcPts val="150"/>
              </a:spcAft>
              <a:buSzPct val="100000"/>
              <a:buChar char="•"/>
            </a:pPr>
            <a:r>
              <a:rPr lang="en-US" sz="1200" dirty="0">
                <a:solidFill>
                  <a:srgbClr val="3F4A5A"/>
                </a:solidFill>
                <a:latin typeface="Calibri" pitchFamily="34" charset="0"/>
                <a:ea typeface="Calibri" pitchFamily="34" charset="-122"/>
                <a:cs typeface="Calibri" pitchFamily="34" charset="-120"/>
              </a:rPr>
              <a:t>Pilot country projects</a:t>
            </a:r>
          </a:p>
        </p:txBody>
      </p:sp>
      <p:sp>
        <p:nvSpPr>
          <p:cNvPr id="374" name="Text 374"/>
          <p:cNvSpPr txBox="1"/>
          <p:nvPr/>
        </p:nvSpPr>
        <p:spPr>
          <a:xfrm>
            <a:off x="9103360" y="4100000"/>
            <a:ext cx="2047240" cy="18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STATUS</a:t>
            </a:r>
          </a:p>
        </p:txBody>
      </p:sp>
      <p:sp>
        <p:nvSpPr>
          <p:cNvPr id="375" name="Text 375"/>
          <p:cNvSpPr txBox="1"/>
          <p:nvPr/>
        </p:nvSpPr>
        <p:spPr>
          <a:xfrm>
            <a:off x="9103360" y="4280000"/>
            <a:ext cx="2047240" cy="440000"/>
          </a:xfrm>
          <a:prstGeom prst="rect">
            <a:avLst/>
          </a:prstGeom>
          <a:noFill/>
        </p:spPr>
        <p:txBody>
          <a:bodyPr wrap="square" lIns="0" tIns="0" rIns="0" bIns="0" rtlCol="0" anchor="b">
            <a:noAutofit/>
          </a:bodyPr>
          <a:lstStyle/>
          <a:p>
            <a:pPr algn="l" marL="0" indent="0">
              <a:lnSpc>
                <a:spcPct val="100000"/>
              </a:lnSpc>
              <a:buNone/>
            </a:pPr>
            <a:r>
              <a:rPr lang="en-US" sz="2400" b="1" dirty="0">
                <a:solidFill>
                  <a:srgbClr val="14213D"/>
                </a:solidFill>
                <a:latin typeface="Cambria" pitchFamily="34" charset="0"/>
                <a:ea typeface="Cambria" pitchFamily="34" charset="-122"/>
                <a:cs typeface="Cambria" pitchFamily="34" charset="-120"/>
              </a:rPr>
              <a:t>Under way</a:t>
            </a:r>
            <a:r>
              <a:rPr lang="en-US" sz="1200" dirty="0">
                <a:solidFill>
                  <a:srgbClr val="5B6573"/>
                </a:solidFill>
                <a:latin typeface="Calibri" pitchFamily="34" charset="0"/>
                <a:ea typeface="Calibri" pitchFamily="34" charset="-122"/>
                <a:cs typeface="Calibri" pitchFamily="34" charset="-120"/>
              </a:rPr>
              <a:t>  </a:t>
            </a:r>
          </a:p>
        </p:txBody>
      </p:sp>
      <p:sp>
        <p:nvSpPr>
          <p:cNvPr id="376" name="Text 376"/>
          <p:cNvSpPr txBox="1"/>
          <p:nvPr/>
        </p:nvSpPr>
        <p:spPr>
          <a:xfrm>
            <a:off x="9103360" y="4800000"/>
            <a:ext cx="2047240" cy="400000"/>
          </a:xfrm>
          <a:prstGeom prst="rect">
            <a:avLst/>
          </a:prstGeom>
          <a:noFill/>
        </p:spPr>
        <p:txBody>
          <a:bodyPr wrap="square" lIns="0" tIns="0" rIns="0" bIns="0" rtlCol="0" anchor="t">
            <a:noAutofit/>
          </a:bodyPr>
          <a:lstStyle/>
          <a:p>
            <a:pPr algn="l" marL="0" indent="0">
              <a:lnSpc>
                <a:spcPct val="110000"/>
              </a:lnSpc>
              <a:buNone/>
            </a:pPr>
            <a:r>
              <a:rPr lang="en-US" sz="1200" dirty="0">
                <a:solidFill>
                  <a:srgbClr val="5B6573"/>
                </a:solidFill>
                <a:latin typeface="Calibri" pitchFamily="34" charset="0"/>
                <a:ea typeface="Calibri" pitchFamily="34" charset="-122"/>
                <a:cs typeface="Calibri" pitchFamily="34" charset="-120"/>
              </a:rPr>
              <a:t>Pathways tool complete by 15 Jan (2c_m1)</a:t>
            </a:r>
          </a:p>
        </p:txBody>
      </p:sp>
      <p:sp>
        <p:nvSpPr>
          <p:cNvPr id="377" name="Text 377"/>
          <p:cNvSpPr txBox="1"/>
          <p:nvPr/>
        </p:nvSpPr>
        <p:spPr>
          <a:xfrm>
            <a:off x="812800" y="5480000"/>
            <a:ext cx="1350000" cy="20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OUT OF SCOPE</a:t>
            </a:r>
          </a:p>
        </p:txBody>
      </p:sp>
      <p:sp>
        <p:nvSpPr>
          <p:cNvPr id="378" name="Text 378"/>
          <p:cNvSpPr txBox="1"/>
          <p:nvPr/>
        </p:nvSpPr>
        <p:spPr>
          <a:xfrm>
            <a:off x="2250000" y="5480000"/>
            <a:ext cx="9129200" cy="190000"/>
          </a:xfrm>
          <a:prstGeom prst="rect">
            <a:avLst/>
          </a:prstGeom>
          <a:noFill/>
        </p:spPr>
        <p:txBody>
          <a:bodyPr wrap="square" lIns="0" tIns="0" rIns="0" bIns="0" rtlCol="0" anchor="t">
            <a:noAutofit/>
          </a:bodyPr>
          <a:lstStyle/>
          <a:p>
            <a:pPr algn="l" marL="0" indent="0">
              <a:lnSpc>
                <a:spcPct val="110000"/>
              </a:lnSpc>
              <a:buNone/>
            </a:pPr>
            <a:r>
              <a:rPr lang="en-US" sz="1200" dirty="0">
                <a:solidFill>
                  <a:srgbClr val="3F4A5A"/>
                </a:solidFill>
                <a:latin typeface="Calibri" pitchFamily="34" charset="0"/>
                <a:ea typeface="Calibri" pitchFamily="34" charset="-122"/>
                <a:cs typeface="Calibri" pitchFamily="34" charset="-120"/>
              </a:rPr>
              <a:t>Anything beyond a simple Excel-AI-CPAT tool for each use · Full integration of FTT and MFMod into CPAT · Further model development</a:t>
            </a:r>
          </a:p>
        </p:txBody>
      </p:sp>
      <p:sp>
        <p:nvSpPr>
          <p:cNvPr id="379" name="Text 379"/>
          <p:cNvSpPr txBox="1"/>
          <p:nvPr/>
        </p:nvSpPr>
        <p:spPr>
          <a:xfrm>
            <a:off x="812800" y="5760000"/>
            <a:ext cx="1350000" cy="20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5B6573"/>
                </a:solidFill>
                <a:latin typeface="Calibri" pitchFamily="34" charset="0"/>
                <a:ea typeface="Calibri" pitchFamily="34" charset="-122"/>
                <a:cs typeface="Calibri" pitchFamily="34" charset="-120"/>
              </a:rPr>
              <a:t>NOT FUNDED</a:t>
            </a:r>
          </a:p>
        </p:txBody>
      </p:sp>
      <p:sp>
        <p:nvSpPr>
          <p:cNvPr id="380" name="Text 380"/>
          <p:cNvSpPr txBox="1"/>
          <p:nvPr/>
        </p:nvSpPr>
        <p:spPr>
          <a:xfrm>
            <a:off x="2250000" y="5760000"/>
            <a:ext cx="9129200" cy="190000"/>
          </a:xfrm>
          <a:prstGeom prst="rect">
            <a:avLst/>
          </a:prstGeom>
          <a:noFill/>
        </p:spPr>
        <p:txBody>
          <a:bodyPr wrap="square" lIns="0" tIns="0" rIns="0" bIns="0" rtlCol="0" anchor="t">
            <a:noAutofit/>
          </a:bodyPr>
          <a:lstStyle/>
          <a:p>
            <a:pPr algn="l" marL="0" indent="0">
              <a:lnSpc>
                <a:spcPct val="110000"/>
              </a:lnSpc>
              <a:buNone/>
            </a:pPr>
            <a:r>
              <a:rPr lang="en-US" sz="1200" dirty="0">
                <a:solidFill>
                  <a:srgbClr val="3F4A5A"/>
                </a:solidFill>
                <a:latin typeface="Calibri" pitchFamily="34" charset="0"/>
                <a:ea typeface="Calibri" pitchFamily="34" charset="-122"/>
                <a:cs typeface="Calibri" pitchFamily="34" charset="-120"/>
              </a:rPr>
              <a:t>Energy GP cross-support (3c, tbc): 0–2 weeks, only if funding appears</a:t>
            </a:r>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Status at 30 September 2026 · Use of AI in climate fiscal tools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0 · OVERVIEW</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How we use AI: one main tool, two modes</a:t>
            </a:r>
            <a:endParaRPr lang="en-US" sz="3200" dirty="0"/>
          </a:p>
        </p:txBody>
      </p:sp>
      <p:sp>
        <p:nvSpPr>
          <p:cNvPr id="301" name="Card 302"/>
          <p:cNvSpPr/>
          <p:nvPr/>
        </p:nvSpPr>
        <p:spPr>
          <a:xfrm>
            <a:off x="812800" y="1850000"/>
            <a:ext cx="2504440" cy="3350000"/>
          </a:xfrm>
          <a:prstGeom prst="roundRect">
            <a:avLst>
              <a:gd name="adj" fmla="val 2703"/>
            </a:avLst>
          </a:prstGeom>
          <a:solidFill>
            <a:srgbClr val="FFFFFF"/>
          </a:solidFill>
          <a:ln/>
        </p:spPr>
        <p:txBody>
          <a:bodyPr/>
          <a:p/>
        </p:txBody>
      </p:sp>
      <p:sp>
        <p:nvSpPr>
          <p:cNvPr id="303" name="Text 303"/>
          <p:cNvSpPr txBox="1"/>
          <p:nvPr/>
        </p:nvSpPr>
        <p:spPr>
          <a:xfrm>
            <a:off x="1041400" y="2080000"/>
            <a:ext cx="2047240" cy="20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14213D"/>
                </a:solidFill>
                <a:latin typeface="Calibri" pitchFamily="34" charset="0"/>
                <a:ea typeface="Calibri" pitchFamily="34" charset="-122"/>
                <a:cs typeface="Calibri" pitchFamily="34" charset="-120"/>
              </a:rPr>
              <a:t>MAIN TOOL</a:t>
            </a:r>
          </a:p>
        </p:txBody>
      </p:sp>
      <p:sp>
        <p:nvSpPr>
          <p:cNvPr id="304" name="Text 304"/>
          <p:cNvSpPr txBox="1"/>
          <p:nvPr/>
        </p:nvSpPr>
        <p:spPr>
          <a:xfrm>
            <a:off x="1041400" y="2330000"/>
            <a:ext cx="2047240" cy="560000"/>
          </a:xfrm>
          <a:prstGeom prst="rect">
            <a:avLst/>
          </a:prstGeom>
          <a:noFill/>
        </p:spPr>
        <p:txBody>
          <a:bodyPr wrap="square" lIns="0" tIns="0" rIns="0" bIns="0" rtlCol="0" anchor="t">
            <a:noAutofit/>
          </a:bodyPr>
          <a:lstStyle/>
          <a:p>
            <a:pPr algn="l" marL="0" indent="0">
              <a:lnSpc>
                <a:spcPct val="105000"/>
              </a:lnSpc>
              <a:buNone/>
            </a:pPr>
            <a:r>
              <a:rPr lang="en-US" sz="1600" b="1" dirty="0">
                <a:solidFill>
                  <a:srgbClr val="14213D"/>
                </a:solidFill>
                <a:latin typeface="Calibri" pitchFamily="34" charset="0"/>
                <a:ea typeface="Calibri" pitchFamily="34" charset="-122"/>
                <a:cs typeface="Calibri" pitchFamily="34" charset="-120"/>
              </a:rPr>
              <a:t>GitHub Copilot</a:t>
            </a:r>
          </a:p>
        </p:txBody>
      </p:sp>
      <p:sp>
        <p:nvSpPr>
          <p:cNvPr id="305" name="Rule 305"/>
          <p:cNvSpPr/>
          <p:nvPr/>
        </p:nvSpPr>
        <p:spPr>
          <a:xfrm>
            <a:off x="1041400" y="2960000"/>
            <a:ext cx="500000" cy="28000"/>
          </a:xfrm>
          <a:prstGeom prst="rect">
            <a:avLst/>
          </a:prstGeom>
          <a:solidFill>
            <a:srgbClr val="14213D"/>
          </a:solidFill>
          <a:ln>
            <a:noFill/>
          </a:ln>
        </p:spPr>
        <p:txBody>
          <a:bodyPr/>
          <a:p/>
        </p:txBody>
      </p:sp>
      <p:sp>
        <p:nvSpPr>
          <p:cNvPr id="306" name="Text 306"/>
          <p:cNvSpPr txBox="1"/>
          <p:nvPr/>
        </p:nvSpPr>
        <p:spPr>
          <a:xfrm>
            <a:off x="1041400" y="3100000"/>
            <a:ext cx="2047240" cy="1950000"/>
          </a:xfrm>
          <a:prstGeom prst="rect">
            <a:avLst/>
          </a:prstGeom>
          <a:noFill/>
        </p:spPr>
        <p:txBody>
          <a:bodyPr wrap="square" lIns="0" tIns="0" rIns="0" bIns="0" rtlCol="0" anchor="t">
            <a:noAutofit/>
          </a:bodyPr>
          <a:lstStyle/>
          <a:p>
            <a:pPr algn="l" marL="171450" indent="-171450">
              <a:lnSpc>
                <a:spcPct val="115000"/>
              </a:lnSpc>
              <a:spcAft>
                <a:spcPts val="600"/>
              </a:spcAft>
              <a:buSzPct val="100000"/>
              <a:buChar char="•"/>
            </a:pPr>
            <a:r>
              <a:rPr lang="en-US" sz="1300" dirty="0">
                <a:solidFill>
                  <a:srgbClr val="3F4A5A"/>
                </a:solidFill>
                <a:latin typeface="Calibri" pitchFamily="34" charset="0"/>
                <a:ea typeface="Calibri" pitchFamily="34" charset="-122"/>
                <a:cs typeface="Calibri" pitchFamily="34" charset="-120"/>
              </a:rPr>
              <a:t>Works with many different models</a:t>
            </a:r>
          </a:p>
          <a:p>
            <a:pPr algn="l" marL="171450" indent="-171450">
              <a:lnSpc>
                <a:spcPct val="115000"/>
              </a:lnSpc>
              <a:spcAft>
                <a:spcPts val="600"/>
              </a:spcAft>
              <a:buSzPct val="100000"/>
              <a:buChar char="•"/>
            </a:pPr>
            <a:r>
              <a:rPr lang="en-US" sz="1300" dirty="0">
                <a:solidFill>
                  <a:srgbClr val="3F4A5A"/>
                </a:solidFill>
                <a:latin typeface="Calibri" pitchFamily="34" charset="0"/>
                <a:ea typeface="Calibri" pitchFamily="34" charset="-122"/>
                <a:cs typeface="Calibri" pitchFamily="34" charset="-120"/>
              </a:rPr>
              <a:t>In VS Code, or in its own desktop app, available on WB computers (my preference)</a:t>
            </a:r>
          </a:p>
          <a:p>
            <a:pPr algn="l" marL="171450" indent="-171450">
              <a:lnSpc>
                <a:spcPct val="115000"/>
              </a:lnSpc>
              <a:spcAft>
                <a:spcPts val="600"/>
              </a:spcAft>
              <a:buSzPct val="100000"/>
              <a:buChar char="•"/>
            </a:pPr>
            <a:r>
              <a:rPr lang="en-US" sz="1300" dirty="0">
                <a:solidFill>
                  <a:srgbClr val="3F4A5A"/>
                </a:solidFill>
                <a:latin typeface="Calibri" pitchFamily="34" charset="0"/>
                <a:ea typeface="Calibri" pitchFamily="34" charset="-122"/>
                <a:cs typeface="Calibri" pitchFamily="34" charset="-120"/>
              </a:rPr>
              <a:t>Personal or enterprise mode</a:t>
            </a:r>
          </a:p>
        </p:txBody>
      </p:sp>
      <p:sp>
        <p:nvSpPr>
          <p:cNvPr id="307" name="Card 308"/>
          <p:cNvSpPr/>
          <p:nvPr/>
        </p:nvSpPr>
        <p:spPr>
          <a:xfrm>
            <a:off x="3500120" y="1850000"/>
            <a:ext cx="2504440" cy="3350000"/>
          </a:xfrm>
          <a:prstGeom prst="roundRect">
            <a:avLst>
              <a:gd name="adj" fmla="val 2703"/>
            </a:avLst>
          </a:prstGeom>
          <a:solidFill>
            <a:srgbClr val="FFFFFF"/>
          </a:solidFill>
          <a:ln/>
        </p:spPr>
        <p:txBody>
          <a:bodyPr/>
          <a:p/>
        </p:txBody>
      </p:sp>
      <p:sp>
        <p:nvSpPr>
          <p:cNvPr id="309" name="Text 309"/>
          <p:cNvSpPr txBox="1"/>
          <p:nvPr/>
        </p:nvSpPr>
        <p:spPr>
          <a:xfrm>
            <a:off x="3728720" y="2080000"/>
            <a:ext cx="2047240" cy="20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A8521A"/>
                </a:solidFill>
                <a:latin typeface="Calibri" pitchFamily="34" charset="0"/>
                <a:ea typeface="Calibri" pitchFamily="34" charset="-122"/>
                <a:cs typeface="Calibri" pitchFamily="34" charset="-120"/>
              </a:rPr>
              <a:t>PERSONAL MODE</a:t>
            </a:r>
          </a:p>
        </p:txBody>
      </p:sp>
      <p:sp>
        <p:nvSpPr>
          <p:cNvPr id="310" name="Text 310"/>
          <p:cNvSpPr txBox="1"/>
          <p:nvPr/>
        </p:nvSpPr>
        <p:spPr>
          <a:xfrm>
            <a:off x="3728720" y="2330000"/>
            <a:ext cx="2047240" cy="560000"/>
          </a:xfrm>
          <a:prstGeom prst="rect">
            <a:avLst/>
          </a:prstGeom>
          <a:noFill/>
        </p:spPr>
        <p:txBody>
          <a:bodyPr wrap="square" lIns="0" tIns="0" rIns="0" bIns="0" rtlCol="0" anchor="t">
            <a:noAutofit/>
          </a:bodyPr>
          <a:lstStyle/>
          <a:p>
            <a:pPr algn="l" marL="0" indent="0">
              <a:lnSpc>
                <a:spcPct val="105000"/>
              </a:lnSpc>
              <a:buNone/>
            </a:pPr>
            <a:r>
              <a:rPr lang="en-US" sz="1600" b="1" dirty="0">
                <a:solidFill>
                  <a:srgbClr val="14213D"/>
                </a:solidFill>
                <a:latin typeface="Calibri" pitchFamily="34" charset="0"/>
                <a:ea typeface="Calibri" pitchFamily="34" charset="-122"/>
                <a:cs typeface="Calibri" pitchFamily="34" charset="-120"/>
              </a:rPr>
              <a:t>Code, with proprietary data taken out</a:t>
            </a:r>
          </a:p>
        </p:txBody>
      </p:sp>
      <p:sp>
        <p:nvSpPr>
          <p:cNvPr id="311" name="Rule 311"/>
          <p:cNvSpPr/>
          <p:nvPr/>
        </p:nvSpPr>
        <p:spPr>
          <a:xfrm>
            <a:off x="3728720" y="2960000"/>
            <a:ext cx="500000" cy="28000"/>
          </a:xfrm>
          <a:prstGeom prst="rect">
            <a:avLst/>
          </a:prstGeom>
          <a:solidFill>
            <a:srgbClr val="A8521A"/>
          </a:solidFill>
          <a:ln>
            <a:noFill/>
          </a:ln>
        </p:spPr>
        <p:txBody>
          <a:bodyPr/>
          <a:p/>
        </p:txBody>
      </p:sp>
      <p:sp>
        <p:nvSpPr>
          <p:cNvPr id="312" name="Text 312"/>
          <p:cNvSpPr txBox="1"/>
          <p:nvPr/>
        </p:nvSpPr>
        <p:spPr>
          <a:xfrm>
            <a:off x="3728720" y="3100000"/>
            <a:ext cx="2047240" cy="1950000"/>
          </a:xfrm>
          <a:prstGeom prst="rect">
            <a:avLst/>
          </a:prstGeom>
          <a:noFill/>
        </p:spPr>
        <p:txBody>
          <a:bodyPr wrap="square" lIns="0" tIns="0" rIns="0" bIns="0" rtlCol="0" anchor="t">
            <a:noAutofit/>
          </a:bodyPr>
          <a:lstStyle/>
          <a:p>
            <a:pPr algn="l" marL="171450" indent="-171450">
              <a:lnSpc>
                <a:spcPct val="115000"/>
              </a:lnSpc>
              <a:spcAft>
                <a:spcPts val="600"/>
              </a:spcAft>
              <a:buSzPct val="100000"/>
              <a:buChar char="•"/>
            </a:pPr>
            <a:r>
              <a:rPr lang="en-US" sz="1300" dirty="0">
                <a:solidFill>
                  <a:srgbClr val="3F4A5A"/>
                </a:solidFill>
                <a:latin typeface="Calibri" pitchFamily="34" charset="0"/>
                <a:ea typeface="Calibri" pitchFamily="34" charset="-122"/>
                <a:cs typeface="Calibri" pitchFamily="34" charset="-120"/>
              </a:rPr>
              <a:t>We take proprietary data out of the code and scripts</a:t>
            </a:r>
          </a:p>
          <a:p>
            <a:pPr algn="l" marL="171450" indent="-171450">
              <a:lnSpc>
                <a:spcPct val="115000"/>
              </a:lnSpc>
              <a:spcAft>
                <a:spcPts val="600"/>
              </a:spcAft>
              <a:buSzPct val="100000"/>
              <a:buChar char="•"/>
            </a:pPr>
            <a:r>
              <a:rPr lang="en-US" sz="1300" dirty="0">
                <a:solidFill>
                  <a:srgbClr val="3F4A5A"/>
                </a:solidFill>
                <a:latin typeface="Calibri" pitchFamily="34" charset="0"/>
                <a:ea typeface="Calibri" pitchFamily="34" charset="-122"/>
                <a:cs typeface="Calibri" pitchFamily="34" charset="-120"/>
              </a:rPr>
              <a:t>So personal AI models can be used for coding</a:t>
            </a:r>
          </a:p>
        </p:txBody>
      </p:sp>
      <p:sp>
        <p:nvSpPr>
          <p:cNvPr id="313" name="Card 314"/>
          <p:cNvSpPr/>
          <p:nvPr/>
        </p:nvSpPr>
        <p:spPr>
          <a:xfrm>
            <a:off x="6187440" y="1850000"/>
            <a:ext cx="2504440" cy="3350000"/>
          </a:xfrm>
          <a:prstGeom prst="roundRect">
            <a:avLst>
              <a:gd name="adj" fmla="val 2703"/>
            </a:avLst>
          </a:prstGeom>
          <a:solidFill>
            <a:srgbClr val="FFFFFF"/>
          </a:solidFill>
          <a:ln/>
        </p:spPr>
        <p:txBody>
          <a:bodyPr/>
          <a:p/>
        </p:txBody>
      </p:sp>
      <p:sp>
        <p:nvSpPr>
          <p:cNvPr id="315" name="Text 315"/>
          <p:cNvSpPr txBox="1"/>
          <p:nvPr/>
        </p:nvSpPr>
        <p:spPr>
          <a:xfrm>
            <a:off x="6416040" y="2080000"/>
            <a:ext cx="2047240" cy="20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1F5A96"/>
                </a:solidFill>
                <a:latin typeface="Calibri" pitchFamily="34" charset="0"/>
                <a:ea typeface="Calibri" pitchFamily="34" charset="-122"/>
                <a:cs typeface="Calibri" pitchFamily="34" charset="-120"/>
              </a:rPr>
              <a:t>ENTERPRISE MODE</a:t>
            </a:r>
          </a:p>
        </p:txBody>
      </p:sp>
      <p:sp>
        <p:nvSpPr>
          <p:cNvPr id="316" name="Text 316"/>
          <p:cNvSpPr txBox="1"/>
          <p:nvPr/>
        </p:nvSpPr>
        <p:spPr>
          <a:xfrm>
            <a:off x="6416040" y="2330000"/>
            <a:ext cx="2047240" cy="560000"/>
          </a:xfrm>
          <a:prstGeom prst="rect">
            <a:avLst/>
          </a:prstGeom>
          <a:noFill/>
        </p:spPr>
        <p:txBody>
          <a:bodyPr wrap="square" lIns="0" tIns="0" rIns="0" bIns="0" rtlCol="0" anchor="t">
            <a:noAutofit/>
          </a:bodyPr>
          <a:lstStyle/>
          <a:p>
            <a:pPr algn="l" marL="0" indent="0">
              <a:lnSpc>
                <a:spcPct val="105000"/>
              </a:lnSpc>
              <a:buNone/>
            </a:pPr>
            <a:r>
              <a:rPr lang="en-US" sz="1600" b="1" dirty="0">
                <a:solidFill>
                  <a:srgbClr val="14213D"/>
                </a:solidFill>
                <a:latin typeface="Calibri" pitchFamily="34" charset="0"/>
                <a:ea typeface="Calibri" pitchFamily="34" charset="-122"/>
                <a:cs typeface="Calibri" pitchFamily="34" charset="-120"/>
              </a:rPr>
              <a:t>Confidential data and reports</a:t>
            </a:r>
          </a:p>
        </p:txBody>
      </p:sp>
      <p:sp>
        <p:nvSpPr>
          <p:cNvPr id="317" name="Rule 317"/>
          <p:cNvSpPr/>
          <p:nvPr/>
        </p:nvSpPr>
        <p:spPr>
          <a:xfrm>
            <a:off x="6416040" y="2960000"/>
            <a:ext cx="500000" cy="28000"/>
          </a:xfrm>
          <a:prstGeom prst="rect">
            <a:avLst/>
          </a:prstGeom>
          <a:solidFill>
            <a:srgbClr val="1F5A96"/>
          </a:solidFill>
          <a:ln>
            <a:noFill/>
          </a:ln>
        </p:spPr>
        <p:txBody>
          <a:bodyPr/>
          <a:p/>
        </p:txBody>
      </p:sp>
      <p:sp>
        <p:nvSpPr>
          <p:cNvPr id="318" name="Text 318"/>
          <p:cNvSpPr txBox="1"/>
          <p:nvPr/>
        </p:nvSpPr>
        <p:spPr>
          <a:xfrm>
            <a:off x="6416040" y="3100000"/>
            <a:ext cx="2047240" cy="1950000"/>
          </a:xfrm>
          <a:prstGeom prst="rect">
            <a:avLst/>
          </a:prstGeom>
          <a:noFill/>
        </p:spPr>
        <p:txBody>
          <a:bodyPr wrap="square" lIns="0" tIns="0" rIns="0" bIns="0" rtlCol="0" anchor="t">
            <a:noAutofit/>
          </a:bodyPr>
          <a:lstStyle/>
          <a:p>
            <a:pPr algn="l" marL="171450" indent="-171450">
              <a:lnSpc>
                <a:spcPct val="115000"/>
              </a:lnSpc>
              <a:spcAft>
                <a:spcPts val="600"/>
              </a:spcAft>
              <a:buSzPct val="100000"/>
              <a:buChar char="•"/>
            </a:pPr>
            <a:r>
              <a:rPr lang="en-US" sz="1300" dirty="0">
                <a:solidFill>
                  <a:srgbClr val="3F4A5A"/>
                </a:solidFill>
                <a:latin typeface="Calibri" pitchFamily="34" charset="0"/>
                <a:ea typeface="Calibri" pitchFamily="34" charset="-122"/>
                <a:cs typeface="Calibri" pitchFamily="34" charset="-120"/>
              </a:rPr>
              <a:t>Confidential data cannot be edited without enterprise AI</a:t>
            </a:r>
          </a:p>
          <a:p>
            <a:pPr algn="l" marL="171450" indent="-171450">
              <a:lnSpc>
                <a:spcPct val="115000"/>
              </a:lnSpc>
              <a:spcAft>
                <a:spcPts val="600"/>
              </a:spcAft>
              <a:buSzPct val="100000"/>
              <a:buChar char="•"/>
            </a:pPr>
            <a:r>
              <a:rPr lang="en-US" sz="1300" dirty="0">
                <a:solidFill>
                  <a:srgbClr val="3F4A5A"/>
                </a:solidFill>
                <a:latin typeface="Calibri" pitchFamily="34" charset="0"/>
                <a:ea typeface="Calibri" pitchFamily="34" charset="-122"/>
                <a:cs typeface="Calibri" pitchFamily="34" charset="-120"/>
              </a:rPr>
              <a:t>Personal AI cannot be used for confidential WB reports</a:t>
            </a:r>
          </a:p>
          <a:p>
            <a:pPr algn="l" marL="171450" indent="-171450">
              <a:lnSpc>
                <a:spcPct val="115000"/>
              </a:lnSpc>
              <a:spcAft>
                <a:spcPts val="600"/>
              </a:spcAft>
              <a:buSzPct val="100000"/>
              <a:buChar char="•"/>
            </a:pPr>
            <a:r>
              <a:rPr lang="en-US" sz="1300" dirty="0">
                <a:solidFill>
                  <a:srgbClr val="3F4A5A"/>
                </a:solidFill>
                <a:latin typeface="Calibri" pitchFamily="34" charset="0"/>
                <a:ea typeface="Calibri" pitchFamily="34" charset="-122"/>
                <a:cs typeface="Calibri" pitchFamily="34" charset="-120"/>
              </a:rPr>
              <a:t>Use enterprise AI, including MAI</a:t>
            </a:r>
          </a:p>
        </p:txBody>
      </p:sp>
      <p:sp>
        <p:nvSpPr>
          <p:cNvPr id="319" name="Card 320"/>
          <p:cNvSpPr/>
          <p:nvPr/>
        </p:nvSpPr>
        <p:spPr>
          <a:xfrm>
            <a:off x="8874760" y="1850000"/>
            <a:ext cx="2504440" cy="3350000"/>
          </a:xfrm>
          <a:prstGeom prst="roundRect">
            <a:avLst>
              <a:gd name="adj" fmla="val 2703"/>
            </a:avLst>
          </a:prstGeom>
          <a:solidFill>
            <a:srgbClr val="FFFFFF"/>
          </a:solidFill>
          <a:ln/>
        </p:spPr>
        <p:txBody>
          <a:bodyPr/>
          <a:p/>
        </p:txBody>
      </p:sp>
      <p:sp>
        <p:nvSpPr>
          <p:cNvPr id="321" name="Text 321"/>
          <p:cNvSpPr txBox="1"/>
          <p:nvPr/>
        </p:nvSpPr>
        <p:spPr>
          <a:xfrm>
            <a:off x="9103360" y="2080000"/>
            <a:ext cx="2047240" cy="200000"/>
          </a:xfrm>
          <a:prstGeom prst="rect">
            <a:avLst/>
          </a:prstGeom>
          <a:noFill/>
        </p:spPr>
        <p:txBody>
          <a:bodyPr wrap="square" lIns="0" tIns="0" rIns="0" bIns="0" rtlCol="0" anchor="t">
            <a:noAutofit/>
          </a:bodyPr>
          <a:lstStyle/>
          <a:p>
            <a:pPr algn="l" marL="0" indent="0">
              <a:lnSpc>
                <a:spcPct val="120000"/>
              </a:lnSpc>
              <a:buNone/>
            </a:pPr>
            <a:r>
              <a:rPr lang="en-US" sz="1000" b="1" spc="100" dirty="0">
                <a:solidFill>
                  <a:srgbClr val="3D7A73"/>
                </a:solidFill>
                <a:latin typeface="Calibri" pitchFamily="34" charset="0"/>
                <a:ea typeface="Calibri" pitchFamily="34" charset="-122"/>
                <a:cs typeface="Calibri" pitchFamily="34" charset="-120"/>
              </a:rPr>
              <a:t>FOR OTHERS</a:t>
            </a:r>
          </a:p>
        </p:txBody>
      </p:sp>
      <p:sp>
        <p:nvSpPr>
          <p:cNvPr id="322" name="Text 322"/>
          <p:cNvSpPr txBox="1"/>
          <p:nvPr/>
        </p:nvSpPr>
        <p:spPr>
          <a:xfrm>
            <a:off x="9103360" y="2330000"/>
            <a:ext cx="2047240" cy="560000"/>
          </a:xfrm>
          <a:prstGeom prst="rect">
            <a:avLst/>
          </a:prstGeom>
          <a:noFill/>
        </p:spPr>
        <p:txBody>
          <a:bodyPr wrap="square" lIns="0" tIns="0" rIns="0" bIns="0" rtlCol="0" anchor="t">
            <a:noAutofit/>
          </a:bodyPr>
          <a:lstStyle/>
          <a:p>
            <a:pPr algn="l" marL="0" indent="0">
              <a:lnSpc>
                <a:spcPct val="105000"/>
              </a:lnSpc>
              <a:buNone/>
            </a:pPr>
            <a:r>
              <a:rPr lang="en-US" sz="1600" b="1" dirty="0">
                <a:solidFill>
                  <a:srgbClr val="14213D"/>
                </a:solidFill>
                <a:latin typeface="Calibri" pitchFamily="34" charset="0"/>
                <a:ea typeface="Calibri" pitchFamily="34" charset="-122"/>
                <a:cs typeface="Calibri" pitchFamily="34" charset="-120"/>
              </a:rPr>
              <a:t>User guides and example scripts</a:t>
            </a:r>
          </a:p>
        </p:txBody>
      </p:sp>
      <p:sp>
        <p:nvSpPr>
          <p:cNvPr id="323" name="Rule 323"/>
          <p:cNvSpPr/>
          <p:nvPr/>
        </p:nvSpPr>
        <p:spPr>
          <a:xfrm>
            <a:off x="9103360" y="2960000"/>
            <a:ext cx="500000" cy="28000"/>
          </a:xfrm>
          <a:prstGeom prst="rect">
            <a:avLst/>
          </a:prstGeom>
          <a:solidFill>
            <a:srgbClr val="3D7A73"/>
          </a:solidFill>
          <a:ln>
            <a:noFill/>
          </a:ln>
        </p:spPr>
        <p:txBody>
          <a:bodyPr/>
          <a:p/>
        </p:txBody>
      </p:sp>
      <p:sp>
        <p:nvSpPr>
          <p:cNvPr id="324" name="Text 324"/>
          <p:cNvSpPr txBox="1"/>
          <p:nvPr/>
        </p:nvSpPr>
        <p:spPr>
          <a:xfrm>
            <a:off x="9103360" y="3100000"/>
            <a:ext cx="2047240" cy="1950000"/>
          </a:xfrm>
          <a:prstGeom prst="rect">
            <a:avLst/>
          </a:prstGeom>
          <a:noFill/>
        </p:spPr>
        <p:txBody>
          <a:bodyPr wrap="square" lIns="0" tIns="0" rIns="0" bIns="0" rtlCol="0" anchor="t">
            <a:noAutofit/>
          </a:bodyPr>
          <a:lstStyle/>
          <a:p>
            <a:pPr algn="l" marL="171450" indent="-171450">
              <a:lnSpc>
                <a:spcPct val="115000"/>
              </a:lnSpc>
              <a:spcAft>
                <a:spcPts val="600"/>
              </a:spcAft>
              <a:buSzPct val="100000"/>
              <a:buChar char="•"/>
            </a:pPr>
            <a:r>
              <a:rPr lang="en-US" sz="1300" dirty="0">
                <a:solidFill>
                  <a:srgbClr val="3F4A5A"/>
                </a:solidFill>
                <a:latin typeface="Calibri" pitchFamily="34" charset="0"/>
                <a:ea typeface="Calibri" pitchFamily="34" charset="-122"/>
                <a:cs typeface="Calibri" pitchFamily="34" charset="-120"/>
              </a:rPr>
              <a:t>For the new AI-generated tools: the Excise Diagnostic and the Tax and Macro-Fiscal Dashboard</a:t>
            </a:r>
          </a:p>
          <a:p>
            <a:pPr algn="l" marL="171450" indent="-171450">
              <a:lnSpc>
                <a:spcPct val="115000"/>
              </a:lnSpc>
              <a:spcAft>
                <a:spcPts val="600"/>
              </a:spcAft>
              <a:buSzPct val="100000"/>
              <a:buChar char="•"/>
            </a:pPr>
            <a:r>
              <a:rPr lang="en-US" sz="1300" dirty="0">
                <a:solidFill>
                  <a:srgbClr val="3F4A5A"/>
                </a:solidFill>
                <a:latin typeface="Calibri" pitchFamily="34" charset="0"/>
                <a:ea typeface="Calibri" pitchFamily="34" charset="-122"/>
                <a:cs typeface="Calibri" pitchFamily="34" charset="-120"/>
              </a:rPr>
              <a:t>So that others can use them and build on them</a:t>
            </a:r>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12800" y="1688405"/>
            <a:ext cx="10566400" cy="248841"/>
          </a:xfrm>
          <a:prstGeom prst="rect">
            <a:avLst/>
          </a:prstGeom>
          <a:noFill/>
          <a:ln/>
        </p:spPr>
        <p:txBody>
          <a:bodyPr wrap="square" lIns="0" tIns="0" rIns="0" bIns="0" rtlCol="0" anchor="t"/>
          <a:lstStyle/>
          <a:p>
            <a:pPr algn="l" indent="0" marL="0">
              <a:lnSpc>
                <a:spcPct val="140000"/>
              </a:lnSpc>
              <a:buNone/>
            </a:pPr>
            <a:r>
              <a:rPr lang="en-US" sz="1400" spc="200" kern="0" dirty="0">
                <a:solidFill>
                  <a:srgbClr val="E3A36B"/>
                </a:solidFill>
                <a:latin typeface="Calibri" pitchFamily="34" charset="0"/>
                <a:ea typeface="Calibri" pitchFamily="34" charset="-122"/>
                <a:cs typeface="Calibri" pitchFamily="34" charset="-120"/>
              </a:rPr>
              <a:t>DELIVERABLE 1 · SLIDES 9–14</a:t>
            </a:r>
            <a:endParaRPr lang="en-US" sz="1400" dirty="0"/>
          </a:p>
        </p:txBody>
      </p:sp>
      <p:sp>
        <p:nvSpPr>
          <p:cNvPr id="3" name="Text 1"/>
          <p:cNvSpPr txBox="1"/>
          <p:nvPr/>
        </p:nvSpPr>
        <p:spPr>
          <a:xfrm>
            <a:off x="812800" y="2191246"/>
            <a:ext cx="9810750" cy="1426369"/>
          </a:xfrm>
          <a:prstGeom prst="rect">
            <a:avLst/>
          </a:prstGeom>
          <a:noFill/>
          <a:ln/>
        </p:spPr>
        <p:txBody>
          <a:bodyPr wrap="square" lIns="0" tIns="0" rIns="0" bIns="0" rtlCol="0" anchor="t"/>
          <a:lstStyle/>
          <a:p>
            <a:pPr algn="l" indent="0" marL="0">
              <a:lnSpc>
                <a:spcPct val="108000"/>
              </a:lnSpc>
              <a:buNone/>
            </a:pPr>
            <a:r>
              <a:rPr lang="en-US" sz="5200" b="1" dirty="0">
                <a:solidFill>
                  <a:srgbClr val="F7F6F1"/>
                </a:solidFill>
                <a:latin typeface="Cambria" pitchFamily="34" charset="0"/>
                <a:ea typeface="Cambria" pitchFamily="34" charset="-122"/>
                <a:cs typeface="Cambria" pitchFamily="34" charset="-120"/>
              </a:rPr>
              <a:t>Coded CPAT and Excel-AI-CPAT</a:t>
            </a:r>
            <a:endParaRPr lang="en-US" sz="5200" dirty="0"/>
          </a:p>
        </p:txBody>
      </p:sp>
      <p:sp>
        <p:nvSpPr>
          <p:cNvPr id="4" name="Text 2"/>
          <p:cNvSpPr txBox="1"/>
          <p:nvPr/>
        </p:nvSpPr>
        <p:spPr>
          <a:xfrm>
            <a:off x="812800" y="4200000"/>
            <a:ext cx="9156700" cy="1100000"/>
          </a:xfrm>
          <a:prstGeom prst="rect">
            <a:avLst/>
          </a:prstGeom>
          <a:noFill/>
          <a:ln/>
        </p:spPr>
        <p:txBody>
          <a:bodyPr wrap="square" lIns="0" tIns="0" rIns="0" bIns="0" rtlCol="0" anchor="t"/>
          <a:lstStyle/>
          <a:p>
            <a:pPr algn="l" indent="0" marL="0">
              <a:lnSpc>
                <a:spcPct val="135000"/>
              </a:lnSpc>
              <a:buNone/>
            </a:pPr>
            <a:r>
              <a:rPr lang="en-US" sz="2000" dirty="0">
                <a:solidFill>
                  <a:srgbClr val="C9D3E0"/>
                </a:solidFill>
                <a:latin typeface="Calibri" pitchFamily="34" charset="0"/>
                <a:ea typeface="Calibri" pitchFamily="34" charset="-122"/>
                <a:cs typeface="Calibri" pitchFamily="34" charset="-120"/>
              </a:rPr>
              <a:t>The problem · two products compared · purposes of Excel-AI-CPAT · maintainability · issues · status</a:t>
            </a:r>
            <a:endParaRPr lang="en-US" sz="2000" dirty="0"/>
          </a:p>
        </p:txBody>
      </p:sp>
      <p:sp>
        <p:nvSpPr>
          <p:cNvPr id="11" name="Text 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9AA8BC"/>
                </a:solidFill>
                <a:latin typeface="Calibri" pitchFamily="34" charset="0"/>
                <a:ea typeface="Calibri" pitchFamily="34" charset="-122"/>
                <a:cs typeface="Calibri" pitchFamily="34" charset="-120"/>
              </a:rPr>
              <a:t>Use of AI in climate fiscal tools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DELIVERABLE 1 · THE PROBLEM</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CPAT’s engine needs a rebuild, not a patch</a:t>
            </a:r>
            <a:endParaRPr lang="en-US" sz="3200" dirty="0"/>
          </a:p>
        </p:txBody>
      </p:sp>
      <p:sp>
        <p:nvSpPr>
          <p:cNvPr id="4" name="Shape 2"/>
          <p:cNvSpPr/>
          <p:nvPr/>
        </p:nvSpPr>
        <p:spPr>
          <a:xfrm>
            <a:off x="812800" y="1950641"/>
            <a:ext cx="3386634" cy="1650000"/>
          </a:xfrm>
          <a:prstGeom prst="roundRect">
            <a:avLst>
              <a:gd name="adj" fmla="val 2621"/>
            </a:avLst>
          </a:prstGeom>
          <a:solidFill>
            <a:srgbClr val="FFFFFF"/>
          </a:solidFill>
          <a:ln/>
        </p:spPr>
        <p:txBody>
          <a:bodyPr/>
          <a:p/>
        </p:txBody>
      </p:sp>
      <p:sp>
        <p:nvSpPr>
          <p:cNvPr id="5" name="Shape 3"/>
          <p:cNvSpPr/>
          <p:nvPr/>
        </p:nvSpPr>
        <p:spPr>
          <a:xfrm>
            <a:off x="812800" y="1950641"/>
            <a:ext cx="3386634" cy="38100"/>
          </a:xfrm>
          <a:prstGeom prst="rect">
            <a:avLst/>
          </a:prstGeom>
          <a:solidFill>
            <a:srgbClr val="14213D"/>
          </a:solidFill>
          <a:ln/>
        </p:spPr>
        <p:txBody>
          <a:bodyPr/>
          <a:p/>
        </p:txBody>
      </p:sp>
      <p:sp>
        <p:nvSpPr>
          <p:cNvPr id="6" name="Text 4"/>
          <p:cNvSpPr txBox="1"/>
          <p:nvPr/>
        </p:nvSpPr>
        <p:spPr>
          <a:xfrm>
            <a:off x="1066800" y="2242741"/>
            <a:ext cx="2964993"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Code quality</a:t>
            </a:r>
            <a:endParaRPr lang="en-US" sz="1700" dirty="0"/>
          </a:p>
        </p:txBody>
      </p:sp>
      <p:sp>
        <p:nvSpPr>
          <p:cNvPr id="7" name="Text 5"/>
          <p:cNvSpPr txBox="1"/>
          <p:nvPr/>
        </p:nvSpPr>
        <p:spPr>
          <a:xfrm>
            <a:off x="1066800" y="2603401"/>
            <a:ext cx="2964993" cy="820000"/>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250,000+ cells: large, slow, and hard to maintain, validate and keep in line with Python CPAT.</a:t>
            </a:r>
            <a:endParaRPr lang="en-US" sz="1400" dirty="0"/>
          </a:p>
        </p:txBody>
      </p:sp>
      <p:sp>
        <p:nvSpPr>
          <p:cNvPr id="8" name="Shape 6"/>
          <p:cNvSpPr/>
          <p:nvPr/>
        </p:nvSpPr>
        <p:spPr>
          <a:xfrm>
            <a:off x="4402634" y="1950641"/>
            <a:ext cx="3386634" cy="1650000"/>
          </a:xfrm>
          <a:prstGeom prst="roundRect">
            <a:avLst>
              <a:gd name="adj" fmla="val 2621"/>
            </a:avLst>
          </a:prstGeom>
          <a:solidFill>
            <a:srgbClr val="FFFFFF"/>
          </a:solidFill>
          <a:ln/>
        </p:spPr>
        <p:txBody>
          <a:bodyPr/>
          <a:p/>
        </p:txBody>
      </p:sp>
      <p:sp>
        <p:nvSpPr>
          <p:cNvPr id="9" name="Shape 7"/>
          <p:cNvSpPr/>
          <p:nvPr/>
        </p:nvSpPr>
        <p:spPr>
          <a:xfrm>
            <a:off x="4402634" y="1950641"/>
            <a:ext cx="3386634" cy="38100"/>
          </a:xfrm>
          <a:prstGeom prst="rect">
            <a:avLst/>
          </a:prstGeom>
          <a:solidFill>
            <a:srgbClr val="14213D"/>
          </a:solidFill>
          <a:ln/>
        </p:spPr>
        <p:txBody>
          <a:bodyPr/>
          <a:p/>
        </p:txBody>
      </p:sp>
      <p:sp>
        <p:nvSpPr>
          <p:cNvPr id="10" name="Text 8"/>
          <p:cNvSpPr txBox="1"/>
          <p:nvPr/>
        </p:nvSpPr>
        <p:spPr>
          <a:xfrm>
            <a:off x="4656634" y="2242741"/>
            <a:ext cx="2964993"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Empirical validation</a:t>
            </a:r>
            <a:endParaRPr lang="en-US" sz="1700" dirty="0"/>
          </a:p>
        </p:txBody>
      </p:sp>
      <p:sp>
        <p:nvSpPr>
          <p:cNvPr id="11" name="Text 9"/>
          <p:cNvSpPr txBox="1"/>
          <p:nvPr/>
        </p:nvSpPr>
        <p:spPr>
          <a:xfrm>
            <a:off x="4656634" y="2603401"/>
            <a:ext cx="2964993" cy="820000"/>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The WB side has not published CPAT; the IMF publication relies mostly on an elasticity meta-analysis.</a:t>
            </a:r>
            <a:endParaRPr lang="en-US" sz="1400" dirty="0"/>
          </a:p>
        </p:txBody>
      </p:sp>
      <p:sp>
        <p:nvSpPr>
          <p:cNvPr id="12" name="Shape 10"/>
          <p:cNvSpPr/>
          <p:nvPr/>
        </p:nvSpPr>
        <p:spPr>
          <a:xfrm>
            <a:off x="7992467" y="1950641"/>
            <a:ext cx="3386634" cy="1650000"/>
          </a:xfrm>
          <a:prstGeom prst="roundRect">
            <a:avLst>
              <a:gd name="adj" fmla="val 2621"/>
            </a:avLst>
          </a:prstGeom>
          <a:solidFill>
            <a:srgbClr val="FFFFFF"/>
          </a:solidFill>
          <a:ln/>
        </p:spPr>
        <p:txBody>
          <a:bodyPr/>
          <a:p/>
        </p:txBody>
      </p:sp>
      <p:sp>
        <p:nvSpPr>
          <p:cNvPr id="13" name="Shape 11"/>
          <p:cNvSpPr/>
          <p:nvPr/>
        </p:nvSpPr>
        <p:spPr>
          <a:xfrm>
            <a:off x="7992467" y="1950641"/>
            <a:ext cx="3386634" cy="38100"/>
          </a:xfrm>
          <a:prstGeom prst="rect">
            <a:avLst/>
          </a:prstGeom>
          <a:solidFill>
            <a:srgbClr val="14213D"/>
          </a:solidFill>
          <a:ln/>
        </p:spPr>
        <p:txBody>
          <a:bodyPr/>
          <a:p/>
        </p:txBody>
      </p:sp>
      <p:sp>
        <p:nvSpPr>
          <p:cNvPr id="14" name="Text 12"/>
          <p:cNvSpPr txBox="1"/>
          <p:nvPr/>
        </p:nvSpPr>
        <p:spPr>
          <a:xfrm>
            <a:off x="8246467" y="2242741"/>
            <a:ext cx="2964993"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Usability</a:t>
            </a:r>
            <a:endParaRPr lang="en-US" sz="1700" dirty="0"/>
          </a:p>
        </p:txBody>
      </p:sp>
      <p:sp>
        <p:nvSpPr>
          <p:cNvPr id="15" name="Text 13"/>
          <p:cNvSpPr txBox="1"/>
          <p:nvPr/>
        </p:nvSpPr>
        <p:spPr>
          <a:xfrm>
            <a:off x="8246467" y="2603401"/>
            <a:ext cx="2964993" cy="820000"/>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A few bugs, and up to ten minutes to load: hard to demonstrate or use in country work.</a:t>
            </a:r>
            <a:endParaRPr lang="en-US" sz="1400" dirty="0"/>
          </a:p>
        </p:txBody>
      </p:sp>
      <p:sp>
        <p:nvSpPr>
          <p:cNvPr id="346" name="P1 Shape 7"/>
          <p:cNvSpPr/>
          <p:nvPr/>
        </p:nvSpPr>
        <p:spPr>
          <a:xfrm>
            <a:off x="812800" y="3780000"/>
            <a:ext cx="10566400" cy="1500000"/>
          </a:xfrm>
          <a:prstGeom prst="roundRect">
            <a:avLst>
              <a:gd name="adj" fmla="val 2901"/>
            </a:avLst>
          </a:prstGeom>
          <a:solidFill>
            <a:srgbClr val="FFFFFF"/>
          </a:solidFill>
          <a:ln/>
        </p:spPr>
        <p:txBody>
          <a:bodyPr/>
          <a:p/>
        </p:txBody>
      </p:sp>
      <p:sp>
        <p:nvSpPr>
          <p:cNvPr id="347" name="P1 Shape 8"/>
          <p:cNvSpPr/>
          <p:nvPr/>
        </p:nvSpPr>
        <p:spPr>
          <a:xfrm>
            <a:off x="812800" y="3780000"/>
            <a:ext cx="10566400" cy="38100"/>
          </a:xfrm>
          <a:prstGeom prst="rect">
            <a:avLst/>
          </a:prstGeom>
          <a:solidFill>
            <a:srgbClr val="14213D"/>
          </a:solidFill>
          <a:ln/>
        </p:spPr>
        <p:txBody>
          <a:bodyPr/>
          <a:p/>
        </p:txBody>
      </p:sp>
      <p:sp>
        <p:nvSpPr>
          <p:cNvPr id="348" name="P1 Text 9"/>
          <p:cNvSpPr txBox="1"/>
          <p:nvPr/>
        </p:nvSpPr>
        <p:spPr>
          <a:xfrm>
            <a:off x="1092200" y="4097500"/>
            <a:ext cx="10008000" cy="213320"/>
          </a:xfrm>
          <a:prstGeom prst="rect">
            <a:avLst/>
          </a:prstGeom>
          <a:noFill/>
          <a:ln/>
        </p:spPr>
        <p:txBody>
          <a:bodyPr wrap="square" lIns="0" tIns="0" rIns="0" bIns="0" rtlCol="0" anchor="t"/>
          <a:lstStyle/>
          <a:p>
            <a:pPr algn="l" indent="0" marL="0">
              <a:lnSpc>
                <a:spcPct val="140000"/>
              </a:lnSpc>
              <a:buNone/>
            </a:pPr>
            <a:r>
              <a:rPr lang="en-US" sz="1200" b="1" dirty="0">
                <a:solidFill>
                  <a:srgbClr val="14213D"/>
                </a:solidFill>
                <a:latin typeface="Calibri" pitchFamily="34" charset="0"/>
                <a:ea typeface="Calibri" pitchFamily="34" charset="-122"/>
                <a:cs typeface="Calibri" pitchFamily="34" charset="-120"/>
              </a:rPr>
              <a:t>What the engine must now do</a:t>
            </a:r>
            <a:endParaRPr lang="en-US" sz="1200" dirty="0"/>
          </a:p>
        </p:txBody>
      </p:sp>
      <p:sp>
        <p:nvSpPr>
          <p:cNvPr id="349" name="P1 Text 10"/>
          <p:cNvSpPr txBox="1"/>
          <p:nvPr/>
        </p:nvSpPr>
        <p:spPr>
          <a:xfrm>
            <a:off x="1092200" y="4412420"/>
            <a:ext cx="10008000"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Policy mixes across every sector, fuel and policy</a:t>
            </a:r>
            <a:endParaRPr lang="en-US" sz="1300" dirty="0"/>
          </a:p>
        </p:txBody>
      </p:sp>
      <p:sp>
        <p:nvSpPr>
          <p:cNvPr id="350" name="P1 Text 11"/>
          <p:cNvSpPr txBox="1"/>
          <p:nvPr/>
        </p:nvSpPr>
        <p:spPr>
          <a:xfrm>
            <a:off x="1092200" y="4660070"/>
            <a:ext cx="10008000"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A clean back end for the new WB–IMF interface</a:t>
            </a:r>
            <a:endParaRPr lang="en-US" sz="1300" dirty="0"/>
          </a:p>
        </p:txBody>
      </p:sp>
      <p:sp>
        <p:nvSpPr>
          <p:cNvPr id="351" name="P1 Text 12"/>
          <p:cNvSpPr txBox="1"/>
          <p:nvPr/>
        </p:nvSpPr>
        <p:spPr>
          <a:xfrm>
            <a:off x="1092200" y="4907720"/>
            <a:ext cx="10008000" cy="247650"/>
          </a:xfrm>
          <a:prstGeom prst="rect">
            <a:avLst/>
          </a:prstGeom>
          <a:noFill/>
          <a:ln/>
        </p:spPr>
        <p:txBody>
          <a:bodyPr wrap="square" lIns="0" tIns="0" rIns="0" bIns="0" rtlCol="0" anchor="t"/>
          <a:lstStyle/>
          <a:p>
            <a:pPr algn="l" marL="189865" indent="-189865">
              <a:lnSpc>
                <a:spcPct val="150000"/>
              </a:lnSpc>
              <a:buSzPct val="100000"/>
              <a:buChar char="•"/>
            </a:pPr>
            <a:r>
              <a:rPr lang="en-US" sz="1300" dirty="0">
                <a:solidFill>
                  <a:srgbClr val="3F4A5A"/>
                </a:solidFill>
                <a:latin typeface="Calibri" pitchFamily="34" charset="0"/>
                <a:ea typeface="Calibri" pitchFamily="34" charset="-122"/>
                <a:cs typeface="Calibri" pitchFamily="34" charset="-120"/>
              </a:rPr>
              <a:t>GHG accounting, with every figure traceable</a:t>
            </a:r>
            <a:endParaRPr lang="en-US" sz="1300" dirty="0"/>
          </a:p>
        </p:txBody>
      </p:sp>
      <p:sp>
        <p:nvSpPr>
          <p:cNvPr id="352" name="P1 Shape 13"/>
          <p:cNvSpPr/>
          <p:nvPr/>
        </p:nvSpPr>
        <p:spPr>
          <a:xfrm>
            <a:off x="812800" y="5420000"/>
            <a:ext cx="10566400" cy="571500"/>
          </a:xfrm>
          <a:prstGeom prst="roundRect">
            <a:avLst>
              <a:gd name="adj" fmla="val 8889"/>
            </a:avLst>
          </a:prstGeom>
          <a:solidFill>
            <a:srgbClr val="14213D"/>
          </a:solidFill>
          <a:ln/>
        </p:spPr>
        <p:txBody>
          <a:bodyPr/>
          <a:p/>
        </p:txBody>
      </p:sp>
      <p:sp>
        <p:nvSpPr>
          <p:cNvPr id="353" name="P1 Text 14"/>
          <p:cNvSpPr txBox="1"/>
          <p:nvPr/>
        </p:nvSpPr>
        <p:spPr>
          <a:xfrm>
            <a:off x="812800" y="5420000"/>
            <a:ext cx="10566400" cy="571500"/>
          </a:xfrm>
          <a:prstGeom prst="rect">
            <a:avLst/>
          </a:prstGeom>
          <a:noFill/>
          <a:ln/>
        </p:spPr>
        <p:txBody>
          <a:bodyPr wrap="square" lIns="228600" tIns="152400" rIns="228600" bIns="152400" rtlCol="0" anchor="ctr"/>
          <a:lstStyle/>
          <a:p>
            <a:pPr algn="l" indent="0" marL="0">
              <a:lnSpc>
                <a:spcPct val="140000"/>
              </a:lnSpc>
              <a:buNone/>
            </a:pPr>
            <a:r>
              <a:rPr lang="en-US" sz="1500" b="1" dirty="0">
                <a:solidFill>
                  <a:srgbClr val="F7F6F1"/>
                </a:solidFill>
                <a:latin typeface="Calibri" pitchFamily="34" charset="0"/>
                <a:ea typeface="Calibri" pitchFamily="34" charset="-122"/>
                <a:cs typeface="Calibri" pitchFamily="34" charset="-120"/>
              </a:rPr>
              <a:t>So:</a:t>
            </a:r>
            <a:pPr algn="l" indent="0" marL="0">
              <a:lnSpc>
                <a:spcPct val="140000"/>
              </a:lnSpc>
              <a:buNone/>
            </a:pPr>
            <a:r>
              <a:rPr lang="en-US" sz="1500" dirty="0">
                <a:solidFill>
                  <a:srgbClr val="F7F6F1"/>
                </a:solidFill>
                <a:latin typeface="Calibri" pitchFamily="34" charset="0"/>
                <a:ea typeface="Calibri" pitchFamily="34" charset="-122"/>
                <a:cs typeface="Calibri" pitchFamily="34" charset="-120"/>
              </a:rPr>
              <a:t> rebuild the engine with AI, in code and in Excel, and keep them equal.</a:t>
            </a:r>
            <a:endParaRPr lang="en-US" sz="1500" dirty="0"/>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DELIVERABLE 1 · TWO PRODUCTS, COMPARED</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One set of equations, two forms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12800" y="1899841"/>
          <a:ext cx="10566400" cy="914400"/>
        </p:xfrm>
        <a:graphic>
          <a:graphicData uri="http://schemas.openxmlformats.org/drawingml/2006/table">
            <a:tbl>
              <a:tblPr/>
              <a:tblGrid>
                <a:gridCol w="2324596"/>
                <a:gridCol w="4120852"/>
                <a:gridCol w="4120952"/>
              </a:tblGrid>
              <a:tr h="219075">
                <a:tc>
                  <a:txBody>
                    <a:bodyPr/>
                    <a:lstStyle/>
                    <a:p>
                      <a:pPr algn="l" indent="0" marL="0">
                        <a:lnSpc>
                          <a:spcPct val="120000"/>
                        </a:lnSpc>
                        <a:buNone/>
                      </a:pP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300" b="1" dirty="0">
                          <a:solidFill>
                            <a:srgbClr val="8FB8E8"/>
                          </a:solidFill>
                          <a:latin typeface="Calibri" pitchFamily="34" charset="0"/>
                          <a:ea typeface="Calibri" pitchFamily="34" charset="-122"/>
                          <a:cs typeface="Calibri" pitchFamily="34" charset="-120"/>
                        </a:rPr>
                        <a:t>1b, 1c · Coded (Python + Shiny)</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300" b="1" dirty="0">
                          <a:solidFill>
                            <a:srgbClr val="E3A36B"/>
                          </a:solidFill>
                          <a:latin typeface="Calibri" pitchFamily="34" charset="0"/>
                          <a:ea typeface="Calibri" pitchFamily="34" charset="-122"/>
                          <a:cs typeface="Calibri" pitchFamily="34" charset="-120"/>
                        </a:rPr>
                        <a:t>1a · Excel-AI-CPAT</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r>
              <a:tr h="4381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What it is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The core engine in Python, with an online Shiny interface</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A cut-down CPAT in Excel, built from scratch with AI</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4381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First uses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Model comparison; full country work once complete; SiSePuede and pathways tool</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GHG accounting; a clean back end for the new WB–IMF interface</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r h="4381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Users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Modelers and teams who run code; web users via Shiny</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Economists who work in Excel; IMF and WB CPAT teams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2222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Strength</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Scales, tests and links to other Python models</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Familiar, transparent cell by cell, easy to audit</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r h="222250">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Limit</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Not open to non-coders without Shiny</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300" dirty="0">
                          <a:solidFill>
                            <a:srgbClr val="3F4A5A"/>
                          </a:solidFill>
                          <a:latin typeface="Calibri" pitchFamily="34" charset="0"/>
                          <a:ea typeface="Calibri" pitchFamily="34" charset="-122"/>
                          <a:cs typeface="Calibri" pitchFamily="34" charset="-120"/>
                        </a:rPr>
                        <a:t>Harder to scale; LAMBDA needs a recent Excel</a:t>
                      </a:r>
                      <a:endParaRPr lang="en-US" sz="13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DELIVERABLE 1 · THE CASE FOR EXCEL-AI-CPAT</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Excel-AI-CPAT serves three purposes</a:t>
            </a:r>
            <a:endParaRPr lang="en-US" sz="3200" dirty="0"/>
          </a:p>
        </p:txBody>
      </p:sp>
      <p:sp>
        <p:nvSpPr>
          <p:cNvPr id="4" name="Shape 2"/>
          <p:cNvSpPr/>
          <p:nvPr/>
        </p:nvSpPr>
        <p:spPr>
          <a:xfrm>
            <a:off x="812800" y="1950641"/>
            <a:ext cx="3386634" cy="2819202"/>
          </a:xfrm>
          <a:prstGeom prst="roundRect">
            <a:avLst>
              <a:gd name="adj" fmla="val 2703"/>
            </a:avLst>
          </a:prstGeom>
          <a:solidFill>
            <a:srgbClr val="FFFFFF"/>
          </a:solidFill>
          <a:ln/>
        </p:spPr>
        <p:txBody>
          <a:bodyPr/>
          <a:p/>
        </p:txBody>
      </p:sp>
      <p:sp>
        <p:nvSpPr>
          <p:cNvPr id="5" name="Text 3"/>
          <p:cNvSpPr txBox="1"/>
          <p:nvPr/>
        </p:nvSpPr>
        <p:spPr>
          <a:xfrm>
            <a:off x="1092200" y="2230041"/>
            <a:ext cx="2912669" cy="457200"/>
          </a:xfrm>
          <a:prstGeom prst="rect">
            <a:avLst/>
          </a:prstGeom>
          <a:noFill/>
          <a:ln/>
        </p:spPr>
        <p:txBody>
          <a:bodyPr wrap="square" lIns="0" tIns="0" rIns="0" bIns="0" rtlCol="0" anchor="t"/>
          <a:lstStyle/>
          <a:p>
            <a:pPr algn="l" indent="0" marL="0">
              <a:lnSpc>
                <a:spcPct val="100000"/>
              </a:lnSpc>
              <a:buNone/>
            </a:pPr>
            <a:r>
              <a:rPr lang="en-US" sz="3600" b="1" dirty="0">
                <a:solidFill>
                  <a:srgbClr val="A8521A"/>
                </a:solidFill>
                <a:latin typeface="Cambria" pitchFamily="34" charset="0"/>
                <a:ea typeface="Cambria" pitchFamily="34" charset="-122"/>
                <a:cs typeface="Cambria" pitchFamily="34" charset="-120"/>
              </a:rPr>
              <a:t>1</a:t>
            </a:r>
            <a:endParaRPr lang="en-US" sz="3600" dirty="0"/>
          </a:p>
        </p:txBody>
      </p:sp>
      <p:sp>
        <p:nvSpPr>
          <p:cNvPr id="6" name="Text 4"/>
          <p:cNvSpPr txBox="1"/>
          <p:nvPr/>
        </p:nvSpPr>
        <p:spPr>
          <a:xfrm>
            <a:off x="1092200" y="2814241"/>
            <a:ext cx="2912669" cy="51812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Input to the WB–IMF process</a:t>
            </a:r>
            <a:endParaRPr lang="en-US" sz="1700" dirty="0"/>
          </a:p>
        </p:txBody>
      </p:sp>
      <p:sp>
        <p:nvSpPr>
          <p:cNvPr id="7" name="Text 5"/>
          <p:cNvSpPr txBox="1"/>
          <p:nvPr/>
        </p:nvSpPr>
        <p:spPr>
          <a:xfrm>
            <a:off x="1092200" y="3459361"/>
            <a:ext cx="2912669" cy="103108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Agreed with Dirk: a contributor to future development, not yet the full CPAT. A base for one maintainable model.</a:t>
            </a:r>
            <a:endParaRPr lang="en-US" sz="1400" dirty="0"/>
          </a:p>
        </p:txBody>
      </p:sp>
      <p:sp>
        <p:nvSpPr>
          <p:cNvPr id="8" name="Shape 6"/>
          <p:cNvSpPr/>
          <p:nvPr/>
        </p:nvSpPr>
        <p:spPr>
          <a:xfrm>
            <a:off x="4402634" y="1950641"/>
            <a:ext cx="3386634" cy="2819202"/>
          </a:xfrm>
          <a:prstGeom prst="roundRect">
            <a:avLst>
              <a:gd name="adj" fmla="val 2703"/>
            </a:avLst>
          </a:prstGeom>
          <a:solidFill>
            <a:srgbClr val="FFFFFF"/>
          </a:solidFill>
          <a:ln/>
        </p:spPr>
        <p:txBody>
          <a:bodyPr/>
          <a:p/>
        </p:txBody>
      </p:sp>
      <p:sp>
        <p:nvSpPr>
          <p:cNvPr id="9" name="Text 7"/>
          <p:cNvSpPr txBox="1"/>
          <p:nvPr/>
        </p:nvSpPr>
        <p:spPr>
          <a:xfrm>
            <a:off x="4682034" y="2230041"/>
            <a:ext cx="2912669" cy="457200"/>
          </a:xfrm>
          <a:prstGeom prst="rect">
            <a:avLst/>
          </a:prstGeom>
          <a:noFill/>
          <a:ln/>
        </p:spPr>
        <p:txBody>
          <a:bodyPr wrap="square" lIns="0" tIns="0" rIns="0" bIns="0" rtlCol="0" anchor="t"/>
          <a:lstStyle/>
          <a:p>
            <a:pPr algn="l" indent="0" marL="0">
              <a:lnSpc>
                <a:spcPct val="100000"/>
              </a:lnSpc>
              <a:buNone/>
            </a:pPr>
            <a:r>
              <a:rPr lang="en-US" sz="3600" b="1" dirty="0">
                <a:solidFill>
                  <a:srgbClr val="A8521A"/>
                </a:solidFill>
                <a:latin typeface="Cambria" pitchFamily="34" charset="0"/>
                <a:ea typeface="Cambria" pitchFamily="34" charset="-122"/>
                <a:cs typeface="Cambria" pitchFamily="34" charset="-120"/>
              </a:rPr>
              <a:t>2</a:t>
            </a:r>
            <a:endParaRPr lang="en-US" sz="3600" dirty="0"/>
          </a:p>
        </p:txBody>
      </p:sp>
      <p:sp>
        <p:nvSpPr>
          <p:cNvPr id="10" name="Text 8"/>
          <p:cNvSpPr txBox="1"/>
          <p:nvPr/>
        </p:nvSpPr>
        <p:spPr>
          <a:xfrm>
            <a:off x="4682034" y="2814241"/>
            <a:ext cx="2912669" cy="51812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GHG accounting and policy crediting</a:t>
            </a:r>
            <a:endParaRPr lang="en-US" sz="1700" dirty="0"/>
          </a:p>
        </p:txBody>
      </p:sp>
      <p:sp>
        <p:nvSpPr>
          <p:cNvPr id="11" name="Text 9"/>
          <p:cNvSpPr txBox="1"/>
          <p:nvPr/>
        </p:nvSpPr>
        <p:spPr>
          <a:xfrm>
            <a:off x="4682034" y="3459361"/>
            <a:ext cx="2912669" cy="77331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A transparent Excel tool for ex-ante DPF accounting and crediting, where each figure is traceable.</a:t>
            </a:r>
            <a:endParaRPr lang="en-US" sz="1400" dirty="0"/>
          </a:p>
        </p:txBody>
      </p:sp>
      <p:sp>
        <p:nvSpPr>
          <p:cNvPr id="12" name="Shape 10"/>
          <p:cNvSpPr/>
          <p:nvPr/>
        </p:nvSpPr>
        <p:spPr>
          <a:xfrm>
            <a:off x="7992467" y="1950641"/>
            <a:ext cx="3386634" cy="2819202"/>
          </a:xfrm>
          <a:prstGeom prst="roundRect">
            <a:avLst>
              <a:gd name="adj" fmla="val 2703"/>
            </a:avLst>
          </a:prstGeom>
          <a:solidFill>
            <a:srgbClr val="FFFFFF"/>
          </a:solidFill>
          <a:ln/>
        </p:spPr>
        <p:txBody>
          <a:bodyPr/>
          <a:p/>
        </p:txBody>
      </p:sp>
      <p:sp>
        <p:nvSpPr>
          <p:cNvPr id="13" name="Text 11"/>
          <p:cNvSpPr txBox="1"/>
          <p:nvPr/>
        </p:nvSpPr>
        <p:spPr>
          <a:xfrm>
            <a:off x="8271867" y="2230041"/>
            <a:ext cx="2912669" cy="457200"/>
          </a:xfrm>
          <a:prstGeom prst="rect">
            <a:avLst/>
          </a:prstGeom>
          <a:noFill/>
          <a:ln/>
        </p:spPr>
        <p:txBody>
          <a:bodyPr wrap="square" lIns="0" tIns="0" rIns="0" bIns="0" rtlCol="0" anchor="t"/>
          <a:lstStyle/>
          <a:p>
            <a:pPr algn="l" indent="0" marL="0">
              <a:lnSpc>
                <a:spcPct val="100000"/>
              </a:lnSpc>
              <a:buNone/>
            </a:pPr>
            <a:r>
              <a:rPr lang="en-US" sz="3600" b="1" dirty="0">
                <a:solidFill>
                  <a:srgbClr val="A8521A"/>
                </a:solidFill>
                <a:latin typeface="Cambria" pitchFamily="34" charset="0"/>
                <a:ea typeface="Cambria" pitchFamily="34" charset="-122"/>
                <a:cs typeface="Cambria" pitchFamily="34" charset="-120"/>
              </a:rPr>
              <a:t>3</a:t>
            </a:r>
            <a:endParaRPr lang="en-US" sz="3600" dirty="0"/>
          </a:p>
        </p:txBody>
      </p:sp>
      <p:sp>
        <p:nvSpPr>
          <p:cNvPr id="14" name="Text 12"/>
          <p:cNvSpPr txBox="1"/>
          <p:nvPr/>
        </p:nvSpPr>
        <p:spPr>
          <a:xfrm>
            <a:off x="8271867" y="281424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Cross-checking</a:t>
            </a:r>
            <a:endParaRPr lang="en-US" sz="1700" dirty="0"/>
          </a:p>
        </p:txBody>
      </p:sp>
      <p:sp>
        <p:nvSpPr>
          <p:cNvPr id="15" name="Text 13"/>
          <p:cNvSpPr txBox="1"/>
          <p:nvPr/>
        </p:nvSpPr>
        <p:spPr>
          <a:xfrm>
            <a:off x="8271867" y="3200301"/>
            <a:ext cx="2912669" cy="103108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An independent check on the coded engine and on legacy CPAT. Differences point to errors on either side.</a:t>
            </a:r>
            <a:endParaRPr lang="en-US" sz="1400" dirty="0"/>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DELIVERABLE 1 · MAINTAINABILITY</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Scripts keep code, Excel and docs equal</a:t>
            </a:r>
            <a:endParaRPr lang="en-US" sz="3200" dirty="0"/>
          </a:p>
        </p:txBody>
      </p:sp>
      <p:sp>
        <p:nvSpPr>
          <p:cNvPr id="4" name="Shape 2"/>
          <p:cNvSpPr/>
          <p:nvPr/>
        </p:nvSpPr>
        <p:spPr>
          <a:xfrm>
            <a:off x="812800" y="2080716"/>
            <a:ext cx="2286000" cy="1093391"/>
          </a:xfrm>
          <a:prstGeom prst="roundRect">
            <a:avLst>
              <a:gd name="adj" fmla="val 5808"/>
            </a:avLst>
          </a:prstGeom>
          <a:solidFill>
            <a:srgbClr val="FFFFFF"/>
          </a:solidFill>
          <a:ln w="12700">
            <a:solidFill>
              <a:srgbClr val="7A8494"/>
            </a:solidFill>
            <a:prstDash val="solid"/>
          </a:ln>
        </p:spPr>
        <p:txBody>
          <a:bodyPr/>
          <a:p/>
        </p:txBody>
      </p:sp>
      <p:sp>
        <p:nvSpPr>
          <p:cNvPr id="5" name="Text 3"/>
          <p:cNvSpPr txBox="1"/>
          <p:nvPr/>
        </p:nvSpPr>
        <p:spPr>
          <a:xfrm>
            <a:off x="1003300" y="2271216"/>
            <a:ext cx="1962150" cy="234950"/>
          </a:xfrm>
          <a:prstGeom prst="rect">
            <a:avLst/>
          </a:prstGeom>
          <a:noFill/>
          <a:ln/>
        </p:spPr>
        <p:txBody>
          <a:bodyPr wrap="square" lIns="0" tIns="0" rIns="0" bIns="0" rtlCol="0" anchor="t"/>
          <a:lstStyle/>
          <a:p>
            <a:pPr algn="l" indent="0" marL="0">
              <a:lnSpc>
                <a:spcPct val="120000"/>
              </a:lnSpc>
              <a:buNone/>
            </a:pPr>
            <a:r>
              <a:rPr lang="en-US" sz="1400" b="1" dirty="0">
                <a:solidFill>
                  <a:srgbClr val="14213D"/>
                </a:solidFill>
                <a:latin typeface="Calibri" pitchFamily="34" charset="0"/>
                <a:ea typeface="Calibri" pitchFamily="34" charset="-122"/>
                <a:cs typeface="Calibri" pitchFamily="34" charset="-120"/>
              </a:rPr>
              <a:t>Legacy CPAT</a:t>
            </a:r>
            <a:endParaRPr lang="en-US" sz="1400" dirty="0"/>
          </a:p>
        </p:txBody>
      </p:sp>
      <p:sp>
        <p:nvSpPr>
          <p:cNvPr id="6" name="Text 4"/>
          <p:cNvSpPr txBox="1"/>
          <p:nvPr/>
        </p:nvSpPr>
        <p:spPr>
          <a:xfrm>
            <a:off x="1003300" y="2556966"/>
            <a:ext cx="1962150"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Excel data and parameters</a:t>
            </a:r>
            <a:endParaRPr lang="en-US" sz="1200" dirty="0"/>
          </a:p>
        </p:txBody>
      </p:sp>
      <p:sp>
        <p:nvSpPr>
          <p:cNvPr id="7" name="Shape 5"/>
          <p:cNvSpPr/>
          <p:nvPr/>
        </p:nvSpPr>
        <p:spPr>
          <a:xfrm>
            <a:off x="3200400" y="2627412"/>
            <a:ext cx="406400" cy="0"/>
          </a:xfrm>
          <a:prstGeom prst="line">
            <a:avLst/>
          </a:prstGeom>
          <a:noFill/>
          <a:ln w="25400">
            <a:solidFill>
              <a:srgbClr val="14213D"/>
            </a:solidFill>
            <a:prstDash val="solid"/>
            <a:tailEnd type="triangle"/>
          </a:ln>
        </p:spPr>
        <p:txBody>
          <a:bodyPr/>
          <a:p/>
        </p:txBody>
      </p:sp>
      <p:sp>
        <p:nvSpPr>
          <p:cNvPr id="8" name="Shape 6"/>
          <p:cNvSpPr/>
          <p:nvPr/>
        </p:nvSpPr>
        <p:spPr>
          <a:xfrm>
            <a:off x="3708400" y="2080716"/>
            <a:ext cx="2286000" cy="1093391"/>
          </a:xfrm>
          <a:prstGeom prst="roundRect">
            <a:avLst>
              <a:gd name="adj" fmla="val 5808"/>
            </a:avLst>
          </a:prstGeom>
          <a:solidFill>
            <a:srgbClr val="FFFFFF"/>
          </a:solidFill>
          <a:ln w="12700">
            <a:solidFill>
              <a:srgbClr val="7A8494"/>
            </a:solidFill>
            <a:prstDash val="solid"/>
          </a:ln>
        </p:spPr>
        <p:txBody>
          <a:bodyPr/>
          <a:p/>
        </p:txBody>
      </p:sp>
      <p:sp>
        <p:nvSpPr>
          <p:cNvPr id="9" name="Text 7"/>
          <p:cNvSpPr txBox="1"/>
          <p:nvPr/>
        </p:nvSpPr>
        <p:spPr>
          <a:xfrm>
            <a:off x="3898900" y="2271216"/>
            <a:ext cx="1962150" cy="234950"/>
          </a:xfrm>
          <a:prstGeom prst="rect">
            <a:avLst/>
          </a:prstGeom>
          <a:noFill/>
          <a:ln/>
        </p:spPr>
        <p:txBody>
          <a:bodyPr wrap="square" lIns="0" tIns="0" rIns="0" bIns="0" rtlCol="0" anchor="t"/>
          <a:lstStyle/>
          <a:p>
            <a:pPr algn="l" indent="0" marL="0">
              <a:lnSpc>
                <a:spcPct val="120000"/>
              </a:lnSpc>
              <a:buNone/>
            </a:pPr>
            <a:r>
              <a:rPr lang="en-US" sz="1400" b="1" dirty="0">
                <a:solidFill>
                  <a:srgbClr val="14213D"/>
                </a:solidFill>
                <a:latin typeface="Calibri" pitchFamily="34" charset="0"/>
                <a:ea typeface="Calibri" pitchFamily="34" charset="-122"/>
                <a:cs typeface="Calibri" pitchFamily="34" charset="-120"/>
              </a:rPr>
              <a:t>Extraction scripts</a:t>
            </a:r>
            <a:endParaRPr lang="en-US" sz="1400" dirty="0"/>
          </a:p>
        </p:txBody>
      </p:sp>
      <p:sp>
        <p:nvSpPr>
          <p:cNvPr id="10" name="Text 8"/>
          <p:cNvSpPr txBox="1"/>
          <p:nvPr/>
        </p:nvSpPr>
        <p:spPr>
          <a:xfrm>
            <a:off x="3898900" y="2556966"/>
            <a:ext cx="1962150"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Pull data out, with a source trail</a:t>
            </a:r>
            <a:endParaRPr lang="en-US" sz="1200" dirty="0"/>
          </a:p>
        </p:txBody>
      </p:sp>
      <p:sp>
        <p:nvSpPr>
          <p:cNvPr id="11" name="Shape 9"/>
          <p:cNvSpPr/>
          <p:nvPr/>
        </p:nvSpPr>
        <p:spPr>
          <a:xfrm>
            <a:off x="6096000" y="2627412"/>
            <a:ext cx="406400" cy="0"/>
          </a:xfrm>
          <a:prstGeom prst="line">
            <a:avLst/>
          </a:prstGeom>
          <a:noFill/>
          <a:ln w="25400">
            <a:solidFill>
              <a:srgbClr val="14213D"/>
            </a:solidFill>
            <a:prstDash val="solid"/>
            <a:tailEnd type="triangle"/>
          </a:ln>
        </p:spPr>
        <p:txBody>
          <a:bodyPr/>
          <a:p/>
        </p:txBody>
      </p:sp>
      <p:sp>
        <p:nvSpPr>
          <p:cNvPr id="12" name="Shape 10"/>
          <p:cNvSpPr/>
          <p:nvPr/>
        </p:nvSpPr>
        <p:spPr>
          <a:xfrm>
            <a:off x="6604000" y="2200077"/>
            <a:ext cx="2260600" cy="854670"/>
          </a:xfrm>
          <a:prstGeom prst="roundRect">
            <a:avLst>
              <a:gd name="adj" fmla="val 7430"/>
            </a:avLst>
          </a:prstGeom>
          <a:solidFill>
            <a:srgbClr val="14213D"/>
          </a:solidFill>
          <a:ln/>
        </p:spPr>
        <p:txBody>
          <a:bodyPr/>
          <a:p/>
        </p:txBody>
      </p:sp>
      <p:sp>
        <p:nvSpPr>
          <p:cNvPr id="13" name="Text 11"/>
          <p:cNvSpPr txBox="1"/>
          <p:nvPr/>
        </p:nvSpPr>
        <p:spPr>
          <a:xfrm>
            <a:off x="6781800" y="2377877"/>
            <a:ext cx="1962150" cy="234950"/>
          </a:xfrm>
          <a:prstGeom prst="rect">
            <a:avLst/>
          </a:prstGeom>
          <a:noFill/>
          <a:ln/>
        </p:spPr>
        <p:txBody>
          <a:bodyPr wrap="square" lIns="0" tIns="0" rIns="0" bIns="0" rtlCol="0" anchor="t"/>
          <a:lstStyle/>
          <a:p>
            <a:pPr algn="l" indent="0" marL="0">
              <a:lnSpc>
                <a:spcPct val="120000"/>
              </a:lnSpc>
              <a:buNone/>
            </a:pPr>
            <a:r>
              <a:rPr lang="en-US" sz="1400" b="1" dirty="0">
                <a:solidFill>
                  <a:srgbClr val="F7F6F1"/>
                </a:solidFill>
                <a:latin typeface="Calibri" pitchFamily="34" charset="0"/>
                <a:ea typeface="Calibri" pitchFamily="34" charset="-122"/>
                <a:cs typeface="Calibri" pitchFamily="34" charset="-120"/>
              </a:rPr>
              <a:t>Generative files</a:t>
            </a:r>
            <a:endParaRPr lang="en-US" sz="1400" dirty="0"/>
          </a:p>
        </p:txBody>
      </p:sp>
      <p:sp>
        <p:nvSpPr>
          <p:cNvPr id="14" name="Text 12"/>
          <p:cNvSpPr txBox="1"/>
          <p:nvPr/>
        </p:nvSpPr>
        <p:spPr>
          <a:xfrm>
            <a:off x="6781800" y="2663627"/>
            <a:ext cx="1962150" cy="213320"/>
          </a:xfrm>
          <a:prstGeom prst="rect">
            <a:avLst/>
          </a:prstGeom>
          <a:noFill/>
          <a:ln/>
        </p:spPr>
        <p:txBody>
          <a:bodyPr wrap="square" lIns="0" tIns="0" rIns="0" bIns="0" rtlCol="0" anchor="t"/>
          <a:lstStyle/>
          <a:p>
            <a:pPr algn="l" indent="0" marL="0">
              <a:lnSpc>
                <a:spcPct val="140000"/>
              </a:lnSpc>
              <a:buNone/>
            </a:pPr>
            <a:r>
              <a:rPr lang="en-US" sz="1200" dirty="0">
                <a:solidFill>
                  <a:srgbClr val="C9D3E0"/>
                </a:solidFill>
                <a:latin typeface="Calibri" pitchFamily="34" charset="0"/>
                <a:ea typeface="Calibri" pitchFamily="34" charset="-122"/>
                <a:cs typeface="Calibri" pitchFamily="34" charset="-120"/>
              </a:rPr>
              <a:t>Build script + pseudocode</a:t>
            </a:r>
            <a:endParaRPr lang="en-US" sz="1200" dirty="0"/>
          </a:p>
        </p:txBody>
      </p:sp>
      <p:sp>
        <p:nvSpPr>
          <p:cNvPr id="15" name="Shape 13"/>
          <p:cNvSpPr/>
          <p:nvPr/>
        </p:nvSpPr>
        <p:spPr>
          <a:xfrm>
            <a:off x="8966200" y="2627412"/>
            <a:ext cx="406400" cy="0"/>
          </a:xfrm>
          <a:prstGeom prst="line">
            <a:avLst/>
          </a:prstGeom>
          <a:noFill/>
          <a:ln w="25400">
            <a:solidFill>
              <a:srgbClr val="14213D"/>
            </a:solidFill>
            <a:prstDash val="solid"/>
            <a:tailEnd type="triangle"/>
          </a:ln>
        </p:spPr>
        <p:txBody>
          <a:bodyPr/>
          <a:p/>
        </p:txBody>
      </p:sp>
      <p:sp>
        <p:nvSpPr>
          <p:cNvPr id="16" name="Shape 14"/>
          <p:cNvSpPr/>
          <p:nvPr/>
        </p:nvSpPr>
        <p:spPr>
          <a:xfrm>
            <a:off x="9474200" y="1899841"/>
            <a:ext cx="1905000" cy="434280"/>
          </a:xfrm>
          <a:prstGeom prst="roundRect">
            <a:avLst>
              <a:gd name="adj" fmla="val 11698"/>
            </a:avLst>
          </a:prstGeom>
          <a:solidFill>
            <a:srgbClr val="DCE8F5"/>
          </a:solidFill>
          <a:ln/>
        </p:spPr>
        <p:txBody>
          <a:bodyPr/>
          <a:p/>
        </p:txBody>
      </p:sp>
      <p:sp>
        <p:nvSpPr>
          <p:cNvPr id="17" name="Text 15"/>
          <p:cNvSpPr txBox="1"/>
          <p:nvPr/>
        </p:nvSpPr>
        <p:spPr>
          <a:xfrm>
            <a:off x="9474200" y="1899841"/>
            <a:ext cx="1905000" cy="434280"/>
          </a:xfrm>
          <a:prstGeom prst="rect">
            <a:avLst/>
          </a:prstGeom>
          <a:noFill/>
          <a:ln/>
        </p:spPr>
        <p:txBody>
          <a:bodyPr wrap="square" lIns="127000" tIns="101600" rIns="1270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Python engine</a:t>
            </a:r>
            <a:endParaRPr lang="en-US" sz="1300" dirty="0"/>
          </a:p>
        </p:txBody>
      </p:sp>
      <p:sp>
        <p:nvSpPr>
          <p:cNvPr id="18" name="Shape 16"/>
          <p:cNvSpPr/>
          <p:nvPr/>
        </p:nvSpPr>
        <p:spPr>
          <a:xfrm>
            <a:off x="9474200" y="2410321"/>
            <a:ext cx="1905000" cy="434280"/>
          </a:xfrm>
          <a:prstGeom prst="roundRect">
            <a:avLst>
              <a:gd name="adj" fmla="val 11698"/>
            </a:avLst>
          </a:prstGeom>
          <a:solidFill>
            <a:srgbClr val="F6E1CF"/>
          </a:solidFill>
          <a:ln/>
        </p:spPr>
        <p:txBody>
          <a:bodyPr/>
          <a:p/>
        </p:txBody>
      </p:sp>
      <p:sp>
        <p:nvSpPr>
          <p:cNvPr id="19" name="Text 17"/>
          <p:cNvSpPr txBox="1"/>
          <p:nvPr/>
        </p:nvSpPr>
        <p:spPr>
          <a:xfrm>
            <a:off x="9474200" y="2410321"/>
            <a:ext cx="1905000" cy="434280"/>
          </a:xfrm>
          <a:prstGeom prst="rect">
            <a:avLst/>
          </a:prstGeom>
          <a:noFill/>
          <a:ln/>
        </p:spPr>
        <p:txBody>
          <a:bodyPr wrap="square" lIns="127000" tIns="101600" rIns="1270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Excel-AI-CPAT</a:t>
            </a:r>
            <a:endParaRPr lang="en-US" sz="1300" dirty="0"/>
          </a:p>
        </p:txBody>
      </p:sp>
      <p:sp>
        <p:nvSpPr>
          <p:cNvPr id="20" name="Shape 18"/>
          <p:cNvSpPr/>
          <p:nvPr/>
        </p:nvSpPr>
        <p:spPr>
          <a:xfrm>
            <a:off x="9474200" y="2920802"/>
            <a:ext cx="1905000" cy="434280"/>
          </a:xfrm>
          <a:prstGeom prst="roundRect">
            <a:avLst>
              <a:gd name="adj" fmla="val 11698"/>
            </a:avLst>
          </a:prstGeom>
          <a:solidFill>
            <a:srgbClr val="E4E2DA"/>
          </a:solidFill>
          <a:ln/>
        </p:spPr>
        <p:txBody>
          <a:bodyPr/>
          <a:p/>
        </p:txBody>
      </p:sp>
      <p:sp>
        <p:nvSpPr>
          <p:cNvPr id="21" name="Text 19"/>
          <p:cNvSpPr txBox="1"/>
          <p:nvPr/>
        </p:nvSpPr>
        <p:spPr>
          <a:xfrm>
            <a:off x="9474200" y="2920802"/>
            <a:ext cx="1905000" cy="434280"/>
          </a:xfrm>
          <a:prstGeom prst="rect">
            <a:avLst/>
          </a:prstGeom>
          <a:noFill/>
          <a:ln/>
        </p:spPr>
        <p:txBody>
          <a:bodyPr wrap="square" lIns="127000" tIns="101600" rIns="1270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Documentation</a:t>
            </a:r>
            <a:endParaRPr lang="en-US" sz="1300" dirty="0"/>
          </a:p>
        </p:txBody>
      </p:sp>
      <p:sp>
        <p:nvSpPr>
          <p:cNvPr id="22" name="Shape 20"/>
          <p:cNvSpPr/>
          <p:nvPr/>
        </p:nvSpPr>
        <p:spPr>
          <a:xfrm>
            <a:off x="812800" y="3659882"/>
            <a:ext cx="38100" cy="904081"/>
          </a:xfrm>
          <a:prstGeom prst="rect">
            <a:avLst/>
          </a:prstGeom>
          <a:solidFill>
            <a:srgbClr val="A8521A"/>
          </a:solidFill>
          <a:ln/>
        </p:spPr>
        <p:txBody>
          <a:bodyPr/>
          <a:p/>
        </p:txBody>
      </p:sp>
      <p:sp>
        <p:nvSpPr>
          <p:cNvPr id="23" name="Text 21"/>
          <p:cNvSpPr txBox="1"/>
          <p:nvPr/>
        </p:nvSpPr>
        <p:spPr>
          <a:xfrm>
            <a:off x="1028700" y="3710682"/>
            <a:ext cx="5114671"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Share generators, not context</a:t>
            </a:r>
            <a:endParaRPr lang="en-US" sz="1500" dirty="0"/>
          </a:p>
        </p:txBody>
      </p:sp>
      <p:sp>
        <p:nvSpPr>
          <p:cNvPr id="24" name="Text 22"/>
          <p:cNvSpPr txBox="1"/>
          <p:nvPr/>
        </p:nvSpPr>
        <p:spPr>
          <a:xfrm>
            <a:off x="1028700" y="4034532"/>
            <a:ext cx="5114671"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Claude builds the Excel through a Python script. We save (a) that full script and (b) a readable pseudocode version that produces it.</a:t>
            </a:r>
            <a:endParaRPr lang="en-US" sz="1300" dirty="0"/>
          </a:p>
        </p:txBody>
      </p:sp>
      <p:sp>
        <p:nvSpPr>
          <p:cNvPr id="25" name="Shape 23"/>
          <p:cNvSpPr/>
          <p:nvPr/>
        </p:nvSpPr>
        <p:spPr>
          <a:xfrm>
            <a:off x="6197600" y="3659882"/>
            <a:ext cx="38100" cy="904081"/>
          </a:xfrm>
          <a:prstGeom prst="rect">
            <a:avLst/>
          </a:prstGeom>
          <a:solidFill>
            <a:srgbClr val="A8521A"/>
          </a:solidFill>
          <a:ln/>
        </p:spPr>
        <p:txBody>
          <a:bodyPr/>
          <a:p/>
        </p:txBody>
      </p:sp>
      <p:sp>
        <p:nvSpPr>
          <p:cNvPr id="26" name="Text 24"/>
          <p:cNvSpPr txBox="1"/>
          <p:nvPr/>
        </p:nvSpPr>
        <p:spPr>
          <a:xfrm>
            <a:off x="6413500" y="3710682"/>
            <a:ext cx="496570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Works with Claude or Copilot</a:t>
            </a:r>
            <a:endParaRPr lang="en-US" sz="1500" dirty="0"/>
          </a:p>
        </p:txBody>
      </p:sp>
      <p:sp>
        <p:nvSpPr>
          <p:cNvPr id="27" name="Text 25"/>
          <p:cNvSpPr txBox="1"/>
          <p:nvPr/>
        </p:nvSpPr>
        <p:spPr>
          <a:xfrm>
            <a:off x="6413500" y="4034532"/>
            <a:ext cx="4965700"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Any AI coding tool can pick it up. Proprietary data stays ring-fenced outside the shared files.</a:t>
            </a:r>
            <a:endParaRPr lang="en-US" sz="1300" dirty="0"/>
          </a:p>
        </p:txBody>
      </p:sp>
      <p:sp>
        <p:nvSpPr>
          <p:cNvPr id="28" name="Text 26"/>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DELIVERABLE 1 · ISSUES AND RESOLUTIONS</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The main risks are known and manageable</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12800" y="1849041"/>
          <a:ext cx="10566400" cy="914400"/>
        </p:xfrm>
        <a:graphic>
          <a:graphicData uri="http://schemas.openxmlformats.org/drawingml/2006/table">
            <a:tbl>
              <a:tblPr/>
              <a:tblGrid>
                <a:gridCol w="1901924"/>
                <a:gridCol w="4332188"/>
                <a:gridCol w="4332288"/>
              </a:tblGrid>
              <a:tr h="206375">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Topic</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Issue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c>
                  <a:txBody>
                    <a:bodyPr/>
                    <a:lstStyle/>
                    <a:p>
                      <a:pPr algn="l" indent="0" marL="0">
                        <a:lnSpc>
                          <a:spcPct val="120000"/>
                        </a:lnSpc>
                        <a:buNone/>
                      </a:pPr>
                      <a:r>
                        <a:rPr lang="en-US" sz="1200" b="1" dirty="0">
                          <a:solidFill>
                            <a:srgbClr val="F7F6F1"/>
                          </a:solidFill>
                          <a:latin typeface="Calibri" pitchFamily="34" charset="0"/>
                          <a:ea typeface="Calibri" pitchFamily="34" charset="-122"/>
                          <a:cs typeface="Calibri" pitchFamily="34" charset="-120"/>
                        </a:rPr>
                        <a:t>Resolution</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14213D"/>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IMF ownership</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The IMF may want to take control, and could build its own version.</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Agree the WB side first, then bring the IMF in early. Their version may look like ours.</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Compatibility</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LAMBDA functions need recent Excel; older copies, e.g. in finance ministries, may fail.</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Finance ministries are not the first audience. LAMBDAs can be turned back into direct formulas.</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Functionality</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Legacy Excel CPAT holds many ad hoc changes; the new model will not match them all at first.</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Build a sound, maintainable base; extend it once code and Excel-AI-CPAT are adequate.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Scope</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Risk of two Excel models to maintain in the long run.</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A contributor to the WB–IMF process, not yet the full CPAT. Long-term, keep one Excel.</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EFEDE6"/>
                    </a:solidFill>
                  </a:tcPr>
                </a:tc>
              </a:tr>
              <a:tr h="412750">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Accessibility</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Teams use different AI tools, and some data is proprietary.</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c>
                  <a:txBody>
                    <a:bodyPr/>
                    <a:lstStyle/>
                    <a:p>
                      <a:pPr algn="l" indent="0" marL="0">
                        <a:lnSpc>
                          <a:spcPct val="120000"/>
                        </a:lnSpc>
                        <a:buNone/>
                      </a:pPr>
                      <a:r>
                        <a:rPr lang="en-US" sz="1200" dirty="0">
                          <a:solidFill>
                            <a:srgbClr val="3F4A5A"/>
                          </a:solidFill>
                          <a:latin typeface="Calibri" pitchFamily="34" charset="0"/>
                          <a:ea typeface="Calibri" pitchFamily="34" charset="-122"/>
                          <a:cs typeface="Calibri" pitchFamily="34" charset="-120"/>
                        </a:rPr>
                        <a:t>Works with Claude or GitHub Copilot; proprietary data kept ring-fenced.</a:t>
                      </a:r>
                      <a:endParaRPr lang="en-US" sz="1200" dirty="0">
                        <a:latin typeface="Calibri" charset="0"/>
                        <a:ea typeface="Calibri" charset="0"/>
                        <a:cs typeface="Calibri" charset="0"/>
                      </a:endParaRPr>
                    </a:p>
                  </a:txBody>
                  <a:tcPr marL="0" marR="0" marT="0" marB="0" anchor="t">
                    <a:lnL w="0" cap="flat" cmpd="sng" algn="ctr">
                      <a:noFill/>
                    </a:lnL>
                    <a:lnR w="0" cap="flat" cmpd="sng" algn="ctr">
                      <a:noFill/>
                    </a:lnR>
                    <a:lnT w="0" cap="flat" cmpd="sng" algn="ctr">
                      <a:noFill/>
                    </a:lnT>
                    <a:lnB w="9525" cap="flat" cmpd="sng" algn="ctr">
                      <a:solidFill>
                        <a:srgbClr val="D8DCE2"/>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DELIVERABLE 1 · CURRENT STATUS · 30 SEPTEMBER</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Five weeks spent; two MVPs delivered on 25 September</a:t>
            </a:r>
            <a:endParaRPr lang="en-US" sz="3200" dirty="0"/>
          </a:p>
        </p:txBody>
      </p:sp>
      <p:sp>
        <p:nvSpPr>
          <p:cNvPr id="4" name="Shape 2"/>
          <p:cNvSpPr/>
          <p:nvPr/>
        </p:nvSpPr>
        <p:spPr>
          <a:xfrm>
            <a:off x="812800" y="1899841"/>
            <a:ext cx="3386634" cy="2402979"/>
          </a:xfrm>
          <a:prstGeom prst="roundRect">
            <a:avLst>
              <a:gd name="adj" fmla="val 2114"/>
            </a:avLst>
          </a:prstGeom>
          <a:solidFill>
            <a:srgbClr val="FFFFFF"/>
          </a:solidFill>
          <a:ln/>
        </p:spPr>
        <p:txBody>
          <a:bodyPr/>
          <a:p/>
        </p:txBody>
      </p:sp>
      <p:sp>
        <p:nvSpPr>
          <p:cNvPr id="5" name="Shape 3"/>
          <p:cNvSpPr/>
          <p:nvPr/>
        </p:nvSpPr>
        <p:spPr>
          <a:xfrm>
            <a:off x="812800" y="1899841"/>
            <a:ext cx="3386634" cy="38100"/>
          </a:xfrm>
          <a:prstGeom prst="rect">
            <a:avLst/>
          </a:prstGeom>
          <a:solidFill>
            <a:srgbClr val="A8521A"/>
          </a:solidFill>
          <a:ln/>
        </p:spPr>
        <p:txBody>
          <a:bodyPr/>
          <a:p/>
        </p:txBody>
      </p:sp>
      <p:sp>
        <p:nvSpPr>
          <p:cNvPr id="6" name="Text 4"/>
          <p:cNvSpPr txBox="1"/>
          <p:nvPr/>
        </p:nvSpPr>
        <p:spPr>
          <a:xfrm>
            <a:off x="1066800" y="2191941"/>
            <a:ext cx="2964993" cy="213320"/>
          </a:xfrm>
          <a:prstGeom prst="rect">
            <a:avLst/>
          </a:prstGeom>
          <a:noFill/>
          <a:ln/>
        </p:spPr>
        <p:txBody>
          <a:bodyPr wrap="square" lIns="0" tIns="0" rIns="0" bIns="0" rtlCol="0" anchor="t"/>
          <a:lstStyle/>
          <a:p>
            <a:pPr algn="l" indent="0" marL="0">
              <a:lnSpc>
                <a:spcPct val="140000"/>
              </a:lnSpc>
              <a:buNone/>
            </a:pPr>
            <a:r>
              <a:rPr lang="en-US" sz="1200" b="1" dirty="0">
                <a:solidFill>
                  <a:srgbClr val="A8521A"/>
                </a:solidFill>
                <a:latin typeface="Calibri" pitchFamily="34" charset="0"/>
                <a:ea typeface="Calibri" pitchFamily="34" charset="-122"/>
                <a:cs typeface="Calibri" pitchFamily="34" charset="-120"/>
              </a:rPr>
              <a:t>July · 2 weeks · done</a:t>
            </a:r>
            <a:endParaRPr lang="en-US" sz="1200" dirty="0"/>
          </a:p>
        </p:txBody>
      </p:sp>
      <p:sp>
        <p:nvSpPr>
          <p:cNvPr id="7" name="Text 5"/>
          <p:cNvSpPr txBox="1"/>
          <p:nvPr/>
        </p:nvSpPr>
        <p:spPr>
          <a:xfrm>
            <a:off x="1066800" y="2506861"/>
            <a:ext cx="2964993"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Proofs of concept</a:t>
            </a:r>
            <a:endParaRPr lang="en-US" sz="1600" dirty="0"/>
          </a:p>
        </p:txBody>
      </p:sp>
      <p:sp>
        <p:nvSpPr>
          <p:cNvPr id="8" name="Text 6"/>
          <p:cNvSpPr txBox="1"/>
          <p:nvPr/>
        </p:nvSpPr>
        <p:spPr>
          <a:xfrm>
            <a:off x="1066800" y="2852928"/>
            <a:ext cx="2964993" cy="239572"/>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Coded CPAT prototype on prices</a:t>
            </a:r>
            <a:endParaRPr lang="en-US" sz="1300" dirty="0"/>
          </a:p>
        </p:txBody>
      </p:sp>
      <p:sp>
        <p:nvSpPr>
          <p:cNvPr id="9" name="Text 7"/>
          <p:cNvSpPr txBox="1"/>
          <p:nvPr/>
        </p:nvSpPr>
        <p:spPr>
          <a:xfrm>
            <a:off x="1066800" y="3200400"/>
            <a:ext cx="2964993" cy="239572"/>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AI dashboard, with full data audit trail</a:t>
            </a:r>
            <a:endParaRPr lang="en-US" sz="1300" dirty="0"/>
          </a:p>
        </p:txBody>
      </p:sp>
      <p:sp>
        <p:nvSpPr>
          <p:cNvPr id="10" name="Text 8"/>
          <p:cNvSpPr txBox="1"/>
          <p:nvPr/>
        </p:nvSpPr>
        <p:spPr>
          <a:xfrm>
            <a:off x="1066800" y="3547872"/>
            <a:ext cx="2964993" cy="239572"/>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Excise Diagnostic</a:t>
            </a:r>
            <a:endParaRPr lang="en-US" sz="1300" dirty="0"/>
          </a:p>
        </p:txBody>
      </p:sp>
      <p:sp>
        <p:nvSpPr>
          <p:cNvPr id="11" name="Shape 9"/>
          <p:cNvSpPr/>
          <p:nvPr/>
        </p:nvSpPr>
        <p:spPr>
          <a:xfrm>
            <a:off x="4402634" y="1899841"/>
            <a:ext cx="3386634" cy="2402979"/>
          </a:xfrm>
          <a:prstGeom prst="roundRect">
            <a:avLst>
              <a:gd name="adj" fmla="val 2114"/>
            </a:avLst>
          </a:prstGeom>
          <a:solidFill>
            <a:srgbClr val="FFFFFF"/>
          </a:solidFill>
          <a:ln/>
        </p:spPr>
        <p:txBody>
          <a:bodyPr/>
          <a:p/>
        </p:txBody>
      </p:sp>
      <p:sp>
        <p:nvSpPr>
          <p:cNvPr id="12" name="Shape 10"/>
          <p:cNvSpPr/>
          <p:nvPr/>
        </p:nvSpPr>
        <p:spPr>
          <a:xfrm>
            <a:off x="4402634" y="1899841"/>
            <a:ext cx="3386634" cy="38100"/>
          </a:xfrm>
          <a:prstGeom prst="rect">
            <a:avLst/>
          </a:prstGeom>
          <a:solidFill>
            <a:srgbClr val="A8521A"/>
          </a:solidFill>
          <a:ln/>
        </p:spPr>
        <p:txBody>
          <a:bodyPr/>
          <a:p/>
        </p:txBody>
      </p:sp>
      <p:sp>
        <p:nvSpPr>
          <p:cNvPr id="13" name="Text 11"/>
          <p:cNvSpPr txBox="1"/>
          <p:nvPr/>
        </p:nvSpPr>
        <p:spPr>
          <a:xfrm>
            <a:off x="4656634" y="2191941"/>
            <a:ext cx="2964993" cy="213320"/>
          </a:xfrm>
          <a:prstGeom prst="rect">
            <a:avLst/>
          </a:prstGeom>
          <a:noFill/>
          <a:ln/>
        </p:spPr>
        <p:txBody>
          <a:bodyPr wrap="square" lIns="0" tIns="0" rIns="0" bIns="0" rtlCol="0" anchor="t"/>
          <a:lstStyle/>
          <a:p>
            <a:pPr algn="l" indent="0" marL="0">
              <a:lnSpc>
                <a:spcPct val="140000"/>
              </a:lnSpc>
              <a:buNone/>
            </a:pPr>
            <a:r>
              <a:rPr lang="en-US" sz="1200" b="1" dirty="0">
                <a:solidFill>
                  <a:srgbClr val="A8521A"/>
                </a:solidFill>
                <a:latin typeface="Calibri" pitchFamily="34" charset="0"/>
                <a:ea typeface="Calibri" pitchFamily="34" charset="-122"/>
                <a:cs typeface="Calibri" pitchFamily="34" charset="-120"/>
              </a:rPr>
              <a:t>September · 3 weeks · done</a:t>
            </a:r>
            <a:endParaRPr lang="en-US" sz="1200" dirty="0"/>
          </a:p>
        </p:txBody>
      </p:sp>
      <p:sp>
        <p:nvSpPr>
          <p:cNvPr id="14" name="Text 12"/>
          <p:cNvSpPr txBox="1"/>
          <p:nvPr/>
        </p:nvSpPr>
        <p:spPr>
          <a:xfrm>
            <a:off x="4656634" y="2506861"/>
            <a:ext cx="2964993"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MVPs built</a:t>
            </a:r>
            <a:endParaRPr lang="en-US" sz="1600" dirty="0"/>
          </a:p>
        </p:txBody>
      </p:sp>
      <p:sp>
        <p:nvSpPr>
          <p:cNvPr id="15" name="Text 13"/>
          <p:cNvSpPr txBox="1"/>
          <p:nvPr/>
        </p:nvSpPr>
        <p:spPr>
          <a:xfrm>
            <a:off x="4656634" y="2852928"/>
            <a:ext cx="2964993" cy="239572"/>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Excise Diagnostic MVP (3a_m1)</a:t>
            </a:r>
            <a:endParaRPr lang="en-US" sz="1300" dirty="0"/>
          </a:p>
        </p:txBody>
      </p:sp>
      <p:sp>
        <p:nvSpPr>
          <p:cNvPr id="16" name="Text 14"/>
          <p:cNvSpPr txBox="1"/>
          <p:nvPr/>
        </p:nvSpPr>
        <p:spPr>
          <a:xfrm>
            <a:off x="4656634" y="3200400"/>
            <a:ext cx="2964993" cy="239572"/>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Dashboard MVP (3b_m1)</a:t>
            </a:r>
            <a:endParaRPr lang="en-US" sz="1300" dirty="0"/>
          </a:p>
        </p:txBody>
      </p:sp>
      <p:sp>
        <p:nvSpPr>
          <p:cNvPr id="17" name="Text 15"/>
          <p:cNvSpPr txBox="1"/>
          <p:nvPr/>
        </p:nvSpPr>
        <p:spPr>
          <a:xfrm>
            <a:off x="4656634" y="3547872"/>
            <a:ext cx="2964993" cy="239572"/>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Both delivered 25 September</a:t>
            </a:r>
            <a:endParaRPr lang="en-US" sz="1300" dirty="0"/>
          </a:p>
        </p:txBody>
      </p:sp>
      <p:sp>
        <p:nvSpPr>
          <p:cNvPr id="18" name="Shape 16"/>
          <p:cNvSpPr/>
          <p:nvPr/>
        </p:nvSpPr>
        <p:spPr>
          <a:xfrm>
            <a:off x="7992467" y="1899841"/>
            <a:ext cx="3386634" cy="2402979"/>
          </a:xfrm>
          <a:prstGeom prst="roundRect">
            <a:avLst>
              <a:gd name="adj" fmla="val 2114"/>
            </a:avLst>
          </a:prstGeom>
          <a:solidFill>
            <a:srgbClr val="FFFFFF"/>
          </a:solidFill>
          <a:ln/>
        </p:spPr>
        <p:txBody>
          <a:bodyPr/>
          <a:p/>
        </p:txBody>
      </p:sp>
      <p:sp>
        <p:nvSpPr>
          <p:cNvPr id="19" name="Shape 17"/>
          <p:cNvSpPr/>
          <p:nvPr/>
        </p:nvSpPr>
        <p:spPr>
          <a:xfrm>
            <a:off x="7992467" y="1899841"/>
            <a:ext cx="3386634" cy="38100"/>
          </a:xfrm>
          <a:prstGeom prst="rect">
            <a:avLst/>
          </a:prstGeom>
          <a:solidFill>
            <a:srgbClr val="1F5A96"/>
          </a:solidFill>
          <a:ln/>
        </p:spPr>
        <p:txBody>
          <a:bodyPr/>
          <a:p/>
        </p:txBody>
      </p:sp>
      <p:sp>
        <p:nvSpPr>
          <p:cNvPr id="20" name="Text 18"/>
          <p:cNvSpPr txBox="1"/>
          <p:nvPr/>
        </p:nvSpPr>
        <p:spPr>
          <a:xfrm>
            <a:off x="8246467" y="2191941"/>
            <a:ext cx="2964993" cy="213320"/>
          </a:xfrm>
          <a:prstGeom prst="rect">
            <a:avLst/>
          </a:prstGeom>
          <a:noFill/>
          <a:ln/>
        </p:spPr>
        <p:txBody>
          <a:bodyPr wrap="square" lIns="0" tIns="0" rIns="0" bIns="0" rtlCol="0" anchor="t"/>
          <a:lstStyle/>
          <a:p>
            <a:pPr algn="l" indent="0" marL="0">
              <a:lnSpc>
                <a:spcPct val="140000"/>
              </a:lnSpc>
              <a:buNone/>
            </a:pPr>
            <a:r>
              <a:rPr lang="en-US" sz="1200" b="1" dirty="0">
                <a:solidFill>
                  <a:srgbClr val="1F5A96"/>
                </a:solidFill>
                <a:latin typeface="Calibri" pitchFamily="34" charset="0"/>
                <a:ea typeface="Calibri" pitchFamily="34" charset="-122"/>
                <a:cs typeface="Calibri" pitchFamily="34" charset="-120"/>
              </a:rPr>
              <a:t>Pathways tool · first phase</a:t>
            </a:r>
            <a:endParaRPr lang="en-US" sz="1200" dirty="0"/>
          </a:p>
        </p:txBody>
      </p:sp>
      <p:sp>
        <p:nvSpPr>
          <p:cNvPr id="21" name="Text 19"/>
          <p:cNvSpPr txBox="1"/>
          <p:nvPr/>
        </p:nvSpPr>
        <p:spPr>
          <a:xfrm>
            <a:off x="8246467" y="2506861"/>
            <a:ext cx="2964993" cy="24378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CPAT and SiSePuede</a:t>
            </a:r>
            <a:endParaRPr lang="en-US" sz="1600" dirty="0"/>
          </a:p>
        </p:txBody>
      </p:sp>
      <p:sp>
        <p:nvSpPr>
          <p:cNvPr id="22" name="Text 20"/>
          <p:cNvSpPr txBox="1"/>
          <p:nvPr/>
        </p:nvSpPr>
        <p:spPr>
          <a:xfrm>
            <a:off x="8246467" y="2852928"/>
            <a:ext cx="2964993" cy="239572"/>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Assumptions and outputs reconciled</a:t>
            </a:r>
            <a:endParaRPr lang="en-US" sz="1300" dirty="0"/>
          </a:p>
        </p:txBody>
      </p:sp>
      <p:sp>
        <p:nvSpPr>
          <p:cNvPr id="23" name="Text 21"/>
          <p:cNvSpPr txBox="1"/>
          <p:nvPr/>
        </p:nvSpPr>
        <p:spPr>
          <a:xfrm>
            <a:off x="8246467" y="3200400"/>
            <a:ext cx="2964993" cy="239572"/>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Coded CPAT run in full in SiSePuede</a:t>
            </a:r>
            <a:endParaRPr lang="en-US" sz="1300" dirty="0"/>
          </a:p>
        </p:txBody>
      </p:sp>
      <p:sp>
        <p:nvSpPr>
          <p:cNvPr id="24" name="Text 22"/>
          <p:cNvSpPr txBox="1"/>
          <p:nvPr/>
        </p:nvSpPr>
        <p:spPr>
          <a:xfrm>
            <a:off x="8246467" y="3547872"/>
            <a:ext cx="2964993" cy="239572"/>
          </a:xfrm>
          <a:prstGeom prst="rect">
            <a:avLst/>
          </a:prstGeom>
          <a:noFill/>
          <a:ln/>
        </p:spPr>
        <p:txBody>
          <a:bodyPr wrap="square" lIns="0" tIns="0" rIns="0" bIns="0" rtlCol="0" anchor="t"/>
          <a:lstStyle/>
          <a:p>
            <a:pPr algn="l" marL="189865" indent="-189865">
              <a:lnSpc>
                <a:spcPct val="145000"/>
              </a:lnSpc>
              <a:buSzPct val="100000"/>
              <a:buChar char="•"/>
            </a:pPr>
            <a:r>
              <a:rPr lang="en-US" sz="1300" dirty="0">
                <a:solidFill>
                  <a:srgbClr val="3F4A5A"/>
                </a:solidFill>
                <a:latin typeface="Calibri" pitchFamily="34" charset="0"/>
                <a:ea typeface="Calibri" pitchFamily="34" charset="-122"/>
                <a:cs typeface="Calibri" pitchFamily="34" charset="-120"/>
              </a:rPr>
              <a:t>Prices and policies partly brought in</a:t>
            </a:r>
            <a:endParaRPr lang="en-US" sz="1300" dirty="0"/>
          </a:p>
        </p:txBody>
      </p:sp>
      <p:sp>
        <p:nvSpPr>
          <p:cNvPr id="25" name="Text 23"/>
          <p:cNvSpPr txBox="1"/>
          <p:nvPr/>
        </p:nvSpPr>
        <p:spPr>
          <a:xfrm>
            <a:off x="812800" y="4607620"/>
            <a:ext cx="10566400" cy="239316"/>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Leave to mid-July and through August. July and September time is charged half each to the Excise Diagnostic (3a) and the Tax and Macro-Fiscal Dashboard (3b). </a:t>
            </a:r>
            <a:pPr algn="l" indent="0" marL="0">
              <a:lnSpc>
                <a:spcPct val="145000"/>
              </a:lnSpc>
              <a:buNone/>
            </a:pPr>
            <a:r>
              <a:rPr lang="en-US" sz="1300" b="1" dirty="0">
                <a:solidFill>
                  <a:srgbClr val="3F4A5A"/>
                </a:solidFill>
                <a:latin typeface="Calibri" pitchFamily="34" charset="0"/>
                <a:ea typeface="Calibri" pitchFamily="34" charset="-122"/>
                <a:cs typeface="Calibri" pitchFamily="34" charset="-120"/>
              </a:rPr>
              <a:t>Now: planning and Egypt work (2c); next, the Excel-AI-CPAT MVP in the week of 5 October.</a:t>
            </a:r>
            <a:endParaRPr lang="en-US" sz="1300" dirty="0"/>
          </a:p>
        </p:txBody>
      </p:sp>
      <p:sp>
        <p:nvSpPr>
          <p:cNvPr id="26" name="Text 2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Source: FY27 master plan (Excel) · Use of AI in climate fiscal tools · 14</a:t>
            </a:r>
            <a:endParaRPr lang="en-US" sz="12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213D"/>
        </a:solidFill>
      </p:bgPr>
    </p:bg>
    <p:spTree>
      <p:nvGrpSpPr>
        <p:cNvPr id="1" name=""/>
        <p:cNvGrpSpPr/>
        <p:nvPr/>
      </p:nvGrpSpPr>
      <p:grpSpPr/>
      <p:sp>
        <p:nvSpPr>
          <p:cNvPr id="2" name="Text 0"/>
          <p:cNvSpPr txBox="1"/>
          <p:nvPr/>
        </p:nvSpPr>
        <p:spPr>
          <a:xfrm>
            <a:off x="812800" y="1688405"/>
            <a:ext cx="10566400" cy="248841"/>
          </a:xfrm>
          <a:prstGeom prst="rect">
            <a:avLst/>
          </a:prstGeom>
          <a:noFill/>
          <a:ln/>
        </p:spPr>
        <p:txBody>
          <a:bodyPr wrap="square" lIns="0" tIns="0" rIns="0" bIns="0" rtlCol="0" anchor="t"/>
          <a:lstStyle/>
          <a:p>
            <a:pPr algn="l" indent="0" marL="0">
              <a:lnSpc>
                <a:spcPct val="140000"/>
              </a:lnSpc>
              <a:buNone/>
            </a:pPr>
            <a:r>
              <a:rPr lang="en-US" sz="1400" spc="200" kern="0" dirty="0">
                <a:solidFill>
                  <a:srgbClr val="E3A36B"/>
                </a:solidFill>
                <a:latin typeface="Calibri" pitchFamily="34" charset="0"/>
                <a:ea typeface="Calibri" pitchFamily="34" charset="-122"/>
                <a:cs typeface="Calibri" pitchFamily="34" charset="-120"/>
              </a:rPr>
              <a:t>DELIVERABLE 2 · SLIDES 16–17</a:t>
            </a:r>
            <a:endParaRPr lang="en-US" sz="1400" dirty="0"/>
          </a:p>
        </p:txBody>
      </p:sp>
      <p:sp>
        <p:nvSpPr>
          <p:cNvPr id="3" name="Text 1"/>
          <p:cNvSpPr txBox="1"/>
          <p:nvPr/>
        </p:nvSpPr>
        <p:spPr>
          <a:xfrm>
            <a:off x="812800" y="2191246"/>
            <a:ext cx="9810750" cy="1426369"/>
          </a:xfrm>
          <a:prstGeom prst="rect">
            <a:avLst/>
          </a:prstGeom>
          <a:noFill/>
          <a:ln/>
        </p:spPr>
        <p:txBody>
          <a:bodyPr wrap="square" lIns="0" tIns="0" rIns="0" bIns="0" rtlCol="0" anchor="t"/>
          <a:lstStyle/>
          <a:p>
            <a:pPr algn="l" indent="0" marL="0">
              <a:lnSpc>
                <a:spcPct val="108000"/>
              </a:lnSpc>
              <a:buNone/>
            </a:pPr>
            <a:r>
              <a:rPr lang="en-US" sz="5200" b="1" dirty="0">
                <a:solidFill>
                  <a:srgbClr val="F7F6F1"/>
                </a:solidFill>
                <a:latin typeface="Cambria" pitchFamily="34" charset="0"/>
                <a:ea typeface="Cambria" pitchFamily="34" charset="-122"/>
                <a:cs typeface="Cambria" pitchFamily="34" charset="-120"/>
              </a:rPr>
              <a:t>Applications</a:t>
            </a:r>
            <a:endParaRPr lang="en-US" sz="5200" dirty="0"/>
          </a:p>
        </p:txBody>
      </p:sp>
      <p:sp>
        <p:nvSpPr>
          <p:cNvPr id="4" name="Text 2"/>
          <p:cNvSpPr txBox="1"/>
          <p:nvPr/>
        </p:nvSpPr>
        <p:spPr>
          <a:xfrm>
            <a:off x="812800" y="4200000"/>
            <a:ext cx="9156700" cy="1100000"/>
          </a:xfrm>
          <a:prstGeom prst="rect">
            <a:avLst/>
          </a:prstGeom>
          <a:noFill/>
          <a:ln/>
        </p:spPr>
        <p:txBody>
          <a:bodyPr wrap="square" lIns="0" tIns="0" rIns="0" bIns="0" rtlCol="0" anchor="t"/>
          <a:lstStyle/>
          <a:p>
            <a:pPr algn="l" indent="0" marL="0">
              <a:lnSpc>
                <a:spcPct val="135000"/>
              </a:lnSpc>
              <a:buNone/>
            </a:pPr>
            <a:r>
              <a:rPr lang="en-US" sz="2000" dirty="0">
                <a:solidFill>
                  <a:srgbClr val="C9D3E0"/>
                </a:solidFill>
                <a:latin typeface="Calibri" pitchFamily="34" charset="0"/>
                <a:ea typeface="Calibri" pitchFamily="34" charset="-122"/>
                <a:cs typeface="Calibri" pitchFamily="34" charset="-120"/>
              </a:rPr>
              <a:t>Where each form goes · 2a application to GHG accounting, crediting and FFI · 2b existing models · 2c pathways and pilot countries</a:t>
            </a:r>
            <a:endParaRPr lang="en-US" sz="2000" dirty="0"/>
          </a:p>
        </p:txBody>
      </p:sp>
      <p:sp>
        <p:nvSpPr>
          <p:cNvPr id="11" name="Text 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9AA8BC"/>
                </a:solidFill>
                <a:latin typeface="Calibri" pitchFamily="34" charset="0"/>
                <a:ea typeface="Calibri" pitchFamily="34" charset="-122"/>
                <a:cs typeface="Calibri" pitchFamily="34" charset="-120"/>
              </a:rPr>
              <a:t>Use of AI in climate fiscal tools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DELIVERABLE 2 · WHERE THE CODE AND THE EXCEL GO</a:t>
            </a:r>
            <a:endParaRPr lang="en-US" sz="1200" dirty="0"/>
          </a:p>
        </p:txBody>
      </p:sp>
      <p:sp>
        <p:nvSpPr>
          <p:cNvPr id="3" name="Text 1"/>
          <p:cNvSpPr txBox="1"/>
          <p:nvPr/>
        </p:nvSpPr>
        <p:spPr>
          <a:xfrm>
            <a:off x="812800" y="1127720"/>
            <a:ext cx="10566400" cy="379710"/>
          </a:xfrm>
          <a:prstGeom prst="rect">
            <a:avLst/>
          </a:prstGeom>
          <a:noFill/>
          <a:ln/>
        </p:spPr>
        <p:txBody>
          <a:bodyPr wrap="square" lIns="0" tIns="0" rIns="0" bIns="0" rtlCol="0" anchor="t"/>
          <a:lstStyle/>
          <a:p>
            <a:pPr algn="l" indent="0" marL="0">
              <a:lnSpc>
                <a:spcPct val="115000"/>
              </a:lnSpc>
              <a:buNone/>
            </a:pPr>
            <a:r>
              <a:rPr lang="en-US" sz="2600" b="1" dirty="0">
                <a:solidFill>
                  <a:srgbClr val="14213D"/>
                </a:solidFill>
                <a:latin typeface="Cambria" pitchFamily="34" charset="0"/>
                <a:ea typeface="Cambria" pitchFamily="34" charset="-122"/>
                <a:cs typeface="Cambria" pitchFamily="34" charset="-120"/>
              </a:rPr>
              <a:t>The code feeds SiSePuede; the Excel feeds the WB–IMF process</a:t>
            </a:r>
            <a:endParaRPr lang="en-US" sz="2600" dirty="0"/>
          </a:p>
        </p:txBody>
      </p:sp>
      <p:sp>
        <p:nvSpPr>
          <p:cNvPr id="4" name="Shape 2"/>
          <p:cNvSpPr/>
          <p:nvPr/>
        </p:nvSpPr>
        <p:spPr>
          <a:xfrm>
            <a:off x="812800" y="3175000"/>
            <a:ext cx="1905000" cy="1074341"/>
          </a:xfrm>
          <a:prstGeom prst="roundRect">
            <a:avLst>
              <a:gd name="adj" fmla="val 5911"/>
            </a:avLst>
          </a:prstGeom>
          <a:solidFill>
            <a:srgbClr val="14213D"/>
          </a:solidFill>
          <a:ln/>
        </p:spPr>
        <p:txBody>
          <a:bodyPr/>
          <a:p/>
        </p:txBody>
      </p:sp>
      <p:sp>
        <p:nvSpPr>
          <p:cNvPr id="5" name="Text 3"/>
          <p:cNvSpPr txBox="1"/>
          <p:nvPr/>
        </p:nvSpPr>
        <p:spPr>
          <a:xfrm>
            <a:off x="990600" y="3352800"/>
            <a:ext cx="1595882" cy="228600"/>
          </a:xfrm>
          <a:prstGeom prst="rect">
            <a:avLst/>
          </a:prstGeom>
          <a:noFill/>
          <a:ln/>
        </p:spPr>
        <p:txBody>
          <a:bodyPr wrap="square" lIns="0" tIns="0" rIns="0" bIns="0" rtlCol="0" anchor="t"/>
          <a:lstStyle/>
          <a:p>
            <a:pPr algn="l" indent="0" marL="0">
              <a:lnSpc>
                <a:spcPct val="120000"/>
              </a:lnSpc>
              <a:buNone/>
            </a:pPr>
            <a:r>
              <a:rPr lang="en-US" sz="1500" b="1" dirty="0">
                <a:solidFill>
                  <a:srgbClr val="F7F6F1"/>
                </a:solidFill>
                <a:latin typeface="Calibri" pitchFamily="34" charset="0"/>
                <a:ea typeface="Calibri" pitchFamily="34" charset="-122"/>
                <a:cs typeface="Calibri" pitchFamily="34" charset="-120"/>
              </a:rPr>
              <a:t>One engine</a:t>
            </a:r>
            <a:endParaRPr lang="en-US" sz="1500" dirty="0"/>
          </a:p>
        </p:txBody>
      </p:sp>
      <p:sp>
        <p:nvSpPr>
          <p:cNvPr id="6" name="Text 4"/>
          <p:cNvSpPr txBox="1"/>
          <p:nvPr/>
        </p:nvSpPr>
        <p:spPr>
          <a:xfrm>
            <a:off x="990600" y="3644900"/>
            <a:ext cx="1595882" cy="426641"/>
          </a:xfrm>
          <a:prstGeom prst="rect">
            <a:avLst/>
          </a:prstGeom>
          <a:noFill/>
          <a:ln/>
        </p:spPr>
        <p:txBody>
          <a:bodyPr wrap="square" lIns="0" tIns="0" rIns="0" bIns="0" rtlCol="0" anchor="t"/>
          <a:lstStyle/>
          <a:p>
            <a:pPr algn="l" indent="0" marL="0">
              <a:lnSpc>
                <a:spcPct val="140000"/>
              </a:lnSpc>
              <a:buNone/>
            </a:pPr>
            <a:r>
              <a:rPr lang="en-US" sz="1200" dirty="0">
                <a:solidFill>
                  <a:srgbClr val="C9D3E0"/>
                </a:solidFill>
                <a:latin typeface="Calibri" pitchFamily="34" charset="0"/>
                <a:ea typeface="Calibri" pitchFamily="34" charset="-122"/>
                <a:cs typeface="Calibri" pitchFamily="34" charset="-120"/>
              </a:rPr>
              <a:t>One set of equations, kept equal by script</a:t>
            </a:r>
            <a:endParaRPr lang="en-US" sz="1200" dirty="0"/>
          </a:p>
        </p:txBody>
      </p:sp>
      <p:sp>
        <p:nvSpPr>
          <p:cNvPr id="7" name="Shape 5"/>
          <p:cNvSpPr/>
          <p:nvPr/>
        </p:nvSpPr>
        <p:spPr>
          <a:xfrm>
            <a:off x="3302000" y="2241550"/>
            <a:ext cx="2286000" cy="924520"/>
          </a:xfrm>
          <a:prstGeom prst="roundRect">
            <a:avLst>
              <a:gd name="adj" fmla="val 6868"/>
            </a:avLst>
          </a:prstGeom>
          <a:solidFill>
            <a:srgbClr val="DCE8F5"/>
          </a:solidFill>
          <a:ln/>
        </p:spPr>
        <p:txBody>
          <a:bodyPr/>
          <a:p/>
        </p:txBody>
      </p:sp>
      <p:sp>
        <p:nvSpPr>
          <p:cNvPr id="8" name="Shape 6"/>
          <p:cNvSpPr/>
          <p:nvPr/>
        </p:nvSpPr>
        <p:spPr>
          <a:xfrm>
            <a:off x="3302000" y="2241550"/>
            <a:ext cx="2286000" cy="38100"/>
          </a:xfrm>
          <a:prstGeom prst="rect">
            <a:avLst/>
          </a:prstGeom>
          <a:solidFill>
            <a:srgbClr val="1F5A96"/>
          </a:solidFill>
          <a:ln/>
        </p:spPr>
        <p:txBody>
          <a:bodyPr/>
          <a:p/>
        </p:txBody>
      </p:sp>
      <p:sp>
        <p:nvSpPr>
          <p:cNvPr id="9" name="Text 7"/>
          <p:cNvSpPr txBox="1"/>
          <p:nvPr/>
        </p:nvSpPr>
        <p:spPr>
          <a:xfrm>
            <a:off x="3479800" y="2457450"/>
            <a:ext cx="1988312" cy="26670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Coded (Python)</a:t>
            </a:r>
            <a:endParaRPr lang="en-US" sz="1600" dirty="0"/>
          </a:p>
        </p:txBody>
      </p:sp>
      <p:sp>
        <p:nvSpPr>
          <p:cNvPr id="10" name="Text 8"/>
          <p:cNvSpPr txBox="1"/>
          <p:nvPr/>
        </p:nvSpPr>
        <p:spPr>
          <a:xfrm>
            <a:off x="3479800" y="2774950"/>
            <a:ext cx="1988312"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1b, with a Shiny app (1c)</a:t>
            </a:r>
            <a:endParaRPr lang="en-US" sz="1200" dirty="0"/>
          </a:p>
        </p:txBody>
      </p:sp>
      <p:sp>
        <p:nvSpPr>
          <p:cNvPr id="11" name="Shape 9"/>
          <p:cNvSpPr/>
          <p:nvPr/>
        </p:nvSpPr>
        <p:spPr>
          <a:xfrm>
            <a:off x="3302000" y="4273550"/>
            <a:ext cx="2286000" cy="924520"/>
          </a:xfrm>
          <a:prstGeom prst="roundRect">
            <a:avLst>
              <a:gd name="adj" fmla="val 6868"/>
            </a:avLst>
          </a:prstGeom>
          <a:solidFill>
            <a:srgbClr val="F6E1CF"/>
          </a:solidFill>
          <a:ln/>
        </p:spPr>
        <p:txBody>
          <a:bodyPr/>
          <a:p/>
        </p:txBody>
      </p:sp>
      <p:sp>
        <p:nvSpPr>
          <p:cNvPr id="12" name="Shape 10"/>
          <p:cNvSpPr/>
          <p:nvPr/>
        </p:nvSpPr>
        <p:spPr>
          <a:xfrm>
            <a:off x="3302000" y="4273550"/>
            <a:ext cx="2286000" cy="38100"/>
          </a:xfrm>
          <a:prstGeom prst="rect">
            <a:avLst/>
          </a:prstGeom>
          <a:solidFill>
            <a:srgbClr val="A8521A"/>
          </a:solidFill>
          <a:ln/>
        </p:spPr>
        <p:txBody>
          <a:bodyPr/>
          <a:p/>
        </p:txBody>
      </p:sp>
      <p:sp>
        <p:nvSpPr>
          <p:cNvPr id="13" name="Text 11"/>
          <p:cNvSpPr txBox="1"/>
          <p:nvPr/>
        </p:nvSpPr>
        <p:spPr>
          <a:xfrm>
            <a:off x="3479800" y="4489450"/>
            <a:ext cx="1988312" cy="266700"/>
          </a:xfrm>
          <a:prstGeom prst="rect">
            <a:avLst/>
          </a:prstGeom>
          <a:noFill/>
          <a:ln/>
        </p:spPr>
        <p:txBody>
          <a:bodyPr wrap="square" lIns="0" tIns="0" rIns="0" bIns="0" rtlCol="0" anchor="t"/>
          <a:lstStyle/>
          <a:p>
            <a:pPr algn="l" indent="0" marL="0">
              <a:lnSpc>
                <a:spcPct val="120000"/>
              </a:lnSpc>
              <a:buNone/>
            </a:pPr>
            <a:r>
              <a:rPr lang="en-US" sz="1600" b="1" dirty="0">
                <a:solidFill>
                  <a:srgbClr val="14213D"/>
                </a:solidFill>
                <a:latin typeface="Calibri" pitchFamily="34" charset="0"/>
                <a:ea typeface="Calibri" pitchFamily="34" charset="-122"/>
                <a:cs typeface="Calibri" pitchFamily="34" charset="-120"/>
              </a:rPr>
              <a:t>Excel-AI-CPAT (1a)</a:t>
            </a:r>
            <a:endParaRPr lang="en-US" sz="1600" dirty="0"/>
          </a:p>
        </p:txBody>
      </p:sp>
      <p:sp>
        <p:nvSpPr>
          <p:cNvPr id="14" name="Text 12"/>
          <p:cNvSpPr txBox="1"/>
          <p:nvPr/>
        </p:nvSpPr>
        <p:spPr>
          <a:xfrm>
            <a:off x="3479800" y="4806950"/>
            <a:ext cx="1988312"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A cut-down CPAT in Excel</a:t>
            </a:r>
            <a:endParaRPr lang="en-US" sz="1200" dirty="0"/>
          </a:p>
        </p:txBody>
      </p:sp>
      <p:sp>
        <p:nvSpPr>
          <p:cNvPr id="15" name="Shape 13"/>
          <p:cNvSpPr/>
          <p:nvPr/>
        </p:nvSpPr>
        <p:spPr>
          <a:xfrm flipV="1">
            <a:off x="2717800" y="2673350"/>
            <a:ext cx="584200" cy="882650"/>
          </a:xfrm>
          <a:prstGeom prst="line">
            <a:avLst/>
          </a:prstGeom>
          <a:noFill/>
          <a:ln w="25400">
            <a:solidFill>
              <a:srgbClr val="1F5A96"/>
            </a:solidFill>
            <a:prstDash val="solid"/>
            <a:tailEnd type="triangle"/>
          </a:ln>
        </p:spPr>
        <p:txBody>
          <a:bodyPr/>
          <a:p/>
        </p:txBody>
      </p:sp>
      <p:sp>
        <p:nvSpPr>
          <p:cNvPr id="16" name="Shape 14"/>
          <p:cNvSpPr/>
          <p:nvPr/>
        </p:nvSpPr>
        <p:spPr>
          <a:xfrm>
            <a:off x="2717800" y="3810000"/>
            <a:ext cx="584200" cy="895350"/>
          </a:xfrm>
          <a:prstGeom prst="line">
            <a:avLst/>
          </a:prstGeom>
          <a:noFill/>
          <a:ln w="25400">
            <a:solidFill>
              <a:srgbClr val="A8521A"/>
            </a:solidFill>
            <a:prstDash val="solid"/>
            <a:tailEnd type="triangle"/>
          </a:ln>
        </p:spPr>
        <p:txBody>
          <a:bodyPr/>
          <a:p/>
        </p:txBody>
      </p:sp>
      <p:sp>
        <p:nvSpPr>
          <p:cNvPr id="17" name="Shape 15"/>
          <p:cNvSpPr/>
          <p:nvPr/>
        </p:nvSpPr>
        <p:spPr>
          <a:xfrm>
            <a:off x="6350000" y="1905000"/>
            <a:ext cx="5029200" cy="434280"/>
          </a:xfrm>
          <a:prstGeom prst="rect">
            <a:avLst/>
          </a:prstGeom>
          <a:solidFill>
            <a:srgbClr val="FFFFFF"/>
          </a:solidFill>
          <a:ln/>
        </p:spPr>
        <p:txBody>
          <a:bodyPr/>
          <a:p/>
        </p:txBody>
      </p:sp>
      <p:sp>
        <p:nvSpPr>
          <p:cNvPr id="18" name="Shape 16"/>
          <p:cNvSpPr/>
          <p:nvPr/>
        </p:nvSpPr>
        <p:spPr>
          <a:xfrm>
            <a:off x="6350000" y="1905000"/>
            <a:ext cx="38100" cy="434280"/>
          </a:xfrm>
          <a:prstGeom prst="rect">
            <a:avLst/>
          </a:prstGeom>
          <a:solidFill>
            <a:srgbClr val="1F5A96"/>
          </a:solidFill>
          <a:ln/>
        </p:spPr>
        <p:txBody>
          <a:bodyPr/>
          <a:p/>
        </p:txBody>
      </p:sp>
      <p:sp>
        <p:nvSpPr>
          <p:cNvPr id="19" name="Text 17"/>
          <p:cNvSpPr txBox="1"/>
          <p:nvPr/>
        </p:nvSpPr>
        <p:spPr>
          <a:xfrm>
            <a:off x="6350000" y="19050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CPAT–SiSePuede pathways tool</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 2c, slide 17</a:t>
            </a:r>
            <a:endParaRPr lang="en-US" sz="1300" dirty="0"/>
          </a:p>
        </p:txBody>
      </p:sp>
      <p:sp>
        <p:nvSpPr>
          <p:cNvPr id="20" name="Shape 18"/>
          <p:cNvSpPr/>
          <p:nvPr/>
        </p:nvSpPr>
        <p:spPr>
          <a:xfrm>
            <a:off x="6350000" y="2451100"/>
            <a:ext cx="5029200" cy="434280"/>
          </a:xfrm>
          <a:prstGeom prst="rect">
            <a:avLst/>
          </a:prstGeom>
          <a:solidFill>
            <a:srgbClr val="FFFFFF"/>
          </a:solidFill>
          <a:ln/>
        </p:spPr>
        <p:txBody>
          <a:bodyPr/>
          <a:p/>
        </p:txBody>
      </p:sp>
      <p:sp>
        <p:nvSpPr>
          <p:cNvPr id="21" name="Shape 19"/>
          <p:cNvSpPr/>
          <p:nvPr/>
        </p:nvSpPr>
        <p:spPr>
          <a:xfrm>
            <a:off x="6350000" y="2451100"/>
            <a:ext cx="38100" cy="434280"/>
          </a:xfrm>
          <a:prstGeom prst="rect">
            <a:avLst/>
          </a:prstGeom>
          <a:solidFill>
            <a:srgbClr val="1F5A96"/>
          </a:solidFill>
          <a:ln/>
        </p:spPr>
        <p:txBody>
          <a:bodyPr/>
          <a:p/>
        </p:txBody>
      </p:sp>
      <p:sp>
        <p:nvSpPr>
          <p:cNvPr id="22" name="Text 20"/>
          <p:cNvSpPr txBox="1"/>
          <p:nvPr/>
        </p:nvSpPr>
        <p:spPr>
          <a:xfrm>
            <a:off x="6350000" y="24511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Single Python platform</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with FTT and MFMod (tbc) · 2b, slide 17</a:t>
            </a:r>
            <a:endParaRPr lang="en-US" sz="1300" dirty="0"/>
          </a:p>
        </p:txBody>
      </p:sp>
      <p:sp>
        <p:nvSpPr>
          <p:cNvPr id="23" name="Shape 21"/>
          <p:cNvSpPr/>
          <p:nvPr/>
        </p:nvSpPr>
        <p:spPr>
          <a:xfrm>
            <a:off x="6350000" y="2997200"/>
            <a:ext cx="5029200" cy="434280"/>
          </a:xfrm>
          <a:prstGeom prst="rect">
            <a:avLst/>
          </a:prstGeom>
          <a:solidFill>
            <a:srgbClr val="FFFFFF"/>
          </a:solidFill>
          <a:ln/>
        </p:spPr>
        <p:txBody>
          <a:bodyPr/>
          <a:p/>
        </p:txBody>
      </p:sp>
      <p:sp>
        <p:nvSpPr>
          <p:cNvPr id="24" name="Shape 22"/>
          <p:cNvSpPr/>
          <p:nvPr/>
        </p:nvSpPr>
        <p:spPr>
          <a:xfrm>
            <a:off x="6350000" y="2997200"/>
            <a:ext cx="38100" cy="434280"/>
          </a:xfrm>
          <a:prstGeom prst="rect">
            <a:avLst/>
          </a:prstGeom>
          <a:solidFill>
            <a:srgbClr val="1F5A96"/>
          </a:solidFill>
          <a:ln/>
        </p:spPr>
        <p:txBody>
          <a:bodyPr/>
          <a:p/>
        </p:txBody>
      </p:sp>
      <p:sp>
        <p:nvSpPr>
          <p:cNvPr id="25" name="Text 23"/>
          <p:cNvSpPr txBox="1"/>
          <p:nvPr/>
        </p:nvSpPr>
        <p:spPr>
          <a:xfrm>
            <a:off x="6350000" y="29972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Model comparison</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and web users via Shiny</a:t>
            </a:r>
            <a:endParaRPr lang="en-US" sz="1300" dirty="0"/>
          </a:p>
        </p:txBody>
      </p:sp>
      <p:sp>
        <p:nvSpPr>
          <p:cNvPr id="26" name="Shape 24"/>
          <p:cNvSpPr/>
          <p:nvPr/>
        </p:nvSpPr>
        <p:spPr>
          <a:xfrm flipV="1">
            <a:off x="5588000" y="2127250"/>
            <a:ext cx="762000" cy="546100"/>
          </a:xfrm>
          <a:prstGeom prst="line">
            <a:avLst/>
          </a:prstGeom>
          <a:noFill/>
          <a:ln w="25400">
            <a:solidFill>
              <a:srgbClr val="1F5A96"/>
            </a:solidFill>
            <a:prstDash val="solid"/>
            <a:tailEnd type="triangle"/>
          </a:ln>
        </p:spPr>
        <p:txBody>
          <a:bodyPr/>
          <a:p/>
        </p:txBody>
      </p:sp>
      <p:sp>
        <p:nvSpPr>
          <p:cNvPr id="27" name="Shape 25"/>
          <p:cNvSpPr/>
          <p:nvPr/>
        </p:nvSpPr>
        <p:spPr>
          <a:xfrm>
            <a:off x="5588000" y="2673350"/>
            <a:ext cx="762000" cy="0"/>
          </a:xfrm>
          <a:prstGeom prst="line">
            <a:avLst/>
          </a:prstGeom>
          <a:noFill/>
          <a:ln w="25400">
            <a:solidFill>
              <a:srgbClr val="1F5A96"/>
            </a:solidFill>
            <a:prstDash val="solid"/>
            <a:tailEnd type="triangle"/>
          </a:ln>
        </p:spPr>
        <p:txBody>
          <a:bodyPr/>
          <a:p/>
        </p:txBody>
      </p:sp>
      <p:sp>
        <p:nvSpPr>
          <p:cNvPr id="28" name="Shape 26"/>
          <p:cNvSpPr/>
          <p:nvPr/>
        </p:nvSpPr>
        <p:spPr>
          <a:xfrm>
            <a:off x="5588000" y="2673350"/>
            <a:ext cx="762000" cy="546100"/>
          </a:xfrm>
          <a:prstGeom prst="line">
            <a:avLst/>
          </a:prstGeom>
          <a:noFill/>
          <a:ln w="25400">
            <a:solidFill>
              <a:srgbClr val="1F5A96"/>
            </a:solidFill>
            <a:prstDash val="solid"/>
            <a:tailEnd type="triangle"/>
          </a:ln>
        </p:spPr>
        <p:txBody>
          <a:bodyPr/>
          <a:p/>
        </p:txBody>
      </p:sp>
      <p:sp>
        <p:nvSpPr>
          <p:cNvPr id="29" name="Shape 27"/>
          <p:cNvSpPr/>
          <p:nvPr/>
        </p:nvSpPr>
        <p:spPr>
          <a:xfrm>
            <a:off x="6350000" y="3937000"/>
            <a:ext cx="5029200" cy="434280"/>
          </a:xfrm>
          <a:prstGeom prst="rect">
            <a:avLst/>
          </a:prstGeom>
          <a:solidFill>
            <a:srgbClr val="FFFFFF"/>
          </a:solidFill>
          <a:ln/>
        </p:spPr>
        <p:txBody>
          <a:bodyPr/>
          <a:p/>
        </p:txBody>
      </p:sp>
      <p:sp>
        <p:nvSpPr>
          <p:cNvPr id="30" name="Shape 28"/>
          <p:cNvSpPr/>
          <p:nvPr/>
        </p:nvSpPr>
        <p:spPr>
          <a:xfrm>
            <a:off x="6350000" y="3937000"/>
            <a:ext cx="38100" cy="434280"/>
          </a:xfrm>
          <a:prstGeom prst="rect">
            <a:avLst/>
          </a:prstGeom>
          <a:solidFill>
            <a:srgbClr val="A8521A"/>
          </a:solidFill>
          <a:ln/>
        </p:spPr>
        <p:txBody>
          <a:bodyPr/>
          <a:p/>
        </p:txBody>
      </p:sp>
      <p:sp>
        <p:nvSpPr>
          <p:cNvPr id="31" name="Text 29"/>
          <p:cNvSpPr txBox="1"/>
          <p:nvPr/>
        </p:nvSpPr>
        <p:spPr>
          <a:xfrm>
            <a:off x="6350000" y="39370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WB–IMF CPAT process</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as a contributor</a:t>
            </a:r>
            <a:endParaRPr lang="en-US" sz="1300" dirty="0"/>
          </a:p>
        </p:txBody>
      </p:sp>
      <p:sp>
        <p:nvSpPr>
          <p:cNvPr id="32" name="Shape 30"/>
          <p:cNvSpPr/>
          <p:nvPr/>
        </p:nvSpPr>
        <p:spPr>
          <a:xfrm>
            <a:off x="6350000" y="4483100"/>
            <a:ext cx="5029200" cy="434280"/>
          </a:xfrm>
          <a:prstGeom prst="rect">
            <a:avLst/>
          </a:prstGeom>
          <a:solidFill>
            <a:srgbClr val="FFFFFF"/>
          </a:solidFill>
          <a:ln/>
        </p:spPr>
        <p:txBody>
          <a:bodyPr/>
          <a:p/>
        </p:txBody>
      </p:sp>
      <p:sp>
        <p:nvSpPr>
          <p:cNvPr id="33" name="Shape 31"/>
          <p:cNvSpPr/>
          <p:nvPr/>
        </p:nvSpPr>
        <p:spPr>
          <a:xfrm>
            <a:off x="6350000" y="4483100"/>
            <a:ext cx="38100" cy="434280"/>
          </a:xfrm>
          <a:prstGeom prst="rect">
            <a:avLst/>
          </a:prstGeom>
          <a:solidFill>
            <a:srgbClr val="A8521A"/>
          </a:solidFill>
          <a:ln/>
        </p:spPr>
        <p:txBody>
          <a:bodyPr/>
          <a:p/>
        </p:txBody>
      </p:sp>
      <p:sp>
        <p:nvSpPr>
          <p:cNvPr id="34" name="Text 32"/>
          <p:cNvSpPr txBox="1"/>
          <p:nvPr/>
        </p:nvSpPr>
        <p:spPr>
          <a:xfrm>
            <a:off x="6350000" y="44831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GHG accounting</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policy crediting and FFI tool · 2a, slide 17</a:t>
            </a:r>
            <a:endParaRPr lang="en-US" sz="1300" dirty="0"/>
          </a:p>
        </p:txBody>
      </p:sp>
      <p:sp>
        <p:nvSpPr>
          <p:cNvPr id="35" name="Shape 33"/>
          <p:cNvSpPr/>
          <p:nvPr/>
        </p:nvSpPr>
        <p:spPr>
          <a:xfrm>
            <a:off x="6350000" y="5029200"/>
            <a:ext cx="5029200" cy="434280"/>
          </a:xfrm>
          <a:prstGeom prst="rect">
            <a:avLst/>
          </a:prstGeom>
          <a:solidFill>
            <a:srgbClr val="FFFFFF"/>
          </a:solidFill>
          <a:ln/>
        </p:spPr>
        <p:txBody>
          <a:bodyPr/>
          <a:p/>
        </p:txBody>
      </p:sp>
      <p:sp>
        <p:nvSpPr>
          <p:cNvPr id="36" name="Shape 34"/>
          <p:cNvSpPr/>
          <p:nvPr/>
        </p:nvSpPr>
        <p:spPr>
          <a:xfrm>
            <a:off x="6350000" y="5029200"/>
            <a:ext cx="38100" cy="434280"/>
          </a:xfrm>
          <a:prstGeom prst="rect">
            <a:avLst/>
          </a:prstGeom>
          <a:solidFill>
            <a:srgbClr val="A8521A"/>
          </a:solidFill>
          <a:ln/>
        </p:spPr>
        <p:txBody>
          <a:bodyPr/>
          <a:p/>
        </p:txBody>
      </p:sp>
      <p:sp>
        <p:nvSpPr>
          <p:cNvPr id="37" name="Text 35"/>
          <p:cNvSpPr txBox="1"/>
          <p:nvPr/>
        </p:nvSpPr>
        <p:spPr>
          <a:xfrm>
            <a:off x="6350000" y="5029200"/>
            <a:ext cx="5029200" cy="434280"/>
          </a:xfrm>
          <a:prstGeom prst="rect">
            <a:avLst/>
          </a:prstGeom>
          <a:noFill/>
          <a:ln/>
        </p:spPr>
        <p:txBody>
          <a:bodyPr wrap="square" lIns="152400" tIns="101600" rIns="152400" bIns="101600" rtlCol="0" anchor="ctr"/>
          <a:lstStyle/>
          <a:p>
            <a:pPr algn="l" indent="0" marL="0">
              <a:lnSpc>
                <a:spcPct val="140000"/>
              </a:lnSpc>
              <a:buNone/>
            </a:pPr>
            <a:r>
              <a:rPr lang="en-US" sz="1300" b="1" dirty="0">
                <a:solidFill>
                  <a:srgbClr val="14213D"/>
                </a:solidFill>
                <a:latin typeface="Calibri" pitchFamily="34" charset="0"/>
                <a:ea typeface="Calibri" pitchFamily="34" charset="-122"/>
                <a:cs typeface="Calibri" pitchFamily="34" charset="-120"/>
              </a:rPr>
              <a:t>Cross-check</a:t>
            </a:r>
            <a:pPr algn="l" indent="0" marL="0">
              <a:lnSpc>
                <a:spcPct val="140000"/>
              </a:lnSpc>
              <a:buNone/>
            </a:pPr>
            <a:r>
              <a:rPr lang="en-US" sz="1300" dirty="0">
                <a:solidFill>
                  <a:srgbClr val="14213D"/>
                </a:solidFill>
                <a:latin typeface="Calibri" pitchFamily="34" charset="0"/>
                <a:ea typeface="Calibri" pitchFamily="34" charset="-122"/>
                <a:cs typeface="Calibri" pitchFamily="34" charset="-120"/>
              </a:rPr>
              <a:t> of the code and legacy CPAT</a:t>
            </a:r>
            <a:endParaRPr lang="en-US" sz="1300" dirty="0"/>
          </a:p>
        </p:txBody>
      </p:sp>
      <p:sp>
        <p:nvSpPr>
          <p:cNvPr id="38" name="Shape 36"/>
          <p:cNvSpPr/>
          <p:nvPr/>
        </p:nvSpPr>
        <p:spPr>
          <a:xfrm flipV="1">
            <a:off x="5588000" y="4159250"/>
            <a:ext cx="762000" cy="546100"/>
          </a:xfrm>
          <a:prstGeom prst="line">
            <a:avLst/>
          </a:prstGeom>
          <a:noFill/>
          <a:ln w="25400">
            <a:solidFill>
              <a:srgbClr val="A8521A"/>
            </a:solidFill>
            <a:prstDash val="solid"/>
            <a:tailEnd type="triangle"/>
          </a:ln>
        </p:spPr>
        <p:txBody>
          <a:bodyPr/>
          <a:p/>
        </p:txBody>
      </p:sp>
      <p:sp>
        <p:nvSpPr>
          <p:cNvPr id="39" name="Shape 37"/>
          <p:cNvSpPr/>
          <p:nvPr/>
        </p:nvSpPr>
        <p:spPr>
          <a:xfrm>
            <a:off x="5588000" y="4705350"/>
            <a:ext cx="762000" cy="0"/>
          </a:xfrm>
          <a:prstGeom prst="line">
            <a:avLst/>
          </a:prstGeom>
          <a:noFill/>
          <a:ln w="25400">
            <a:solidFill>
              <a:srgbClr val="A8521A"/>
            </a:solidFill>
            <a:prstDash val="solid"/>
            <a:tailEnd type="triangle"/>
          </a:ln>
        </p:spPr>
        <p:txBody>
          <a:bodyPr/>
          <a:p/>
        </p:txBody>
      </p:sp>
      <p:sp>
        <p:nvSpPr>
          <p:cNvPr id="40" name="Shape 38"/>
          <p:cNvSpPr/>
          <p:nvPr/>
        </p:nvSpPr>
        <p:spPr>
          <a:xfrm>
            <a:off x="5588000" y="4705350"/>
            <a:ext cx="762000" cy="546100"/>
          </a:xfrm>
          <a:prstGeom prst="line">
            <a:avLst/>
          </a:prstGeom>
          <a:noFill/>
          <a:ln w="25400">
            <a:solidFill>
              <a:srgbClr val="A8521A"/>
            </a:solidFill>
            <a:prstDash val="solid"/>
            <a:tailEnd type="triangle"/>
          </a:ln>
        </p:spPr>
        <p:txBody>
          <a:bodyPr/>
          <a:p/>
        </p:txBody>
      </p:sp>
      <p:sp>
        <p:nvSpPr>
          <p:cNvPr id="41" name="Text 3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DELIVERABLE 2 · 2a, 2b, 2c · THE THREE APPLICATIONS</a:t>
            </a:r>
            <a:endParaRPr lang="en-US" sz="1200" dirty="0"/>
          </a:p>
        </p:txBody>
      </p:sp>
      <p:sp>
        <p:nvSpPr>
          <p:cNvPr id="3" name="Text 1"/>
          <p:cNvSpPr txBox="1"/>
          <p:nvPr/>
        </p:nvSpPr>
        <p:spPr>
          <a:xfrm>
            <a:off x="812800" y="1127720"/>
            <a:ext cx="10464800" cy="466344"/>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Pathways first, then models, then GHG accounting</a:t>
            </a:r>
            <a:endParaRPr lang="en-US" sz="3200" dirty="0"/>
          </a:p>
        </p:txBody>
      </p:sp>
      <p:sp>
        <p:nvSpPr>
          <p:cNvPr id="4" name="Shape 2"/>
          <p:cNvSpPr/>
          <p:nvPr/>
        </p:nvSpPr>
        <p:spPr>
          <a:xfrm>
            <a:off x="812800" y="1947672"/>
            <a:ext cx="3386634" cy="3429000"/>
          </a:xfrm>
          <a:prstGeom prst="roundRect">
            <a:avLst>
              <a:gd name="adj" fmla="val 2269"/>
            </a:avLst>
          </a:prstGeom>
          <a:solidFill>
            <a:srgbClr val="FFFFFF"/>
          </a:solidFill>
          <a:ln/>
        </p:spPr>
        <p:txBody>
          <a:bodyPr/>
          <a:p/>
        </p:txBody>
      </p:sp>
      <p:sp>
        <p:nvSpPr>
          <p:cNvPr id="5" name="Shape 3"/>
          <p:cNvSpPr/>
          <p:nvPr/>
        </p:nvSpPr>
        <p:spPr>
          <a:xfrm>
            <a:off x="812800" y="1947672"/>
            <a:ext cx="3386634" cy="38100"/>
          </a:xfrm>
          <a:prstGeom prst="rect">
            <a:avLst/>
          </a:prstGeom>
          <a:solidFill>
            <a:srgbClr val="1F5A96"/>
          </a:solidFill>
          <a:ln/>
        </p:spPr>
        <p:txBody>
          <a:bodyPr/>
          <a:p/>
        </p:txBody>
      </p:sp>
      <p:sp>
        <p:nvSpPr>
          <p:cNvPr id="6" name="Shape 4"/>
          <p:cNvSpPr/>
          <p:nvPr/>
        </p:nvSpPr>
        <p:spPr>
          <a:xfrm>
            <a:off x="1117600" y="2249424"/>
            <a:ext cx="304800" cy="304800"/>
          </a:xfrm>
          <a:prstGeom prst="ellipse">
            <a:avLst/>
          </a:prstGeom>
          <a:ln w="25400">
            <a:solidFill>
              <a:srgbClr val="1F5A96"/>
            </a:solidFill>
            <a:prstDash val="solid"/>
          </a:ln>
        </p:spPr>
        <p:txBody>
          <a:bodyPr/>
          <a:p/>
        </p:txBody>
      </p:sp>
      <p:sp>
        <p:nvSpPr>
          <p:cNvPr id="7" name="Shape 5"/>
          <p:cNvSpPr/>
          <p:nvPr/>
        </p:nvSpPr>
        <p:spPr>
          <a:xfrm>
            <a:off x="1210733" y="2350008"/>
            <a:ext cx="118533" cy="118533"/>
          </a:xfrm>
          <a:prstGeom prst="ellipse">
            <a:avLst/>
          </a:prstGeom>
          <a:solidFill>
            <a:srgbClr val="1F5A96"/>
          </a:solidFill>
          <a:ln/>
        </p:spPr>
        <p:txBody>
          <a:bodyPr/>
          <a:p/>
        </p:txBody>
      </p:sp>
      <p:sp>
        <p:nvSpPr>
          <p:cNvPr id="8" name="Text 6"/>
          <p:cNvSpPr txBox="1"/>
          <p:nvPr/>
        </p:nvSpPr>
        <p:spPr>
          <a:xfrm>
            <a:off x="1092200" y="2688336"/>
            <a:ext cx="2971800" cy="566928"/>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2a · Application to GHG accounting, crediting and FFI</a:t>
            </a:r>
            <a:endParaRPr lang="en-US" sz="1700" dirty="0"/>
          </a:p>
        </p:txBody>
      </p:sp>
      <p:sp>
        <p:nvSpPr>
          <p:cNvPr id="9" name="Text 7"/>
          <p:cNvSpPr txBox="1"/>
          <p:nvPr/>
        </p:nvSpPr>
        <p:spPr>
          <a:xfrm>
            <a:off x="1092200" y="3346704"/>
            <a:ext cx="2971800" cy="2194560"/>
          </a:xfrm>
          <a:prstGeom prst="rect">
            <a:avLst/>
          </a:prstGeom>
          <a:noFill/>
          <a:ln/>
        </p:spPr>
        <p:txBody>
          <a:bodyPr wrap="square" lIns="0" tIns="0" rIns="0" bIns="0" rtlCol="0" anchor="t"/>
          <a:lstStyle/>
          <a:p>
            <a:pPr algn="l" indent="0" marL="0">
              <a:lnSpc>
                <a:spcPct val="125000"/>
              </a:lnSpc>
              <a:buNone/>
            </a:pPr>
            <a:r>
              <a:rPr lang="en-US" sz="1400" dirty="0" b="1">
                <a:solidFill>
                  <a:srgbClr val="3F4A5A"/>
                </a:solidFill>
                <a:latin typeface="Calibri" pitchFamily="34" charset="0"/>
                <a:ea typeface="Calibri" pitchFamily="34" charset="-122"/>
                <a:cs typeface="Calibri" pitchFamily="34" charset="-120"/>
              </a:rPr>
              <a:t>15 Feb–5 Mar · due 5 Mar (2a_m1)</a:t>
            </a:r>
            <a:endParaRPr lang="en-US" sz="1400" dirty="0"/>
          </a:p>
          <a:p>
            <a:pPr algn="l" indent="0" marL="0">
              <a:lnSpc>
                <a:spcPct val="125000"/>
              </a:lnSpc>
              <a:spcBef>
                <a:spcPts val="600"/>
              </a:spcBef>
              <a:buNone/>
            </a:pPr>
            <a:r>
              <a:rPr lang="en-US" sz="1400" dirty="0">
                <a:solidFill>
                  <a:srgbClr val="3F4A5A"/>
                </a:solidFill>
                <a:latin typeface="Calibri" pitchFamily="34" charset="0"/>
                <a:ea typeface="Calibri" pitchFamily="34" charset="-122"/>
                <a:cs typeface="Calibri" pitchFamily="34" charset="-120"/>
              </a:rPr>
              <a:t>GHG accounting MVP in Excel-AI-CPAT, with the Total Carbon Price, then applied to crediting and FFI.</a:t>
            </a:r>
            <a:endParaRPr lang="en-US" sz="1400" dirty="0"/>
          </a:p>
          <a:p>
            <a:pPr algn="l" indent="0" marL="0">
              <a:lnSpc>
                <a:spcPct val="125000"/>
              </a:lnSpc>
              <a:spcBef>
                <a:spcPts val="600"/>
              </a:spcBef>
              <a:buNone/>
            </a:pPr>
            <a:r>
              <a:rPr lang="en-US" sz="1400" dirty="0">
                <a:solidFill>
                  <a:srgbClr val="3F4A5A"/>
                </a:solidFill>
                <a:latin typeface="Calibri" pitchFamily="34" charset="0"/>
                <a:ea typeface="Calibri" pitchFamily="34" charset="-122"/>
                <a:cs typeface="Calibri" pitchFamily="34" charset="-120"/>
              </a:rPr>
              <a:t>Simple tool only, within what exists.</a:t>
            </a:r>
            <a:endParaRPr lang="en-US" sz="1400" dirty="0"/>
          </a:p>
        </p:txBody>
      </p:sp>
      <p:sp>
        <p:nvSpPr>
          <p:cNvPr id="10" name="Shape 8"/>
          <p:cNvSpPr/>
          <p:nvPr/>
        </p:nvSpPr>
        <p:spPr>
          <a:xfrm>
            <a:off x="4402634" y="1947672"/>
            <a:ext cx="3386634" cy="3429000"/>
          </a:xfrm>
          <a:prstGeom prst="roundRect">
            <a:avLst>
              <a:gd name="adj" fmla="val 2269"/>
            </a:avLst>
          </a:prstGeom>
          <a:solidFill>
            <a:srgbClr val="FFFFFF"/>
          </a:solidFill>
          <a:ln/>
        </p:spPr>
        <p:txBody>
          <a:bodyPr/>
          <a:p/>
        </p:txBody>
      </p:sp>
      <p:sp>
        <p:nvSpPr>
          <p:cNvPr id="11" name="Shape 9"/>
          <p:cNvSpPr/>
          <p:nvPr/>
        </p:nvSpPr>
        <p:spPr>
          <a:xfrm>
            <a:off x="4402634" y="1947672"/>
            <a:ext cx="3386634" cy="38100"/>
          </a:xfrm>
          <a:prstGeom prst="rect">
            <a:avLst/>
          </a:prstGeom>
          <a:solidFill>
            <a:srgbClr val="1F5A96"/>
          </a:solidFill>
          <a:ln/>
        </p:spPr>
        <p:txBody>
          <a:bodyPr/>
          <a:p/>
        </p:txBody>
      </p:sp>
      <p:sp>
        <p:nvSpPr>
          <p:cNvPr id="12" name="Shape 10"/>
          <p:cNvSpPr/>
          <p:nvPr/>
        </p:nvSpPr>
        <p:spPr>
          <a:xfrm>
            <a:off x="4707434" y="2249424"/>
            <a:ext cx="304800" cy="304800"/>
          </a:xfrm>
          <a:prstGeom prst="ellipse">
            <a:avLst/>
          </a:prstGeom>
          <a:ln w="25400">
            <a:solidFill>
              <a:srgbClr val="1F5A96"/>
            </a:solidFill>
            <a:prstDash val="solid"/>
          </a:ln>
        </p:spPr>
        <p:txBody>
          <a:bodyPr/>
          <a:p/>
        </p:txBody>
      </p:sp>
      <p:sp>
        <p:nvSpPr>
          <p:cNvPr id="13" name="Shape 11"/>
          <p:cNvSpPr/>
          <p:nvPr/>
        </p:nvSpPr>
        <p:spPr>
          <a:xfrm>
            <a:off x="4800567" y="2350008"/>
            <a:ext cx="118533" cy="118533"/>
          </a:xfrm>
          <a:prstGeom prst="ellipse">
            <a:avLst/>
          </a:prstGeom>
          <a:solidFill>
            <a:srgbClr val="1F5A96"/>
          </a:solidFill>
          <a:ln/>
        </p:spPr>
        <p:txBody>
          <a:bodyPr/>
          <a:p/>
        </p:txBody>
      </p:sp>
      <p:sp>
        <p:nvSpPr>
          <p:cNvPr id="14" name="Text 12"/>
          <p:cNvSpPr txBox="1"/>
          <p:nvPr/>
        </p:nvSpPr>
        <p:spPr>
          <a:xfrm>
            <a:off x="4682034" y="2688336"/>
            <a:ext cx="2971800" cy="566928"/>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2b · Existing models working smoothly</a:t>
            </a:r>
            <a:endParaRPr lang="en-US" sz="1700" dirty="0"/>
          </a:p>
        </p:txBody>
      </p:sp>
      <p:sp>
        <p:nvSpPr>
          <p:cNvPr id="15" name="Text 13"/>
          <p:cNvSpPr txBox="1"/>
          <p:nvPr/>
        </p:nvSpPr>
        <p:spPr>
          <a:xfrm>
            <a:off x="4682034" y="3346704"/>
            <a:ext cx="2971800" cy="2194560"/>
          </a:xfrm>
          <a:prstGeom prst="rect">
            <a:avLst/>
          </a:prstGeom>
          <a:noFill/>
          <a:ln/>
        </p:spPr>
        <p:txBody>
          <a:bodyPr wrap="square" lIns="0" tIns="0" rIns="0" bIns="0" rtlCol="0" anchor="t"/>
          <a:lstStyle/>
          <a:p>
            <a:pPr algn="l" indent="0" marL="0">
              <a:lnSpc>
                <a:spcPct val="125000"/>
              </a:lnSpc>
              <a:buNone/>
            </a:pPr>
            <a:r>
              <a:rPr lang="en-US" sz="1400" dirty="0" b="1">
                <a:solidFill>
                  <a:srgbClr val="3F4A5A"/>
                </a:solidFill>
                <a:latin typeface="Calibri" pitchFamily="34" charset="0"/>
                <a:ea typeface="Calibri" pitchFamily="34" charset="-122"/>
                <a:cs typeface="Calibri" pitchFamily="34" charset="-120"/>
              </a:rPr>
              <a:t>8–12 Feb · due 12 Feb (2b_m2)</a:t>
            </a:r>
            <a:endParaRPr lang="en-US" sz="1400" dirty="0"/>
          </a:p>
          <a:p>
            <a:pPr algn="l" indent="0" marL="0">
              <a:lnSpc>
                <a:spcPct val="125000"/>
              </a:lnSpc>
              <a:spcBef>
                <a:spcPts val="600"/>
              </a:spcBef>
              <a:buNone/>
            </a:pPr>
            <a:r>
              <a:rPr lang="en-US" sz="1400" dirty="0">
                <a:solidFill>
                  <a:srgbClr val="3F4A5A"/>
                </a:solidFill>
                <a:latin typeface="Calibri" pitchFamily="34" charset="0"/>
                <a:ea typeface="Calibri" pitchFamily="34" charset="-122"/>
                <a:cs typeface="Calibri" pitchFamily="34" charset="-120"/>
              </a:rPr>
              <a:t>CPAT, MFMod-Python (tbc) and FTT as they are today, on one platform, with one user guide.</a:t>
            </a:r>
            <a:endParaRPr lang="en-US" sz="1400" dirty="0"/>
          </a:p>
          <a:p>
            <a:pPr algn="l" indent="0" marL="0">
              <a:lnSpc>
                <a:spcPct val="125000"/>
              </a:lnSpc>
              <a:spcBef>
                <a:spcPts val="600"/>
              </a:spcBef>
              <a:buNone/>
            </a:pPr>
            <a:r>
              <a:rPr lang="en-US" sz="1400" dirty="0">
                <a:solidFill>
                  <a:srgbClr val="3F4A5A"/>
                </a:solidFill>
                <a:latin typeface="Calibri" pitchFamily="34" charset="0"/>
                <a:ea typeface="Calibri" pitchFamily="34" charset="-122"/>
                <a:cs typeface="Calibri" pitchFamily="34" charset="-120"/>
              </a:rPr>
              <a:t>No further model development. Zoe’s FTT project ends 27 Nov (2b_m1).</a:t>
            </a:r>
            <a:endParaRPr lang="en-US" sz="1400" dirty="0"/>
          </a:p>
        </p:txBody>
      </p:sp>
      <p:sp>
        <p:nvSpPr>
          <p:cNvPr id="16" name="Shape 14"/>
          <p:cNvSpPr/>
          <p:nvPr/>
        </p:nvSpPr>
        <p:spPr>
          <a:xfrm>
            <a:off x="7992467" y="1947672"/>
            <a:ext cx="3386634" cy="3429000"/>
          </a:xfrm>
          <a:prstGeom prst="roundRect">
            <a:avLst>
              <a:gd name="adj" fmla="val 2269"/>
            </a:avLst>
          </a:prstGeom>
          <a:solidFill>
            <a:srgbClr val="FFFFFF"/>
          </a:solidFill>
          <a:ln/>
        </p:spPr>
        <p:txBody>
          <a:bodyPr/>
          <a:p/>
        </p:txBody>
      </p:sp>
      <p:sp>
        <p:nvSpPr>
          <p:cNvPr id="17" name="Shape 15"/>
          <p:cNvSpPr/>
          <p:nvPr/>
        </p:nvSpPr>
        <p:spPr>
          <a:xfrm>
            <a:off x="7992467" y="1947672"/>
            <a:ext cx="3386634" cy="38100"/>
          </a:xfrm>
          <a:prstGeom prst="rect">
            <a:avLst/>
          </a:prstGeom>
          <a:solidFill>
            <a:srgbClr val="1F5A96"/>
          </a:solidFill>
          <a:ln/>
        </p:spPr>
        <p:txBody>
          <a:bodyPr/>
          <a:p/>
        </p:txBody>
      </p:sp>
      <p:sp>
        <p:nvSpPr>
          <p:cNvPr id="18" name="Shape 16"/>
          <p:cNvSpPr/>
          <p:nvPr/>
        </p:nvSpPr>
        <p:spPr>
          <a:xfrm>
            <a:off x="8297267" y="2249424"/>
            <a:ext cx="304800" cy="304800"/>
          </a:xfrm>
          <a:prstGeom prst="ellipse">
            <a:avLst/>
          </a:prstGeom>
          <a:ln w="25400">
            <a:solidFill>
              <a:srgbClr val="1F5A96"/>
            </a:solidFill>
            <a:prstDash val="solid"/>
          </a:ln>
        </p:spPr>
        <p:txBody>
          <a:bodyPr/>
          <a:p/>
        </p:txBody>
      </p:sp>
      <p:sp>
        <p:nvSpPr>
          <p:cNvPr id="19" name="Shape 17"/>
          <p:cNvSpPr/>
          <p:nvPr/>
        </p:nvSpPr>
        <p:spPr>
          <a:xfrm>
            <a:off x="8390401" y="2350008"/>
            <a:ext cx="118533" cy="118533"/>
          </a:xfrm>
          <a:prstGeom prst="ellipse">
            <a:avLst/>
          </a:prstGeom>
          <a:solidFill>
            <a:srgbClr val="1F5A96"/>
          </a:solidFill>
          <a:ln/>
        </p:spPr>
        <p:txBody>
          <a:bodyPr/>
          <a:p/>
        </p:txBody>
      </p:sp>
      <p:sp>
        <p:nvSpPr>
          <p:cNvPr id="20" name="Text 18"/>
          <p:cNvSpPr txBox="1"/>
          <p:nvPr/>
        </p:nvSpPr>
        <p:spPr>
          <a:xfrm>
            <a:off x="8271867" y="2688336"/>
            <a:ext cx="2971800" cy="566928"/>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2c · Pathways tool and pilot countries</a:t>
            </a:r>
            <a:endParaRPr lang="en-US" sz="1700" dirty="0"/>
          </a:p>
        </p:txBody>
      </p:sp>
      <p:sp>
        <p:nvSpPr>
          <p:cNvPr id="21" name="Text 19"/>
          <p:cNvSpPr txBox="1"/>
          <p:nvPr/>
        </p:nvSpPr>
        <p:spPr>
          <a:xfrm>
            <a:off x="8271867" y="3346704"/>
            <a:ext cx="2971800" cy="2194560"/>
          </a:xfrm>
          <a:prstGeom prst="rect">
            <a:avLst/>
          </a:prstGeom>
          <a:noFill/>
          <a:ln/>
        </p:spPr>
        <p:txBody>
          <a:bodyPr wrap="square" lIns="0" tIns="0" rIns="0" bIns="0" rtlCol="0" anchor="t"/>
          <a:lstStyle/>
          <a:p>
            <a:pPr algn="l" indent="0" marL="0">
              <a:lnSpc>
                <a:spcPct val="125000"/>
              </a:lnSpc>
              <a:buNone/>
            </a:pPr>
            <a:r>
              <a:rPr lang="en-US" sz="1400" dirty="0" b="1">
                <a:solidFill>
                  <a:srgbClr val="3F4A5A"/>
                </a:solidFill>
                <a:latin typeface="Calibri" pitchFamily="34" charset="0"/>
                <a:ea typeface="Calibri" pitchFamily="34" charset="-122"/>
                <a:cs typeface="Calibri" pitchFamily="34" charset="-120"/>
              </a:rPr>
              <a:t>4–15 Jan · due 15 Jan (2c_m1)</a:t>
            </a:r>
            <a:endParaRPr lang="en-US" sz="1400" dirty="0"/>
          </a:p>
          <a:p>
            <a:pPr algn="l" indent="0" marL="0">
              <a:lnSpc>
                <a:spcPct val="125000"/>
              </a:lnSpc>
              <a:spcBef>
                <a:spcPts val="600"/>
              </a:spcBef>
              <a:buNone/>
            </a:pPr>
            <a:r>
              <a:rPr lang="en-US" sz="1400" dirty="0">
                <a:solidFill>
                  <a:srgbClr val="3F4A5A"/>
                </a:solidFill>
                <a:latin typeface="Calibri" pitchFamily="34" charset="0"/>
                <a:ea typeface="Calibri" pitchFamily="34" charset="-122"/>
                <a:cs typeface="Calibri" pitchFamily="34" charset="-120"/>
              </a:rPr>
              <a:t>With David Groves: coded CPAT into the CPM (formerly SiSePuede) pathways tool, supervising the CPM team.</a:t>
            </a:r>
            <a:endParaRPr lang="en-US" sz="1400" dirty="0"/>
          </a:p>
          <a:p>
            <a:pPr algn="l" indent="0" marL="0">
              <a:lnSpc>
                <a:spcPct val="125000"/>
              </a:lnSpc>
              <a:spcBef>
                <a:spcPts val="600"/>
              </a:spcBef>
              <a:buNone/>
            </a:pPr>
            <a:r>
              <a:rPr lang="en-US" sz="1400" dirty="0">
                <a:solidFill>
                  <a:srgbClr val="3F4A5A"/>
                </a:solidFill>
                <a:latin typeface="Calibri" pitchFamily="34" charset="0"/>
                <a:ea typeface="Calibri" pitchFamily="34" charset="-122"/>
                <a:cs typeface="Calibri" pitchFamily="34" charset="-120"/>
              </a:rPr>
              <a:t>Pilot country projects, starting with Egypt.</a:t>
            </a:r>
            <a:endParaRPr lang="en-US" sz="1400" dirty="0"/>
          </a:p>
        </p:txBody>
      </p:sp>
      <p:sp>
        <p:nvSpPr>
          <p:cNvPr id="22" name="Text 20"/>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12800" y="1688405"/>
            <a:ext cx="10566400" cy="248841"/>
          </a:xfrm>
          <a:prstGeom prst="rect">
            <a:avLst/>
          </a:prstGeom>
          <a:noFill/>
          <a:ln/>
        </p:spPr>
        <p:txBody>
          <a:bodyPr wrap="square" lIns="0" tIns="0" rIns="0" bIns="0" rtlCol="0" anchor="t"/>
          <a:lstStyle/>
          <a:p>
            <a:pPr algn="l" indent="0" marL="0">
              <a:lnSpc>
                <a:spcPct val="140000"/>
              </a:lnSpc>
              <a:buNone/>
            </a:pPr>
            <a:r>
              <a:rPr lang="en-US" sz="1400" spc="200" kern="0" dirty="0">
                <a:solidFill>
                  <a:srgbClr val="E3A36B"/>
                </a:solidFill>
                <a:latin typeface="Calibri" pitchFamily="34" charset="0"/>
                <a:ea typeface="Calibri" pitchFamily="34" charset="-122"/>
                <a:cs typeface="Calibri" pitchFamily="34" charset="-120"/>
              </a:rPr>
              <a:t>DELIVERABLE 3 · SLIDES 19–24</a:t>
            </a:r>
            <a:endParaRPr lang="en-US" sz="1400" dirty="0"/>
          </a:p>
        </p:txBody>
      </p:sp>
      <p:sp>
        <p:nvSpPr>
          <p:cNvPr id="3" name="Text 1"/>
          <p:cNvSpPr txBox="1"/>
          <p:nvPr/>
        </p:nvSpPr>
        <p:spPr>
          <a:xfrm>
            <a:off x="812800" y="2191246"/>
            <a:ext cx="9810750" cy="1426369"/>
          </a:xfrm>
          <a:prstGeom prst="rect">
            <a:avLst/>
          </a:prstGeom>
          <a:noFill/>
          <a:ln/>
        </p:spPr>
        <p:txBody>
          <a:bodyPr wrap="square" lIns="0" tIns="0" rIns="0" bIns="0" rtlCol="0" anchor="t"/>
          <a:lstStyle/>
          <a:p>
            <a:pPr algn="l" indent="0" marL="0">
              <a:lnSpc>
                <a:spcPct val="108000"/>
              </a:lnSpc>
              <a:buNone/>
            </a:pPr>
            <a:r>
              <a:rPr lang="en-US" sz="5200" b="1" dirty="0">
                <a:solidFill>
                  <a:srgbClr val="F7F6F1"/>
                </a:solidFill>
                <a:latin typeface="Cambria" pitchFamily="34" charset="0"/>
                <a:ea typeface="Cambria" pitchFamily="34" charset="-122"/>
                <a:cs typeface="Cambria" pitchFamily="34" charset="-120"/>
              </a:rPr>
              <a:t>Other AI tools</a:t>
            </a:r>
            <a:endParaRPr lang="en-US" sz="5200" dirty="0"/>
          </a:p>
        </p:txBody>
      </p:sp>
      <p:sp>
        <p:nvSpPr>
          <p:cNvPr id="4" name="Text 2"/>
          <p:cNvSpPr txBox="1"/>
          <p:nvPr/>
        </p:nvSpPr>
        <p:spPr>
          <a:xfrm>
            <a:off x="812800" y="4200000"/>
            <a:ext cx="9156700" cy="1100000"/>
          </a:xfrm>
          <a:prstGeom prst="rect">
            <a:avLst/>
          </a:prstGeom>
          <a:noFill/>
          <a:ln/>
        </p:spPr>
        <p:txBody>
          <a:bodyPr wrap="square" lIns="0" tIns="0" rIns="0" bIns="0" rtlCol="0" anchor="t"/>
          <a:lstStyle/>
          <a:p>
            <a:pPr algn="l" indent="0" marL="0">
              <a:lnSpc>
                <a:spcPct val="135000"/>
              </a:lnSpc>
              <a:buNone/>
            </a:pPr>
            <a:r>
              <a:rPr lang="en-US" sz="2000" dirty="0">
                <a:solidFill>
                  <a:srgbClr val="C9D3E0"/>
                </a:solidFill>
                <a:latin typeface="Calibri" pitchFamily="34" charset="0"/>
                <a:ea typeface="Calibri" pitchFamily="34" charset="-122"/>
                <a:cs typeface="Calibri" pitchFamily="34" charset="-120"/>
              </a:rPr>
              <a:t>3a Excise Diagnostic and 3b Tax and Macro-Fiscal Dashboard · the dashboard interface · how the tools are built · how to use them · the Excise Diagnostic, scope, method and an example</a:t>
            </a:r>
            <a:endParaRPr lang="en-US" sz="2000" dirty="0"/>
          </a:p>
        </p:txBody>
      </p:sp>
      <p:sp>
        <p:nvSpPr>
          <p:cNvPr id="11" name="Text 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9AA8BC"/>
                </a:solidFill>
                <a:latin typeface="Calibri" pitchFamily="34" charset="0"/>
                <a:ea typeface="Calibri" pitchFamily="34" charset="-122"/>
                <a:cs typeface="Calibri" pitchFamily="34" charset="-120"/>
              </a:rPr>
              <a:t>Use of AI in climate fiscal tools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DELIVERABLE 3 · 3a, 3b · EXCISE DIAGNOSTIC AND TAX AND MACRO-FISCAL INDICATOR DASHBOARD</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Two MVPs, handed over to the team as they stand</a:t>
            </a:r>
            <a:endParaRPr lang="en-US" sz="3200" dirty="0"/>
          </a:p>
        </p:txBody>
      </p:sp>
      <p:sp>
        <p:nvSpPr>
          <p:cNvPr id="4" name="Shape 2"/>
          <p:cNvSpPr/>
          <p:nvPr/>
        </p:nvSpPr>
        <p:spPr>
          <a:xfrm>
            <a:off x="812800" y="2349500"/>
            <a:ext cx="3302000" cy="1407021"/>
          </a:xfrm>
          <a:prstGeom prst="roundRect">
            <a:avLst>
              <a:gd name="adj" fmla="val 4513"/>
            </a:avLst>
          </a:prstGeom>
          <a:solidFill>
            <a:srgbClr val="FFFFFF"/>
          </a:solidFill>
          <a:ln w="12700">
            <a:solidFill>
              <a:srgbClr val="7A8494"/>
            </a:solidFill>
            <a:prstDash val="solid"/>
          </a:ln>
        </p:spPr>
        <p:txBody>
          <a:bodyPr/>
          <a:p/>
        </p:txBody>
      </p:sp>
      <p:sp>
        <p:nvSpPr>
          <p:cNvPr id="5" name="Text 3"/>
          <p:cNvSpPr txBox="1"/>
          <p:nvPr/>
        </p:nvSpPr>
        <p:spPr>
          <a:xfrm>
            <a:off x="1003300" y="2540000"/>
            <a:ext cx="3008630" cy="213320"/>
          </a:xfrm>
          <a:prstGeom prst="rect">
            <a:avLst/>
          </a:prstGeom>
          <a:noFill/>
          <a:ln/>
        </p:spPr>
        <p:txBody>
          <a:bodyPr wrap="square" lIns="0" tIns="0" rIns="0" bIns="0" rtlCol="0" anchor="t"/>
          <a:lstStyle/>
          <a:p>
            <a:pPr algn="l" indent="0" marL="0">
              <a:lnSpc>
                <a:spcPct val="140000"/>
              </a:lnSpc>
              <a:buNone/>
            </a:pPr>
            <a:r>
              <a:rPr lang="en-US" sz="1200" b="1" dirty="0">
                <a:solidFill>
                  <a:srgbClr val="5B6573"/>
                </a:solidFill>
                <a:latin typeface="Calibri" pitchFamily="34" charset="0"/>
                <a:ea typeface="Calibri" pitchFamily="34" charset="-122"/>
                <a:cs typeface="Calibri" pitchFamily="34" charset="-120"/>
              </a:rPr>
              <a:t>3a · MVP · 25 Sep</a:t>
            </a:r>
            <a:endParaRPr lang="en-US" sz="1200" dirty="0"/>
          </a:p>
        </p:txBody>
      </p:sp>
      <p:sp>
        <p:nvSpPr>
          <p:cNvPr id="6" name="Text 4"/>
          <p:cNvSpPr txBox="1"/>
          <p:nvPr/>
        </p:nvSpPr>
        <p:spPr>
          <a:xfrm>
            <a:off x="1003300" y="2816820"/>
            <a:ext cx="3008630"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Excise Diagnostic</a:t>
            </a:r>
            <a:endParaRPr lang="en-US" sz="1700" dirty="0"/>
          </a:p>
        </p:txBody>
      </p:sp>
      <p:sp>
        <p:nvSpPr>
          <p:cNvPr id="7" name="Text 5"/>
          <p:cNvSpPr txBox="1"/>
          <p:nvPr/>
        </p:nvSpPr>
        <p:spPr>
          <a:xfrm>
            <a:off x="1003300" y="3139380"/>
            <a:ext cx="3008630"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Excises, subsidies, electricity pricing: six categories, three standard measures</a:t>
            </a:r>
            <a:endParaRPr lang="en-US" sz="1200" dirty="0"/>
          </a:p>
        </p:txBody>
      </p:sp>
      <p:sp>
        <p:nvSpPr>
          <p:cNvPr id="8" name="Shape 6"/>
          <p:cNvSpPr/>
          <p:nvPr/>
        </p:nvSpPr>
        <p:spPr>
          <a:xfrm>
            <a:off x="812800" y="4127500"/>
            <a:ext cx="3302000" cy="1368760"/>
          </a:xfrm>
          <a:prstGeom prst="roundRect">
            <a:avLst>
              <a:gd name="adj" fmla="val 5320"/>
            </a:avLst>
          </a:prstGeom>
          <a:solidFill>
            <a:srgbClr val="FFFFFF"/>
          </a:solidFill>
          <a:ln w="12700">
            <a:solidFill>
              <a:srgbClr val="7A8494"/>
            </a:solidFill>
            <a:prstDash val="solid"/>
          </a:ln>
        </p:spPr>
        <p:txBody>
          <a:bodyPr/>
          <a:p/>
        </p:txBody>
      </p:sp>
      <p:sp>
        <p:nvSpPr>
          <p:cNvPr id="9" name="Text 7"/>
          <p:cNvSpPr txBox="1"/>
          <p:nvPr/>
        </p:nvSpPr>
        <p:spPr>
          <a:xfrm>
            <a:off x="1003300" y="4318000"/>
            <a:ext cx="3008630" cy="213320"/>
          </a:xfrm>
          <a:prstGeom prst="rect">
            <a:avLst/>
          </a:prstGeom>
          <a:noFill/>
          <a:ln/>
        </p:spPr>
        <p:txBody>
          <a:bodyPr wrap="square" lIns="0" tIns="0" rIns="0" bIns="0" rtlCol="0" anchor="t"/>
          <a:lstStyle/>
          <a:p>
            <a:pPr algn="l" indent="0" marL="0">
              <a:lnSpc>
                <a:spcPct val="140000"/>
              </a:lnSpc>
              <a:buNone/>
            </a:pPr>
            <a:r>
              <a:rPr lang="en-US" sz="1200" b="1" dirty="0">
                <a:solidFill>
                  <a:srgbClr val="5B6573"/>
                </a:solidFill>
                <a:latin typeface="Calibri" pitchFamily="34" charset="0"/>
                <a:ea typeface="Calibri" pitchFamily="34" charset="-122"/>
                <a:cs typeface="Calibri" pitchFamily="34" charset="-120"/>
              </a:rPr>
              <a:t>3b · MVP · 25 Sep</a:t>
            </a:r>
            <a:endParaRPr lang="en-US" sz="1200" dirty="0"/>
          </a:p>
        </p:txBody>
      </p:sp>
      <p:sp>
        <p:nvSpPr>
          <p:cNvPr id="10" name="Text 8"/>
          <p:cNvSpPr txBox="1"/>
          <p:nvPr/>
        </p:nvSpPr>
        <p:spPr>
          <a:xfrm>
            <a:off x="1003300" y="4594820"/>
            <a:ext cx="3008630" cy="51812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Tax and Macro-Fiscal Dashboard</a:t>
            </a:r>
            <a:endParaRPr lang="en-US" sz="1700" dirty="0"/>
          </a:p>
        </p:txBody>
      </p:sp>
      <p:sp>
        <p:nvSpPr>
          <p:cNvPr id="11" name="Text 9"/>
          <p:cNvSpPr txBox="1"/>
          <p:nvPr/>
        </p:nvSpPr>
        <p:spPr>
          <a:xfrm>
            <a:off x="1003300" y="5162940"/>
            <a:ext cx="3008630" cy="213320"/>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53 indicators, 217 countries, full audit trail</a:t>
            </a:r>
            <a:endParaRPr lang="en-US" sz="1200" dirty="0"/>
          </a:p>
        </p:txBody>
      </p:sp>
      <p:sp>
        <p:nvSpPr>
          <p:cNvPr id="12" name="Shape 10"/>
          <p:cNvSpPr/>
          <p:nvPr/>
        </p:nvSpPr>
        <p:spPr>
          <a:xfrm>
            <a:off x="4826000" y="3460750"/>
            <a:ext cx="1778000" cy="812800"/>
          </a:xfrm>
          <a:prstGeom prst="roundRect">
            <a:avLst>
              <a:gd name="adj" fmla="val 7813"/>
            </a:avLst>
          </a:prstGeom>
          <a:solidFill>
            <a:srgbClr val="14213D"/>
          </a:solidFill>
          <a:ln/>
        </p:spPr>
        <p:txBody>
          <a:bodyPr/>
          <a:p/>
        </p:txBody>
      </p:sp>
      <p:sp>
        <p:nvSpPr>
          <p:cNvPr id="13" name="Text 11"/>
          <p:cNvSpPr txBox="1"/>
          <p:nvPr/>
        </p:nvSpPr>
        <p:spPr>
          <a:xfrm>
            <a:off x="5003800" y="3638550"/>
            <a:ext cx="1465072" cy="457200"/>
          </a:xfrm>
          <a:prstGeom prst="rect">
            <a:avLst/>
          </a:prstGeom>
          <a:noFill/>
          <a:ln/>
        </p:spPr>
        <p:txBody>
          <a:bodyPr wrap="square" lIns="0" tIns="0" rIns="0" bIns="0" rtlCol="0" anchor="t"/>
          <a:lstStyle/>
          <a:p>
            <a:pPr algn="ctr" indent="0" marL="0">
              <a:lnSpc>
                <a:spcPct val="120000"/>
              </a:lnSpc>
              <a:buNone/>
            </a:pPr>
            <a:r>
              <a:rPr lang="en-US" sz="1500" b="1" dirty="0">
                <a:solidFill>
                  <a:srgbClr val="F7F6F1"/>
                </a:solidFill>
                <a:latin typeface="Calibri" pitchFamily="34" charset="0"/>
                <a:ea typeface="Calibri" pitchFamily="34" charset="-122"/>
                <a:cs typeface="Calibri" pitchFamily="34" charset="-120"/>
              </a:rPr>
              <a:t>Brought together</a:t>
            </a:r>
            <a:endParaRPr lang="en-US" sz="1500" dirty="0"/>
          </a:p>
        </p:txBody>
      </p:sp>
      <p:sp>
        <p:nvSpPr>
          <p:cNvPr id="14" name="Shape 12"/>
          <p:cNvSpPr/>
          <p:nvPr/>
        </p:nvSpPr>
        <p:spPr>
          <a:xfrm>
            <a:off x="4114800" y="2984500"/>
            <a:ext cx="711200" cy="698500"/>
          </a:xfrm>
          <a:prstGeom prst="line">
            <a:avLst/>
          </a:prstGeom>
          <a:noFill/>
          <a:ln w="25400">
            <a:solidFill>
              <a:srgbClr val="14213D"/>
            </a:solidFill>
            <a:prstDash val="solid"/>
            <a:tailEnd type="triangle"/>
          </a:ln>
        </p:spPr>
        <p:txBody>
          <a:bodyPr/>
          <a:p/>
        </p:txBody>
      </p:sp>
      <p:sp>
        <p:nvSpPr>
          <p:cNvPr id="15" name="Shape 13"/>
          <p:cNvSpPr/>
          <p:nvPr/>
        </p:nvSpPr>
        <p:spPr>
          <a:xfrm flipV="1">
            <a:off x="4114800" y="3937000"/>
            <a:ext cx="711200" cy="825500"/>
          </a:xfrm>
          <a:prstGeom prst="line">
            <a:avLst/>
          </a:prstGeom>
          <a:noFill/>
          <a:ln w="25400">
            <a:solidFill>
              <a:srgbClr val="14213D"/>
            </a:solidFill>
            <a:prstDash val="solid"/>
            <a:tailEnd type="triangle"/>
          </a:ln>
        </p:spPr>
        <p:txBody>
          <a:bodyPr/>
          <a:p/>
        </p:txBody>
      </p:sp>
      <p:sp>
        <p:nvSpPr>
          <p:cNvPr id="16" name="Shape 14"/>
          <p:cNvSpPr/>
          <p:nvPr/>
        </p:nvSpPr>
        <p:spPr>
          <a:xfrm flipV="1">
            <a:off x="6604000" y="2952750"/>
            <a:ext cx="711200" cy="730250"/>
          </a:xfrm>
          <a:prstGeom prst="line">
            <a:avLst/>
          </a:prstGeom>
          <a:noFill/>
          <a:ln w="25400">
            <a:solidFill>
              <a:srgbClr val="1F5A96"/>
            </a:solidFill>
            <a:prstDash val="solid"/>
            <a:tailEnd type="triangle"/>
          </a:ln>
        </p:spPr>
        <p:txBody>
          <a:bodyPr/>
          <a:p/>
        </p:txBody>
      </p:sp>
      <p:sp>
        <p:nvSpPr>
          <p:cNvPr id="17" name="Shape 15"/>
          <p:cNvSpPr/>
          <p:nvPr/>
        </p:nvSpPr>
        <p:spPr>
          <a:xfrm>
            <a:off x="6604000" y="3937000"/>
            <a:ext cx="711200" cy="920750"/>
          </a:xfrm>
          <a:prstGeom prst="line">
            <a:avLst/>
          </a:prstGeom>
          <a:noFill/>
          <a:ln w="25400">
            <a:solidFill>
              <a:srgbClr val="1F5A96"/>
            </a:solidFill>
            <a:prstDash val="solid"/>
            <a:tailEnd type="triangle"/>
          </a:ln>
        </p:spPr>
        <p:txBody>
          <a:bodyPr/>
          <a:p/>
        </p:txBody>
      </p:sp>
      <p:sp>
        <p:nvSpPr>
          <p:cNvPr id="18" name="Shape 16"/>
          <p:cNvSpPr/>
          <p:nvPr/>
        </p:nvSpPr>
        <p:spPr>
          <a:xfrm>
            <a:off x="7315200" y="2159000"/>
            <a:ext cx="4064000" cy="1419721"/>
          </a:xfrm>
          <a:prstGeom prst="roundRect">
            <a:avLst>
              <a:gd name="adj" fmla="val 4473"/>
            </a:avLst>
          </a:prstGeom>
          <a:solidFill>
            <a:srgbClr val="DCE8F5"/>
          </a:solidFill>
          <a:ln/>
        </p:spPr>
        <p:txBody>
          <a:bodyPr/>
          <a:p/>
        </p:txBody>
      </p:sp>
      <p:sp>
        <p:nvSpPr>
          <p:cNvPr id="19" name="Shape 17"/>
          <p:cNvSpPr/>
          <p:nvPr/>
        </p:nvSpPr>
        <p:spPr>
          <a:xfrm>
            <a:off x="7315200" y="2159000"/>
            <a:ext cx="4064000" cy="38100"/>
          </a:xfrm>
          <a:prstGeom prst="rect">
            <a:avLst/>
          </a:prstGeom>
          <a:solidFill>
            <a:srgbClr val="1F5A96"/>
          </a:solidFill>
          <a:ln/>
        </p:spPr>
        <p:txBody>
          <a:bodyPr/>
          <a:p/>
        </p:txBody>
      </p:sp>
      <p:sp>
        <p:nvSpPr>
          <p:cNvPr id="20" name="Text 18"/>
          <p:cNvSpPr txBox="1"/>
          <p:nvPr/>
        </p:nvSpPr>
        <p:spPr>
          <a:xfrm>
            <a:off x="7493000" y="2374900"/>
            <a:ext cx="3819652" cy="213320"/>
          </a:xfrm>
          <a:prstGeom prst="rect">
            <a:avLst/>
          </a:prstGeom>
          <a:noFill/>
          <a:ln/>
        </p:spPr>
        <p:txBody>
          <a:bodyPr wrap="square" lIns="0" tIns="0" rIns="0" bIns="0" rtlCol="0" anchor="t"/>
          <a:lstStyle/>
          <a:p>
            <a:pPr algn="l" indent="0" marL="0">
              <a:lnSpc>
                <a:spcPct val="140000"/>
              </a:lnSpc>
              <a:buNone/>
            </a:pPr>
            <a:r>
              <a:rPr lang="en-US" sz="1200" b="1" dirty="0">
                <a:solidFill>
                  <a:srgbClr val="1F5A96"/>
                </a:solidFill>
                <a:latin typeface="Calibri" pitchFamily="34" charset="0"/>
                <a:ea typeface="Calibri" pitchFamily="34" charset="-122"/>
                <a:cs typeface="Calibri" pitchFamily="34" charset="-120"/>
              </a:rPr>
              <a:t>To Dirk: 16 Oct (3a_m2) and 23 Oct (3b_m2)</a:t>
            </a:r>
            <a:endParaRPr lang="en-US" sz="1200" dirty="0"/>
          </a:p>
        </p:txBody>
      </p:sp>
      <p:sp>
        <p:nvSpPr>
          <p:cNvPr id="21" name="Text 19"/>
          <p:cNvSpPr txBox="1"/>
          <p:nvPr/>
        </p:nvSpPr>
        <p:spPr>
          <a:xfrm>
            <a:off x="7493000" y="2651720"/>
            <a:ext cx="3819652"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Handover packs</a:t>
            </a:r>
            <a:endParaRPr lang="en-US" sz="1700" dirty="0"/>
          </a:p>
        </p:txBody>
      </p:sp>
      <p:sp>
        <p:nvSpPr>
          <p:cNvPr id="22" name="Text 20"/>
          <p:cNvSpPr txBox="1"/>
          <p:nvPr/>
        </p:nvSpPr>
        <p:spPr>
          <a:xfrm>
            <a:off x="7493000" y="2974280"/>
            <a:ext cx="3819652"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Code, data, audit trail, user guide and example scripts, so others can run and extend them</a:t>
            </a:r>
            <a:endParaRPr lang="en-US" sz="1200" dirty="0"/>
          </a:p>
        </p:txBody>
      </p:sp>
      <p:sp>
        <p:nvSpPr>
          <p:cNvPr id="23" name="Shape 21"/>
          <p:cNvSpPr/>
          <p:nvPr/>
        </p:nvSpPr>
        <p:spPr>
          <a:xfrm>
            <a:off x="7315200" y="4191000"/>
            <a:ext cx="4064000" cy="1419721"/>
          </a:xfrm>
          <a:prstGeom prst="roundRect">
            <a:avLst>
              <a:gd name="adj" fmla="val 4473"/>
            </a:avLst>
          </a:prstGeom>
          <a:solidFill>
            <a:srgbClr val="DCE8F5"/>
          </a:solidFill>
          <a:ln/>
        </p:spPr>
        <p:txBody>
          <a:bodyPr/>
          <a:p/>
        </p:txBody>
      </p:sp>
      <p:sp>
        <p:nvSpPr>
          <p:cNvPr id="24" name="Shape 22"/>
          <p:cNvSpPr/>
          <p:nvPr/>
        </p:nvSpPr>
        <p:spPr>
          <a:xfrm>
            <a:off x="7315200" y="4191000"/>
            <a:ext cx="4064000" cy="38100"/>
          </a:xfrm>
          <a:prstGeom prst="rect">
            <a:avLst/>
          </a:prstGeom>
          <a:solidFill>
            <a:srgbClr val="1F5A96"/>
          </a:solidFill>
          <a:ln/>
        </p:spPr>
        <p:txBody>
          <a:bodyPr/>
          <a:p/>
        </p:txBody>
      </p:sp>
      <p:sp>
        <p:nvSpPr>
          <p:cNvPr id="25" name="Text 23"/>
          <p:cNvSpPr txBox="1"/>
          <p:nvPr/>
        </p:nvSpPr>
        <p:spPr>
          <a:xfrm>
            <a:off x="7493000" y="4406900"/>
            <a:ext cx="3819652" cy="213320"/>
          </a:xfrm>
          <a:prstGeom prst="rect">
            <a:avLst/>
          </a:prstGeom>
          <a:noFill/>
          <a:ln/>
        </p:spPr>
        <p:txBody>
          <a:bodyPr wrap="square" lIns="0" tIns="0" rIns="0" bIns="0" rtlCol="0" anchor="t"/>
          <a:lstStyle/>
          <a:p>
            <a:pPr algn="l" indent="0" marL="0">
              <a:lnSpc>
                <a:spcPct val="140000"/>
              </a:lnSpc>
              <a:buNone/>
            </a:pPr>
            <a:r>
              <a:rPr lang="en-US" sz="1200" b="1" dirty="0">
                <a:solidFill>
                  <a:srgbClr val="1F5A96"/>
                </a:solidFill>
                <a:latin typeface="Calibri" pitchFamily="34" charset="0"/>
                <a:ea typeface="Calibri" pitchFamily="34" charset="-122"/>
                <a:cs typeface="Calibri" pitchFamily="34" charset="-120"/>
              </a:rPr>
              <a:t>Not this FY</a:t>
            </a:r>
            <a:endParaRPr lang="en-US" sz="1200" dirty="0"/>
          </a:p>
        </p:txBody>
      </p:sp>
      <p:sp>
        <p:nvSpPr>
          <p:cNvPr id="26" name="Text 24"/>
          <p:cNvSpPr txBox="1"/>
          <p:nvPr/>
        </p:nvSpPr>
        <p:spPr>
          <a:xfrm>
            <a:off x="7493000" y="4683720"/>
            <a:ext cx="3819652"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Policy issue reports</a:t>
            </a:r>
            <a:endParaRPr lang="en-US" sz="1700" dirty="0"/>
          </a:p>
        </p:txBody>
      </p:sp>
      <p:sp>
        <p:nvSpPr>
          <p:cNvPr id="27" name="Text 25"/>
          <p:cNvSpPr txBox="1"/>
          <p:nvPr/>
        </p:nvSpPr>
        <p:spPr>
          <a:xfrm>
            <a:off x="7493000" y="5006280"/>
            <a:ext cx="3819652" cy="426641"/>
          </a:xfrm>
          <a:prstGeom prst="rect">
            <a:avLst/>
          </a:prstGeom>
          <a:noFill/>
          <a:ln/>
        </p:spPr>
        <p:txBody>
          <a:bodyPr wrap="square" lIns="0" tIns="0" rIns="0" bIns="0" rtlCol="0" anchor="t"/>
          <a:lstStyle/>
          <a:p>
            <a:pPr algn="l" indent="0" marL="0">
              <a:lnSpc>
                <a:spcPct val="140000"/>
              </a:lnSpc>
              <a:buNone/>
            </a:pPr>
            <a:r>
              <a:rPr lang="en-US" sz="1200" dirty="0">
                <a:solidFill>
                  <a:srgbClr val="3F4A5A"/>
                </a:solidFill>
                <a:latin typeface="Calibri" pitchFamily="34" charset="0"/>
                <a:ea typeface="Calibri" pitchFamily="34" charset="-122"/>
                <a:cs typeface="Calibri" pitchFamily="34" charset="-120"/>
              </a:rPr>
              <a:t>One issue in one country, e.g. feebates: the situation, best practice and reform</a:t>
            </a:r>
            <a:endParaRPr lang="en-US" sz="1200" dirty="0"/>
          </a:p>
        </p:txBody>
      </p:sp>
      <p:sp>
        <p:nvSpPr>
          <p:cNvPr id="28" name="Text 26"/>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DELIVERABLE 3 · 3b · THE TAX AND MACRO-FISCAL INDICATOR DASHBOARD</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The dashboard interface</a:t>
            </a:r>
            <a:endParaRPr lang="en-US" sz="3200" dirty="0"/>
          </a:p>
        </p:txBody>
      </p:sp>
      <p:pic>
        <p:nvPicPr>
          <p:cNvPr id="4" name="Image 0" descr="Country profile screenshot">    </p:cNvPr>
          <p:cNvPicPr>
            <a:picLocks noChangeAspect="1"/>
          </p:cNvPicPr>
          <p:nvPr/>
        </p:nvPicPr>
        <p:blipFill>
          <a:blip r:embed="rId1"/>
          <a:stretch>
            <a:fillRect/>
          </a:stretch>
        </p:blipFill>
        <p:spPr>
          <a:xfrm>
            <a:off x="813477" y="1849041"/>
            <a:ext cx="6094645" cy="3816350"/>
          </a:xfrm>
          <a:prstGeom prst="rect">
            <a:avLst/>
          </a:prstGeom>
        </p:spPr>
      </p:pic>
      <p:sp>
        <p:nvSpPr>
          <p:cNvPr id="5" name="Shape 2"/>
          <p:cNvSpPr/>
          <p:nvPr/>
        </p:nvSpPr>
        <p:spPr>
          <a:xfrm>
            <a:off x="7162800" y="1849041"/>
            <a:ext cx="38100" cy="537766"/>
          </a:xfrm>
          <a:prstGeom prst="rect">
            <a:avLst/>
          </a:prstGeom>
          <a:solidFill>
            <a:srgbClr val="1F5A96"/>
          </a:solidFill>
          <a:ln/>
        </p:spPr>
        <p:txBody>
          <a:bodyPr/>
          <a:p/>
        </p:txBody>
      </p:sp>
      <p:sp>
        <p:nvSpPr>
          <p:cNvPr id="6" name="Text 3"/>
          <p:cNvSpPr txBox="1"/>
          <p:nvPr/>
        </p:nvSpPr>
        <p:spPr>
          <a:xfrm>
            <a:off x="7353300" y="1849041"/>
            <a:ext cx="402590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A country profile</a:t>
            </a:r>
            <a:endParaRPr lang="en-US" sz="1500" dirty="0"/>
          </a:p>
        </p:txBody>
      </p:sp>
      <p:sp>
        <p:nvSpPr>
          <p:cNvPr id="7" name="Text 4"/>
          <p:cNvSpPr txBox="1"/>
          <p:nvPr/>
        </p:nvSpPr>
        <p:spPr>
          <a:xfrm>
            <a:off x="7353300" y="2147491"/>
            <a:ext cx="4025900" cy="239316"/>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MVP view of Kenya; now 53 indicators, 217 countries</a:t>
            </a:r>
            <a:endParaRPr lang="en-US" sz="1300" dirty="0"/>
          </a:p>
        </p:txBody>
      </p:sp>
      <p:sp>
        <p:nvSpPr>
          <p:cNvPr id="8" name="Shape 5"/>
          <p:cNvSpPr/>
          <p:nvPr/>
        </p:nvSpPr>
        <p:spPr>
          <a:xfrm>
            <a:off x="7162800" y="2564606"/>
            <a:ext cx="38100" cy="777081"/>
          </a:xfrm>
          <a:prstGeom prst="rect">
            <a:avLst/>
          </a:prstGeom>
          <a:solidFill>
            <a:srgbClr val="1F5A96"/>
          </a:solidFill>
          <a:ln/>
        </p:spPr>
        <p:txBody>
          <a:bodyPr/>
          <a:p/>
        </p:txBody>
      </p:sp>
      <p:sp>
        <p:nvSpPr>
          <p:cNvPr id="9" name="Text 6"/>
          <p:cNvSpPr txBox="1"/>
          <p:nvPr/>
        </p:nvSpPr>
        <p:spPr>
          <a:xfrm>
            <a:off x="7353300" y="2564606"/>
            <a:ext cx="402590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Grouped by question</a:t>
            </a:r>
            <a:endParaRPr lang="en-US" sz="1500" dirty="0"/>
          </a:p>
        </p:txBody>
      </p:sp>
      <p:sp>
        <p:nvSpPr>
          <p:cNvPr id="10" name="Text 7"/>
          <p:cNvSpPr txBox="1"/>
          <p:nvPr/>
        </p:nvSpPr>
        <p:spPr>
          <a:xfrm>
            <a:off x="7353300" y="2863056"/>
            <a:ext cx="4025900"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Nine blocks: four judge (fiscal space, delivery, cost of capital, financing risk); five give context and detail</a:t>
            </a:r>
            <a:endParaRPr lang="en-US" sz="1300" dirty="0"/>
          </a:p>
        </p:txBody>
      </p:sp>
      <p:sp>
        <p:nvSpPr>
          <p:cNvPr id="11" name="Shape 8"/>
          <p:cNvSpPr/>
          <p:nvPr/>
        </p:nvSpPr>
        <p:spPr>
          <a:xfrm>
            <a:off x="7162800" y="3519488"/>
            <a:ext cx="38100" cy="777081"/>
          </a:xfrm>
          <a:prstGeom prst="rect">
            <a:avLst/>
          </a:prstGeom>
          <a:solidFill>
            <a:srgbClr val="1F5A96"/>
          </a:solidFill>
          <a:ln/>
        </p:spPr>
        <p:txBody>
          <a:bodyPr/>
          <a:p/>
        </p:txBody>
      </p:sp>
      <p:sp>
        <p:nvSpPr>
          <p:cNvPr id="12" name="Text 9"/>
          <p:cNvSpPr txBox="1"/>
          <p:nvPr/>
        </p:nvSpPr>
        <p:spPr>
          <a:xfrm>
            <a:off x="7353300" y="3519488"/>
            <a:ext cx="4025900" cy="247650"/>
          </a:xfrm>
          <a:prstGeom prst="rect">
            <a:avLst/>
          </a:prstGeom>
          <a:noFill/>
          <a:ln/>
        </p:spPr>
        <p:txBody>
          <a:bodyPr wrap="square" lIns="0" tIns="0" rIns="0" bIns="0" rtlCol="0" anchor="t"/>
          <a:lstStyle/>
          <a:p>
            <a:pPr algn="l" indent="0" marL="0">
              <a:lnSpc>
                <a:spcPct val="120000"/>
              </a:lnSpc>
              <a:buNone/>
            </a:pPr>
            <a:r>
              <a:rPr lang="en-US" sz="1500" b="1" dirty="0">
                <a:solidFill>
                  <a:srgbClr val="14213D"/>
                </a:solidFill>
                <a:latin typeface="Calibri" pitchFamily="34" charset="0"/>
                <a:ea typeface="Calibri" pitchFamily="34" charset="-122"/>
                <a:cs typeface="Calibri" pitchFamily="34" charset="-120"/>
              </a:rPr>
              <a:t>Scored and sourced</a:t>
            </a:r>
            <a:endParaRPr lang="en-US" sz="1500" dirty="0"/>
          </a:p>
        </p:txBody>
      </p:sp>
      <p:sp>
        <p:nvSpPr>
          <p:cNvPr id="13" name="Text 10"/>
          <p:cNvSpPr txBox="1"/>
          <p:nvPr/>
        </p:nvSpPr>
        <p:spPr>
          <a:xfrm>
            <a:off x="7353300" y="3817938"/>
            <a:ext cx="4025900" cy="478631"/>
          </a:xfrm>
          <a:prstGeom prst="rect">
            <a:avLst/>
          </a:prstGeom>
          <a:noFill/>
          <a:ln/>
        </p:spPr>
        <p:txBody>
          <a:bodyPr wrap="square" lIns="0" tIns="0" rIns="0" bIns="0" rtlCol="0" anchor="t"/>
          <a:lstStyle/>
          <a:p>
            <a:pPr algn="l" indent="0" marL="0">
              <a:lnSpc>
                <a:spcPct val="145000"/>
              </a:lnSpc>
              <a:buNone/>
            </a:pPr>
            <a:r>
              <a:rPr lang="en-US" sz="1300" dirty="0">
                <a:solidFill>
                  <a:srgbClr val="3F4A5A"/>
                </a:solidFill>
                <a:latin typeface="Calibri" pitchFamily="34" charset="0"/>
                <a:ea typeface="Calibri" pitchFamily="34" charset="-122"/>
                <a:cs typeface="Calibri" pitchFamily="34" charset="-120"/>
              </a:rPr>
              <a:t>Each indicator scored 1–10, with year and coverage, from 16 public datasets (IMF, World Bank, PEFA, Ember, IRENA)</a:t>
            </a:r>
            <a:endParaRPr lang="en-US" sz="1300" dirty="0"/>
          </a:p>
        </p:txBody>
      </p:sp>
      <p:sp>
        <p:nvSpPr>
          <p:cNvPr id="14" name="Text 11"/>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20</a:t>
            </a:r>
            <a:endParaRPr lang="en-US" sz="12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DELIVERABLE 3 · 3a, 3b · HOW THE TOOLS ARE BUILT</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A new method of tool development</a:t>
            </a:r>
            <a:endParaRPr lang="en-US" sz="3200" dirty="0"/>
          </a:p>
        </p:txBody>
      </p:sp>
      <p:sp>
        <p:nvSpPr>
          <p:cNvPr id="511" name="Card 512"/>
          <p:cNvSpPr/>
          <p:nvPr/>
        </p:nvSpPr>
        <p:spPr>
          <a:xfrm>
            <a:off x="812800" y="1800000"/>
            <a:ext cx="10566400" cy="640000"/>
          </a:xfrm>
          <a:prstGeom prst="roundRect">
            <a:avLst>
              <a:gd name="adj" fmla="val 2703"/>
            </a:avLst>
          </a:prstGeom>
          <a:solidFill>
            <a:srgbClr val="FFFFFF"/>
          </a:solidFill>
          <a:ln/>
        </p:spPr>
        <p:txBody>
          <a:bodyPr/>
          <a:p/>
        </p:txBody>
      </p:sp>
      <p:sp>
        <p:nvSpPr>
          <p:cNvPr id="513" name="Step 513"/>
          <p:cNvSpPr/>
          <p:nvPr/>
        </p:nvSpPr>
        <p:spPr>
          <a:xfrm>
            <a:off x="1072800" y="1930000"/>
            <a:ext cx="380000" cy="380000"/>
          </a:xfrm>
          <a:prstGeom prst="ellipse">
            <a:avLst/>
          </a:prstGeom>
          <a:solidFill>
            <a:srgbClr val="A8521A"/>
          </a:solidFill>
          <a:ln>
            <a:noFill/>
          </a:ln>
        </p:spPr>
        <p:txBody>
          <a:bodyPr/>
          <a:p/>
        </p:txBody>
      </p:sp>
      <p:sp>
        <p:nvSpPr>
          <p:cNvPr id="514" name="Text 514"/>
          <p:cNvSpPr txBox="1"/>
          <p:nvPr/>
        </p:nvSpPr>
        <p:spPr>
          <a:xfrm>
            <a:off x="1072800" y="19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1</a:t>
            </a:r>
          </a:p>
        </p:txBody>
      </p:sp>
      <p:sp>
        <p:nvSpPr>
          <p:cNvPr id="515" name="Text 515"/>
          <p:cNvSpPr txBox="1"/>
          <p:nvPr/>
        </p:nvSpPr>
        <p:spPr>
          <a:xfrm>
            <a:off x="1712800" y="18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AI recommends the data</a:t>
            </a:r>
          </a:p>
        </p:txBody>
      </p:sp>
      <p:sp>
        <p:nvSpPr>
          <p:cNvPr id="516" name="Text 516"/>
          <p:cNvSpPr txBox="1"/>
          <p:nvPr/>
        </p:nvSpPr>
        <p:spPr>
          <a:xfrm>
            <a:off x="4712800" y="18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AI proposes which public datasets and indicators are relevant, and where to find them.</a:t>
            </a:r>
          </a:p>
        </p:txBody>
      </p:sp>
      <p:sp>
        <p:nvSpPr>
          <p:cNvPr id="517" name="Card 518"/>
          <p:cNvSpPr/>
          <p:nvPr/>
        </p:nvSpPr>
        <p:spPr>
          <a:xfrm>
            <a:off x="812800" y="2550000"/>
            <a:ext cx="10566400" cy="640000"/>
          </a:xfrm>
          <a:prstGeom prst="roundRect">
            <a:avLst>
              <a:gd name="adj" fmla="val 2703"/>
            </a:avLst>
          </a:prstGeom>
          <a:solidFill>
            <a:srgbClr val="FFFFFF"/>
          </a:solidFill>
          <a:ln/>
        </p:spPr>
        <p:txBody>
          <a:bodyPr/>
          <a:p/>
        </p:txBody>
      </p:sp>
      <p:sp>
        <p:nvSpPr>
          <p:cNvPr id="519" name="Step 519"/>
          <p:cNvSpPr/>
          <p:nvPr/>
        </p:nvSpPr>
        <p:spPr>
          <a:xfrm>
            <a:off x="1072800" y="2680000"/>
            <a:ext cx="380000" cy="380000"/>
          </a:xfrm>
          <a:prstGeom prst="ellipse">
            <a:avLst/>
          </a:prstGeom>
          <a:solidFill>
            <a:srgbClr val="A8521A"/>
          </a:solidFill>
          <a:ln>
            <a:noFill/>
          </a:ln>
        </p:spPr>
        <p:txBody>
          <a:bodyPr/>
          <a:p/>
        </p:txBody>
      </p:sp>
      <p:sp>
        <p:nvSpPr>
          <p:cNvPr id="520" name="Text 520"/>
          <p:cNvSpPr txBox="1"/>
          <p:nvPr/>
        </p:nvSpPr>
        <p:spPr>
          <a:xfrm>
            <a:off x="1072800" y="268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2</a:t>
            </a:r>
          </a:p>
        </p:txBody>
      </p:sp>
      <p:sp>
        <p:nvSpPr>
          <p:cNvPr id="521" name="Text 521"/>
          <p:cNvSpPr txBox="1"/>
          <p:nvPr/>
        </p:nvSpPr>
        <p:spPr>
          <a:xfrm>
            <a:off x="1712800" y="255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Data is downloaded by script</a:t>
            </a:r>
          </a:p>
        </p:txBody>
      </p:sp>
      <p:sp>
        <p:nvSpPr>
          <p:cNvPr id="522" name="Text 522"/>
          <p:cNvSpPr txBox="1"/>
          <p:nvPr/>
        </p:nvSpPr>
        <p:spPr>
          <a:xfrm>
            <a:off x="4712800" y="255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The AI compiles a list of source URLs and writes a script that downloads and processes the raw data.</a:t>
            </a:r>
          </a:p>
        </p:txBody>
      </p:sp>
      <p:sp>
        <p:nvSpPr>
          <p:cNvPr id="523" name="Card 524"/>
          <p:cNvSpPr/>
          <p:nvPr/>
        </p:nvSpPr>
        <p:spPr>
          <a:xfrm>
            <a:off x="812800" y="3300000"/>
            <a:ext cx="10566400" cy="640000"/>
          </a:xfrm>
          <a:prstGeom prst="roundRect">
            <a:avLst>
              <a:gd name="adj" fmla="val 2703"/>
            </a:avLst>
          </a:prstGeom>
          <a:solidFill>
            <a:srgbClr val="FFFFFF"/>
          </a:solidFill>
          <a:ln/>
        </p:spPr>
        <p:txBody>
          <a:bodyPr/>
          <a:p/>
        </p:txBody>
      </p:sp>
      <p:sp>
        <p:nvSpPr>
          <p:cNvPr id="525" name="Step 525"/>
          <p:cNvSpPr/>
          <p:nvPr/>
        </p:nvSpPr>
        <p:spPr>
          <a:xfrm>
            <a:off x="1072800" y="3430000"/>
            <a:ext cx="380000" cy="380000"/>
          </a:xfrm>
          <a:prstGeom prst="ellipse">
            <a:avLst/>
          </a:prstGeom>
          <a:solidFill>
            <a:srgbClr val="A8521A"/>
          </a:solidFill>
          <a:ln>
            <a:noFill/>
          </a:ln>
        </p:spPr>
        <p:txBody>
          <a:bodyPr/>
          <a:p/>
        </p:txBody>
      </p:sp>
      <p:sp>
        <p:nvSpPr>
          <p:cNvPr id="526" name="Text 526"/>
          <p:cNvSpPr txBox="1"/>
          <p:nvPr/>
        </p:nvSpPr>
        <p:spPr>
          <a:xfrm>
            <a:off x="1072800" y="34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3</a:t>
            </a:r>
          </a:p>
        </p:txBody>
      </p:sp>
      <p:sp>
        <p:nvSpPr>
          <p:cNvPr id="527" name="Text 527"/>
          <p:cNvSpPr txBox="1"/>
          <p:nvPr/>
        </p:nvSpPr>
        <p:spPr>
          <a:xfrm>
            <a:off x="1712800" y="33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AI builds the database</a:t>
            </a:r>
          </a:p>
        </p:txBody>
      </p:sp>
      <p:sp>
        <p:nvSpPr>
          <p:cNvPr id="528" name="Text 528"/>
          <p:cNvSpPr txBox="1"/>
          <p:nvPr/>
        </p:nvSpPr>
        <p:spPr>
          <a:xfrm>
            <a:off x="4712800" y="33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The AI assembles the downloaded data into a structured, auditable database, with a source and year for every value.</a:t>
            </a:r>
          </a:p>
        </p:txBody>
      </p:sp>
      <p:sp>
        <p:nvSpPr>
          <p:cNvPr id="529" name="Card 530"/>
          <p:cNvSpPr/>
          <p:nvPr/>
        </p:nvSpPr>
        <p:spPr>
          <a:xfrm>
            <a:off x="812800" y="4050000"/>
            <a:ext cx="10566400" cy="640000"/>
          </a:xfrm>
          <a:prstGeom prst="roundRect">
            <a:avLst>
              <a:gd name="adj" fmla="val 2703"/>
            </a:avLst>
          </a:prstGeom>
          <a:solidFill>
            <a:srgbClr val="FFFFFF"/>
          </a:solidFill>
          <a:ln/>
        </p:spPr>
        <p:txBody>
          <a:bodyPr/>
          <a:p/>
        </p:txBody>
      </p:sp>
      <p:sp>
        <p:nvSpPr>
          <p:cNvPr id="531" name="Step 531"/>
          <p:cNvSpPr/>
          <p:nvPr/>
        </p:nvSpPr>
        <p:spPr>
          <a:xfrm>
            <a:off x="1072800" y="4180000"/>
            <a:ext cx="380000" cy="380000"/>
          </a:xfrm>
          <a:prstGeom prst="ellipse">
            <a:avLst/>
          </a:prstGeom>
          <a:solidFill>
            <a:srgbClr val="A8521A"/>
          </a:solidFill>
          <a:ln>
            <a:noFill/>
          </a:ln>
        </p:spPr>
        <p:txBody>
          <a:bodyPr/>
          <a:p/>
        </p:txBody>
      </p:sp>
      <p:sp>
        <p:nvSpPr>
          <p:cNvPr id="532" name="Text 532"/>
          <p:cNvSpPr txBox="1"/>
          <p:nvPr/>
        </p:nvSpPr>
        <p:spPr>
          <a:xfrm>
            <a:off x="1072800" y="418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4</a:t>
            </a:r>
          </a:p>
        </p:txBody>
      </p:sp>
      <p:sp>
        <p:nvSpPr>
          <p:cNvPr id="533" name="Text 533"/>
          <p:cNvSpPr txBox="1"/>
          <p:nvPr/>
        </p:nvSpPr>
        <p:spPr>
          <a:xfrm>
            <a:off x="1712800" y="405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AI builds the Excel tool</a:t>
            </a:r>
          </a:p>
        </p:txBody>
      </p:sp>
      <p:sp>
        <p:nvSpPr>
          <p:cNvPr id="534" name="Text 534"/>
          <p:cNvSpPr txBox="1"/>
          <p:nvPr/>
        </p:nvSpPr>
        <p:spPr>
          <a:xfrm>
            <a:off x="4712800" y="405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The AI then builds the Excel-based dashboard or diagnostic on top of that database.</a:t>
            </a:r>
          </a:p>
        </p:txBody>
      </p:sp>
      <p:sp>
        <p:nvSpPr>
          <p:cNvPr id="535" name="Card 536"/>
          <p:cNvSpPr/>
          <p:nvPr/>
        </p:nvSpPr>
        <p:spPr>
          <a:xfrm>
            <a:off x="812800" y="4800000"/>
            <a:ext cx="10566400" cy="640000"/>
          </a:xfrm>
          <a:prstGeom prst="roundRect">
            <a:avLst>
              <a:gd name="adj" fmla="val 2703"/>
            </a:avLst>
          </a:prstGeom>
          <a:solidFill>
            <a:srgbClr val="FFFFFF"/>
          </a:solidFill>
          <a:ln/>
        </p:spPr>
        <p:txBody>
          <a:bodyPr/>
          <a:p/>
        </p:txBody>
      </p:sp>
      <p:sp>
        <p:nvSpPr>
          <p:cNvPr id="537" name="Step 537"/>
          <p:cNvSpPr/>
          <p:nvPr/>
        </p:nvSpPr>
        <p:spPr>
          <a:xfrm>
            <a:off x="1072800" y="4930000"/>
            <a:ext cx="380000" cy="380000"/>
          </a:xfrm>
          <a:prstGeom prst="ellipse">
            <a:avLst/>
          </a:prstGeom>
          <a:solidFill>
            <a:srgbClr val="A8521A"/>
          </a:solidFill>
          <a:ln>
            <a:noFill/>
          </a:ln>
        </p:spPr>
        <p:txBody>
          <a:bodyPr/>
          <a:p/>
        </p:txBody>
      </p:sp>
      <p:sp>
        <p:nvSpPr>
          <p:cNvPr id="538" name="Text 538"/>
          <p:cNvSpPr txBox="1"/>
          <p:nvPr/>
        </p:nvSpPr>
        <p:spPr>
          <a:xfrm>
            <a:off x="1072800" y="49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5</a:t>
            </a:r>
          </a:p>
        </p:txBody>
      </p:sp>
      <p:sp>
        <p:nvSpPr>
          <p:cNvPr id="539" name="Text 539"/>
          <p:cNvSpPr txBox="1"/>
          <p:nvPr/>
        </p:nvSpPr>
        <p:spPr>
          <a:xfrm>
            <a:off x="1712800" y="48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AI makes lots of mistakes</a:t>
            </a:r>
          </a:p>
        </p:txBody>
      </p:sp>
      <p:sp>
        <p:nvSpPr>
          <p:cNvPr id="540" name="Text 540"/>
          <p:cNvSpPr txBox="1"/>
          <p:nvPr/>
        </p:nvSpPr>
        <p:spPr>
          <a:xfrm>
            <a:off x="4712800" y="48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E.g. showing missing data as zeros. Checking and correcting this takes most of the time: around 3 working days per tool.</a:t>
            </a:r>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21</a:t>
            </a:r>
            <a:endParaRPr lang="en-US" sz="1200"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DELIVERABLE 3 · 3a, 3b · HOW YOU CAN USE THESE TOOLS</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How you can use these tools</a:t>
            </a:r>
            <a:endParaRPr lang="en-US" sz="3200" dirty="0"/>
          </a:p>
        </p:txBody>
      </p:sp>
      <p:sp>
        <p:nvSpPr>
          <p:cNvPr id="511" name="Card 512"/>
          <p:cNvSpPr/>
          <p:nvPr/>
        </p:nvSpPr>
        <p:spPr>
          <a:xfrm>
            <a:off x="812800" y="1800000"/>
            <a:ext cx="10566400" cy="640000"/>
          </a:xfrm>
          <a:prstGeom prst="roundRect">
            <a:avLst>
              <a:gd name="adj" fmla="val 2703"/>
            </a:avLst>
          </a:prstGeom>
          <a:solidFill>
            <a:srgbClr val="FFFFFF"/>
          </a:solidFill>
          <a:ln/>
        </p:spPr>
        <p:txBody>
          <a:bodyPr/>
          <a:p/>
        </p:txBody>
      </p:sp>
      <p:sp>
        <p:nvSpPr>
          <p:cNvPr id="513" name="Step 513"/>
          <p:cNvSpPr/>
          <p:nvPr/>
        </p:nvSpPr>
        <p:spPr>
          <a:xfrm>
            <a:off x="1072800" y="1930000"/>
            <a:ext cx="380000" cy="380000"/>
          </a:xfrm>
          <a:prstGeom prst="ellipse">
            <a:avLst/>
          </a:prstGeom>
          <a:solidFill>
            <a:srgbClr val="A8521A"/>
          </a:solidFill>
          <a:ln>
            <a:noFill/>
          </a:ln>
        </p:spPr>
        <p:txBody>
          <a:bodyPr/>
          <a:p/>
        </p:txBody>
      </p:sp>
      <p:sp>
        <p:nvSpPr>
          <p:cNvPr id="514" name="Text 514"/>
          <p:cNvSpPr txBox="1"/>
          <p:nvPr/>
        </p:nvSpPr>
        <p:spPr>
          <a:xfrm>
            <a:off x="1072800" y="19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1</a:t>
            </a:r>
          </a:p>
        </p:txBody>
      </p:sp>
      <p:sp>
        <p:nvSpPr>
          <p:cNvPr id="515" name="Text 515"/>
          <p:cNvSpPr txBox="1"/>
          <p:nvPr/>
        </p:nvSpPr>
        <p:spPr>
          <a:xfrm>
            <a:off x="1712800" y="18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Get GitHub Copilot</a:t>
            </a:r>
          </a:p>
        </p:txBody>
      </p:sp>
      <p:sp>
        <p:nvSpPr>
          <p:cNvPr id="516" name="Text 516"/>
          <p:cNvSpPr txBox="1"/>
          <p:nvPr/>
        </p:nvSpPr>
        <p:spPr>
          <a:xfrm>
            <a:off x="4712800" y="18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Install GitHub Copilot: it is the main tool used to build and extend these tools.</a:t>
            </a:r>
          </a:p>
        </p:txBody>
      </p:sp>
      <p:sp>
        <p:nvSpPr>
          <p:cNvPr id="517" name="Card 518"/>
          <p:cNvSpPr/>
          <p:nvPr/>
        </p:nvSpPr>
        <p:spPr>
          <a:xfrm>
            <a:off x="812800" y="2550000"/>
            <a:ext cx="10566400" cy="640000"/>
          </a:xfrm>
          <a:prstGeom prst="roundRect">
            <a:avLst>
              <a:gd name="adj" fmla="val 2703"/>
            </a:avLst>
          </a:prstGeom>
          <a:solidFill>
            <a:srgbClr val="FFFFFF"/>
          </a:solidFill>
          <a:ln/>
        </p:spPr>
        <p:txBody>
          <a:bodyPr/>
          <a:p/>
        </p:txBody>
      </p:sp>
      <p:sp>
        <p:nvSpPr>
          <p:cNvPr id="519" name="Step 519"/>
          <p:cNvSpPr/>
          <p:nvPr/>
        </p:nvSpPr>
        <p:spPr>
          <a:xfrm>
            <a:off x="1072800" y="2680000"/>
            <a:ext cx="380000" cy="380000"/>
          </a:xfrm>
          <a:prstGeom prst="ellipse">
            <a:avLst/>
          </a:prstGeom>
          <a:solidFill>
            <a:srgbClr val="A8521A"/>
          </a:solidFill>
          <a:ln>
            <a:noFill/>
          </a:ln>
        </p:spPr>
        <p:txBody>
          <a:bodyPr/>
          <a:p/>
        </p:txBody>
      </p:sp>
      <p:sp>
        <p:nvSpPr>
          <p:cNvPr id="520" name="Text 520"/>
          <p:cNvSpPr txBox="1"/>
          <p:nvPr/>
        </p:nvSpPr>
        <p:spPr>
          <a:xfrm>
            <a:off x="1072800" y="268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2</a:t>
            </a:r>
          </a:p>
        </p:txBody>
      </p:sp>
      <p:sp>
        <p:nvSpPr>
          <p:cNvPr id="521" name="Text 521"/>
          <p:cNvSpPr txBox="1"/>
          <p:nvPr/>
        </p:nvSpPr>
        <p:spPr>
          <a:xfrm>
            <a:off x="1712800" y="255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Check out the repo</a:t>
            </a:r>
          </a:p>
        </p:txBody>
      </p:sp>
      <p:sp>
        <p:nvSpPr>
          <p:cNvPr id="522" name="Text 522"/>
          <p:cNvSpPr txBox="1"/>
          <p:nvPr/>
        </p:nvSpPr>
        <p:spPr>
          <a:xfrm>
            <a:off x="4712800" y="255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Both tools live in one GitHub repo, with code, data, audit trail and scripts: ask for the current address and check it out.</a:t>
            </a:r>
          </a:p>
        </p:txBody>
      </p:sp>
      <p:sp>
        <p:nvSpPr>
          <p:cNvPr id="523" name="Card 524"/>
          <p:cNvSpPr/>
          <p:nvPr/>
        </p:nvSpPr>
        <p:spPr>
          <a:xfrm>
            <a:off x="812800" y="3300000"/>
            <a:ext cx="10566400" cy="640000"/>
          </a:xfrm>
          <a:prstGeom prst="roundRect">
            <a:avLst>
              <a:gd name="adj" fmla="val 2703"/>
            </a:avLst>
          </a:prstGeom>
          <a:solidFill>
            <a:srgbClr val="FFFFFF"/>
          </a:solidFill>
          <a:ln/>
        </p:spPr>
        <p:txBody>
          <a:bodyPr/>
          <a:p/>
        </p:txBody>
      </p:sp>
      <p:sp>
        <p:nvSpPr>
          <p:cNvPr id="525" name="Step 525"/>
          <p:cNvSpPr/>
          <p:nvPr/>
        </p:nvSpPr>
        <p:spPr>
          <a:xfrm>
            <a:off x="1072800" y="3430000"/>
            <a:ext cx="380000" cy="380000"/>
          </a:xfrm>
          <a:prstGeom prst="ellipse">
            <a:avLst/>
          </a:prstGeom>
          <a:solidFill>
            <a:srgbClr val="A8521A"/>
          </a:solidFill>
          <a:ln>
            <a:noFill/>
          </a:ln>
        </p:spPr>
        <p:txBody>
          <a:bodyPr/>
          <a:p/>
        </p:txBody>
      </p:sp>
      <p:sp>
        <p:nvSpPr>
          <p:cNvPr id="526" name="Text 526"/>
          <p:cNvSpPr txBox="1"/>
          <p:nvPr/>
        </p:nvSpPr>
        <p:spPr>
          <a:xfrm>
            <a:off x="1072800" y="34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3</a:t>
            </a:r>
          </a:p>
        </p:txBody>
      </p:sp>
      <p:sp>
        <p:nvSpPr>
          <p:cNvPr id="527" name="Text 527"/>
          <p:cNvSpPr txBox="1"/>
          <p:nvPr/>
        </p:nvSpPr>
        <p:spPr>
          <a:xfrm>
            <a:off x="1712800" y="33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Run the Excise Diagnostic</a:t>
            </a:r>
          </a:p>
        </p:txBody>
      </p:sp>
      <p:sp>
        <p:nvSpPr>
          <p:cNvPr id="528" name="Text 528"/>
          <p:cNvSpPr txBox="1"/>
          <p:nvPr/>
        </p:nvSpPr>
        <p:spPr>
          <a:xfrm>
            <a:off x="4712800" y="33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Follow the user guide: give Claude or GitHub Copilot the master process file, then run the stages to produce a country report and workbook.</a:t>
            </a:r>
          </a:p>
        </p:txBody>
      </p:sp>
      <p:sp>
        <p:nvSpPr>
          <p:cNvPr id="529" name="Card 530"/>
          <p:cNvSpPr/>
          <p:nvPr/>
        </p:nvSpPr>
        <p:spPr>
          <a:xfrm>
            <a:off x="812800" y="4050000"/>
            <a:ext cx="10566400" cy="640000"/>
          </a:xfrm>
          <a:prstGeom prst="roundRect">
            <a:avLst>
              <a:gd name="adj" fmla="val 2703"/>
            </a:avLst>
          </a:prstGeom>
          <a:solidFill>
            <a:srgbClr val="FFFFFF"/>
          </a:solidFill>
          <a:ln/>
        </p:spPr>
        <p:txBody>
          <a:bodyPr/>
          <a:p/>
        </p:txBody>
      </p:sp>
      <p:sp>
        <p:nvSpPr>
          <p:cNvPr id="531" name="Step 531"/>
          <p:cNvSpPr/>
          <p:nvPr/>
        </p:nvSpPr>
        <p:spPr>
          <a:xfrm>
            <a:off x="1072800" y="4180000"/>
            <a:ext cx="380000" cy="380000"/>
          </a:xfrm>
          <a:prstGeom prst="ellipse">
            <a:avLst/>
          </a:prstGeom>
          <a:solidFill>
            <a:srgbClr val="A8521A"/>
          </a:solidFill>
          <a:ln>
            <a:noFill/>
          </a:ln>
        </p:spPr>
        <p:txBody>
          <a:bodyPr/>
          <a:p/>
        </p:txBody>
      </p:sp>
      <p:sp>
        <p:nvSpPr>
          <p:cNvPr id="532" name="Text 532"/>
          <p:cNvSpPr txBox="1"/>
          <p:nvPr/>
        </p:nvSpPr>
        <p:spPr>
          <a:xfrm>
            <a:off x="1072800" y="418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4</a:t>
            </a:r>
          </a:p>
        </p:txBody>
      </p:sp>
      <p:sp>
        <p:nvSpPr>
          <p:cNvPr id="533" name="Text 533"/>
          <p:cNvSpPr txBox="1"/>
          <p:nvPr/>
        </p:nvSpPr>
        <p:spPr>
          <a:xfrm>
            <a:off x="1712800" y="405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Use the dashboard user guide</a:t>
            </a:r>
          </a:p>
        </p:txBody>
      </p:sp>
      <p:sp>
        <p:nvSpPr>
          <p:cNvPr id="534" name="Text 534"/>
          <p:cNvSpPr txBox="1"/>
          <p:nvPr/>
        </p:nvSpPr>
        <p:spPr>
          <a:xfrm>
            <a:off x="4712800" y="405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The Tax and Macro-Fiscal Dashboard user guide covers setup, reading a country profile and adding a new data source.</a:t>
            </a:r>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22</a:t>
            </a:r>
            <a:endParaRPr lang="en-US" sz="120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DELIVERABLE 3 · 3a · THE EXCISE DIAGNOSTIC</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The Excise Diagnostic: scope and method</a:t>
            </a:r>
            <a:endParaRPr lang="en-US" sz="3200" dirty="0"/>
          </a:p>
        </p:txBody>
      </p:sp>
      <p:sp>
        <p:nvSpPr>
          <p:cNvPr id="511" name="Card 512"/>
          <p:cNvSpPr/>
          <p:nvPr/>
        </p:nvSpPr>
        <p:spPr>
          <a:xfrm>
            <a:off x="812800" y="1800000"/>
            <a:ext cx="10566400" cy="640000"/>
          </a:xfrm>
          <a:prstGeom prst="roundRect">
            <a:avLst>
              <a:gd name="adj" fmla="val 2703"/>
            </a:avLst>
          </a:prstGeom>
          <a:solidFill>
            <a:srgbClr val="FFFFFF"/>
          </a:solidFill>
          <a:ln/>
        </p:spPr>
        <p:txBody>
          <a:bodyPr/>
          <a:p/>
        </p:txBody>
      </p:sp>
      <p:sp>
        <p:nvSpPr>
          <p:cNvPr id="513" name="Step 513"/>
          <p:cNvSpPr/>
          <p:nvPr/>
        </p:nvSpPr>
        <p:spPr>
          <a:xfrm>
            <a:off x="1072800" y="1930000"/>
            <a:ext cx="380000" cy="380000"/>
          </a:xfrm>
          <a:prstGeom prst="ellipse">
            <a:avLst/>
          </a:prstGeom>
          <a:solidFill>
            <a:srgbClr val="A8521A"/>
          </a:solidFill>
          <a:ln>
            <a:noFill/>
          </a:ln>
        </p:spPr>
        <p:txBody>
          <a:bodyPr/>
          <a:p/>
        </p:txBody>
      </p:sp>
      <p:sp>
        <p:nvSpPr>
          <p:cNvPr id="514" name="Text 514"/>
          <p:cNvSpPr txBox="1"/>
          <p:nvPr/>
        </p:nvSpPr>
        <p:spPr>
          <a:xfrm>
            <a:off x="1072800" y="19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1</a:t>
            </a:r>
          </a:p>
        </p:txBody>
      </p:sp>
      <p:sp>
        <p:nvSpPr>
          <p:cNvPr id="515" name="Text 515"/>
          <p:cNvSpPr txBox="1"/>
          <p:nvPr/>
        </p:nvSpPr>
        <p:spPr>
          <a:xfrm>
            <a:off x="1712800" y="18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Scope</a:t>
            </a:r>
          </a:p>
        </p:txBody>
      </p:sp>
      <p:sp>
        <p:nvSpPr>
          <p:cNvPr id="516" name="Text 516"/>
          <p:cNvSpPr txBox="1"/>
          <p:nvPr/>
        </p:nvSpPr>
        <p:spPr>
          <a:xfrm>
            <a:off x="4712800" y="18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A country's excises, subsidies and electricity pricing, with analytical focus on six categories: fuel, vehicle, tobacco, alcohol, sugar-sweetened beverages and gambling.</a:t>
            </a:r>
          </a:p>
        </p:txBody>
      </p:sp>
      <p:sp>
        <p:nvSpPr>
          <p:cNvPr id="517" name="Card 518"/>
          <p:cNvSpPr/>
          <p:nvPr/>
        </p:nvSpPr>
        <p:spPr>
          <a:xfrm>
            <a:off x="812800" y="2550000"/>
            <a:ext cx="10566400" cy="640000"/>
          </a:xfrm>
          <a:prstGeom prst="roundRect">
            <a:avLst>
              <a:gd name="adj" fmla="val 2703"/>
            </a:avLst>
          </a:prstGeom>
          <a:solidFill>
            <a:srgbClr val="FFFFFF"/>
          </a:solidFill>
          <a:ln/>
        </p:spPr>
        <p:txBody>
          <a:bodyPr/>
          <a:p/>
        </p:txBody>
      </p:sp>
      <p:sp>
        <p:nvSpPr>
          <p:cNvPr id="519" name="Step 519"/>
          <p:cNvSpPr/>
          <p:nvPr/>
        </p:nvSpPr>
        <p:spPr>
          <a:xfrm>
            <a:off x="1072800" y="2680000"/>
            <a:ext cx="380000" cy="380000"/>
          </a:xfrm>
          <a:prstGeom prst="ellipse">
            <a:avLst/>
          </a:prstGeom>
          <a:solidFill>
            <a:srgbClr val="A8521A"/>
          </a:solidFill>
          <a:ln>
            <a:noFill/>
          </a:ln>
        </p:spPr>
        <p:txBody>
          <a:bodyPr/>
          <a:p/>
        </p:txBody>
      </p:sp>
      <p:sp>
        <p:nvSpPr>
          <p:cNvPr id="520" name="Text 520"/>
          <p:cNvSpPr txBox="1"/>
          <p:nvPr/>
        </p:nvSpPr>
        <p:spPr>
          <a:xfrm>
            <a:off x="1072800" y="268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2</a:t>
            </a:r>
          </a:p>
        </p:txBody>
      </p:sp>
      <p:sp>
        <p:nvSpPr>
          <p:cNvPr id="521" name="Text 521"/>
          <p:cNvSpPr txBox="1"/>
          <p:nvPr/>
        </p:nvSpPr>
        <p:spPr>
          <a:xfrm>
            <a:off x="1712800" y="255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Method</a:t>
            </a:r>
          </a:p>
        </p:txBody>
      </p:sp>
      <p:sp>
        <p:nvSpPr>
          <p:cNvPr id="522" name="Text 522"/>
          <p:cNvSpPr txBox="1"/>
          <p:nvPr/>
        </p:nvSpPr>
        <p:spPr>
          <a:xfrm>
            <a:off x="4712800" y="255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Categorize every excise line against a fixed typology, then standardize on three measures: $/unit, % of price, % of GDP.</a:t>
            </a:r>
          </a:p>
        </p:txBody>
      </p:sp>
      <p:sp>
        <p:nvSpPr>
          <p:cNvPr id="523" name="Card 524"/>
          <p:cNvSpPr/>
          <p:nvPr/>
        </p:nvSpPr>
        <p:spPr>
          <a:xfrm>
            <a:off x="812800" y="3300000"/>
            <a:ext cx="10566400" cy="640000"/>
          </a:xfrm>
          <a:prstGeom prst="roundRect">
            <a:avLst>
              <a:gd name="adj" fmla="val 2703"/>
            </a:avLst>
          </a:prstGeom>
          <a:solidFill>
            <a:srgbClr val="FFFFFF"/>
          </a:solidFill>
          <a:ln/>
        </p:spPr>
        <p:txBody>
          <a:bodyPr/>
          <a:p/>
        </p:txBody>
      </p:sp>
      <p:sp>
        <p:nvSpPr>
          <p:cNvPr id="525" name="Step 525"/>
          <p:cNvSpPr/>
          <p:nvPr/>
        </p:nvSpPr>
        <p:spPr>
          <a:xfrm>
            <a:off x="1072800" y="3430000"/>
            <a:ext cx="380000" cy="380000"/>
          </a:xfrm>
          <a:prstGeom prst="ellipse">
            <a:avLst/>
          </a:prstGeom>
          <a:solidFill>
            <a:srgbClr val="A8521A"/>
          </a:solidFill>
          <a:ln>
            <a:noFill/>
          </a:ln>
        </p:spPr>
        <p:txBody>
          <a:bodyPr/>
          <a:p/>
        </p:txBody>
      </p:sp>
      <p:sp>
        <p:nvSpPr>
          <p:cNvPr id="526" name="Text 526"/>
          <p:cNvSpPr txBox="1"/>
          <p:nvPr/>
        </p:nvSpPr>
        <p:spPr>
          <a:xfrm>
            <a:off x="1072800" y="34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3</a:t>
            </a:r>
          </a:p>
        </p:txBody>
      </p:sp>
      <p:sp>
        <p:nvSpPr>
          <p:cNvPr id="527" name="Text 527"/>
          <p:cNvSpPr txBox="1"/>
          <p:nvPr/>
        </p:nvSpPr>
        <p:spPr>
          <a:xfrm>
            <a:off x="1712800" y="33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What it surfaces</a:t>
            </a:r>
          </a:p>
        </p:txBody>
      </p:sp>
      <p:sp>
        <p:nvSpPr>
          <p:cNvPr id="528" name="Text 528"/>
          <p:cNvSpPr txBox="1"/>
          <p:nvPr/>
        </p:nvSpPr>
        <p:spPr>
          <a:xfrm>
            <a:off x="4712800" y="33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Erosion, gaps and incoherence in the schedule: rates unchanged for years, missing differentiation, and revenue left on the table.</a:t>
            </a:r>
          </a:p>
        </p:txBody>
      </p:sp>
      <p:sp>
        <p:nvSpPr>
          <p:cNvPr id="529" name="Card 530"/>
          <p:cNvSpPr/>
          <p:nvPr/>
        </p:nvSpPr>
        <p:spPr>
          <a:xfrm>
            <a:off x="812800" y="4050000"/>
            <a:ext cx="10566400" cy="640000"/>
          </a:xfrm>
          <a:prstGeom prst="roundRect">
            <a:avLst>
              <a:gd name="adj" fmla="val 2703"/>
            </a:avLst>
          </a:prstGeom>
          <a:solidFill>
            <a:srgbClr val="FFFFFF"/>
          </a:solidFill>
          <a:ln/>
        </p:spPr>
        <p:txBody>
          <a:bodyPr/>
          <a:p/>
        </p:txBody>
      </p:sp>
      <p:sp>
        <p:nvSpPr>
          <p:cNvPr id="531" name="Step 531"/>
          <p:cNvSpPr/>
          <p:nvPr/>
        </p:nvSpPr>
        <p:spPr>
          <a:xfrm>
            <a:off x="1072800" y="4180000"/>
            <a:ext cx="380000" cy="380000"/>
          </a:xfrm>
          <a:prstGeom prst="ellipse">
            <a:avLst/>
          </a:prstGeom>
          <a:solidFill>
            <a:srgbClr val="A8521A"/>
          </a:solidFill>
          <a:ln>
            <a:noFill/>
          </a:ln>
        </p:spPr>
        <p:txBody>
          <a:bodyPr/>
          <a:p/>
        </p:txBody>
      </p:sp>
      <p:sp>
        <p:nvSpPr>
          <p:cNvPr id="532" name="Text 532"/>
          <p:cNvSpPr txBox="1"/>
          <p:nvPr/>
        </p:nvSpPr>
        <p:spPr>
          <a:xfrm>
            <a:off x="1072800" y="418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4</a:t>
            </a:r>
          </a:p>
        </p:txBody>
      </p:sp>
      <p:sp>
        <p:nvSpPr>
          <p:cNvPr id="533" name="Text 533"/>
          <p:cNvSpPr txBox="1"/>
          <p:nvPr/>
        </p:nvSpPr>
        <p:spPr>
          <a:xfrm>
            <a:off x="1712800" y="405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Output</a:t>
            </a:r>
          </a:p>
        </p:txBody>
      </p:sp>
      <p:sp>
        <p:nvSpPr>
          <p:cNvPr id="534" name="Text 534"/>
          <p:cNvSpPr txBox="1"/>
          <p:nvPr/>
        </p:nvSpPr>
        <p:spPr>
          <a:xfrm>
            <a:off x="4712800" y="405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A structured country report and Excel workbook, generated by giving your AI the master process file, that a country economist can read alongside the tax schedule itself.</a:t>
            </a:r>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23</a:t>
            </a:r>
            <a:endParaRPr lang="en-US" sz="12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DELIVERABLE 3 · 3a · THE EXCISE DIAGNOSTIC</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The Excise Diagnostic in practice: Uganda</a:t>
            </a:r>
            <a:endParaRPr lang="en-US" sz="3200" dirty="0"/>
          </a:p>
        </p:txBody>
      </p:sp>
      <p:sp>
        <p:nvSpPr>
          <p:cNvPr id="511" name="Card 512"/>
          <p:cNvSpPr/>
          <p:nvPr/>
        </p:nvSpPr>
        <p:spPr>
          <a:xfrm>
            <a:off x="812800" y="1800000"/>
            <a:ext cx="10566400" cy="640000"/>
          </a:xfrm>
          <a:prstGeom prst="roundRect">
            <a:avLst>
              <a:gd name="adj" fmla="val 2703"/>
            </a:avLst>
          </a:prstGeom>
          <a:solidFill>
            <a:srgbClr val="FFFFFF"/>
          </a:solidFill>
          <a:ln/>
        </p:spPr>
        <p:txBody>
          <a:bodyPr/>
          <a:p/>
        </p:txBody>
      </p:sp>
      <p:sp>
        <p:nvSpPr>
          <p:cNvPr id="513" name="Step 513"/>
          <p:cNvSpPr/>
          <p:nvPr/>
        </p:nvSpPr>
        <p:spPr>
          <a:xfrm>
            <a:off x="1072800" y="1930000"/>
            <a:ext cx="380000" cy="380000"/>
          </a:xfrm>
          <a:prstGeom prst="ellipse">
            <a:avLst/>
          </a:prstGeom>
          <a:solidFill>
            <a:srgbClr val="A8521A"/>
          </a:solidFill>
          <a:ln>
            <a:noFill/>
          </a:ln>
        </p:spPr>
        <p:txBody>
          <a:bodyPr/>
          <a:p/>
        </p:txBody>
      </p:sp>
      <p:sp>
        <p:nvSpPr>
          <p:cNvPr id="514" name="Text 514"/>
          <p:cNvSpPr txBox="1"/>
          <p:nvPr/>
        </p:nvSpPr>
        <p:spPr>
          <a:xfrm>
            <a:off x="1072800" y="19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1</a:t>
            </a:r>
          </a:p>
        </p:txBody>
      </p:sp>
      <p:sp>
        <p:nvSpPr>
          <p:cNvPr id="515" name="Text 515"/>
          <p:cNvSpPr txBox="1"/>
          <p:nvPr/>
        </p:nvSpPr>
        <p:spPr>
          <a:xfrm>
            <a:off x="1712800" y="18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Headline</a:t>
            </a:r>
          </a:p>
        </p:txBody>
      </p:sp>
      <p:sp>
        <p:nvSpPr>
          <p:cNvPr id="516" name="Text 516"/>
          <p:cNvSpPr txBox="1"/>
          <p:nvPr/>
        </p:nvSpPr>
        <p:spPr>
          <a:xfrm>
            <a:off x="4712800" y="18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1.5–1.7% of GDP raised from energy, tobacco, alcohol and SSB excise combined.</a:t>
            </a:r>
          </a:p>
        </p:txBody>
      </p:sp>
      <p:sp>
        <p:nvSpPr>
          <p:cNvPr id="517" name="Card 518"/>
          <p:cNvSpPr/>
          <p:nvPr/>
        </p:nvSpPr>
        <p:spPr>
          <a:xfrm>
            <a:off x="812800" y="2550000"/>
            <a:ext cx="10566400" cy="640000"/>
          </a:xfrm>
          <a:prstGeom prst="roundRect">
            <a:avLst>
              <a:gd name="adj" fmla="val 2703"/>
            </a:avLst>
          </a:prstGeom>
          <a:solidFill>
            <a:srgbClr val="FFFFFF"/>
          </a:solidFill>
          <a:ln/>
        </p:spPr>
        <p:txBody>
          <a:bodyPr/>
          <a:p/>
        </p:txBody>
      </p:sp>
      <p:sp>
        <p:nvSpPr>
          <p:cNvPr id="519" name="Step 519"/>
          <p:cNvSpPr/>
          <p:nvPr/>
        </p:nvSpPr>
        <p:spPr>
          <a:xfrm>
            <a:off x="1072800" y="2680000"/>
            <a:ext cx="380000" cy="380000"/>
          </a:xfrm>
          <a:prstGeom prst="ellipse">
            <a:avLst/>
          </a:prstGeom>
          <a:solidFill>
            <a:srgbClr val="A8521A"/>
          </a:solidFill>
          <a:ln>
            <a:noFill/>
          </a:ln>
        </p:spPr>
        <p:txBody>
          <a:bodyPr/>
          <a:p/>
        </p:txBody>
      </p:sp>
      <p:sp>
        <p:nvSpPr>
          <p:cNvPr id="520" name="Text 520"/>
          <p:cNvSpPr txBox="1"/>
          <p:nvPr/>
        </p:nvSpPr>
        <p:spPr>
          <a:xfrm>
            <a:off x="1072800" y="268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2</a:t>
            </a:r>
          </a:p>
        </p:txBody>
      </p:sp>
      <p:sp>
        <p:nvSpPr>
          <p:cNvPr id="521" name="Text 521"/>
          <p:cNvSpPr txBox="1"/>
          <p:nvPr/>
        </p:nvSpPr>
        <p:spPr>
          <a:xfrm>
            <a:off x="1712800" y="255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Fuel</a:t>
            </a:r>
          </a:p>
        </p:txBody>
      </p:sp>
      <p:sp>
        <p:nvSpPr>
          <p:cNvPr id="522" name="Text 522"/>
          <p:cNvSpPr txBox="1"/>
          <p:nvPr/>
        </p:nvSpPr>
        <p:spPr>
          <a:xfrm>
            <a:off x="4712800" y="255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Petrol excise is 30% of the pump price – close to the OECD lower band.</a:t>
            </a:r>
          </a:p>
        </p:txBody>
      </p:sp>
      <p:sp>
        <p:nvSpPr>
          <p:cNvPr id="523" name="Card 524"/>
          <p:cNvSpPr/>
          <p:nvPr/>
        </p:nvSpPr>
        <p:spPr>
          <a:xfrm>
            <a:off x="812800" y="3300000"/>
            <a:ext cx="10566400" cy="640000"/>
          </a:xfrm>
          <a:prstGeom prst="roundRect">
            <a:avLst>
              <a:gd name="adj" fmla="val 2703"/>
            </a:avLst>
          </a:prstGeom>
          <a:solidFill>
            <a:srgbClr val="FFFFFF"/>
          </a:solidFill>
          <a:ln/>
        </p:spPr>
        <p:txBody>
          <a:bodyPr/>
          <a:p/>
        </p:txBody>
      </p:sp>
      <p:sp>
        <p:nvSpPr>
          <p:cNvPr id="525" name="Step 525"/>
          <p:cNvSpPr/>
          <p:nvPr/>
        </p:nvSpPr>
        <p:spPr>
          <a:xfrm>
            <a:off x="1072800" y="3430000"/>
            <a:ext cx="380000" cy="380000"/>
          </a:xfrm>
          <a:prstGeom prst="ellipse">
            <a:avLst/>
          </a:prstGeom>
          <a:solidFill>
            <a:srgbClr val="A8521A"/>
          </a:solidFill>
          <a:ln>
            <a:noFill/>
          </a:ln>
        </p:spPr>
        <p:txBody>
          <a:bodyPr/>
          <a:p/>
        </p:txBody>
      </p:sp>
      <p:sp>
        <p:nvSpPr>
          <p:cNvPr id="526" name="Text 526"/>
          <p:cNvSpPr txBox="1"/>
          <p:nvPr/>
        </p:nvSpPr>
        <p:spPr>
          <a:xfrm>
            <a:off x="1072800" y="34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3</a:t>
            </a:r>
          </a:p>
        </p:txBody>
      </p:sp>
      <p:sp>
        <p:nvSpPr>
          <p:cNvPr id="527" name="Text 527"/>
          <p:cNvSpPr txBox="1"/>
          <p:nvPr/>
        </p:nvSpPr>
        <p:spPr>
          <a:xfrm>
            <a:off x="1712800" y="33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Tobacco</a:t>
            </a:r>
          </a:p>
        </p:txBody>
      </p:sp>
      <p:sp>
        <p:nvSpPr>
          <p:cNvPr id="528" name="Text 528"/>
          <p:cNvSpPr txBox="1"/>
          <p:nvPr/>
        </p:nvSpPr>
        <p:spPr>
          <a:xfrm>
            <a:off x="4712800" y="33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Just 0.05% of GDP – well below South Africa (0.4%) and the EU (0.6%).</a:t>
            </a:r>
          </a:p>
        </p:txBody>
      </p:sp>
      <p:sp>
        <p:nvSpPr>
          <p:cNvPr id="529" name="Card 530"/>
          <p:cNvSpPr/>
          <p:nvPr/>
        </p:nvSpPr>
        <p:spPr>
          <a:xfrm>
            <a:off x="812800" y="4050000"/>
            <a:ext cx="10566400" cy="640000"/>
          </a:xfrm>
          <a:prstGeom prst="roundRect">
            <a:avLst>
              <a:gd name="adj" fmla="val 2703"/>
            </a:avLst>
          </a:prstGeom>
          <a:solidFill>
            <a:srgbClr val="FFFFFF"/>
          </a:solidFill>
          <a:ln/>
        </p:spPr>
        <p:txBody>
          <a:bodyPr/>
          <a:p/>
        </p:txBody>
      </p:sp>
      <p:sp>
        <p:nvSpPr>
          <p:cNvPr id="531" name="Step 531"/>
          <p:cNvSpPr/>
          <p:nvPr/>
        </p:nvSpPr>
        <p:spPr>
          <a:xfrm>
            <a:off x="1072800" y="4180000"/>
            <a:ext cx="380000" cy="380000"/>
          </a:xfrm>
          <a:prstGeom prst="ellipse">
            <a:avLst/>
          </a:prstGeom>
          <a:solidFill>
            <a:srgbClr val="A8521A"/>
          </a:solidFill>
          <a:ln>
            <a:noFill/>
          </a:ln>
        </p:spPr>
        <p:txBody>
          <a:bodyPr/>
          <a:p/>
        </p:txBody>
      </p:sp>
      <p:sp>
        <p:nvSpPr>
          <p:cNvPr id="532" name="Text 532"/>
          <p:cNvSpPr txBox="1"/>
          <p:nvPr/>
        </p:nvSpPr>
        <p:spPr>
          <a:xfrm>
            <a:off x="1072800" y="418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4</a:t>
            </a:r>
          </a:p>
        </p:txBody>
      </p:sp>
      <p:sp>
        <p:nvSpPr>
          <p:cNvPr id="533" name="Text 533"/>
          <p:cNvSpPr txBox="1"/>
          <p:nvPr/>
        </p:nvSpPr>
        <p:spPr>
          <a:xfrm>
            <a:off x="1712800" y="405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What the diagnostic found</a:t>
            </a:r>
          </a:p>
        </p:txBody>
      </p:sp>
      <p:sp>
        <p:nvSpPr>
          <p:cNvPr id="534" name="Text 534"/>
          <p:cNvSpPr txBox="1"/>
          <p:nvPr/>
        </p:nvSpPr>
        <p:spPr>
          <a:xfrm>
            <a:off x="4712800" y="405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SSB excise is flat at 12% with no sugar-content differentiation; kerosene excise is under 5% of the pump price and unchanged since 2018.</a:t>
            </a:r>
          </a:p>
        </p:txBody>
      </p:sp>
      <p:sp>
        <p:nvSpPr>
          <p:cNvPr id="535" name="Card 536"/>
          <p:cNvSpPr/>
          <p:nvPr/>
        </p:nvSpPr>
        <p:spPr>
          <a:xfrm>
            <a:off x="812800" y="4800000"/>
            <a:ext cx="10566400" cy="640000"/>
          </a:xfrm>
          <a:prstGeom prst="roundRect">
            <a:avLst>
              <a:gd name="adj" fmla="val 2703"/>
            </a:avLst>
          </a:prstGeom>
          <a:solidFill>
            <a:srgbClr val="FFFFFF"/>
          </a:solidFill>
          <a:ln/>
        </p:spPr>
        <p:txBody>
          <a:bodyPr/>
          <a:p/>
        </p:txBody>
      </p:sp>
      <p:sp>
        <p:nvSpPr>
          <p:cNvPr id="537" name="Step 537"/>
          <p:cNvSpPr/>
          <p:nvPr/>
        </p:nvSpPr>
        <p:spPr>
          <a:xfrm>
            <a:off x="1072800" y="4930000"/>
            <a:ext cx="380000" cy="380000"/>
          </a:xfrm>
          <a:prstGeom prst="ellipse">
            <a:avLst/>
          </a:prstGeom>
          <a:solidFill>
            <a:srgbClr val="A8521A"/>
          </a:solidFill>
          <a:ln>
            <a:noFill/>
          </a:ln>
        </p:spPr>
        <p:txBody>
          <a:bodyPr/>
          <a:p/>
        </p:txBody>
      </p:sp>
      <p:sp>
        <p:nvSpPr>
          <p:cNvPr id="538" name="Text 538"/>
          <p:cNvSpPr txBox="1"/>
          <p:nvPr/>
        </p:nvSpPr>
        <p:spPr>
          <a:xfrm>
            <a:off x="1072800" y="49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5</a:t>
            </a:r>
          </a:p>
        </p:txBody>
      </p:sp>
      <p:sp>
        <p:nvSpPr>
          <p:cNvPr id="539" name="Text 539"/>
          <p:cNvSpPr txBox="1"/>
          <p:nvPr/>
        </p:nvSpPr>
        <p:spPr>
          <a:xfrm>
            <a:off x="1712800" y="48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Reform pathway</a:t>
            </a:r>
          </a:p>
        </p:txBody>
      </p:sp>
      <p:sp>
        <p:nvSpPr>
          <p:cNvPr id="540" name="Text 540"/>
          <p:cNvSpPr txBox="1"/>
          <p:nvPr/>
        </p:nvSpPr>
        <p:spPr>
          <a:xfrm>
            <a:off x="4712800" y="48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Phase tobacco excise up, introduce a sugar-graduated SSB rate, and index specific rates to inflation.</a:t>
            </a:r>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812800" y="1688405"/>
            <a:ext cx="10566400" cy="248841"/>
          </a:xfrm>
          <a:prstGeom prst="rect">
            <a:avLst/>
          </a:prstGeom>
          <a:noFill/>
          <a:ln/>
        </p:spPr>
        <p:txBody>
          <a:bodyPr wrap="square" lIns="0" tIns="0" rIns="0" bIns="0" rtlCol="0" anchor="t"/>
          <a:lstStyle/>
          <a:p>
            <a:pPr algn="l" indent="0" marL="0">
              <a:lnSpc>
                <a:spcPct val="140000"/>
              </a:lnSpc>
              <a:buNone/>
            </a:pPr>
            <a:r>
              <a:rPr lang="en-US" sz="1400" spc="200" kern="0" dirty="0">
                <a:solidFill>
                  <a:srgbClr val="E3A36B"/>
                </a:solidFill>
                <a:latin typeface="Calibri" pitchFamily="34" charset="0"/>
                <a:ea typeface="Calibri" pitchFamily="34" charset="-122"/>
                <a:cs typeface="Calibri" pitchFamily="34" charset="-120"/>
              </a:rPr>
              <a:t>PART 4 · SLIDES 26–32</a:t>
            </a:r>
            <a:endParaRPr lang="en-US" sz="1400" dirty="0"/>
          </a:p>
        </p:txBody>
      </p:sp>
      <p:sp>
        <p:nvSpPr>
          <p:cNvPr id="3" name="Text 1"/>
          <p:cNvSpPr txBox="1"/>
          <p:nvPr/>
        </p:nvSpPr>
        <p:spPr>
          <a:xfrm>
            <a:off x="812800" y="2191246"/>
            <a:ext cx="9810750" cy="1426369"/>
          </a:xfrm>
          <a:prstGeom prst="rect">
            <a:avLst/>
          </a:prstGeom>
          <a:noFill/>
          <a:ln/>
        </p:spPr>
        <p:txBody>
          <a:bodyPr wrap="square" lIns="0" tIns="0" rIns="0" bIns="0" rtlCol="0" anchor="t"/>
          <a:lstStyle/>
          <a:p>
            <a:pPr algn="l" indent="0" marL="0">
              <a:lnSpc>
                <a:spcPct val="108000"/>
              </a:lnSpc>
              <a:buNone/>
            </a:pPr>
            <a:r>
              <a:rPr lang="en-US" sz="5200" b="1" dirty="0">
                <a:solidFill>
                  <a:srgbClr val="F7F6F1"/>
                </a:solidFill>
                <a:latin typeface="Cambria" pitchFamily="34" charset="0"/>
                <a:ea typeface="Cambria" pitchFamily="34" charset="-122"/>
                <a:cs typeface="Cambria" pitchFamily="34" charset="-120"/>
              </a:rPr>
              <a:t>Conclusion</a:t>
            </a:r>
            <a:endParaRPr lang="en-US" sz="5200" dirty="0"/>
          </a:p>
        </p:txBody>
      </p:sp>
      <p:sp>
        <p:nvSpPr>
          <p:cNvPr id="4" name="Text 2"/>
          <p:cNvSpPr txBox="1"/>
          <p:nvPr/>
        </p:nvSpPr>
        <p:spPr>
          <a:xfrm>
            <a:off x="812800" y="4200000"/>
            <a:ext cx="9156700" cy="1100000"/>
          </a:xfrm>
          <a:prstGeom prst="rect">
            <a:avLst/>
          </a:prstGeom>
          <a:noFill/>
          <a:ln/>
        </p:spPr>
        <p:txBody>
          <a:bodyPr wrap="square" lIns="0" tIns="0" rIns="0" bIns="0" rtlCol="0" anchor="t"/>
          <a:lstStyle/>
          <a:p>
            <a:pPr algn="l" indent="0" marL="0">
              <a:lnSpc>
                <a:spcPct val="135000"/>
              </a:lnSpc>
              <a:buNone/>
            </a:pPr>
            <a:r>
              <a:rPr lang="en-US" sz="2000" dirty="0">
                <a:solidFill>
                  <a:srgbClr val="C9D3E0"/>
                </a:solidFill>
                <a:latin typeface="Calibri" pitchFamily="34" charset="0"/>
                <a:ea typeface="Calibri" pitchFamily="34" charset="-122"/>
                <a:cs typeface="Calibri" pitchFamily="34" charset="-120"/>
              </a:rPr>
              <a:t>Timelines · possible division of labor · what to keep and what to drop · what you need to do · summary · demo</a:t>
            </a:r>
            <a:endParaRPr lang="en-US" sz="2000" dirty="0"/>
          </a:p>
        </p:txBody>
      </p:sp>
      <p:sp>
        <p:nvSpPr>
          <p:cNvPr id="11" name="Text 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9AA8BC"/>
                </a:solidFill>
                <a:latin typeface="Calibri" pitchFamily="34" charset="0"/>
                <a:ea typeface="Calibri" pitchFamily="34" charset="-122"/>
                <a:cs typeface="Calibri" pitchFamily="34" charset="-120"/>
              </a:rPr>
              <a:t>Use of AI in climate fiscal tools · 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1">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4 · TIMELINE TO MID-DECEMBER</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To mid-December: Excel-AI-CPAT 4 Dec, Python 11 Dec</a:t>
            </a:r>
            <a:endParaRPr lang="en-US" sz="3200" dirty="0"/>
          </a:p>
        </p:txBody>
      </p:sp>
      <p:sp>
        <p:nvSpPr>
          <p:cNvPr id="325" name="Leave 325"/>
          <p:cNvSpPr/>
          <p:nvPr/>
        </p:nvSpPr>
        <p:spPr>
          <a:xfrm>
            <a:off x="7201733" y="2020000"/>
            <a:ext cx="522183" cy="3805732"/>
          </a:xfrm>
          <a:prstGeom prst="rect">
            <a:avLst/>
          </a:prstGeom>
          <a:solidFill>
            <a:srgbClr val="D3DAE4"/>
          </a:solidFill>
          <a:ln>
            <a:noFill/>
          </a:ln>
        </p:spPr>
        <p:txBody>
          <a:bodyPr/>
          <a:p/>
        </p:txBody>
      </p:sp>
      <p:sp>
        <p:nvSpPr>
          <p:cNvPr id="326" name="Text 326"/>
          <p:cNvSpPr txBox="1"/>
          <p:nvPr/>
        </p:nvSpPr>
        <p:spPr>
          <a:xfrm>
            <a:off x="7201733" y="2330000"/>
            <a:ext cx="522183" cy="3495751"/>
          </a:xfrm>
          <a:prstGeom prst="rect">
            <a:avLst/>
          </a:prstGeom>
          <a:noFill/>
        </p:spPr>
        <p:txBody>
          <a:bodyPr wrap="square" lIns="0" tIns="0" rIns="0" bIns="0" rtlCol="0" anchor="ctr" vert="vert270">
            <a:noAutofit/>
          </a:bodyPr>
          <a:lstStyle/>
          <a:p>
            <a:pPr algn="ctr" marL="0" indent="0">
              <a:lnSpc>
                <a:spcPct val="100000"/>
              </a:lnSpc>
              <a:buNone/>
            </a:pPr>
            <a:r>
              <a:rPr lang="en-US" sz="1100" b="1" dirty="0">
                <a:solidFill>
                  <a:srgbClr val="4A5A70"/>
                </a:solidFill>
                <a:latin typeface="Calibri" pitchFamily="34" charset="0"/>
                <a:ea typeface="Calibri" pitchFamily="34" charset="-122"/>
                <a:cs typeface="Calibri" pitchFamily="34" charset="-120"/>
              </a:rPr>
              <a:t>Vacation</a:t>
            </a:r>
          </a:p>
        </p:txBody>
      </p:sp>
      <p:sp>
        <p:nvSpPr>
          <p:cNvPr id="329" name="Text 329"/>
          <p:cNvSpPr txBox="1"/>
          <p:nvPr/>
        </p:nvSpPr>
        <p:spPr>
          <a:xfrm>
            <a:off x="5113000" y="1760000"/>
            <a:ext cx="700000" cy="220000"/>
          </a:xfrm>
          <a:prstGeom prst="rect">
            <a:avLst/>
          </a:prstGeom>
          <a:noFill/>
        </p:spPr>
        <p:txBody>
          <a:bodyPr wrap="square" lIns="0" tIns="0" rIns="0" bIns="0" rtlCol="0" anchor="t">
            <a:noAutofit/>
          </a:bodyPr>
          <a:lstStyle/>
          <a:p>
            <a:pPr algn="l" marL="0" indent="0">
              <a:lnSpc>
                <a:spcPct val="120000"/>
              </a:lnSpc>
              <a:buNone/>
            </a:pPr>
            <a:r>
              <a:rPr lang="en-US" sz="1200" b="1" dirty="0">
                <a:solidFill>
                  <a:srgbClr val="14213D"/>
                </a:solidFill>
                <a:latin typeface="Calibri" pitchFamily="34" charset="0"/>
                <a:ea typeface="Calibri" pitchFamily="34" charset="-122"/>
                <a:cs typeface="Calibri" pitchFamily="34" charset="-120"/>
              </a:rPr>
              <a:t>Sep</a:t>
            </a:r>
          </a:p>
        </p:txBody>
      </p:sp>
      <p:sp>
        <p:nvSpPr>
          <p:cNvPr id="330" name="Text 330"/>
          <p:cNvSpPr txBox="1"/>
          <p:nvPr/>
        </p:nvSpPr>
        <p:spPr>
          <a:xfrm>
            <a:off x="5113000" y="2060000"/>
            <a:ext cx="522183"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28</a:t>
            </a:r>
          </a:p>
        </p:txBody>
      </p:sp>
      <p:sp>
        <p:nvSpPr>
          <p:cNvPr id="331" name="Text 331"/>
          <p:cNvSpPr txBox="1"/>
          <p:nvPr/>
        </p:nvSpPr>
        <p:spPr>
          <a:xfrm>
            <a:off x="5635183" y="1760000"/>
            <a:ext cx="700000" cy="220000"/>
          </a:xfrm>
          <a:prstGeom prst="rect">
            <a:avLst/>
          </a:prstGeom>
          <a:noFill/>
        </p:spPr>
        <p:txBody>
          <a:bodyPr wrap="square" lIns="0" tIns="0" rIns="0" bIns="0" rtlCol="0" anchor="t">
            <a:noAutofit/>
          </a:bodyPr>
          <a:lstStyle/>
          <a:p>
            <a:pPr algn="l" marL="0" indent="0">
              <a:lnSpc>
                <a:spcPct val="120000"/>
              </a:lnSpc>
              <a:buNone/>
            </a:pPr>
            <a:r>
              <a:rPr lang="en-US" sz="1200" b="1" dirty="0">
                <a:solidFill>
                  <a:srgbClr val="14213D"/>
                </a:solidFill>
                <a:latin typeface="Calibri" pitchFamily="34" charset="0"/>
                <a:ea typeface="Calibri" pitchFamily="34" charset="-122"/>
                <a:cs typeface="Calibri" pitchFamily="34" charset="-120"/>
              </a:rPr>
              <a:t>Oct</a:t>
            </a:r>
          </a:p>
        </p:txBody>
      </p:sp>
      <p:sp>
        <p:nvSpPr>
          <p:cNvPr id="332" name="Text 332"/>
          <p:cNvSpPr txBox="1"/>
          <p:nvPr/>
        </p:nvSpPr>
        <p:spPr>
          <a:xfrm>
            <a:off x="5635183" y="2060000"/>
            <a:ext cx="522183"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5</a:t>
            </a:r>
          </a:p>
        </p:txBody>
      </p:sp>
      <p:sp>
        <p:nvSpPr>
          <p:cNvPr id="333" name="Text 333"/>
          <p:cNvSpPr txBox="1"/>
          <p:nvPr/>
        </p:nvSpPr>
        <p:spPr>
          <a:xfrm>
            <a:off x="6157366" y="2060000"/>
            <a:ext cx="522183"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12</a:t>
            </a:r>
          </a:p>
        </p:txBody>
      </p:sp>
      <p:sp>
        <p:nvSpPr>
          <p:cNvPr id="334" name="Text 334"/>
          <p:cNvSpPr txBox="1"/>
          <p:nvPr/>
        </p:nvSpPr>
        <p:spPr>
          <a:xfrm>
            <a:off x="6679550" y="2060000"/>
            <a:ext cx="522183"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19</a:t>
            </a:r>
          </a:p>
        </p:txBody>
      </p:sp>
      <p:sp>
        <p:nvSpPr>
          <p:cNvPr id="335" name="Text 335"/>
          <p:cNvSpPr txBox="1"/>
          <p:nvPr/>
        </p:nvSpPr>
        <p:spPr>
          <a:xfrm>
            <a:off x="7201733" y="2060000"/>
            <a:ext cx="522183"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26</a:t>
            </a:r>
          </a:p>
        </p:txBody>
      </p:sp>
      <p:sp>
        <p:nvSpPr>
          <p:cNvPr id="336" name="Text 336"/>
          <p:cNvSpPr txBox="1"/>
          <p:nvPr/>
        </p:nvSpPr>
        <p:spPr>
          <a:xfrm>
            <a:off x="7723916" y="1760000"/>
            <a:ext cx="700000" cy="220000"/>
          </a:xfrm>
          <a:prstGeom prst="rect">
            <a:avLst/>
          </a:prstGeom>
          <a:noFill/>
        </p:spPr>
        <p:txBody>
          <a:bodyPr wrap="square" lIns="0" tIns="0" rIns="0" bIns="0" rtlCol="0" anchor="t">
            <a:noAutofit/>
          </a:bodyPr>
          <a:lstStyle/>
          <a:p>
            <a:pPr algn="l" marL="0" indent="0">
              <a:lnSpc>
                <a:spcPct val="120000"/>
              </a:lnSpc>
              <a:buNone/>
            </a:pPr>
            <a:r>
              <a:rPr lang="en-US" sz="1200" b="1" dirty="0">
                <a:solidFill>
                  <a:srgbClr val="14213D"/>
                </a:solidFill>
                <a:latin typeface="Calibri" pitchFamily="34" charset="0"/>
                <a:ea typeface="Calibri" pitchFamily="34" charset="-122"/>
                <a:cs typeface="Calibri" pitchFamily="34" charset="-120"/>
              </a:rPr>
              <a:t>Nov</a:t>
            </a:r>
          </a:p>
        </p:txBody>
      </p:sp>
      <p:sp>
        <p:nvSpPr>
          <p:cNvPr id="337" name="Text 337"/>
          <p:cNvSpPr txBox="1"/>
          <p:nvPr/>
        </p:nvSpPr>
        <p:spPr>
          <a:xfrm>
            <a:off x="7723916" y="2060000"/>
            <a:ext cx="522183"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2</a:t>
            </a:r>
          </a:p>
        </p:txBody>
      </p:sp>
      <p:sp>
        <p:nvSpPr>
          <p:cNvPr id="338" name="Text 338"/>
          <p:cNvSpPr txBox="1"/>
          <p:nvPr/>
        </p:nvSpPr>
        <p:spPr>
          <a:xfrm>
            <a:off x="8246100" y="2060000"/>
            <a:ext cx="522183"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9</a:t>
            </a:r>
          </a:p>
        </p:txBody>
      </p:sp>
      <p:sp>
        <p:nvSpPr>
          <p:cNvPr id="339" name="Text 339"/>
          <p:cNvSpPr txBox="1"/>
          <p:nvPr/>
        </p:nvSpPr>
        <p:spPr>
          <a:xfrm>
            <a:off x="8768283" y="2060000"/>
            <a:ext cx="522183"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16</a:t>
            </a:r>
          </a:p>
        </p:txBody>
      </p:sp>
      <p:sp>
        <p:nvSpPr>
          <p:cNvPr id="340" name="Text 340"/>
          <p:cNvSpPr txBox="1"/>
          <p:nvPr/>
        </p:nvSpPr>
        <p:spPr>
          <a:xfrm>
            <a:off x="9290466" y="2060000"/>
            <a:ext cx="522183"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23</a:t>
            </a:r>
          </a:p>
        </p:txBody>
      </p:sp>
      <p:sp>
        <p:nvSpPr>
          <p:cNvPr id="341" name="Text 341"/>
          <p:cNvSpPr txBox="1"/>
          <p:nvPr/>
        </p:nvSpPr>
        <p:spPr>
          <a:xfrm>
            <a:off x="9812650" y="2060000"/>
            <a:ext cx="522183"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30</a:t>
            </a:r>
          </a:p>
        </p:txBody>
      </p:sp>
      <p:sp>
        <p:nvSpPr>
          <p:cNvPr id="342" name="Text 342"/>
          <p:cNvSpPr txBox="1"/>
          <p:nvPr/>
        </p:nvSpPr>
        <p:spPr>
          <a:xfrm>
            <a:off x="10334833" y="1760000"/>
            <a:ext cx="700000" cy="220000"/>
          </a:xfrm>
          <a:prstGeom prst="rect">
            <a:avLst/>
          </a:prstGeom>
          <a:noFill/>
        </p:spPr>
        <p:txBody>
          <a:bodyPr wrap="square" lIns="0" tIns="0" rIns="0" bIns="0" rtlCol="0" anchor="t">
            <a:noAutofit/>
          </a:bodyPr>
          <a:lstStyle/>
          <a:p>
            <a:pPr algn="l" marL="0" indent="0">
              <a:lnSpc>
                <a:spcPct val="120000"/>
              </a:lnSpc>
              <a:buNone/>
            </a:pPr>
            <a:r>
              <a:rPr lang="en-US" sz="1200" b="1" dirty="0">
                <a:solidFill>
                  <a:srgbClr val="14213D"/>
                </a:solidFill>
                <a:latin typeface="Calibri" pitchFamily="34" charset="0"/>
                <a:ea typeface="Calibri" pitchFamily="34" charset="-122"/>
                <a:cs typeface="Calibri" pitchFamily="34" charset="-120"/>
              </a:rPr>
              <a:t>Dec</a:t>
            </a:r>
          </a:p>
        </p:txBody>
      </p:sp>
      <p:sp>
        <p:nvSpPr>
          <p:cNvPr id="343" name="Text 343"/>
          <p:cNvSpPr txBox="1"/>
          <p:nvPr/>
        </p:nvSpPr>
        <p:spPr>
          <a:xfrm>
            <a:off x="10334833" y="2060000"/>
            <a:ext cx="522183"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7</a:t>
            </a:r>
          </a:p>
        </p:txBody>
      </p:sp>
      <p:sp>
        <p:nvSpPr>
          <p:cNvPr id="344" name="Text 344"/>
          <p:cNvSpPr txBox="1"/>
          <p:nvPr/>
        </p:nvSpPr>
        <p:spPr>
          <a:xfrm>
            <a:off x="10857016" y="2060000"/>
            <a:ext cx="522183"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14</a:t>
            </a:r>
          </a:p>
        </p:txBody>
      </p:sp>
      <p:sp>
        <p:nvSpPr>
          <p:cNvPr id="345" name="Text 345"/>
          <p:cNvSpPr txBox="1"/>
          <p:nvPr/>
        </p:nvSpPr>
        <p:spPr>
          <a:xfrm>
            <a:off x="812800" y="2360000"/>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2c · Planning and Egypt work</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Work plan, goals and Egypt country work</a:t>
            </a:r>
          </a:p>
        </p:txBody>
      </p:sp>
      <p:sp>
        <p:nvSpPr>
          <p:cNvPr id="346" name="Bar 346"/>
          <p:cNvSpPr/>
          <p:nvPr/>
        </p:nvSpPr>
        <p:spPr>
          <a:xfrm>
            <a:off x="5139000" y="2455000"/>
            <a:ext cx="470183" cy="170000"/>
          </a:xfrm>
          <a:prstGeom prst="roundRect">
            <a:avLst>
              <a:gd name="adj" fmla="val 30000"/>
            </a:avLst>
          </a:prstGeom>
          <a:solidFill>
            <a:srgbClr val="14213D"/>
          </a:solidFill>
          <a:ln>
            <a:noFill/>
          </a:ln>
        </p:spPr>
        <p:txBody>
          <a:bodyPr/>
          <a:p/>
        </p:txBody>
      </p:sp>
      <p:sp>
        <p:nvSpPr>
          <p:cNvPr id="347" name="Row line 347"/>
          <p:cNvSpPr/>
          <p:nvPr/>
        </p:nvSpPr>
        <p:spPr>
          <a:xfrm>
            <a:off x="812800" y="2713881"/>
            <a:ext cx="10566400" cy="6350"/>
          </a:xfrm>
          <a:prstGeom prst="rect">
            <a:avLst/>
          </a:prstGeom>
          <a:solidFill>
            <a:srgbClr val="E3E1DA"/>
          </a:solidFill>
          <a:ln>
            <a:noFill/>
          </a:ln>
        </p:spPr>
        <p:txBody>
          <a:bodyPr/>
          <a:p/>
        </p:txBody>
      </p:sp>
      <p:sp>
        <p:nvSpPr>
          <p:cNvPr id="348" name="Text 348"/>
          <p:cNvSpPr txBox="1"/>
          <p:nvPr/>
        </p:nvSpPr>
        <p:spPr>
          <a:xfrm>
            <a:off x="812800" y="2743881"/>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1a · Excel-AI-CPAT MVP: basic mitigation</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Prices and energy use equations</a:t>
            </a:r>
          </a:p>
        </p:txBody>
      </p:sp>
      <p:sp>
        <p:nvSpPr>
          <p:cNvPr id="349" name="Bar 349"/>
          <p:cNvSpPr/>
          <p:nvPr/>
        </p:nvSpPr>
        <p:spPr>
          <a:xfrm>
            <a:off x="5661183" y="2838881"/>
            <a:ext cx="470183" cy="170000"/>
          </a:xfrm>
          <a:prstGeom prst="roundRect">
            <a:avLst>
              <a:gd name="adj" fmla="val 30000"/>
            </a:avLst>
          </a:prstGeom>
          <a:solidFill>
            <a:srgbClr val="A8521A"/>
          </a:solidFill>
          <a:ln>
            <a:noFill/>
          </a:ln>
        </p:spPr>
        <p:txBody>
          <a:bodyPr/>
          <a:p/>
        </p:txBody>
      </p:sp>
      <p:cxnSp>
        <p:nvCxnSpPr>
          <p:cNvPr id="383" name="MVP slip line"/>
          <p:cNvCxnSpPr/>
          <p:nvPr/>
        </p:nvCxnSpPr>
        <p:spPr>
          <a:xfrm>
            <a:off x="6131052" y="2923793"/>
            <a:ext cx="873252" cy="0"/>
          </a:xfrm>
          <a:prstGeom prst="line">
            <a:avLst/>
          </a:prstGeom>
          <a:ln w="15875">
            <a:solidFill>
              <a:srgbClr val="A8521A"/>
            </a:solidFill>
            <a:prstDash val="dash"/>
          </a:ln>
        </p:spPr>
        <p:style>
          <a:lnRef idx="2">
            <a:schemeClr val="accent1"/>
          </a:lnRef>
          <a:fillRef idx="0">
            <a:schemeClr val="accent1"/>
          </a:fillRef>
          <a:effectRef idx="1">
            <a:schemeClr val="accent1"/>
          </a:effectRef>
          <a:fontRef idx="minor">
            <a:schemeClr val="tx1"/>
          </a:fontRef>
        </p:style>
      </p:cxnSp>
      <p:sp>
        <p:nvSpPr>
          <p:cNvPr id="350" name="Milestone 350"/>
          <p:cNvSpPr/>
          <p:nvPr/>
        </p:nvSpPr>
        <p:spPr>
          <a:xfrm>
            <a:off x="7002475" y="2828881"/>
            <a:ext cx="190000" cy="190000"/>
          </a:xfrm>
          <a:prstGeom prst="diamond">
            <a:avLst/>
          </a:prstGeom>
          <a:solidFill>
            <a:srgbClr val="E8B04A"/>
          </a:solidFill>
          <a:ln w="9525">
            <a:solidFill>
              <a:srgbClr val="FFFFFF"/>
            </a:solidFill>
          </a:ln>
        </p:spPr>
        <p:txBody>
          <a:bodyPr/>
          <a:p/>
        </p:txBody>
      </p:sp>
      <p:sp>
        <p:nvSpPr>
          <p:cNvPr id="351" name="Row line 351"/>
          <p:cNvSpPr/>
          <p:nvPr/>
        </p:nvSpPr>
        <p:spPr>
          <a:xfrm>
            <a:off x="812800" y="3097762"/>
            <a:ext cx="10566400" cy="6350"/>
          </a:xfrm>
          <a:prstGeom prst="rect">
            <a:avLst/>
          </a:prstGeom>
          <a:solidFill>
            <a:srgbClr val="E3E1DA"/>
          </a:solidFill>
          <a:ln>
            <a:noFill/>
          </a:ln>
        </p:spPr>
        <p:txBody>
          <a:bodyPr/>
          <a:p/>
        </p:txBody>
      </p:sp>
      <p:sp>
        <p:nvSpPr>
          <p:cNvPr id="352" name="Text 352"/>
          <p:cNvSpPr txBox="1"/>
          <p:nvPr/>
        </p:nvSpPr>
        <p:spPr>
          <a:xfrm>
            <a:off x="812800" y="3127762"/>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3a · Excise Diagnostic: handover pack</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Code, data, audit trail, working paper; user guide and scripts</a:t>
            </a:r>
          </a:p>
        </p:txBody>
      </p:sp>
      <p:sp>
        <p:nvSpPr>
          <p:cNvPr id="353" name="Bar 353"/>
          <p:cNvSpPr/>
          <p:nvPr/>
        </p:nvSpPr>
        <p:spPr>
          <a:xfrm>
            <a:off x="6183366" y="3222762"/>
            <a:ext cx="470183" cy="170000"/>
          </a:xfrm>
          <a:prstGeom prst="roundRect">
            <a:avLst>
              <a:gd name="adj" fmla="val 30000"/>
            </a:avLst>
          </a:prstGeom>
          <a:solidFill>
            <a:srgbClr val="3D7A73"/>
          </a:solidFill>
          <a:ln>
            <a:noFill/>
          </a:ln>
        </p:spPr>
        <p:txBody>
          <a:bodyPr/>
          <a:p/>
        </p:txBody>
      </p:sp>
      <p:sp>
        <p:nvSpPr>
          <p:cNvPr id="354" name="Milestone 354"/>
          <p:cNvSpPr/>
          <p:nvPr/>
        </p:nvSpPr>
        <p:spPr>
          <a:xfrm>
            <a:off x="6480113" y="3212762"/>
            <a:ext cx="190000" cy="190000"/>
          </a:xfrm>
          <a:prstGeom prst="diamond">
            <a:avLst/>
          </a:prstGeom>
          <a:solidFill>
            <a:srgbClr val="E8B04A"/>
          </a:solidFill>
          <a:ln w="9525">
            <a:solidFill>
              <a:srgbClr val="FFFFFF"/>
            </a:solidFill>
          </a:ln>
        </p:spPr>
        <p:txBody>
          <a:bodyPr/>
          <a:p/>
        </p:txBody>
      </p:sp>
      <p:sp>
        <p:nvSpPr>
          <p:cNvPr id="355" name="Row line 355"/>
          <p:cNvSpPr/>
          <p:nvPr/>
        </p:nvSpPr>
        <p:spPr>
          <a:xfrm>
            <a:off x="812800" y="3481643"/>
            <a:ext cx="10566400" cy="6350"/>
          </a:xfrm>
          <a:prstGeom prst="rect">
            <a:avLst/>
          </a:prstGeom>
          <a:solidFill>
            <a:srgbClr val="E3E1DA"/>
          </a:solidFill>
          <a:ln>
            <a:noFill/>
          </a:ln>
        </p:spPr>
        <p:txBody>
          <a:bodyPr/>
          <a:p/>
        </p:txBody>
      </p:sp>
      <p:sp>
        <p:nvSpPr>
          <p:cNvPr id="356" name="Text 356"/>
          <p:cNvSpPr txBox="1"/>
          <p:nvPr/>
        </p:nvSpPr>
        <p:spPr>
          <a:xfrm>
            <a:off x="812800" y="3511643"/>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3b · Dashboard: handover pack</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Code, data, audit trail; user guide and scripts</a:t>
            </a:r>
          </a:p>
        </p:txBody>
      </p:sp>
      <p:sp>
        <p:nvSpPr>
          <p:cNvPr id="357" name="Bar 357"/>
          <p:cNvSpPr/>
          <p:nvPr/>
        </p:nvSpPr>
        <p:spPr>
          <a:xfrm>
            <a:off x="6705550" y="3606643"/>
            <a:ext cx="470183" cy="170000"/>
          </a:xfrm>
          <a:prstGeom prst="roundRect">
            <a:avLst>
              <a:gd name="adj" fmla="val 30000"/>
            </a:avLst>
          </a:prstGeom>
          <a:solidFill>
            <a:srgbClr val="3D7A73"/>
          </a:solidFill>
          <a:ln>
            <a:noFill/>
          </a:ln>
        </p:spPr>
        <p:txBody>
          <a:bodyPr/>
          <a:p/>
        </p:txBody>
      </p:sp>
      <p:sp>
        <p:nvSpPr>
          <p:cNvPr id="358" name="Milestone 358"/>
          <p:cNvSpPr/>
          <p:nvPr/>
        </p:nvSpPr>
        <p:spPr>
          <a:xfrm>
            <a:off x="7002296" y="3596643"/>
            <a:ext cx="190000" cy="190000"/>
          </a:xfrm>
          <a:prstGeom prst="diamond">
            <a:avLst/>
          </a:prstGeom>
          <a:solidFill>
            <a:srgbClr val="E8B04A"/>
          </a:solidFill>
          <a:ln w="9525">
            <a:solidFill>
              <a:srgbClr val="FFFFFF"/>
            </a:solidFill>
          </a:ln>
        </p:spPr>
        <p:txBody>
          <a:bodyPr/>
          <a:p/>
        </p:txBody>
      </p:sp>
      <p:sp>
        <p:nvSpPr>
          <p:cNvPr id="359" name="Row line 359"/>
          <p:cNvSpPr/>
          <p:nvPr/>
        </p:nvSpPr>
        <p:spPr>
          <a:xfrm>
            <a:off x="812800" y="3865524"/>
            <a:ext cx="10566400" cy="6350"/>
          </a:xfrm>
          <a:prstGeom prst="rect">
            <a:avLst/>
          </a:prstGeom>
          <a:solidFill>
            <a:srgbClr val="E3E1DA"/>
          </a:solidFill>
          <a:ln>
            <a:noFill/>
          </a:ln>
        </p:spPr>
        <p:txBody>
          <a:bodyPr/>
          <a:p/>
        </p:txBody>
      </p:sp>
      <p:sp>
        <p:nvSpPr>
          <p:cNvPr id="360" name="Text 360"/>
          <p:cNvSpPr txBox="1"/>
          <p:nvPr/>
        </p:nvSpPr>
        <p:spPr>
          <a:xfrm>
            <a:off x="812800" y="3895524"/>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1a/1b · Power</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Built in Excel-AI-CPAT and Python together (60% 1a, 40% 1b)</a:t>
            </a:r>
          </a:p>
        </p:txBody>
      </p:sp>
      <p:sp>
        <p:nvSpPr>
          <p:cNvPr id="361" name="Bar 361"/>
          <p:cNvSpPr/>
          <p:nvPr/>
        </p:nvSpPr>
        <p:spPr>
          <a:xfrm>
            <a:off x="7749916" y="3990524"/>
            <a:ext cx="992366" cy="170000"/>
          </a:xfrm>
          <a:prstGeom prst="roundRect">
            <a:avLst>
              <a:gd name="adj" fmla="val 30000"/>
            </a:avLst>
          </a:prstGeom>
          <a:solidFill>
            <a:srgbClr val="A8521A"/>
          </a:solidFill>
          <a:ln>
            <a:noFill/>
          </a:ln>
        </p:spPr>
        <p:txBody>
          <a:bodyPr/>
          <a:p/>
        </p:txBody>
      </p:sp>
      <p:sp>
        <p:nvSpPr>
          <p:cNvPr id="362" name="Row line 362"/>
          <p:cNvSpPr/>
          <p:nvPr/>
        </p:nvSpPr>
        <p:spPr>
          <a:xfrm>
            <a:off x="812800" y="4249406"/>
            <a:ext cx="10566400" cy="6350"/>
          </a:xfrm>
          <a:prstGeom prst="rect">
            <a:avLst/>
          </a:prstGeom>
          <a:solidFill>
            <a:srgbClr val="E3E1DA"/>
          </a:solidFill>
          <a:ln>
            <a:noFill/>
          </a:ln>
        </p:spPr>
        <p:txBody>
          <a:bodyPr/>
          <a:p/>
        </p:txBody>
      </p:sp>
      <p:sp>
        <p:nvSpPr>
          <p:cNvPr id="363" name="Text 363"/>
          <p:cNvSpPr txBox="1"/>
          <p:nvPr/>
        </p:nvSpPr>
        <p:spPr>
          <a:xfrm>
            <a:off x="812800" y="4279406"/>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1a/1b · Remaining mitigation</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The rest of the mitigation module, in both forms</a:t>
            </a:r>
          </a:p>
        </p:txBody>
      </p:sp>
      <p:sp>
        <p:nvSpPr>
          <p:cNvPr id="364" name="Bar 364"/>
          <p:cNvSpPr/>
          <p:nvPr/>
        </p:nvSpPr>
        <p:spPr>
          <a:xfrm>
            <a:off x="8794283" y="4374406"/>
            <a:ext cx="992366" cy="170000"/>
          </a:xfrm>
          <a:prstGeom prst="roundRect">
            <a:avLst>
              <a:gd name="adj" fmla="val 30000"/>
            </a:avLst>
          </a:prstGeom>
          <a:solidFill>
            <a:srgbClr val="A8521A"/>
          </a:solidFill>
          <a:ln>
            <a:noFill/>
          </a:ln>
        </p:spPr>
        <p:txBody>
          <a:bodyPr/>
          <a:p/>
        </p:txBody>
      </p:sp>
      <p:sp>
        <p:nvSpPr>
          <p:cNvPr id="365" name="Row line 365"/>
          <p:cNvSpPr/>
          <p:nvPr/>
        </p:nvSpPr>
        <p:spPr>
          <a:xfrm>
            <a:off x="812800" y="4633287"/>
            <a:ext cx="10566400" cy="6350"/>
          </a:xfrm>
          <a:prstGeom prst="rect">
            <a:avLst/>
          </a:prstGeom>
          <a:solidFill>
            <a:srgbClr val="E3E1DA"/>
          </a:solidFill>
          <a:ln>
            <a:noFill/>
          </a:ln>
        </p:spPr>
        <p:txBody>
          <a:bodyPr/>
          <a:p/>
        </p:txBody>
      </p:sp>
      <p:sp>
        <p:nvSpPr>
          <p:cNvPr id="366" name="Text 366"/>
          <p:cNvSpPr txBox="1"/>
          <p:nvPr/>
        </p:nvSpPr>
        <p:spPr>
          <a:xfrm>
            <a:off x="812800" y="4663287"/>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1a/1b · Distribution</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Already 80% complete; final Excel-AI-CPAT delivered 4 Dec</a:t>
            </a:r>
          </a:p>
        </p:txBody>
      </p:sp>
      <p:sp>
        <p:nvSpPr>
          <p:cNvPr id="367" name="Bar 367"/>
          <p:cNvSpPr/>
          <p:nvPr/>
        </p:nvSpPr>
        <p:spPr>
          <a:xfrm>
            <a:off x="9838650" y="4758287"/>
            <a:ext cx="470183" cy="170000"/>
          </a:xfrm>
          <a:prstGeom prst="roundRect">
            <a:avLst>
              <a:gd name="adj" fmla="val 30000"/>
            </a:avLst>
          </a:prstGeom>
          <a:solidFill>
            <a:srgbClr val="A8521A"/>
          </a:solidFill>
          <a:ln>
            <a:noFill/>
          </a:ln>
        </p:spPr>
        <p:txBody>
          <a:bodyPr/>
          <a:p/>
        </p:txBody>
      </p:sp>
      <p:sp>
        <p:nvSpPr>
          <p:cNvPr id="368" name="Milestone 368"/>
          <p:cNvSpPr/>
          <p:nvPr/>
        </p:nvSpPr>
        <p:spPr>
          <a:xfrm>
            <a:off x="10135396" y="4748287"/>
            <a:ext cx="190000" cy="190000"/>
          </a:xfrm>
          <a:prstGeom prst="diamond">
            <a:avLst/>
          </a:prstGeom>
          <a:solidFill>
            <a:srgbClr val="E8B04A"/>
          </a:solidFill>
          <a:ln w="9525">
            <a:solidFill>
              <a:srgbClr val="FFFFFF"/>
            </a:solidFill>
          </a:ln>
        </p:spPr>
        <p:txBody>
          <a:bodyPr/>
          <a:p/>
        </p:txBody>
      </p:sp>
      <p:sp>
        <p:nvSpPr>
          <p:cNvPr id="369" name="Row line 369"/>
          <p:cNvSpPr/>
          <p:nvPr/>
        </p:nvSpPr>
        <p:spPr>
          <a:xfrm>
            <a:off x="812800" y="5017168"/>
            <a:ext cx="10566400" cy="6350"/>
          </a:xfrm>
          <a:prstGeom prst="rect">
            <a:avLst/>
          </a:prstGeom>
          <a:solidFill>
            <a:srgbClr val="E3E1DA"/>
          </a:solidFill>
          <a:ln>
            <a:noFill/>
          </a:ln>
        </p:spPr>
        <p:txBody>
          <a:bodyPr/>
          <a:p/>
        </p:txBody>
      </p:sp>
      <p:sp>
        <p:nvSpPr>
          <p:cNvPr id="370" name="Text 370"/>
          <p:cNvSpPr txBox="1"/>
          <p:nvPr/>
        </p:nvSpPr>
        <p:spPr>
          <a:xfrm>
            <a:off x="812800" y="5047168"/>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1b · Python code: testing and documentation</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Final Coded-Conversion delivered 11 Dec</a:t>
            </a:r>
          </a:p>
        </p:txBody>
      </p:sp>
      <p:sp>
        <p:nvSpPr>
          <p:cNvPr id="371" name="Bar 371"/>
          <p:cNvSpPr/>
          <p:nvPr/>
        </p:nvSpPr>
        <p:spPr>
          <a:xfrm>
            <a:off x="10360833" y="5142168"/>
            <a:ext cx="470183" cy="170000"/>
          </a:xfrm>
          <a:prstGeom prst="roundRect">
            <a:avLst>
              <a:gd name="adj" fmla="val 30000"/>
            </a:avLst>
          </a:prstGeom>
          <a:solidFill>
            <a:srgbClr val="A8521A"/>
          </a:solidFill>
          <a:ln>
            <a:noFill/>
          </a:ln>
        </p:spPr>
        <p:txBody>
          <a:bodyPr/>
          <a:p/>
        </p:txBody>
      </p:sp>
      <p:sp>
        <p:nvSpPr>
          <p:cNvPr id="372" name="Milestone 372"/>
          <p:cNvSpPr/>
          <p:nvPr/>
        </p:nvSpPr>
        <p:spPr>
          <a:xfrm>
            <a:off x="10657579" y="5132168"/>
            <a:ext cx="190000" cy="190000"/>
          </a:xfrm>
          <a:prstGeom prst="diamond">
            <a:avLst/>
          </a:prstGeom>
          <a:solidFill>
            <a:srgbClr val="E8B04A"/>
          </a:solidFill>
          <a:ln w="9525">
            <a:solidFill>
              <a:srgbClr val="FFFFFF"/>
            </a:solidFill>
          </a:ln>
        </p:spPr>
        <p:txBody>
          <a:bodyPr/>
          <a:p/>
        </p:txBody>
      </p:sp>
      <p:sp>
        <p:nvSpPr>
          <p:cNvPr id="384" name="Row line FTT"/>
          <p:cNvSpPr/>
          <p:nvPr/>
        </p:nvSpPr>
        <p:spPr>
          <a:xfrm>
            <a:off x="812800" y="5402275"/>
            <a:ext cx="10566400" cy="6350"/>
          </a:xfrm>
          <a:prstGeom prst="rect">
            <a:avLst/>
          </a:prstGeom>
          <a:solidFill>
            <a:srgbClr val="E3E1DA"/>
          </a:solidFill>
          <a:ln>
            <a:noFill/>
          </a:ln>
        </p:spPr>
        <p:txBody>
          <a:bodyPr/>
          <a:p/>
        </p:txBody>
      </p:sp>
      <p:sp>
        <p:nvSpPr>
          <p:cNvPr id="385" name="Text FTT"/>
          <p:cNvSpPr txBox="1"/>
          <p:nvPr/>
        </p:nvSpPr>
        <p:spPr>
          <a:xfrm>
            <a:off x="812800" y="5432450"/>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2b · FTT project (Zoe): completion</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Zoe’s FTT work ends 27 Nov; no further Zoe work in 2027</a:t>
            </a:r>
          </a:p>
        </p:txBody>
      </p:sp>
      <p:sp>
        <p:nvSpPr>
          <p:cNvPr id="386" name="Milestone FTT"/>
          <p:cNvSpPr/>
          <p:nvPr/>
        </p:nvSpPr>
        <p:spPr>
          <a:xfrm>
            <a:off x="9613087" y="5517489"/>
            <a:ext cx="190000" cy="190000"/>
          </a:xfrm>
          <a:prstGeom prst="diamond">
            <a:avLst/>
          </a:prstGeom>
          <a:solidFill>
            <a:srgbClr val="E8B04A"/>
          </a:solidFill>
          <a:ln w="9525">
            <a:solidFill>
              <a:srgbClr val="FFFFFF"/>
            </a:solidFill>
          </a:ln>
        </p:spPr>
        <p:txBody>
          <a:bodyPr/>
          <a:p/>
        </p:txBody>
      </p:sp>
      <p:sp>
        <p:nvSpPr>
          <p:cNvPr id="74" name="Text 72"/>
          <p:cNvSpPr txBox="1"/>
          <p:nvPr/>
        </p:nvSpPr>
        <p:spPr>
          <a:xfrm>
            <a:off x="812800" y="632000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Week-of dates, 28 September to 14 December · Buffer (15–22 Dec) and Christmas leave (23 Dec–1 Jan) fall before the January timeline resumes · Source: FY27 master plan (Excel) · Use of AI in climate fiscal tools · 26</a:t>
            </a:r>
            <a:endParaRPr lang="en-US" sz="1200" dirty="0"/>
          </a:p>
        </p:txBody>
      </p:sp>
      <p:sp>
        <p:nvSpPr>
          <p:cNvPr id="373" name="Legend Objective One (1a–1c)"/>
          <p:cNvSpPr/>
          <p:nvPr/>
        </p:nvSpPr>
        <p:spPr>
          <a:xfrm>
            <a:off x="812901" y="5924397"/>
            <a:ext cx="230000" cy="150000"/>
          </a:xfrm>
          <a:prstGeom prst="rect">
            <a:avLst/>
          </a:prstGeom>
          <a:solidFill>
            <a:srgbClr val="A8521A"/>
          </a:solidFill>
          <a:ln>
            <a:noFill/>
          </a:ln>
        </p:spPr>
        <p:txBody>
          <a:bodyPr/>
          <a:p/>
        </p:txBody>
      </p:sp>
      <p:sp>
        <p:nvSpPr>
          <p:cNvPr id="374" name="Text 374"/>
          <p:cNvSpPr txBox="1"/>
          <p:nvPr/>
        </p:nvSpPr>
        <p:spPr>
          <a:xfrm>
            <a:off x="1114653" y="5904280"/>
            <a:ext cx="1600200" cy="200000"/>
          </a:xfrm>
          <a:prstGeom prst="rect">
            <a:avLst/>
          </a:prstGeom>
          <a:noFill/>
        </p:spPr>
        <p:txBody>
          <a:bodyPr wrap="square" lIns="0" tIns="0" rIns="0" bIns="0" rtlCol="0" anchor="t">
            <a:noAutofit/>
          </a:bodyPr>
          <a:lstStyle/>
          <a:p>
            <a:pPr algn="l" marL="0" indent="0">
              <a:lnSpc>
                <a:spcPct val="120000"/>
              </a:lnSpc>
              <a:buNone/>
            </a:pPr>
            <a:r>
              <a:rPr lang="en-US" sz="1100" dirty="0">
                <a:solidFill>
                  <a:srgbClr val="5B6573"/>
                </a:solidFill>
                <a:latin typeface="Calibri" pitchFamily="34" charset="0"/>
                <a:ea typeface="Calibri" pitchFamily="34" charset="-122"/>
                <a:cs typeface="Calibri" pitchFamily="34" charset="-120"/>
              </a:rPr>
              <a:t>Objective One (1a–1c)</a:t>
            </a:r>
          </a:p>
        </p:txBody>
      </p:sp>
      <p:sp>
        <p:nvSpPr>
          <p:cNvPr id="375" name="Legend Objective Two (2a–2c)"/>
          <p:cNvSpPr/>
          <p:nvPr/>
        </p:nvSpPr>
        <p:spPr>
          <a:xfrm>
            <a:off x="2697480" y="5924397"/>
            <a:ext cx="230000" cy="150000"/>
          </a:xfrm>
          <a:prstGeom prst="rect">
            <a:avLst/>
          </a:prstGeom>
          <a:solidFill>
            <a:srgbClr val="14213D"/>
          </a:solidFill>
          <a:ln>
            <a:noFill/>
          </a:ln>
        </p:spPr>
        <p:txBody>
          <a:bodyPr/>
          <a:p/>
        </p:txBody>
      </p:sp>
      <p:sp>
        <p:nvSpPr>
          <p:cNvPr id="376" name="Text 374"/>
          <p:cNvSpPr txBox="1"/>
          <p:nvPr/>
        </p:nvSpPr>
        <p:spPr>
          <a:xfrm>
            <a:off x="2999232" y="5904280"/>
            <a:ext cx="1600200" cy="200000"/>
          </a:xfrm>
          <a:prstGeom prst="rect">
            <a:avLst/>
          </a:prstGeom>
          <a:noFill/>
        </p:spPr>
        <p:txBody>
          <a:bodyPr wrap="square" lIns="0" tIns="0" rIns="0" bIns="0" rtlCol="0" anchor="t">
            <a:noAutofit/>
          </a:bodyPr>
          <a:lstStyle/>
          <a:p>
            <a:pPr algn="l" marL="0" indent="0">
              <a:lnSpc>
                <a:spcPct val="120000"/>
              </a:lnSpc>
              <a:buNone/>
            </a:pPr>
            <a:r>
              <a:rPr lang="en-US" sz="1100" dirty="0">
                <a:solidFill>
                  <a:srgbClr val="5B6573"/>
                </a:solidFill>
                <a:latin typeface="Calibri" pitchFamily="34" charset="0"/>
                <a:ea typeface="Calibri" pitchFamily="34" charset="-122"/>
                <a:cs typeface="Calibri" pitchFamily="34" charset="-120"/>
              </a:rPr>
              <a:t>Objective Two (2a–2c)</a:t>
            </a:r>
          </a:p>
        </p:txBody>
      </p:sp>
      <p:sp>
        <p:nvSpPr>
          <p:cNvPr id="377" name="Legend Objective Three (3a, 3b)"/>
          <p:cNvSpPr/>
          <p:nvPr/>
        </p:nvSpPr>
        <p:spPr>
          <a:xfrm>
            <a:off x="4581144" y="5924397"/>
            <a:ext cx="230000" cy="150000"/>
          </a:xfrm>
          <a:prstGeom prst="rect">
            <a:avLst/>
          </a:prstGeom>
          <a:solidFill>
            <a:srgbClr val="3D7A73"/>
          </a:solidFill>
          <a:ln>
            <a:noFill/>
          </a:ln>
        </p:spPr>
        <p:txBody>
          <a:bodyPr/>
          <a:p/>
        </p:txBody>
      </p:sp>
      <p:sp>
        <p:nvSpPr>
          <p:cNvPr id="378" name="Text 374"/>
          <p:cNvSpPr txBox="1"/>
          <p:nvPr/>
        </p:nvSpPr>
        <p:spPr>
          <a:xfrm>
            <a:off x="4882896" y="5904280"/>
            <a:ext cx="1737360" cy="200000"/>
          </a:xfrm>
          <a:prstGeom prst="rect">
            <a:avLst/>
          </a:prstGeom>
          <a:noFill/>
        </p:spPr>
        <p:txBody>
          <a:bodyPr wrap="square" lIns="0" tIns="0" rIns="0" bIns="0" rtlCol="0" anchor="t">
            <a:noAutofit/>
          </a:bodyPr>
          <a:lstStyle/>
          <a:p>
            <a:pPr algn="l" marL="0" indent="0">
              <a:lnSpc>
                <a:spcPct val="120000"/>
              </a:lnSpc>
              <a:buNone/>
            </a:pPr>
            <a:r>
              <a:rPr lang="en-US" sz="1100" dirty="0">
                <a:solidFill>
                  <a:srgbClr val="5B6573"/>
                </a:solidFill>
                <a:latin typeface="Calibri" pitchFamily="34" charset="0"/>
                <a:ea typeface="Calibri" pitchFamily="34" charset="-122"/>
                <a:cs typeface="Calibri" pitchFamily="34" charset="-120"/>
              </a:rPr>
              <a:t>Objective Three (3a, 3b)</a:t>
            </a:r>
          </a:p>
        </p:txBody>
      </p:sp>
      <p:sp>
        <p:nvSpPr>
          <p:cNvPr id="379" name="Legend Leave"/>
          <p:cNvSpPr/>
          <p:nvPr/>
        </p:nvSpPr>
        <p:spPr>
          <a:xfrm>
            <a:off x="6629400" y="5924397"/>
            <a:ext cx="230000" cy="150000"/>
          </a:xfrm>
          <a:prstGeom prst="rect">
            <a:avLst/>
          </a:prstGeom>
          <a:solidFill>
            <a:srgbClr val="D3DAE4"/>
          </a:solidFill>
          <a:ln>
            <a:noFill/>
          </a:ln>
        </p:spPr>
        <p:txBody>
          <a:bodyPr/>
          <a:p/>
        </p:txBody>
      </p:sp>
      <p:sp>
        <p:nvSpPr>
          <p:cNvPr id="380" name="Text 374"/>
          <p:cNvSpPr txBox="1"/>
          <p:nvPr/>
        </p:nvSpPr>
        <p:spPr>
          <a:xfrm>
            <a:off x="6931152" y="5904280"/>
            <a:ext cx="640080" cy="200000"/>
          </a:xfrm>
          <a:prstGeom prst="rect">
            <a:avLst/>
          </a:prstGeom>
          <a:noFill/>
        </p:spPr>
        <p:txBody>
          <a:bodyPr wrap="square" lIns="0" tIns="0" rIns="0" bIns="0" rtlCol="0" anchor="t">
            <a:noAutofit/>
          </a:bodyPr>
          <a:lstStyle/>
          <a:p>
            <a:pPr algn="l" marL="0" indent="0">
              <a:lnSpc>
                <a:spcPct val="120000"/>
              </a:lnSpc>
              <a:buNone/>
            </a:pPr>
            <a:r>
              <a:rPr lang="en-US" sz="1100" dirty="0">
                <a:solidFill>
                  <a:srgbClr val="5B6573"/>
                </a:solidFill>
                <a:latin typeface="Calibri" pitchFamily="34" charset="0"/>
                <a:ea typeface="Calibri" pitchFamily="34" charset="-122"/>
                <a:cs typeface="Calibri" pitchFamily="34" charset="-120"/>
              </a:rPr>
              <a:t>Leave</a:t>
            </a:r>
          </a:p>
        </p:txBody>
      </p:sp>
      <p:sp>
        <p:nvSpPr>
          <p:cNvPr id="381" name="Legend milestone"/>
          <p:cNvSpPr/>
          <p:nvPr/>
        </p:nvSpPr>
        <p:spPr>
          <a:xfrm>
            <a:off x="7589520" y="5908852"/>
            <a:ext cx="180000" cy="180000"/>
          </a:xfrm>
          <a:prstGeom prst="diamond">
            <a:avLst/>
          </a:prstGeom>
          <a:solidFill>
            <a:srgbClr val="E8B04A"/>
          </a:solidFill>
          <a:ln w="9525">
            <a:solidFill>
              <a:srgbClr val="FFFFFF"/>
            </a:solidFill>
          </a:ln>
        </p:spPr>
        <p:txBody>
          <a:bodyPr/>
          <a:p/>
        </p:txBody>
      </p:sp>
      <p:sp>
        <p:nvSpPr>
          <p:cNvPr id="382" name="Text 374"/>
          <p:cNvSpPr txBox="1"/>
          <p:nvPr/>
        </p:nvSpPr>
        <p:spPr>
          <a:xfrm>
            <a:off x="7850124" y="5904280"/>
            <a:ext cx="3525011" cy="200000"/>
          </a:xfrm>
          <a:prstGeom prst="rect">
            <a:avLst/>
          </a:prstGeom>
          <a:noFill/>
        </p:spPr>
        <p:txBody>
          <a:bodyPr wrap="square" lIns="0" tIns="0" rIns="0" bIns="0" rtlCol="0" anchor="t">
            <a:noAutofit/>
          </a:bodyPr>
          <a:lstStyle/>
          <a:p>
            <a:pPr algn="l" marL="0" indent="0">
              <a:lnSpc>
                <a:spcPct val="120000"/>
              </a:lnSpc>
              <a:buNone/>
            </a:pPr>
            <a:r>
              <a:rPr lang="en-US" sz="1100" dirty="0">
                <a:solidFill>
                  <a:srgbClr val="5B6573"/>
                </a:solidFill>
                <a:latin typeface="Calibri" pitchFamily="34" charset="0"/>
                <a:ea typeface="Calibri" pitchFamily="34" charset="-122"/>
                <a:cs typeface="Calibri" pitchFamily="34" charset="-120"/>
              </a:rPr>
              <a:t>Committed milestone (Friday of the week)</a:t>
            </a:r>
          </a:p>
        </p:txBody>
      </p:sp>
      <p:sp>
        <p:nvSpPr>
          <p:cNvPr id="387" name="TextBox 386"/>
          <p:cNvSpPr txBox="1"/>
          <p:nvPr/>
        </p:nvSpPr>
        <p:spPr>
          <a:xfrm>
            <a:off x="7269480" y="2834640"/>
            <a:ext cx="2194560" cy="201168"/>
          </a:xfrm>
          <a:prstGeom prst="rect">
            <a:avLst/>
          </a:prstGeom>
          <a:noFill/>
        </p:spPr>
        <p:txBody>
          <a:bodyPr wrap="none" lIns="0" rIns="0" tIns="0" bIns="0" anchor="ctr">
            <a:spAutoFit/>
          </a:bodyPr>
          <a:lstStyle/>
          <a:p>
            <a:pPr algn="l"/>
            <a:r>
              <a:rPr sz="1000">
                <a:solidFill>
                  <a:srgbClr val="5B6573"/>
                </a:solidFill>
                <a:latin typeface="Calibri"/>
              </a:rPr>
              <a:t>MVP committed 23 Oct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1">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4 · TIMELINE FROM JANUARY</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From January: pathways first, GHG accounting last</a:t>
            </a:r>
            <a:endParaRPr lang="en-US" sz="3200" dirty="0"/>
          </a:p>
        </p:txBody>
      </p:sp>
      <p:sp>
        <p:nvSpPr>
          <p:cNvPr id="377" name="Text 377"/>
          <p:cNvSpPr txBox="1"/>
          <p:nvPr/>
        </p:nvSpPr>
        <p:spPr>
          <a:xfrm>
            <a:off x="5113000" y="1760000"/>
            <a:ext cx="700000" cy="220000"/>
          </a:xfrm>
          <a:prstGeom prst="rect">
            <a:avLst/>
          </a:prstGeom>
          <a:noFill/>
        </p:spPr>
        <p:txBody>
          <a:bodyPr wrap="square" lIns="0" tIns="0" rIns="0" bIns="0" rtlCol="0" anchor="t">
            <a:noAutofit/>
          </a:bodyPr>
          <a:lstStyle/>
          <a:p>
            <a:pPr algn="l" marL="0" indent="0">
              <a:lnSpc>
                <a:spcPct val="120000"/>
              </a:lnSpc>
              <a:buNone/>
            </a:pPr>
            <a:r>
              <a:rPr lang="en-US" sz="1200" b="1" dirty="0">
                <a:solidFill>
                  <a:srgbClr val="14213D"/>
                </a:solidFill>
                <a:latin typeface="Calibri" pitchFamily="34" charset="0"/>
                <a:ea typeface="Calibri" pitchFamily="34" charset="-122"/>
                <a:cs typeface="Calibri" pitchFamily="34" charset="-120"/>
              </a:rPr>
              <a:t>Jan</a:t>
            </a:r>
          </a:p>
        </p:txBody>
      </p:sp>
      <p:sp>
        <p:nvSpPr>
          <p:cNvPr id="378" name="Text 378"/>
          <p:cNvSpPr txBox="1"/>
          <p:nvPr/>
        </p:nvSpPr>
        <p:spPr>
          <a:xfrm>
            <a:off x="5113000" y="2060000"/>
            <a:ext cx="569654"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4</a:t>
            </a:r>
          </a:p>
        </p:txBody>
      </p:sp>
      <p:sp>
        <p:nvSpPr>
          <p:cNvPr id="379" name="Text 379"/>
          <p:cNvSpPr txBox="1"/>
          <p:nvPr/>
        </p:nvSpPr>
        <p:spPr>
          <a:xfrm>
            <a:off x="5682654" y="2060000"/>
            <a:ext cx="569654"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11</a:t>
            </a:r>
          </a:p>
        </p:txBody>
      </p:sp>
      <p:sp>
        <p:nvSpPr>
          <p:cNvPr id="380" name="Text 380"/>
          <p:cNvSpPr txBox="1"/>
          <p:nvPr/>
        </p:nvSpPr>
        <p:spPr>
          <a:xfrm>
            <a:off x="6252309" y="2060000"/>
            <a:ext cx="569654"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18</a:t>
            </a:r>
          </a:p>
        </p:txBody>
      </p:sp>
      <p:sp>
        <p:nvSpPr>
          <p:cNvPr id="381" name="Text 381"/>
          <p:cNvSpPr txBox="1"/>
          <p:nvPr/>
        </p:nvSpPr>
        <p:spPr>
          <a:xfrm>
            <a:off x="6821963" y="2060000"/>
            <a:ext cx="569654"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25</a:t>
            </a:r>
          </a:p>
        </p:txBody>
      </p:sp>
      <p:sp>
        <p:nvSpPr>
          <p:cNvPr id="382" name="Text 382"/>
          <p:cNvSpPr txBox="1"/>
          <p:nvPr/>
        </p:nvSpPr>
        <p:spPr>
          <a:xfrm>
            <a:off x="7391618" y="1760000"/>
            <a:ext cx="700000" cy="220000"/>
          </a:xfrm>
          <a:prstGeom prst="rect">
            <a:avLst/>
          </a:prstGeom>
          <a:noFill/>
        </p:spPr>
        <p:txBody>
          <a:bodyPr wrap="square" lIns="0" tIns="0" rIns="0" bIns="0" rtlCol="0" anchor="t">
            <a:noAutofit/>
          </a:bodyPr>
          <a:lstStyle/>
          <a:p>
            <a:pPr algn="l" marL="0" indent="0">
              <a:lnSpc>
                <a:spcPct val="120000"/>
              </a:lnSpc>
              <a:buNone/>
            </a:pPr>
            <a:r>
              <a:rPr lang="en-US" sz="1200" b="1" dirty="0">
                <a:solidFill>
                  <a:srgbClr val="14213D"/>
                </a:solidFill>
                <a:latin typeface="Calibri" pitchFamily="34" charset="0"/>
                <a:ea typeface="Calibri" pitchFamily="34" charset="-122"/>
                <a:cs typeface="Calibri" pitchFamily="34" charset="-120"/>
              </a:rPr>
              <a:t>Feb</a:t>
            </a:r>
          </a:p>
        </p:txBody>
      </p:sp>
      <p:sp>
        <p:nvSpPr>
          <p:cNvPr id="383" name="Text 383"/>
          <p:cNvSpPr txBox="1"/>
          <p:nvPr/>
        </p:nvSpPr>
        <p:spPr>
          <a:xfrm>
            <a:off x="7391618" y="2060000"/>
            <a:ext cx="569654"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1</a:t>
            </a:r>
          </a:p>
        </p:txBody>
      </p:sp>
      <p:sp>
        <p:nvSpPr>
          <p:cNvPr id="384" name="Text 384"/>
          <p:cNvSpPr txBox="1"/>
          <p:nvPr/>
        </p:nvSpPr>
        <p:spPr>
          <a:xfrm>
            <a:off x="7961272" y="2060000"/>
            <a:ext cx="569654"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8</a:t>
            </a:r>
          </a:p>
        </p:txBody>
      </p:sp>
      <p:sp>
        <p:nvSpPr>
          <p:cNvPr id="385" name="Text 385"/>
          <p:cNvSpPr txBox="1"/>
          <p:nvPr/>
        </p:nvSpPr>
        <p:spPr>
          <a:xfrm>
            <a:off x="8530927" y="2060000"/>
            <a:ext cx="569654"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15</a:t>
            </a:r>
          </a:p>
        </p:txBody>
      </p:sp>
      <p:sp>
        <p:nvSpPr>
          <p:cNvPr id="386" name="Text 386"/>
          <p:cNvSpPr txBox="1"/>
          <p:nvPr/>
        </p:nvSpPr>
        <p:spPr>
          <a:xfrm>
            <a:off x="9100581" y="2060000"/>
            <a:ext cx="569654"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22</a:t>
            </a:r>
          </a:p>
        </p:txBody>
      </p:sp>
      <p:sp>
        <p:nvSpPr>
          <p:cNvPr id="387" name="Text 387"/>
          <p:cNvSpPr txBox="1"/>
          <p:nvPr/>
        </p:nvSpPr>
        <p:spPr>
          <a:xfrm>
            <a:off x="9670236" y="1760000"/>
            <a:ext cx="700000" cy="220000"/>
          </a:xfrm>
          <a:prstGeom prst="rect">
            <a:avLst/>
          </a:prstGeom>
          <a:noFill/>
        </p:spPr>
        <p:txBody>
          <a:bodyPr wrap="square" lIns="0" tIns="0" rIns="0" bIns="0" rtlCol="0" anchor="t">
            <a:noAutofit/>
          </a:bodyPr>
          <a:lstStyle/>
          <a:p>
            <a:pPr algn="l" marL="0" indent="0">
              <a:lnSpc>
                <a:spcPct val="120000"/>
              </a:lnSpc>
              <a:buNone/>
            </a:pPr>
            <a:r>
              <a:rPr lang="en-US" sz="1200" b="1" dirty="0">
                <a:solidFill>
                  <a:srgbClr val="14213D"/>
                </a:solidFill>
                <a:latin typeface="Calibri" pitchFamily="34" charset="0"/>
                <a:ea typeface="Calibri" pitchFamily="34" charset="-122"/>
                <a:cs typeface="Calibri" pitchFamily="34" charset="-120"/>
              </a:rPr>
              <a:t>Mar</a:t>
            </a:r>
          </a:p>
        </p:txBody>
      </p:sp>
      <p:sp>
        <p:nvSpPr>
          <p:cNvPr id="388" name="Text 388"/>
          <p:cNvSpPr txBox="1"/>
          <p:nvPr/>
        </p:nvSpPr>
        <p:spPr>
          <a:xfrm>
            <a:off x="9670236" y="2060000"/>
            <a:ext cx="569654"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1</a:t>
            </a:r>
          </a:p>
        </p:txBody>
      </p:sp>
      <p:sp>
        <p:nvSpPr>
          <p:cNvPr id="389" name="Text 389"/>
          <p:cNvSpPr txBox="1"/>
          <p:nvPr/>
        </p:nvSpPr>
        <p:spPr>
          <a:xfrm>
            <a:off x="10239890" y="2060000"/>
            <a:ext cx="569654"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8</a:t>
            </a:r>
          </a:p>
        </p:txBody>
      </p:sp>
      <p:sp>
        <p:nvSpPr>
          <p:cNvPr id="390" name="Text 390"/>
          <p:cNvSpPr txBox="1"/>
          <p:nvPr/>
        </p:nvSpPr>
        <p:spPr>
          <a:xfrm>
            <a:off x="10809545" y="2060000"/>
            <a:ext cx="569654" cy="200000"/>
          </a:xfrm>
          <a:prstGeom prst="rect">
            <a:avLst/>
          </a:prstGeom>
          <a:noFill/>
        </p:spPr>
        <p:txBody>
          <a:bodyPr wrap="square" lIns="0" tIns="0" rIns="0" bIns="0" rtlCol="0" anchor="t">
            <a:noAutofit/>
          </a:bodyPr>
          <a:lstStyle/>
          <a:p>
            <a:pPr algn="ctr" marL="0" indent="0">
              <a:lnSpc>
                <a:spcPct val="120000"/>
              </a:lnSpc>
              <a:buNone/>
            </a:pPr>
            <a:r>
              <a:rPr lang="en-US" sz="1000" dirty="0">
                <a:solidFill>
                  <a:srgbClr val="5B6573"/>
                </a:solidFill>
                <a:latin typeface="Calibri" pitchFamily="34" charset="0"/>
                <a:ea typeface="Calibri" pitchFamily="34" charset="-122"/>
                <a:cs typeface="Calibri" pitchFamily="34" charset="-120"/>
              </a:rPr>
              <a:t>15</a:t>
            </a:r>
          </a:p>
        </p:txBody>
      </p:sp>
      <p:sp>
        <p:nvSpPr>
          <p:cNvPr id="391" name="Text 391"/>
          <p:cNvSpPr txBox="1"/>
          <p:nvPr/>
        </p:nvSpPr>
        <p:spPr>
          <a:xfrm>
            <a:off x="812800" y="2780233"/>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1c · Shiny app</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Build, testing and documentation</a:t>
            </a:r>
          </a:p>
        </p:txBody>
      </p:sp>
      <p:sp>
        <p:nvSpPr>
          <p:cNvPr id="392" name="Bar 392"/>
          <p:cNvSpPr/>
          <p:nvPr/>
        </p:nvSpPr>
        <p:spPr>
          <a:xfrm>
            <a:off x="6278819" y="2875330"/>
            <a:ext cx="1657715" cy="170000"/>
          </a:xfrm>
          <a:prstGeom prst="roundRect">
            <a:avLst>
              <a:gd name="adj" fmla="val 30000"/>
            </a:avLst>
          </a:prstGeom>
          <a:solidFill>
            <a:srgbClr val="A8521A"/>
          </a:solidFill>
          <a:ln>
            <a:noFill/>
          </a:ln>
        </p:spPr>
        <p:txBody>
          <a:bodyPr/>
          <a:p/>
        </p:txBody>
      </p:sp>
      <p:sp>
        <p:nvSpPr>
          <p:cNvPr id="393" name="Milestone 393"/>
          <p:cNvSpPr/>
          <p:nvPr/>
        </p:nvSpPr>
        <p:spPr>
          <a:xfrm>
            <a:off x="7753654" y="2865272"/>
            <a:ext cx="190000" cy="190000"/>
          </a:xfrm>
          <a:prstGeom prst="diamond">
            <a:avLst/>
          </a:prstGeom>
          <a:solidFill>
            <a:srgbClr val="E8B04A"/>
          </a:solidFill>
          <a:ln w="9525">
            <a:solidFill>
              <a:srgbClr val="FFFFFF"/>
            </a:solidFill>
          </a:ln>
        </p:spPr>
        <p:txBody>
          <a:bodyPr/>
          <a:p/>
        </p:txBody>
      </p:sp>
      <p:sp>
        <p:nvSpPr>
          <p:cNvPr id="394" name="Row line 394"/>
          <p:cNvSpPr/>
          <p:nvPr/>
        </p:nvSpPr>
        <p:spPr>
          <a:xfrm>
            <a:off x="812800" y="2750000"/>
            <a:ext cx="10566400" cy="6350"/>
          </a:xfrm>
          <a:prstGeom prst="rect">
            <a:avLst/>
          </a:prstGeom>
          <a:solidFill>
            <a:srgbClr val="E3E1DA"/>
          </a:solidFill>
          <a:ln>
            <a:noFill/>
          </a:ln>
        </p:spPr>
        <p:txBody>
          <a:bodyPr/>
          <a:p/>
        </p:txBody>
      </p:sp>
      <p:sp>
        <p:nvSpPr>
          <p:cNvPr id="395" name="Text 395"/>
          <p:cNvSpPr txBox="1"/>
          <p:nvPr/>
        </p:nvSpPr>
        <p:spPr>
          <a:xfrm>
            <a:off x="812800" y="3620566"/>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2a · Application to GHG accounting, crediting and FFI</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GHG accounting MVP, then crediting and FFI</a:t>
            </a:r>
          </a:p>
        </p:txBody>
      </p:sp>
      <p:sp>
        <p:nvSpPr>
          <p:cNvPr id="396" name="Bar 396"/>
          <p:cNvSpPr/>
          <p:nvPr/>
        </p:nvSpPr>
        <p:spPr>
          <a:xfrm>
            <a:off x="8558601" y="3715664"/>
            <a:ext cx="1657715" cy="170000"/>
          </a:xfrm>
          <a:prstGeom prst="roundRect">
            <a:avLst>
              <a:gd name="adj" fmla="val 30000"/>
            </a:avLst>
          </a:prstGeom>
          <a:solidFill>
            <a:srgbClr val="14213D"/>
          </a:solidFill>
          <a:ln>
            <a:noFill/>
          </a:ln>
        </p:spPr>
        <p:txBody>
          <a:bodyPr/>
          <a:p/>
        </p:txBody>
      </p:sp>
      <p:sp>
        <p:nvSpPr>
          <p:cNvPr id="399" name="Milestone 399"/>
          <p:cNvSpPr/>
          <p:nvPr/>
        </p:nvSpPr>
        <p:spPr>
          <a:xfrm>
            <a:off x="10033436" y="3705606"/>
            <a:ext cx="190000" cy="190000"/>
          </a:xfrm>
          <a:prstGeom prst="diamond">
            <a:avLst/>
          </a:prstGeom>
          <a:solidFill>
            <a:srgbClr val="E8B04A"/>
          </a:solidFill>
          <a:ln w="9525">
            <a:solidFill>
              <a:srgbClr val="FFFFFF"/>
            </a:solidFill>
          </a:ln>
        </p:spPr>
        <p:txBody>
          <a:bodyPr/>
          <a:p/>
        </p:txBody>
      </p:sp>
      <p:sp>
        <p:nvSpPr>
          <p:cNvPr id="400" name="Row line 400"/>
          <p:cNvSpPr/>
          <p:nvPr/>
        </p:nvSpPr>
        <p:spPr>
          <a:xfrm>
            <a:off x="812800" y="3170000"/>
            <a:ext cx="10566400" cy="6350"/>
          </a:xfrm>
          <a:prstGeom prst="rect">
            <a:avLst/>
          </a:prstGeom>
          <a:solidFill>
            <a:srgbClr val="E3E1DA"/>
          </a:solidFill>
          <a:ln>
            <a:noFill/>
          </a:ln>
        </p:spPr>
        <p:txBody>
          <a:bodyPr/>
          <a:p/>
        </p:txBody>
      </p:sp>
      <p:sp>
        <p:nvSpPr>
          <p:cNvPr id="401" name="Text 401"/>
          <p:cNvSpPr txBox="1"/>
          <p:nvPr/>
        </p:nvSpPr>
        <p:spPr>
          <a:xfrm>
            <a:off x="812800" y="3200400"/>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2b · Existing models (FTT, MFMod tbc)</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On one Python platform</a:t>
            </a:r>
          </a:p>
        </p:txBody>
      </p:sp>
      <p:sp>
        <p:nvSpPr>
          <p:cNvPr id="402" name="Bar 402"/>
          <p:cNvSpPr/>
          <p:nvPr/>
        </p:nvSpPr>
        <p:spPr>
          <a:xfrm>
            <a:off x="7988655" y="3295497"/>
            <a:ext cx="517824" cy="170000"/>
          </a:xfrm>
          <a:prstGeom prst="roundRect">
            <a:avLst>
              <a:gd name="adj" fmla="val 30000"/>
            </a:avLst>
          </a:prstGeom>
          <a:solidFill>
            <a:srgbClr val="14213D"/>
          </a:solidFill>
          <a:ln>
            <a:noFill/>
          </a:ln>
        </p:spPr>
        <p:txBody>
          <a:bodyPr/>
          <a:p/>
        </p:txBody>
      </p:sp>
      <p:sp>
        <p:nvSpPr>
          <p:cNvPr id="403" name="Milestone 403"/>
          <p:cNvSpPr/>
          <p:nvPr/>
        </p:nvSpPr>
        <p:spPr>
          <a:xfrm>
            <a:off x="8323600" y="3285439"/>
            <a:ext cx="190000" cy="190000"/>
          </a:xfrm>
          <a:prstGeom prst="diamond">
            <a:avLst/>
          </a:prstGeom>
          <a:solidFill>
            <a:srgbClr val="E8B04A"/>
          </a:solidFill>
          <a:ln w="9525">
            <a:solidFill>
              <a:srgbClr val="FFFFFF"/>
            </a:solidFill>
          </a:ln>
        </p:spPr>
        <p:txBody>
          <a:bodyPr/>
          <a:p/>
        </p:txBody>
      </p:sp>
      <p:sp>
        <p:nvSpPr>
          <p:cNvPr id="404" name="Row line 404"/>
          <p:cNvSpPr/>
          <p:nvPr/>
        </p:nvSpPr>
        <p:spPr>
          <a:xfrm>
            <a:off x="812800" y="3590000"/>
            <a:ext cx="10566400" cy="6350"/>
          </a:xfrm>
          <a:prstGeom prst="rect">
            <a:avLst/>
          </a:prstGeom>
          <a:solidFill>
            <a:srgbClr val="E3E1DA"/>
          </a:solidFill>
          <a:ln>
            <a:noFill/>
          </a:ln>
        </p:spPr>
        <p:txBody>
          <a:bodyPr/>
          <a:p/>
        </p:txBody>
      </p:sp>
      <p:sp>
        <p:nvSpPr>
          <p:cNvPr id="405" name="Text 405"/>
          <p:cNvSpPr txBox="1"/>
          <p:nvPr/>
        </p:nvSpPr>
        <p:spPr>
          <a:xfrm>
            <a:off x="812800" y="2360066"/>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2c · Pathways integration and pilot countries</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Pathways tool integration (CPAT–SiSePuede); pilot country projects</a:t>
            </a:r>
          </a:p>
        </p:txBody>
      </p:sp>
      <p:sp>
        <p:nvSpPr>
          <p:cNvPr id="406" name="Bar 406"/>
          <p:cNvSpPr/>
          <p:nvPr/>
        </p:nvSpPr>
        <p:spPr>
          <a:xfrm>
            <a:off x="5138928" y="2455164"/>
            <a:ext cx="1087770" cy="170000"/>
          </a:xfrm>
          <a:prstGeom prst="roundRect">
            <a:avLst>
              <a:gd name="adj" fmla="val 30000"/>
            </a:avLst>
          </a:prstGeom>
          <a:solidFill>
            <a:srgbClr val="14213D"/>
          </a:solidFill>
          <a:ln>
            <a:noFill/>
          </a:ln>
        </p:spPr>
        <p:txBody>
          <a:bodyPr/>
          <a:p/>
        </p:txBody>
      </p:sp>
      <p:sp>
        <p:nvSpPr>
          <p:cNvPr id="901" name="Milestone 2c end"/>
          <p:cNvSpPr/>
          <p:nvPr/>
        </p:nvSpPr>
        <p:spPr>
          <a:xfrm>
            <a:off x="6043818" y="2445105"/>
            <a:ext cx="190000" cy="190000"/>
          </a:xfrm>
          <a:prstGeom prst="diamond">
            <a:avLst/>
          </a:prstGeom>
          <a:solidFill>
            <a:srgbClr val="E8B04A"/>
          </a:solidFill>
          <a:ln w="9525">
            <a:solidFill>
              <a:srgbClr val="FFFFFF"/>
            </a:solidFill>
          </a:ln>
        </p:spPr>
        <p:txBody>
          <a:bodyPr/>
          <a:p/>
        </p:txBody>
      </p:sp>
      <p:sp>
        <p:nvSpPr>
          <p:cNvPr id="408" name="Row line 408"/>
          <p:cNvSpPr/>
          <p:nvPr/>
        </p:nvSpPr>
        <p:spPr>
          <a:xfrm>
            <a:off x="812800" y="4010000"/>
            <a:ext cx="10566400" cy="6350"/>
          </a:xfrm>
          <a:prstGeom prst="rect">
            <a:avLst/>
          </a:prstGeom>
          <a:solidFill>
            <a:srgbClr val="E3E1DA"/>
          </a:solidFill>
          <a:ln>
            <a:noFill/>
          </a:ln>
        </p:spPr>
        <p:txBody>
          <a:bodyPr/>
          <a:p/>
        </p:txBody>
      </p:sp>
      <p:sp>
        <p:nvSpPr>
          <p:cNvPr id="409" name="Text 409"/>
          <p:cNvSpPr txBox="1"/>
          <p:nvPr/>
        </p:nvSpPr>
        <p:spPr>
          <a:xfrm>
            <a:off x="812800" y="4040000"/>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3a, 3b · Follow-up support to Dirk</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Excise Diagnostic and Tax and Macro-Fiscal Dashboard</a:t>
            </a:r>
          </a:p>
        </p:txBody>
      </p:sp>
      <p:sp>
        <p:nvSpPr>
          <p:cNvPr id="410" name="Bar 410"/>
          <p:cNvSpPr/>
          <p:nvPr/>
        </p:nvSpPr>
        <p:spPr>
          <a:xfrm>
            <a:off x="10265890" y="4135000"/>
            <a:ext cx="517654" cy="170000"/>
          </a:xfrm>
          <a:prstGeom prst="roundRect">
            <a:avLst>
              <a:gd name="adj" fmla="val 30000"/>
            </a:avLst>
          </a:prstGeom>
          <a:solidFill>
            <a:srgbClr val="3D7A73"/>
          </a:solidFill>
          <a:ln>
            <a:noFill/>
          </a:ln>
        </p:spPr>
        <p:txBody>
          <a:bodyPr/>
          <a:p/>
        </p:txBody>
      </p:sp>
      <p:sp>
        <p:nvSpPr>
          <p:cNvPr id="411" name="Row line 411"/>
          <p:cNvSpPr/>
          <p:nvPr/>
        </p:nvSpPr>
        <p:spPr>
          <a:xfrm>
            <a:off x="812800" y="4430000"/>
            <a:ext cx="10566400" cy="6350"/>
          </a:xfrm>
          <a:prstGeom prst="rect">
            <a:avLst/>
          </a:prstGeom>
          <a:solidFill>
            <a:srgbClr val="E3E1DA"/>
          </a:solidFill>
          <a:ln>
            <a:noFill/>
          </a:ln>
        </p:spPr>
        <p:txBody>
          <a:bodyPr/>
          <a:p/>
        </p:txBody>
      </p:sp>
      <p:sp>
        <p:nvSpPr>
          <p:cNvPr id="412" name="Text 412"/>
          <p:cNvSpPr txBox="1"/>
          <p:nvPr/>
        </p:nvSpPr>
        <p:spPr>
          <a:xfrm>
            <a:off x="812800" y="4460000"/>
            <a:ext cx="4220200" cy="360000"/>
          </a:xfrm>
          <a:prstGeom prst="rect">
            <a:avLst/>
          </a:prstGeom>
          <a:noFill/>
        </p:spPr>
        <p:txBody>
          <a:bodyPr wrap="square" lIns="0" tIns="0" rIns="0" bIns="0" rtlCol="0" anchor="ctr">
            <a:noAutofit/>
          </a:bodyPr>
          <a:lstStyle/>
          <a:p>
            <a:pPr algn="l" marL="0" indent="0">
              <a:lnSpc>
                <a:spcPct val="100000"/>
              </a:lnSpc>
              <a:buNone/>
            </a:pPr>
            <a:r>
              <a:rPr lang="en-US" sz="1200" b="1" dirty="0">
                <a:solidFill>
                  <a:srgbClr val="14213D"/>
                </a:solidFill>
                <a:latin typeface="Calibri" pitchFamily="34" charset="0"/>
                <a:ea typeface="Calibri" pitchFamily="34" charset="-122"/>
                <a:cs typeface="Calibri" pitchFamily="34" charset="-120"/>
              </a:rPr>
              <a:t>Final handover</a:t>
            </a:r>
          </a:p>
          <a:p>
            <a:pPr algn="l" marL="0" indent="0">
              <a:lnSpc>
                <a:spcPct val="105000"/>
              </a:lnSpc>
              <a:buNone/>
            </a:pPr>
            <a:r>
              <a:rPr lang="en-US" sz="1000" dirty="0">
                <a:solidFill>
                  <a:srgbClr val="5B6573"/>
                </a:solidFill>
                <a:latin typeface="Calibri" pitchFamily="34" charset="0"/>
                <a:ea typeface="Calibri" pitchFamily="34" charset="-122"/>
                <a:cs typeface="Calibri" pitchFamily="34" charset="-120"/>
              </a:rPr>
              <a:t>The contract ends 20 March</a:t>
            </a:r>
          </a:p>
        </p:txBody>
      </p:sp>
      <p:sp>
        <p:nvSpPr>
          <p:cNvPr id="413" name="Bar 413"/>
          <p:cNvSpPr/>
          <p:nvPr/>
        </p:nvSpPr>
        <p:spPr>
          <a:xfrm>
            <a:off x="10835545" y="4555000"/>
            <a:ext cx="517654" cy="170000"/>
          </a:xfrm>
          <a:prstGeom prst="roundRect">
            <a:avLst>
              <a:gd name="adj" fmla="val 30000"/>
            </a:avLst>
          </a:prstGeom>
          <a:solidFill>
            <a:srgbClr val="7A8494"/>
          </a:solidFill>
          <a:ln>
            <a:noFill/>
          </a:ln>
        </p:spPr>
        <p:txBody>
          <a:bodyPr/>
          <a:p/>
        </p:txBody>
      </p:sp>
      <p:sp>
        <p:nvSpPr>
          <p:cNvPr id="74" name="Text 72"/>
          <p:cNvSpPr txBox="1"/>
          <p:nvPr/>
        </p:nvSpPr>
        <p:spPr>
          <a:xfrm>
            <a:off x="812800" y="632000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Week-of dates, 4 January to 15 March · Source: FY27 master plan (Excel) · Use of AI in climate fiscal tools · 27</a:t>
            </a:r>
            <a:endParaRPr lang="en-US" sz="1200" dirty="0"/>
          </a:p>
        </p:txBody>
      </p:sp>
      <p:sp>
        <p:nvSpPr>
          <p:cNvPr id="414" name="Legend Objective One (1a–1c)"/>
          <p:cNvSpPr/>
          <p:nvPr/>
        </p:nvSpPr>
        <p:spPr>
          <a:xfrm>
            <a:off x="812901" y="5020056"/>
            <a:ext cx="230000" cy="150000"/>
          </a:xfrm>
          <a:prstGeom prst="rect">
            <a:avLst/>
          </a:prstGeom>
          <a:solidFill>
            <a:srgbClr val="A8521A"/>
          </a:solidFill>
          <a:ln>
            <a:noFill/>
          </a:ln>
        </p:spPr>
        <p:txBody>
          <a:bodyPr/>
          <a:p/>
        </p:txBody>
      </p:sp>
      <p:sp>
        <p:nvSpPr>
          <p:cNvPr id="415" name="Text 374"/>
          <p:cNvSpPr txBox="1"/>
          <p:nvPr/>
        </p:nvSpPr>
        <p:spPr>
          <a:xfrm>
            <a:off x="1114653" y="4999939"/>
            <a:ext cx="1600200" cy="200000"/>
          </a:xfrm>
          <a:prstGeom prst="rect">
            <a:avLst/>
          </a:prstGeom>
          <a:noFill/>
        </p:spPr>
        <p:txBody>
          <a:bodyPr wrap="square" lIns="0" tIns="0" rIns="0" bIns="0" rtlCol="0" anchor="t">
            <a:noAutofit/>
          </a:bodyPr>
          <a:lstStyle/>
          <a:p>
            <a:pPr algn="l" marL="0" indent="0">
              <a:lnSpc>
                <a:spcPct val="120000"/>
              </a:lnSpc>
              <a:buNone/>
            </a:pPr>
            <a:r>
              <a:rPr lang="en-US" sz="1100" dirty="0">
                <a:solidFill>
                  <a:srgbClr val="5B6573"/>
                </a:solidFill>
                <a:latin typeface="Calibri" pitchFamily="34" charset="0"/>
                <a:ea typeface="Calibri" pitchFamily="34" charset="-122"/>
                <a:cs typeface="Calibri" pitchFamily="34" charset="-120"/>
              </a:rPr>
              <a:t>Objective One (1a–1c)</a:t>
            </a:r>
          </a:p>
        </p:txBody>
      </p:sp>
      <p:sp>
        <p:nvSpPr>
          <p:cNvPr id="416" name="Legend Objective Two (2a–2c)"/>
          <p:cNvSpPr/>
          <p:nvPr/>
        </p:nvSpPr>
        <p:spPr>
          <a:xfrm>
            <a:off x="2697480" y="5020056"/>
            <a:ext cx="230000" cy="150000"/>
          </a:xfrm>
          <a:prstGeom prst="rect">
            <a:avLst/>
          </a:prstGeom>
          <a:solidFill>
            <a:srgbClr val="14213D"/>
          </a:solidFill>
          <a:ln>
            <a:noFill/>
          </a:ln>
        </p:spPr>
        <p:txBody>
          <a:bodyPr/>
          <a:p/>
        </p:txBody>
      </p:sp>
      <p:sp>
        <p:nvSpPr>
          <p:cNvPr id="417" name="Text 374"/>
          <p:cNvSpPr txBox="1"/>
          <p:nvPr/>
        </p:nvSpPr>
        <p:spPr>
          <a:xfrm>
            <a:off x="2999232" y="4999939"/>
            <a:ext cx="1600200" cy="200000"/>
          </a:xfrm>
          <a:prstGeom prst="rect">
            <a:avLst/>
          </a:prstGeom>
          <a:noFill/>
        </p:spPr>
        <p:txBody>
          <a:bodyPr wrap="square" lIns="0" tIns="0" rIns="0" bIns="0" rtlCol="0" anchor="t">
            <a:noAutofit/>
          </a:bodyPr>
          <a:lstStyle/>
          <a:p>
            <a:pPr algn="l" marL="0" indent="0">
              <a:lnSpc>
                <a:spcPct val="120000"/>
              </a:lnSpc>
              <a:buNone/>
            </a:pPr>
            <a:r>
              <a:rPr lang="en-US" sz="1100" dirty="0">
                <a:solidFill>
                  <a:srgbClr val="5B6573"/>
                </a:solidFill>
                <a:latin typeface="Calibri" pitchFamily="34" charset="0"/>
                <a:ea typeface="Calibri" pitchFamily="34" charset="-122"/>
                <a:cs typeface="Calibri" pitchFamily="34" charset="-120"/>
              </a:rPr>
              <a:t>Objective Two (2a–2c)</a:t>
            </a:r>
          </a:p>
        </p:txBody>
      </p:sp>
      <p:sp>
        <p:nvSpPr>
          <p:cNvPr id="418" name="Legend Objective Three (3a, 3b)"/>
          <p:cNvSpPr/>
          <p:nvPr/>
        </p:nvSpPr>
        <p:spPr>
          <a:xfrm>
            <a:off x="4581144" y="5020056"/>
            <a:ext cx="230000" cy="150000"/>
          </a:xfrm>
          <a:prstGeom prst="rect">
            <a:avLst/>
          </a:prstGeom>
          <a:solidFill>
            <a:srgbClr val="3D7A73"/>
          </a:solidFill>
          <a:ln>
            <a:noFill/>
          </a:ln>
        </p:spPr>
        <p:txBody>
          <a:bodyPr/>
          <a:p/>
        </p:txBody>
      </p:sp>
      <p:sp>
        <p:nvSpPr>
          <p:cNvPr id="419" name="Text 374"/>
          <p:cNvSpPr txBox="1"/>
          <p:nvPr/>
        </p:nvSpPr>
        <p:spPr>
          <a:xfrm>
            <a:off x="4882896" y="4999939"/>
            <a:ext cx="1737360" cy="200000"/>
          </a:xfrm>
          <a:prstGeom prst="rect">
            <a:avLst/>
          </a:prstGeom>
          <a:noFill/>
        </p:spPr>
        <p:txBody>
          <a:bodyPr wrap="square" lIns="0" tIns="0" rIns="0" bIns="0" rtlCol="0" anchor="t">
            <a:noAutofit/>
          </a:bodyPr>
          <a:lstStyle/>
          <a:p>
            <a:pPr algn="l" marL="0" indent="0">
              <a:lnSpc>
                <a:spcPct val="120000"/>
              </a:lnSpc>
              <a:buNone/>
            </a:pPr>
            <a:r>
              <a:rPr lang="en-US" sz="1100" dirty="0">
                <a:solidFill>
                  <a:srgbClr val="5B6573"/>
                </a:solidFill>
                <a:latin typeface="Calibri" pitchFamily="34" charset="0"/>
                <a:ea typeface="Calibri" pitchFamily="34" charset="-122"/>
                <a:cs typeface="Calibri" pitchFamily="34" charset="-120"/>
              </a:rPr>
              <a:t>Objective Three (3a, 3b)</a:t>
            </a:r>
          </a:p>
        </p:txBody>
      </p:sp>
      <p:sp>
        <p:nvSpPr>
          <p:cNvPr id="420" name="Legend Final handover"/>
          <p:cNvSpPr/>
          <p:nvPr/>
        </p:nvSpPr>
        <p:spPr>
          <a:xfrm>
            <a:off x="6629400" y="5020056"/>
            <a:ext cx="230000" cy="150000"/>
          </a:xfrm>
          <a:prstGeom prst="rect">
            <a:avLst/>
          </a:prstGeom>
          <a:solidFill>
            <a:srgbClr val="7A8494"/>
          </a:solidFill>
          <a:ln>
            <a:noFill/>
          </a:ln>
        </p:spPr>
        <p:txBody>
          <a:bodyPr/>
          <a:p/>
        </p:txBody>
      </p:sp>
      <p:sp>
        <p:nvSpPr>
          <p:cNvPr id="421" name="Text 374"/>
          <p:cNvSpPr txBox="1"/>
          <p:nvPr/>
        </p:nvSpPr>
        <p:spPr>
          <a:xfrm>
            <a:off x="6931152" y="4999939"/>
            <a:ext cx="1097280" cy="200000"/>
          </a:xfrm>
          <a:prstGeom prst="rect">
            <a:avLst/>
          </a:prstGeom>
          <a:noFill/>
        </p:spPr>
        <p:txBody>
          <a:bodyPr wrap="square" lIns="0" tIns="0" rIns="0" bIns="0" rtlCol="0" anchor="t">
            <a:noAutofit/>
          </a:bodyPr>
          <a:lstStyle/>
          <a:p>
            <a:pPr algn="l" marL="0" indent="0">
              <a:lnSpc>
                <a:spcPct val="120000"/>
              </a:lnSpc>
              <a:buNone/>
            </a:pPr>
            <a:r>
              <a:rPr lang="en-US" sz="1100" dirty="0">
                <a:solidFill>
                  <a:srgbClr val="5B6573"/>
                </a:solidFill>
                <a:latin typeface="Calibri" pitchFamily="34" charset="0"/>
                <a:ea typeface="Calibri" pitchFamily="34" charset="-122"/>
                <a:cs typeface="Calibri" pitchFamily="34" charset="-120"/>
              </a:rPr>
              <a:t>Final handover</a:t>
            </a:r>
          </a:p>
        </p:txBody>
      </p:sp>
      <p:sp>
        <p:nvSpPr>
          <p:cNvPr id="422" name="Legend milestone"/>
          <p:cNvSpPr/>
          <p:nvPr/>
        </p:nvSpPr>
        <p:spPr>
          <a:xfrm>
            <a:off x="8001000" y="5004511"/>
            <a:ext cx="180000" cy="180000"/>
          </a:xfrm>
          <a:prstGeom prst="diamond">
            <a:avLst/>
          </a:prstGeom>
          <a:solidFill>
            <a:srgbClr val="E8B04A"/>
          </a:solidFill>
          <a:ln w="9525">
            <a:solidFill>
              <a:srgbClr val="FFFFFF"/>
            </a:solidFill>
          </a:ln>
        </p:spPr>
        <p:txBody>
          <a:bodyPr/>
          <a:p/>
        </p:txBody>
      </p:sp>
      <p:sp>
        <p:nvSpPr>
          <p:cNvPr id="423" name="Text 374"/>
          <p:cNvSpPr txBox="1"/>
          <p:nvPr/>
        </p:nvSpPr>
        <p:spPr>
          <a:xfrm>
            <a:off x="8261604" y="4999939"/>
            <a:ext cx="3113531" cy="200000"/>
          </a:xfrm>
          <a:prstGeom prst="rect">
            <a:avLst/>
          </a:prstGeom>
          <a:noFill/>
        </p:spPr>
        <p:txBody>
          <a:bodyPr wrap="square" lIns="0" tIns="0" rIns="0" bIns="0" rtlCol="0" anchor="t">
            <a:noAutofit/>
          </a:bodyPr>
          <a:lstStyle/>
          <a:p>
            <a:pPr algn="l" marL="0" indent="0">
              <a:lnSpc>
                <a:spcPct val="120000"/>
              </a:lnSpc>
              <a:buNone/>
            </a:pPr>
            <a:r>
              <a:rPr lang="en-US" sz="1100" dirty="0">
                <a:solidFill>
                  <a:srgbClr val="5B6573"/>
                </a:solidFill>
                <a:latin typeface="Calibri" pitchFamily="34" charset="0"/>
                <a:ea typeface="Calibri" pitchFamily="34" charset="-122"/>
                <a:cs typeface="Calibri" pitchFamily="34" charset="-120"/>
              </a:rPr>
              <a:t>Committed milestone (Friday of the week)</a:t>
            </a:r>
          </a:p>
        </p:txBody>
      </p:sp>
      <p:sp>
        <p:nvSpPr>
          <p:cNvPr id="902" name="TextBox 901"/>
          <p:cNvSpPr txBox="1"/>
          <p:nvPr/>
        </p:nvSpPr>
        <p:spPr>
          <a:xfrm>
            <a:off x="6355080" y="2459736"/>
            <a:ext cx="2743200" cy="201168"/>
          </a:xfrm>
          <a:prstGeom prst="rect">
            <a:avLst/>
          </a:prstGeom>
          <a:noFill/>
        </p:spPr>
        <p:txBody>
          <a:bodyPr wrap="none" lIns="0" rIns="0" tIns="0" bIns="0" anchor="ctr">
            <a:spAutoFit/>
          </a:bodyPr>
          <a:lstStyle/>
          <a:p>
            <a:pPr algn="l"/>
            <a:r>
              <a:rPr sz="1000">
                <a:solidFill>
                  <a:srgbClr val="5B6573"/>
                </a:solidFill>
                <a:latin typeface="Calibri"/>
              </a:rPr>
              <a:t>Pathways tool complete 15 Jan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7">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4 · WHO DOES WHAT</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Possible division of labor</a:t>
            </a:r>
            <a:endParaRPr lang="en-US" sz="3200" dirty="0"/>
          </a:p>
        </p:txBody>
      </p:sp>
      <p:sp>
        <p:nvSpPr>
          <p:cNvPr id="416" name="Card 417"/>
          <p:cNvSpPr/>
          <p:nvPr/>
        </p:nvSpPr>
        <p:spPr>
          <a:xfrm>
            <a:off x="812800" y="1800000"/>
            <a:ext cx="6300000" cy="3350000"/>
          </a:xfrm>
          <a:prstGeom prst="roundRect">
            <a:avLst>
              <a:gd name="adj" fmla="val 2703"/>
            </a:avLst>
          </a:prstGeom>
          <a:solidFill>
            <a:srgbClr val="FFFFFF"/>
          </a:solidFill>
          <a:ln/>
        </p:spPr>
        <p:txBody>
          <a:bodyPr/>
          <a:p/>
        </p:txBody>
      </p:sp>
      <p:sp>
        <p:nvSpPr>
          <p:cNvPr id="418" name="Card 419"/>
          <p:cNvSpPr/>
          <p:nvPr/>
        </p:nvSpPr>
        <p:spPr>
          <a:xfrm>
            <a:off x="7295680" y="1800000"/>
            <a:ext cx="4083520" cy="3350000"/>
          </a:xfrm>
          <a:prstGeom prst="roundRect">
            <a:avLst>
              <a:gd name="adj" fmla="val 2703"/>
            </a:avLst>
          </a:prstGeom>
          <a:solidFill>
            <a:srgbClr val="FFFFFF"/>
          </a:solidFill>
          <a:ln/>
        </p:spPr>
        <p:txBody>
          <a:bodyPr/>
          <a:p/>
        </p:txBody>
      </p:sp>
      <p:sp>
        <p:nvSpPr>
          <p:cNvPr id="420" name="Text 420"/>
          <p:cNvSpPr txBox="1"/>
          <p:nvPr/>
        </p:nvSpPr>
        <p:spPr>
          <a:xfrm>
            <a:off x="1041400" y="2020000"/>
            <a:ext cx="5842800" cy="220000"/>
          </a:xfrm>
          <a:prstGeom prst="rect">
            <a:avLst/>
          </a:prstGeom>
          <a:noFill/>
        </p:spPr>
        <p:txBody>
          <a:bodyPr wrap="square" lIns="0" tIns="0" rIns="0" bIns="0" rtlCol="0" anchor="t">
            <a:noAutofit/>
          </a:bodyPr>
          <a:lstStyle/>
          <a:p>
            <a:pPr algn="l" marL="0" indent="0">
              <a:lnSpc>
                <a:spcPct val="120000"/>
              </a:lnSpc>
              <a:buNone/>
            </a:pPr>
            <a:r>
              <a:rPr lang="en-US" sz="1100" b="1" spc="100" dirty="0">
                <a:solidFill>
                  <a:srgbClr val="A8521A"/>
                </a:solidFill>
                <a:latin typeface="Calibri" pitchFamily="34" charset="0"/>
                <a:ea typeface="Calibri" pitchFamily="34" charset="-122"/>
                <a:cs typeface="Calibri" pitchFamily="34" charset="-120"/>
              </a:rPr>
              <a:t>CODED AND EXCEL-AI-CPAT</a:t>
            </a:r>
          </a:p>
        </p:txBody>
      </p:sp>
      <p:sp>
        <p:nvSpPr>
          <p:cNvPr id="421" name="Text 421"/>
          <p:cNvSpPr txBox="1"/>
          <p:nvPr/>
        </p:nvSpPr>
        <p:spPr>
          <a:xfrm>
            <a:off x="1041400" y="2420000"/>
            <a:ext cx="1650000" cy="679125"/>
          </a:xfrm>
          <a:prstGeom prst="rect">
            <a:avLst/>
          </a:prstGeom>
          <a:noFill/>
        </p:spPr>
        <p:txBody>
          <a:bodyPr wrap="square" lIns="0" tIns="0" rIns="0" bIns="0" rtlCol="0" anchor="t">
            <a:noAutofit/>
          </a:bodyPr>
          <a:lstStyle/>
          <a:p>
            <a:pPr algn="l" marL="0" indent="0">
              <a:lnSpc>
                <a:spcPct val="120000"/>
              </a:lnSpc>
              <a:buNone/>
            </a:pPr>
            <a:r>
              <a:rPr lang="en-US" sz="1300" b="1" dirty="0">
                <a:solidFill>
                  <a:srgbClr val="14213D"/>
                </a:solidFill>
                <a:latin typeface="Calibri" pitchFamily="34" charset="0"/>
                <a:ea typeface="Calibri" pitchFamily="34" charset="-122"/>
                <a:cs typeface="Calibri" pitchFamily="34" charset="-120"/>
              </a:rPr>
              <a:t>Stephen</a:t>
            </a:r>
          </a:p>
        </p:txBody>
      </p:sp>
      <p:sp>
        <p:nvSpPr>
          <p:cNvPr id="422" name="Text 422"/>
          <p:cNvSpPr txBox="1"/>
          <p:nvPr/>
        </p:nvSpPr>
        <p:spPr>
          <a:xfrm>
            <a:off x="2691400" y="2420000"/>
            <a:ext cx="4192800" cy="679125"/>
          </a:xfrm>
          <a:prstGeom prst="rect">
            <a:avLst/>
          </a:prstGeom>
          <a:noFill/>
        </p:spPr>
        <p:txBody>
          <a:bodyPr wrap="square" lIns="0" tIns="0" rIns="0" bIns="0" rtlCol="0" anchor="t">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New Excel-AI-CPAT and code: basic mitigation, power, remaining mitigation and distribution (transport mitigation tbc); policy GHG accounting</a:t>
            </a:r>
          </a:p>
        </p:txBody>
      </p:sp>
      <p:sp>
        <p:nvSpPr>
          <p:cNvPr id="423" name="Row line 423"/>
          <p:cNvSpPr/>
          <p:nvPr/>
        </p:nvSpPr>
        <p:spPr>
          <a:xfrm>
            <a:off x="1041400" y="3174125"/>
            <a:ext cx="5842800" cy="6350"/>
          </a:xfrm>
          <a:prstGeom prst="rect">
            <a:avLst/>
          </a:prstGeom>
          <a:solidFill>
            <a:srgbClr val="D8DCE2"/>
          </a:solidFill>
          <a:ln>
            <a:noFill/>
          </a:ln>
        </p:spPr>
        <p:txBody>
          <a:bodyPr/>
          <a:p/>
        </p:txBody>
      </p:sp>
      <p:sp>
        <p:nvSpPr>
          <p:cNvPr id="424" name="Text 424"/>
          <p:cNvSpPr txBox="1"/>
          <p:nvPr/>
        </p:nvSpPr>
        <p:spPr>
          <a:xfrm>
            <a:off x="1041400" y="3249125"/>
            <a:ext cx="1650000" cy="266375"/>
          </a:xfrm>
          <a:prstGeom prst="rect">
            <a:avLst/>
          </a:prstGeom>
          <a:noFill/>
        </p:spPr>
        <p:txBody>
          <a:bodyPr wrap="square" lIns="0" tIns="0" rIns="0" bIns="0" rtlCol="0" anchor="t">
            <a:noAutofit/>
          </a:bodyPr>
          <a:lstStyle/>
          <a:p>
            <a:pPr algn="l" marL="0" indent="0">
              <a:lnSpc>
                <a:spcPct val="120000"/>
              </a:lnSpc>
              <a:buNone/>
            </a:pPr>
            <a:r>
              <a:rPr lang="en-US" sz="1300" b="1" dirty="0">
                <a:solidFill>
                  <a:srgbClr val="14213D"/>
                </a:solidFill>
                <a:latin typeface="Calibri" pitchFamily="34" charset="0"/>
                <a:ea typeface="Calibri" pitchFamily="34" charset="-122"/>
                <a:cs typeface="Calibri" pitchFamily="34" charset="-120"/>
              </a:rPr>
              <a:t>Paulina</a:t>
            </a:r>
          </a:p>
        </p:txBody>
      </p:sp>
      <p:sp>
        <p:nvSpPr>
          <p:cNvPr id="425" name="Text 425"/>
          <p:cNvSpPr txBox="1"/>
          <p:nvPr/>
        </p:nvSpPr>
        <p:spPr>
          <a:xfrm>
            <a:off x="2691400" y="3249125"/>
            <a:ext cx="4192800" cy="266375"/>
          </a:xfrm>
          <a:prstGeom prst="rect">
            <a:avLst/>
          </a:prstGeom>
          <a:noFill/>
        </p:spPr>
        <p:txBody>
          <a:bodyPr wrap="square" lIns="0" tIns="0" rIns="0" bIns="0" rtlCol="0" anchor="t">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Co-benefits, including air pollution</a:t>
            </a:r>
          </a:p>
        </p:txBody>
      </p:sp>
      <p:sp>
        <p:nvSpPr>
          <p:cNvPr id="426" name="Row line 426"/>
          <p:cNvSpPr/>
          <p:nvPr/>
        </p:nvSpPr>
        <p:spPr>
          <a:xfrm>
            <a:off x="1041400" y="3590500"/>
            <a:ext cx="5842800" cy="6350"/>
          </a:xfrm>
          <a:prstGeom prst="rect">
            <a:avLst/>
          </a:prstGeom>
          <a:solidFill>
            <a:srgbClr val="D8DCE2"/>
          </a:solidFill>
          <a:ln>
            <a:noFill/>
          </a:ln>
        </p:spPr>
        <p:txBody>
          <a:bodyPr/>
          <a:p/>
        </p:txBody>
      </p:sp>
      <p:sp>
        <p:nvSpPr>
          <p:cNvPr id="427" name="Text 427"/>
          <p:cNvSpPr txBox="1"/>
          <p:nvPr/>
        </p:nvSpPr>
        <p:spPr>
          <a:xfrm>
            <a:off x="1041400" y="3665500"/>
            <a:ext cx="1650000" cy="266375"/>
          </a:xfrm>
          <a:prstGeom prst="rect">
            <a:avLst/>
          </a:prstGeom>
          <a:noFill/>
        </p:spPr>
        <p:txBody>
          <a:bodyPr wrap="square" lIns="0" tIns="0" rIns="0" bIns="0" rtlCol="0" anchor="t">
            <a:noAutofit/>
          </a:bodyPr>
          <a:lstStyle/>
          <a:p>
            <a:pPr algn="l" marL="0" indent="0">
              <a:lnSpc>
                <a:spcPct val="120000"/>
              </a:lnSpc>
              <a:buNone/>
            </a:pPr>
            <a:r>
              <a:rPr lang="en-US" sz="1300" b="1" dirty="0">
                <a:solidFill>
                  <a:srgbClr val="14213D"/>
                </a:solidFill>
                <a:latin typeface="Calibri" pitchFamily="34" charset="0"/>
                <a:ea typeface="Calibri" pitchFamily="34" charset="-122"/>
                <a:cs typeface="Calibri" pitchFamily="34" charset="-120"/>
              </a:rPr>
              <a:t>Kacper</a:t>
            </a:r>
          </a:p>
        </p:txBody>
      </p:sp>
      <p:sp>
        <p:nvSpPr>
          <p:cNvPr id="428" name="Text 428"/>
          <p:cNvSpPr txBox="1"/>
          <p:nvPr/>
        </p:nvSpPr>
        <p:spPr>
          <a:xfrm>
            <a:off x="2691400" y="3665500"/>
            <a:ext cx="4192800" cy="266375"/>
          </a:xfrm>
          <a:prstGeom prst="rect">
            <a:avLst/>
          </a:prstGeom>
          <a:noFill/>
        </p:spPr>
        <p:txBody>
          <a:bodyPr wrap="square" lIns="0" tIns="0" rIns="0" bIns="0" rtlCol="0" anchor="t">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Perhaps: integration of air pollution and mitigation</a:t>
            </a:r>
          </a:p>
        </p:txBody>
      </p:sp>
      <p:sp>
        <p:nvSpPr>
          <p:cNvPr id="429" name="Row line 429"/>
          <p:cNvSpPr/>
          <p:nvPr/>
        </p:nvSpPr>
        <p:spPr>
          <a:xfrm>
            <a:off x="1041400" y="4006875"/>
            <a:ext cx="5842800" cy="6350"/>
          </a:xfrm>
          <a:prstGeom prst="rect">
            <a:avLst/>
          </a:prstGeom>
          <a:solidFill>
            <a:srgbClr val="D8DCE2"/>
          </a:solidFill>
          <a:ln>
            <a:noFill/>
          </a:ln>
        </p:spPr>
        <p:txBody>
          <a:bodyPr/>
          <a:p/>
        </p:txBody>
      </p:sp>
      <p:sp>
        <p:nvSpPr>
          <p:cNvPr id="430" name="Text 430"/>
          <p:cNvSpPr txBox="1"/>
          <p:nvPr/>
        </p:nvSpPr>
        <p:spPr>
          <a:xfrm>
            <a:off x="1041400" y="4081875"/>
            <a:ext cx="1650000" cy="266375"/>
          </a:xfrm>
          <a:prstGeom prst="rect">
            <a:avLst/>
          </a:prstGeom>
          <a:noFill/>
        </p:spPr>
        <p:txBody>
          <a:bodyPr wrap="square" lIns="0" tIns="0" rIns="0" bIns="0" rtlCol="0" anchor="t">
            <a:noAutofit/>
          </a:bodyPr>
          <a:lstStyle/>
          <a:p>
            <a:pPr algn="l" marL="0" indent="0">
              <a:lnSpc>
                <a:spcPct val="120000"/>
              </a:lnSpc>
              <a:buNone/>
            </a:pPr>
            <a:r>
              <a:rPr lang="en-US" sz="1300" b="1" dirty="0">
                <a:solidFill>
                  <a:srgbClr val="A8521A"/>
                </a:solidFill>
                <a:latin typeface="Calibri" pitchFamily="34" charset="0"/>
                <a:ea typeface="Calibri" pitchFamily="34" charset="-122"/>
                <a:cs typeface="Calibri" pitchFamily="34" charset="-120"/>
              </a:rPr>
              <a:t>Not covered yet</a:t>
            </a:r>
          </a:p>
        </p:txBody>
      </p:sp>
      <p:sp>
        <p:nvSpPr>
          <p:cNvPr id="431" name="Text 431"/>
          <p:cNvSpPr txBox="1"/>
          <p:nvPr/>
        </p:nvSpPr>
        <p:spPr>
          <a:xfrm>
            <a:off x="2691400" y="4081875"/>
            <a:ext cx="4192800" cy="266375"/>
          </a:xfrm>
          <a:prstGeom prst="rect">
            <a:avLst/>
          </a:prstGeom>
          <a:noFill/>
        </p:spPr>
        <p:txBody>
          <a:bodyPr wrap="square" lIns="0" tIns="0" rIns="0" bIns="0" rtlCol="0" anchor="t">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GDP multipliers; transport</a:t>
            </a:r>
          </a:p>
        </p:txBody>
      </p:sp>
      <p:sp>
        <p:nvSpPr>
          <p:cNvPr id="432" name="Row line 432"/>
          <p:cNvSpPr/>
          <p:nvPr/>
        </p:nvSpPr>
        <p:spPr>
          <a:xfrm>
            <a:off x="1041400" y="4423250"/>
            <a:ext cx="5842800" cy="6350"/>
          </a:xfrm>
          <a:prstGeom prst="rect">
            <a:avLst/>
          </a:prstGeom>
          <a:solidFill>
            <a:srgbClr val="D8DCE2"/>
          </a:solidFill>
          <a:ln>
            <a:noFill/>
          </a:ln>
        </p:spPr>
        <p:txBody>
          <a:bodyPr/>
          <a:p/>
        </p:txBody>
      </p:sp>
      <p:sp>
        <p:nvSpPr>
          <p:cNvPr id="433" name="Text 433"/>
          <p:cNvSpPr txBox="1"/>
          <p:nvPr/>
        </p:nvSpPr>
        <p:spPr>
          <a:xfrm>
            <a:off x="1041400" y="4498250"/>
            <a:ext cx="1650000" cy="472750"/>
          </a:xfrm>
          <a:prstGeom prst="rect">
            <a:avLst/>
          </a:prstGeom>
          <a:noFill/>
        </p:spPr>
        <p:txBody>
          <a:bodyPr wrap="square" lIns="0" tIns="0" rIns="0" bIns="0" rtlCol="0" anchor="t">
            <a:noAutofit/>
          </a:bodyPr>
          <a:lstStyle/>
          <a:p>
            <a:pPr algn="l" marL="0" indent="0">
              <a:lnSpc>
                <a:spcPct val="120000"/>
              </a:lnSpc>
              <a:buNone/>
            </a:pPr>
            <a:r>
              <a:rPr lang="en-US" sz="1300" b="1" dirty="0">
                <a:solidFill>
                  <a:srgbClr val="A8521A"/>
                </a:solidFill>
                <a:latin typeface="Calibri" pitchFamily="34" charset="0"/>
                <a:ea typeface="Calibri" pitchFamily="34" charset="-122"/>
                <a:cs typeface="Calibri" pitchFamily="34" charset="-120"/>
              </a:rPr>
              <a:t>Open</a:t>
            </a:r>
          </a:p>
        </p:txBody>
      </p:sp>
      <p:sp>
        <p:nvSpPr>
          <p:cNvPr id="434" name="Text 434"/>
          <p:cNvSpPr txBox="1"/>
          <p:nvPr/>
        </p:nvSpPr>
        <p:spPr>
          <a:xfrm>
            <a:off x="2691400" y="4498250"/>
            <a:ext cx="4192800" cy="472750"/>
          </a:xfrm>
          <a:prstGeom prst="rect">
            <a:avLst/>
          </a:prstGeom>
          <a:noFill/>
        </p:spPr>
        <p:txBody>
          <a:bodyPr wrap="square" lIns="0" tIns="0" rIns="0" bIns="0" rtlCol="0" anchor="t">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Other aspects of GHG accounting and policy crediting (apart from the tool)</a:t>
            </a:r>
          </a:p>
        </p:txBody>
      </p:sp>
      <p:sp>
        <p:nvSpPr>
          <p:cNvPr id="435" name="Text 435"/>
          <p:cNvSpPr txBox="1"/>
          <p:nvPr/>
        </p:nvSpPr>
        <p:spPr>
          <a:xfrm>
            <a:off x="7524280" y="2020000"/>
            <a:ext cx="3626320" cy="220000"/>
          </a:xfrm>
          <a:prstGeom prst="rect">
            <a:avLst/>
          </a:prstGeom>
          <a:noFill/>
        </p:spPr>
        <p:txBody>
          <a:bodyPr wrap="square" lIns="0" tIns="0" rIns="0" bIns="0" rtlCol="0" anchor="t">
            <a:noAutofit/>
          </a:bodyPr>
          <a:lstStyle/>
          <a:p>
            <a:pPr algn="l" marL="0" indent="0">
              <a:lnSpc>
                <a:spcPct val="120000"/>
              </a:lnSpc>
              <a:buNone/>
            </a:pPr>
            <a:r>
              <a:rPr lang="en-US" sz="1100" b="1" spc="100" dirty="0">
                <a:solidFill>
                  <a:srgbClr val="3D7A73"/>
                </a:solidFill>
                <a:latin typeface="Calibri" pitchFamily="34" charset="0"/>
                <a:ea typeface="Calibri" pitchFamily="34" charset="-122"/>
                <a:cs typeface="Calibri" pitchFamily="34" charset="-120"/>
              </a:rPr>
              <a:t>OTHER AI TOOLS</a:t>
            </a:r>
          </a:p>
        </p:txBody>
      </p:sp>
      <p:sp>
        <p:nvSpPr>
          <p:cNvPr id="436" name="Text 436"/>
          <p:cNvSpPr txBox="1"/>
          <p:nvPr/>
        </p:nvSpPr>
        <p:spPr>
          <a:xfrm>
            <a:off x="7524280" y="2420000"/>
            <a:ext cx="1250000" cy="1263000"/>
          </a:xfrm>
          <a:prstGeom prst="rect">
            <a:avLst/>
          </a:prstGeom>
          <a:noFill/>
        </p:spPr>
        <p:txBody>
          <a:bodyPr wrap="square" lIns="0" tIns="0" rIns="0" bIns="0" rtlCol="0" anchor="t">
            <a:noAutofit/>
          </a:bodyPr>
          <a:lstStyle/>
          <a:p>
            <a:pPr algn="l" marL="0" indent="0">
              <a:lnSpc>
                <a:spcPct val="120000"/>
              </a:lnSpc>
              <a:buNone/>
            </a:pPr>
            <a:r>
              <a:rPr lang="en-US" sz="1200" b="1" dirty="0">
                <a:solidFill>
                  <a:srgbClr val="14213D"/>
                </a:solidFill>
                <a:latin typeface="Calibri" pitchFamily="34" charset="0"/>
                <a:ea typeface="Calibri" pitchFamily="34" charset="-122"/>
                <a:cs typeface="Calibri" pitchFamily="34" charset="-120"/>
              </a:rPr>
              <a:t>Stephen</a:t>
            </a:r>
          </a:p>
        </p:txBody>
      </p:sp>
      <p:sp>
        <p:nvSpPr>
          <p:cNvPr id="437" name="Text 437"/>
          <p:cNvSpPr txBox="1"/>
          <p:nvPr/>
        </p:nvSpPr>
        <p:spPr>
          <a:xfrm>
            <a:off x="8774280" y="2420000"/>
            <a:ext cx="2376320" cy="1263000"/>
          </a:xfrm>
          <a:prstGeom prst="rect">
            <a:avLst/>
          </a:prstGeom>
          <a:noFill/>
        </p:spPr>
        <p:txBody>
          <a:bodyPr wrap="square" lIns="0" tIns="0" rIns="0" bIns="0" rtlCol="0" anchor="t">
            <a:noAutofit/>
          </a:bodyPr>
          <a:lstStyle/>
          <a:p>
            <a:pPr algn="l" marL="171450" indent="-171450">
              <a:lnSpc>
                <a:spcPct val="110000"/>
              </a:lnSpc>
              <a:spcAft>
                <a:spcPts val="400"/>
              </a:spcAft>
              <a:buSzPct val="100000"/>
              <a:buChar char="•"/>
            </a:pPr>
            <a:r>
              <a:rPr lang="en-US" sz="1200" dirty="0">
                <a:solidFill>
                  <a:srgbClr val="3F4A5A"/>
                </a:solidFill>
                <a:latin typeface="Calibri" pitchFamily="34" charset="0"/>
                <a:ea typeface="Calibri" pitchFamily="34" charset="-122"/>
                <a:cs typeface="Calibri" pitchFamily="34" charset="-120"/>
              </a:rPr>
              <a:t>Excise Diagnostic, including the full handover pack and scripts</a:t>
            </a:r>
          </a:p>
          <a:p>
            <a:pPr algn="l" marL="171450" indent="-171450">
              <a:lnSpc>
                <a:spcPct val="110000"/>
              </a:lnSpc>
              <a:spcAft>
                <a:spcPts val="400"/>
              </a:spcAft>
              <a:buSzPct val="100000"/>
              <a:buChar char="•"/>
            </a:pPr>
            <a:r>
              <a:rPr lang="en-US" sz="1200" dirty="0">
                <a:solidFill>
                  <a:srgbClr val="3F4A5A"/>
                </a:solidFill>
                <a:latin typeface="Calibri" pitchFamily="34" charset="0"/>
                <a:ea typeface="Calibri" pitchFamily="34" charset="-122"/>
                <a:cs typeface="Calibri" pitchFamily="34" charset="-120"/>
              </a:rPr>
              <a:t>Tax and Macro-Fiscal Dashboard, including the full handover pack and scripts</a:t>
            </a:r>
          </a:p>
        </p:txBody>
      </p:sp>
      <p:sp>
        <p:nvSpPr>
          <p:cNvPr id="438" name="Row line 438"/>
          <p:cNvSpPr/>
          <p:nvPr/>
        </p:nvSpPr>
        <p:spPr>
          <a:xfrm>
            <a:off x="7524280" y="3758000"/>
            <a:ext cx="3626320" cy="6350"/>
          </a:xfrm>
          <a:prstGeom prst="rect">
            <a:avLst/>
          </a:prstGeom>
          <a:solidFill>
            <a:srgbClr val="D8DCE2"/>
          </a:solidFill>
          <a:ln>
            <a:noFill/>
          </a:ln>
        </p:spPr>
        <p:txBody>
          <a:bodyPr/>
          <a:p/>
        </p:txBody>
      </p:sp>
      <p:sp>
        <p:nvSpPr>
          <p:cNvPr id="439" name="Text 439"/>
          <p:cNvSpPr txBox="1"/>
          <p:nvPr/>
        </p:nvSpPr>
        <p:spPr>
          <a:xfrm>
            <a:off x="7524280" y="3833000"/>
            <a:ext cx="1250000" cy="250500"/>
          </a:xfrm>
          <a:prstGeom prst="rect">
            <a:avLst/>
          </a:prstGeom>
          <a:noFill/>
        </p:spPr>
        <p:txBody>
          <a:bodyPr wrap="square" lIns="0" tIns="0" rIns="0" bIns="0" rtlCol="0" anchor="t">
            <a:noAutofit/>
          </a:bodyPr>
          <a:lstStyle/>
          <a:p>
            <a:pPr algn="l" marL="0" indent="0">
              <a:lnSpc>
                <a:spcPct val="120000"/>
              </a:lnSpc>
              <a:buNone/>
            </a:pPr>
            <a:r>
              <a:rPr lang="en-US" sz="1200" b="1" dirty="0">
                <a:solidFill>
                  <a:srgbClr val="14213D"/>
                </a:solidFill>
                <a:latin typeface="Calibri" pitchFamily="34" charset="0"/>
                <a:ea typeface="Calibri" pitchFamily="34" charset="-122"/>
                <a:cs typeface="Calibri" pitchFamily="34" charset="-120"/>
              </a:rPr>
              <a:t>Dirk and others</a:t>
            </a:r>
          </a:p>
        </p:txBody>
      </p:sp>
      <p:sp>
        <p:nvSpPr>
          <p:cNvPr id="440" name="Text 440"/>
          <p:cNvSpPr txBox="1"/>
          <p:nvPr/>
        </p:nvSpPr>
        <p:spPr>
          <a:xfrm>
            <a:off x="8774280" y="3833000"/>
            <a:ext cx="2376320" cy="250500"/>
          </a:xfrm>
          <a:prstGeom prst="rect">
            <a:avLst/>
          </a:prstGeom>
          <a:noFill/>
        </p:spPr>
        <p:txBody>
          <a:bodyPr wrap="square" lIns="0" tIns="0" rIns="0" bIns="0" rtlCol="0" anchor="t">
            <a:noAutofit/>
          </a:bodyPr>
          <a:lstStyle/>
          <a:p>
            <a:pPr algn="l" marL="0" indent="0">
              <a:lnSpc>
                <a:spcPct val="110000"/>
              </a:lnSpc>
              <a:buNone/>
            </a:pPr>
            <a:r>
              <a:rPr lang="en-US" sz="1200" dirty="0">
                <a:solidFill>
                  <a:srgbClr val="3F4A5A"/>
                </a:solidFill>
                <a:latin typeface="Calibri" pitchFamily="34" charset="0"/>
                <a:ea typeface="Calibri" pitchFamily="34" charset="-122"/>
                <a:cs typeface="Calibri" pitchFamily="34" charset="-120"/>
              </a:rPr>
              <a:t>Further development of these</a:t>
            </a:r>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For discussion · Use of AI in climate fiscal tools · 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0">
    <p:bg>
      <p:bgPr>
        <a:solidFill>
          <a:srgbClr val="F7F6F1"/>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4213D"/>
                </a:solidFill>
                <a:latin typeface="Calibri" pitchFamily="34" charset="0"/>
                <a:ea typeface="Calibri" pitchFamily="34" charset="-122"/>
                <a:cs typeface="Calibri" pitchFamily="34" charset="-120"/>
              </a:rPr>
              <a:t>PART 4 · WHAT TO KEEP AND WHAT TO DROP</a:t>
            </a:r>
            <a:endParaRPr lang="en-US" sz="1200" dirty="0"/>
          </a:p>
        </p:txBody>
      </p:sp>
      <p:sp>
        <p:nvSpPr>
          <p:cNvPr id="3" name="Text 1"/>
          <p:cNvSpPr txBox="1"/>
          <p:nvPr/>
        </p:nvSpPr>
        <p:spPr>
          <a:xfrm>
            <a:off x="812800" y="1127720"/>
            <a:ext cx="10464800" cy="817761"/>
          </a:xfrm>
          <a:prstGeom prst="rect">
            <a:avLst/>
          </a:prstGeom>
          <a:noFill/>
          <a:ln/>
        </p:spPr>
        <p:txBody>
          <a:bodyPr wrap="square" lIns="0" tIns="0" rIns="0" bIns="0" rtlCol="0" anchor="t"/>
          <a:lstStyle/>
          <a:p>
            <a:pPr algn="l" indent="0" marL="0">
              <a:lnSpc>
                <a:spcPct val="115000"/>
              </a:lnSpc>
              <a:buNone/>
            </a:pPr>
            <a:r>
              <a:rPr lang="en-US" sz="2800" b="1" dirty="0">
                <a:solidFill>
                  <a:srgbClr val="14213D"/>
                </a:solidFill>
                <a:latin typeface="Cambria" pitchFamily="34" charset="0"/>
                <a:ea typeface="Cambria" pitchFamily="34" charset="-122"/>
                <a:cs typeface="Cambria" pitchFamily="34" charset="-120"/>
              </a:rPr>
              <a:t>Full to 20 March: anything added must replace something</a:t>
            </a:r>
            <a:endParaRPr lang="en-US" sz="2800" dirty="0"/>
          </a:p>
        </p:txBody>
      </p:sp>
      <p:sp>
        <p:nvSpPr>
          <p:cNvPr id="4" name="Shape 2"/>
          <p:cNvSpPr/>
          <p:nvPr/>
        </p:nvSpPr>
        <p:spPr>
          <a:xfrm>
            <a:off x="812800" y="2148681"/>
            <a:ext cx="3403600" cy="3450000"/>
          </a:xfrm>
          <a:prstGeom prst="roundRect">
            <a:avLst>
              <a:gd name="adj" fmla="val 2265"/>
            </a:avLst>
          </a:prstGeom>
          <a:solidFill>
            <a:srgbClr val="14213D"/>
          </a:solidFill>
          <a:ln/>
        </p:spPr>
        <p:txBody>
          <a:bodyPr/>
          <a:p/>
        </p:txBody>
      </p:sp>
      <p:sp>
        <p:nvSpPr>
          <p:cNvPr id="5" name="Text 3"/>
          <p:cNvSpPr txBox="1"/>
          <p:nvPr/>
        </p:nvSpPr>
        <p:spPr>
          <a:xfrm>
            <a:off x="1041400" y="2377281"/>
            <a:ext cx="3034792" cy="231080"/>
          </a:xfrm>
          <a:prstGeom prst="rect">
            <a:avLst/>
          </a:prstGeom>
          <a:noFill/>
          <a:ln/>
        </p:spPr>
        <p:txBody>
          <a:bodyPr wrap="square" lIns="0" tIns="0" rIns="0" bIns="0" rtlCol="0" anchor="t"/>
          <a:lstStyle/>
          <a:p>
            <a:pPr algn="l" indent="0" marL="0">
              <a:lnSpc>
                <a:spcPct val="140000"/>
              </a:lnSpc>
              <a:buNone/>
            </a:pPr>
            <a:r>
              <a:rPr lang="en-US" sz="1300" b="1" spc="100" kern="0" dirty="0">
                <a:solidFill>
                  <a:srgbClr val="E3A36B"/>
                </a:solidFill>
                <a:latin typeface="Calibri" pitchFamily="34" charset="0"/>
                <a:ea typeface="Calibri" pitchFamily="34" charset="-122"/>
                <a:cs typeface="Calibri" pitchFamily="34" charset="-120"/>
              </a:rPr>
              <a:t>KEEP · CORE</a:t>
            </a:r>
            <a:endParaRPr lang="en-US" sz="1300" dirty="0"/>
          </a:p>
        </p:txBody>
      </p:sp>
      <p:sp>
        <p:nvSpPr>
          <p:cNvPr id="6" name="Text 4"/>
          <p:cNvSpPr txBox="1"/>
          <p:nvPr/>
        </p:nvSpPr>
        <p:spPr>
          <a:xfrm>
            <a:off x="1041400" y="269726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E6EBF2"/>
                </a:solidFill>
                <a:latin typeface="Calibri" pitchFamily="34" charset="0"/>
                <a:ea typeface="Calibri" pitchFamily="34" charset="-122"/>
                <a:cs typeface="Calibri" pitchFamily="34" charset="-120"/>
              </a:rPr>
              <a:t>Coded-Conversion, Excel-AI-CPAT and Shiny app (1a–1c).</a:t>
            </a:r>
            <a:pPr algn="l" indent="0" marL="0">
              <a:lnSpc>
                <a:spcPct val="145000"/>
              </a:lnSpc>
              <a:buNone/>
            </a:pPr>
            <a:r>
              <a:rPr lang="en-US" sz="1200" dirty="0">
                <a:solidFill>
                  <a:srgbClr val="E6EBF2"/>
                </a:solidFill>
                <a:latin typeface="Calibri" pitchFamily="34" charset="0"/>
                <a:ea typeface="Calibri" pitchFamily="34" charset="-122"/>
                <a:cs typeface="Calibri" pitchFamily="34" charset="-120"/>
              </a:rPr>
              <a:t> 50 days; the base for the rest</a:t>
            </a:r>
            <a:endParaRPr lang="en-US" sz="1200" dirty="0"/>
          </a:p>
        </p:txBody>
      </p:sp>
      <p:sp>
        <p:nvSpPr>
          <p:cNvPr id="7" name="Text 5"/>
          <p:cNvSpPr txBox="1"/>
          <p:nvPr/>
        </p:nvSpPr>
        <p:spPr>
          <a:xfrm>
            <a:off x="1041400" y="3289182"/>
            <a:ext cx="3034792" cy="66288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E6EBF2"/>
                </a:solidFill>
                <a:latin typeface="Calibri" pitchFamily="34" charset="0"/>
                <a:ea typeface="Calibri" pitchFamily="34" charset="-122"/>
                <a:cs typeface="Calibri" pitchFamily="34" charset="-120"/>
              </a:rPr>
              <a:t>Application to GHG accounting, crediting and FFI (2a).</a:t>
            </a:r>
            <a:pPr algn="l" indent="0" marL="0">
              <a:lnSpc>
                <a:spcPct val="145000"/>
              </a:lnSpc>
              <a:buNone/>
            </a:pPr>
            <a:r>
              <a:rPr lang="en-US" sz="1200" dirty="0">
                <a:solidFill>
                  <a:srgbClr val="E6EBF2"/>
                </a:solidFill>
                <a:latin typeface="Calibri" pitchFamily="34" charset="0"/>
                <a:ea typeface="Calibri" pitchFamily="34" charset="-122"/>
                <a:cs typeface="Calibri" pitchFamily="34" charset="-120"/>
              </a:rPr>
              <a:t> Simple tool, with the Total Carbon Price; delivered by 5 Mar</a:t>
            </a:r>
            <a:endParaRPr lang="en-US" sz="1200" dirty="0"/>
          </a:p>
        </p:txBody>
      </p:sp>
      <p:sp>
        <p:nvSpPr>
          <p:cNvPr id="8" name="Text 6"/>
          <p:cNvSpPr txBox="1"/>
          <p:nvPr/>
        </p:nvSpPr>
        <p:spPr>
          <a:xfrm>
            <a:off x="1041400" y="410206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E6EBF2"/>
                </a:solidFill>
                <a:latin typeface="Calibri" pitchFamily="34" charset="0"/>
                <a:ea typeface="Calibri" pitchFamily="34" charset="-122"/>
                <a:cs typeface="Calibri" pitchFamily="34" charset="-120"/>
              </a:rPr>
              <a:t>CPAT–SiSePuede (2c).</a:t>
            </a:r>
            <a:pPr algn="l" indent="0" marL="0">
              <a:lnSpc>
                <a:spcPct val="145000"/>
              </a:lnSpc>
              <a:buNone/>
            </a:pPr>
            <a:r>
              <a:rPr lang="en-US" sz="1200" dirty="0">
                <a:solidFill>
                  <a:srgbClr val="E6EBF2"/>
                </a:solidFill>
                <a:latin typeface="Calibri" pitchFamily="34" charset="0"/>
                <a:ea typeface="Calibri" pitchFamily="34" charset="-122"/>
                <a:cs typeface="Calibri" pitchFamily="34" charset="-120"/>
              </a:rPr>
              <a:t> Pathways integration and pilot countries, 4–15 Jan; tool complete 15 Jan</a:t>
            </a:r>
            <a:endParaRPr lang="en-US" sz="1200" dirty="0"/>
          </a:p>
        </p:txBody>
      </p:sp>
      <p:sp>
        <p:nvSpPr>
          <p:cNvPr id="9" name="Shape 7"/>
          <p:cNvSpPr/>
          <p:nvPr/>
        </p:nvSpPr>
        <p:spPr>
          <a:xfrm>
            <a:off x="4394200" y="2148681"/>
            <a:ext cx="3403600" cy="3450000"/>
          </a:xfrm>
          <a:prstGeom prst="roundRect">
            <a:avLst>
              <a:gd name="adj" fmla="val 2265"/>
            </a:avLst>
          </a:prstGeom>
          <a:solidFill>
            <a:srgbClr val="FFFFFF"/>
          </a:solidFill>
          <a:ln/>
        </p:spPr>
        <p:txBody>
          <a:bodyPr/>
          <a:p/>
        </p:txBody>
      </p:sp>
      <p:sp>
        <p:nvSpPr>
          <p:cNvPr id="10" name="Shape 8"/>
          <p:cNvSpPr/>
          <p:nvPr/>
        </p:nvSpPr>
        <p:spPr>
          <a:xfrm>
            <a:off x="4394200" y="2148681"/>
            <a:ext cx="3403600" cy="38100"/>
          </a:xfrm>
          <a:prstGeom prst="rect">
            <a:avLst/>
          </a:prstGeom>
          <a:solidFill>
            <a:srgbClr val="1F5A96"/>
          </a:solidFill>
          <a:ln/>
        </p:spPr>
        <p:txBody>
          <a:bodyPr/>
          <a:p/>
        </p:txBody>
      </p:sp>
      <p:sp>
        <p:nvSpPr>
          <p:cNvPr id="11" name="Text 9"/>
          <p:cNvSpPr txBox="1"/>
          <p:nvPr/>
        </p:nvSpPr>
        <p:spPr>
          <a:xfrm>
            <a:off x="4622800" y="2415381"/>
            <a:ext cx="3034792" cy="231080"/>
          </a:xfrm>
          <a:prstGeom prst="rect">
            <a:avLst/>
          </a:prstGeom>
          <a:noFill/>
          <a:ln/>
        </p:spPr>
        <p:txBody>
          <a:bodyPr wrap="square" lIns="0" tIns="0" rIns="0" bIns="0" rtlCol="0" anchor="t"/>
          <a:lstStyle/>
          <a:p>
            <a:pPr algn="l" indent="0" marL="0">
              <a:lnSpc>
                <a:spcPct val="140000"/>
              </a:lnSpc>
              <a:buNone/>
            </a:pPr>
            <a:r>
              <a:rPr lang="en-US" sz="1300" b="1" spc="100" kern="0" dirty="0">
                <a:solidFill>
                  <a:srgbClr val="1F5A96"/>
                </a:solidFill>
                <a:latin typeface="Calibri" pitchFamily="34" charset="0"/>
                <a:ea typeface="Calibri" pitchFamily="34" charset="-122"/>
                <a:cs typeface="Calibri" pitchFamily="34" charset="-120"/>
              </a:rPr>
              <a:t>KEEP · SMALL</a:t>
            </a:r>
            <a:endParaRPr lang="en-US" sz="1300" dirty="0"/>
          </a:p>
        </p:txBody>
      </p:sp>
      <p:sp>
        <p:nvSpPr>
          <p:cNvPr id="12" name="Text 10"/>
          <p:cNvSpPr txBox="1"/>
          <p:nvPr/>
        </p:nvSpPr>
        <p:spPr>
          <a:xfrm>
            <a:off x="4622800" y="273536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Planning and Egypt work (2c).</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This week, to 2 Oct</a:t>
            </a:r>
            <a:endParaRPr lang="en-US" sz="1200" dirty="0"/>
          </a:p>
        </p:txBody>
      </p:sp>
      <p:sp>
        <p:nvSpPr>
          <p:cNvPr id="13" name="Text 11"/>
          <p:cNvSpPr txBox="1"/>
          <p:nvPr/>
        </p:nvSpPr>
        <p:spPr>
          <a:xfrm>
            <a:off x="4622800" y="332728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Existing models (2b).</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FTT and MFMod (tbc); one week, 8–12 Feb</a:t>
            </a:r>
            <a:endParaRPr lang="en-US" sz="1200" dirty="0"/>
          </a:p>
        </p:txBody>
      </p:sp>
      <p:sp>
        <p:nvSpPr>
          <p:cNvPr id="14" name="Text 12"/>
          <p:cNvSpPr txBox="1"/>
          <p:nvPr/>
        </p:nvSpPr>
        <p:spPr>
          <a:xfrm>
            <a:off x="4622800" y="3919202"/>
            <a:ext cx="3034792" cy="66288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Excise Diagnostic and Tax and Macro-Fiscal Dashboard (3a, 3b).</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To Dirk 16 and 23 Oct, as they stand; follow-up 8–12 Mar</a:t>
            </a:r>
            <a:endParaRPr lang="en-US" sz="1200" dirty="0"/>
          </a:p>
        </p:txBody>
      </p:sp>
      <p:sp>
        <p:nvSpPr>
          <p:cNvPr id="15" name="Text 13"/>
          <p:cNvSpPr txBox="1"/>
          <p:nvPr/>
        </p:nvSpPr>
        <p:spPr>
          <a:xfrm>
            <a:off x="4622800" y="473208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Energy GP cross-support (3c, tbc).</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Not funded: 0–2 weeks if funding appears</a:t>
            </a:r>
            <a:endParaRPr lang="en-US" sz="1200" dirty="0"/>
          </a:p>
        </p:txBody>
      </p:sp>
      <p:sp>
        <p:nvSpPr>
          <p:cNvPr id="17" name="Shape 15"/>
          <p:cNvSpPr/>
          <p:nvPr/>
        </p:nvSpPr>
        <p:spPr>
          <a:xfrm>
            <a:off x="7975600" y="2148681"/>
            <a:ext cx="3403600" cy="3450000"/>
          </a:xfrm>
          <a:prstGeom prst="roundRect">
            <a:avLst>
              <a:gd name="adj" fmla="val 2265"/>
            </a:avLst>
          </a:prstGeom>
          <a:solidFill>
            <a:srgbClr val="EFEDE6"/>
          </a:solidFill>
          <a:ln/>
        </p:spPr>
        <p:txBody>
          <a:bodyPr/>
          <a:p/>
        </p:txBody>
      </p:sp>
      <p:sp>
        <p:nvSpPr>
          <p:cNvPr id="18" name="Shape 16"/>
          <p:cNvSpPr/>
          <p:nvPr/>
        </p:nvSpPr>
        <p:spPr>
          <a:xfrm>
            <a:off x="7975600" y="2148681"/>
            <a:ext cx="3403600" cy="38100"/>
          </a:xfrm>
          <a:prstGeom prst="rect">
            <a:avLst/>
          </a:prstGeom>
          <a:solidFill>
            <a:srgbClr val="7A8494"/>
          </a:solidFill>
          <a:ln/>
        </p:spPr>
        <p:txBody>
          <a:bodyPr/>
          <a:p/>
        </p:txBody>
      </p:sp>
      <p:sp>
        <p:nvSpPr>
          <p:cNvPr id="19" name="Text 17"/>
          <p:cNvSpPr txBox="1"/>
          <p:nvPr/>
        </p:nvSpPr>
        <p:spPr>
          <a:xfrm>
            <a:off x="8204200" y="2415381"/>
            <a:ext cx="3034792" cy="231080"/>
          </a:xfrm>
          <a:prstGeom prst="rect">
            <a:avLst/>
          </a:prstGeom>
          <a:noFill/>
          <a:ln/>
        </p:spPr>
        <p:txBody>
          <a:bodyPr wrap="square" lIns="0" tIns="0" rIns="0" bIns="0" rtlCol="0" anchor="t"/>
          <a:lstStyle/>
          <a:p>
            <a:pPr algn="l" indent="0" marL="0">
              <a:lnSpc>
                <a:spcPct val="140000"/>
              </a:lnSpc>
              <a:buNone/>
            </a:pPr>
            <a:r>
              <a:rPr lang="en-US" sz="1300" b="1" spc="100" kern="0" dirty="0">
                <a:solidFill>
                  <a:srgbClr val="5B6573"/>
                </a:solidFill>
                <a:latin typeface="Calibri" pitchFamily="34" charset="0"/>
                <a:ea typeface="Calibri" pitchFamily="34" charset="-122"/>
                <a:cs typeface="Calibri" pitchFamily="34" charset="-120"/>
              </a:rPr>
              <a:t>DROP OR DEFER</a:t>
            </a:r>
            <a:endParaRPr lang="en-US" sz="1300" dirty="0"/>
          </a:p>
        </p:txBody>
      </p:sp>
      <p:sp>
        <p:nvSpPr>
          <p:cNvPr id="20" name="Text 18"/>
          <p:cNvSpPr txBox="1"/>
          <p:nvPr/>
        </p:nvSpPr>
        <p:spPr>
          <a:xfrm>
            <a:off x="8204200" y="273536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Patching legacy Excel</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(new tab, Lambdas): superseded</a:t>
            </a:r>
            <a:endParaRPr lang="en-US" sz="1200" dirty="0"/>
          </a:p>
        </p:txBody>
      </p:sp>
      <p:sp>
        <p:nvSpPr>
          <p:cNvPr id="21" name="Text 19"/>
          <p:cNvSpPr txBox="1"/>
          <p:nvPr/>
        </p:nvSpPr>
        <p:spPr>
          <a:xfrm>
            <a:off x="8204200" y="3247282"/>
            <a:ext cx="3034792" cy="22096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Validating legacy CPAT:</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separate note</a:t>
            </a:r>
            <a:endParaRPr lang="en-US" sz="1200" dirty="0"/>
          </a:p>
        </p:txBody>
      </p:sp>
      <p:sp>
        <p:nvSpPr>
          <p:cNvPr id="22" name="Text 20"/>
          <p:cNvSpPr txBox="1"/>
          <p:nvPr/>
        </p:nvSpPr>
        <p:spPr>
          <a:xfrm>
            <a:off x="8204200" y="353824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Full CPAT replacement;</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merging FTT or MFMod: later</a:t>
            </a:r>
            <a:endParaRPr lang="en-US" sz="1200" dirty="0"/>
          </a:p>
        </p:txBody>
      </p:sp>
      <p:sp>
        <p:nvSpPr>
          <p:cNvPr id="23" name="Text 21"/>
          <p:cNvSpPr txBox="1"/>
          <p:nvPr/>
        </p:nvSpPr>
        <p:spPr>
          <a:xfrm>
            <a:off x="8204200" y="405016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April items</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not in FY27 plan: ETS pilot, downstream pricing, CPAT paper</a:t>
            </a:r>
            <a:endParaRPr lang="en-US" sz="1200" dirty="0"/>
          </a:p>
        </p:txBody>
      </p:sp>
      <p:sp>
        <p:nvSpPr>
          <p:cNvPr id="300" name="Text 23"/>
          <p:cNvSpPr txBox="1"/>
          <p:nvPr/>
        </p:nvSpPr>
        <p:spPr>
          <a:xfrm>
            <a:off x="8204200" y="4562082"/>
            <a:ext cx="3034792" cy="44192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Not included:</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other mitigation, co-benefits and air pollution integration</a:t>
            </a:r>
            <a:endParaRPr lang="en-US" sz="1200" dirty="0"/>
          </a:p>
        </p:txBody>
      </p:sp>
      <p:sp>
        <p:nvSpPr>
          <p:cNvPr id="301" name="Text 24"/>
          <p:cNvSpPr txBox="1"/>
          <p:nvPr/>
        </p:nvSpPr>
        <p:spPr>
          <a:xfrm>
            <a:off x="8204200" y="5074002"/>
            <a:ext cx="3034792" cy="220960"/>
          </a:xfrm>
          <a:prstGeom prst="rect">
            <a:avLst/>
          </a:prstGeom>
          <a:noFill/>
          <a:ln/>
        </p:spPr>
        <p:txBody>
          <a:bodyPr wrap="square" lIns="0" tIns="0" rIns="0" bIns="0" rtlCol="0" anchor="t"/>
          <a:lstStyle/>
          <a:p>
            <a:pPr algn="l" marL="175260" indent="-175260">
              <a:lnSpc>
                <a:spcPct val="145000"/>
              </a:lnSpc>
              <a:buSzPct val="100000"/>
              <a:buChar char="•"/>
            </a:pPr>
            <a:r>
              <a:rPr lang="en-US" sz="1200" b="1" dirty="0">
                <a:solidFill>
                  <a:srgbClr val="3F4A5A"/>
                </a:solidFill>
                <a:latin typeface="Calibri" pitchFamily="34" charset="0"/>
                <a:ea typeface="Calibri" pitchFamily="34" charset="-122"/>
                <a:cs typeface="Calibri" pitchFamily="34" charset="-120"/>
              </a:rPr>
              <a:t>Policy issue reports:</a:t>
            </a:r>
            <a:pPr algn="l" indent="0" marL="0">
              <a:lnSpc>
                <a:spcPct val="145000"/>
              </a:lnSpc>
              <a:buNone/>
            </a:pPr>
            <a:r>
              <a:rPr lang="en-US" sz="1200" dirty="0">
                <a:solidFill>
                  <a:srgbClr val="3F4A5A"/>
                </a:solidFill>
                <a:latin typeface="Calibri" pitchFamily="34" charset="0"/>
                <a:ea typeface="Calibri" pitchFamily="34" charset="-122"/>
                <a:cs typeface="Calibri" pitchFamily="34" charset="-120"/>
              </a:rPr>
              <a:t> dropped</a:t>
            </a:r>
            <a:endParaRPr lang="en-US" sz="1200" dirty="0"/>
          </a:p>
        </p:txBody>
      </p:sp>
      <p:sp>
        <p:nvSpPr>
          <p:cNvPr id="24" name="Text 22"/>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Source: FY27 master plan (Excel), 30 Sep 2026 · Use of AI in climate fiscal tools · 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7">
    <p:bg>
      <p:bgPr>
        <a:solidFill>
          <a:srgbClr val="EAEEF2"/>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A8521A"/>
                </a:solidFill>
                <a:latin typeface="Calibri" pitchFamily="34" charset="0"/>
                <a:ea typeface="Calibri" pitchFamily="34" charset="-122"/>
                <a:cs typeface="Calibri" pitchFamily="34" charset="-120"/>
              </a:rPr>
              <a:t>PART 4 · NEXT STEPS</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What do you need to do?</a:t>
            </a:r>
            <a:endParaRPr lang="en-US" sz="3200" dirty="0"/>
          </a:p>
        </p:txBody>
      </p:sp>
      <p:sp>
        <p:nvSpPr>
          <p:cNvPr id="511" name="Card 512"/>
          <p:cNvSpPr/>
          <p:nvPr/>
        </p:nvSpPr>
        <p:spPr>
          <a:xfrm>
            <a:off x="812800" y="1800000"/>
            <a:ext cx="10566400" cy="640000"/>
          </a:xfrm>
          <a:prstGeom prst="roundRect">
            <a:avLst>
              <a:gd name="adj" fmla="val 2703"/>
            </a:avLst>
          </a:prstGeom>
          <a:solidFill>
            <a:srgbClr val="FFFFFF"/>
          </a:solidFill>
          <a:ln/>
        </p:spPr>
        <p:txBody>
          <a:bodyPr/>
          <a:p/>
        </p:txBody>
      </p:sp>
      <p:sp>
        <p:nvSpPr>
          <p:cNvPr id="513" name="Step 513"/>
          <p:cNvSpPr/>
          <p:nvPr/>
        </p:nvSpPr>
        <p:spPr>
          <a:xfrm>
            <a:off x="1072800" y="1930000"/>
            <a:ext cx="380000" cy="380000"/>
          </a:xfrm>
          <a:prstGeom prst="ellipse">
            <a:avLst/>
          </a:prstGeom>
          <a:solidFill>
            <a:srgbClr val="A8521A"/>
          </a:solidFill>
          <a:ln>
            <a:noFill/>
          </a:ln>
        </p:spPr>
        <p:txBody>
          <a:bodyPr/>
          <a:p/>
        </p:txBody>
      </p:sp>
      <p:sp>
        <p:nvSpPr>
          <p:cNvPr id="514" name="Text 514"/>
          <p:cNvSpPr txBox="1"/>
          <p:nvPr/>
        </p:nvSpPr>
        <p:spPr>
          <a:xfrm>
            <a:off x="1072800" y="19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1</a:t>
            </a:r>
          </a:p>
        </p:txBody>
      </p:sp>
      <p:sp>
        <p:nvSpPr>
          <p:cNvPr id="515" name="Text 515"/>
          <p:cNvSpPr txBox="1"/>
          <p:nvPr/>
        </p:nvSpPr>
        <p:spPr>
          <a:xfrm>
            <a:off x="1712800" y="18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Get the tools</a:t>
            </a:r>
          </a:p>
        </p:txBody>
      </p:sp>
      <p:sp>
        <p:nvSpPr>
          <p:cNvPr id="516" name="Text 516"/>
          <p:cNvSpPr txBox="1"/>
          <p:nvPr/>
        </p:nvSpPr>
        <p:spPr>
          <a:xfrm>
            <a:off x="4712800" y="18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Download GitHub Copilot, and get a personal Claude account too: both can be free at first.</a:t>
            </a:r>
          </a:p>
        </p:txBody>
      </p:sp>
      <p:sp>
        <p:nvSpPr>
          <p:cNvPr id="517" name="Card 518"/>
          <p:cNvSpPr/>
          <p:nvPr/>
        </p:nvSpPr>
        <p:spPr>
          <a:xfrm>
            <a:off x="812800" y="2550000"/>
            <a:ext cx="10566400" cy="640000"/>
          </a:xfrm>
          <a:prstGeom prst="roundRect">
            <a:avLst>
              <a:gd name="adj" fmla="val 2703"/>
            </a:avLst>
          </a:prstGeom>
          <a:solidFill>
            <a:srgbClr val="FFFFFF"/>
          </a:solidFill>
          <a:ln/>
        </p:spPr>
        <p:txBody>
          <a:bodyPr/>
          <a:p/>
        </p:txBody>
      </p:sp>
      <p:sp>
        <p:nvSpPr>
          <p:cNvPr id="519" name="Step 519"/>
          <p:cNvSpPr/>
          <p:nvPr/>
        </p:nvSpPr>
        <p:spPr>
          <a:xfrm>
            <a:off x="1072800" y="2680000"/>
            <a:ext cx="380000" cy="380000"/>
          </a:xfrm>
          <a:prstGeom prst="ellipse">
            <a:avLst/>
          </a:prstGeom>
          <a:solidFill>
            <a:srgbClr val="A8521A"/>
          </a:solidFill>
          <a:ln>
            <a:noFill/>
          </a:ln>
        </p:spPr>
        <p:txBody>
          <a:bodyPr/>
          <a:p/>
        </p:txBody>
      </p:sp>
      <p:sp>
        <p:nvSpPr>
          <p:cNvPr id="520" name="Text 520"/>
          <p:cNvSpPr txBox="1"/>
          <p:nvPr/>
        </p:nvSpPr>
        <p:spPr>
          <a:xfrm>
            <a:off x="1072800" y="268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2</a:t>
            </a:r>
          </a:p>
        </p:txBody>
      </p:sp>
      <p:sp>
        <p:nvSpPr>
          <p:cNvPr id="521" name="Text 521"/>
          <p:cNvSpPr txBox="1"/>
          <p:nvPr/>
        </p:nvSpPr>
        <p:spPr>
          <a:xfrm>
            <a:off x="1712800" y="255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Ask for enterprise access</a:t>
            </a:r>
          </a:p>
        </p:txBody>
      </p:sp>
      <p:sp>
        <p:nvSpPr>
          <p:cNvPr id="522" name="Text 522"/>
          <p:cNvSpPr txBox="1"/>
          <p:nvPr/>
        </p:nvSpPr>
        <p:spPr>
          <a:xfrm>
            <a:off x="4712800" y="255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Request a way to get an enterprise account (currently blocked).</a:t>
            </a:r>
          </a:p>
        </p:txBody>
      </p:sp>
      <p:sp>
        <p:nvSpPr>
          <p:cNvPr id="523" name="Card 524"/>
          <p:cNvSpPr/>
          <p:nvPr/>
        </p:nvSpPr>
        <p:spPr>
          <a:xfrm>
            <a:off x="812800" y="3300000"/>
            <a:ext cx="10566400" cy="640000"/>
          </a:xfrm>
          <a:prstGeom prst="roundRect">
            <a:avLst>
              <a:gd name="adj" fmla="val 2703"/>
            </a:avLst>
          </a:prstGeom>
          <a:solidFill>
            <a:srgbClr val="FFFFFF"/>
          </a:solidFill>
          <a:ln/>
        </p:spPr>
        <p:txBody>
          <a:bodyPr/>
          <a:p/>
        </p:txBody>
      </p:sp>
      <p:sp>
        <p:nvSpPr>
          <p:cNvPr id="525" name="Step 525"/>
          <p:cNvSpPr/>
          <p:nvPr/>
        </p:nvSpPr>
        <p:spPr>
          <a:xfrm>
            <a:off x="1072800" y="3430000"/>
            <a:ext cx="380000" cy="380000"/>
          </a:xfrm>
          <a:prstGeom prst="ellipse">
            <a:avLst/>
          </a:prstGeom>
          <a:solidFill>
            <a:srgbClr val="A8521A"/>
          </a:solidFill>
          <a:ln>
            <a:noFill/>
          </a:ln>
        </p:spPr>
        <p:txBody>
          <a:bodyPr/>
          <a:p/>
        </p:txBody>
      </p:sp>
      <p:sp>
        <p:nvSpPr>
          <p:cNvPr id="526" name="Text 526"/>
          <p:cNvSpPr txBox="1"/>
          <p:nvPr/>
        </p:nvSpPr>
        <p:spPr>
          <a:xfrm>
            <a:off x="1072800" y="34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3</a:t>
            </a:r>
          </a:p>
        </p:txBody>
      </p:sp>
      <p:sp>
        <p:nvSpPr>
          <p:cNvPr id="527" name="Text 527"/>
          <p:cNvSpPr txBox="1"/>
          <p:nvPr/>
        </p:nvSpPr>
        <p:spPr>
          <a:xfrm>
            <a:off x="1712800" y="33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Run the Excise Diagnostic</a:t>
            </a:r>
          </a:p>
        </p:txBody>
      </p:sp>
      <p:sp>
        <p:nvSpPr>
          <p:cNvPr id="528" name="Text 528"/>
          <p:cNvSpPr txBox="1"/>
          <p:nvPr/>
        </p:nvSpPr>
        <p:spPr>
          <a:xfrm>
            <a:off x="4712800" y="33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Give the master process file to Claude or GitHub Copilot to generate a report and workbook for a country (see the user guide).</a:t>
            </a:r>
          </a:p>
        </p:txBody>
      </p:sp>
      <p:sp>
        <p:nvSpPr>
          <p:cNvPr id="529" name="Card 530"/>
          <p:cNvSpPr/>
          <p:nvPr/>
        </p:nvSpPr>
        <p:spPr>
          <a:xfrm>
            <a:off x="812800" y="4050000"/>
            <a:ext cx="10566400" cy="640000"/>
          </a:xfrm>
          <a:prstGeom prst="roundRect">
            <a:avLst>
              <a:gd name="adj" fmla="val 2703"/>
            </a:avLst>
          </a:prstGeom>
          <a:solidFill>
            <a:srgbClr val="FFFFFF"/>
          </a:solidFill>
          <a:ln/>
        </p:spPr>
        <p:txBody>
          <a:bodyPr/>
          <a:p/>
        </p:txBody>
      </p:sp>
      <p:sp>
        <p:nvSpPr>
          <p:cNvPr id="531" name="Step 531"/>
          <p:cNvSpPr/>
          <p:nvPr/>
        </p:nvSpPr>
        <p:spPr>
          <a:xfrm>
            <a:off x="1072800" y="4180000"/>
            <a:ext cx="380000" cy="380000"/>
          </a:xfrm>
          <a:prstGeom prst="ellipse">
            <a:avLst/>
          </a:prstGeom>
          <a:solidFill>
            <a:srgbClr val="A8521A"/>
          </a:solidFill>
          <a:ln>
            <a:noFill/>
          </a:ln>
        </p:spPr>
        <p:txBody>
          <a:bodyPr/>
          <a:p/>
        </p:txBody>
      </p:sp>
      <p:sp>
        <p:nvSpPr>
          <p:cNvPr id="532" name="Text 532"/>
          <p:cNvSpPr txBox="1"/>
          <p:nvPr/>
        </p:nvSpPr>
        <p:spPr>
          <a:xfrm>
            <a:off x="1072800" y="418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4</a:t>
            </a:r>
          </a:p>
        </p:txBody>
      </p:sp>
      <p:sp>
        <p:nvSpPr>
          <p:cNvPr id="533" name="Text 533"/>
          <p:cNvSpPr txBox="1"/>
          <p:nvPr/>
        </p:nvSpPr>
        <p:spPr>
          <a:xfrm>
            <a:off x="1712800" y="405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Upgrade the dashboard</a:t>
            </a:r>
          </a:p>
        </p:txBody>
      </p:sp>
      <p:sp>
        <p:nvSpPr>
          <p:cNvPr id="534" name="Text 534"/>
          <p:cNvSpPr txBox="1"/>
          <p:nvPr/>
        </p:nvSpPr>
        <p:spPr>
          <a:xfrm>
            <a:off x="4712800" y="405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Request the AI-tools repo from me at handover; the dashboard user guide shows how to add new data sources.</a:t>
            </a:r>
          </a:p>
        </p:txBody>
      </p:sp>
      <p:sp>
        <p:nvSpPr>
          <p:cNvPr id="535" name="Card 536"/>
          <p:cNvSpPr/>
          <p:nvPr/>
        </p:nvSpPr>
        <p:spPr>
          <a:xfrm>
            <a:off x="812800" y="4800000"/>
            <a:ext cx="10566400" cy="640000"/>
          </a:xfrm>
          <a:prstGeom prst="roundRect">
            <a:avLst>
              <a:gd name="adj" fmla="val 2703"/>
            </a:avLst>
          </a:prstGeom>
          <a:solidFill>
            <a:srgbClr val="FFFFFF"/>
          </a:solidFill>
          <a:ln/>
        </p:spPr>
        <p:txBody>
          <a:bodyPr/>
          <a:p/>
        </p:txBody>
      </p:sp>
      <p:sp>
        <p:nvSpPr>
          <p:cNvPr id="537" name="Step 537"/>
          <p:cNvSpPr/>
          <p:nvPr/>
        </p:nvSpPr>
        <p:spPr>
          <a:xfrm>
            <a:off x="1072800" y="4930000"/>
            <a:ext cx="380000" cy="380000"/>
          </a:xfrm>
          <a:prstGeom prst="ellipse">
            <a:avLst/>
          </a:prstGeom>
          <a:solidFill>
            <a:srgbClr val="A8521A"/>
          </a:solidFill>
          <a:ln>
            <a:noFill/>
          </a:ln>
        </p:spPr>
        <p:txBody>
          <a:bodyPr/>
          <a:p/>
        </p:txBody>
      </p:sp>
      <p:sp>
        <p:nvSpPr>
          <p:cNvPr id="538" name="Text 538"/>
          <p:cNvSpPr txBox="1"/>
          <p:nvPr/>
        </p:nvSpPr>
        <p:spPr>
          <a:xfrm>
            <a:off x="1072800" y="4930000"/>
            <a:ext cx="380000" cy="380000"/>
          </a:xfrm>
          <a:prstGeom prst="rect">
            <a:avLst/>
          </a:prstGeom>
          <a:noFill/>
        </p:spPr>
        <p:txBody>
          <a:bodyPr wrap="square" lIns="0" tIns="0" rIns="0" bIns="0" rtlCol="0" anchor="ctr">
            <a:noAutofit/>
          </a:bodyPr>
          <a:lstStyle/>
          <a:p>
            <a:pPr algn="ctr" marL="0" indent="0">
              <a:lnSpc>
                <a:spcPct val="100000"/>
              </a:lnSpc>
              <a:buNone/>
            </a:pPr>
            <a:r>
              <a:rPr lang="en-US" sz="1600" b="1" dirty="0">
                <a:solidFill>
                  <a:srgbClr val="FFFFFF"/>
                </a:solidFill>
                <a:latin typeface="Cambria" pitchFamily="34" charset="0"/>
                <a:ea typeface="Cambria" pitchFamily="34" charset="-122"/>
                <a:cs typeface="Cambria" pitchFamily="34" charset="-120"/>
              </a:rPr>
              <a:t>5</a:t>
            </a:r>
          </a:p>
        </p:txBody>
      </p:sp>
      <p:sp>
        <p:nvSpPr>
          <p:cNvPr id="539" name="Text 539"/>
          <p:cNvSpPr txBox="1"/>
          <p:nvPr/>
        </p:nvSpPr>
        <p:spPr>
          <a:xfrm>
            <a:off x="1712800" y="4800000"/>
            <a:ext cx="2900000" cy="640000"/>
          </a:xfrm>
          <a:prstGeom prst="rect">
            <a:avLst/>
          </a:prstGeom>
          <a:noFill/>
        </p:spPr>
        <p:txBody>
          <a:bodyPr wrap="square" lIns="0" tIns="0" rIns="0" bIns="0" rtlCol="0" anchor="ctr">
            <a:noAutofit/>
          </a:bodyPr>
          <a:lstStyle/>
          <a:p>
            <a:pPr algn="l" marL="0" indent="0">
              <a:lnSpc>
                <a:spcPct val="100000"/>
              </a:lnSpc>
              <a:buNone/>
            </a:pPr>
            <a:r>
              <a:rPr lang="en-US" sz="1500" b="1" dirty="0">
                <a:solidFill>
                  <a:srgbClr val="14213D"/>
                </a:solidFill>
                <a:latin typeface="Calibri" pitchFamily="34" charset="0"/>
                <a:ea typeface="Calibri" pitchFamily="34" charset="-122"/>
                <a:cs typeface="Calibri" pitchFamily="34" charset="-120"/>
              </a:rPr>
              <a:t>Use AI for your own tasks</a:t>
            </a:r>
          </a:p>
        </p:txBody>
      </p:sp>
      <p:sp>
        <p:nvSpPr>
          <p:cNvPr id="540" name="Text 540"/>
          <p:cNvSpPr txBox="1"/>
          <p:nvPr/>
        </p:nvSpPr>
        <p:spPr>
          <a:xfrm>
            <a:off x="4712800" y="4800000"/>
            <a:ext cx="6406400" cy="640000"/>
          </a:xfrm>
          <a:prstGeom prst="rect">
            <a:avLst/>
          </a:prstGeom>
          <a:noFill/>
        </p:spPr>
        <p:txBody>
          <a:bodyPr wrap="square" lIns="0" tIns="0" rIns="0" bIns="0" rtlCol="0" anchor="ctr">
            <a:noAutofit/>
          </a:bodyPr>
          <a:lstStyle/>
          <a:p>
            <a:pPr algn="l" marL="0" indent="0">
              <a:lnSpc>
                <a:spcPct val="110000"/>
              </a:lnSpc>
              <a:buNone/>
            </a:pPr>
            <a:r>
              <a:rPr lang="en-US" sz="1300" dirty="0">
                <a:solidFill>
                  <a:srgbClr val="3F4A5A"/>
                </a:solidFill>
                <a:latin typeface="Calibri" pitchFamily="34" charset="0"/>
                <a:ea typeface="Calibri" pitchFamily="34" charset="-122"/>
                <a:cs typeface="Calibri" pitchFamily="34" charset="-120"/>
              </a:rPr>
              <a:t>Take care with WB-confidential materials: enterprise AI only for those.</a:t>
            </a:r>
          </a:p>
        </p:txBody>
      </p:sp>
      <p:sp>
        <p:nvSpPr>
          <p:cNvPr id="16" name="Text 14"/>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1">
    <p:bg>
      <p:bgPr>
        <a:solidFill>
          <a:srgbClr val="A8521A"/>
        </a:solidFill>
      </p:bgPr>
    </p:bg>
    <p:spTree>
      <p:nvGrpSpPr>
        <p:cNvPr id="1" name=""/>
        <p:cNvGrpSpPr/>
        <p:nvPr/>
      </p:nvGrpSpPr>
      <p:grpSpPr>
        <a:xfrm>
          <a:off x="0" y="0"/>
          <a:ext cx="0" cy="0"/>
          <a:chOff x="0" y="0"/>
          <a:chExt cx="0" cy="0"/>
        </a:xfrm>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FBE3CE"/>
                </a:solidFill>
                <a:latin typeface="Calibri" pitchFamily="34" charset="0"/>
                <a:ea typeface="Calibri" pitchFamily="34" charset="-122"/>
                <a:cs typeface="Calibri" pitchFamily="34" charset="-120"/>
              </a:rPr>
              <a:t>PART 4 · SUMMARY</a:t>
            </a:r>
            <a:endParaRPr lang="en-US" sz="1200" dirty="0"/>
          </a:p>
        </p:txBody>
      </p:sp>
      <p:sp>
        <p:nvSpPr>
          <p:cNvPr id="3" name="Text 1"/>
          <p:cNvSpPr txBox="1"/>
          <p:nvPr/>
        </p:nvSpPr>
        <p:spPr>
          <a:xfrm>
            <a:off x="812800" y="1127720"/>
            <a:ext cx="10566400" cy="467320"/>
          </a:xfrm>
          <a:prstGeom prst="rect">
            <a:avLst/>
          </a:prstGeom>
          <a:noFill/>
          <a:ln/>
        </p:spPr>
        <p:txBody>
          <a:bodyPr wrap="square" lIns="0" tIns="0" rIns="0" bIns="0" rtlCol="0" anchor="t"/>
          <a:lstStyle/>
          <a:p>
            <a:pPr algn="l" indent="0" marL="0">
              <a:lnSpc>
                <a:spcPct val="115000"/>
              </a:lnSpc>
              <a:buNone/>
            </a:pPr>
            <a:r>
              <a:rPr lang="en-US" sz="3200" b="1" dirty="0">
                <a:solidFill>
                  <a:srgbClr val="FBF6F0"/>
                </a:solidFill>
                <a:latin typeface="Cambria" pitchFamily="34" charset="0"/>
                <a:ea typeface="Cambria" pitchFamily="34" charset="-122"/>
                <a:cs typeface="Cambria" pitchFamily="34" charset="-120"/>
              </a:rPr>
              <a:t>Four products, one AI-built engine, full to March</a:t>
            </a:r>
            <a:endParaRPr lang="en-US" sz="3200" dirty="0"/>
          </a:p>
        </p:txBody>
      </p:sp>
      <p:sp>
        <p:nvSpPr>
          <p:cNvPr id="441" name="Rule 441"/>
          <p:cNvSpPr/>
          <p:nvPr/>
        </p:nvSpPr>
        <p:spPr>
          <a:xfrm>
            <a:off x="812800" y="1900000"/>
            <a:ext cx="5054600" cy="12700"/>
          </a:xfrm>
          <a:prstGeom prst="rect">
            <a:avLst/>
          </a:prstGeom>
          <a:solidFill>
            <a:srgbClr val="FBE3CE"/>
          </a:solidFill>
          <a:ln>
            <a:noFill/>
          </a:ln>
        </p:spPr>
        <p:txBody>
          <a:bodyPr/>
          <a:p/>
        </p:txBody>
      </p:sp>
      <p:sp>
        <p:nvSpPr>
          <p:cNvPr id="442" name="Text 442"/>
          <p:cNvSpPr txBox="1"/>
          <p:nvPr/>
        </p:nvSpPr>
        <p:spPr>
          <a:xfrm>
            <a:off x="812800" y="2030000"/>
            <a:ext cx="5054600" cy="260000"/>
          </a:xfrm>
          <a:prstGeom prst="rect">
            <a:avLst/>
          </a:prstGeom>
          <a:noFill/>
        </p:spPr>
        <p:txBody>
          <a:bodyPr wrap="square" lIns="0" tIns="0" rIns="0" bIns="0" rtlCol="0" anchor="t">
            <a:noAutofit/>
          </a:bodyPr>
          <a:lstStyle/>
          <a:p>
            <a:pPr algn="l" marL="0" indent="0">
              <a:lnSpc>
                <a:spcPct val="120000"/>
              </a:lnSpc>
              <a:buNone/>
            </a:pPr>
            <a:r>
              <a:rPr lang="en-US" sz="1500" b="1" dirty="0">
                <a:solidFill>
                  <a:srgbClr val="FBF6F0"/>
                </a:solidFill>
                <a:latin typeface="Calibri" pitchFamily="34" charset="0"/>
                <a:ea typeface="Calibri" pitchFamily="34" charset="-122"/>
                <a:cs typeface="Calibri" pitchFamily="34" charset="-120"/>
              </a:rPr>
              <a:t>1 · Four products this FY</a:t>
            </a:r>
          </a:p>
        </p:txBody>
      </p:sp>
      <p:sp>
        <p:nvSpPr>
          <p:cNvPr id="443" name="Text 443"/>
          <p:cNvSpPr txBox="1"/>
          <p:nvPr/>
        </p:nvSpPr>
        <p:spPr>
          <a:xfrm>
            <a:off x="812800" y="2340000"/>
            <a:ext cx="5054600" cy="800000"/>
          </a:xfrm>
          <a:prstGeom prst="rect">
            <a:avLst/>
          </a:prstGeom>
          <a:noFill/>
        </p:spPr>
        <p:txBody>
          <a:bodyPr wrap="square" lIns="0" tIns="0" rIns="0" bIns="0" rtlCol="0" anchor="t">
            <a:noAutofit/>
          </a:bodyPr>
          <a:lstStyle/>
          <a:p>
            <a:pPr algn="l" marL="0" indent="0">
              <a:lnSpc>
                <a:spcPct val="120000"/>
              </a:lnSpc>
              <a:buNone/>
            </a:pPr>
            <a:r>
              <a:rPr lang="en-US" sz="1250" dirty="0">
                <a:solidFill>
                  <a:srgbClr val="FBEADB"/>
                </a:solidFill>
                <a:latin typeface="Calibri" pitchFamily="34" charset="0"/>
                <a:ea typeface="Calibri" pitchFamily="34" charset="-122"/>
                <a:cs typeface="Calibri" pitchFamily="34" charset="-120"/>
              </a:rPr>
              <a:t>Excel-AI-CPAT 30% and Coded-Conversion 60% complete (final 4 Dec and 11 Dec); Excise Diagnostic and Tax and Macro-Fiscal Dashboard 90% (to Dirk 16 Oct and 23 Oct).</a:t>
            </a:r>
          </a:p>
        </p:txBody>
      </p:sp>
      <p:sp>
        <p:nvSpPr>
          <p:cNvPr id="444" name="Rule 444"/>
          <p:cNvSpPr/>
          <p:nvPr/>
        </p:nvSpPr>
        <p:spPr>
          <a:xfrm>
            <a:off x="812800" y="3230000"/>
            <a:ext cx="5054600" cy="12700"/>
          </a:xfrm>
          <a:prstGeom prst="rect">
            <a:avLst/>
          </a:prstGeom>
          <a:solidFill>
            <a:srgbClr val="FBE3CE"/>
          </a:solidFill>
          <a:ln>
            <a:noFill/>
          </a:ln>
        </p:spPr>
        <p:txBody>
          <a:bodyPr/>
          <a:p/>
        </p:txBody>
      </p:sp>
      <p:sp>
        <p:nvSpPr>
          <p:cNvPr id="445" name="Text 445"/>
          <p:cNvSpPr txBox="1"/>
          <p:nvPr/>
        </p:nvSpPr>
        <p:spPr>
          <a:xfrm>
            <a:off x="812800" y="3360000"/>
            <a:ext cx="5054600" cy="260000"/>
          </a:xfrm>
          <a:prstGeom prst="rect">
            <a:avLst/>
          </a:prstGeom>
          <a:noFill/>
        </p:spPr>
        <p:txBody>
          <a:bodyPr wrap="square" lIns="0" tIns="0" rIns="0" bIns="0" rtlCol="0" anchor="t">
            <a:noAutofit/>
          </a:bodyPr>
          <a:lstStyle/>
          <a:p>
            <a:pPr algn="l" marL="0" indent="0">
              <a:lnSpc>
                <a:spcPct val="120000"/>
              </a:lnSpc>
              <a:buNone/>
            </a:pPr>
            <a:r>
              <a:rPr lang="en-US" sz="1500" b="1" dirty="0">
                <a:solidFill>
                  <a:srgbClr val="FBF6F0"/>
                </a:solidFill>
                <a:latin typeface="Calibri" pitchFamily="34" charset="0"/>
                <a:ea typeface="Calibri" pitchFamily="34" charset="-122"/>
                <a:cs typeface="Calibri" pitchFamily="34" charset="-120"/>
              </a:rPr>
              <a:t>2 · How we use AI</a:t>
            </a:r>
          </a:p>
        </p:txBody>
      </p:sp>
      <p:sp>
        <p:nvSpPr>
          <p:cNvPr id="446" name="Text 446"/>
          <p:cNvSpPr txBox="1"/>
          <p:nvPr/>
        </p:nvSpPr>
        <p:spPr>
          <a:xfrm>
            <a:off x="812800" y="3670000"/>
            <a:ext cx="5054600" cy="800000"/>
          </a:xfrm>
          <a:prstGeom prst="rect">
            <a:avLst/>
          </a:prstGeom>
          <a:noFill/>
        </p:spPr>
        <p:txBody>
          <a:bodyPr wrap="square" lIns="0" tIns="0" rIns="0" bIns="0" rtlCol="0" anchor="t">
            <a:noAutofit/>
          </a:bodyPr>
          <a:lstStyle/>
          <a:p>
            <a:pPr algn="l" marL="0" indent="0">
              <a:lnSpc>
                <a:spcPct val="120000"/>
              </a:lnSpc>
              <a:buNone/>
            </a:pPr>
            <a:r>
              <a:rPr lang="en-US" sz="1250" dirty="0">
                <a:solidFill>
                  <a:srgbClr val="FBEADB"/>
                </a:solidFill>
                <a:latin typeface="Calibri" pitchFamily="34" charset="0"/>
                <a:ea typeface="Calibri" pitchFamily="34" charset="-122"/>
                <a:cs typeface="Calibri" pitchFamily="34" charset="-120"/>
              </a:rPr>
              <a:t>GitHub Copilot (and Claude), in VS Code or the desktop app. Personal models for code, with proprietary data taken out; enterprise AI, including MAI, for confidential data and reports.</a:t>
            </a:r>
          </a:p>
        </p:txBody>
      </p:sp>
      <p:sp>
        <p:nvSpPr>
          <p:cNvPr id="447" name="Rule 447"/>
          <p:cNvSpPr/>
          <p:nvPr/>
        </p:nvSpPr>
        <p:spPr>
          <a:xfrm>
            <a:off x="812800" y="4560000"/>
            <a:ext cx="5054600" cy="12700"/>
          </a:xfrm>
          <a:prstGeom prst="rect">
            <a:avLst/>
          </a:prstGeom>
          <a:solidFill>
            <a:srgbClr val="FBE3CE"/>
          </a:solidFill>
          <a:ln>
            <a:noFill/>
          </a:ln>
        </p:spPr>
        <p:txBody>
          <a:bodyPr/>
          <a:p/>
        </p:txBody>
      </p:sp>
      <p:sp>
        <p:nvSpPr>
          <p:cNvPr id="448" name="Text 448"/>
          <p:cNvSpPr txBox="1"/>
          <p:nvPr/>
        </p:nvSpPr>
        <p:spPr>
          <a:xfrm>
            <a:off x="812800" y="4690000"/>
            <a:ext cx="5054600" cy="260000"/>
          </a:xfrm>
          <a:prstGeom prst="rect">
            <a:avLst/>
          </a:prstGeom>
          <a:noFill/>
        </p:spPr>
        <p:txBody>
          <a:bodyPr wrap="square" lIns="0" tIns="0" rIns="0" bIns="0" rtlCol="0" anchor="t">
            <a:noAutofit/>
          </a:bodyPr>
          <a:lstStyle/>
          <a:p>
            <a:pPr algn="l" marL="0" indent="0">
              <a:lnSpc>
                <a:spcPct val="120000"/>
              </a:lnSpc>
              <a:buNone/>
            </a:pPr>
            <a:r>
              <a:rPr lang="en-US" sz="1500" b="1" dirty="0">
                <a:solidFill>
                  <a:srgbClr val="FBF6F0"/>
                </a:solidFill>
                <a:latin typeface="Calibri" pitchFamily="34" charset="0"/>
                <a:ea typeface="Calibri" pitchFamily="34" charset="-122"/>
                <a:cs typeface="Calibri" pitchFamily="34" charset="-120"/>
              </a:rPr>
              <a:t>3 · Why a new engine</a:t>
            </a:r>
          </a:p>
        </p:txBody>
      </p:sp>
      <p:sp>
        <p:nvSpPr>
          <p:cNvPr id="449" name="Text 449"/>
          <p:cNvSpPr txBox="1"/>
          <p:nvPr/>
        </p:nvSpPr>
        <p:spPr>
          <a:xfrm>
            <a:off x="812800" y="5000000"/>
            <a:ext cx="5054600" cy="800000"/>
          </a:xfrm>
          <a:prstGeom prst="rect">
            <a:avLst/>
          </a:prstGeom>
          <a:noFill/>
        </p:spPr>
        <p:txBody>
          <a:bodyPr wrap="square" lIns="0" tIns="0" rIns="0" bIns="0" rtlCol="0" anchor="t">
            <a:noAutofit/>
          </a:bodyPr>
          <a:lstStyle/>
          <a:p>
            <a:pPr algn="l" marL="0" indent="0">
              <a:lnSpc>
                <a:spcPct val="120000"/>
              </a:lnSpc>
              <a:buNone/>
            </a:pPr>
            <a:r>
              <a:rPr lang="en-US" sz="1250" dirty="0">
                <a:solidFill>
                  <a:srgbClr val="FBEADB"/>
                </a:solidFill>
                <a:latin typeface="Calibri" pitchFamily="34" charset="0"/>
                <a:ea typeface="Calibri" pitchFamily="34" charset="-122"/>
                <a:cs typeface="Calibri" pitchFamily="34" charset="-120"/>
              </a:rPr>
              <a:t>CPAT’s mitigation module is too large, slow and hard to validate to patch: rebuild it with AI, in code and in Excel, kept equal by script.</a:t>
            </a:r>
          </a:p>
        </p:txBody>
      </p:sp>
      <p:sp>
        <p:nvSpPr>
          <p:cNvPr id="450" name="Rule 450"/>
          <p:cNvSpPr/>
          <p:nvPr/>
        </p:nvSpPr>
        <p:spPr>
          <a:xfrm>
            <a:off x="6324600" y="1900000"/>
            <a:ext cx="5054600" cy="12700"/>
          </a:xfrm>
          <a:prstGeom prst="rect">
            <a:avLst/>
          </a:prstGeom>
          <a:solidFill>
            <a:srgbClr val="FBE3CE"/>
          </a:solidFill>
          <a:ln>
            <a:noFill/>
          </a:ln>
        </p:spPr>
        <p:txBody>
          <a:bodyPr/>
          <a:p/>
        </p:txBody>
      </p:sp>
      <p:sp>
        <p:nvSpPr>
          <p:cNvPr id="451" name="Text 451"/>
          <p:cNvSpPr txBox="1"/>
          <p:nvPr/>
        </p:nvSpPr>
        <p:spPr>
          <a:xfrm>
            <a:off x="6324600" y="2030000"/>
            <a:ext cx="5054600" cy="260000"/>
          </a:xfrm>
          <a:prstGeom prst="rect">
            <a:avLst/>
          </a:prstGeom>
          <a:noFill/>
        </p:spPr>
        <p:txBody>
          <a:bodyPr wrap="square" lIns="0" tIns="0" rIns="0" bIns="0" rtlCol="0" anchor="t">
            <a:noAutofit/>
          </a:bodyPr>
          <a:lstStyle/>
          <a:p>
            <a:pPr algn="l" marL="0" indent="0">
              <a:lnSpc>
                <a:spcPct val="120000"/>
              </a:lnSpc>
              <a:buNone/>
            </a:pPr>
            <a:r>
              <a:rPr lang="en-US" sz="1500" b="1" dirty="0">
                <a:solidFill>
                  <a:srgbClr val="FBF6F0"/>
                </a:solidFill>
                <a:latin typeface="Calibri" pitchFamily="34" charset="0"/>
                <a:ea typeface="Calibri" pitchFamily="34" charset="-122"/>
                <a:cs typeface="Calibri" pitchFamily="34" charset="-120"/>
              </a:rPr>
              <a:t>4 · Timeline and applications</a:t>
            </a:r>
          </a:p>
        </p:txBody>
      </p:sp>
      <p:sp>
        <p:nvSpPr>
          <p:cNvPr id="452" name="Text 452"/>
          <p:cNvSpPr txBox="1"/>
          <p:nvPr/>
        </p:nvSpPr>
        <p:spPr>
          <a:xfrm>
            <a:off x="6324600" y="2340000"/>
            <a:ext cx="5054600" cy="800000"/>
          </a:xfrm>
          <a:prstGeom prst="rect">
            <a:avLst/>
          </a:prstGeom>
          <a:noFill/>
        </p:spPr>
        <p:txBody>
          <a:bodyPr wrap="square" lIns="0" tIns="0" rIns="0" bIns="0" rtlCol="0" anchor="t">
            <a:noAutofit/>
          </a:bodyPr>
          <a:lstStyle/>
          <a:p>
            <a:pPr algn="l" marL="0" indent="0">
              <a:lnSpc>
                <a:spcPct val="120000"/>
              </a:lnSpc>
              <a:buNone/>
            </a:pPr>
            <a:r>
              <a:rPr lang="en-US" sz="1250" dirty="0">
                <a:solidFill>
                  <a:srgbClr val="FBEADB"/>
                </a:solidFill>
                <a:latin typeface="Calibri" pitchFamily="34" charset="0"/>
                <a:ea typeface="Calibri" pitchFamily="34" charset="-122"/>
                <a:cs typeface="Calibri" pitchFamily="34" charset="-120"/>
              </a:rPr>
              <a:t>Engine before Christmas (Excel-AI-CPAT 4 Dec, Python 11 Dec); pathways and pilots in January; Shiny app 5 Feb; models and GHG accounting to 5 Mar; handover 15–19 March.</a:t>
            </a:r>
          </a:p>
        </p:txBody>
      </p:sp>
      <p:sp>
        <p:nvSpPr>
          <p:cNvPr id="453" name="Rule 453"/>
          <p:cNvSpPr/>
          <p:nvPr/>
        </p:nvSpPr>
        <p:spPr>
          <a:xfrm>
            <a:off x="6324600" y="3230000"/>
            <a:ext cx="5054600" cy="12700"/>
          </a:xfrm>
          <a:prstGeom prst="rect">
            <a:avLst/>
          </a:prstGeom>
          <a:solidFill>
            <a:srgbClr val="FBE3CE"/>
          </a:solidFill>
          <a:ln>
            <a:noFill/>
          </a:ln>
        </p:spPr>
        <p:txBody>
          <a:bodyPr/>
          <a:p/>
        </p:txBody>
      </p:sp>
      <p:sp>
        <p:nvSpPr>
          <p:cNvPr id="454" name="Text 454"/>
          <p:cNvSpPr txBox="1"/>
          <p:nvPr/>
        </p:nvSpPr>
        <p:spPr>
          <a:xfrm>
            <a:off x="6324600" y="3360000"/>
            <a:ext cx="5054600" cy="260000"/>
          </a:xfrm>
          <a:prstGeom prst="rect">
            <a:avLst/>
          </a:prstGeom>
          <a:noFill/>
        </p:spPr>
        <p:txBody>
          <a:bodyPr wrap="square" lIns="0" tIns="0" rIns="0" bIns="0" rtlCol="0" anchor="t">
            <a:noAutofit/>
          </a:bodyPr>
          <a:lstStyle/>
          <a:p>
            <a:pPr algn="l" marL="0" indent="0">
              <a:lnSpc>
                <a:spcPct val="120000"/>
              </a:lnSpc>
              <a:buNone/>
            </a:pPr>
            <a:r>
              <a:rPr lang="en-US" sz="1500" b="1" dirty="0">
                <a:solidFill>
                  <a:srgbClr val="FBF6F0"/>
                </a:solidFill>
                <a:latin typeface="Calibri" pitchFamily="34" charset="0"/>
                <a:ea typeface="Calibri" pitchFamily="34" charset="-122"/>
                <a:cs typeface="Calibri" pitchFamily="34" charset="-120"/>
              </a:rPr>
              <a:t>5 · Other AI tools</a:t>
            </a:r>
          </a:p>
        </p:txBody>
      </p:sp>
      <p:sp>
        <p:nvSpPr>
          <p:cNvPr id="455" name="Text 455"/>
          <p:cNvSpPr txBox="1"/>
          <p:nvPr/>
        </p:nvSpPr>
        <p:spPr>
          <a:xfrm>
            <a:off x="6324600" y="3670000"/>
            <a:ext cx="5054600" cy="800000"/>
          </a:xfrm>
          <a:prstGeom prst="rect">
            <a:avLst/>
          </a:prstGeom>
          <a:noFill/>
        </p:spPr>
        <p:txBody>
          <a:bodyPr wrap="square" lIns="0" tIns="0" rIns="0" bIns="0" rtlCol="0" anchor="t">
            <a:noAutofit/>
          </a:bodyPr>
          <a:lstStyle/>
          <a:p>
            <a:pPr algn="l" marL="0" indent="0">
              <a:lnSpc>
                <a:spcPct val="120000"/>
              </a:lnSpc>
              <a:buNone/>
            </a:pPr>
            <a:r>
              <a:rPr lang="en-US" sz="1250" dirty="0">
                <a:solidFill>
                  <a:srgbClr val="FBEADB"/>
                </a:solidFill>
                <a:latin typeface="Calibri" pitchFamily="34" charset="0"/>
                <a:ea typeface="Calibri" pitchFamily="34" charset="-122"/>
                <a:cs typeface="Calibri" pitchFamily="34" charset="-120"/>
              </a:rPr>
              <a:t>Excise Diagnostic and dashboard handed to Dirk with handover packs, user guides and scripts; further development by Dirk and others.</a:t>
            </a:r>
          </a:p>
        </p:txBody>
      </p:sp>
      <p:sp>
        <p:nvSpPr>
          <p:cNvPr id="456" name="Rule 456"/>
          <p:cNvSpPr/>
          <p:nvPr/>
        </p:nvSpPr>
        <p:spPr>
          <a:xfrm>
            <a:off x="6324600" y="4560000"/>
            <a:ext cx="5054600" cy="12700"/>
          </a:xfrm>
          <a:prstGeom prst="rect">
            <a:avLst/>
          </a:prstGeom>
          <a:solidFill>
            <a:srgbClr val="FBE3CE"/>
          </a:solidFill>
          <a:ln>
            <a:noFill/>
          </a:ln>
        </p:spPr>
        <p:txBody>
          <a:bodyPr/>
          <a:p/>
        </p:txBody>
      </p:sp>
      <p:sp>
        <p:nvSpPr>
          <p:cNvPr id="457" name="Text 457"/>
          <p:cNvSpPr txBox="1"/>
          <p:nvPr/>
        </p:nvSpPr>
        <p:spPr>
          <a:xfrm>
            <a:off x="6324600" y="4690000"/>
            <a:ext cx="5054600" cy="260000"/>
          </a:xfrm>
          <a:prstGeom prst="rect">
            <a:avLst/>
          </a:prstGeom>
          <a:noFill/>
        </p:spPr>
        <p:txBody>
          <a:bodyPr wrap="square" lIns="0" tIns="0" rIns="0" bIns="0" rtlCol="0" anchor="t">
            <a:noAutofit/>
          </a:bodyPr>
          <a:lstStyle/>
          <a:p>
            <a:pPr algn="l" marL="0" indent="0">
              <a:lnSpc>
                <a:spcPct val="120000"/>
              </a:lnSpc>
              <a:buNone/>
            </a:pPr>
            <a:r>
              <a:rPr lang="en-US" sz="1500" b="1" dirty="0">
                <a:solidFill>
                  <a:srgbClr val="FBF6F0"/>
                </a:solidFill>
                <a:latin typeface="Calibri" pitchFamily="34" charset="0"/>
                <a:ea typeface="Calibri" pitchFamily="34" charset="-122"/>
                <a:cs typeface="Calibri" pitchFamily="34" charset="-120"/>
              </a:rPr>
              <a:t>6 · Who does what, and next steps</a:t>
            </a:r>
          </a:p>
        </p:txBody>
      </p:sp>
      <p:sp>
        <p:nvSpPr>
          <p:cNvPr id="458" name="Text 458"/>
          <p:cNvSpPr txBox="1"/>
          <p:nvPr/>
        </p:nvSpPr>
        <p:spPr>
          <a:xfrm>
            <a:off x="6324600" y="5000000"/>
            <a:ext cx="5054600" cy="800000"/>
          </a:xfrm>
          <a:prstGeom prst="rect">
            <a:avLst/>
          </a:prstGeom>
          <a:noFill/>
        </p:spPr>
        <p:txBody>
          <a:bodyPr wrap="square" lIns="0" tIns="0" rIns="0" bIns="0" rtlCol="0" anchor="t">
            <a:noAutofit/>
          </a:bodyPr>
          <a:lstStyle/>
          <a:p>
            <a:pPr algn="l" marL="0" indent="0">
              <a:lnSpc>
                <a:spcPct val="120000"/>
              </a:lnSpc>
              <a:buNone/>
            </a:pPr>
            <a:r>
              <a:rPr lang="en-US" sz="1250" dirty="0">
                <a:solidFill>
                  <a:srgbClr val="FBEADB"/>
                </a:solidFill>
                <a:latin typeface="Calibri" pitchFamily="34" charset="0"/>
                <a:ea typeface="Calibri" pitchFamily="34" charset="-122"/>
                <a:cs typeface="Calibri" pitchFamily="34" charset="-120"/>
              </a:rPr>
              <a:t>Stephen: the engine (mitigation, power, distribution) and policy GHG accounting; Paulina: co-benefits; Kacper: air pollution integration (tbc). You: get Copilot and Claude, and ask for enterprise access.</a:t>
            </a:r>
          </a:p>
        </p:txBody>
      </p:sp>
      <p:sp>
        <p:nvSpPr>
          <p:cNvPr id="21" name="Text 19"/>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FBE3CE"/>
                </a:solidFill>
                <a:latin typeface="Calibri" pitchFamily="34" charset="0"/>
                <a:ea typeface="Calibri" pitchFamily="34" charset="-122"/>
                <a:cs typeface="Calibri" pitchFamily="34" charset="-120"/>
              </a:rPr>
              <a:t>Use of AI in climate fiscal tools · 31</a:t>
            </a:r>
            <a:endParaRPr lang="en-US" sz="120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6F1"/>
        </a:solidFill>
      </p:bgPr>
    </p:bg>
    <p:spTree>
      <p:nvGrpSpPr>
        <p:cNvPr id="1" name=""/>
        <p:cNvGrpSpPr/>
        <p:nvPr/>
      </p:nvGrpSpPr>
      <p:grpSpPr/>
      <p:sp>
        <p:nvSpPr>
          <p:cNvPr id="2" name="Text 0"/>
          <p:cNvSpPr txBox="1"/>
          <p:nvPr/>
        </p:nvSpPr>
        <p:spPr>
          <a:xfrm>
            <a:off x="812800" y="812800"/>
            <a:ext cx="10566400" cy="213320"/>
          </a:xfrm>
          <a:prstGeom prst="rect">
            <a:avLst/>
          </a:prstGeom>
          <a:noFill/>
          <a:ln/>
        </p:spPr>
        <p:txBody>
          <a:bodyPr wrap="square" lIns="0" tIns="0" rIns="0" bIns="0" rtlCol="0" anchor="t"/>
          <a:lstStyle/>
          <a:p>
            <a:pPr algn="l" indent="0" marL="0">
              <a:lnSpc>
                <a:spcPct val="140000"/>
              </a:lnSpc>
              <a:buNone/>
            </a:pPr>
            <a:r>
              <a:rPr lang="en-US" sz="1200" b="1" spc="150" kern="0" dirty="0">
                <a:solidFill>
                  <a:srgbClr val="1F5A96"/>
                </a:solidFill>
                <a:latin typeface="Calibri" pitchFamily="34" charset="0"/>
                <a:ea typeface="Calibri" pitchFamily="34" charset="-122"/>
                <a:cs typeface="Calibri" pitchFamily="34" charset="-120"/>
              </a:rPr>
              <a:t>PART 4 · DEMO</a:t>
            </a:r>
            <a:endParaRPr lang="en-US" sz="1200" dirty="0"/>
          </a:p>
        </p:txBody>
      </p:sp>
      <p:sp>
        <p:nvSpPr>
          <p:cNvPr id="3" name="Text 1"/>
          <p:cNvSpPr txBox="1"/>
          <p:nvPr/>
        </p:nvSpPr>
        <p:spPr>
          <a:xfrm>
            <a:off x="812800" y="1127720"/>
            <a:ext cx="10464800" cy="934641"/>
          </a:xfrm>
          <a:prstGeom prst="rect">
            <a:avLst/>
          </a:prstGeom>
          <a:noFill/>
          <a:ln/>
        </p:spPr>
        <p:txBody>
          <a:bodyPr wrap="square" lIns="0" tIns="0" rIns="0" bIns="0" rtlCol="0" anchor="t"/>
          <a:lstStyle/>
          <a:p>
            <a:pPr algn="l" indent="0" marL="0">
              <a:lnSpc>
                <a:spcPct val="115000"/>
              </a:lnSpc>
              <a:buNone/>
            </a:pPr>
            <a:r>
              <a:rPr lang="en-US" sz="3200" b="1" dirty="0">
                <a:solidFill>
                  <a:srgbClr val="14213D"/>
                </a:solidFill>
                <a:latin typeface="Cambria" pitchFamily="34" charset="0"/>
                <a:ea typeface="Cambria" pitchFamily="34" charset="-122"/>
                <a:cs typeface="Cambria" pitchFamily="34" charset="-120"/>
              </a:rPr>
              <a:t>Demo: GitHub Copilot and two Excel-AI-CPAT MVPs</a:t>
            </a:r>
            <a:endParaRPr lang="en-US" sz="3200" dirty="0"/>
          </a:p>
        </p:txBody>
      </p:sp>
      <p:sp>
        <p:nvSpPr>
          <p:cNvPr id="4" name="Shape 2"/>
          <p:cNvSpPr/>
          <p:nvPr/>
        </p:nvSpPr>
        <p:spPr>
          <a:xfrm>
            <a:off x="812800" y="2367161"/>
            <a:ext cx="3386634" cy="2238871"/>
          </a:xfrm>
          <a:prstGeom prst="roundRect">
            <a:avLst>
              <a:gd name="adj" fmla="val 2269"/>
            </a:avLst>
          </a:prstGeom>
          <a:solidFill>
            <a:srgbClr val="FFFFFF"/>
          </a:solidFill>
          <a:ln/>
        </p:spPr>
        <p:txBody>
          <a:bodyPr/>
          <a:p/>
        </p:txBody>
      </p:sp>
      <p:sp>
        <p:nvSpPr>
          <p:cNvPr id="5" name="Shape 3"/>
          <p:cNvSpPr/>
          <p:nvPr/>
        </p:nvSpPr>
        <p:spPr>
          <a:xfrm>
            <a:off x="812800" y="2367161"/>
            <a:ext cx="3386634" cy="38100"/>
          </a:xfrm>
          <a:prstGeom prst="rect">
            <a:avLst/>
          </a:prstGeom>
          <a:solidFill>
            <a:srgbClr val="1F5A96"/>
          </a:solidFill>
          <a:ln/>
        </p:spPr>
        <p:txBody>
          <a:bodyPr/>
          <a:p/>
        </p:txBody>
      </p:sp>
      <p:sp>
        <p:nvSpPr>
          <p:cNvPr id="6" name="Shape 4"/>
          <p:cNvSpPr/>
          <p:nvPr/>
        </p:nvSpPr>
        <p:spPr>
          <a:xfrm>
            <a:off x="1117600" y="2710061"/>
            <a:ext cx="304800" cy="304800"/>
          </a:xfrm>
          <a:prstGeom prst="ellipse">
            <a:avLst/>
          </a:prstGeom>
          <a:ln w="25400">
            <a:solidFill>
              <a:srgbClr val="1F5A96"/>
            </a:solidFill>
            <a:prstDash val="solid"/>
          </a:ln>
        </p:spPr>
        <p:txBody>
          <a:bodyPr/>
          <a:p/>
        </p:txBody>
      </p:sp>
      <p:sp>
        <p:nvSpPr>
          <p:cNvPr id="7" name="Shape 5"/>
          <p:cNvSpPr/>
          <p:nvPr/>
        </p:nvSpPr>
        <p:spPr>
          <a:xfrm>
            <a:off x="1210733" y="2803194"/>
            <a:ext cx="118533" cy="118533"/>
          </a:xfrm>
          <a:prstGeom prst="ellipse">
            <a:avLst/>
          </a:prstGeom>
          <a:solidFill>
            <a:srgbClr val="1F5A96"/>
          </a:solidFill>
          <a:ln/>
        </p:spPr>
        <p:txBody>
          <a:bodyPr/>
          <a:p/>
        </p:txBody>
      </p:sp>
      <p:sp>
        <p:nvSpPr>
          <p:cNvPr id="8" name="Text 6"/>
          <p:cNvSpPr txBox="1"/>
          <p:nvPr/>
        </p:nvSpPr>
        <p:spPr>
          <a:xfrm>
            <a:off x="1092200" y="316726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GitHub Copilot</a:t>
            </a:r>
            <a:endParaRPr lang="en-US" sz="1700" dirty="0"/>
          </a:p>
        </p:txBody>
      </p:sp>
      <p:sp>
        <p:nvSpPr>
          <p:cNvPr id="9" name="Text 7"/>
          <p:cNvSpPr txBox="1"/>
          <p:nvPr/>
        </p:nvSpPr>
        <p:spPr>
          <a:xfrm>
            <a:off x="1092200" y="3553321"/>
            <a:ext cx="2912669" cy="77331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How we build, test and document code with AI, in VS Code or the desktop app.</a:t>
            </a:r>
            <a:endParaRPr lang="en-US" sz="1400" dirty="0"/>
          </a:p>
        </p:txBody>
      </p:sp>
      <p:sp>
        <p:nvSpPr>
          <p:cNvPr id="10" name="Shape 8"/>
          <p:cNvSpPr/>
          <p:nvPr/>
        </p:nvSpPr>
        <p:spPr>
          <a:xfrm>
            <a:off x="4402634" y="2367161"/>
            <a:ext cx="3386634" cy="2238871"/>
          </a:xfrm>
          <a:prstGeom prst="roundRect">
            <a:avLst>
              <a:gd name="adj" fmla="val 2269"/>
            </a:avLst>
          </a:prstGeom>
          <a:solidFill>
            <a:srgbClr val="FFFFFF"/>
          </a:solidFill>
          <a:ln/>
        </p:spPr>
        <p:txBody>
          <a:bodyPr/>
          <a:p/>
        </p:txBody>
      </p:sp>
      <p:sp>
        <p:nvSpPr>
          <p:cNvPr id="11" name="Shape 9"/>
          <p:cNvSpPr/>
          <p:nvPr/>
        </p:nvSpPr>
        <p:spPr>
          <a:xfrm>
            <a:off x="4402634" y="2367161"/>
            <a:ext cx="3386634" cy="38100"/>
          </a:xfrm>
          <a:prstGeom prst="rect">
            <a:avLst/>
          </a:prstGeom>
          <a:solidFill>
            <a:srgbClr val="1F5A96"/>
          </a:solidFill>
          <a:ln/>
        </p:spPr>
        <p:txBody>
          <a:bodyPr/>
          <a:p/>
        </p:txBody>
      </p:sp>
      <p:sp>
        <p:nvSpPr>
          <p:cNvPr id="12" name="Shape 10"/>
          <p:cNvSpPr/>
          <p:nvPr/>
        </p:nvSpPr>
        <p:spPr>
          <a:xfrm>
            <a:off x="4707434" y="2710061"/>
            <a:ext cx="304800" cy="304800"/>
          </a:xfrm>
          <a:prstGeom prst="ellipse">
            <a:avLst/>
          </a:prstGeom>
          <a:ln w="25400">
            <a:solidFill>
              <a:srgbClr val="1F5A96"/>
            </a:solidFill>
            <a:prstDash val="solid"/>
          </a:ln>
        </p:spPr>
        <p:txBody>
          <a:bodyPr/>
          <a:p/>
        </p:txBody>
      </p:sp>
      <p:sp>
        <p:nvSpPr>
          <p:cNvPr id="13" name="Shape 11"/>
          <p:cNvSpPr/>
          <p:nvPr/>
        </p:nvSpPr>
        <p:spPr>
          <a:xfrm>
            <a:off x="4800567" y="2803194"/>
            <a:ext cx="118533" cy="118533"/>
          </a:xfrm>
          <a:prstGeom prst="ellipse">
            <a:avLst/>
          </a:prstGeom>
          <a:solidFill>
            <a:srgbClr val="1F5A96"/>
          </a:solidFill>
          <a:ln/>
        </p:spPr>
        <p:txBody>
          <a:bodyPr/>
          <a:p/>
        </p:txBody>
      </p:sp>
      <p:sp>
        <p:nvSpPr>
          <p:cNvPr id="14" name="Text 12"/>
          <p:cNvSpPr txBox="1"/>
          <p:nvPr/>
        </p:nvSpPr>
        <p:spPr>
          <a:xfrm>
            <a:off x="4682034" y="316726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Excel-AI-CPAT MVP: prices</a:t>
            </a:r>
            <a:endParaRPr lang="en-US" sz="1700" dirty="0"/>
          </a:p>
        </p:txBody>
      </p:sp>
      <p:sp>
        <p:nvSpPr>
          <p:cNvPr id="15" name="Text 13"/>
          <p:cNvSpPr txBox="1"/>
          <p:nvPr/>
        </p:nvSpPr>
        <p:spPr>
          <a:xfrm>
            <a:off x="4682034" y="3553321"/>
            <a:ext cx="2912669" cy="77331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Fuel prices, built with AI in Excel and kept equal to the Python code by script.</a:t>
            </a:r>
            <a:endParaRPr lang="en-US" sz="1400" dirty="0"/>
          </a:p>
        </p:txBody>
      </p:sp>
      <p:sp>
        <p:nvSpPr>
          <p:cNvPr id="16" name="Shape 14"/>
          <p:cNvSpPr/>
          <p:nvPr/>
        </p:nvSpPr>
        <p:spPr>
          <a:xfrm>
            <a:off x="7992467" y="2367161"/>
            <a:ext cx="3386634" cy="2238871"/>
          </a:xfrm>
          <a:prstGeom prst="roundRect">
            <a:avLst>
              <a:gd name="adj" fmla="val 2269"/>
            </a:avLst>
          </a:prstGeom>
          <a:solidFill>
            <a:srgbClr val="FFFFFF"/>
          </a:solidFill>
          <a:ln/>
        </p:spPr>
        <p:txBody>
          <a:bodyPr/>
          <a:p/>
        </p:txBody>
      </p:sp>
      <p:sp>
        <p:nvSpPr>
          <p:cNvPr id="17" name="Shape 15"/>
          <p:cNvSpPr/>
          <p:nvPr/>
        </p:nvSpPr>
        <p:spPr>
          <a:xfrm>
            <a:off x="7992467" y="2367161"/>
            <a:ext cx="3386634" cy="38100"/>
          </a:xfrm>
          <a:prstGeom prst="rect">
            <a:avLst/>
          </a:prstGeom>
          <a:solidFill>
            <a:srgbClr val="1F5A96"/>
          </a:solidFill>
          <a:ln/>
        </p:spPr>
        <p:txBody>
          <a:bodyPr/>
          <a:p/>
        </p:txBody>
      </p:sp>
      <p:sp>
        <p:nvSpPr>
          <p:cNvPr id="18" name="Shape 16"/>
          <p:cNvSpPr/>
          <p:nvPr/>
        </p:nvSpPr>
        <p:spPr>
          <a:xfrm>
            <a:off x="8297267" y="2710061"/>
            <a:ext cx="304800" cy="304800"/>
          </a:xfrm>
          <a:prstGeom prst="ellipse">
            <a:avLst/>
          </a:prstGeom>
          <a:ln w="25400">
            <a:solidFill>
              <a:srgbClr val="1F5A96"/>
            </a:solidFill>
            <a:prstDash val="solid"/>
          </a:ln>
        </p:spPr>
        <p:txBody>
          <a:bodyPr/>
          <a:p/>
        </p:txBody>
      </p:sp>
      <p:sp>
        <p:nvSpPr>
          <p:cNvPr id="19" name="Shape 17"/>
          <p:cNvSpPr/>
          <p:nvPr/>
        </p:nvSpPr>
        <p:spPr>
          <a:xfrm>
            <a:off x="8390401" y="2803194"/>
            <a:ext cx="118533" cy="118533"/>
          </a:xfrm>
          <a:prstGeom prst="ellipse">
            <a:avLst/>
          </a:prstGeom>
          <a:solidFill>
            <a:srgbClr val="1F5A96"/>
          </a:solidFill>
          <a:ln/>
        </p:spPr>
        <p:txBody>
          <a:bodyPr/>
          <a:p/>
        </p:txBody>
      </p:sp>
      <p:sp>
        <p:nvSpPr>
          <p:cNvPr id="20" name="Text 18"/>
          <p:cNvSpPr txBox="1"/>
          <p:nvPr/>
        </p:nvSpPr>
        <p:spPr>
          <a:xfrm>
            <a:off x="8271867" y="3167261"/>
            <a:ext cx="2912669" cy="259060"/>
          </a:xfrm>
          <a:prstGeom prst="rect">
            <a:avLst/>
          </a:prstGeom>
          <a:noFill/>
          <a:ln/>
        </p:spPr>
        <p:txBody>
          <a:bodyPr wrap="square" lIns="0" tIns="0" rIns="0" bIns="0" rtlCol="0" anchor="t"/>
          <a:lstStyle/>
          <a:p>
            <a:pPr algn="l" indent="0" marL="0">
              <a:lnSpc>
                <a:spcPct val="120000"/>
              </a:lnSpc>
              <a:buNone/>
            </a:pPr>
            <a:r>
              <a:rPr lang="en-US" sz="1700" b="1" dirty="0">
                <a:solidFill>
                  <a:srgbClr val="14213D"/>
                </a:solidFill>
                <a:latin typeface="Calibri" pitchFamily="34" charset="0"/>
                <a:ea typeface="Calibri" pitchFamily="34" charset="-122"/>
                <a:cs typeface="Calibri" pitchFamily="34" charset="-120"/>
              </a:rPr>
              <a:t>Excel-AI-CPAT MVP: distribution</a:t>
            </a:r>
            <a:endParaRPr lang="en-US" sz="1700" dirty="0"/>
          </a:p>
        </p:txBody>
      </p:sp>
      <p:sp>
        <p:nvSpPr>
          <p:cNvPr id="21" name="Text 19"/>
          <p:cNvSpPr txBox="1"/>
          <p:nvPr/>
        </p:nvSpPr>
        <p:spPr>
          <a:xfrm>
            <a:off x="8271867" y="3553321"/>
            <a:ext cx="2912669" cy="773311"/>
          </a:xfrm>
          <a:prstGeom prst="rect">
            <a:avLst/>
          </a:prstGeom>
          <a:noFill/>
          <a:ln/>
        </p:spPr>
        <p:txBody>
          <a:bodyPr wrap="square" lIns="0" tIns="0" rIns="0" bIns="0" rtlCol="0" anchor="t"/>
          <a:lstStyle/>
          <a:p>
            <a:pPr algn="l" indent="0" marL="0">
              <a:lnSpc>
                <a:spcPct val="145000"/>
              </a:lnSpc>
              <a:buNone/>
            </a:pPr>
            <a:r>
              <a:rPr lang="en-US" sz="1400" dirty="0">
                <a:solidFill>
                  <a:srgbClr val="3F4A5A"/>
                </a:solidFill>
                <a:latin typeface="Calibri" pitchFamily="34" charset="0"/>
                <a:ea typeface="Calibri" pitchFamily="34" charset="-122"/>
                <a:cs typeface="Calibri" pitchFamily="34" charset="-120"/>
              </a:rPr>
              <a:t>The distribution module, built the same way, in the Excel-AI-CPAT form.</a:t>
            </a:r>
            <a:endParaRPr lang="en-US" sz="1400" dirty="0"/>
          </a:p>
        </p:txBody>
      </p:sp>
      <p:sp>
        <p:nvSpPr>
          <p:cNvPr id="22" name="Text 20"/>
          <p:cNvSpPr txBox="1"/>
          <p:nvPr/>
        </p:nvSpPr>
        <p:spPr>
          <a:xfrm>
            <a:off x="812800" y="6238280"/>
            <a:ext cx="10566400" cy="213320"/>
          </a:xfrm>
          <a:prstGeom prst="rect">
            <a:avLst/>
          </a:prstGeom>
          <a:noFill/>
          <a:ln/>
        </p:spPr>
        <p:txBody>
          <a:bodyPr wrap="square" lIns="0" tIns="0" rIns="0" bIns="0" rtlCol="0" anchor="t"/>
          <a:lstStyle/>
          <a:p>
            <a:pPr algn="l" indent="0" marL="0">
              <a:lnSpc>
                <a:spcPct val="140000"/>
              </a:lnSpc>
              <a:buNone/>
            </a:pPr>
            <a:r>
              <a:rPr lang="en-US" sz="1200" dirty="0">
                <a:solidFill>
                  <a:srgbClr val="7A8494"/>
                </a:solidFill>
                <a:latin typeface="Calibri" pitchFamily="34" charset="0"/>
                <a:ea typeface="Calibri" pitchFamily="34" charset="-122"/>
                <a:cs typeface="Calibri" pitchFamily="34" charset="-120"/>
              </a:rPr>
              <a:t>Use of AI in climate fiscal tools · 32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 of AI in developing climate fiscal tools</dc:title>
  <dc:subject>FY27 work plan: AI climate fiscal tools</dc:subject>
  <dc:creator>Stephen Stretton</dc:creator>
  <cp:lastModifiedBy>Stephen Stretton</cp:lastModifiedBy>
  <cp:revision>2</cp:revision>
  <dcterms:created xsi:type="dcterms:W3CDTF">2026-09-28T21:49:06Z</dcterms:created>
  <dcterms:modified xsi:type="dcterms:W3CDTF">2026-10-01T00:40:12Z</dcterms:modified>
  <cp:version>1.2</cp:version>
</cp:coreProperties>
</file>