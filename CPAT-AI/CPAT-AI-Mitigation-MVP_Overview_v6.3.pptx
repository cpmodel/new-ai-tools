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4a8f0df-f644-f9f2-dad5-dba3cafbac6f}">
          <p14:sldIdLst>
            <p14:sldId id="256"/>
            <p14:sldId id="257"/>
            <p14:sldId id="258"/>
            <p14:sldId id="259"/>
          </p14:sldIdLst>
        </p14:section>
        <p14:section name="Using the workbook" id="{a0611e50-47f7-2d58-424b-8a85aade8e76}">
          <p14:sldIdLst>
            <p14:sldId id="260"/>
            <p14:sldId id="261"/>
          </p14:sldIdLst>
        </p14:section>
        <p14:section name="Model and results" id="{28361fd3-87dc-90e5-cfb3-09fdd3c4bd4b}">
          <p14:sldIdLst>
            <p14:sldId id="262"/>
            <p14:sldId id="263"/>
            <p14:sldId id="264"/>
            <p14:sldId id="265"/>
            <p14:sldId id="266"/>
            <p14:sldId id="267"/>
            <p14:sldId id="268"/>
            <p14:sldId id="269"/>
          </p14:sldIdLst>
        </p14:section>
        <p14:section name="Next steps" id="{7708788e-b8a2-d96e-5b23-de9b383c3542}">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CO2 from fuel combustion incl. power (MtCO2)</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Sheet1!$B$2:$B$21</c:f>
              <c:numCache>
                <c:formatCode>General</c:formatCode>
                <c:ptCount val="20"/>
                <c:pt idx="0">
                  <c:v>211.0535364</c:v>
                </c:pt>
                <c:pt idx="1">
                  <c:v>182.931093290827</c:v>
                </c:pt>
                <c:pt idx="2">
                  <c:v>203.660009188596</c:v>
                </c:pt>
                <c:pt idx="3">
                  <c:v>208.933061192683</c:v>
                </c:pt>
                <c:pt idx="4">
                  <c:v>214.215570068777</c:v>
                </c:pt>
                <c:pt idx="5">
                  <c:v>219.061971602792</c:v>
                </c:pt>
                <c:pt idx="6">
                  <c:v>223.109779371249</c:v>
                </c:pt>
                <c:pt idx="7">
                  <c:v>226.740745461712</c:v>
                </c:pt>
                <c:pt idx="8">
                  <c:v>231.970227509995</c:v>
                </c:pt>
                <c:pt idx="9">
                  <c:v>236.200576552283</c:v>
                </c:pt>
                <c:pt idx="10">
                  <c:v>240.758806971735</c:v>
                </c:pt>
                <c:pt idx="11">
                  <c:v>245.406930808878</c:v>
                </c:pt>
                <c:pt idx="12">
                  <c:v>250.125748379733</c:v>
                </c:pt>
                <c:pt idx="13">
                  <c:v>254.913422655948</c:v>
                </c:pt>
                <c:pt idx="14">
                  <c:v>259.775222656821</c:v>
                </c:pt>
                <c:pt idx="15">
                  <c:v>264.717157377577</c:v>
                </c:pt>
                <c:pt idx="16">
                  <c:v>269.746364164556</c:v>
                </c:pt>
                <c:pt idx="17">
                  <c:v>274.864377055473</c:v>
                </c:pt>
                <c:pt idx="18">
                  <c:v>280.080508126402</c:v>
                </c:pt>
                <c:pt idx="19">
                  <c:v>285.397320723292</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Sheet1!$C$2:$C$21</c:f>
              <c:numCache>
                <c:formatCode>General</c:formatCode>
                <c:ptCount val="20"/>
                <c:pt idx="0">
                  <c:v>211.0535364</c:v>
                </c:pt>
                <c:pt idx="1">
                  <c:v>182.877639838551</c:v>
                </c:pt>
                <c:pt idx="2">
                  <c:v>203.608495855114</c:v>
                </c:pt>
                <c:pt idx="3">
                  <c:v>208.891571018396</c:v>
                </c:pt>
                <c:pt idx="4">
                  <c:v>214.175252525584</c:v>
                </c:pt>
                <c:pt idx="5">
                  <c:v>207.535224143491</c:v>
                </c:pt>
                <c:pt idx="6">
                  <c:v>204.257133167122</c:v>
                </c:pt>
                <c:pt idx="7">
                  <c:v>212.020295322127</c:v>
                </c:pt>
                <c:pt idx="8">
                  <c:v>215.856697282622</c:v>
                </c:pt>
                <c:pt idx="9">
                  <c:v>219.364496965979</c:v>
                </c:pt>
                <c:pt idx="10">
                  <c:v>223.530339963854</c:v>
                </c:pt>
                <c:pt idx="11">
                  <c:v>227.903178615533</c:v>
                </c:pt>
                <c:pt idx="12">
                  <c:v>232.417997667303</c:v>
                </c:pt>
                <c:pt idx="13">
                  <c:v>236.974690460713</c:v>
                </c:pt>
                <c:pt idx="14">
                  <c:v>241.633735019091</c:v>
                </c:pt>
                <c:pt idx="15">
                  <c:v>246.443265001768</c:v>
                </c:pt>
                <c:pt idx="16">
                  <c:v>251.243250325989</c:v>
                </c:pt>
                <c:pt idx="17">
                  <c:v>256.107019125093</c:v>
                </c:pt>
                <c:pt idx="18">
                  <c:v>260.96227120006</c:v>
                </c:pt>
                <c:pt idx="19">
                  <c:v>265.904168846598</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Sheet1!$D$2:$D$21</c:f>
              <c:numCache>
                <c:formatCode>General</c:formatCode>
                <c:ptCount val="20"/>
                <c:pt idx="0">
                  <c:v>211.0535364</c:v>
                </c:pt>
                <c:pt idx="1">
                  <c:v>182.747167074433</c:v>
                </c:pt>
                <c:pt idx="2">
                  <c:v>203.482762819244</c:v>
                </c:pt>
                <c:pt idx="3">
                  <c:v>208.789542709426</c:v>
                </c:pt>
                <c:pt idx="4">
                  <c:v>214.07614542702</c:v>
                </c:pt>
                <c:pt idx="5">
                  <c:v>211.6788665114</c:v>
                </c:pt>
                <c:pt idx="6">
                  <c:v>203.524030108488</c:v>
                </c:pt>
                <c:pt idx="7">
                  <c:v>199.079999879985</c:v>
                </c:pt>
                <c:pt idx="8">
                  <c:v>195.160138374041</c:v>
                </c:pt>
                <c:pt idx="9">
                  <c:v>188.540068806495</c:v>
                </c:pt>
                <c:pt idx="10">
                  <c:v>184.897437630443</c:v>
                </c:pt>
                <c:pt idx="11">
                  <c:v>179.926461725846</c:v>
                </c:pt>
                <c:pt idx="12">
                  <c:v>176.352770292061</c:v>
                </c:pt>
                <c:pt idx="13">
                  <c:v>172.454719323809</c:v>
                </c:pt>
                <c:pt idx="14">
                  <c:v>169.3879484235</c:v>
                </c:pt>
                <c:pt idx="15">
                  <c:v>166.100116876573</c:v>
                </c:pt>
                <c:pt idx="16">
                  <c:v>163.529237677313</c:v>
                </c:pt>
                <c:pt idx="17">
                  <c:v>160.596898324865</c:v>
                </c:pt>
                <c:pt idx="18">
                  <c:v>158.429091460356</c:v>
                </c:pt>
                <c:pt idx="19">
                  <c:v>155.650046004792</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Sheet1!$E$2:$E$21</c:f>
              <c:numCache>
                <c:formatCode>General</c:formatCode>
                <c:ptCount val="20"/>
                <c:pt idx="0">
                  <c:v>211.0535364</c:v>
                </c:pt>
                <c:pt idx="1">
                  <c:v>182.611973881236</c:v>
                </c:pt>
                <c:pt idx="2">
                  <c:v>203.352317603198</c:v>
                </c:pt>
                <c:pt idx="3">
                  <c:v>208.684060426608</c:v>
                </c:pt>
                <c:pt idx="4">
                  <c:v>213.973523826137</c:v>
                </c:pt>
                <c:pt idx="5">
                  <c:v>205.958726813727</c:v>
                </c:pt>
                <c:pt idx="6">
                  <c:v>209.192060429881</c:v>
                </c:pt>
                <c:pt idx="7">
                  <c:v>212.076731431677</c:v>
                </c:pt>
                <c:pt idx="8">
                  <c:v>216.451507105368</c:v>
                </c:pt>
                <c:pt idx="9">
                  <c:v>215.353372007177</c:v>
                </c:pt>
                <c:pt idx="10">
                  <c:v>215.427811157463</c:v>
                </c:pt>
                <c:pt idx="11">
                  <c:v>215.947444333161</c:v>
                </c:pt>
                <c:pt idx="12">
                  <c:v>215.865341931106</c:v>
                </c:pt>
                <c:pt idx="13">
                  <c:v>216.422798521696</c:v>
                </c:pt>
                <c:pt idx="14">
                  <c:v>217.221429989972</c:v>
                </c:pt>
                <c:pt idx="15">
                  <c:v>218.087790907127</c:v>
                </c:pt>
                <c:pt idx="16">
                  <c:v>219.043842325145</c:v>
                </c:pt>
                <c:pt idx="17">
                  <c:v>220.179135415788</c:v>
                </c:pt>
                <c:pt idx="18">
                  <c:v>221.327590736825</c:v>
                </c:pt>
                <c:pt idx="19">
                  <c:v>222.656763035096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Package B: covered CO2 and cap (MtCO2)</a:t>
            </a:r>
          </a:p>
        </c:rich>
      </c:tx>
      <c:layout/>
      <c:overlay val="0"/>
    </c:title>
    <c:autoTitleDeleted val="0"/>
    <c:plotArea>
      <c:layout/>
      <c:lineChart>
        <c:varyColors val="0"/>
        <c:ser>
          <c:idx val="0"/>
          <c:order val="0"/>
          <c:tx>
            <c:strRef>
              <c:f>Sheet1!$B$1</c:f>
              <c:strCache>
                <c:ptCount val="1"/>
                <c:pt idx="0">
                  <c:v>Covered CO2</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Sheet1!$B$2:$B$21</c:f>
              <c:numCache>
                <c:formatCode>General</c:formatCode>
                <c:ptCount val="20"/>
                <c:pt idx="0">
                  <c:v>0</c:v>
                </c:pt>
                <c:pt idx="1">
                  <c:v>0</c:v>
                </c:pt>
                <c:pt idx="2">
                  <c:v>0</c:v>
                </c:pt>
                <c:pt idx="3">
                  <c:v>0</c:v>
                </c:pt>
                <c:pt idx="4">
                  <c:v>0</c:v>
                </c:pt>
                <c:pt idx="5">
                  <c:v>108.423441421743</c:v>
                </c:pt>
                <c:pt idx="6">
                  <c:v>108.52593200227</c:v>
                </c:pt>
                <c:pt idx="7">
                  <c:v>108.39998122732</c:v>
                </c:pt>
                <c:pt idx="8">
                  <c:v>110.027195623143</c:v>
                </c:pt>
                <c:pt idx="9">
                  <c:v>106.095102827733</c:v>
                </c:pt>
                <c:pt idx="10">
                  <c:v>103.340998796615</c:v>
                </c:pt>
                <c:pt idx="11">
                  <c:v>100.945332851076</c:v>
                </c:pt>
                <c:pt idx="12">
                  <c:v>97.9121748620897</c:v>
                </c:pt>
                <c:pt idx="13">
                  <c:v>95.490710875793</c:v>
                </c:pt>
                <c:pt idx="14">
                  <c:v>93.2696169171127</c:v>
                </c:pt>
                <c:pt idx="15">
                  <c:v>91.0632815920392</c:v>
                </c:pt>
                <c:pt idx="16">
                  <c:v>88.936640393396</c:v>
                </c:pt>
                <c:pt idx="17">
                  <c:v>86.9618160981514</c:v>
                </c:pt>
                <c:pt idx="18">
                  <c:v>84.9930490715317</c:v>
                </c:pt>
                <c:pt idx="19">
                  <c:v>83.1747304755284</c:v>
                </c:pt>
              </c:numCache>
            </c:numRef>
          </c:val>
          <c:smooth val="0"/>
        </c:ser>
        <c:ser>
          <c:idx val="1"/>
          <c:order val="1"/>
          <c:tx>
            <c:strRef>
              <c:f>Sheet1!$C$1</c:f>
              <c:strCache>
                <c:ptCount val="1"/>
                <c:pt idx="0">
                  <c:v>Cap</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Sheet1!$C$2:$C$21</c:f>
              <c:numCache>
                <c:formatCode>General</c:formatCode>
                <c:ptCount val="20"/>
                <c:pt idx="0">
                  <c:v>0</c:v>
                </c:pt>
                <c:pt idx="1">
                  <c:v>0</c:v>
                </c:pt>
                <c:pt idx="2">
                  <c:v>0</c:v>
                </c:pt>
                <c:pt idx="3">
                  <c:v>0</c:v>
                </c:pt>
                <c:pt idx="4">
                  <c:v>0</c:v>
                </c:pt>
                <c:pt idx="5">
                  <c:v>104.348156828597</c:v>
                </c:pt>
                <c:pt idx="6">
                  <c:v>102.774379837682</c:v>
                </c:pt>
                <c:pt idx="7">
                  <c:v>100.940536045787</c:v>
                </c:pt>
                <c:pt idx="8">
                  <c:v>100.7273924227</c:v>
                </c:pt>
                <c:pt idx="9">
                  <c:v>99.536804299535</c:v>
                </c:pt>
                <c:pt idx="10">
                  <c:v>98.5528116723341</c:v>
                </c:pt>
                <c:pt idx="11">
                  <c:v>97.5604712019127</c:v>
                </c:pt>
                <c:pt idx="12">
                  <c:v>96.5418057015725</c:v>
                </c:pt>
                <c:pt idx="13">
                  <c:v>95.4941341433716</c:v>
                </c:pt>
                <c:pt idx="14">
                  <c:v>95.4941341433716</c:v>
                </c:pt>
                <c:pt idx="15">
                  <c:v>95.4941341433716</c:v>
                </c:pt>
                <c:pt idx="16">
                  <c:v>95.4941341433716</c:v>
                </c:pt>
                <c:pt idx="17">
                  <c:v>95.4941341433716</c:v>
                </c:pt>
                <c:pt idx="18">
                  <c:v>95.4941341433716</c:v>
                </c:pt>
                <c:pt idx="19">
                  <c:v>95.4941341433716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Variable renewable share of generation</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Sheet1!$B$2:$B$21</c:f>
              <c:numCache>
                <c:formatCode>General</c:formatCode>
                <c:ptCount val="20"/>
                <c:pt idx="0">
                  <c:v>0.0523422150659333</c:v>
                </c:pt>
                <c:pt idx="1">
                  <c:v>0.0764311635864413</c:v>
                </c:pt>
                <c:pt idx="2">
                  <c:v>0.0662106847399743</c:v>
                </c:pt>
                <c:pt idx="3">
                  <c:v>0.0959891021041606</c:v>
                </c:pt>
                <c:pt idx="4">
                  <c:v>0.124427272783918</c:v>
                </c:pt>
                <c:pt idx="5">
                  <c:v>0.153657993371325</c:v>
                </c:pt>
                <c:pt idx="6">
                  <c:v>0.181624475625814</c:v>
                </c:pt>
                <c:pt idx="7">
                  <c:v>0.207834898384353</c:v>
                </c:pt>
                <c:pt idx="8">
                  <c:v>0.229111416458192</c:v>
                </c:pt>
                <c:pt idx="9">
                  <c:v>0.248272671739751</c:v>
                </c:pt>
                <c:pt idx="10">
                  <c:v>0.266462705332272</c:v>
                </c:pt>
                <c:pt idx="11">
                  <c:v>0.28331296753489</c:v>
                </c:pt>
                <c:pt idx="12">
                  <c:v>0.299157305949833</c:v>
                </c:pt>
                <c:pt idx="13">
                  <c:v>0.314085686117369</c:v>
                </c:pt>
                <c:pt idx="14">
                  <c:v>0.328160679965081</c:v>
                </c:pt>
                <c:pt idx="15">
                  <c:v>0.341440124700469</c:v>
                </c:pt>
                <c:pt idx="16">
                  <c:v>0.35398310956238</c:v>
                </c:pt>
                <c:pt idx="17">
                  <c:v>0.365849122013386</c:v>
                </c:pt>
                <c:pt idx="18">
                  <c:v>0.377082006839233</c:v>
                </c:pt>
                <c:pt idx="19">
                  <c:v>0.387728419755597</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Sheet1!$C$2:$C$21</c:f>
              <c:numCache>
                <c:formatCode>General</c:formatCode>
                <c:ptCount val="20"/>
                <c:pt idx="0">
                  <c:v>0.0523422150659333</c:v>
                </c:pt>
                <c:pt idx="1">
                  <c:v>0.0770556877349764</c:v>
                </c:pt>
                <c:pt idx="2">
                  <c:v>0.0667516599988577</c:v>
                </c:pt>
                <c:pt idx="3">
                  <c:v>0.0964824858341156</c:v>
                </c:pt>
                <c:pt idx="4">
                  <c:v>0.124880997522883</c:v>
                </c:pt>
                <c:pt idx="5">
                  <c:v>0.154080725262741</c:v>
                </c:pt>
                <c:pt idx="6">
                  <c:v>0.194452706417412</c:v>
                </c:pt>
                <c:pt idx="7">
                  <c:v>0.180572412478163</c:v>
                </c:pt>
                <c:pt idx="8">
                  <c:v>0.205076828763234</c:v>
                </c:pt>
                <c:pt idx="9">
                  <c:v>0.227371895051494</c:v>
                </c:pt>
                <c:pt idx="10">
                  <c:v>0.246785405172348</c:v>
                </c:pt>
                <c:pt idx="11">
                  <c:v>0.26446715206386</c:v>
                </c:pt>
                <c:pt idx="12">
                  <c:v>0.281093432519453</c:v>
                </c:pt>
                <c:pt idx="13">
                  <c:v>0.296762735989136</c:v>
                </c:pt>
                <c:pt idx="14">
                  <c:v>0.311485258066378</c:v>
                </c:pt>
                <c:pt idx="15">
                  <c:v>0.325251706532097</c:v>
                </c:pt>
                <c:pt idx="16">
                  <c:v>0.338340539782029</c:v>
                </c:pt>
                <c:pt idx="17">
                  <c:v>0.350768350428466</c:v>
                </c:pt>
                <c:pt idx="18">
                  <c:v>0.362637654679083</c:v>
                </c:pt>
                <c:pt idx="19">
                  <c:v>0.373902935844308</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Sheet1!$D$2:$D$21</c:f>
              <c:numCache>
                <c:formatCode>General</c:formatCode>
                <c:ptCount val="20"/>
                <c:pt idx="0">
                  <c:v>0.0523422150659333</c:v>
                </c:pt>
                <c:pt idx="1">
                  <c:v>0.0785863551650732</c:v>
                </c:pt>
                <c:pt idx="2">
                  <c:v>0.0680775546199117</c:v>
                </c:pt>
                <c:pt idx="3">
                  <c:v>0.0976922396131377</c:v>
                </c:pt>
                <c:pt idx="4">
                  <c:v>0.125993741710134</c:v>
                </c:pt>
                <c:pt idx="5">
                  <c:v>0.155117601091659</c:v>
                </c:pt>
                <c:pt idx="6">
                  <c:v>0.189328357949099</c:v>
                </c:pt>
                <c:pt idx="7">
                  <c:v>0.189118953680995</c:v>
                </c:pt>
                <c:pt idx="8">
                  <c:v>0.198018044333263</c:v>
                </c:pt>
                <c:pt idx="9">
                  <c:v>0.229071211183423</c:v>
                </c:pt>
                <c:pt idx="10">
                  <c:v>0.246486059521986</c:v>
                </c:pt>
                <c:pt idx="11">
                  <c:v>0.272380579336094</c:v>
                </c:pt>
                <c:pt idx="12">
                  <c:v>0.295604988770207</c:v>
                </c:pt>
                <c:pt idx="13">
                  <c:v>0.316742228844349</c:v>
                </c:pt>
                <c:pt idx="14">
                  <c:v>0.335504263062946</c:v>
                </c:pt>
                <c:pt idx="15">
                  <c:v>0.352587233508718</c:v>
                </c:pt>
                <c:pt idx="16">
                  <c:v>0.367560600640026</c:v>
                </c:pt>
                <c:pt idx="17">
                  <c:v>0.381317041328137</c:v>
                </c:pt>
                <c:pt idx="18">
                  <c:v>0.393217847711517</c:v>
                </c:pt>
                <c:pt idx="19">
                  <c:v>0.404499225331228</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Sheet1!$E$2:$E$21</c:f>
              <c:numCache>
                <c:formatCode>General</c:formatCode>
                <c:ptCount val="20"/>
                <c:pt idx="0">
                  <c:v>0.0523422150659333</c:v>
                </c:pt>
                <c:pt idx="1">
                  <c:v>0.0801697215644966</c:v>
                </c:pt>
                <c:pt idx="2">
                  <c:v>0.0694508287310738</c:v>
                </c:pt>
                <c:pt idx="3">
                  <c:v>0.0989458142801724</c:v>
                </c:pt>
                <c:pt idx="4">
                  <c:v>0.127148308919138</c:v>
                </c:pt>
                <c:pt idx="5">
                  <c:v>0.156194872949364</c:v>
                </c:pt>
                <c:pt idx="6">
                  <c:v>0.183983354446839</c:v>
                </c:pt>
                <c:pt idx="7">
                  <c:v>0.210007718106356</c:v>
                </c:pt>
                <c:pt idx="8">
                  <c:v>0.231217855077374</c:v>
                </c:pt>
                <c:pt idx="9">
                  <c:v>0.250159726594236</c:v>
                </c:pt>
                <c:pt idx="10">
                  <c:v>0.268234406911415</c:v>
                </c:pt>
                <c:pt idx="11">
                  <c:v>0.284332876946821</c:v>
                </c:pt>
                <c:pt idx="12">
                  <c:v>0.299485615222418</c:v>
                </c:pt>
                <c:pt idx="13">
                  <c:v>0.313880811201924</c:v>
                </c:pt>
                <c:pt idx="14">
                  <c:v>0.327363054376979</c:v>
                </c:pt>
                <c:pt idx="15">
                  <c:v>0.340090032645171</c:v>
                </c:pt>
                <c:pt idx="16">
                  <c:v>0.352221867904319</c:v>
                </c:pt>
                <c:pt idx="17">
                  <c:v>0.363738942709894</c:v>
                </c:pt>
                <c:pt idx="18">
                  <c:v>0.374743441066596</c:v>
                </c:pt>
                <c:pt idx="19">
                  <c:v>0.385207876836423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Egypt road fuel use, baseline (ktoe)</a:t>
            </a:r>
          </a:p>
        </c:rich>
      </c:tx>
      <c:layout/>
      <c:overlay val="0"/>
    </c:title>
    <c:autoTitleDeleted val="0"/>
    <c:plotArea>
      <c:layout/>
      <c:barChart>
        <c:barDir val="col"/>
        <c:grouping val="clustered"/>
        <c:varyColors val="0"/>
        <c:ser>
          <c:idx val="0"/>
          <c:order val="0"/>
          <c:tx>
            <c:strRef>
              <c:f>Sheet1!$B$1</c:f>
              <c:strCache>
                <c:ptCount val="1"/>
                <c:pt idx="0">
                  <c:v>Legacy engineer run</c:v>
                </c:pt>
              </c:strCache>
            </c:strRef>
          </c:tx>
          <c:spPr>
            <a:solidFill>
              <a:srgbClr val="E08A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2030</c:v>
                  </c:pt>
                  <c:pt idx="1">
                    <c:v>2035</c:v>
                  </c:pt>
                  <c:pt idx="2">
                    <c:v>2041</c:v>
                  </c:pt>
                </c:lvl>
              </c:multiLvlStrCache>
            </c:multiLvlStrRef>
          </c:cat>
          <c:val>
            <c:numRef>
              <c:f>Sheet1!$B$2:$B$4</c:f>
              <c:numCache>
                <c:formatCode>General</c:formatCode>
                <c:ptCount val="3"/>
                <c:pt idx="0">
                  <c:v>25177</c:v>
                </c:pt>
                <c:pt idx="1">
                  <c:v>40398</c:v>
                </c:pt>
                <c:pt idx="2">
                  <c:v>64037</c:v>
                </c:pt>
              </c:numCache>
            </c:numRef>
          </c:val>
        </c:ser>
        <c:ser>
          <c:idx val="1"/>
          <c:order val="1"/>
          <c:tx>
            <c:strRef>
              <c:f>Sheet1!$C$1</c:f>
              <c:strCache>
                <c:ptCount val="1"/>
                <c:pt idx="0">
                  <c:v>With the fixes</c:v>
                </c:pt>
              </c:strCache>
            </c:strRef>
          </c:tx>
          <c:spPr>
            <a:solidFill>
              <a:srgbClr val="0F7B6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2030</c:v>
                  </c:pt>
                  <c:pt idx="1">
                    <c:v>2035</c:v>
                  </c:pt>
                  <c:pt idx="2">
                    <c:v>2041</c:v>
                  </c:pt>
                </c:lvl>
              </c:multiLvlStrCache>
            </c:multiLvlStrRef>
          </c:cat>
          <c:val>
            <c:numRef>
              <c:f>Sheet1!$C$2:$C$4</c:f>
              <c:numCache>
                <c:formatCode>General</c:formatCode>
                <c:ptCount val="3"/>
                <c:pt idx="0">
                  <c:v>19783</c:v>
                </c:pt>
                <c:pt idx="1">
                  <c:v>26533</c:v>
                </c:pt>
                <c:pt idx="2">
                  <c:v>33986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GHG emissions excl. LULUCF (Mt CO2e)</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Sheet1!$B$2:$B$21</c:f>
              <c:numCache>
                <c:formatCode>General</c:formatCode>
                <c:ptCount val="20"/>
                <c:pt idx="0">
                  <c:v>401.209835025708</c:v>
                </c:pt>
                <c:pt idx="1">
                  <c:v>387.858358754385</c:v>
                </c:pt>
                <c:pt idx="2">
                  <c:v>416.536511192412</c:v>
                </c:pt>
                <c:pt idx="3">
                  <c:v>428.705589785895</c:v>
                </c:pt>
                <c:pt idx="4">
                  <c:v>438.049102855714</c:v>
                </c:pt>
                <c:pt idx="5">
                  <c:v>447.442106824908</c:v>
                </c:pt>
                <c:pt idx="6">
                  <c:v>456.57132968143</c:v>
                </c:pt>
                <c:pt idx="7">
                  <c:v>465.190720496631</c:v>
                </c:pt>
                <c:pt idx="8">
                  <c:v>475.282584555919</c:v>
                </c:pt>
                <c:pt idx="9">
                  <c:v>484.410114081928</c:v>
                </c:pt>
                <c:pt idx="10">
                  <c:v>493.906781932893</c:v>
                </c:pt>
                <c:pt idx="11">
                  <c:v>503.551450483665</c:v>
                </c:pt>
                <c:pt idx="12">
                  <c:v>513.329355316287</c:v>
                </c:pt>
                <c:pt idx="13">
                  <c:v>523.232612582205</c:v>
                </c:pt>
                <c:pt idx="14">
                  <c:v>533.265588541723</c:v>
                </c:pt>
                <c:pt idx="15">
                  <c:v>543.436952214953</c:v>
                </c:pt>
                <c:pt idx="16">
                  <c:v>553.744291926509</c:v>
                </c:pt>
                <c:pt idx="17">
                  <c:v>564.186911716329</c:v>
                </c:pt>
                <c:pt idx="18">
                  <c:v>574.776826437351</c:v>
                </c:pt>
                <c:pt idx="19">
                  <c:v>585.493490981722</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Sheet1!$C$2:$C$21</c:f>
              <c:numCache>
                <c:formatCode>General</c:formatCode>
                <c:ptCount val="20"/>
                <c:pt idx="0">
                  <c:v>401.209835025708</c:v>
                </c:pt>
                <c:pt idx="1">
                  <c:v>387.804527745995</c:v>
                </c:pt>
                <c:pt idx="2">
                  <c:v>416.484634120623</c:v>
                </c:pt>
                <c:pt idx="3">
                  <c:v>428.663875960836</c:v>
                </c:pt>
                <c:pt idx="4">
                  <c:v>438.008584740414</c:v>
                </c:pt>
                <c:pt idx="5">
                  <c:v>428.153125085669</c:v>
                </c:pt>
                <c:pt idx="6">
                  <c:v>429.553669265435</c:v>
                </c:pt>
                <c:pt idx="7">
                  <c:v>442.082617720902</c:v>
                </c:pt>
                <c:pt idx="8">
                  <c:v>450.436155106974</c:v>
                </c:pt>
                <c:pt idx="9">
                  <c:v>458.559942452721</c:v>
                </c:pt>
                <c:pt idx="10">
                  <c:v>467.351755946287</c:v>
                </c:pt>
                <c:pt idx="11">
                  <c:v>476.455685471623</c:v>
                </c:pt>
                <c:pt idx="12">
                  <c:v>485.770663434962</c:v>
                </c:pt>
                <c:pt idx="13">
                  <c:v>495.172205320638</c:v>
                </c:pt>
                <c:pt idx="14">
                  <c:v>504.736136021418</c:v>
                </c:pt>
                <c:pt idx="15">
                  <c:v>514.53016034908</c:v>
                </c:pt>
                <c:pt idx="16">
                  <c:v>524.335142859292</c:v>
                </c:pt>
                <c:pt idx="17">
                  <c:v>534.23852360523</c:v>
                </c:pt>
                <c:pt idx="18">
                  <c:v>544.149636523585</c:v>
                </c:pt>
                <c:pt idx="19">
                  <c:v>554.165680616826</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Sheet1!$D$2:$D$21</c:f>
              <c:numCache>
                <c:formatCode>General</c:formatCode>
                <c:ptCount val="20"/>
                <c:pt idx="0">
                  <c:v>401.209835025708</c:v>
                </c:pt>
                <c:pt idx="1">
                  <c:v>387.673126145087</c:v>
                </c:pt>
                <c:pt idx="2">
                  <c:v>416.358006213687</c:v>
                </c:pt>
                <c:pt idx="3">
                  <c:v>428.561284996038</c:v>
                </c:pt>
                <c:pt idx="4">
                  <c:v>437.908972324752</c:v>
                </c:pt>
                <c:pt idx="5">
                  <c:v>435.20088529141</c:v>
                </c:pt>
                <c:pt idx="6">
                  <c:v>426.417165218927</c:v>
                </c:pt>
                <c:pt idx="7">
                  <c:v>421.978380972038</c:v>
                </c:pt>
                <c:pt idx="8">
                  <c:v>418.410641822273</c:v>
                </c:pt>
                <c:pt idx="9">
                  <c:v>412.50876066923</c:v>
                </c:pt>
                <c:pt idx="10">
                  <c:v>409.928438311469</c:v>
                </c:pt>
                <c:pt idx="11">
                  <c:v>406.266979678345</c:v>
                </c:pt>
                <c:pt idx="12">
                  <c:v>404.253357174497</c:v>
                </c:pt>
                <c:pt idx="13">
                  <c:v>402.093380775657</c:v>
                </c:pt>
                <c:pt idx="14">
                  <c:v>400.93389856829</c:v>
                </c:pt>
                <c:pt idx="15">
                  <c:v>399.693818907238</c:v>
                </c:pt>
                <c:pt idx="16">
                  <c:v>399.291171610463</c:v>
                </c:pt>
                <c:pt idx="17">
                  <c:v>398.610438282327</c:v>
                </c:pt>
                <c:pt idx="18">
                  <c:v>398.773104987424</c:v>
                </c:pt>
                <c:pt idx="19">
                  <c:v>398.352710397064</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Sheet1!$E$2:$E$21</c:f>
              <c:numCache>
                <c:formatCode>General</c:formatCode>
                <c:ptCount val="20"/>
                <c:pt idx="0">
                  <c:v>401.209835025708</c:v>
                </c:pt>
                <c:pt idx="1">
                  <c:v>387.536973610044</c:v>
                </c:pt>
                <c:pt idx="2">
                  <c:v>416.226635563707</c:v>
                </c:pt>
                <c:pt idx="3">
                  <c:v>428.455226916812</c:v>
                </c:pt>
                <c:pt idx="4">
                  <c:v>437.805832037568</c:v>
                </c:pt>
                <c:pt idx="5">
                  <c:v>426.067091201422</c:v>
                </c:pt>
                <c:pt idx="6">
                  <c:v>433.671358983363</c:v>
                </c:pt>
                <c:pt idx="7">
                  <c:v>440.870212373501</c:v>
                </c:pt>
                <c:pt idx="8">
                  <c:v>449.409395304199</c:v>
                </c:pt>
                <c:pt idx="9">
                  <c:v>452.501441228448</c:v>
                </c:pt>
                <c:pt idx="10">
                  <c:v>456.793803933817</c:v>
                </c:pt>
                <c:pt idx="11">
                  <c:v>461.631218709207</c:v>
                </c:pt>
                <c:pt idx="12">
                  <c:v>465.91829354387</c:v>
                </c:pt>
                <c:pt idx="13">
                  <c:v>470.900008501745</c:v>
                </c:pt>
                <c:pt idx="14">
                  <c:v>476.304118432992</c:v>
                </c:pt>
                <c:pt idx="15">
                  <c:v>481.839503841267</c:v>
                </c:pt>
                <c:pt idx="16">
                  <c:v>487.486256881239</c:v>
                </c:pt>
                <c:pt idx="17">
                  <c:v>493.346476661741</c:v>
                </c:pt>
                <c:pt idx="18">
                  <c:v>499.238154303595</c:v>
                </c:pt>
                <c:pt idx="19">
                  <c:v>505.326659816098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Effect by decile, 2030, carbon price $20 (% of consumption)</a:t>
            </a:r>
          </a:p>
        </c:rich>
      </c:tx>
      <c:layout/>
      <c:overlay val="0"/>
    </c:title>
    <c:autoTitleDeleted val="0"/>
    <c:plotArea>
      <c:layout/>
      <c:barChart>
        <c:barDir val="col"/>
        <c:grouping val="clustered"/>
        <c:varyColors val="0"/>
        <c:ser>
          <c:idx val="0"/>
          <c:order val="0"/>
          <c:tx>
            <c:strRef>
              <c:f>Sheet1!$B$1</c:f>
              <c:strCache>
                <c:ptCount val="1"/>
                <c:pt idx="0">
                  <c:v>Price effects</c:v>
                </c:pt>
              </c:strCache>
            </c:strRef>
          </c:tx>
          <c:spPr>
            <a:solidFill>
              <a:srgbClr val="E08A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-0.0115926756983746</c:v>
                </c:pt>
                <c:pt idx="1">
                  <c:v>-0.0106360534013133</c:v>
                </c:pt>
                <c:pt idx="2">
                  <c:v>-0.0103014797206648</c:v>
                </c:pt>
                <c:pt idx="3">
                  <c:v>-0.00960632508303425</c:v>
                </c:pt>
                <c:pt idx="4">
                  <c:v>-0.0096258547681786</c:v>
                </c:pt>
                <c:pt idx="5">
                  <c:v>-0.009569658000568531</c:v>
                </c:pt>
                <c:pt idx="6">
                  <c:v>-0.00990997095528535</c:v>
                </c:pt>
                <c:pt idx="7">
                  <c:v>-0.010049084911224299</c:v>
                </c:pt>
                <c:pt idx="8">
                  <c:v>-0.00971162541414459</c:v>
                </c:pt>
                <c:pt idx="9">
                  <c:v>-0.0100980175425022</c:v>
                </c:pt>
              </c:numCache>
            </c:numRef>
          </c:val>
        </c:ser>
        <c:ser>
          <c:idx val="1"/>
          <c:order val="1"/>
          <c:tx>
            <c:strRef>
              <c:f>Sheet1!$C$1</c:f>
              <c:strCache>
                <c:ptCount val="1"/>
                <c:pt idx="0">
                  <c:v>Net effect after recycling</c:v>
                </c:pt>
              </c:strCache>
            </c:strRef>
          </c:tx>
          <c:spPr>
            <a:solidFill>
              <a:srgbClr val="0F7B6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0.023405540325681602</c:v>
                </c:pt>
                <c:pt idx="1">
                  <c:v>0.0136646055979255</c:v>
                </c:pt>
                <c:pt idx="2">
                  <c:v>0.00499329692972615</c:v>
                </c:pt>
                <c:pt idx="3">
                  <c:v>0.00256118929059376</c:v>
                </c:pt>
                <c:pt idx="4">
                  <c:v>-0.0012623307532978</c:v>
                </c:pt>
                <c:pt idx="5">
                  <c:v>-0.0046190049251631</c:v>
                </c:pt>
                <c:pt idx="6">
                  <c:v>-0.00662867554745017</c:v>
                </c:pt>
                <c:pt idx="7">
                  <c:v>-0.007535026167578101</c:v>
                </c:pt>
                <c:pt idx="8">
                  <c:v>-0.00677790222973549</c:v>
                </c:pt>
                <c:pt idx="9">
                  <c:v>-0.00892158386809769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workbook for the CPAT mitigation chain (policies, prices, power, fuel use, revenues, emissions, GDP) and the distribution module. Generated and checked by AI; every value is recomputed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numbers follow legacy CPAT. Equations: Equations_v6_3.md; every workbook formula: Formulas_v6_3.md. Section 15 keeps the air-pollutant input table; the co-benefits and transport-externality modules were dropped by the user on 2026-10-20.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the register (issues_register_v6_3.py, make_legacy_fixes_v6_3.py). The MVP never replicates a legacy bug; it replicates legacy issues and tracks them (NORMS section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Readability, copy-pasteable formulas, fast scenarios, and independent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section is rolled up to its summary row on open; columns B:G and I:K are grouped. Row 5 holds the scenario number (a formula); every input row looks up its value in that MTInputs column. The spacer column of each group compares it with the group on its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macro copies each definition into the live column, recalculates, runs the ETS goal seek where needed, and stores the results as values. CheckBatchRun tests the macros on first use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Stored scenario results (StoredResults). Baseline = no carbon price; Package A = carbon tax to $50 + feebates; Package B = ETS on power and industry + carbon tax elsewhere. Builds store a new ETS at its quick price estimate; the batch macro's goal seek on the cap is tested separately by the user (issue I30).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responds to last year's price; dispatch fills demand from capacity; investment follows a logit on levelised cost within scale-up limits, sized for next year's generation estimated from this year's growth (L67, no circular reference). The power data step on Inputs reproduces legacy Mitigation section 4 with L52-L56 fixed. A carbon price raises the VRE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plan P1-P5 (v5.4, v5.6): every MTInputs power input is read in the scenario's own column; section 3 sub-table A0 applies them. Defaults keep Egypt's results. Legacy bugs fixed on the way: L107, L108, L114, L118.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computes the engineer road model but the Egypt run uses the elasticity approach. The fixes cut the engineer baseline by about a third by 2035, mainly through the ownership calibration (L27). Further work on the engineer road model was dropped by the user (2026-10-20).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14 projects every gas from the GHGs inventory; 14c compares the selected NDC with the scenario (comparison only, no NDC goal seek). Section 16 turns revenue into fiscal space and a GDP effect with the legacy multipliers; the GDP effect enters growth once (legacy bug L24 fixed). The methane fee counts in the fiscal space on the scenario's own activity, as legacy.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tab, scenario group 2. Gini change with recycling: -1.54%. Eleven charts on the tab. Method: Distribution_Method_v6_3.md.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Legacy's results area moved into the scenario sections, as memos or lettered sub-blocks, plus sections 17 and 18. Values from StoredResults (scenario 3 = the $20 carbon price of scenario 2). A negative implicit carbon price means fossil fuels are subsidised on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check_quick_report_v6.3.md: PASS. Full check check_report_v6.3.md: Overall (partial):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(mitigation_copypaste folder): CPAT-AI-Mitigation-MVP-v6.3.xlsm, QuickStart_v6_3.md, CPAT-AI-Mitigation-MVP_BugsIssuesUpgrades_v6.3.docx, CPAT_BugFix_Procedure_and_Register_v6_3.docx. Open items from issues_register_v6_3.py; I52 and I53 wait for features not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46304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100" b="1" spc="200" kern="0" dirty="0">
                <a:solidFill>
                  <a:srgbClr val="0F7B6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rtlCol="0"/>
          <a:lstStyle>
            <a:lvl1pPr algn="l" indent="0" marL="0">
              <a:buNone/>
              <a:defRPr lang="en-US" sz="3000" b="1" dirty="0">
                <a:solidFill>
                  <a:srgbClr val="1E276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46520"/>
            <a:ext cx="8686800" cy="228600"/>
          </a:xfrm>
          <a:prstGeom prst="rect">
            <a:avLst/>
          </a:prstGeom>
          <a:noFill/>
          <a:ln/>
        </p:spPr>
        <p:txBody>
          <a:bodyPr wrap="square" lIns="0" tIns="0" rIns="0" bIns="0" rtlCol="0" anchor="ctr"/>
          <a:lstStyle/>
          <a:p>
            <a:pPr indent="0" marL="0">
              <a:buNone/>
            </a:pPr>
            <a:r>
              <a:rPr lang="en-US" sz="900" dirty="0">
                <a:solidFill>
                  <a:srgbClr val="5C667A"/>
                </a:solidFill>
              </a:rPr>
              <a:t>CPAT-AI-Mitigation-MVP v6.3  ·  overview and user guide  ·  screenshots and charts from the workbook</a:t>
            </a:r>
            <a:endParaRPr lang="en-US" sz="9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1"/>
          <p:cNvSpPr txBox="1"/>
          <p:nvPr/>
        </p:nvSpPr>
        <p:spPr>
          <a:xfrm>
            <a:off x="548640" y="960120"/>
            <a:ext cx="5486400" cy="320040"/>
          </a:xfrm>
          <a:prstGeom prst="rect">
            <a:avLst/>
          </a:prstGeom>
          <a:noFill/>
          <a:ln/>
        </p:spPr>
        <p:txBody>
          <a:bodyPr wrap="square" lIns="0" tIns="0" rIns="0" bIns="0" rtlCol="0" anchor="ctr"/>
          <a:lstStyle/>
          <a:p>
            <a:pPr indent="0" marL="0">
              <a:buNone/>
            </a:pPr>
            <a:r>
              <a:rPr lang="en-US" sz="1200" b="1" spc="300" kern="0" dirty="0">
                <a:solidFill>
                  <a:srgbClr val="D4A24C"/>
                </a:solidFill>
              </a:rPr>
              <a:t>OVERVIEW + USER GUIDE</a:t>
            </a:r>
            <a:endParaRPr lang="en-US" sz="1200" dirty="0"/>
          </a:p>
        </p:txBody>
      </p:sp>
      <p:sp>
        <p:nvSpPr>
          <p:cNvPr id="3" name="Text 0"/>
          <p:cNvSpPr/>
          <p:nvPr>
            <p:ph idx="100" type="title" hasCustomPrompt="1"/>
          </p:nvPr>
        </p:nvSpPr>
        <p:spPr>
          <a:xfrm>
            <a:off x="548640" y="1417320"/>
            <a:ext cx="5669280"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CPAT-AI-Mitigation-MVP</a:t>
            </a:r>
            <a:endParaRPr lang="en-US" sz="4000" dirty="0"/>
          </a:p>
        </p:txBody>
      </p:sp>
      <p:sp>
        <p:nvSpPr>
          <p:cNvPr id="4" name="subtitle-2"/>
          <p:cNvSpPr txBox="1"/>
          <p:nvPr/>
        </p:nvSpPr>
        <p:spPr>
          <a:xfrm>
            <a:off x="548640" y="2971800"/>
            <a:ext cx="5394960" cy="1097280"/>
          </a:xfrm>
          <a:prstGeom prst="rect">
            <a:avLst/>
          </a:prstGeom>
          <a:noFill/>
          <a:ln/>
        </p:spPr>
        <p:txBody>
          <a:bodyPr wrap="square" lIns="0" tIns="0" rIns="0" bIns="0" rtlCol="0" anchor="t"/>
          <a:lstStyle/>
          <a:p>
            <a:pPr indent="0" marL="0">
              <a:buNone/>
            </a:pPr>
            <a:r>
              <a:rPr lang="en-US" sz="1800" dirty="0">
                <a:solidFill>
                  <a:srgbClr val="CADCFC"/>
                </a:solidFill>
              </a:rPr>
              <a:t>The CPAT mitigation and distribution modules as a readable Excel workbook, generated and checked by AI.</a:t>
            </a:r>
            <a:endParaRPr lang="en-US" sz="1800" dirty="0"/>
          </a:p>
        </p:txBody>
      </p:sp>
      <p:sp>
        <p:nvSpPr>
          <p:cNvPr id="5" name="chip-3"/>
          <p:cNvSpPr/>
          <p:nvPr/>
        </p:nvSpPr>
        <p:spPr>
          <a:xfrm>
            <a:off x="548640" y="4343400"/>
            <a:ext cx="1737360" cy="411480"/>
          </a:xfrm>
          <a:prstGeom prst="roundRect">
            <a:avLst>
              <a:gd name="adj" fmla="val 26667"/>
            </a:avLst>
          </a:prstGeom>
          <a:solidFill>
            <a:srgbClr val="2E3A7A"/>
          </a:solidFill>
          <a:ln w="12700">
            <a:solidFill>
              <a:srgbClr val="3A4A8A"/>
            </a:solidFill>
            <a:prstDash val="solid"/>
          </a:ln>
        </p:spPr>
      </p:sp>
      <p:sp>
        <p:nvSpPr>
          <p:cNvPr id="6" name="chipText-4"/>
          <p:cNvSpPr txBox="1"/>
          <p:nvPr/>
        </p:nvSpPr>
        <p:spPr>
          <a:xfrm>
            <a:off x="548640" y="4343400"/>
            <a:ext cx="1737360" cy="411480"/>
          </a:xfrm>
          <a:prstGeom prst="rect">
            <a:avLst/>
          </a:prstGeom>
          <a:noFill/>
          <a:ln/>
        </p:spPr>
        <p:txBody>
          <a:bodyPr wrap="square" lIns="0" tIns="0" rIns="0" bIns="0" rtlCol="0" anchor="ctr"/>
          <a:lstStyle/>
          <a:p>
            <a:pPr algn="ctr" indent="0" marL="0">
              <a:buNone/>
            </a:pPr>
            <a:r>
              <a:rPr lang="en-US" sz="1300" dirty="0">
                <a:solidFill>
                  <a:srgbClr val="FFFFFF"/>
                </a:solidFill>
              </a:rPr>
              <a:t>Plain formulas</a:t>
            </a:r>
            <a:endParaRPr lang="en-US" sz="1300" dirty="0"/>
          </a:p>
        </p:txBody>
      </p:sp>
      <p:sp>
        <p:nvSpPr>
          <p:cNvPr id="7" name="chip-5"/>
          <p:cNvSpPr/>
          <p:nvPr/>
        </p:nvSpPr>
        <p:spPr>
          <a:xfrm>
            <a:off x="2377440" y="4343400"/>
            <a:ext cx="2103120" cy="411480"/>
          </a:xfrm>
          <a:prstGeom prst="roundRect">
            <a:avLst>
              <a:gd name="adj" fmla="val 26667"/>
            </a:avLst>
          </a:prstGeom>
          <a:solidFill>
            <a:srgbClr val="2E3A7A"/>
          </a:solidFill>
          <a:ln w="12700">
            <a:solidFill>
              <a:srgbClr val="3A4A8A"/>
            </a:solidFill>
            <a:prstDash val="solid"/>
          </a:ln>
        </p:spPr>
      </p:sp>
      <p:sp>
        <p:nvSpPr>
          <p:cNvPr id="8" name="chipText-6"/>
          <p:cNvSpPr txBox="1"/>
          <p:nvPr/>
        </p:nvSpPr>
        <p:spPr>
          <a:xfrm>
            <a:off x="2377440" y="4343400"/>
            <a:ext cx="2103120" cy="411480"/>
          </a:xfrm>
          <a:prstGeom prst="rect">
            <a:avLst/>
          </a:prstGeom>
          <a:noFill/>
          <a:ln/>
        </p:spPr>
        <p:txBody>
          <a:bodyPr wrap="square" lIns="0" tIns="0" rIns="0" bIns="0" rtlCol="0" anchor="ctr"/>
          <a:lstStyle/>
          <a:p>
            <a:pPr algn="ctr" indent="0" marL="0">
              <a:buNone/>
            </a:pPr>
            <a:r>
              <a:rPr lang="en-US" sz="1300" dirty="0">
                <a:solidFill>
                  <a:srgbClr val="FFFFFF"/>
                </a:solidFill>
              </a:rPr>
              <a:t>Checked by Python</a:t>
            </a:r>
            <a:endParaRPr lang="en-US" sz="1300" dirty="0"/>
          </a:p>
        </p:txBody>
      </p:sp>
      <p:sp>
        <p:nvSpPr>
          <p:cNvPr id="9" name="chip-7"/>
          <p:cNvSpPr/>
          <p:nvPr/>
        </p:nvSpPr>
        <p:spPr>
          <a:xfrm>
            <a:off x="4572000" y="4343400"/>
            <a:ext cx="2377440" cy="411480"/>
          </a:xfrm>
          <a:prstGeom prst="roundRect">
            <a:avLst>
              <a:gd name="adj" fmla="val 26667"/>
            </a:avLst>
          </a:prstGeom>
          <a:solidFill>
            <a:srgbClr val="2E3A7A"/>
          </a:solidFill>
          <a:ln w="12700">
            <a:solidFill>
              <a:srgbClr val="3A4A8A"/>
            </a:solidFill>
            <a:prstDash val="solid"/>
          </a:ln>
        </p:spPr>
      </p:sp>
      <p:sp>
        <p:nvSpPr>
          <p:cNvPr id="10" name="chipText-8"/>
          <p:cNvSpPr txBox="1"/>
          <p:nvPr/>
        </p:nvSpPr>
        <p:spPr>
          <a:xfrm>
            <a:off x="4572000" y="4343400"/>
            <a:ext cx="2377440" cy="411480"/>
          </a:xfrm>
          <a:prstGeom prst="rect">
            <a:avLst/>
          </a:prstGeom>
          <a:noFill/>
          <a:ln/>
        </p:spPr>
        <p:txBody>
          <a:bodyPr wrap="square" lIns="0" tIns="0" rIns="0" bIns="0" rtlCol="0" anchor="ctr"/>
          <a:lstStyle/>
          <a:p>
            <a:pPr algn="ctr" indent="0" marL="0">
              <a:buNone/>
            </a:pPr>
            <a:r>
              <a:rPr lang="en-US" sz="1300" dirty="0">
                <a:solidFill>
                  <a:srgbClr val="FFFFFF"/>
                </a:solidFill>
              </a:rPr>
              <a:t>126 legacy bugs found</a:t>
            </a:r>
            <a:endParaRPr lang="en-US" sz="1300" dirty="0"/>
          </a:p>
        </p:txBody>
      </p:sp>
      <p:sp>
        <p:nvSpPr>
          <p:cNvPr id="11" name="footnote-9"/>
          <p:cNvSpPr txBox="1"/>
          <p:nvPr/>
        </p:nvSpPr>
        <p:spPr>
          <a:xfrm>
            <a:off x="548640" y="6217920"/>
            <a:ext cx="5943600" cy="274320"/>
          </a:xfrm>
          <a:prstGeom prst="rect">
            <a:avLst/>
          </a:prstGeom>
          <a:noFill/>
          <a:ln/>
        </p:spPr>
        <p:txBody>
          <a:bodyPr wrap="square" lIns="0" tIns="0" rIns="0" bIns="0" rtlCol="0" anchor="ctr"/>
          <a:lstStyle/>
          <a:p>
            <a:pPr indent="0" marL="0">
              <a:buNone/>
            </a:pPr>
            <a:r>
              <a:rPr lang="en-US" sz="1000" dirty="0">
                <a:solidFill>
                  <a:srgbClr val="CADCFC"/>
                </a:solidFill>
              </a:rPr>
              <a:t>Version 6.3, October 2026  ·  Egypt data  ·  prototype for discussion</a:t>
            </a:r>
            <a:endParaRPr lang="en-US" sz="1000" dirty="0"/>
          </a:p>
        </p:txBody>
      </p:sp>
      <p:sp>
        <p:nvSpPr>
          <p:cNvPr id="12" name="frame-10"/>
          <p:cNvSpPr/>
          <p:nvPr/>
        </p:nvSpPr>
        <p:spPr>
          <a:xfrm>
            <a:off x="7168896" y="1042416"/>
            <a:ext cx="4498848" cy="1924368"/>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3" name="screenshot-11" descr="/home/user/CPAT-AI/cpat_excel/mitigation_copypaste/presentation/img/v62_01_overview.png">    </p:cNvPr>
          <p:cNvPicPr>
            <a:picLocks noChangeAspect="1"/>
          </p:cNvPicPr>
          <p:nvPr/>
        </p:nvPicPr>
        <p:blipFill>
          <a:blip r:embed="rId1"/>
          <a:stretch>
            <a:fillRect/>
          </a:stretch>
        </p:blipFill>
        <p:spPr>
          <a:xfrm>
            <a:off x="7223760" y="1097280"/>
            <a:ext cx="4389120" cy="1814640"/>
          </a:xfrm>
          <a:prstGeom prst="rect">
            <a:avLst/>
          </a:prstGeom>
        </p:spPr>
      </p:pic>
      <p:sp>
        <p:nvSpPr>
          <p:cNvPr id="14" name="caption-12"/>
          <p:cNvSpPr txBox="1"/>
          <p:nvPr/>
        </p:nvSpPr>
        <p:spPr>
          <a:xfrm>
            <a:off x="7223760" y="3049080"/>
            <a:ext cx="4389120" cy="274320"/>
          </a:xfrm>
          <a:prstGeom prst="rect">
            <a:avLst/>
          </a:prstGeom>
          <a:noFill/>
          <a:ln/>
        </p:spPr>
        <p:txBody>
          <a:bodyPr wrap="square" lIns="0" tIns="0" rIns="0" bIns="0" rtlCol="0" anchor="ctr"/>
          <a:lstStyle/>
          <a:p>
            <a:pPr indent="0" marL="0">
              <a:buNone/>
            </a:pPr>
            <a:r>
              <a:rPr lang="en-US" sz="1100" i="1" dirty="0">
                <a:solidFill>
                  <a:srgbClr val="CADCFC"/>
                </a:solidFill>
              </a:rPr>
              <a:t>The Mitigation tab as it opens: every section rolled 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IT IS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Two tabs follow the CPAT mitigation and distribution chain</a:t>
            </a:r>
            <a:endParaRPr lang="en-US" sz="3000" dirty="0"/>
          </a:p>
        </p:txBody>
      </p:sp>
      <p:sp>
        <p:nvSpPr>
          <p:cNvPr id="4" name="flow-13"/>
          <p:cNvSpPr/>
          <p:nvPr/>
        </p:nvSpPr>
        <p:spPr>
          <a:xfrm>
            <a:off x="548640" y="1508760"/>
            <a:ext cx="1539240" cy="566928"/>
          </a:xfrm>
          <a:prstGeom prst="roundRect">
            <a:avLst>
              <a:gd name="adj" fmla="val 16129"/>
            </a:avLst>
          </a:prstGeom>
          <a:solidFill>
            <a:srgbClr val="1E2761"/>
          </a:solidFill>
          <a:ln w="12700">
            <a:solidFill>
              <a:srgbClr val="1E2761"/>
            </a:solidFill>
            <a:prstDash val="solid"/>
          </a:ln>
        </p:spPr>
      </p:sp>
      <p:sp>
        <p:nvSpPr>
          <p:cNvPr id="5" name="flowText-14"/>
          <p:cNvSpPr txBox="1"/>
          <p:nvPr/>
        </p:nvSpPr>
        <p:spPr>
          <a:xfrm>
            <a:off x="54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 Policies</a:t>
            </a:r>
            <a:endParaRPr lang="en-US" sz="1400" dirty="0"/>
          </a:p>
        </p:txBody>
      </p:sp>
      <p:sp>
        <p:nvSpPr>
          <p:cNvPr id="6" name="flowArrow-15"/>
          <p:cNvSpPr/>
          <p:nvPr/>
        </p:nvSpPr>
        <p:spPr>
          <a:xfrm>
            <a:off x="2151888" y="1664208"/>
            <a:ext cx="237744" cy="256032"/>
          </a:xfrm>
          <a:prstGeom prst="rightArrow">
            <a:avLst/>
          </a:prstGeom>
          <a:solidFill>
            <a:srgbClr val="D4A24C"/>
          </a:solidFill>
          <a:ln w="12700">
            <a:solidFill>
              <a:srgbClr val="D4A24C"/>
            </a:solidFill>
            <a:prstDash val="solid"/>
          </a:ln>
        </p:spPr>
      </p:sp>
      <p:sp>
        <p:nvSpPr>
          <p:cNvPr id="7" name="flow-16"/>
          <p:cNvSpPr/>
          <p:nvPr/>
        </p:nvSpPr>
        <p:spPr>
          <a:xfrm>
            <a:off x="2453640" y="1508760"/>
            <a:ext cx="1539240" cy="566928"/>
          </a:xfrm>
          <a:prstGeom prst="roundRect">
            <a:avLst>
              <a:gd name="adj" fmla="val 16129"/>
            </a:avLst>
          </a:prstGeom>
          <a:solidFill>
            <a:srgbClr val="1E2761"/>
          </a:solidFill>
          <a:ln w="12700">
            <a:solidFill>
              <a:srgbClr val="1E2761"/>
            </a:solidFill>
            <a:prstDash val="solid"/>
          </a:ln>
        </p:spPr>
      </p:sp>
      <p:sp>
        <p:nvSpPr>
          <p:cNvPr id="8" name="flowText-17"/>
          <p:cNvSpPr txBox="1"/>
          <p:nvPr/>
        </p:nvSpPr>
        <p:spPr>
          <a:xfrm>
            <a:off x="245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2. Prices</a:t>
            </a:r>
            <a:endParaRPr lang="en-US" sz="1400" dirty="0"/>
          </a:p>
        </p:txBody>
      </p:sp>
      <p:sp>
        <p:nvSpPr>
          <p:cNvPr id="9" name="flowArrow-18"/>
          <p:cNvSpPr/>
          <p:nvPr/>
        </p:nvSpPr>
        <p:spPr>
          <a:xfrm>
            <a:off x="4056888" y="1664208"/>
            <a:ext cx="237744" cy="256032"/>
          </a:xfrm>
          <a:prstGeom prst="rightArrow">
            <a:avLst/>
          </a:prstGeom>
          <a:solidFill>
            <a:srgbClr val="D4A24C"/>
          </a:solidFill>
          <a:ln w="12700">
            <a:solidFill>
              <a:srgbClr val="D4A24C"/>
            </a:solidFill>
            <a:prstDash val="solid"/>
          </a:ln>
        </p:spPr>
      </p:sp>
      <p:sp>
        <p:nvSpPr>
          <p:cNvPr id="10" name="flow-19"/>
          <p:cNvSpPr/>
          <p:nvPr/>
        </p:nvSpPr>
        <p:spPr>
          <a:xfrm>
            <a:off x="4358640" y="1508760"/>
            <a:ext cx="1539240" cy="566928"/>
          </a:xfrm>
          <a:prstGeom prst="roundRect">
            <a:avLst>
              <a:gd name="adj" fmla="val 16129"/>
            </a:avLst>
          </a:prstGeom>
          <a:solidFill>
            <a:srgbClr val="1E2761"/>
          </a:solidFill>
          <a:ln w="12700">
            <a:solidFill>
              <a:srgbClr val="1E2761"/>
            </a:solidFill>
            <a:prstDash val="solid"/>
          </a:ln>
        </p:spPr>
      </p:sp>
      <p:sp>
        <p:nvSpPr>
          <p:cNvPr id="11" name="flowText-20"/>
          <p:cNvSpPr txBox="1"/>
          <p:nvPr/>
        </p:nvSpPr>
        <p:spPr>
          <a:xfrm>
            <a:off x="435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3. Power</a:t>
            </a:r>
            <a:endParaRPr lang="en-US" sz="1400" dirty="0"/>
          </a:p>
        </p:txBody>
      </p:sp>
      <p:sp>
        <p:nvSpPr>
          <p:cNvPr id="12" name="flowArrow-21"/>
          <p:cNvSpPr/>
          <p:nvPr/>
        </p:nvSpPr>
        <p:spPr>
          <a:xfrm>
            <a:off x="5961888" y="1664208"/>
            <a:ext cx="237744" cy="256032"/>
          </a:xfrm>
          <a:prstGeom prst="rightArrow">
            <a:avLst/>
          </a:prstGeom>
          <a:solidFill>
            <a:srgbClr val="D4A24C"/>
          </a:solidFill>
          <a:ln w="12700">
            <a:solidFill>
              <a:srgbClr val="D4A24C"/>
            </a:solidFill>
            <a:prstDash val="solid"/>
          </a:ln>
        </p:spPr>
      </p:sp>
      <p:sp>
        <p:nvSpPr>
          <p:cNvPr id="13" name="flow-22"/>
          <p:cNvSpPr/>
          <p:nvPr/>
        </p:nvSpPr>
        <p:spPr>
          <a:xfrm>
            <a:off x="6263640" y="1508760"/>
            <a:ext cx="1539240" cy="566928"/>
          </a:xfrm>
          <a:prstGeom prst="roundRect">
            <a:avLst>
              <a:gd name="adj" fmla="val 16129"/>
            </a:avLst>
          </a:prstGeom>
          <a:solidFill>
            <a:srgbClr val="1E2761"/>
          </a:solidFill>
          <a:ln w="12700">
            <a:solidFill>
              <a:srgbClr val="1E2761"/>
            </a:solidFill>
            <a:prstDash val="solid"/>
          </a:ln>
        </p:spPr>
      </p:sp>
      <p:sp>
        <p:nvSpPr>
          <p:cNvPr id="14" name="flowText-23"/>
          <p:cNvSpPr txBox="1"/>
          <p:nvPr/>
        </p:nvSpPr>
        <p:spPr>
          <a:xfrm>
            <a:off x="626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5-8. Fuel use</a:t>
            </a:r>
            <a:endParaRPr lang="en-US" sz="1400" dirty="0"/>
          </a:p>
        </p:txBody>
      </p:sp>
      <p:sp>
        <p:nvSpPr>
          <p:cNvPr id="15" name="flowArrow-24"/>
          <p:cNvSpPr/>
          <p:nvPr/>
        </p:nvSpPr>
        <p:spPr>
          <a:xfrm>
            <a:off x="7866888" y="1664208"/>
            <a:ext cx="237744" cy="256032"/>
          </a:xfrm>
          <a:prstGeom prst="rightArrow">
            <a:avLst/>
          </a:prstGeom>
          <a:solidFill>
            <a:srgbClr val="D4A24C"/>
          </a:solidFill>
          <a:ln w="12700">
            <a:solidFill>
              <a:srgbClr val="D4A24C"/>
            </a:solidFill>
            <a:prstDash val="solid"/>
          </a:ln>
        </p:spPr>
      </p:sp>
      <p:sp>
        <p:nvSpPr>
          <p:cNvPr id="16" name="flow-25"/>
          <p:cNvSpPr/>
          <p:nvPr/>
        </p:nvSpPr>
        <p:spPr>
          <a:xfrm>
            <a:off x="8168640" y="1508760"/>
            <a:ext cx="1539240" cy="566928"/>
          </a:xfrm>
          <a:prstGeom prst="roundRect">
            <a:avLst>
              <a:gd name="adj" fmla="val 16129"/>
            </a:avLst>
          </a:prstGeom>
          <a:solidFill>
            <a:srgbClr val="1E2761"/>
          </a:solidFill>
          <a:ln w="12700">
            <a:solidFill>
              <a:srgbClr val="1E2761"/>
            </a:solidFill>
            <a:prstDash val="solid"/>
          </a:ln>
        </p:spPr>
      </p:sp>
      <p:sp>
        <p:nvSpPr>
          <p:cNvPr id="17" name="flowText-26"/>
          <p:cNvSpPr txBox="1"/>
          <p:nvPr/>
        </p:nvSpPr>
        <p:spPr>
          <a:xfrm>
            <a:off x="816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11-13. Energy, revenue, CO2</a:t>
            </a:r>
            <a:endParaRPr lang="en-US" sz="1400" dirty="0"/>
          </a:p>
        </p:txBody>
      </p:sp>
      <p:sp>
        <p:nvSpPr>
          <p:cNvPr id="18" name="flowArrow-27"/>
          <p:cNvSpPr/>
          <p:nvPr/>
        </p:nvSpPr>
        <p:spPr>
          <a:xfrm>
            <a:off x="9771888" y="1664208"/>
            <a:ext cx="237744" cy="256032"/>
          </a:xfrm>
          <a:prstGeom prst="rightArrow">
            <a:avLst/>
          </a:prstGeom>
          <a:solidFill>
            <a:srgbClr val="D4A24C"/>
          </a:solidFill>
          <a:ln w="12700">
            <a:solidFill>
              <a:srgbClr val="D4A24C"/>
            </a:solidFill>
            <a:prstDash val="solid"/>
          </a:ln>
        </p:spPr>
      </p:sp>
      <p:sp>
        <p:nvSpPr>
          <p:cNvPr id="19" name="flow-28"/>
          <p:cNvSpPr/>
          <p:nvPr/>
        </p:nvSpPr>
        <p:spPr>
          <a:xfrm>
            <a:off x="10073640" y="1508760"/>
            <a:ext cx="1539240" cy="566928"/>
          </a:xfrm>
          <a:prstGeom prst="roundRect">
            <a:avLst>
              <a:gd name="adj" fmla="val 16129"/>
            </a:avLst>
          </a:prstGeom>
          <a:solidFill>
            <a:srgbClr val="1E2761"/>
          </a:solidFill>
          <a:ln w="12700">
            <a:solidFill>
              <a:srgbClr val="1E2761"/>
            </a:solidFill>
            <a:prstDash val="solid"/>
          </a:ln>
        </p:spPr>
      </p:sp>
      <p:sp>
        <p:nvSpPr>
          <p:cNvPr id="20" name="flowText-29"/>
          <p:cNvSpPr txBox="1"/>
          <p:nvPr/>
        </p:nvSpPr>
        <p:spPr>
          <a:xfrm>
            <a:off x="1007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14-18. GHGs, GDP, welfare</a:t>
            </a:r>
            <a:endParaRPr lang="en-US" sz="1400" dirty="0"/>
          </a:p>
        </p:txBody>
      </p:sp>
      <p:sp>
        <p:nvSpPr>
          <p:cNvPr id="21" name="badge-30"/>
          <p:cNvSpPr/>
          <p:nvPr/>
        </p:nvSpPr>
        <p:spPr>
          <a:xfrm>
            <a:off x="548640" y="2514600"/>
            <a:ext cx="384048" cy="384048"/>
          </a:xfrm>
          <a:prstGeom prst="ellipse">
            <a:avLst/>
          </a:prstGeom>
          <a:solidFill>
            <a:srgbClr val="0F7B6C"/>
          </a:solidFill>
          <a:ln w="12700">
            <a:solidFill>
              <a:srgbClr val="0F7B6C"/>
            </a:solidFill>
            <a:prstDash val="solid"/>
          </a:ln>
        </p:spPr>
      </p:sp>
      <p:sp>
        <p:nvSpPr>
          <p:cNvPr id="22" name="badgeText-31"/>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3" name="item-32"/>
          <p:cNvSpPr txBox="1"/>
          <p:nvPr/>
        </p:nvSpPr>
        <p:spPr>
          <a:xfrm>
            <a:off x="1097280" y="2468880"/>
            <a:ext cx="5120640" cy="914400"/>
          </a:xfrm>
          <a:prstGeom prst="rect">
            <a:avLst/>
          </a:prstGeom>
          <a:noFill/>
          <a:ln/>
        </p:spPr>
        <p:txBody>
          <a:bodyPr wrap="square" lIns="0" tIns="0" rIns="0" bIns="0" rtlCol="0" anchor="t"/>
          <a:lstStyle/>
          <a:p>
            <a:pPr indent="0" marL="0">
              <a:buNone/>
            </a:pPr>
            <a:r>
              <a:rPr lang="en-US" sz="1500" b="1" dirty="0">
                <a:solidFill>
                  <a:srgbClr val="1F1F2E"/>
                </a:solidFill>
              </a:rPr>
              <a:t>Policies and prices</a:t>
            </a:r>
            <a:endParaRPr lang="en-US" sz="1500" dirty="0"/>
          </a:p>
          <a:p>
            <a:pPr indent="0" marL="0">
              <a:buNone/>
            </a:pPr>
            <a:r>
              <a:rPr lang="en-US" sz="1400" dirty="0">
                <a:solidFill>
                  <a:srgbClr val="5C667A"/>
                </a:solidFill>
              </a:rPr>
              <a:t>Carbon tax, ETS with a cap, feebates, excises, subsidy phase-outs, producer subsidy reform, methane fee, regulations, existing carbon pricing.</a:t>
            </a:r>
            <a:endParaRPr lang="en-US" sz="1500" dirty="0"/>
          </a:p>
        </p:txBody>
      </p:sp>
      <p:sp>
        <p:nvSpPr>
          <p:cNvPr id="24" name="badge-33"/>
          <p:cNvSpPr/>
          <p:nvPr/>
        </p:nvSpPr>
        <p:spPr>
          <a:xfrm>
            <a:off x="548640" y="3611880"/>
            <a:ext cx="384048" cy="384048"/>
          </a:xfrm>
          <a:prstGeom prst="ellipse">
            <a:avLst/>
          </a:prstGeom>
          <a:solidFill>
            <a:srgbClr val="0F7B6C"/>
          </a:solidFill>
          <a:ln w="12700">
            <a:solidFill>
              <a:srgbClr val="0F7B6C"/>
            </a:solidFill>
            <a:prstDash val="solid"/>
          </a:ln>
        </p:spPr>
      </p:sp>
      <p:sp>
        <p:nvSpPr>
          <p:cNvPr id="25" name="badgeText-34"/>
          <p:cNvSpPr txBox="1"/>
          <p:nvPr/>
        </p:nvSpPr>
        <p:spPr>
          <a:xfrm>
            <a:off x="548640"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6" name="item-35"/>
          <p:cNvSpPr txBox="1"/>
          <p:nvPr/>
        </p:nvSpPr>
        <p:spPr>
          <a:xfrm>
            <a:off x="1097280" y="3566160"/>
            <a:ext cx="5120640" cy="914400"/>
          </a:xfrm>
          <a:prstGeom prst="rect">
            <a:avLst/>
          </a:prstGeom>
          <a:noFill/>
          <a:ln/>
        </p:spPr>
        <p:txBody>
          <a:bodyPr wrap="square" lIns="0" tIns="0" rIns="0" bIns="0" rtlCol="0" anchor="t"/>
          <a:lstStyle/>
          <a:p>
            <a:pPr indent="0" marL="0">
              <a:buNone/>
            </a:pPr>
            <a:r>
              <a:rPr lang="en-US" sz="1500" b="1" dirty="0">
                <a:solidFill>
                  <a:srgbClr val="1F1F2E"/>
                </a:solidFill>
              </a:rPr>
              <a:t>Power and fuel use</a:t>
            </a:r>
            <a:endParaRPr lang="en-US" sz="1500" dirty="0"/>
          </a:p>
          <a:p>
            <a:pPr indent="0" marL="0">
              <a:buNone/>
            </a:pPr>
            <a:r>
              <a:rPr lang="en-US" sz="1400" dirty="0">
                <a:solidFill>
                  <a:srgbClr val="5C667A"/>
                </a:solidFill>
              </a:rPr>
              <a:t>The legacy power model with its engineer options; 16 sectors × 9 fuels; an optional engineer road model.</a:t>
            </a:r>
            <a:endParaRPr lang="en-US" sz="1500" dirty="0"/>
          </a:p>
        </p:txBody>
      </p:sp>
      <p:sp>
        <p:nvSpPr>
          <p:cNvPr id="27" name="badge-36"/>
          <p:cNvSpPr/>
          <p:nvPr/>
        </p:nvSpPr>
        <p:spPr>
          <a:xfrm>
            <a:off x="548640" y="4709160"/>
            <a:ext cx="384048" cy="384048"/>
          </a:xfrm>
          <a:prstGeom prst="ellipse">
            <a:avLst/>
          </a:prstGeom>
          <a:solidFill>
            <a:srgbClr val="0F7B6C"/>
          </a:solidFill>
          <a:ln w="12700">
            <a:solidFill>
              <a:srgbClr val="0F7B6C"/>
            </a:solidFill>
            <a:prstDash val="solid"/>
          </a:ln>
        </p:spPr>
      </p:sp>
      <p:sp>
        <p:nvSpPr>
          <p:cNvPr id="28" name="badgeText-37"/>
          <p:cNvSpPr txBox="1"/>
          <p:nvPr/>
        </p:nvSpPr>
        <p:spPr>
          <a:xfrm>
            <a:off x="548640" y="4709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9" name="item-38"/>
          <p:cNvSpPr txBox="1"/>
          <p:nvPr/>
        </p:nvSpPr>
        <p:spPr>
          <a:xfrm>
            <a:off x="1097280" y="4663440"/>
            <a:ext cx="5120640" cy="914400"/>
          </a:xfrm>
          <a:prstGeom prst="rect">
            <a:avLst/>
          </a:prstGeom>
          <a:noFill/>
          <a:ln/>
        </p:spPr>
        <p:txBody>
          <a:bodyPr wrap="square" lIns="0" tIns="0" rIns="0" bIns="0" rtlCol="0" anchor="t"/>
          <a:lstStyle/>
          <a:p>
            <a:pPr indent="0" marL="0">
              <a:buNone/>
            </a:pPr>
            <a:r>
              <a:rPr lang="en-US" sz="1500" b="1" dirty="0">
                <a:solidFill>
                  <a:srgbClr val="1F1F2E"/>
                </a:solidFill>
              </a:rPr>
              <a:t>Results to 2041</a:t>
            </a:r>
            <a:endParaRPr lang="en-US" sz="1500" dirty="0"/>
          </a:p>
          <a:p>
            <a:pPr indent="0" marL="0">
              <a:buNone/>
            </a:pPr>
            <a:r>
              <a:rPr lang="en-US" sz="1400" dirty="0">
                <a:solidFill>
                  <a:srgbClr val="5C667A"/>
                </a:solidFill>
              </a:rPr>
              <a:t>Fuel use, revenue by policy, CO2, GHGs with methane, NDC comparison, GDP effects, welfare; distribution by decile.</a:t>
            </a:r>
            <a:endParaRPr lang="en-US" sz="1500" dirty="0"/>
          </a:p>
        </p:txBody>
      </p:sp>
      <p:sp>
        <p:nvSpPr>
          <p:cNvPr id="30" name="card-39"/>
          <p:cNvSpPr/>
          <p:nvPr/>
        </p:nvSpPr>
        <p:spPr>
          <a:xfrm>
            <a:off x="6492240" y="2468880"/>
            <a:ext cx="5120640" cy="3246120"/>
          </a:xfrm>
          <a:prstGeom prst="rect">
            <a:avLst/>
          </a:prstGeom>
          <a:solidFill>
            <a:srgbClr val="F4F6FB"/>
          </a:solidFill>
          <a:ln w="12700">
            <a:solidFill>
              <a:srgbClr val="D5DAE3"/>
            </a:solidFill>
            <a:prstDash val="solid"/>
          </a:ln>
        </p:spPr>
      </p:sp>
      <p:sp>
        <p:nvSpPr>
          <p:cNvPr id="31" name="cardText-40"/>
          <p:cNvSpPr txBox="1"/>
          <p:nvPr/>
        </p:nvSpPr>
        <p:spPr>
          <a:xfrm>
            <a:off x="6656832" y="2578608"/>
            <a:ext cx="4791456" cy="3026664"/>
          </a:xfrm>
          <a:prstGeom prst="rect">
            <a:avLst/>
          </a:prstGeom>
          <a:noFill/>
          <a:ln/>
        </p:spPr>
        <p:txBody>
          <a:bodyPr wrap="square" lIns="0" tIns="0" rIns="0" bIns="0" rtlCol="0" anchor="t"/>
          <a:lstStyle/>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Egypt data, 2022-2041; legacy data tabs paste in</a:t>
            </a:r>
            <a:endParaRPr lang="en-US" sz="1100" dirty="0"/>
          </a:p>
          <a:p>
            <a:pPr marL="342900" indent="-342900">
              <a:buSzPct val="100000"/>
              <a:buChar char="•"/>
            </a:pPr>
            <a:r>
              <a:rPr lang="en-US" sz="1500" dirty="0">
                <a:solidFill>
                  <a:srgbClr val="1F1F2E"/>
                </a:solidFill>
              </a:rPr>
              <a:t>Any number of scenarios, run by one macro</a:t>
            </a:r>
            <a:endParaRPr lang="en-US" sz="1100" dirty="0"/>
          </a:p>
          <a:p>
            <a:pPr marL="342900" indent="-342900">
              <a:buSzPct val="100000"/>
              <a:buChar char="•"/>
            </a:pPr>
            <a:r>
              <a:rPr lang="en-US" sz="1500" dirty="0">
                <a:solidFill>
                  <a:srgbClr val="1F1F2E"/>
                </a:solidFill>
              </a:rPr>
              <a:t>Distribution tab: one year, deciles across</a:t>
            </a:r>
            <a:endParaRPr lang="en-US" sz="1100" dirty="0"/>
          </a:p>
          <a:p>
            <a:pPr marL="342900" indent="-342900">
              <a:buSzPct val="100000"/>
              <a:buChar char="•"/>
            </a:pPr>
            <a:r>
              <a:rPr lang="en-US" sz="1500" dirty="0">
                <a:solidFill>
                  <a:srgbClr val="1F1F2E"/>
                </a:solidFill>
              </a:rPr>
              <a:t>The model in equations; every formula listed</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E08A1E"/>
                </a:solidFill>
              </a:rPr>
              <a:t>NOT IN SCOPE</a:t>
            </a:r>
            <a:endParaRPr lang="en-US" sz="1100" dirty="0"/>
          </a:p>
          <a:p>
            <a:pPr marL="342900" indent="-342900">
              <a:buSzPct val="100000"/>
              <a:buChar char="•"/>
            </a:pPr>
            <a:r>
              <a:rPr lang="en-US" sz="1500" dirty="0">
                <a:solidFill>
                  <a:srgbClr val="1F1F2E"/>
                </a:solidFill>
              </a:rPr>
              <a:t>Air-pollution co-benefits module (dropped)</a:t>
            </a:r>
            <a:endParaRPr lang="en-US" sz="1100" dirty="0"/>
          </a:p>
          <a:p>
            <a:pPr marL="342900" indent="-342900">
              <a:buSzPct val="100000"/>
              <a:buChar char="•"/>
            </a:pPr>
            <a:r>
              <a:rPr lang="en-US" sz="1500" dirty="0">
                <a:solidFill>
                  <a:srgbClr val="1F1F2E"/>
                </a:solidFill>
              </a:rPr>
              <a:t>Transport externalities module (dropped)</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LEGACY CPAT · FIXES NEEDED</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126 bugs found in legacy CPAT; 9 change today's results</a:t>
            </a:r>
            <a:endParaRPr lang="en-US" sz="3000" dirty="0"/>
          </a:p>
        </p:txBody>
      </p:sp>
      <p:graphicFrame>
        <p:nvGraphicFramePr>
          <p:cNvPr id="4" name="bugTable-41"/>
          <p:cNvGraphicFramePr>
            <a:graphicFrameLocks noGrp="1"/>
          </p:cNvGraphicFramePr>
          <p:nvPr>
            <p:extLst>
              <p:ext uri="{D42A27DB-BD31-4B8C-83A1-F6EECF244321}">
                <p14:modId xmlns:p14="http://schemas.microsoft.com/office/powerpoint/2010/main" val="1579011935"/>
              </p:ext>
            </p:extLst>
          </p:nvPr>
        </p:nvGraphicFramePr>
        <p:xfrm>
          <a:off x="548640" y="1371600"/>
          <a:ext cx="7863840" cy="914400"/>
        </p:xfrm>
        <a:graphic>
          <a:graphicData uri="http://schemas.openxmlformats.org/drawingml/2006/table">
            <a:tbl>
              <a:tblPr/>
              <a:tblGrid>
                <a:gridCol w="731520"/>
                <a:gridCol w="7132320"/>
              </a:tblGrid>
              <a:tr h="429768">
                <a:tc>
                  <a:txBody>
                    <a:bodyPr/>
                    <a:lstStyle/>
                    <a:p>
                      <a:pPr indent="0" marL="0">
                        <a:buNone/>
                      </a:pPr>
                      <a:r>
                        <a:rPr lang="en-US" sz="1200" b="1" dirty="0">
                          <a:solidFill>
                            <a:srgbClr val="FFFFFF"/>
                          </a:solidFill>
                        </a:rPr>
                        <a:t>ID</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High-priority bug and its effect</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r>
              <a:tr h="429768">
                <a:tc>
                  <a:txBody>
                    <a:bodyPr/>
                    <a:lstStyle/>
                    <a:p>
                      <a:pPr indent="0" marL="0">
                        <a:buNone/>
                      </a:pPr>
                      <a:r>
                        <a:rPr lang="en-US" sz="1200" b="1" dirty="0">
                          <a:solidFill>
                            <a:srgbClr val="E08A1E"/>
                          </a:solidFill>
                        </a:rPr>
                        <a:t>L1</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1F1F2E"/>
                          </a:solidFill>
                        </a:rPr>
                        <a:t>Services electricity demand follows the industry multiple: the largest single power-demand error</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29768">
                <a:tc>
                  <a:txBody>
                    <a:bodyPr/>
                    <a:lstStyle/>
                    <a:p>
                      <a:pPr indent="0" marL="0">
                        <a:buNone/>
                      </a:pPr>
                      <a:r>
                        <a:rPr lang="en-US" sz="1200" b="1" dirty="0">
                          <a:solidFill>
                            <a:srgbClr val="E08A1E"/>
                          </a:solidFill>
                        </a:rPr>
                        <a:t>L3</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1F1F2E"/>
                          </a:solidFill>
                        </a:rPr>
                        <a:t>Income factor applied twice: the GDP elasticity drifts, error growing to 2040</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29768">
                <a:tc>
                  <a:txBody>
                    <a:bodyPr/>
                    <a:lstStyle/>
                    <a:p>
                      <a:pPr indent="0" marL="0">
                        <a:buNone/>
                      </a:pPr>
                      <a:r>
                        <a:rPr lang="en-US" sz="1200" b="1" dirty="0">
                          <a:solidFill>
                            <a:srgbClr val="E08A1E"/>
                          </a:solidFill>
                        </a:rPr>
                        <a:t>L13</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1F1F2E"/>
                          </a:solidFill>
                        </a:rPr>
                        <a:t>Other oil products priced at the 0.01 floor: their fuel use rises tenfold by 2030</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29768">
                <a:tc>
                  <a:txBody>
                    <a:bodyPr/>
                    <a:lstStyle/>
                    <a:p>
                      <a:pPr indent="0" marL="0">
                        <a:buNone/>
                      </a:pPr>
                      <a:r>
                        <a:rPr lang="en-US" sz="1200" b="1" dirty="0">
                          <a:solidFill>
                            <a:srgbClr val="E08A1E"/>
                          </a:solidFill>
                        </a:rPr>
                        <a:t>L18</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1F1F2E"/>
                          </a:solidFill>
                        </a:rPr>
                        <a:t>Non-energy methane flat: a methane fee on farming and waste does nothing</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29768">
                <a:tc>
                  <a:txBody>
                    <a:bodyPr/>
                    <a:lstStyle/>
                    <a:p>
                      <a:pPr indent="0" marL="0">
                        <a:buNone/>
                      </a:pPr>
                      <a:r>
                        <a:rPr lang="en-US" sz="1200" b="1" dirty="0">
                          <a:solidFill>
                            <a:srgbClr val="E08A1E"/>
                          </a:solidFill>
                        </a:rPr>
                        <a:t>L19</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1F1F2E"/>
                          </a:solidFill>
                        </a:rPr>
                        <a:t>CO2 from flaring booked as methane</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29768">
                <a:tc>
                  <a:txBody>
                    <a:bodyPr/>
                    <a:lstStyle/>
                    <a:p>
                      <a:pPr indent="0" marL="0">
                        <a:buNone/>
                      </a:pPr>
                      <a:r>
                        <a:rPr lang="en-US" sz="1200" b="1" dirty="0">
                          <a:solidFill>
                            <a:srgbClr val="E08A1E"/>
                          </a:solidFill>
                        </a:rPr>
                        <a:t>L20</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1F1F2E"/>
                          </a:solidFill>
                        </a:rPr>
                        <a:t>Population 185 million in 2041 instead of 147 million (UN)</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29768">
                <a:tc>
                  <a:txBody>
                    <a:bodyPr/>
                    <a:lstStyle/>
                    <a:p>
                      <a:pPr indent="0" marL="0">
                        <a:buNone/>
                      </a:pPr>
                      <a:r>
                        <a:rPr lang="en-US" sz="1200" b="1" dirty="0">
                          <a:solidFill>
                            <a:srgbClr val="E08A1E"/>
                          </a:solidFill>
                        </a:rPr>
                        <a:t>L24</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1F1F2E"/>
                          </a:solidFill>
                        </a:rPr>
                        <a:t>GDP effect added to growth every year: +0.5% compounds to about +10% of GDP</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29768">
                <a:tc>
                  <a:txBody>
                    <a:bodyPr/>
                    <a:lstStyle/>
                    <a:p>
                      <a:pPr indent="0" marL="0">
                        <a:buNone/>
                      </a:pPr>
                      <a:r>
                        <a:rPr lang="en-US" sz="1200" b="1" dirty="0">
                          <a:solidFill>
                            <a:srgbClr val="E08A1E"/>
                          </a:solidFill>
                        </a:rPr>
                        <a:t>L53</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1F1F2E"/>
                          </a:solidFill>
                        </a:rPr>
                        <a:t>Actual capacity factors never used: the studies value always applies, the override bounds never act</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29768">
                <a:tc>
                  <a:txBody>
                    <a:bodyPr/>
                    <a:lstStyle/>
                    <a:p>
                      <a:pPr indent="0" marL="0">
                        <a:buNone/>
                      </a:pPr>
                      <a:r>
                        <a:rPr lang="en-US" sz="1200" b="1" dirty="0">
                          <a:solidFill>
                            <a:srgbClr val="E08A1E"/>
                          </a:solidFill>
                        </a:rPr>
                        <a:t>L87</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1F1F2E"/>
                          </a:solidFill>
                        </a:rPr>
                        <a:t>Regulation scenarios (energy efficiency, feebates, fuel economy) have no effect: share fixed at 0</a:t>
                      </a:r>
                      <a:endParaRPr lang="en-US" sz="1200" dirty="0"/>
                    </a:p>
                  </a:txBody>
                  <a:tcPr marL="76200" marR="76200" marT="25400" marB="254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bl>
          </a:graphicData>
        </a:graphic>
      </p:graphicFrame>
      <p:sp>
        <p:nvSpPr>
          <p:cNvPr id="5" name="stat-42"/>
          <p:cNvSpPr txBox="1"/>
          <p:nvPr/>
        </p:nvSpPr>
        <p:spPr>
          <a:xfrm>
            <a:off x="8778240" y="1417320"/>
            <a:ext cx="2834640" cy="1371600"/>
          </a:xfrm>
          <a:prstGeom prst="rect">
            <a:avLst/>
          </a:prstGeom>
          <a:noFill/>
          <a:ln/>
        </p:spPr>
        <p:txBody>
          <a:bodyPr wrap="square" lIns="0" tIns="0" rIns="0" bIns="0" rtlCol="0" anchor="t"/>
          <a:lstStyle/>
          <a:p>
            <a:pPr indent="0" marL="0">
              <a:buNone/>
            </a:pPr>
            <a:r>
              <a:rPr lang="en-US" sz="4000" b="1" dirty="0">
                <a:solidFill>
                  <a:srgbClr val="E08A1E"/>
                </a:solidFill>
                <a:latin typeface="Cambria" pitchFamily="34" charset="0"/>
                <a:ea typeface="Cambria" pitchFamily="34" charset="-122"/>
                <a:cs typeface="Cambria" pitchFamily="34" charset="-120"/>
              </a:rPr>
              <a:t>9</a:t>
            </a:r>
            <a:endParaRPr lang="en-US" sz="4000" dirty="0"/>
          </a:p>
          <a:p>
            <a:pPr indent="0" marL="0">
              <a:buNone/>
            </a:pPr>
            <a:r>
              <a:rPr lang="en-US" sz="1300" dirty="0">
                <a:solidFill>
                  <a:srgbClr val="5C667A"/>
                </a:solidFill>
              </a:rPr>
              <a:t>high: wrong results in standard runs</a:t>
            </a:r>
            <a:endParaRPr lang="en-US" sz="4000" dirty="0"/>
          </a:p>
        </p:txBody>
      </p:sp>
      <p:sp>
        <p:nvSpPr>
          <p:cNvPr id="6" name="stat-43"/>
          <p:cNvSpPr txBox="1"/>
          <p:nvPr/>
        </p:nvSpPr>
        <p:spPr>
          <a:xfrm>
            <a:off x="8778240" y="2834640"/>
            <a:ext cx="283464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42</a:t>
            </a:r>
            <a:endParaRPr lang="en-US" sz="4000" dirty="0"/>
          </a:p>
          <a:p>
            <a:pPr indent="0" marL="0">
              <a:buNone/>
            </a:pPr>
            <a:r>
              <a:rPr lang="en-US" sz="1300" dirty="0">
                <a:solidFill>
                  <a:srgbClr val="5C667A"/>
                </a:solidFill>
              </a:rPr>
              <a:t>medium: some runs or countries, or a reported number</a:t>
            </a:r>
            <a:endParaRPr lang="en-US" sz="4000" dirty="0"/>
          </a:p>
        </p:txBody>
      </p:sp>
      <p:sp>
        <p:nvSpPr>
          <p:cNvPr id="7" name="stat-44"/>
          <p:cNvSpPr txBox="1"/>
          <p:nvPr/>
        </p:nvSpPr>
        <p:spPr>
          <a:xfrm>
            <a:off x="8778240" y="4251960"/>
            <a:ext cx="2834640" cy="1371600"/>
          </a:xfrm>
          <a:prstGeom prst="rect">
            <a:avLst/>
          </a:prstGeom>
          <a:noFill/>
          <a:ln/>
        </p:spPr>
        <p:txBody>
          <a:bodyPr wrap="square" lIns="0" tIns="0" rIns="0" bIns="0" rtlCol="0" anchor="t"/>
          <a:lstStyle/>
          <a:p>
            <a:pPr indent="0" marL="0">
              <a:buNone/>
            </a:pPr>
            <a:r>
              <a:rPr lang="en-US" sz="4000" b="1" dirty="0">
                <a:solidFill>
                  <a:srgbClr val="5C667A"/>
                </a:solidFill>
                <a:latin typeface="Cambria" pitchFamily="34" charset="0"/>
                <a:ea typeface="Cambria" pitchFamily="34" charset="-122"/>
                <a:cs typeface="Cambria" pitchFamily="34" charset="-120"/>
              </a:rPr>
              <a:t>75</a:t>
            </a:r>
            <a:endParaRPr lang="en-US" sz="4000" dirty="0"/>
          </a:p>
          <a:p>
            <a:pPr indent="0" marL="0">
              <a:buNone/>
            </a:pPr>
            <a:r>
              <a:rPr lang="en-US" sz="1300" dirty="0">
                <a:solidFill>
                  <a:srgbClr val="5C667A"/>
                </a:solidFill>
              </a:rPr>
              <a:t>low: latent or reporting only</a:t>
            </a:r>
            <a:endParaRPr lang="en-US" sz="4000" dirty="0"/>
          </a:p>
        </p:txBody>
      </p:sp>
      <p:sp>
        <p:nvSpPr>
          <p:cNvPr id="8" name="caption-45"/>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All are fixed or documented in the MVP; legacy CPAT still needs the fixes. Cell-level fix plans: CPAT_BugFix_Procedure_and_Register_v6_3.docx.</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CHANGES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Four problems with today's Excel, four fixes</a:t>
            </a:r>
            <a:endParaRPr lang="en-US" sz="3000" dirty="0"/>
          </a:p>
        </p:txBody>
      </p:sp>
      <p:sp>
        <p:nvSpPr>
          <p:cNvPr id="4" name="colhead-46"/>
          <p:cNvSpPr txBox="1"/>
          <p:nvPr/>
        </p:nvSpPr>
        <p:spPr>
          <a:xfrm>
            <a:off x="548640" y="1371600"/>
            <a:ext cx="4754880" cy="274320"/>
          </a:xfrm>
          <a:prstGeom prst="rect">
            <a:avLst/>
          </a:prstGeom>
          <a:noFill/>
          <a:ln/>
        </p:spPr>
        <p:txBody>
          <a:bodyPr wrap="square" lIns="0" tIns="0" rIns="0" bIns="0" rtlCol="0" anchor="ctr"/>
          <a:lstStyle/>
          <a:p>
            <a:pPr indent="0" marL="0">
              <a:buNone/>
            </a:pPr>
            <a:r>
              <a:rPr lang="en-US" sz="1100" b="1" spc="200" kern="0" dirty="0">
                <a:solidFill>
                  <a:srgbClr val="E08A1E"/>
                </a:solidFill>
              </a:rPr>
              <a:t>TODAY IN CPAT</a:t>
            </a:r>
            <a:endParaRPr lang="en-US" sz="1100" dirty="0"/>
          </a:p>
        </p:txBody>
      </p:sp>
      <p:sp>
        <p:nvSpPr>
          <p:cNvPr id="5" name="colhead-47"/>
          <p:cNvSpPr txBox="1"/>
          <p:nvPr/>
        </p:nvSpPr>
        <p:spPr>
          <a:xfrm>
            <a:off x="6126480" y="1371600"/>
            <a:ext cx="5486400" cy="274320"/>
          </a:xfrm>
          <a:prstGeom prst="rect">
            <a:avLst/>
          </a:prstGeom>
          <a:noFill/>
          <a:ln/>
        </p:spPr>
        <p:txBody>
          <a:bodyPr wrap="square" lIns="0" tIns="0" rIns="0" bIns="0" rtlCol="0" anchor="ctr"/>
          <a:lstStyle/>
          <a:p>
            <a:pPr indent="0" marL="0">
              <a:buNone/>
            </a:pPr>
            <a:r>
              <a:rPr lang="en-US" sz="1100" b="1" spc="200" kern="0" dirty="0">
                <a:solidFill>
                  <a:srgbClr val="0F7B6C"/>
                </a:solidFill>
              </a:rPr>
              <a:t>IN THE MVP</a:t>
            </a:r>
            <a:endParaRPr lang="en-US" sz="1100" dirty="0"/>
          </a:p>
        </p:txBody>
      </p:sp>
      <p:sp>
        <p:nvSpPr>
          <p:cNvPr id="6" name="problem-48"/>
          <p:cNvSpPr/>
          <p:nvPr/>
        </p:nvSpPr>
        <p:spPr>
          <a:xfrm>
            <a:off x="548640" y="1737360"/>
            <a:ext cx="4754880" cy="932688"/>
          </a:xfrm>
          <a:prstGeom prst="rect">
            <a:avLst/>
          </a:prstGeom>
          <a:solidFill>
            <a:srgbClr val="FDF3E6"/>
          </a:solidFill>
          <a:ln w="12700">
            <a:solidFill>
              <a:srgbClr val="F2D9B6"/>
            </a:solidFill>
            <a:prstDash val="solid"/>
          </a:ln>
        </p:spPr>
      </p:sp>
      <p:sp>
        <p:nvSpPr>
          <p:cNvPr id="7" name="problemText-49"/>
          <p:cNvSpPr txBox="1"/>
          <p:nvPr/>
        </p:nvSpPr>
        <p:spPr>
          <a:xfrm>
            <a:off x="731520" y="1737360"/>
            <a:ext cx="4434840" cy="932688"/>
          </a:xfrm>
          <a:prstGeom prst="rect">
            <a:avLst/>
          </a:prstGeom>
          <a:noFill/>
          <a:ln/>
        </p:spPr>
        <p:txBody>
          <a:bodyPr wrap="square" lIns="0" tIns="0" rIns="0" bIns="0" rtlCol="0" anchor="ctr"/>
          <a:lstStyle/>
          <a:p>
            <a:pPr indent="0" marL="0">
              <a:buNone/>
            </a:pPr>
            <a:r>
              <a:rPr lang="en-US" sz="1600" dirty="0">
                <a:solidFill>
                  <a:srgbClr val="1F1F2E"/>
                </a:solidFill>
              </a:rPr>
              <a:t>Hard to read: long formulas, many tabs</a:t>
            </a:r>
            <a:endParaRPr lang="en-US" sz="1600" dirty="0"/>
          </a:p>
        </p:txBody>
      </p:sp>
      <p:sp>
        <p:nvSpPr>
          <p:cNvPr id="8" name="arrow-50"/>
          <p:cNvSpPr/>
          <p:nvPr/>
        </p:nvSpPr>
        <p:spPr>
          <a:xfrm>
            <a:off x="5440680" y="2039112"/>
            <a:ext cx="548640" cy="329184"/>
          </a:xfrm>
          <a:prstGeom prst="rightArrow">
            <a:avLst/>
          </a:prstGeom>
          <a:solidFill>
            <a:srgbClr val="D4A24C"/>
          </a:solidFill>
          <a:ln w="12700">
            <a:solidFill>
              <a:srgbClr val="D4A24C"/>
            </a:solidFill>
            <a:prstDash val="solid"/>
          </a:ln>
        </p:spPr>
      </p:sp>
      <p:sp>
        <p:nvSpPr>
          <p:cNvPr id="9" name="fix-51"/>
          <p:cNvSpPr/>
          <p:nvPr/>
        </p:nvSpPr>
        <p:spPr>
          <a:xfrm>
            <a:off x="6126480" y="1737360"/>
            <a:ext cx="5486400" cy="932688"/>
          </a:xfrm>
          <a:prstGeom prst="rect">
            <a:avLst/>
          </a:prstGeom>
          <a:solidFill>
            <a:srgbClr val="EAF4F2"/>
          </a:solidFill>
          <a:ln w="12700">
            <a:solidFill>
              <a:srgbClr val="C7E3DE"/>
            </a:solidFill>
            <a:prstDash val="solid"/>
          </a:ln>
        </p:spPr>
      </p:sp>
      <p:sp>
        <p:nvSpPr>
          <p:cNvPr id="10" name="fixText-52"/>
          <p:cNvSpPr txBox="1"/>
          <p:nvPr/>
        </p:nvSpPr>
        <p:spPr>
          <a:xfrm>
            <a:off x="6309360" y="1737360"/>
            <a:ext cx="5166360" cy="932688"/>
          </a:xfrm>
          <a:prstGeom prst="rect">
            <a:avLst/>
          </a:prstGeom>
          <a:noFill/>
          <a:ln/>
        </p:spPr>
        <p:txBody>
          <a:bodyPr wrap="square" lIns="0" tIns="0" rIns="0" bIns="0" rtlCol="0" anchor="ctr"/>
          <a:lstStyle/>
          <a:p>
            <a:pPr indent="0" marL="0">
              <a:buNone/>
            </a:pPr>
            <a:r>
              <a:rPr lang="en-US" sz="1600" dirty="0">
                <a:solidFill>
                  <a:srgbClr val="1F1F2E"/>
                </a:solidFill>
              </a:rPr>
              <a:t>Numbered sections, rolled up; every formula at most 100 characters</a:t>
            </a:r>
            <a:endParaRPr lang="en-US" sz="1600" dirty="0"/>
          </a:p>
        </p:txBody>
      </p:sp>
      <p:sp>
        <p:nvSpPr>
          <p:cNvPr id="11" name="problem-53"/>
          <p:cNvSpPr/>
          <p:nvPr/>
        </p:nvSpPr>
        <p:spPr>
          <a:xfrm>
            <a:off x="548640" y="2852928"/>
            <a:ext cx="4754880" cy="932688"/>
          </a:xfrm>
          <a:prstGeom prst="rect">
            <a:avLst/>
          </a:prstGeom>
          <a:solidFill>
            <a:srgbClr val="FDF3E6"/>
          </a:solidFill>
          <a:ln w="12700">
            <a:solidFill>
              <a:srgbClr val="F2D9B6"/>
            </a:solidFill>
            <a:prstDash val="solid"/>
          </a:ln>
        </p:spPr>
      </p:sp>
      <p:sp>
        <p:nvSpPr>
          <p:cNvPr id="12" name="problemText-54"/>
          <p:cNvSpPr txBox="1"/>
          <p:nvPr/>
        </p:nvSpPr>
        <p:spPr>
          <a:xfrm>
            <a:off x="731520" y="2852928"/>
            <a:ext cx="4434840" cy="932688"/>
          </a:xfrm>
          <a:prstGeom prst="rect">
            <a:avLst/>
          </a:prstGeom>
          <a:noFill/>
          <a:ln/>
        </p:spPr>
        <p:txBody>
          <a:bodyPr wrap="square" lIns="0" tIns="0" rIns="0" bIns="0" rtlCol="0" anchor="ctr"/>
          <a:lstStyle/>
          <a:p>
            <a:pPr indent="0" marL="0">
              <a:buNone/>
            </a:pPr>
            <a:r>
              <a:rPr lang="en-US" sz="1600" dirty="0">
                <a:solidFill>
                  <a:srgbClr val="1F1F2E"/>
                </a:solidFill>
              </a:rPr>
              <a:t>Formulas differ from row to row</a:t>
            </a:r>
            <a:endParaRPr lang="en-US" sz="1600" dirty="0"/>
          </a:p>
        </p:txBody>
      </p:sp>
      <p:sp>
        <p:nvSpPr>
          <p:cNvPr id="13" name="arrow-55"/>
          <p:cNvSpPr/>
          <p:nvPr/>
        </p:nvSpPr>
        <p:spPr>
          <a:xfrm>
            <a:off x="5440680" y="3154680"/>
            <a:ext cx="548640" cy="329184"/>
          </a:xfrm>
          <a:prstGeom prst="rightArrow">
            <a:avLst/>
          </a:prstGeom>
          <a:solidFill>
            <a:srgbClr val="D4A24C"/>
          </a:solidFill>
          <a:ln w="12700">
            <a:solidFill>
              <a:srgbClr val="D4A24C"/>
            </a:solidFill>
            <a:prstDash val="solid"/>
          </a:ln>
        </p:spPr>
      </p:sp>
      <p:sp>
        <p:nvSpPr>
          <p:cNvPr id="14" name="fix-56"/>
          <p:cNvSpPr/>
          <p:nvPr/>
        </p:nvSpPr>
        <p:spPr>
          <a:xfrm>
            <a:off x="6126480" y="2852928"/>
            <a:ext cx="5486400" cy="932688"/>
          </a:xfrm>
          <a:prstGeom prst="rect">
            <a:avLst/>
          </a:prstGeom>
          <a:solidFill>
            <a:srgbClr val="EAF4F2"/>
          </a:solidFill>
          <a:ln w="12700">
            <a:solidFill>
              <a:srgbClr val="C7E3DE"/>
            </a:solidFill>
            <a:prstDash val="solid"/>
          </a:ln>
        </p:spPr>
      </p:sp>
      <p:sp>
        <p:nvSpPr>
          <p:cNvPr id="15" name="fixText-57"/>
          <p:cNvSpPr txBox="1"/>
          <p:nvPr/>
        </p:nvSpPr>
        <p:spPr>
          <a:xfrm>
            <a:off x="6309360" y="2852928"/>
            <a:ext cx="5166360" cy="932688"/>
          </a:xfrm>
          <a:prstGeom prst="rect">
            <a:avLst/>
          </a:prstGeom>
          <a:noFill/>
          <a:ln/>
        </p:spPr>
        <p:txBody>
          <a:bodyPr wrap="square" lIns="0" tIns="0" rIns="0" bIns="0" rtlCol="0" anchor="ctr"/>
          <a:lstStyle/>
          <a:p>
            <a:pPr indent="0" marL="0">
              <a:buNone/>
            </a:pPr>
            <a:r>
              <a:rPr lang="en-US" sz="1600" dirty="0">
                <a:solidFill>
                  <a:srgbClr val="1F1F2E"/>
                </a:solidFill>
              </a:rPr>
              <a:t>One formula per block: copy, drag or paste it anywhere in the block</a:t>
            </a:r>
            <a:endParaRPr lang="en-US" sz="1600" dirty="0"/>
          </a:p>
        </p:txBody>
      </p:sp>
      <p:sp>
        <p:nvSpPr>
          <p:cNvPr id="16" name="problem-58"/>
          <p:cNvSpPr/>
          <p:nvPr/>
        </p:nvSpPr>
        <p:spPr>
          <a:xfrm>
            <a:off x="548640" y="3968496"/>
            <a:ext cx="4754880" cy="932688"/>
          </a:xfrm>
          <a:prstGeom prst="rect">
            <a:avLst/>
          </a:prstGeom>
          <a:solidFill>
            <a:srgbClr val="FDF3E6"/>
          </a:solidFill>
          <a:ln w="12700">
            <a:solidFill>
              <a:srgbClr val="F2D9B6"/>
            </a:solidFill>
            <a:prstDash val="solid"/>
          </a:ln>
        </p:spPr>
      </p:sp>
      <p:sp>
        <p:nvSpPr>
          <p:cNvPr id="17" name="problemText-59"/>
          <p:cNvSpPr txBox="1"/>
          <p:nvPr/>
        </p:nvSpPr>
        <p:spPr>
          <a:xfrm>
            <a:off x="731520" y="3968496"/>
            <a:ext cx="4434840" cy="932688"/>
          </a:xfrm>
          <a:prstGeom prst="rect">
            <a:avLst/>
          </a:prstGeom>
          <a:noFill/>
          <a:ln/>
        </p:spPr>
        <p:txBody>
          <a:bodyPr wrap="square" lIns="0" tIns="0" rIns="0" bIns="0" rtlCol="0" anchor="ctr"/>
          <a:lstStyle/>
          <a:p>
            <a:pPr indent="0" marL="0">
              <a:buNone/>
            </a:pPr>
            <a:r>
              <a:rPr lang="en-US" sz="1600" dirty="0">
                <a:solidFill>
                  <a:srgbClr val="1F1F2E"/>
                </a:solidFill>
              </a:rPr>
              <a:t>New scenarios are slow to build</a:t>
            </a:r>
            <a:endParaRPr lang="en-US" sz="1600" dirty="0"/>
          </a:p>
        </p:txBody>
      </p:sp>
      <p:sp>
        <p:nvSpPr>
          <p:cNvPr id="18" name="arrow-60"/>
          <p:cNvSpPr/>
          <p:nvPr/>
        </p:nvSpPr>
        <p:spPr>
          <a:xfrm>
            <a:off x="5440680" y="4270248"/>
            <a:ext cx="548640" cy="329184"/>
          </a:xfrm>
          <a:prstGeom prst="rightArrow">
            <a:avLst/>
          </a:prstGeom>
          <a:solidFill>
            <a:srgbClr val="D4A24C"/>
          </a:solidFill>
          <a:ln w="12700">
            <a:solidFill>
              <a:srgbClr val="D4A24C"/>
            </a:solidFill>
            <a:prstDash val="solid"/>
          </a:ln>
        </p:spPr>
      </p:sp>
      <p:sp>
        <p:nvSpPr>
          <p:cNvPr id="19" name="fix-61"/>
          <p:cNvSpPr/>
          <p:nvPr/>
        </p:nvSpPr>
        <p:spPr>
          <a:xfrm>
            <a:off x="6126480" y="3968496"/>
            <a:ext cx="5486400" cy="932688"/>
          </a:xfrm>
          <a:prstGeom prst="rect">
            <a:avLst/>
          </a:prstGeom>
          <a:solidFill>
            <a:srgbClr val="EAF4F2"/>
          </a:solidFill>
          <a:ln w="12700">
            <a:solidFill>
              <a:srgbClr val="C7E3DE"/>
            </a:solidFill>
            <a:prstDash val="solid"/>
          </a:ln>
        </p:spPr>
      </p:sp>
      <p:sp>
        <p:nvSpPr>
          <p:cNvPr id="20" name="fixText-62"/>
          <p:cNvSpPr txBox="1"/>
          <p:nvPr/>
        </p:nvSpPr>
        <p:spPr>
          <a:xfrm>
            <a:off x="6309360" y="3968496"/>
            <a:ext cx="5166360" cy="932688"/>
          </a:xfrm>
          <a:prstGeom prst="rect">
            <a:avLst/>
          </a:prstGeom>
          <a:noFill/>
          <a:ln/>
        </p:spPr>
        <p:txBody>
          <a:bodyPr wrap="square" lIns="0" tIns="0" rIns="0" bIns="0" rtlCol="0" anchor="ctr"/>
          <a:lstStyle/>
          <a:p>
            <a:pPr indent="0" marL="0">
              <a:buNone/>
            </a:pPr>
            <a:r>
              <a:rPr lang="en-US" sz="1600" dirty="0">
                <a:solidFill>
                  <a:srgbClr val="1F1F2E"/>
                </a:solidFill>
              </a:rPr>
              <a:t>Paste a scenario block, or list scenarios in MTInputs and run one macro</a:t>
            </a:r>
            <a:endParaRPr lang="en-US" sz="1600" dirty="0"/>
          </a:p>
        </p:txBody>
      </p:sp>
      <p:sp>
        <p:nvSpPr>
          <p:cNvPr id="21" name="problem-63"/>
          <p:cNvSpPr/>
          <p:nvPr/>
        </p:nvSpPr>
        <p:spPr>
          <a:xfrm>
            <a:off x="548640" y="5084064"/>
            <a:ext cx="4754880" cy="932688"/>
          </a:xfrm>
          <a:prstGeom prst="rect">
            <a:avLst/>
          </a:prstGeom>
          <a:solidFill>
            <a:srgbClr val="FDF3E6"/>
          </a:solidFill>
          <a:ln w="12700">
            <a:solidFill>
              <a:srgbClr val="F2D9B6"/>
            </a:solidFill>
            <a:prstDash val="solid"/>
          </a:ln>
        </p:spPr>
      </p:sp>
      <p:sp>
        <p:nvSpPr>
          <p:cNvPr id="22" name="problemText-64"/>
          <p:cNvSpPr txBox="1"/>
          <p:nvPr/>
        </p:nvSpPr>
        <p:spPr>
          <a:xfrm>
            <a:off x="731520" y="5084064"/>
            <a:ext cx="4434840" cy="932688"/>
          </a:xfrm>
          <a:prstGeom prst="rect">
            <a:avLst/>
          </a:prstGeom>
          <a:noFill/>
          <a:ln/>
        </p:spPr>
        <p:txBody>
          <a:bodyPr wrap="square" lIns="0" tIns="0" rIns="0" bIns="0" rtlCol="0" anchor="ctr"/>
          <a:lstStyle/>
          <a:p>
            <a:pPr indent="0" marL="0">
              <a:buNone/>
            </a:pPr>
            <a:r>
              <a:rPr lang="en-US" sz="1600" dirty="0">
                <a:solidFill>
                  <a:srgbClr val="1F1F2E"/>
                </a:solidFill>
              </a:rPr>
              <a:t>Results are hard to verify</a:t>
            </a:r>
            <a:endParaRPr lang="en-US" sz="1600" dirty="0"/>
          </a:p>
        </p:txBody>
      </p:sp>
      <p:sp>
        <p:nvSpPr>
          <p:cNvPr id="23" name="arrow-65"/>
          <p:cNvSpPr/>
          <p:nvPr/>
        </p:nvSpPr>
        <p:spPr>
          <a:xfrm>
            <a:off x="5440680" y="5385816"/>
            <a:ext cx="548640" cy="329184"/>
          </a:xfrm>
          <a:prstGeom prst="rightArrow">
            <a:avLst/>
          </a:prstGeom>
          <a:solidFill>
            <a:srgbClr val="D4A24C"/>
          </a:solidFill>
          <a:ln w="12700">
            <a:solidFill>
              <a:srgbClr val="D4A24C"/>
            </a:solidFill>
            <a:prstDash val="solid"/>
          </a:ln>
        </p:spPr>
      </p:sp>
      <p:sp>
        <p:nvSpPr>
          <p:cNvPr id="24" name="fix-66"/>
          <p:cNvSpPr/>
          <p:nvPr/>
        </p:nvSpPr>
        <p:spPr>
          <a:xfrm>
            <a:off x="6126480" y="5084064"/>
            <a:ext cx="5486400" cy="932688"/>
          </a:xfrm>
          <a:prstGeom prst="rect">
            <a:avLst/>
          </a:prstGeom>
          <a:solidFill>
            <a:srgbClr val="EAF4F2"/>
          </a:solidFill>
          <a:ln w="12700">
            <a:solidFill>
              <a:srgbClr val="C7E3DE"/>
            </a:solidFill>
            <a:prstDash val="solid"/>
          </a:ln>
        </p:spPr>
      </p:sp>
      <p:sp>
        <p:nvSpPr>
          <p:cNvPr id="25" name="fixText-67"/>
          <p:cNvSpPr txBox="1"/>
          <p:nvPr/>
        </p:nvSpPr>
        <p:spPr>
          <a:xfrm>
            <a:off x="6309360" y="5084064"/>
            <a:ext cx="5166360" cy="932688"/>
          </a:xfrm>
          <a:prstGeom prst="rect">
            <a:avLst/>
          </a:prstGeom>
          <a:noFill/>
          <a:ln/>
        </p:spPr>
        <p:txBody>
          <a:bodyPr wrap="square" lIns="0" tIns="0" rIns="0" bIns="0" rtlCol="0" anchor="ctr"/>
          <a:lstStyle/>
          <a:p>
            <a:pPr indent="0" marL="0">
              <a:buNone/>
            </a:pPr>
            <a:r>
              <a:rPr lang="en-US" sz="1600" dirty="0">
                <a:solidFill>
                  <a:srgbClr val="1F1F2E"/>
                </a:solidFill>
              </a:rPr>
              <a:t>Every value recomputed in Python; legacy bugs found, fixed and listed</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LAYOUT</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Years across, scenarios side by side, one formula per block</a:t>
            </a:r>
            <a:endParaRPr lang="en-US" sz="3000" dirty="0"/>
          </a:p>
        </p:txBody>
      </p:sp>
      <p:sp>
        <p:nvSpPr>
          <p:cNvPr id="4" name="frame-68"/>
          <p:cNvSpPr/>
          <p:nvPr/>
        </p:nvSpPr>
        <p:spPr>
          <a:xfrm>
            <a:off x="493776" y="1316736"/>
            <a:ext cx="11173968" cy="1797015"/>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69" descr="/home/user/CPAT-AI/cpat_excel/mitigation_copypaste/presentation/img/v62_01b_scenarios.png">    </p:cNvPr>
          <p:cNvPicPr>
            <a:picLocks noChangeAspect="1"/>
          </p:cNvPicPr>
          <p:nvPr/>
        </p:nvPicPr>
        <p:blipFill>
          <a:blip r:embed="rId1"/>
          <a:stretch>
            <a:fillRect/>
          </a:stretch>
        </p:blipFill>
        <p:spPr>
          <a:xfrm>
            <a:off x="548640" y="1371600"/>
            <a:ext cx="11064240" cy="1687287"/>
          </a:xfrm>
          <a:prstGeom prst="rect">
            <a:avLst/>
          </a:prstGeom>
        </p:spPr>
      </p:pic>
      <p:sp>
        <p:nvSpPr>
          <p:cNvPr id="6" name="caption-70"/>
          <p:cNvSpPr txBox="1"/>
          <p:nvPr/>
        </p:nvSpPr>
        <p:spPr>
          <a:xfrm>
            <a:off x="548640" y="3168615"/>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Each scenario is a block of columns: output codes, 2022 (beige), the years to 2041, a blank column.</a:t>
            </a:r>
            <a:endParaRPr lang="en-US" sz="1200" dirty="0"/>
          </a:p>
        </p:txBody>
      </p:sp>
      <p:sp>
        <p:nvSpPr>
          <p:cNvPr id="7" name="card-71"/>
          <p:cNvSpPr/>
          <p:nvPr/>
        </p:nvSpPr>
        <p:spPr>
          <a:xfrm>
            <a:off x="548640" y="3607527"/>
            <a:ext cx="3520440" cy="1371600"/>
          </a:xfrm>
          <a:prstGeom prst="rect">
            <a:avLst/>
          </a:prstGeom>
          <a:solidFill>
            <a:srgbClr val="F4F6FB"/>
          </a:solidFill>
          <a:ln w="12700">
            <a:solidFill>
              <a:srgbClr val="D5DAE3"/>
            </a:solidFill>
            <a:prstDash val="solid"/>
          </a:ln>
        </p:spPr>
      </p:sp>
      <p:sp>
        <p:nvSpPr>
          <p:cNvPr id="8" name="cardText-72"/>
          <p:cNvSpPr txBox="1"/>
          <p:nvPr/>
        </p:nvSpPr>
        <p:spPr>
          <a:xfrm>
            <a:off x="713232" y="3717255"/>
            <a:ext cx="3191256" cy="1152144"/>
          </a:xfrm>
          <a:prstGeom prst="rect">
            <a:avLst/>
          </a:prstGeom>
          <a:noFill/>
          <a:ln/>
        </p:spPr>
        <p:txBody>
          <a:bodyPr wrap="square" lIns="0" tIns="0" rIns="0" bIns="0" rtlCol="0" anchor="t"/>
          <a:lstStyle/>
          <a:p>
            <a:pPr indent="0" marL="0">
              <a:buNone/>
            </a:pPr>
            <a:r>
              <a:rPr lang="en-US" sz="1500" b="1" dirty="0">
                <a:solidFill>
                  <a:srgbClr val="1E2761"/>
                </a:solidFill>
              </a:rPr>
              <a:t>Paste a scenario</a:t>
            </a:r>
            <a:endParaRPr lang="en-US" sz="1500" dirty="0"/>
          </a:p>
          <a:p>
            <a:pPr indent="0" marL="0">
              <a:buNone/>
            </a:pPr>
            <a:r>
              <a:rPr lang="en-US" sz="1400" dirty="0">
                <a:solidFill>
                  <a:srgbClr val="1F1F2E"/>
                </a:solidFill>
              </a:rPr>
              <a:t>Paste a block of columns to the right: it numbers itself and runs the next MTInputs column.</a:t>
            </a:r>
            <a:endParaRPr lang="en-US" sz="1500" dirty="0"/>
          </a:p>
        </p:txBody>
      </p:sp>
      <p:sp>
        <p:nvSpPr>
          <p:cNvPr id="9" name="card-73"/>
          <p:cNvSpPr/>
          <p:nvPr/>
        </p:nvSpPr>
        <p:spPr>
          <a:xfrm>
            <a:off x="4315968" y="3607527"/>
            <a:ext cx="3520440" cy="1371600"/>
          </a:xfrm>
          <a:prstGeom prst="rect">
            <a:avLst/>
          </a:prstGeom>
          <a:solidFill>
            <a:srgbClr val="EAF4F2"/>
          </a:solidFill>
          <a:ln w="12700">
            <a:solidFill>
              <a:srgbClr val="C7E3DE"/>
            </a:solidFill>
            <a:prstDash val="solid"/>
          </a:ln>
        </p:spPr>
      </p:sp>
      <p:sp>
        <p:nvSpPr>
          <p:cNvPr id="10" name="cardText-74"/>
          <p:cNvSpPr txBox="1"/>
          <p:nvPr/>
        </p:nvSpPr>
        <p:spPr>
          <a:xfrm>
            <a:off x="4480560" y="3717255"/>
            <a:ext cx="3191256" cy="1152144"/>
          </a:xfrm>
          <a:prstGeom prst="rect">
            <a:avLst/>
          </a:prstGeom>
          <a:noFill/>
          <a:ln/>
        </p:spPr>
        <p:txBody>
          <a:bodyPr wrap="square" lIns="0" tIns="0" rIns="0" bIns="0" rtlCol="0" anchor="t"/>
          <a:lstStyle/>
          <a:p>
            <a:pPr indent="0" marL="0">
              <a:buNone/>
            </a:pPr>
            <a:r>
              <a:rPr lang="en-US" sz="1500" b="1" dirty="0">
                <a:solidFill>
                  <a:srgbClr val="0F7B6C"/>
                </a:solidFill>
              </a:rPr>
              <a:t>One formula, at most 100 characters</a:t>
            </a:r>
            <a:endParaRPr lang="en-US" sz="1500" dirty="0"/>
          </a:p>
          <a:p>
            <a:pPr indent="0" marL="0">
              <a:buNone/>
            </a:pPr>
            <a:r>
              <a:rPr lang="en-US" sz="1400" dirty="0">
                <a:solidFill>
                  <a:srgbClr val="1F1F2E"/>
                </a:solidFill>
              </a:rPr>
              <a:t>The same formula in every row of a block; all 566,355 formulas are short.</a:t>
            </a:r>
            <a:endParaRPr lang="en-US" sz="1500" dirty="0"/>
          </a:p>
        </p:txBody>
      </p:sp>
      <p:sp>
        <p:nvSpPr>
          <p:cNvPr id="11" name="card-75"/>
          <p:cNvSpPr/>
          <p:nvPr/>
        </p:nvSpPr>
        <p:spPr>
          <a:xfrm>
            <a:off x="8092440" y="3607527"/>
            <a:ext cx="3520440" cy="1371600"/>
          </a:xfrm>
          <a:prstGeom prst="rect">
            <a:avLst/>
          </a:prstGeom>
          <a:solidFill>
            <a:srgbClr val="EEECE1"/>
          </a:solidFill>
          <a:ln w="12700">
            <a:solidFill>
              <a:srgbClr val="D9D4BC"/>
            </a:solidFill>
            <a:prstDash val="solid"/>
          </a:ln>
        </p:spPr>
      </p:sp>
      <p:sp>
        <p:nvSpPr>
          <p:cNvPr id="12" name="cardText-76"/>
          <p:cNvSpPr txBox="1"/>
          <p:nvPr/>
        </p:nvSpPr>
        <p:spPr>
          <a:xfrm>
            <a:off x="8257032" y="3717255"/>
            <a:ext cx="3191256" cy="1152144"/>
          </a:xfrm>
          <a:prstGeom prst="rect">
            <a:avLst/>
          </a:prstGeom>
          <a:noFill/>
          <a:ln/>
        </p:spPr>
        <p:txBody>
          <a:bodyPr wrap="square" lIns="0" tIns="0" rIns="0" bIns="0" rtlCol="0" anchor="t"/>
          <a:lstStyle/>
          <a:p>
            <a:pPr indent="0" marL="0">
              <a:buNone/>
            </a:pPr>
            <a:r>
              <a:rPr lang="en-US" sz="1500" b="1" dirty="0">
                <a:solidFill>
                  <a:srgbClr val="9C0006"/>
                </a:solidFill>
              </a:rPr>
              <a:t>LAMBDAs tested in a third group</a:t>
            </a:r>
            <a:endParaRPr lang="en-US" sz="1500" dirty="0"/>
          </a:p>
          <a:p>
            <a:pPr indent="0" marL="0">
              <a:buNone/>
            </a:pPr>
            <a:r>
              <a:rPr lang="en-US" sz="1400" dirty="0">
                <a:solidFill>
                  <a:srgbClr val="1F1F2E"/>
                </a:solidFill>
              </a:rPr>
              <a:t>Groups 1-2 hold plain formulas; group 3 reruns group 2 with the named LAMBDAs (Excel 365).</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MANY SCENARIOS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List scenarios, run one macro, compare</a:t>
            </a:r>
            <a:endParaRPr lang="en-US" sz="3000" dirty="0"/>
          </a:p>
        </p:txBody>
      </p:sp>
      <p:sp>
        <p:nvSpPr>
          <p:cNvPr id="4" name="flow-77"/>
          <p:cNvSpPr/>
          <p:nvPr/>
        </p:nvSpPr>
        <p:spPr>
          <a:xfrm>
            <a:off x="548640" y="1463040"/>
            <a:ext cx="2491740" cy="566928"/>
          </a:xfrm>
          <a:prstGeom prst="roundRect">
            <a:avLst>
              <a:gd name="adj" fmla="val 16129"/>
            </a:avLst>
          </a:prstGeom>
          <a:solidFill>
            <a:srgbClr val="0F7B6C"/>
          </a:solidFill>
          <a:ln w="12700">
            <a:solidFill>
              <a:srgbClr val="0F7B6C"/>
            </a:solidFill>
            <a:prstDash val="solid"/>
          </a:ln>
        </p:spPr>
      </p:sp>
      <p:sp>
        <p:nvSpPr>
          <p:cNvPr id="5" name="flowText-78"/>
          <p:cNvSpPr txBox="1"/>
          <p:nvPr/>
        </p:nvSpPr>
        <p:spPr>
          <a:xfrm>
            <a:off x="548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Define in MTInputs</a:t>
            </a:r>
            <a:endParaRPr lang="en-US" sz="1400" dirty="0"/>
          </a:p>
        </p:txBody>
      </p:sp>
      <p:sp>
        <p:nvSpPr>
          <p:cNvPr id="6" name="flowArrow-79"/>
          <p:cNvSpPr/>
          <p:nvPr/>
        </p:nvSpPr>
        <p:spPr>
          <a:xfrm>
            <a:off x="3104388" y="1618488"/>
            <a:ext cx="237744" cy="256032"/>
          </a:xfrm>
          <a:prstGeom prst="rightArrow">
            <a:avLst/>
          </a:prstGeom>
          <a:solidFill>
            <a:srgbClr val="D4A24C"/>
          </a:solidFill>
          <a:ln w="12700">
            <a:solidFill>
              <a:srgbClr val="D4A24C"/>
            </a:solidFill>
            <a:prstDash val="solid"/>
          </a:ln>
        </p:spPr>
      </p:sp>
      <p:sp>
        <p:nvSpPr>
          <p:cNvPr id="7" name="flow-80"/>
          <p:cNvSpPr/>
          <p:nvPr/>
        </p:nvSpPr>
        <p:spPr>
          <a:xfrm>
            <a:off x="3406140" y="1463040"/>
            <a:ext cx="2491740" cy="566928"/>
          </a:xfrm>
          <a:prstGeom prst="roundRect">
            <a:avLst>
              <a:gd name="adj" fmla="val 16129"/>
            </a:avLst>
          </a:prstGeom>
          <a:solidFill>
            <a:srgbClr val="0F7B6C"/>
          </a:solidFill>
          <a:ln w="12700">
            <a:solidFill>
              <a:srgbClr val="0F7B6C"/>
            </a:solidFill>
            <a:prstDash val="solid"/>
          </a:ln>
        </p:spPr>
      </p:sp>
      <p:sp>
        <p:nvSpPr>
          <p:cNvPr id="8" name="flowText-81"/>
          <p:cNvSpPr txBox="1"/>
          <p:nvPr/>
        </p:nvSpPr>
        <p:spPr>
          <a:xfrm>
            <a:off x="3406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RunAllScenarios</a:t>
            </a:r>
            <a:endParaRPr lang="en-US" sz="1400" dirty="0"/>
          </a:p>
        </p:txBody>
      </p:sp>
      <p:sp>
        <p:nvSpPr>
          <p:cNvPr id="9" name="flowArrow-82"/>
          <p:cNvSpPr/>
          <p:nvPr/>
        </p:nvSpPr>
        <p:spPr>
          <a:xfrm>
            <a:off x="5961888" y="1618488"/>
            <a:ext cx="237744" cy="256032"/>
          </a:xfrm>
          <a:prstGeom prst="rightArrow">
            <a:avLst/>
          </a:prstGeom>
          <a:solidFill>
            <a:srgbClr val="D4A24C"/>
          </a:solidFill>
          <a:ln w="12700">
            <a:solidFill>
              <a:srgbClr val="D4A24C"/>
            </a:solidFill>
            <a:prstDash val="solid"/>
          </a:ln>
        </p:spPr>
      </p:sp>
      <p:sp>
        <p:nvSpPr>
          <p:cNvPr id="10" name="flow-83"/>
          <p:cNvSpPr/>
          <p:nvPr/>
        </p:nvSpPr>
        <p:spPr>
          <a:xfrm>
            <a:off x="6263640" y="1463040"/>
            <a:ext cx="2491740" cy="566928"/>
          </a:xfrm>
          <a:prstGeom prst="roundRect">
            <a:avLst>
              <a:gd name="adj" fmla="val 16129"/>
            </a:avLst>
          </a:prstGeom>
          <a:solidFill>
            <a:srgbClr val="0F7B6C"/>
          </a:solidFill>
          <a:ln w="12700">
            <a:solidFill>
              <a:srgbClr val="0F7B6C"/>
            </a:solidFill>
            <a:prstDash val="solid"/>
          </a:ln>
        </p:spPr>
      </p:sp>
      <p:sp>
        <p:nvSpPr>
          <p:cNvPr id="11" name="flowText-84"/>
          <p:cNvSpPr txBox="1"/>
          <p:nvPr/>
        </p:nvSpPr>
        <p:spPr>
          <a:xfrm>
            <a:off x="6263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StoredResults</a:t>
            </a:r>
            <a:endParaRPr lang="en-US" sz="1400" dirty="0"/>
          </a:p>
        </p:txBody>
      </p:sp>
      <p:sp>
        <p:nvSpPr>
          <p:cNvPr id="12" name="flowArrow-85"/>
          <p:cNvSpPr/>
          <p:nvPr/>
        </p:nvSpPr>
        <p:spPr>
          <a:xfrm>
            <a:off x="8819388" y="1618488"/>
            <a:ext cx="237744" cy="256032"/>
          </a:xfrm>
          <a:prstGeom prst="rightArrow">
            <a:avLst/>
          </a:prstGeom>
          <a:solidFill>
            <a:srgbClr val="D4A24C"/>
          </a:solidFill>
          <a:ln w="12700">
            <a:solidFill>
              <a:srgbClr val="D4A24C"/>
            </a:solidFill>
            <a:prstDash val="solid"/>
          </a:ln>
        </p:spPr>
      </p:sp>
      <p:sp>
        <p:nvSpPr>
          <p:cNvPr id="13" name="flow-86"/>
          <p:cNvSpPr/>
          <p:nvPr/>
        </p:nvSpPr>
        <p:spPr>
          <a:xfrm>
            <a:off x="9121140" y="1463040"/>
            <a:ext cx="2491740" cy="566928"/>
          </a:xfrm>
          <a:prstGeom prst="roundRect">
            <a:avLst>
              <a:gd name="adj" fmla="val 16129"/>
            </a:avLst>
          </a:prstGeom>
          <a:solidFill>
            <a:srgbClr val="0F7B6C"/>
          </a:solidFill>
          <a:ln w="12700">
            <a:solidFill>
              <a:srgbClr val="0F7B6C"/>
            </a:solidFill>
            <a:prstDash val="solid"/>
          </a:ln>
        </p:spPr>
      </p:sp>
      <p:sp>
        <p:nvSpPr>
          <p:cNvPr id="14" name="flowText-87"/>
          <p:cNvSpPr txBox="1"/>
          <p:nvPr/>
        </p:nvSpPr>
        <p:spPr>
          <a:xfrm>
            <a:off x="9121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ScenarioCompare</a:t>
            </a:r>
            <a:endParaRPr lang="en-US" sz="1400" dirty="0"/>
          </a:p>
        </p:txBody>
      </p:sp>
      <p:sp>
        <p:nvSpPr>
          <p:cNvPr id="15" name="frame-88"/>
          <p:cNvSpPr/>
          <p:nvPr/>
        </p:nvSpPr>
        <p:spPr>
          <a:xfrm>
            <a:off x="493776" y="2322576"/>
            <a:ext cx="5596128" cy="2060731"/>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6" name="screenshot-89" descr="/home/user/CPAT-AI/cpat_excel/mitigation_copypaste/presentation/img/v62_06_definitions.png">    </p:cNvPr>
          <p:cNvPicPr>
            <a:picLocks noChangeAspect="1"/>
          </p:cNvPicPr>
          <p:nvPr/>
        </p:nvPicPr>
        <p:blipFill>
          <a:blip r:embed="rId1"/>
          <a:stretch>
            <a:fillRect/>
          </a:stretch>
        </p:blipFill>
        <p:spPr>
          <a:xfrm>
            <a:off x="548640" y="2377440"/>
            <a:ext cx="5486400" cy="1951003"/>
          </a:xfrm>
          <a:prstGeom prst="rect">
            <a:avLst/>
          </a:prstGeom>
        </p:spPr>
      </p:pic>
      <p:sp>
        <p:nvSpPr>
          <p:cNvPr id="17" name="caption-90"/>
          <p:cNvSpPr txBox="1"/>
          <p:nvPr/>
        </p:nvSpPr>
        <p:spPr>
          <a:xfrm>
            <a:off x="548640" y="4438171"/>
            <a:ext cx="5486400" cy="274320"/>
          </a:xfrm>
          <a:prstGeom prst="rect">
            <a:avLst/>
          </a:prstGeom>
          <a:noFill/>
          <a:ln/>
        </p:spPr>
        <p:txBody>
          <a:bodyPr wrap="square" lIns="0" tIns="0" rIns="0" bIns="0" rtlCol="0" anchor="ctr"/>
          <a:lstStyle/>
          <a:p>
            <a:pPr indent="0" marL="0">
              <a:buNone/>
            </a:pPr>
            <a:r>
              <a:rPr lang="en-US" sz="1200" i="1" dirty="0">
                <a:solidFill>
                  <a:srgbClr val="5C667A"/>
                </a:solidFill>
              </a:rPr>
              <a:t>MTInputs: one column per scenario, Run? = Yes</a:t>
            </a:r>
            <a:endParaRPr lang="en-US" sz="1200" dirty="0"/>
          </a:p>
        </p:txBody>
      </p:sp>
      <p:sp>
        <p:nvSpPr>
          <p:cNvPr id="18" name="frame-91"/>
          <p:cNvSpPr/>
          <p:nvPr/>
        </p:nvSpPr>
        <p:spPr>
          <a:xfrm>
            <a:off x="6254496" y="2322576"/>
            <a:ext cx="5413248" cy="209104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9" name="screenshot-92" descr="/home/user/CPAT-AI/cpat_excel/mitigation_copypaste/presentation/img/v62_05_compare.png">    </p:cNvPr>
          <p:cNvPicPr>
            <a:picLocks noChangeAspect="1"/>
          </p:cNvPicPr>
          <p:nvPr/>
        </p:nvPicPr>
        <p:blipFill>
          <a:blip r:embed="rId2"/>
          <a:stretch>
            <a:fillRect/>
          </a:stretch>
        </p:blipFill>
        <p:spPr>
          <a:xfrm>
            <a:off x="6309360" y="2377440"/>
            <a:ext cx="5303520" cy="1981315"/>
          </a:xfrm>
          <a:prstGeom prst="rect">
            <a:avLst/>
          </a:prstGeom>
        </p:spPr>
      </p:pic>
      <p:sp>
        <p:nvSpPr>
          <p:cNvPr id="20" name="caption-93"/>
          <p:cNvSpPr txBox="1"/>
          <p:nvPr/>
        </p:nvSpPr>
        <p:spPr>
          <a:xfrm>
            <a:off x="6309360" y="4468483"/>
            <a:ext cx="5303520" cy="274320"/>
          </a:xfrm>
          <a:prstGeom prst="rect">
            <a:avLst/>
          </a:prstGeom>
          <a:noFill/>
          <a:ln/>
        </p:spPr>
        <p:txBody>
          <a:bodyPr wrap="square" lIns="0" tIns="0" rIns="0" bIns="0" rtlCol="0" anchor="ctr"/>
          <a:lstStyle/>
          <a:p>
            <a:pPr indent="0" marL="0">
              <a:buNone/>
            </a:pPr>
            <a:r>
              <a:rPr lang="en-US" sz="1200" i="1" dirty="0">
                <a:solidFill>
                  <a:srgbClr val="5C667A"/>
                </a:solidFill>
              </a:rPr>
              <a:t>ScenarioCompare: levels in one year vs the baseline</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RESULTS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Policies cut CO2; the ETS price of Package B is still an estimate</a:t>
            </a:r>
            <a:endParaRPr lang="en-US" sz="3000" dirty="0"/>
          </a:p>
        </p:txBody>
      </p:sp>
      <p:graphicFrame>
        <p:nvGraphicFramePr>
          <p:cNvPr id="4" name="chart-94"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95" descr=""/>
          <p:cNvGraphicFramePr/>
          <p:nvPr/>
        </p:nvGraphicFramePr>
        <p:xfrm>
          <a:off x="6858000" y="1371600"/>
          <a:ext cx="4754880" cy="4480560"/>
        </p:xfrm>
        <a:graphic xmlns:a="http://schemas.openxmlformats.org/drawingml/2006/main">
          <a:graphicData uri="http://schemas.openxmlformats.org/drawingml/2006/chart">
            <c:chart xmlns:c="http://schemas.openxmlformats.org/drawingml/2006/chart" r:id="rId2"/>
          </a:graphicData>
        </a:graphic>
      </p:graphicFrame>
      <p:sp>
        <p:nvSpPr>
          <p:cNvPr id="6" name="caption-96"/>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2030 vs baseline: $20 -7%, Package A -16%, Package B -7%. Package B ETS price 2030: 77 $/tCO2 (quick estimate).</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POWER SECTOR · THE MODEL</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The legacy power model, its data from the legacy tabs</a:t>
            </a:r>
            <a:endParaRPr lang="en-US" sz="3000" dirty="0"/>
          </a:p>
        </p:txBody>
      </p:sp>
      <p:sp>
        <p:nvSpPr>
          <p:cNvPr id="4" name="flow-97"/>
          <p:cNvSpPr/>
          <p:nvPr/>
        </p:nvSpPr>
        <p:spPr>
          <a:xfrm>
            <a:off x="548640" y="1463040"/>
            <a:ext cx="1920240" cy="566928"/>
          </a:xfrm>
          <a:prstGeom prst="roundRect">
            <a:avLst>
              <a:gd name="adj" fmla="val 16129"/>
            </a:avLst>
          </a:prstGeom>
          <a:solidFill>
            <a:srgbClr val="1E2761"/>
          </a:solidFill>
          <a:ln w="12700">
            <a:solidFill>
              <a:srgbClr val="1E2761"/>
            </a:solidFill>
            <a:prstDash val="solid"/>
          </a:ln>
        </p:spPr>
      </p:sp>
      <p:sp>
        <p:nvSpPr>
          <p:cNvPr id="5" name="flowText-98"/>
          <p:cNvSpPr txBox="1"/>
          <p:nvPr/>
        </p:nvSpPr>
        <p:spPr>
          <a:xfrm>
            <a:off x="548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H. Demand</a:t>
            </a:r>
            <a:endParaRPr lang="en-US" sz="1400" dirty="0"/>
          </a:p>
        </p:txBody>
      </p:sp>
      <p:sp>
        <p:nvSpPr>
          <p:cNvPr id="6" name="flowArrow-99"/>
          <p:cNvSpPr/>
          <p:nvPr/>
        </p:nvSpPr>
        <p:spPr>
          <a:xfrm>
            <a:off x="2532888" y="1618488"/>
            <a:ext cx="237744" cy="256032"/>
          </a:xfrm>
          <a:prstGeom prst="rightArrow">
            <a:avLst/>
          </a:prstGeom>
          <a:solidFill>
            <a:srgbClr val="D4A24C"/>
          </a:solidFill>
          <a:ln w="12700">
            <a:solidFill>
              <a:srgbClr val="D4A24C"/>
            </a:solidFill>
            <a:prstDash val="solid"/>
          </a:ln>
        </p:spPr>
      </p:sp>
      <p:sp>
        <p:nvSpPr>
          <p:cNvPr id="7" name="flow-100"/>
          <p:cNvSpPr/>
          <p:nvPr/>
        </p:nvSpPr>
        <p:spPr>
          <a:xfrm>
            <a:off x="2834640" y="1463040"/>
            <a:ext cx="1920240" cy="566928"/>
          </a:xfrm>
          <a:prstGeom prst="roundRect">
            <a:avLst>
              <a:gd name="adj" fmla="val 16129"/>
            </a:avLst>
          </a:prstGeom>
          <a:solidFill>
            <a:srgbClr val="1E2761"/>
          </a:solidFill>
          <a:ln w="12700">
            <a:solidFill>
              <a:srgbClr val="1E2761"/>
            </a:solidFill>
            <a:prstDash val="solid"/>
          </a:ln>
        </p:spPr>
      </p:sp>
      <p:sp>
        <p:nvSpPr>
          <p:cNvPr id="8" name="flowText-101"/>
          <p:cNvSpPr txBox="1"/>
          <p:nvPr/>
        </p:nvSpPr>
        <p:spPr>
          <a:xfrm>
            <a:off x="2834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I. Dispatch</a:t>
            </a:r>
            <a:endParaRPr lang="en-US" sz="1400" dirty="0"/>
          </a:p>
        </p:txBody>
      </p:sp>
      <p:sp>
        <p:nvSpPr>
          <p:cNvPr id="9" name="flowArrow-102"/>
          <p:cNvSpPr/>
          <p:nvPr/>
        </p:nvSpPr>
        <p:spPr>
          <a:xfrm>
            <a:off x="4818888" y="1618488"/>
            <a:ext cx="237744" cy="256032"/>
          </a:xfrm>
          <a:prstGeom prst="rightArrow">
            <a:avLst/>
          </a:prstGeom>
          <a:solidFill>
            <a:srgbClr val="D4A24C"/>
          </a:solidFill>
          <a:ln w="12700">
            <a:solidFill>
              <a:srgbClr val="D4A24C"/>
            </a:solidFill>
            <a:prstDash val="solid"/>
          </a:ln>
        </p:spPr>
      </p:sp>
      <p:sp>
        <p:nvSpPr>
          <p:cNvPr id="10" name="flow-103"/>
          <p:cNvSpPr/>
          <p:nvPr/>
        </p:nvSpPr>
        <p:spPr>
          <a:xfrm>
            <a:off x="5120640" y="1463040"/>
            <a:ext cx="1920240" cy="566928"/>
          </a:xfrm>
          <a:prstGeom prst="roundRect">
            <a:avLst>
              <a:gd name="adj" fmla="val 16129"/>
            </a:avLst>
          </a:prstGeom>
          <a:solidFill>
            <a:srgbClr val="1E2761"/>
          </a:solidFill>
          <a:ln w="12700">
            <a:solidFill>
              <a:srgbClr val="1E2761"/>
            </a:solidFill>
            <a:prstDash val="solid"/>
          </a:ln>
        </p:spPr>
      </p:sp>
      <p:sp>
        <p:nvSpPr>
          <p:cNvPr id="11" name="flowText-104"/>
          <p:cNvSpPr txBox="1"/>
          <p:nvPr/>
        </p:nvSpPr>
        <p:spPr>
          <a:xfrm>
            <a:off x="5120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K. Capacity, retirement</a:t>
            </a:r>
            <a:endParaRPr lang="en-US" sz="1400" dirty="0"/>
          </a:p>
        </p:txBody>
      </p:sp>
      <p:sp>
        <p:nvSpPr>
          <p:cNvPr id="12" name="flowArrow-105"/>
          <p:cNvSpPr/>
          <p:nvPr/>
        </p:nvSpPr>
        <p:spPr>
          <a:xfrm>
            <a:off x="7104888" y="1618488"/>
            <a:ext cx="237744" cy="256032"/>
          </a:xfrm>
          <a:prstGeom prst="rightArrow">
            <a:avLst/>
          </a:prstGeom>
          <a:solidFill>
            <a:srgbClr val="D4A24C"/>
          </a:solidFill>
          <a:ln w="12700">
            <a:solidFill>
              <a:srgbClr val="D4A24C"/>
            </a:solidFill>
            <a:prstDash val="solid"/>
          </a:ln>
        </p:spPr>
      </p:sp>
      <p:sp>
        <p:nvSpPr>
          <p:cNvPr id="13" name="flow-106"/>
          <p:cNvSpPr/>
          <p:nvPr/>
        </p:nvSpPr>
        <p:spPr>
          <a:xfrm>
            <a:off x="7406640" y="1463040"/>
            <a:ext cx="1920240" cy="566928"/>
          </a:xfrm>
          <a:prstGeom prst="roundRect">
            <a:avLst>
              <a:gd name="adj" fmla="val 16129"/>
            </a:avLst>
          </a:prstGeom>
          <a:solidFill>
            <a:srgbClr val="1E2761"/>
          </a:solidFill>
          <a:ln w="12700">
            <a:solidFill>
              <a:srgbClr val="1E2761"/>
            </a:solidFill>
            <a:prstDash val="solid"/>
          </a:ln>
        </p:spPr>
      </p:sp>
      <p:sp>
        <p:nvSpPr>
          <p:cNvPr id="14" name="flowText-107"/>
          <p:cNvSpPr txBox="1"/>
          <p:nvPr/>
        </p:nvSpPr>
        <p:spPr>
          <a:xfrm>
            <a:off x="7406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L. Investment</a:t>
            </a:r>
            <a:endParaRPr lang="en-US" sz="1400" dirty="0"/>
          </a:p>
        </p:txBody>
      </p:sp>
      <p:sp>
        <p:nvSpPr>
          <p:cNvPr id="15" name="flowArrow-108"/>
          <p:cNvSpPr/>
          <p:nvPr/>
        </p:nvSpPr>
        <p:spPr>
          <a:xfrm>
            <a:off x="9390888" y="1618488"/>
            <a:ext cx="237744" cy="256032"/>
          </a:xfrm>
          <a:prstGeom prst="rightArrow">
            <a:avLst/>
          </a:prstGeom>
          <a:solidFill>
            <a:srgbClr val="D4A24C"/>
          </a:solidFill>
          <a:ln w="12700">
            <a:solidFill>
              <a:srgbClr val="D4A24C"/>
            </a:solidFill>
            <a:prstDash val="solid"/>
          </a:ln>
        </p:spPr>
      </p:sp>
      <p:sp>
        <p:nvSpPr>
          <p:cNvPr id="16" name="flow-109"/>
          <p:cNvSpPr/>
          <p:nvPr/>
        </p:nvSpPr>
        <p:spPr>
          <a:xfrm>
            <a:off x="9692640" y="1463040"/>
            <a:ext cx="1920240" cy="566928"/>
          </a:xfrm>
          <a:prstGeom prst="roundRect">
            <a:avLst>
              <a:gd name="adj" fmla="val 16129"/>
            </a:avLst>
          </a:prstGeom>
          <a:solidFill>
            <a:srgbClr val="1E2761"/>
          </a:solidFill>
          <a:ln w="12700">
            <a:solidFill>
              <a:srgbClr val="1E2761"/>
            </a:solidFill>
            <a:prstDash val="solid"/>
          </a:ln>
        </p:spPr>
      </p:sp>
      <p:sp>
        <p:nvSpPr>
          <p:cNvPr id="17" name="flowText-110"/>
          <p:cNvSpPr txBox="1"/>
          <p:nvPr/>
        </p:nvSpPr>
        <p:spPr>
          <a:xfrm>
            <a:off x="9692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G. Prices</a:t>
            </a:r>
            <a:endParaRPr lang="en-US" sz="1400" dirty="0"/>
          </a:p>
        </p:txBody>
      </p:sp>
      <p:graphicFrame>
        <p:nvGraphicFramePr>
          <p:cNvPr id="18" name="chart-111" descr=""/>
          <p:cNvGraphicFramePr/>
          <p:nvPr/>
        </p:nvGraphicFramePr>
        <p:xfrm>
          <a:off x="548640" y="2331720"/>
          <a:ext cx="5760720" cy="3749040"/>
        </p:xfrm>
        <a:graphic xmlns:a="http://schemas.openxmlformats.org/drawingml/2006/main">
          <a:graphicData uri="http://schemas.openxmlformats.org/drawingml/2006/chart">
            <c:chart xmlns:c="http://schemas.openxmlformats.org/drawingml/2006/chart" r:id="rId1"/>
          </a:graphicData>
        </a:graphic>
      </p:graphicFrame>
      <p:sp>
        <p:nvSpPr>
          <p:cNvPr id="19" name="card-112"/>
          <p:cNvSpPr/>
          <p:nvPr/>
        </p:nvSpPr>
        <p:spPr>
          <a:xfrm>
            <a:off x="6583680" y="2377440"/>
            <a:ext cx="5029200" cy="3520440"/>
          </a:xfrm>
          <a:prstGeom prst="rect">
            <a:avLst/>
          </a:prstGeom>
          <a:solidFill>
            <a:srgbClr val="F4F6FB"/>
          </a:solidFill>
          <a:ln w="12700">
            <a:solidFill>
              <a:srgbClr val="D5DAE3"/>
            </a:solidFill>
            <a:prstDash val="solid"/>
          </a:ln>
        </p:spPr>
      </p:sp>
      <p:sp>
        <p:nvSpPr>
          <p:cNvPr id="20" name="cardText-113"/>
          <p:cNvSpPr txBox="1"/>
          <p:nvPr/>
        </p:nvSpPr>
        <p:spPr>
          <a:xfrm>
            <a:off x="6748272" y="2487168"/>
            <a:ext cx="4700016" cy="3300984"/>
          </a:xfrm>
          <a:prstGeom prst="rect">
            <a:avLst/>
          </a:prstGeom>
          <a:noFill/>
          <a:ln/>
        </p:spPr>
        <p:txBody>
          <a:bodyPr wrap="square" lIns="0" tIns="0" rIns="0" bIns="0" rtlCol="0" anchor="t"/>
          <a:lstStyle/>
          <a:p>
            <a:pPr indent="0" marL="0">
              <a:buNone/>
            </a:pPr>
            <a:r>
              <a:rPr lang="en-US" sz="1100" b="1" spc="200" kern="0" dirty="0">
                <a:solidFill>
                  <a:srgbClr val="0F7B6C"/>
                </a:solidFill>
              </a:rPr>
              <a:t>SAME METHOD AS LEGACY</a:t>
            </a:r>
            <a:endParaRPr lang="en-US" sz="1100" dirty="0"/>
          </a:p>
          <a:p>
            <a:pPr marL="342900" indent="-342900">
              <a:buSzPct val="100000"/>
              <a:buChar char="•"/>
            </a:pPr>
            <a:r>
              <a:rPr lang="en-US" sz="1500" dirty="0">
                <a:solidFill>
                  <a:srgbClr val="1F1F2E"/>
                </a:solidFill>
              </a:rPr>
              <a:t>Power data computed from the legacy Power, CoC and GHGs tabs</a:t>
            </a:r>
            <a:endParaRPr lang="en-US" sz="1100" dirty="0"/>
          </a:p>
          <a:p>
            <a:pPr marL="342900" indent="-342900">
              <a:buSzPct val="100000"/>
              <a:buChar char="•"/>
            </a:pPr>
            <a:r>
              <a:rPr lang="en-US" sz="1500" dirty="0">
                <a:solidFill>
                  <a:srgbClr val="1F1F2E"/>
                </a:solidFill>
              </a:rPr>
              <a:t>Legacy bugs fixed: demand, capacity factors, hydro, WACC, sizing</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0F7B6C"/>
                </a:solidFill>
              </a:rPr>
              <a:t>IN THE RESULTS</a:t>
            </a:r>
            <a:endParaRPr lang="en-US" sz="1100" dirty="0"/>
          </a:p>
          <a:p>
            <a:pPr marL="342900" indent="-342900">
              <a:buSzPct val="100000"/>
              <a:buChar char="•"/>
            </a:pPr>
            <a:r>
              <a:rPr lang="en-US" sz="1500" dirty="0">
                <a:solidFill>
                  <a:srgbClr val="1F1F2E"/>
                </a:solidFill>
              </a:rPr>
              <a:t>Electricity demand as memo lines by sector</a:t>
            </a:r>
            <a:endParaRPr lang="en-US" sz="1100" dirty="0"/>
          </a:p>
          <a:p>
            <a:pPr marL="342900" indent="-342900">
              <a:buSzPct val="100000"/>
              <a:buChar char="•"/>
            </a:pPr>
            <a:r>
              <a:rPr lang="en-US" sz="1500" dirty="0">
                <a:solidFill>
                  <a:srgbClr val="1F1F2E"/>
                </a:solidFill>
              </a:rPr>
              <a:t>Power fuel use, revenue and CO2 in the totals</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POWER SECTOR · OPTIONS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Every legacy power input can change by scenario</a:t>
            </a:r>
            <a:endParaRPr lang="en-US" sz="3000" dirty="0"/>
          </a:p>
        </p:txBody>
      </p:sp>
      <p:sp>
        <p:nvSpPr>
          <p:cNvPr id="4" name="card-114"/>
          <p:cNvSpPr/>
          <p:nvPr/>
        </p:nvSpPr>
        <p:spPr>
          <a:xfrm>
            <a:off x="548640" y="1371600"/>
            <a:ext cx="5120640" cy="4526280"/>
          </a:xfrm>
          <a:prstGeom prst="rect">
            <a:avLst/>
          </a:prstGeom>
          <a:solidFill>
            <a:srgbClr val="EAF4F2"/>
          </a:solidFill>
          <a:ln w="12700">
            <a:solidFill>
              <a:srgbClr val="C7E3DE"/>
            </a:solidFill>
            <a:prstDash val="solid"/>
          </a:ln>
        </p:spPr>
      </p:sp>
      <p:sp>
        <p:nvSpPr>
          <p:cNvPr id="5" name="cardText-115"/>
          <p:cNvSpPr txBox="1"/>
          <p:nvPr/>
        </p:nvSpPr>
        <p:spPr>
          <a:xfrm>
            <a:off x="713232" y="1481328"/>
            <a:ext cx="4791456" cy="4306824"/>
          </a:xfrm>
          <a:prstGeom prst="rect">
            <a:avLst/>
          </a:prstGeom>
          <a:noFill/>
          <a:ln/>
        </p:spPr>
        <p:txBody>
          <a:bodyPr wrap="square" lIns="0" tIns="0" rIns="0" bIns="0" rtlCol="0" anchor="t"/>
          <a:lstStyle/>
          <a:p>
            <a:pPr indent="0" marL="0">
              <a:buNone/>
            </a:pPr>
            <a:r>
              <a:rPr lang="en-US" sz="1100" b="1" spc="200" kern="0" dirty="0">
                <a:solidFill>
                  <a:srgbClr val="0F7B6C"/>
                </a:solidFill>
              </a:rPr>
              <a:t>ENGINEER OPTIONS, AS LEGACY</a:t>
            </a:r>
            <a:endParaRPr lang="en-US" sz="1100" dirty="0"/>
          </a:p>
          <a:p>
            <a:pPr marL="342900" indent="-342900">
              <a:buSzPct val="100000"/>
              <a:buChar char="•"/>
            </a:pPr>
            <a:r>
              <a:rPr lang="en-US" sz="1500" dirty="0">
                <a:solidFill>
                  <a:srgbClr val="1F1F2E"/>
                </a:solidFill>
              </a:rPr>
              <a:t>Capacity factors, efficiency, WACC, lifetimes, scale-up and retirement</a:t>
            </a:r>
            <a:endParaRPr lang="en-US" sz="1100" dirty="0"/>
          </a:p>
          <a:p>
            <a:pPr marL="342900" indent="-342900">
              <a:buSzPct val="100000"/>
              <a:buChar char="•"/>
            </a:pPr>
            <a:r>
              <a:rPr lang="en-US" sz="1500" dirty="0">
                <a:solidFill>
                  <a:srgbClr val="1F1F2E"/>
                </a:solidFill>
              </a:rPr>
              <a:t>Gas capacity-factor cap; final deficit to gas</a:t>
            </a:r>
            <a:endParaRPr lang="en-US" sz="1100" dirty="0"/>
          </a:p>
          <a:p>
            <a:pPr marL="342900" indent="-342900">
              <a:buSzPct val="100000"/>
              <a:buChar char="•"/>
            </a:pPr>
            <a:r>
              <a:rPr lang="en-US" sz="1500" dirty="0">
                <a:solidFill>
                  <a:srgbClr val="1F1F2E"/>
                </a:solidFill>
              </a:rPr>
              <a:t>Long-term storage for high VRE shares</a:t>
            </a:r>
            <a:endParaRPr lang="en-US" sz="1100" dirty="0"/>
          </a:p>
          <a:p>
            <a:pPr marL="342900" indent="-342900">
              <a:buSzPct val="100000"/>
              <a:buChar char="•"/>
            </a:pPr>
            <a:r>
              <a:rPr lang="en-US" sz="1500" dirty="0">
                <a:solidFill>
                  <a:srgbClr val="1F1F2E"/>
                </a:solidFill>
              </a:rPr>
              <a:t>Manual capacity and investment</a:t>
            </a:r>
            <a:endParaRPr lang="en-US" sz="1100" dirty="0"/>
          </a:p>
          <a:p>
            <a:pPr marL="342900" indent="-342900">
              <a:buSzPct val="100000"/>
              <a:buChar char="•"/>
            </a:pPr>
            <a:r>
              <a:rPr lang="en-US" sz="1500" dirty="0">
                <a:solidFill>
                  <a:srgbClr val="1F1F2E"/>
                </a:solidFill>
              </a:rPr>
              <a:t>Coal implicit cost (GoalSeekCoal tab)</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0F7B6C"/>
                </a:solidFill>
              </a:rPr>
              <a:t>POWER POLICIES</a:t>
            </a:r>
            <a:endParaRPr lang="en-US" sz="1100" dirty="0"/>
          </a:p>
          <a:p>
            <a:pPr marL="342900" indent="-342900">
              <a:buSzPct val="100000"/>
              <a:buChar char="•"/>
            </a:pPr>
            <a:r>
              <a:rPr lang="en-US" sz="1500" dirty="0">
                <a:solidFill>
                  <a:srgbClr val="1F1F2E"/>
                </a:solidFill>
              </a:rPr>
              <a:t>PPAs for coal and gas; renewable subsidies</a:t>
            </a:r>
            <a:endParaRPr lang="en-US" sz="1100" dirty="0"/>
          </a:p>
          <a:p>
            <a:pPr marL="342900" indent="-342900">
              <a:buSzPct val="100000"/>
              <a:buChar char="•"/>
            </a:pPr>
            <a:r>
              <a:rPr lang="en-US" sz="1500" dirty="0">
                <a:solidFill>
                  <a:srgbClr val="1F1F2E"/>
                </a:solidFill>
              </a:rPr>
              <a:t>Electricity excise, revenue rebate, price floor</a:t>
            </a:r>
            <a:endParaRPr lang="en-US" sz="1100" dirty="0"/>
          </a:p>
        </p:txBody>
      </p:sp>
      <p:sp>
        <p:nvSpPr>
          <p:cNvPr id="6" name="frame-116"/>
          <p:cNvSpPr/>
          <p:nvPr/>
        </p:nvSpPr>
        <p:spPr>
          <a:xfrm>
            <a:off x="5888736" y="1316736"/>
            <a:ext cx="5779008" cy="2146441"/>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7" name="screenshot-117" descr="/home/user/CPAT-AI/cpat_excel/mitigation_copypaste/presentation/img/v62_03_power.png">    </p:cNvPr>
          <p:cNvPicPr>
            <a:picLocks noChangeAspect="1"/>
          </p:cNvPicPr>
          <p:nvPr/>
        </p:nvPicPr>
        <p:blipFill>
          <a:blip r:embed="rId1"/>
          <a:stretch>
            <a:fillRect/>
          </a:stretch>
        </p:blipFill>
        <p:spPr>
          <a:xfrm>
            <a:off x="5943600" y="1371600"/>
            <a:ext cx="5669280" cy="2036713"/>
          </a:xfrm>
          <a:prstGeom prst="rect">
            <a:avLst/>
          </a:prstGeom>
        </p:spPr>
      </p:pic>
      <p:sp>
        <p:nvSpPr>
          <p:cNvPr id="8" name="caption-118"/>
          <p:cNvSpPr txBox="1"/>
          <p:nvPr/>
        </p:nvSpPr>
        <p:spPr>
          <a:xfrm>
            <a:off x="5943600" y="3518041"/>
            <a:ext cx="5669280" cy="274320"/>
          </a:xfrm>
          <a:prstGeom prst="rect">
            <a:avLst/>
          </a:prstGeom>
          <a:noFill/>
          <a:ln/>
        </p:spPr>
        <p:txBody>
          <a:bodyPr wrap="square" lIns="0" tIns="0" rIns="0" bIns="0" rtlCol="0" anchor="ctr"/>
          <a:lstStyle/>
          <a:p>
            <a:pPr indent="0" marL="0">
              <a:buNone/>
            </a:pPr>
            <a:r>
              <a:rPr lang="en-US" sz="1200" i="1" dirty="0">
                <a:solidFill>
                  <a:srgbClr val="5C667A"/>
                </a:solidFill>
              </a:rPr>
              <a:t>Section 3, baseline: generation, VRE share, capacity, investment, prices</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ROAD TRANSPORT</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Engineer road model as an option, 17 legacy bugs fixed</a:t>
            </a:r>
            <a:endParaRPr lang="en-US" sz="3000" dirty="0"/>
          </a:p>
        </p:txBody>
      </p:sp>
      <p:sp>
        <p:nvSpPr>
          <p:cNvPr id="4" name="flow-119"/>
          <p:cNvSpPr/>
          <p:nvPr/>
        </p:nvSpPr>
        <p:spPr>
          <a:xfrm>
            <a:off x="548640" y="1463040"/>
            <a:ext cx="1539240" cy="566928"/>
          </a:xfrm>
          <a:prstGeom prst="roundRect">
            <a:avLst>
              <a:gd name="adj" fmla="val 16129"/>
            </a:avLst>
          </a:prstGeom>
          <a:solidFill>
            <a:srgbClr val="1E2761"/>
          </a:solidFill>
          <a:ln w="12700">
            <a:solidFill>
              <a:srgbClr val="1E2761"/>
            </a:solidFill>
            <a:prstDash val="solid"/>
          </a:ln>
        </p:spPr>
      </p:sp>
      <p:sp>
        <p:nvSpPr>
          <p:cNvPr id="5" name="flowText-120"/>
          <p:cNvSpPr txBox="1"/>
          <p:nvPr/>
        </p:nvSpPr>
        <p:spPr>
          <a:xfrm>
            <a:off x="548640" y="146304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Ownership</a:t>
            </a:r>
            <a:endParaRPr lang="en-US" sz="1400" dirty="0"/>
          </a:p>
        </p:txBody>
      </p:sp>
      <p:sp>
        <p:nvSpPr>
          <p:cNvPr id="6" name="flowArrow-121"/>
          <p:cNvSpPr/>
          <p:nvPr/>
        </p:nvSpPr>
        <p:spPr>
          <a:xfrm>
            <a:off x="2151888" y="1618488"/>
            <a:ext cx="237744" cy="256032"/>
          </a:xfrm>
          <a:prstGeom prst="rightArrow">
            <a:avLst/>
          </a:prstGeom>
          <a:solidFill>
            <a:srgbClr val="D4A24C"/>
          </a:solidFill>
          <a:ln w="12700">
            <a:solidFill>
              <a:srgbClr val="D4A24C"/>
            </a:solidFill>
            <a:prstDash val="solid"/>
          </a:ln>
        </p:spPr>
      </p:sp>
      <p:sp>
        <p:nvSpPr>
          <p:cNvPr id="7" name="flow-122"/>
          <p:cNvSpPr/>
          <p:nvPr/>
        </p:nvSpPr>
        <p:spPr>
          <a:xfrm>
            <a:off x="2453640" y="1463040"/>
            <a:ext cx="1539240" cy="566928"/>
          </a:xfrm>
          <a:prstGeom prst="roundRect">
            <a:avLst>
              <a:gd name="adj" fmla="val 16129"/>
            </a:avLst>
          </a:prstGeom>
          <a:solidFill>
            <a:srgbClr val="1E2761"/>
          </a:solidFill>
          <a:ln w="12700">
            <a:solidFill>
              <a:srgbClr val="1E2761"/>
            </a:solidFill>
            <a:prstDash val="solid"/>
          </a:ln>
        </p:spPr>
      </p:sp>
      <p:sp>
        <p:nvSpPr>
          <p:cNvPr id="8" name="flowText-123"/>
          <p:cNvSpPr txBox="1"/>
          <p:nvPr/>
        </p:nvSpPr>
        <p:spPr>
          <a:xfrm>
            <a:off x="2453640" y="146304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Stock</a:t>
            </a:r>
            <a:endParaRPr lang="en-US" sz="1400" dirty="0"/>
          </a:p>
        </p:txBody>
      </p:sp>
      <p:sp>
        <p:nvSpPr>
          <p:cNvPr id="9" name="flowArrow-124"/>
          <p:cNvSpPr/>
          <p:nvPr/>
        </p:nvSpPr>
        <p:spPr>
          <a:xfrm>
            <a:off x="4056888" y="1618488"/>
            <a:ext cx="237744" cy="256032"/>
          </a:xfrm>
          <a:prstGeom prst="rightArrow">
            <a:avLst/>
          </a:prstGeom>
          <a:solidFill>
            <a:srgbClr val="D4A24C"/>
          </a:solidFill>
          <a:ln w="12700">
            <a:solidFill>
              <a:srgbClr val="D4A24C"/>
            </a:solidFill>
            <a:prstDash val="solid"/>
          </a:ln>
        </p:spPr>
      </p:sp>
      <p:sp>
        <p:nvSpPr>
          <p:cNvPr id="10" name="flow-125"/>
          <p:cNvSpPr/>
          <p:nvPr/>
        </p:nvSpPr>
        <p:spPr>
          <a:xfrm>
            <a:off x="4358640" y="1463040"/>
            <a:ext cx="1539240" cy="566928"/>
          </a:xfrm>
          <a:prstGeom prst="roundRect">
            <a:avLst>
              <a:gd name="adj" fmla="val 16129"/>
            </a:avLst>
          </a:prstGeom>
          <a:solidFill>
            <a:srgbClr val="1E2761"/>
          </a:solidFill>
          <a:ln w="12700">
            <a:solidFill>
              <a:srgbClr val="1E2761"/>
            </a:solidFill>
            <a:prstDash val="solid"/>
          </a:ln>
        </p:spPr>
      </p:sp>
      <p:sp>
        <p:nvSpPr>
          <p:cNvPr id="11" name="flowText-126"/>
          <p:cNvSpPr txBox="1"/>
          <p:nvPr/>
        </p:nvSpPr>
        <p:spPr>
          <a:xfrm>
            <a:off x="4358640" y="146304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Cost of ownership</a:t>
            </a:r>
            <a:endParaRPr lang="en-US" sz="1400" dirty="0"/>
          </a:p>
        </p:txBody>
      </p:sp>
      <p:sp>
        <p:nvSpPr>
          <p:cNvPr id="12" name="flowArrow-127"/>
          <p:cNvSpPr/>
          <p:nvPr/>
        </p:nvSpPr>
        <p:spPr>
          <a:xfrm>
            <a:off x="5961888" y="1618488"/>
            <a:ext cx="237744" cy="256032"/>
          </a:xfrm>
          <a:prstGeom prst="rightArrow">
            <a:avLst/>
          </a:prstGeom>
          <a:solidFill>
            <a:srgbClr val="D4A24C"/>
          </a:solidFill>
          <a:ln w="12700">
            <a:solidFill>
              <a:srgbClr val="D4A24C"/>
            </a:solidFill>
            <a:prstDash val="solid"/>
          </a:ln>
        </p:spPr>
      </p:sp>
      <p:sp>
        <p:nvSpPr>
          <p:cNvPr id="13" name="flow-128"/>
          <p:cNvSpPr/>
          <p:nvPr/>
        </p:nvSpPr>
        <p:spPr>
          <a:xfrm>
            <a:off x="6263640" y="1463040"/>
            <a:ext cx="1539240" cy="566928"/>
          </a:xfrm>
          <a:prstGeom prst="roundRect">
            <a:avLst>
              <a:gd name="adj" fmla="val 16129"/>
            </a:avLst>
          </a:prstGeom>
          <a:solidFill>
            <a:srgbClr val="1E2761"/>
          </a:solidFill>
          <a:ln w="12700">
            <a:solidFill>
              <a:srgbClr val="1E2761"/>
            </a:solidFill>
            <a:prstDash val="solid"/>
          </a:ln>
        </p:spPr>
      </p:sp>
      <p:sp>
        <p:nvSpPr>
          <p:cNvPr id="14" name="flowText-129"/>
          <p:cNvSpPr txBox="1"/>
          <p:nvPr/>
        </p:nvSpPr>
        <p:spPr>
          <a:xfrm>
            <a:off x="6263640" y="146304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EV choice</a:t>
            </a:r>
            <a:endParaRPr lang="en-US" sz="1400" dirty="0"/>
          </a:p>
        </p:txBody>
      </p:sp>
      <p:sp>
        <p:nvSpPr>
          <p:cNvPr id="15" name="flowArrow-130"/>
          <p:cNvSpPr/>
          <p:nvPr/>
        </p:nvSpPr>
        <p:spPr>
          <a:xfrm>
            <a:off x="7866888" y="1618488"/>
            <a:ext cx="237744" cy="256032"/>
          </a:xfrm>
          <a:prstGeom prst="rightArrow">
            <a:avLst/>
          </a:prstGeom>
          <a:solidFill>
            <a:srgbClr val="D4A24C"/>
          </a:solidFill>
          <a:ln w="12700">
            <a:solidFill>
              <a:srgbClr val="D4A24C"/>
            </a:solidFill>
            <a:prstDash val="solid"/>
          </a:ln>
        </p:spPr>
      </p:sp>
      <p:sp>
        <p:nvSpPr>
          <p:cNvPr id="16" name="flow-131"/>
          <p:cNvSpPr/>
          <p:nvPr/>
        </p:nvSpPr>
        <p:spPr>
          <a:xfrm>
            <a:off x="8168640" y="1463040"/>
            <a:ext cx="1539240" cy="566928"/>
          </a:xfrm>
          <a:prstGeom prst="roundRect">
            <a:avLst>
              <a:gd name="adj" fmla="val 16129"/>
            </a:avLst>
          </a:prstGeom>
          <a:solidFill>
            <a:srgbClr val="1E2761"/>
          </a:solidFill>
          <a:ln w="12700">
            <a:solidFill>
              <a:srgbClr val="1E2761"/>
            </a:solidFill>
            <a:prstDash val="solid"/>
          </a:ln>
        </p:spPr>
      </p:sp>
      <p:sp>
        <p:nvSpPr>
          <p:cNvPr id="17" name="flowText-132"/>
          <p:cNvSpPr txBox="1"/>
          <p:nvPr/>
        </p:nvSpPr>
        <p:spPr>
          <a:xfrm>
            <a:off x="8168640" y="146304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Fuel economy, distance</a:t>
            </a:r>
            <a:endParaRPr lang="en-US" sz="1400" dirty="0"/>
          </a:p>
        </p:txBody>
      </p:sp>
      <p:sp>
        <p:nvSpPr>
          <p:cNvPr id="18" name="flowArrow-133"/>
          <p:cNvSpPr/>
          <p:nvPr/>
        </p:nvSpPr>
        <p:spPr>
          <a:xfrm>
            <a:off x="9771888" y="1618488"/>
            <a:ext cx="237744" cy="256032"/>
          </a:xfrm>
          <a:prstGeom prst="rightArrow">
            <a:avLst/>
          </a:prstGeom>
          <a:solidFill>
            <a:srgbClr val="D4A24C"/>
          </a:solidFill>
          <a:ln w="12700">
            <a:solidFill>
              <a:srgbClr val="D4A24C"/>
            </a:solidFill>
            <a:prstDash val="solid"/>
          </a:ln>
        </p:spPr>
      </p:sp>
      <p:sp>
        <p:nvSpPr>
          <p:cNvPr id="19" name="flow-134"/>
          <p:cNvSpPr/>
          <p:nvPr/>
        </p:nvSpPr>
        <p:spPr>
          <a:xfrm>
            <a:off x="10073640" y="1463040"/>
            <a:ext cx="1539240" cy="566928"/>
          </a:xfrm>
          <a:prstGeom prst="roundRect">
            <a:avLst>
              <a:gd name="adj" fmla="val 16129"/>
            </a:avLst>
          </a:prstGeom>
          <a:solidFill>
            <a:srgbClr val="1E2761"/>
          </a:solidFill>
          <a:ln w="12700">
            <a:solidFill>
              <a:srgbClr val="1E2761"/>
            </a:solidFill>
            <a:prstDash val="solid"/>
          </a:ln>
        </p:spPr>
      </p:sp>
      <p:sp>
        <p:nvSpPr>
          <p:cNvPr id="20" name="flowText-135"/>
          <p:cNvSpPr txBox="1"/>
          <p:nvPr/>
        </p:nvSpPr>
        <p:spPr>
          <a:xfrm>
            <a:off x="10073640" y="146304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Fuel use</a:t>
            </a:r>
            <a:endParaRPr lang="en-US" sz="1400" dirty="0"/>
          </a:p>
        </p:txBody>
      </p:sp>
      <p:graphicFrame>
        <p:nvGraphicFramePr>
          <p:cNvPr id="21" name="chart-136" descr=""/>
          <p:cNvGraphicFramePr/>
          <p:nvPr/>
        </p:nvGraphicFramePr>
        <p:xfrm>
          <a:off x="548640" y="2331720"/>
          <a:ext cx="5760720" cy="3749040"/>
        </p:xfrm>
        <a:graphic xmlns:a="http://schemas.openxmlformats.org/drawingml/2006/main">
          <a:graphicData uri="http://schemas.openxmlformats.org/drawingml/2006/chart">
            <c:chart xmlns:c="http://schemas.openxmlformats.org/drawingml/2006/chart" r:id="rId1"/>
          </a:graphicData>
        </a:graphic>
      </p:graphicFrame>
      <p:sp>
        <p:nvSpPr>
          <p:cNvPr id="22" name="card-137"/>
          <p:cNvSpPr/>
          <p:nvPr/>
        </p:nvSpPr>
        <p:spPr>
          <a:xfrm>
            <a:off x="6583680" y="2377440"/>
            <a:ext cx="5029200" cy="3291840"/>
          </a:xfrm>
          <a:prstGeom prst="rect">
            <a:avLst/>
          </a:prstGeom>
          <a:solidFill>
            <a:srgbClr val="F4F6FB"/>
          </a:solidFill>
          <a:ln w="12700">
            <a:solidFill>
              <a:srgbClr val="D5DAE3"/>
            </a:solidFill>
            <a:prstDash val="solid"/>
          </a:ln>
        </p:spPr>
      </p:sp>
      <p:sp>
        <p:nvSpPr>
          <p:cNvPr id="23" name="cardText-138"/>
          <p:cNvSpPr txBox="1"/>
          <p:nvPr/>
        </p:nvSpPr>
        <p:spPr>
          <a:xfrm>
            <a:off x="6748272" y="2487168"/>
            <a:ext cx="4700016" cy="3072384"/>
          </a:xfrm>
          <a:prstGeom prst="rect">
            <a:avLst/>
          </a:prstGeom>
          <a:noFill/>
          <a:ln/>
        </p:spPr>
        <p:txBody>
          <a:bodyPr wrap="square" lIns="0" tIns="0" rIns="0" bIns="0" rtlCol="0" anchor="t"/>
          <a:lstStyle/>
          <a:p>
            <a:pPr indent="0" marL="0">
              <a:buNone/>
            </a:pPr>
            <a:r>
              <a:rPr lang="en-US" sz="1100" b="1" spc="200" kern="0" dirty="0">
                <a:solidFill>
                  <a:srgbClr val="0F7B6C"/>
                </a:solidFill>
              </a:rPr>
              <a:t>SAME METHOD AS LEGACY</a:t>
            </a:r>
            <a:endParaRPr lang="en-US" sz="1100" dirty="0"/>
          </a:p>
          <a:p>
            <a:pPr marL="342900" indent="-342900">
              <a:buSzPct val="100000"/>
              <a:buChar char="•"/>
            </a:pPr>
            <a:r>
              <a:rPr lang="en-US" sz="1500" dirty="0">
                <a:solidFill>
                  <a:srgbClr val="1F1F2E"/>
                </a:solidFill>
              </a:rPr>
              <a:t>Reproduces the cached legacy run (to 4e-14)</a:t>
            </a:r>
            <a:endParaRPr lang="en-US" sz="1100" dirty="0"/>
          </a:p>
          <a:p>
            <a:pPr marL="342900" indent="-342900">
              <a:buSzPct val="100000"/>
              <a:buChar char="•"/>
            </a:pPr>
            <a:r>
              <a:rPr lang="en-US" sz="1500" dirty="0">
                <a:solidFill>
                  <a:srgbClr val="1F1F2E"/>
                </a:solidFill>
              </a:rPr>
              <a:t>Fixes: ownership calibration two-sided, depreciation, buses; EV share of new cars 2035 21% -&gt; 9%</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Switch TrModel per scenario (default: elasticities, as Egypt)</a:t>
            </a:r>
            <a:endParaRPr lang="en-US" sz="1100" dirty="0"/>
          </a:p>
          <a:p>
            <a:pPr marL="342900" indent="-342900">
              <a:buSzPct val="100000"/>
              <a:buChar char="•"/>
            </a:pPr>
            <a:r>
              <a:rPr lang="en-US" sz="1500" dirty="0">
                <a:solidFill>
                  <a:srgbClr val="1F1F2E"/>
                </a:solidFill>
              </a:rPr>
              <a:t>Feebates, distance tax, EV subsidies, purchase taxes, charging subsidies</a:t>
            </a:r>
            <a:endParaRPr lang="en-US" sz="1100" dirty="0"/>
          </a:p>
        </p:txBody>
      </p:sp>
      <p:sp>
        <p:nvSpPr>
          <p:cNvPr id="24" name="caption-139"/>
          <p:cNvSpPr txBox="1"/>
          <p:nvPr/>
        </p:nvSpPr>
        <p:spPr>
          <a:xfrm>
            <a:off x="548640" y="6172200"/>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Bugs and decisions against legacy: Transport_vs_Legacy_v6_3.md; method: Transport_Method_v6_3.md.</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GHGS, NDC AND GDP</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All greenhouse gases, compared with the NDC target</a:t>
            </a:r>
            <a:endParaRPr lang="en-US" sz="3000" dirty="0"/>
          </a:p>
        </p:txBody>
      </p:sp>
      <p:graphicFrame>
        <p:nvGraphicFramePr>
          <p:cNvPr id="4" name="chart-140" descr=""/>
          <p:cNvGraphicFramePr/>
          <p:nvPr/>
        </p:nvGraphicFramePr>
        <p:xfrm>
          <a:off x="548640" y="1371600"/>
          <a:ext cx="5760720" cy="4526280"/>
        </p:xfrm>
        <a:graphic xmlns:a="http://schemas.openxmlformats.org/drawingml/2006/main">
          <a:graphicData uri="http://schemas.openxmlformats.org/drawingml/2006/chart">
            <c:chart xmlns:c="http://schemas.openxmlformats.org/drawingml/2006/chart" r:id="rId1"/>
          </a:graphicData>
        </a:graphic>
      </p:graphicFrame>
      <p:sp>
        <p:nvSpPr>
          <p:cNvPr id="5" name="stat-141"/>
          <p:cNvSpPr txBox="1"/>
          <p:nvPr/>
        </p:nvSpPr>
        <p:spPr>
          <a:xfrm>
            <a:off x="6583680" y="1417320"/>
            <a:ext cx="2377440" cy="1371600"/>
          </a:xfrm>
          <a:prstGeom prst="rect">
            <a:avLst/>
          </a:prstGeom>
          <a:noFill/>
          <a:ln/>
        </p:spPr>
        <p:txBody>
          <a:bodyPr wrap="square" lIns="0" tIns="0" rIns="0" bIns="0" rtlCol="0" anchor="t"/>
          <a:lstStyle/>
          <a:p>
            <a:pPr indent="0" marL="0">
              <a:buNone/>
            </a:pPr>
            <a:r>
              <a:rPr lang="en-US" sz="4000" b="1" dirty="0">
                <a:solidFill>
                  <a:srgbClr val="0F7B6C"/>
                </a:solidFill>
                <a:latin typeface="Cambria" pitchFamily="34" charset="0"/>
                <a:ea typeface="Cambria" pitchFamily="34" charset="-122"/>
                <a:cs typeface="Cambria" pitchFamily="34" charset="-120"/>
              </a:rPr>
              <a:t>44%</a:t>
            </a:r>
            <a:endParaRPr lang="en-US" sz="4000" dirty="0"/>
          </a:p>
          <a:p>
            <a:pPr indent="0" marL="0">
              <a:buNone/>
            </a:pPr>
            <a:r>
              <a:rPr lang="en-US" sz="1300" dirty="0">
                <a:solidFill>
                  <a:srgbClr val="5C667A"/>
                </a:solidFill>
              </a:rPr>
              <a:t>of the NDC reduction achieved by Package A in 2030 (BAU target, -27%)</a:t>
            </a:r>
            <a:endParaRPr lang="en-US" sz="4000" dirty="0"/>
          </a:p>
        </p:txBody>
      </p:sp>
      <p:sp>
        <p:nvSpPr>
          <p:cNvPr id="6" name="stat-142"/>
          <p:cNvSpPr txBox="1"/>
          <p:nvPr/>
        </p:nvSpPr>
        <p:spPr>
          <a:xfrm>
            <a:off x="9235440" y="1417320"/>
            <a:ext cx="237744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-12%</a:t>
            </a:r>
            <a:endParaRPr lang="en-US" sz="4000" dirty="0"/>
          </a:p>
          <a:p>
            <a:pPr indent="0" marL="0">
              <a:buNone/>
            </a:pPr>
            <a:r>
              <a:rPr lang="en-US" sz="1300" dirty="0">
                <a:solidFill>
                  <a:srgbClr val="5C667A"/>
                </a:solidFill>
              </a:rPr>
              <a:t>GHGs in 2030, Package A against the baseline</a:t>
            </a:r>
            <a:endParaRPr lang="en-US" sz="4000" dirty="0"/>
          </a:p>
        </p:txBody>
      </p:sp>
      <p:sp>
        <p:nvSpPr>
          <p:cNvPr id="7" name="card-143"/>
          <p:cNvSpPr/>
          <p:nvPr/>
        </p:nvSpPr>
        <p:spPr>
          <a:xfrm>
            <a:off x="6583680" y="3063240"/>
            <a:ext cx="5029200" cy="2834640"/>
          </a:xfrm>
          <a:prstGeom prst="rect">
            <a:avLst/>
          </a:prstGeom>
          <a:solidFill>
            <a:srgbClr val="F4F6FB"/>
          </a:solidFill>
          <a:ln w="12700">
            <a:solidFill>
              <a:srgbClr val="D5DAE3"/>
            </a:solidFill>
            <a:prstDash val="solid"/>
          </a:ln>
        </p:spPr>
      </p:sp>
      <p:sp>
        <p:nvSpPr>
          <p:cNvPr id="8" name="cardText-144"/>
          <p:cNvSpPr txBox="1"/>
          <p:nvPr/>
        </p:nvSpPr>
        <p:spPr>
          <a:xfrm>
            <a:off x="6748272" y="3172968"/>
            <a:ext cx="4700016" cy="2615184"/>
          </a:xfrm>
          <a:prstGeom prst="rect">
            <a:avLst/>
          </a:prstGeom>
          <a:noFill/>
          <a:ln/>
        </p:spPr>
        <p:txBody>
          <a:bodyPr wrap="square" lIns="0" tIns="0" rIns="0" bIns="0" rtlCol="0" anchor="t"/>
          <a:lstStyle/>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Methane by source; methane fee in revenue and in the fiscal space</a:t>
            </a:r>
            <a:endParaRPr lang="en-US" sz="1100" dirty="0"/>
          </a:p>
          <a:p>
            <a:pPr marL="342900" indent="-342900">
              <a:buSzPct val="100000"/>
              <a:buChar char="•"/>
            </a:pPr>
            <a:r>
              <a:rPr lang="en-US" sz="1500" dirty="0">
                <a:solidFill>
                  <a:srgbClr val="1F1F2E"/>
                </a:solidFill>
              </a:rPr>
              <a:t>Producer methane follows world demand, as legacy</a:t>
            </a:r>
            <a:endParaRPr lang="en-US" sz="1100" dirty="0"/>
          </a:p>
          <a:p>
            <a:pPr marL="342900" indent="-342900">
              <a:buSzPct val="100000"/>
              <a:buChar char="•"/>
            </a:pPr>
            <a:r>
              <a:rPr lang="en-US" sz="1500" dirty="0">
                <a:solidFill>
                  <a:srgbClr val="1F1F2E"/>
                </a:solidFill>
              </a:rPr>
              <a:t>NDC comparison: five NDC types, conditional or not</a:t>
            </a:r>
            <a:endParaRPr lang="en-US" sz="1100" dirty="0"/>
          </a:p>
          <a:p>
            <a:pPr marL="342900" indent="-342900">
              <a:buSzPct val="100000"/>
              <a:buChar char="•"/>
            </a:pPr>
            <a:r>
              <a:rPr lang="en-US" sz="1500" dirty="0">
                <a:solidFill>
                  <a:srgbClr val="1F1F2E"/>
                </a:solidFill>
              </a:rPr>
              <a:t>GDP effect of the revenue use, by use and by year</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DISTRIBUTION</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Who pays, by decile, and how recycling changes it</a:t>
            </a:r>
            <a:endParaRPr lang="en-US" sz="3000" dirty="0"/>
          </a:p>
        </p:txBody>
      </p:sp>
      <p:graphicFrame>
        <p:nvGraphicFramePr>
          <p:cNvPr id="4" name="chart-145" descr=""/>
          <p:cNvGraphicFramePr/>
          <p:nvPr/>
        </p:nvGraphicFramePr>
        <p:xfrm>
          <a:off x="548640" y="1371600"/>
          <a:ext cx="5760720" cy="4526280"/>
        </p:xfrm>
        <a:graphic xmlns:a="http://schemas.openxmlformats.org/drawingml/2006/main">
          <a:graphicData uri="http://schemas.openxmlformats.org/drawingml/2006/chart">
            <c:chart xmlns:c="http://schemas.openxmlformats.org/drawingml/2006/chart" r:id="rId1"/>
          </a:graphicData>
        </a:graphic>
      </p:graphicFrame>
      <p:sp>
        <p:nvSpPr>
          <p:cNvPr id="5" name="card-146"/>
          <p:cNvSpPr/>
          <p:nvPr/>
        </p:nvSpPr>
        <p:spPr>
          <a:xfrm>
            <a:off x="6583680" y="1371600"/>
            <a:ext cx="5029200" cy="4526280"/>
          </a:xfrm>
          <a:prstGeom prst="rect">
            <a:avLst/>
          </a:prstGeom>
          <a:solidFill>
            <a:srgbClr val="EAF4F2"/>
          </a:solidFill>
          <a:ln w="12700">
            <a:solidFill>
              <a:srgbClr val="C7E3DE"/>
            </a:solidFill>
            <a:prstDash val="solid"/>
          </a:ln>
        </p:spPr>
      </p:sp>
      <p:sp>
        <p:nvSpPr>
          <p:cNvPr id="6" name="cardText-147"/>
          <p:cNvSpPr txBox="1"/>
          <p:nvPr/>
        </p:nvSpPr>
        <p:spPr>
          <a:xfrm>
            <a:off x="6748272" y="1481328"/>
            <a:ext cx="4700016" cy="4306824"/>
          </a:xfrm>
          <a:prstGeom prst="rect">
            <a:avLst/>
          </a:prstGeom>
          <a:noFill/>
          <a:ln/>
        </p:spPr>
        <p:txBody>
          <a:bodyPr wrap="square" lIns="0" tIns="0" rIns="0" bIns="0" rtlCol="0" anchor="t"/>
          <a:lstStyle/>
          <a:p>
            <a:pPr indent="0" marL="0">
              <a:buNone/>
            </a:pPr>
            <a:r>
              <a:rPr lang="en-US" sz="1100" b="1" spc="200" kern="0" dirty="0">
                <a:solidFill>
                  <a:srgbClr val="0F7B6C"/>
                </a:solidFill>
              </a:rPr>
              <a:t>THE LEGACY CHAIN, IN ONE TAB</a:t>
            </a:r>
            <a:endParaRPr lang="en-US" sz="1100" dirty="0"/>
          </a:p>
          <a:p>
            <a:pPr marL="342900" indent="-342900">
              <a:buSzPct val="100000"/>
              <a:buChar char="•"/>
            </a:pPr>
            <a:r>
              <a:rPr lang="en-US" sz="1500" dirty="0">
                <a:solidFill>
                  <a:srgbClr val="1F1F2E"/>
                </a:solidFill>
              </a:rPr>
              <a:t>Direct and indirect price effects (GTAP input-output)</a:t>
            </a:r>
            <a:endParaRPr lang="en-US" sz="1100" dirty="0"/>
          </a:p>
          <a:p>
            <a:pPr marL="342900" indent="-342900">
              <a:buSzPct val="100000"/>
              <a:buChar char="•"/>
            </a:pPr>
            <a:r>
              <a:rPr lang="en-US" sz="1500" dirty="0">
                <a:solidFill>
                  <a:srgbClr val="1F1F2E"/>
                </a:solidFill>
              </a:rPr>
              <a:t>Revenue recycling: tax cuts, investment, spending, transfers</a:t>
            </a:r>
            <a:endParaRPr lang="en-US" sz="1100" dirty="0"/>
          </a:p>
          <a:p>
            <a:pPr marL="342900" indent="-342900">
              <a:buSzPct val="100000"/>
              <a:buChar char="•"/>
            </a:pPr>
            <a:r>
              <a:rPr lang="en-US" sz="1500" dirty="0">
                <a:solidFill>
                  <a:srgbClr val="1F1F2E"/>
                </a:solidFill>
              </a:rPr>
              <a:t>ASPIRE and poverty-line transfers; compensation</a:t>
            </a:r>
            <a:endParaRPr lang="en-US" sz="1100" dirty="0"/>
          </a:p>
          <a:p>
            <a:pPr marL="342900" indent="-342900">
              <a:buSzPct val="100000"/>
              <a:buChar char="•"/>
            </a:pPr>
            <a:r>
              <a:rPr lang="en-US" sz="1500" dirty="0">
                <a:solidFill>
                  <a:srgbClr val="1F1F2E"/>
                </a:solidFill>
              </a:rPr>
              <a:t>Gini, Lorenz curves, urban and rural, top-20 sectors</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0F7B6C"/>
                </a:solidFill>
              </a:rPr>
              <a:t>CHECKED</a:t>
            </a:r>
            <a:endParaRPr lang="en-US" sz="1100" dirty="0"/>
          </a:p>
          <a:p>
            <a:pPr marL="342900" indent="-342900">
              <a:buSzPct val="100000"/>
              <a:buChar char="•"/>
            </a:pPr>
            <a:r>
              <a:rPr lang="en-US" sz="1500" dirty="0">
                <a:solidFill>
                  <a:srgbClr val="1F1F2E"/>
                </a:solidFill>
              </a:rPr>
              <a:t>Legacy distribution bugs fixed (D10-D31)</a:t>
            </a:r>
            <a:endParaRPr lang="en-US" sz="1100" dirty="0"/>
          </a:p>
          <a:p>
            <a:pPr marL="342900" indent="-342900">
              <a:buSzPct val="100000"/>
              <a:buChar char="•"/>
            </a:pPr>
            <a:r>
              <a:rPr lang="en-US" sz="1500" dirty="0">
                <a:solidFill>
                  <a:srgbClr val="1F1F2E"/>
                </a:solidFill>
              </a:rPr>
              <a:t>Equal to a Python reference (505 values)</a:t>
            </a:r>
            <a:endParaRPr lang="en-US" sz="1100" dirty="0"/>
          </a:p>
        </p:txBody>
      </p:sp>
      <p:sp>
        <p:nvSpPr>
          <p:cNvPr id="7" name="caption-148"/>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Deciles across, one analysis year (MTInputs YearDistn); scenario groups as on the Mitigation tab.</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RESULTS SECTIONS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Legacy's post-processing, rebuilt inside each scenario</a:t>
            </a:r>
            <a:endParaRPr lang="en-US" sz="3000" dirty="0"/>
          </a:p>
        </p:txBody>
      </p:sp>
      <p:sp>
        <p:nvSpPr>
          <p:cNvPr id="4" name="card-149"/>
          <p:cNvSpPr/>
          <p:nvPr/>
        </p:nvSpPr>
        <p:spPr>
          <a:xfrm>
            <a:off x="548640" y="1371600"/>
            <a:ext cx="6035040" cy="4526280"/>
          </a:xfrm>
          <a:prstGeom prst="rect">
            <a:avLst/>
          </a:prstGeom>
          <a:solidFill>
            <a:srgbClr val="F4F6FB"/>
          </a:solidFill>
          <a:ln w="12700">
            <a:solidFill>
              <a:srgbClr val="D5DAE3"/>
            </a:solidFill>
            <a:prstDash val="solid"/>
          </a:ln>
        </p:spPr>
      </p:sp>
      <p:sp>
        <p:nvSpPr>
          <p:cNvPr id="5" name="cardText-150"/>
          <p:cNvSpPr txBox="1"/>
          <p:nvPr/>
        </p:nvSpPr>
        <p:spPr>
          <a:xfrm>
            <a:off x="713232" y="1481328"/>
            <a:ext cx="5705856" cy="4306824"/>
          </a:xfrm>
          <a:prstGeom prst="rect">
            <a:avLst/>
          </a:prstGeom>
          <a:noFill/>
          <a:ln/>
        </p:spPr>
        <p:txBody>
          <a:bodyPr wrap="square" lIns="0" tIns="0" rIns="0" bIns="0" rtlCol="0" anchor="t"/>
          <a:lstStyle/>
          <a:p>
            <a:pPr indent="0" marL="0">
              <a:buNone/>
            </a:pPr>
            <a:r>
              <a:rPr lang="en-US" sz="1100" b="1" spc="200" kern="0" dirty="0">
                <a:solidFill>
                  <a:srgbClr val="0F7B6C"/>
                </a:solidFill>
              </a:rPr>
              <a:t>ROWS IN EVERY SCENARIO BLOCK</a:t>
            </a:r>
            <a:endParaRPr lang="en-US" sz="1100" dirty="0"/>
          </a:p>
          <a:p>
            <a:pPr marL="342900" indent="-342900">
              <a:spcAft>
                <a:spcPts val="600"/>
              </a:spcAft>
              <a:buSzPct val="100000"/>
              <a:buChar char="•"/>
            </a:pPr>
            <a:r>
              <a:rPr lang="en-US" sz="1600" dirty="0">
                <a:solidFill>
                  <a:srgbClr val="1F1F2E"/>
                </a:solidFill>
              </a:rPr>
              <a:t>2: average prices and price indices</a:t>
            </a:r>
            <a:endParaRPr lang="en-US" sz="1100" dirty="0"/>
          </a:p>
          <a:p>
            <a:pPr marL="342900" indent="-342900">
              <a:spcAft>
                <a:spcPts val="600"/>
              </a:spcAft>
              <a:buSzPct val="100000"/>
              <a:buChar char="•"/>
            </a:pPr>
            <a:r>
              <a:rPr lang="en-US" sz="1600" dirty="0">
                <a:solidFill>
                  <a:srgbClr val="1F1F2E"/>
                </a:solidFill>
              </a:rPr>
              <a:t>11b, 13b, 14b: changes by fuel and sector; Kaya</a:t>
            </a:r>
            <a:endParaRPr lang="en-US" sz="1100" dirty="0"/>
          </a:p>
          <a:p>
            <a:pPr marL="342900" indent="-342900">
              <a:spcAft>
                <a:spcPts val="600"/>
              </a:spcAft>
              <a:buSzPct val="100000"/>
              <a:buChar char="•"/>
            </a:pPr>
            <a:r>
              <a:rPr lang="en-US" sz="1600" dirty="0">
                <a:solidFill>
                  <a:srgbClr val="1F1F2E"/>
                </a:solidFill>
              </a:rPr>
              <a:t>12d, 12e: revenue by fuel and by policy, % of GDP</a:t>
            </a:r>
            <a:endParaRPr lang="en-US" sz="1100" dirty="0"/>
          </a:p>
          <a:p>
            <a:pPr marL="342900" indent="-342900">
              <a:spcAft>
                <a:spcPts val="600"/>
              </a:spcAft>
              <a:buSzPct val="100000"/>
              <a:buChar char="•"/>
            </a:pPr>
            <a:r>
              <a:rPr lang="en-US" sz="1600" dirty="0">
                <a:solidFill>
                  <a:srgbClr val="1F1F2E"/>
                </a:solidFill>
              </a:rPr>
              <a:t>14c: NDC comparison</a:t>
            </a:r>
            <a:endParaRPr lang="en-US" sz="1100" dirty="0"/>
          </a:p>
          <a:p>
            <a:pPr marL="342900" indent="-342900">
              <a:spcAft>
                <a:spcPts val="600"/>
              </a:spcAft>
              <a:buSzPct val="100000"/>
              <a:buChar char="•"/>
            </a:pPr>
            <a:r>
              <a:rPr lang="en-US" sz="1600" dirty="0">
                <a:solidFill>
                  <a:srgbClr val="1F1F2E"/>
                </a:solidFill>
              </a:rPr>
              <a:t>16, 16b: GDP effects; net energy imports</a:t>
            </a:r>
            <a:endParaRPr lang="en-US" sz="1100" dirty="0"/>
          </a:p>
          <a:p>
            <a:pPr marL="342900" indent="-342900">
              <a:spcAft>
                <a:spcPts val="600"/>
              </a:spcAft>
              <a:buSzPct val="100000"/>
              <a:buChar char="•"/>
            </a:pPr>
            <a:r>
              <a:rPr lang="en-US" sz="1600" dirty="0">
                <a:solidFill>
                  <a:srgbClr val="1F1F2E"/>
                </a:solidFill>
              </a:rPr>
              <a:t>17: implicit carbon price, effective rate, coverage</a:t>
            </a:r>
            <a:endParaRPr lang="en-US" sz="1100" dirty="0"/>
          </a:p>
          <a:p>
            <a:pPr marL="342900" indent="-342900">
              <a:spcAft>
                <a:spcPts val="600"/>
              </a:spcAft>
              <a:buSzPct val="100000"/>
              <a:buChar char="•"/>
            </a:pPr>
            <a:r>
              <a:rPr lang="en-US" sz="1600" dirty="0">
                <a:solidFill>
                  <a:srgbClr val="1F1F2E"/>
                </a:solidFill>
              </a:rPr>
              <a:t>18: social cost of carbon, damages avoided, welfare</a:t>
            </a:r>
            <a:endParaRPr lang="en-US" sz="1100" dirty="0"/>
          </a:p>
        </p:txBody>
      </p:sp>
      <p:sp>
        <p:nvSpPr>
          <p:cNvPr id="6" name="card-151"/>
          <p:cNvSpPr/>
          <p:nvPr/>
        </p:nvSpPr>
        <p:spPr>
          <a:xfrm>
            <a:off x="6858000" y="1371600"/>
            <a:ext cx="4754880" cy="4526280"/>
          </a:xfrm>
          <a:prstGeom prst="rect">
            <a:avLst/>
          </a:prstGeom>
          <a:solidFill>
            <a:srgbClr val="EAF4F2"/>
          </a:solidFill>
          <a:ln w="12700">
            <a:solidFill>
              <a:srgbClr val="D5DAE3"/>
            </a:solidFill>
            <a:prstDash val="solid"/>
          </a:ln>
        </p:spPr>
      </p:sp>
      <p:sp>
        <p:nvSpPr>
          <p:cNvPr id="7" name="cardText-152"/>
          <p:cNvSpPr txBox="1"/>
          <p:nvPr/>
        </p:nvSpPr>
        <p:spPr>
          <a:xfrm>
            <a:off x="7022592" y="1481328"/>
            <a:ext cx="4425696" cy="4306824"/>
          </a:xfrm>
          <a:prstGeom prst="rect">
            <a:avLst/>
          </a:prstGeom>
          <a:noFill/>
          <a:ln/>
        </p:spPr>
        <p:txBody>
          <a:bodyPr wrap="square" lIns="0" tIns="0" rIns="0" bIns="0" rtlCol="0" anchor="t"/>
          <a:lstStyle/>
          <a:p>
            <a:pPr indent="0" marL="0">
              <a:buNone/>
            </a:pPr>
            <a:r>
              <a:rPr lang="en-US" sz="1100" b="1" spc="200" kern="0" dirty="0">
                <a:solidFill>
                  <a:srgbClr val="0F7B6C"/>
                </a:solidFill>
              </a:rPr>
              <a:t>EGYPT, CARBON PRICE $20 (SCENARIO 3)</a:t>
            </a:r>
            <a:endParaRPr lang="en-US" sz="1100" dirty="0"/>
          </a:p>
          <a:p>
            <a:pPr marL="342900" indent="-342900">
              <a:spcAft>
                <a:spcPts val="600"/>
              </a:spcAft>
              <a:buSzPct val="100000"/>
              <a:buChar char="•"/>
            </a:pPr>
            <a:r>
              <a:rPr lang="en-US" sz="1600" dirty="0">
                <a:solidFill>
                  <a:srgbClr val="1F1F2E"/>
                </a:solidFill>
              </a:rPr>
              <a:t>Coverage of energy CO2, 2030: 99.8%</a:t>
            </a:r>
            <a:endParaRPr lang="en-US" sz="1100" dirty="0"/>
          </a:p>
          <a:p>
            <a:pPr marL="342900" indent="-342900">
              <a:spcAft>
                <a:spcPts val="600"/>
              </a:spcAft>
              <a:buSzPct val="100000"/>
              <a:buChar char="•"/>
            </a:pPr>
            <a:r>
              <a:rPr lang="en-US" sz="1600" dirty="0">
                <a:solidFill>
                  <a:srgbClr val="1F1F2E"/>
                </a:solidFill>
              </a:rPr>
              <a:t>Implicit carbon price of fossil fuels, 2022: -193 $/tCO2</a:t>
            </a:r>
            <a:endParaRPr lang="en-US" sz="1100" dirty="0"/>
          </a:p>
          <a:p>
            <a:pPr marL="342900" indent="-342900">
              <a:spcAft>
                <a:spcPts val="600"/>
              </a:spcAft>
              <a:buSzPct val="100000"/>
              <a:buChar char="•"/>
            </a:pPr>
            <a:r>
              <a:rPr lang="en-US" sz="1600" dirty="0">
                <a:solidFill>
                  <a:srgbClr val="1F1F2E"/>
                </a:solidFill>
              </a:rPr>
              <a:t>Net energy imports, 2030: -1.1 bn USD</a:t>
            </a:r>
            <a:endParaRPr lang="en-US" sz="1100" dirty="0"/>
          </a:p>
          <a:p>
            <a:pPr marL="342900" indent="-342900">
              <a:spcAft>
                <a:spcPts val="600"/>
              </a:spcAft>
              <a:buSzPct val="100000"/>
              <a:buChar char="•"/>
            </a:pPr>
            <a:r>
              <a:rPr lang="en-US" sz="1600" dirty="0">
                <a:solidFill>
                  <a:srgbClr val="1F1F2E"/>
                </a:solidFill>
              </a:rPr>
              <a:t>Climate damages avoided, 2031: 2.0 bn USD (SCC 78 $/t)</a:t>
            </a:r>
            <a:endParaRPr lang="en-US" sz="1100" dirty="0"/>
          </a:p>
          <a:p>
            <a:pPr marL="342900" indent="-342900">
              <a:spcAft>
                <a:spcPts val="600"/>
              </a:spcAft>
              <a:buSzPct val="100000"/>
              <a:buChar char="•"/>
            </a:pPr>
            <a:r>
              <a:rPr lang="en-US" sz="1600" dirty="0">
                <a:solidFill>
                  <a:srgbClr val="1F1F2E"/>
                </a:solidFill>
              </a:rPr>
              <a:t>Efficiency cost, 2031: -1.4 bn USD (negative = gain)</a:t>
            </a:r>
            <a:endParaRPr lang="en-US" sz="1100" dirty="0"/>
          </a:p>
          <a:p>
            <a:pPr marL="342900" indent="-342900">
              <a:spcAft>
                <a:spcPts val="600"/>
              </a:spcAft>
              <a:buSzPct val="100000"/>
              <a:buChar char="•"/>
            </a:pPr>
            <a:r>
              <a:rPr lang="en-US" sz="1600" dirty="0">
                <a:solidFill>
                  <a:srgbClr val="1F1F2E"/>
                </a:solidFill>
              </a:rPr>
              <a:t>National welfare, 2031: 3.4 bn USD</a:t>
            </a:r>
            <a:endParaRPr lang="en-US" sz="1100" dirty="0"/>
          </a:p>
        </p:txBody>
      </p:sp>
      <p:sp>
        <p:nvSpPr>
          <p:cNvPr id="8" name="caption-153"/>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Method: ResultsSections_Method_v6_3.md. Every new row is recomputed in Python in every scenario.</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QUALITY</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Every number is checked independently</a:t>
            </a:r>
            <a:endParaRPr lang="en-US" sz="3000" dirty="0"/>
          </a:p>
        </p:txBody>
      </p:sp>
      <p:sp>
        <p:nvSpPr>
          <p:cNvPr id="4" name="stat-154"/>
          <p:cNvSpPr txBox="1"/>
          <p:nvPr/>
        </p:nvSpPr>
        <p:spPr>
          <a:xfrm>
            <a:off x="548640" y="1554480"/>
            <a:ext cx="2560320" cy="1371600"/>
          </a:xfrm>
          <a:prstGeom prst="rect">
            <a:avLst/>
          </a:prstGeom>
          <a:noFill/>
          <a:ln/>
        </p:spPr>
        <p:txBody>
          <a:bodyPr wrap="square" lIns="0" tIns="0" rIns="0" bIns="0" rtlCol="0" anchor="t"/>
          <a:lstStyle/>
          <a:p>
            <a:pPr indent="0" marL="0">
              <a:buNone/>
            </a:pPr>
            <a:r>
              <a:rPr lang="en-US" sz="4000" b="1" dirty="0">
                <a:solidFill>
                  <a:srgbClr val="0F7B6C"/>
                </a:solidFill>
                <a:latin typeface="Cambria" pitchFamily="34" charset="0"/>
                <a:ea typeface="Cambria" pitchFamily="34" charset="-122"/>
                <a:cs typeface="Cambria" pitchFamily="34" charset="-120"/>
              </a:rPr>
              <a:t>0</a:t>
            </a:r>
            <a:endParaRPr lang="en-US" sz="4000" dirty="0"/>
          </a:p>
          <a:p>
            <a:pPr indent="0" marL="0">
              <a:buNone/>
            </a:pPr>
            <a:r>
              <a:rPr lang="en-US" sz="1300" dirty="0">
                <a:solidFill>
                  <a:srgbClr val="5C667A"/>
                </a:solidFill>
              </a:rPr>
              <a:t>error values when LibreOffice recalculates the shipped file</a:t>
            </a:r>
            <a:endParaRPr lang="en-US" sz="4000" dirty="0"/>
          </a:p>
        </p:txBody>
      </p:sp>
      <p:sp>
        <p:nvSpPr>
          <p:cNvPr id="5" name="stat-155"/>
          <p:cNvSpPr txBox="1"/>
          <p:nvPr/>
        </p:nvSpPr>
        <p:spPr>
          <a:xfrm>
            <a:off x="338328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566,355</a:t>
            </a:r>
            <a:endParaRPr lang="en-US" sz="4000" dirty="0"/>
          </a:p>
          <a:p>
            <a:pPr indent="0" marL="0">
              <a:buNone/>
            </a:pPr>
            <a:r>
              <a:rPr lang="en-US" sz="1300" dirty="0">
                <a:solidFill>
                  <a:srgbClr val="5C667A"/>
                </a:solidFill>
              </a:rPr>
              <a:t>formulas, none longer than 100 characters</a:t>
            </a:r>
            <a:endParaRPr lang="en-US" sz="4000" dirty="0"/>
          </a:p>
        </p:txBody>
      </p:sp>
      <p:sp>
        <p:nvSpPr>
          <p:cNvPr id="6" name="stat-156"/>
          <p:cNvSpPr txBox="1"/>
          <p:nvPr/>
        </p:nvSpPr>
        <p:spPr>
          <a:xfrm>
            <a:off x="621792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13,396</a:t>
            </a:r>
            <a:endParaRPr lang="en-US" sz="4000" dirty="0"/>
          </a:p>
          <a:p>
            <a:pPr indent="0" marL="0">
              <a:buNone/>
            </a:pPr>
            <a:r>
              <a:rPr lang="en-US" sz="1300" dirty="0">
                <a:solidFill>
                  <a:srgbClr val="5C667A"/>
                </a:solidFill>
              </a:rPr>
              <a:t>output codes; 1908 of 13,052 changed against v6.1</a:t>
            </a:r>
            <a:endParaRPr lang="en-US" sz="4000" dirty="0"/>
          </a:p>
        </p:txBody>
      </p:sp>
      <p:sp>
        <p:nvSpPr>
          <p:cNvPr id="7" name="stat-157"/>
          <p:cNvSpPr txBox="1"/>
          <p:nvPr/>
        </p:nvSpPr>
        <p:spPr>
          <a:xfrm>
            <a:off x="9052560" y="1554480"/>
            <a:ext cx="2560320" cy="1371600"/>
          </a:xfrm>
          <a:prstGeom prst="rect">
            <a:avLst/>
          </a:prstGeom>
          <a:noFill/>
          <a:ln/>
        </p:spPr>
        <p:txBody>
          <a:bodyPr wrap="square" lIns="0" tIns="0" rIns="0" bIns="0" rtlCol="0" anchor="t"/>
          <a:lstStyle/>
          <a:p>
            <a:pPr indent="0" marL="0">
              <a:buNone/>
            </a:pPr>
            <a:r>
              <a:rPr lang="en-US" sz="4000" b="1" dirty="0">
                <a:solidFill>
                  <a:srgbClr val="E08A1E"/>
                </a:solidFill>
                <a:latin typeface="Cambria" pitchFamily="34" charset="0"/>
                <a:ea typeface="Cambria" pitchFamily="34" charset="-122"/>
                <a:cs typeface="Cambria" pitchFamily="34" charset="-120"/>
              </a:rPr>
              <a:t>126</a:t>
            </a:r>
            <a:endParaRPr lang="en-US" sz="4000" dirty="0"/>
          </a:p>
          <a:p>
            <a:pPr indent="0" marL="0">
              <a:buNone/>
            </a:pPr>
            <a:r>
              <a:rPr lang="en-US" sz="1300" dirty="0">
                <a:solidFill>
                  <a:srgbClr val="5C667A"/>
                </a:solidFill>
              </a:rPr>
              <a:t>legacy bugs found; none replicated in the MVP</a:t>
            </a:r>
            <a:endParaRPr lang="en-US" sz="4000" dirty="0"/>
          </a:p>
        </p:txBody>
      </p:sp>
      <p:sp>
        <p:nvSpPr>
          <p:cNvPr id="8" name="badge-158"/>
          <p:cNvSpPr/>
          <p:nvPr/>
        </p:nvSpPr>
        <p:spPr>
          <a:xfrm>
            <a:off x="548640" y="3566160"/>
            <a:ext cx="384048" cy="384048"/>
          </a:xfrm>
          <a:prstGeom prst="ellipse">
            <a:avLst/>
          </a:prstGeom>
          <a:solidFill>
            <a:srgbClr val="0F7B6C"/>
          </a:solidFill>
          <a:ln w="12700">
            <a:solidFill>
              <a:srgbClr val="0F7B6C"/>
            </a:solidFill>
            <a:prstDash val="solid"/>
          </a:ln>
        </p:spPr>
      </p:sp>
      <p:sp>
        <p:nvSpPr>
          <p:cNvPr id="9" name="badgeText-159"/>
          <p:cNvSpPr txBox="1"/>
          <p:nvPr/>
        </p:nvSpPr>
        <p:spPr>
          <a:xfrm>
            <a:off x="54864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item-160"/>
          <p:cNvSpPr txBox="1"/>
          <p:nvPr/>
        </p:nvSpPr>
        <p:spPr>
          <a:xfrm>
            <a:off x="109728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Independent recomputation</a:t>
            </a:r>
            <a:endParaRPr lang="en-US" sz="1500" dirty="0"/>
          </a:p>
          <a:p>
            <a:pPr indent="0" marL="0">
              <a:buNone/>
            </a:pPr>
            <a:r>
              <a:rPr lang="en-US" sz="1400" dirty="0">
                <a:solidFill>
                  <a:srgbClr val="5C667A"/>
                </a:solidFill>
              </a:rPr>
              <a:t>Python recomputes prices, fuel use, power, revenue, emissions and distribution from the source data for the test scenarios.</a:t>
            </a:r>
            <a:endParaRPr lang="en-US" sz="1500" dirty="0"/>
          </a:p>
        </p:txBody>
      </p:sp>
      <p:sp>
        <p:nvSpPr>
          <p:cNvPr id="11" name="badge-161"/>
          <p:cNvSpPr/>
          <p:nvPr/>
        </p:nvSpPr>
        <p:spPr>
          <a:xfrm>
            <a:off x="6126480" y="3566160"/>
            <a:ext cx="384048" cy="384048"/>
          </a:xfrm>
          <a:prstGeom prst="ellipse">
            <a:avLst/>
          </a:prstGeom>
          <a:solidFill>
            <a:srgbClr val="0F7B6C"/>
          </a:solidFill>
          <a:ln w="12700">
            <a:solidFill>
              <a:srgbClr val="0F7B6C"/>
            </a:solidFill>
            <a:prstDash val="solid"/>
          </a:ln>
        </p:spPr>
      </p:sp>
      <p:sp>
        <p:nvSpPr>
          <p:cNvPr id="12" name="badgeText-162"/>
          <p:cNvSpPr txBox="1"/>
          <p:nvPr/>
        </p:nvSpPr>
        <p:spPr>
          <a:xfrm>
            <a:off x="612648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item-163"/>
          <p:cNvSpPr txBox="1"/>
          <p:nvPr/>
        </p:nvSpPr>
        <p:spPr>
          <a:xfrm>
            <a:off x="667512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Copy-paste and LAMBDAs tested</a:t>
            </a:r>
            <a:endParaRPr lang="en-US" sz="1500" dirty="0"/>
          </a:p>
          <a:p>
            <a:pPr indent="0" marL="0">
              <a:buNone/>
            </a:pPr>
            <a:r>
              <a:rPr lang="en-US" sz="1400" dirty="0">
                <a:solidFill>
                  <a:srgbClr val="5C667A"/>
                </a:solidFill>
              </a:rPr>
              <a:t>Scenario groups 1 and 2 are the same formulas; the LAMBDA group equals the plain group.</a:t>
            </a:r>
            <a:endParaRPr lang="en-US" sz="1500" dirty="0"/>
          </a:p>
        </p:txBody>
      </p:sp>
      <p:sp>
        <p:nvSpPr>
          <p:cNvPr id="14" name="badge-164"/>
          <p:cNvSpPr/>
          <p:nvPr/>
        </p:nvSpPr>
        <p:spPr>
          <a:xfrm>
            <a:off x="548640" y="4846320"/>
            <a:ext cx="384048" cy="384048"/>
          </a:xfrm>
          <a:prstGeom prst="ellipse">
            <a:avLst/>
          </a:prstGeom>
          <a:solidFill>
            <a:srgbClr val="0F7B6C"/>
          </a:solidFill>
          <a:ln w="12700">
            <a:solidFill>
              <a:srgbClr val="0F7B6C"/>
            </a:solidFill>
            <a:prstDash val="solid"/>
          </a:ln>
        </p:spPr>
      </p:sp>
      <p:sp>
        <p:nvSpPr>
          <p:cNvPr id="15" name="badgeText-165"/>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item-166"/>
          <p:cNvSpPr txBox="1"/>
          <p:nvPr/>
        </p:nvSpPr>
        <p:spPr>
          <a:xfrm>
            <a:off x="109728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Differences listed</a:t>
            </a:r>
            <a:endParaRPr lang="en-US" sz="1500" dirty="0"/>
          </a:p>
          <a:p>
            <a:pPr indent="0" marL="0">
              <a:buNone/>
            </a:pPr>
            <a:r>
              <a:rPr lang="en-US" sz="1400" dirty="0">
                <a:solidFill>
                  <a:srgbClr val="5C667A"/>
                </a:solidFill>
              </a:rPr>
              <a:t>Tab 'Version Log, About, and Diff' lists every difference with legacy CPAT and why.</a:t>
            </a:r>
            <a:endParaRPr lang="en-US" sz="1500" dirty="0"/>
          </a:p>
        </p:txBody>
      </p:sp>
      <p:sp>
        <p:nvSpPr>
          <p:cNvPr id="17" name="badge-167"/>
          <p:cNvSpPr/>
          <p:nvPr/>
        </p:nvSpPr>
        <p:spPr>
          <a:xfrm>
            <a:off x="6126480" y="4846320"/>
            <a:ext cx="384048" cy="384048"/>
          </a:xfrm>
          <a:prstGeom prst="ellipse">
            <a:avLst/>
          </a:prstGeom>
          <a:solidFill>
            <a:srgbClr val="0F7B6C"/>
          </a:solidFill>
          <a:ln w="12700">
            <a:solidFill>
              <a:srgbClr val="0F7B6C"/>
            </a:solidFill>
            <a:prstDash val="solid"/>
          </a:ln>
        </p:spPr>
      </p:sp>
      <p:sp>
        <p:nvSpPr>
          <p:cNvPr id="18" name="badgeText-168"/>
          <p:cNvSpPr txBox="1"/>
          <p:nvPr/>
        </p:nvSpPr>
        <p:spPr>
          <a:xfrm>
            <a:off x="612648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item-169"/>
          <p:cNvSpPr txBox="1"/>
          <p:nvPr/>
        </p:nvSpPr>
        <p:spPr>
          <a:xfrm>
            <a:off x="667512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Documented</a:t>
            </a:r>
            <a:endParaRPr lang="en-US" sz="1500" dirty="0"/>
          </a:p>
          <a:p>
            <a:pPr indent="0" marL="0">
              <a:buNone/>
            </a:pPr>
            <a:r>
              <a:rPr lang="en-US" sz="1400" dirty="0">
                <a:solidFill>
                  <a:srgbClr val="5C667A"/>
                </a:solidFill>
              </a:rPr>
              <a:t>The model in equations, method notes, every formula, and the legacy bugs to fix.</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GETTING STARTED</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Open, run the check, then explore</a:t>
            </a:r>
            <a:endParaRPr lang="en-US" sz="3000" dirty="0"/>
          </a:p>
        </p:txBody>
      </p:sp>
      <p:sp>
        <p:nvSpPr>
          <p:cNvPr id="4" name="badge-170"/>
          <p:cNvSpPr/>
          <p:nvPr/>
        </p:nvSpPr>
        <p:spPr>
          <a:xfrm>
            <a:off x="548640" y="1554480"/>
            <a:ext cx="384048" cy="384048"/>
          </a:xfrm>
          <a:prstGeom prst="ellipse">
            <a:avLst/>
          </a:prstGeom>
          <a:solidFill>
            <a:srgbClr val="0F7B6C"/>
          </a:solidFill>
          <a:ln w="12700">
            <a:solidFill>
              <a:srgbClr val="0F7B6C"/>
            </a:solidFill>
            <a:prstDash val="solid"/>
          </a:ln>
        </p:spPr>
      </p:sp>
      <p:sp>
        <p:nvSpPr>
          <p:cNvPr id="5" name="badgeText-171"/>
          <p:cNvSpPr txBox="1"/>
          <p:nvPr/>
        </p:nvSpPr>
        <p:spPr>
          <a:xfrm>
            <a:off x="548640"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item-172"/>
          <p:cNvSpPr txBox="1"/>
          <p:nvPr/>
        </p:nvSpPr>
        <p:spPr>
          <a:xfrm>
            <a:off x="1097280" y="150876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Open the .xlsm and enable macros</a:t>
            </a:r>
            <a:endParaRPr lang="en-US" sz="1500" dirty="0"/>
          </a:p>
          <a:p>
            <a:pPr indent="0" marL="0">
              <a:buNone/>
            </a:pPr>
            <a:r>
              <a:rPr lang="en-US" sz="1400" dirty="0">
                <a:solidFill>
                  <a:srgbClr val="5C667A"/>
                </a:solidFill>
              </a:rPr>
              <a:t>Run CheckBatchRun once (Alt+F8): MacroCheck should say PASS.</a:t>
            </a:r>
            <a:endParaRPr lang="en-US" sz="1500" dirty="0"/>
          </a:p>
        </p:txBody>
      </p:sp>
      <p:sp>
        <p:nvSpPr>
          <p:cNvPr id="7" name="badge-173"/>
          <p:cNvSpPr/>
          <p:nvPr/>
        </p:nvSpPr>
        <p:spPr>
          <a:xfrm>
            <a:off x="548640" y="2651760"/>
            <a:ext cx="384048" cy="384048"/>
          </a:xfrm>
          <a:prstGeom prst="ellipse">
            <a:avLst/>
          </a:prstGeom>
          <a:solidFill>
            <a:srgbClr val="0F7B6C"/>
          </a:solidFill>
          <a:ln w="12700">
            <a:solidFill>
              <a:srgbClr val="0F7B6C"/>
            </a:solidFill>
            <a:prstDash val="solid"/>
          </a:ln>
        </p:spPr>
      </p:sp>
      <p:sp>
        <p:nvSpPr>
          <p:cNvPr id="8" name="badgeText-174"/>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item-175"/>
          <p:cNvSpPr txBox="1"/>
          <p:nvPr/>
        </p:nvSpPr>
        <p:spPr>
          <a:xfrm>
            <a:off x="1097280" y="260604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Change a scenario</a:t>
            </a:r>
            <a:endParaRPr lang="en-US" sz="1500" dirty="0"/>
          </a:p>
          <a:p>
            <a:pPr indent="0" marL="0">
              <a:buNone/>
            </a:pPr>
            <a:r>
              <a:rPr lang="en-US" sz="1400" dirty="0">
                <a:solidFill>
                  <a:srgbClr val="5C667A"/>
                </a:solidFill>
              </a:rPr>
              <a:t>Edit its MTInputs column; results update on Mitigation, Distribution and MTOutputs.</a:t>
            </a:r>
            <a:endParaRPr lang="en-US" sz="1500" dirty="0"/>
          </a:p>
        </p:txBody>
      </p:sp>
      <p:sp>
        <p:nvSpPr>
          <p:cNvPr id="10" name="badge-176"/>
          <p:cNvSpPr/>
          <p:nvPr/>
        </p:nvSpPr>
        <p:spPr>
          <a:xfrm>
            <a:off x="548640" y="3749040"/>
            <a:ext cx="384048" cy="384048"/>
          </a:xfrm>
          <a:prstGeom prst="ellipse">
            <a:avLst/>
          </a:prstGeom>
          <a:solidFill>
            <a:srgbClr val="0F7B6C"/>
          </a:solidFill>
          <a:ln w="12700">
            <a:solidFill>
              <a:srgbClr val="0F7B6C"/>
            </a:solidFill>
            <a:prstDash val="solid"/>
          </a:ln>
        </p:spPr>
      </p:sp>
      <p:sp>
        <p:nvSpPr>
          <p:cNvPr id="11" name="badgeText-177"/>
          <p:cNvSpPr txBox="1"/>
          <p:nvPr/>
        </p:nvSpPr>
        <p:spPr>
          <a:xfrm>
            <a:off x="54864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item-178"/>
          <p:cNvSpPr txBox="1"/>
          <p:nvPr/>
        </p:nvSpPr>
        <p:spPr>
          <a:xfrm>
            <a:off x="1097280" y="370332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Run many scenarios</a:t>
            </a:r>
            <a:endParaRPr lang="en-US" sz="1500" dirty="0"/>
          </a:p>
          <a:p>
            <a:pPr indent="0" marL="0">
              <a:buNone/>
            </a:pPr>
            <a:r>
              <a:rPr lang="en-US" sz="1400" dirty="0">
                <a:solidFill>
                  <a:srgbClr val="5C667A"/>
                </a:solidFill>
              </a:rPr>
              <a:t>Set Run? = Yes on the definitions and run RunAllScenarios; compare them.</a:t>
            </a:r>
            <a:endParaRPr lang="en-US" sz="1500" dirty="0"/>
          </a:p>
        </p:txBody>
      </p:sp>
      <p:sp>
        <p:nvSpPr>
          <p:cNvPr id="13" name="badge-179"/>
          <p:cNvSpPr/>
          <p:nvPr/>
        </p:nvSpPr>
        <p:spPr>
          <a:xfrm>
            <a:off x="548640" y="4846320"/>
            <a:ext cx="384048" cy="384048"/>
          </a:xfrm>
          <a:prstGeom prst="ellipse">
            <a:avLst/>
          </a:prstGeom>
          <a:solidFill>
            <a:srgbClr val="0F7B6C"/>
          </a:solidFill>
          <a:ln w="12700">
            <a:solidFill>
              <a:srgbClr val="0F7B6C"/>
            </a:solidFill>
            <a:prstDash val="solid"/>
          </a:ln>
        </p:spPr>
      </p:sp>
      <p:sp>
        <p:nvSpPr>
          <p:cNvPr id="14" name="badgeText-180"/>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item-181"/>
          <p:cNvSpPr txBox="1"/>
          <p:nvPr/>
        </p:nvSpPr>
        <p:spPr>
          <a:xfrm>
            <a:off x="1097280" y="480060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Read more</a:t>
            </a:r>
            <a:endParaRPr lang="en-US" sz="1500" dirty="0"/>
          </a:p>
          <a:p>
            <a:pPr indent="0" marL="0">
              <a:buNone/>
            </a:pPr>
            <a:r>
              <a:rPr lang="en-US" sz="1400" dirty="0">
                <a:solidFill>
                  <a:srgbClr val="5C667A"/>
                </a:solidFill>
              </a:rPr>
              <a:t>Cover tab, QuickStart and equations; the bugs and issues register in Word.</a:t>
            </a:r>
            <a:endParaRPr lang="en-US" sz="1500" dirty="0"/>
          </a:p>
        </p:txBody>
      </p:sp>
      <p:sp>
        <p:nvSpPr>
          <p:cNvPr id="16" name="card-182"/>
          <p:cNvSpPr/>
          <p:nvPr/>
        </p:nvSpPr>
        <p:spPr>
          <a:xfrm>
            <a:off x="7406640" y="1371600"/>
            <a:ext cx="4206240" cy="4572000"/>
          </a:xfrm>
          <a:prstGeom prst="rect">
            <a:avLst/>
          </a:prstGeom>
          <a:solidFill>
            <a:srgbClr val="1E2761"/>
          </a:solidFill>
          <a:ln w="12700">
            <a:solidFill>
              <a:srgbClr val="1E2761"/>
            </a:solidFill>
            <a:prstDash val="solid"/>
          </a:ln>
        </p:spPr>
      </p:sp>
      <p:sp>
        <p:nvSpPr>
          <p:cNvPr id="17" name="next-183"/>
          <p:cNvSpPr txBox="1"/>
          <p:nvPr/>
        </p:nvSpPr>
        <p:spPr>
          <a:xfrm>
            <a:off x="7635240" y="1600200"/>
            <a:ext cx="3749040" cy="4206240"/>
          </a:xfrm>
          <a:prstGeom prst="rect">
            <a:avLst/>
          </a:prstGeom>
          <a:noFill/>
          <a:ln/>
        </p:spPr>
        <p:txBody>
          <a:bodyPr wrap="square" lIns="0" tIns="0" rIns="0" bIns="0" rtlCol="0" anchor="t"/>
          <a:lstStyle/>
          <a:p>
            <a:pPr indent="0" marL="0">
              <a:spcAft>
                <a:spcPts val="800"/>
              </a:spcAft>
              <a:buNone/>
            </a:pPr>
            <a:r>
              <a:rPr lang="en-US" sz="1100" b="1" spc="200" kern="0" dirty="0">
                <a:solidFill>
                  <a:srgbClr val="D4A24C"/>
                </a:solidFill>
              </a:rPr>
              <a:t>NEXT</a:t>
            </a:r>
            <a:endParaRPr lang="en-US" sz="1400" dirty="0"/>
          </a:p>
          <a:p>
            <a:pPr marL="342900" indent="-342900">
              <a:spcAft>
                <a:spcPts val="800"/>
              </a:spcAft>
              <a:buSzPct val="100000"/>
              <a:buChar char="•"/>
            </a:pPr>
            <a:r>
              <a:rPr lang="en-US" sz="1400" dirty="0">
                <a:solidFill>
                  <a:srgbClr val="FFFFFF"/>
                </a:solidFill>
              </a:rPr>
              <a:t>Send bugs and fix plans to the CPAT team (U4)</a:t>
            </a:r>
            <a:endParaRPr lang="en-US" sz="1400" dirty="0"/>
          </a:p>
          <a:p>
            <a:pPr marL="342900" indent="-342900">
              <a:spcAft>
                <a:spcPts val="800"/>
              </a:spcAft>
              <a:buSzPct val="100000"/>
              <a:buChar char="•"/>
            </a:pPr>
            <a:r>
              <a:rPr lang="en-US" sz="1400" dirty="0">
                <a:solidFill>
                  <a:srgbClr val="FFFFFF"/>
                </a:solidFill>
              </a:rPr>
              <a:t>Reconcile with legacy file 459 (U2)</a:t>
            </a:r>
            <a:endParaRPr lang="en-US" sz="1400" dirty="0"/>
          </a:p>
          <a:p>
            <a:pPr marL="342900" indent="-342900">
              <a:spcAft>
                <a:spcPts val="800"/>
              </a:spcAft>
              <a:buSzPct val="100000"/>
              <a:buChar char="•"/>
            </a:pPr>
            <a:r>
              <a:rPr lang="en-US" sz="1400" dirty="0">
                <a:solidFill>
                  <a:srgbClr val="FFFFFF"/>
                </a:solidFill>
              </a:rPr>
              <a:t>Review in Excel 365 (I1; v6.3 opens without repair)</a:t>
            </a:r>
            <a:endParaRPr lang="en-US" sz="1400" dirty="0"/>
          </a:p>
          <a:p>
            <a:pPr marL="342900" indent="-342900">
              <a:spcAft>
                <a:spcPts val="800"/>
              </a:spcAft>
              <a:buSzPct val="100000"/>
              <a:buChar char="•"/>
            </a:pPr>
            <a:r>
              <a:rPr lang="en-US" sz="1400" dirty="0">
                <a:solidFill>
                  <a:srgbClr val="FFFFFF"/>
                </a:solidFill>
              </a:rPr>
              <a:t>ETS goal seek: user test (I30)</a:t>
            </a:r>
            <a:endParaRPr lang="en-US" sz="1400" dirty="0"/>
          </a:p>
          <a:p>
            <a:pPr indent="0" marL="0">
              <a:spcAft>
                <a:spcPts val="800"/>
              </a:spcAft>
              <a:buNone/>
            </a:pPr>
            <a:r>
              <a:rPr lang="en-US" sz="1100" b="1" spc="200" kern="0" dirty="0">
                <a:solidFill>
                  <a:srgbClr val="D4A24C"/>
                </a:solidFill>
              </a:rPr>
              <a:t>DATA REQUESTS</a:t>
            </a:r>
            <a:endParaRPr lang="en-US" sz="1400" dirty="0"/>
          </a:p>
          <a:p>
            <a:pPr marL="342900" indent="-342900">
              <a:spcAft>
                <a:spcPts val="800"/>
              </a:spcAft>
              <a:buSzPct val="100000"/>
              <a:buChar char="•"/>
            </a:pPr>
            <a:r>
              <a:rPr lang="en-US" sz="1400" dirty="0">
                <a:solidFill>
                  <a:srgbClr val="FFFFFF"/>
                </a:solidFill>
              </a:rPr>
              <a:t>GAINS emission-factor paths (I64)</a:t>
            </a:r>
            <a:endParaRPr lang="en-US" sz="1400" dirty="0"/>
          </a:p>
          <a:p>
            <a:pPr marL="342900" indent="-342900">
              <a:spcAft>
                <a:spcPts val="800"/>
              </a:spcAft>
              <a:buSzPct val="100000"/>
              <a:buChar char="•"/>
            </a:pPr>
            <a:r>
              <a:rPr lang="en-US" sz="1400" dirty="0">
                <a:solidFill>
                  <a:srgbClr val="FFFFFF"/>
                </a:solidFill>
              </a:rPr>
              <a:t>Blank VAT cells in the price data (I65)</a:t>
            </a:r>
            <a:endParaRPr lang="en-US" sz="1400" dirty="0"/>
          </a:p>
          <a:p>
            <a:pPr marL="342900" indent="-342900">
              <a:spcAft>
                <a:spcPts val="800"/>
              </a:spcAft>
              <a:buSzPct val="100000"/>
              <a:buChar char="•"/>
            </a:pPr>
            <a:r>
              <a:rPr lang="en-US" sz="1400" dirty="0">
                <a:solidFill>
                  <a:srgbClr val="FFFFFF"/>
                </a:solidFill>
              </a:rPr>
              <a:t>Proprietary tables, other countries (I13)</a:t>
            </a:r>
            <a:endParaRPr lang="en-US" sz="1400" dirty="0"/>
          </a:p>
          <a:p>
            <a:pPr marL="342900" indent="-342900">
              <a:spcAft>
                <a:spcPts val="800"/>
              </a:spcAft>
              <a:buSzPct val="100000"/>
              <a:buChar char="•"/>
            </a:pPr>
            <a:r>
              <a:rPr lang="en-US" sz="1400" dirty="0">
                <a:solidFill>
                  <a:srgbClr val="FFFFFF"/>
                </a:solidFill>
              </a:rPr>
              <a:t>Historical GHGs 2018-2020 (I68)</a:t>
            </a:r>
            <a:endParaRPr lang="en-US" sz="14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PAT AI Mitigation">
  <a:themeElements>
    <a:clrScheme name="CPAT AI Mitigation">
      <a:dk1>
        <a:srgbClr val="1F1F2E"/>
      </a:dk1>
      <a:lt1>
        <a:srgbClr val="FFFFFF"/>
      </a:lt1>
      <a:dk2>
        <a:srgbClr val="1E2761"/>
      </a:dk2>
      <a:lt2>
        <a:srgbClr val="F4F6FB"/>
      </a:lt2>
      <a:accent1>
        <a:srgbClr val="1E2761"/>
      </a:accent1>
      <a:accent2>
        <a:srgbClr val="0F7B6C"/>
      </a:accent2>
      <a:accent3>
        <a:srgbClr val="E08A1E"/>
      </a:accent3>
      <a:accent4>
        <a:srgbClr val="D4A24C"/>
      </a:accent4>
      <a:accent5>
        <a:srgbClr val="5C667A"/>
      </a:accent5>
      <a:accent6>
        <a:srgbClr val="D5DAE3"/>
      </a:accent6>
      <a:hlink>
        <a:srgbClr val="0F7B6C"/>
      </a:hlink>
      <a:folHlink>
        <a:srgbClr val="5C667A"/>
      </a:folHlink>
    </a:clrScheme>
    <a:fontScheme name="CPAT AI Mitig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CPAT-AI-Mitigation-MVP v6.3: overview, legacy fixes and user guide</dc:title>
  <dc:subject>PptxGenJS Presentation</dc:subject>
  <dc:creator>PptxGenJS</dc:creator>
  <cp:lastModifiedBy>PptxGenJS</cp:lastModifiedBy>
  <cp:revision>1</cp:revision>
  <dcterms:created xsi:type="dcterms:W3CDTF">2026-10-20T18:08:20Z</dcterms:created>
  <dcterms:modified xsi:type="dcterms:W3CDTF">2026-10-20T18:08:20Z</dcterms:modified>
</cp:coreProperties>
</file>