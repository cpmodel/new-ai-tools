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640080" y="822960"/>
            <a:ext cx="5486400" cy="320040"/>
          </a:xfrm>
          <a:prstGeom prst="rect">
            <a:avLst/>
          </a:prstGeom>
          <a:noFill/>
        </p:spPr>
        <p:txBody>
          <a:bodyPr wrap="square" anchor="t" lIns="45720" rIns="45720" tIns="27432" bIns="27432">
            <a:spAutoFit/>
          </a:bodyPr>
          <a:lstStyle/>
          <a:p>
            <a:pPr algn="l"/>
            <a:r>
              <a:rPr sz="1400" b="1">
                <a:solidFill>
                  <a:srgbClr val="CADCFC"/>
                </a:solidFill>
                <a:latin typeface="Calibri"/>
              </a:rPr>
              <a:t>USER GUIDE  ·  START HERE</a:t>
            </a:r>
          </a:p>
        </p:txBody>
      </p:sp>
      <p:sp>
        <p:nvSpPr>
          <p:cNvPr id="3" name="TextBox 2"/>
          <p:cNvSpPr txBox="1"/>
          <p:nvPr/>
        </p:nvSpPr>
        <p:spPr>
          <a:xfrm>
            <a:off x="640080" y="1234440"/>
            <a:ext cx="6400800" cy="1463040"/>
          </a:xfrm>
          <a:prstGeom prst="rect">
            <a:avLst/>
          </a:prstGeom>
          <a:noFill/>
        </p:spPr>
        <p:txBody>
          <a:bodyPr wrap="square" anchor="t" lIns="45720" rIns="45720" tIns="27432" bIns="27432">
            <a:spAutoFit/>
          </a:bodyPr>
          <a:lstStyle/>
          <a:p>
            <a:pPr algn="l"/>
            <a:r>
              <a:rPr sz="4000" b="0">
                <a:solidFill>
                  <a:srgbClr val="FFFFFF"/>
                </a:solidFill>
                <a:latin typeface="Cambria"/>
              </a:rPr>
              <a:t>Using GitHub Copilot with our repositories</a:t>
            </a:r>
          </a:p>
        </p:txBody>
      </p:sp>
      <p:sp>
        <p:nvSpPr>
          <p:cNvPr id="4" name="TextBox 3"/>
          <p:cNvSpPr txBox="1"/>
          <p:nvPr/>
        </p:nvSpPr>
        <p:spPr>
          <a:xfrm>
            <a:off x="640080" y="2834640"/>
            <a:ext cx="5852160" cy="914400"/>
          </a:xfrm>
          <a:prstGeom prst="rect">
            <a:avLst/>
          </a:prstGeom>
          <a:noFill/>
        </p:spPr>
        <p:txBody>
          <a:bodyPr wrap="square" anchor="t" lIns="45720" rIns="45720" tIns="27432" bIns="27432">
            <a:spAutoFit/>
          </a:bodyPr>
          <a:lstStyle/>
          <a:p>
            <a:pPr algn="l"/>
            <a:r>
              <a:rPr sz="1700" b="0">
                <a:solidFill>
                  <a:srgbClr val="CADCFC"/>
                </a:solidFill>
                <a:latin typeface="Calibri"/>
              </a:rPr>
              <a:t>The overarching guide: what a repo is and where to keep it, our two repos (CPAT and AI-Tools), how Copilot works in local mode, GitHub and git basics, the sync script, subscriptions and credits, which model to pick, and the AI-built tools we have.</a:t>
            </a:r>
          </a:p>
        </p:txBody>
      </p:sp>
      <p:sp>
        <p:nvSpPr>
          <p:cNvPr id="5" name="Rounded Rectangle 4"/>
          <p:cNvSpPr/>
          <p:nvPr/>
        </p:nvSpPr>
        <p:spPr>
          <a:xfrm>
            <a:off x="640080" y="4069080"/>
            <a:ext cx="1737360" cy="384048"/>
          </a:xfrm>
          <a:prstGeom prst="roundRect">
            <a:avLst/>
          </a:prstGeom>
          <a:solidFill>
            <a:srgbClr val="2E3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0080" y="4069080"/>
            <a:ext cx="1737360" cy="384048"/>
          </a:xfrm>
          <a:prstGeom prst="rect">
            <a:avLst/>
          </a:prstGeom>
          <a:noFill/>
        </p:spPr>
        <p:txBody>
          <a:bodyPr wrap="square" anchor="ctr" lIns="45720" rIns="45720" tIns="27432" bIns="27432">
            <a:spAutoFit/>
          </a:bodyPr>
          <a:lstStyle/>
          <a:p>
            <a:pPr algn="ctr"/>
            <a:r>
              <a:rPr sz="1200" b="1">
                <a:solidFill>
                  <a:srgbClr val="FFFFFF"/>
                </a:solidFill>
                <a:latin typeface="Calibri"/>
              </a:rPr>
              <a:t>No coding needed</a:t>
            </a:r>
          </a:p>
        </p:txBody>
      </p:sp>
      <p:sp>
        <p:nvSpPr>
          <p:cNvPr id="7" name="Rounded Rectangle 6"/>
          <p:cNvSpPr/>
          <p:nvPr/>
        </p:nvSpPr>
        <p:spPr>
          <a:xfrm>
            <a:off x="2514600" y="4069080"/>
            <a:ext cx="1737360" cy="384048"/>
          </a:xfrm>
          <a:prstGeom prst="roundRect">
            <a:avLst/>
          </a:prstGeom>
          <a:solidFill>
            <a:srgbClr val="2E3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514600" y="4069080"/>
            <a:ext cx="1737360" cy="384048"/>
          </a:xfrm>
          <a:prstGeom prst="rect">
            <a:avLst/>
          </a:prstGeom>
          <a:noFill/>
        </p:spPr>
        <p:txBody>
          <a:bodyPr wrap="square" anchor="ctr" lIns="45720" rIns="45720" tIns="27432" bIns="27432">
            <a:spAutoFit/>
          </a:bodyPr>
          <a:lstStyle/>
          <a:p>
            <a:pPr algn="ctr"/>
            <a:r>
              <a:rPr sz="1200" b="1">
                <a:solidFill>
                  <a:srgbClr val="FFFFFF"/>
                </a:solidFill>
                <a:latin typeface="Calibri"/>
              </a:rPr>
              <a:t>One-off setup</a:t>
            </a:r>
          </a:p>
        </p:txBody>
      </p:sp>
      <p:sp>
        <p:nvSpPr>
          <p:cNvPr id="9" name="Rounded Rectangle 8"/>
          <p:cNvSpPr/>
          <p:nvPr/>
        </p:nvSpPr>
        <p:spPr>
          <a:xfrm>
            <a:off x="4389120" y="4069080"/>
            <a:ext cx="1737360" cy="384048"/>
          </a:xfrm>
          <a:prstGeom prst="roundRect">
            <a:avLst/>
          </a:prstGeom>
          <a:solidFill>
            <a:srgbClr val="2E3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389120" y="4069080"/>
            <a:ext cx="1737360" cy="384048"/>
          </a:xfrm>
          <a:prstGeom prst="rect">
            <a:avLst/>
          </a:prstGeom>
          <a:noFill/>
        </p:spPr>
        <p:txBody>
          <a:bodyPr wrap="square" anchor="ctr" lIns="45720" rIns="45720" tIns="27432" bIns="27432">
            <a:spAutoFit/>
          </a:bodyPr>
          <a:lstStyle/>
          <a:p>
            <a:pPr algn="ctr"/>
            <a:r>
              <a:rPr sz="1200" b="1">
                <a:solidFill>
                  <a:srgbClr val="FFFFFF"/>
                </a:solidFill>
                <a:latin typeface="Calibri"/>
              </a:rPr>
              <a:t>Links to tool guides</a:t>
            </a:r>
          </a:p>
        </p:txBody>
      </p:sp>
      <p:sp>
        <p:nvSpPr>
          <p:cNvPr id="11" name="TextBox 10"/>
          <p:cNvSpPr txBox="1"/>
          <p:nvPr/>
        </p:nvSpPr>
        <p:spPr>
          <a:xfrm>
            <a:off x="640080" y="6035040"/>
            <a:ext cx="6400800" cy="320040"/>
          </a:xfrm>
          <a:prstGeom prst="rect">
            <a:avLst/>
          </a:prstGeom>
          <a:noFill/>
        </p:spPr>
        <p:txBody>
          <a:bodyPr wrap="square" anchor="t" lIns="45720" rIns="45720" tIns="27432" bIns="27432">
            <a:spAutoFit/>
          </a:bodyPr>
          <a:lstStyle/>
          <a:p>
            <a:pPr algn="l"/>
            <a:r>
              <a:rPr sz="1100" b="0">
                <a:solidFill>
                  <a:srgbClr val="CADCFC"/>
                </a:solidFill>
                <a:latin typeface="Calibri"/>
              </a:rPr>
              <a:t>Draft, October 2026. Read this first, then the guide for the tool you need.</a:t>
            </a:r>
          </a:p>
        </p:txBody>
      </p:sp>
      <p:sp>
        <p:nvSpPr>
          <p:cNvPr id="12" name="Rectangle 11"/>
          <p:cNvSpPr/>
          <p:nvPr/>
        </p:nvSpPr>
        <p:spPr>
          <a:xfrm>
            <a:off x="6949440" y="1005840"/>
            <a:ext cx="4663440" cy="4663440"/>
          </a:xfrm>
          <a:prstGeom prst="rect">
            <a:avLst/>
          </a:prstGeom>
          <a:solidFill>
            <a:srgbClr val="2E3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178040" y="1188720"/>
            <a:ext cx="4206240" cy="365760"/>
          </a:xfrm>
          <a:prstGeom prst="rect">
            <a:avLst/>
          </a:prstGeom>
          <a:noFill/>
        </p:spPr>
        <p:txBody>
          <a:bodyPr wrap="square" anchor="t" lIns="45720" rIns="45720" tIns="27432" bIns="27432">
            <a:spAutoFit/>
          </a:bodyPr>
          <a:lstStyle/>
          <a:p>
            <a:pPr algn="l"/>
            <a:r>
              <a:rPr sz="1600" b="1">
                <a:solidFill>
                  <a:srgbClr val="FFFFFF"/>
                </a:solidFill>
                <a:latin typeface="Calibri"/>
              </a:rPr>
              <a:t>The four AI-built tools</a:t>
            </a:r>
          </a:p>
        </p:txBody>
      </p:sp>
      <p:sp>
        <p:nvSpPr>
          <p:cNvPr id="14" name="Oval 13"/>
          <p:cNvSpPr/>
          <p:nvPr/>
        </p:nvSpPr>
        <p:spPr>
          <a:xfrm>
            <a:off x="7178040" y="1737360"/>
            <a:ext cx="411480" cy="411480"/>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178040" y="1737360"/>
            <a:ext cx="411480" cy="411480"/>
          </a:xfrm>
          <a:prstGeom prst="rect">
            <a:avLst/>
          </a:prstGeom>
          <a:noFill/>
        </p:spPr>
        <p:txBody>
          <a:bodyPr wrap="square" anchor="ctr" lIns="45720" rIns="45720" tIns="27432" bIns="27432">
            <a:spAutoFit/>
          </a:bodyPr>
          <a:lstStyle/>
          <a:p>
            <a:pPr algn="ctr"/>
            <a:r>
              <a:rPr sz="1500" b="1">
                <a:solidFill>
                  <a:srgbClr val="FFFFFF"/>
                </a:solidFill>
                <a:latin typeface="Calibri"/>
              </a:rPr>
              <a:t>1</a:t>
            </a:r>
          </a:p>
        </p:txBody>
      </p:sp>
      <p:sp>
        <p:nvSpPr>
          <p:cNvPr id="16" name="TextBox 15"/>
          <p:cNvSpPr txBox="1"/>
          <p:nvPr/>
        </p:nvSpPr>
        <p:spPr>
          <a:xfrm>
            <a:off x="7726679" y="1691640"/>
            <a:ext cx="3749039" cy="914400"/>
          </a:xfrm>
          <a:prstGeom prst="rect">
            <a:avLst/>
          </a:prstGeom>
          <a:noFill/>
        </p:spPr>
        <p:txBody>
          <a:bodyPr wrap="square" anchor="t" lIns="45720" rIns="45720" tIns="27432" bIns="27432">
            <a:spAutoFit/>
          </a:bodyPr>
          <a:lstStyle/>
          <a:p>
            <a:pPr algn="l"/>
            <a:r>
              <a:rPr sz="1400" b="1">
                <a:solidFill>
                  <a:srgbClr val="FFFFFF"/>
                </a:solidFill>
                <a:latin typeface="Calibri"/>
              </a:rPr>
              <a:t>Excise Diagnostic</a:t>
            </a:r>
          </a:p>
          <a:p>
            <a:pPr algn="l"/>
            <a:r>
              <a:rPr sz="1200" b="0">
                <a:solidFill>
                  <a:srgbClr val="CADCFC"/>
                </a:solidFill>
                <a:latin typeface="Calibri"/>
              </a:rPr>
              <a:t>Markdown instructions drive the AI to write a report + workbook</a:t>
            </a:r>
          </a:p>
        </p:txBody>
      </p:sp>
      <p:sp>
        <p:nvSpPr>
          <p:cNvPr id="17" name="Oval 16"/>
          <p:cNvSpPr/>
          <p:nvPr/>
        </p:nvSpPr>
        <p:spPr>
          <a:xfrm>
            <a:off x="7178040" y="2697480"/>
            <a:ext cx="411480" cy="411480"/>
          </a:xfrm>
          <a:prstGeom prst="ellipse">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178040" y="2697480"/>
            <a:ext cx="411480" cy="411480"/>
          </a:xfrm>
          <a:prstGeom prst="rect">
            <a:avLst/>
          </a:prstGeom>
          <a:noFill/>
        </p:spPr>
        <p:txBody>
          <a:bodyPr wrap="square" anchor="ctr" lIns="45720" rIns="45720" tIns="27432" bIns="27432">
            <a:spAutoFit/>
          </a:bodyPr>
          <a:lstStyle/>
          <a:p>
            <a:pPr algn="ctr"/>
            <a:r>
              <a:rPr sz="1500" b="1">
                <a:solidFill>
                  <a:srgbClr val="FFFFFF"/>
                </a:solidFill>
                <a:latin typeface="Calibri"/>
              </a:rPr>
              <a:t>2</a:t>
            </a:r>
          </a:p>
        </p:txBody>
      </p:sp>
      <p:sp>
        <p:nvSpPr>
          <p:cNvPr id="19" name="TextBox 18"/>
          <p:cNvSpPr txBox="1"/>
          <p:nvPr/>
        </p:nvSpPr>
        <p:spPr>
          <a:xfrm>
            <a:off x="7726679" y="2651760"/>
            <a:ext cx="3749039" cy="914400"/>
          </a:xfrm>
          <a:prstGeom prst="rect">
            <a:avLst/>
          </a:prstGeom>
          <a:noFill/>
        </p:spPr>
        <p:txBody>
          <a:bodyPr wrap="square" anchor="t" lIns="45720" rIns="45720" tIns="27432" bIns="27432">
            <a:spAutoFit/>
          </a:bodyPr>
          <a:lstStyle/>
          <a:p>
            <a:pPr algn="l"/>
            <a:r>
              <a:rPr sz="1400" b="1">
                <a:solidFill>
                  <a:srgbClr val="FFFFFF"/>
                </a:solidFill>
                <a:latin typeface="Calibri"/>
              </a:rPr>
              <a:t>Tax &amp; Macro-Fiscal Dashboard</a:t>
            </a:r>
          </a:p>
          <a:p>
            <a:pPr algn="l"/>
            <a:r>
              <a:rPr sz="1200" b="0">
                <a:solidFill>
                  <a:srgbClr val="CADCFC"/>
                </a:solidFill>
                <a:latin typeface="Calibri"/>
              </a:rPr>
              <a:t>Raw data in, database out, Excel dashboard reads it</a:t>
            </a:r>
          </a:p>
        </p:txBody>
      </p:sp>
      <p:sp>
        <p:nvSpPr>
          <p:cNvPr id="20" name="Oval 19"/>
          <p:cNvSpPr/>
          <p:nvPr/>
        </p:nvSpPr>
        <p:spPr>
          <a:xfrm>
            <a:off x="7178040" y="3657600"/>
            <a:ext cx="411480" cy="411480"/>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178040" y="3657600"/>
            <a:ext cx="411480" cy="411480"/>
          </a:xfrm>
          <a:prstGeom prst="rect">
            <a:avLst/>
          </a:prstGeom>
          <a:noFill/>
        </p:spPr>
        <p:txBody>
          <a:bodyPr wrap="square" anchor="ctr" lIns="45720" rIns="45720" tIns="27432" bIns="27432">
            <a:spAutoFit/>
          </a:bodyPr>
          <a:lstStyle/>
          <a:p>
            <a:pPr algn="ctr"/>
            <a:r>
              <a:rPr sz="1500" b="1">
                <a:solidFill>
                  <a:srgbClr val="FFFFFF"/>
                </a:solidFill>
                <a:latin typeface="Calibri"/>
              </a:rPr>
              <a:t>3</a:t>
            </a:r>
          </a:p>
        </p:txBody>
      </p:sp>
      <p:sp>
        <p:nvSpPr>
          <p:cNvPr id="22" name="TextBox 21"/>
          <p:cNvSpPr txBox="1"/>
          <p:nvPr/>
        </p:nvSpPr>
        <p:spPr>
          <a:xfrm>
            <a:off x="7726679" y="3611880"/>
            <a:ext cx="3749039" cy="914400"/>
          </a:xfrm>
          <a:prstGeom prst="rect">
            <a:avLst/>
          </a:prstGeom>
          <a:noFill/>
        </p:spPr>
        <p:txBody>
          <a:bodyPr wrap="square" anchor="t" lIns="45720" rIns="45720" tIns="27432" bIns="27432">
            <a:spAutoFit/>
          </a:bodyPr>
          <a:lstStyle/>
          <a:p>
            <a:pPr algn="l"/>
            <a:r>
              <a:rPr sz="1400" b="1">
                <a:solidFill>
                  <a:srgbClr val="FFFFFF"/>
                </a:solidFill>
                <a:latin typeface="Calibri"/>
              </a:rPr>
              <a:t>CPAT-Excel-AI</a:t>
            </a:r>
          </a:p>
          <a:p>
            <a:pPr algn="l"/>
            <a:r>
              <a:rPr sz="1200" b="0">
                <a:solidFill>
                  <a:srgbClr val="CADCFC"/>
                </a:solidFill>
                <a:latin typeface="Calibri"/>
              </a:rPr>
              <a:t>AI working inside the CPAT Excel model (guide to follow)</a:t>
            </a:r>
          </a:p>
        </p:txBody>
      </p:sp>
      <p:sp>
        <p:nvSpPr>
          <p:cNvPr id="23" name="Oval 22"/>
          <p:cNvSpPr/>
          <p:nvPr/>
        </p:nvSpPr>
        <p:spPr>
          <a:xfrm>
            <a:off x="7178040" y="4617720"/>
            <a:ext cx="411480" cy="411480"/>
          </a:xfrm>
          <a:prstGeom prst="ellipse">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178040" y="4617720"/>
            <a:ext cx="411480" cy="411480"/>
          </a:xfrm>
          <a:prstGeom prst="rect">
            <a:avLst/>
          </a:prstGeom>
          <a:noFill/>
        </p:spPr>
        <p:txBody>
          <a:bodyPr wrap="square" anchor="ctr" lIns="45720" rIns="45720" tIns="27432" bIns="27432">
            <a:spAutoFit/>
          </a:bodyPr>
          <a:lstStyle/>
          <a:p>
            <a:pPr algn="ctr"/>
            <a:r>
              <a:rPr sz="1500" b="1">
                <a:solidFill>
                  <a:srgbClr val="FFFFFF"/>
                </a:solidFill>
                <a:latin typeface="Calibri"/>
              </a:rPr>
              <a:t>4</a:t>
            </a:r>
          </a:p>
        </p:txBody>
      </p:sp>
      <p:sp>
        <p:nvSpPr>
          <p:cNvPr id="25" name="TextBox 24"/>
          <p:cNvSpPr txBox="1"/>
          <p:nvPr/>
        </p:nvSpPr>
        <p:spPr>
          <a:xfrm>
            <a:off x="7726679" y="4572000"/>
            <a:ext cx="3749039" cy="914400"/>
          </a:xfrm>
          <a:prstGeom prst="rect">
            <a:avLst/>
          </a:prstGeom>
          <a:noFill/>
        </p:spPr>
        <p:txBody>
          <a:bodyPr wrap="square" anchor="t" lIns="45720" rIns="45720" tIns="27432" bIns="27432">
            <a:spAutoFit/>
          </a:bodyPr>
          <a:lstStyle/>
          <a:p>
            <a:pPr algn="l"/>
            <a:r>
              <a:rPr sz="1400" b="1">
                <a:solidFill>
                  <a:srgbClr val="FFFFFF"/>
                </a:solidFill>
                <a:latin typeface="Calibri"/>
              </a:rPr>
              <a:t>CPAT-Python</a:t>
            </a:r>
          </a:p>
          <a:p>
            <a:pPr algn="l"/>
            <a:r>
              <a:rPr sz="1200" b="0">
                <a:solidFill>
                  <a:srgbClr val="CADCFC"/>
                </a:solidFill>
                <a:latin typeface="Calibri"/>
              </a:rPr>
              <a:t>Normal coding with Copilot in the Python repo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7315200" cy="274320"/>
          </a:xfrm>
          <a:prstGeom prst="rect">
            <a:avLst/>
          </a:prstGeom>
          <a:noFill/>
        </p:spPr>
        <p:txBody>
          <a:bodyPr wrap="square" anchor="t" lIns="45720" rIns="45720" tIns="27432" bIns="27432">
            <a:spAutoFit/>
          </a:bodyPr>
          <a:lstStyle/>
          <a:p>
            <a:pPr algn="l"/>
            <a:r>
              <a:rPr sz="1200" b="1">
                <a:solidFill>
                  <a:srgbClr val="0F7B6C"/>
                </a:solidFill>
                <a:latin typeface="Calibri"/>
              </a:rPr>
              <a:t>QUICK START · INTRODUCTION</a:t>
            </a:r>
          </a:p>
        </p:txBody>
      </p:sp>
      <p:sp>
        <p:nvSpPr>
          <p:cNvPr id="3" name="TextBox 2"/>
          <p:cNvSpPr txBox="1"/>
          <p:nvPr/>
        </p:nvSpPr>
        <p:spPr>
          <a:xfrm>
            <a:off x="548640" y="502920"/>
            <a:ext cx="11064240" cy="685800"/>
          </a:xfrm>
          <a:prstGeom prst="rect">
            <a:avLst/>
          </a:prstGeom>
          <a:noFill/>
        </p:spPr>
        <p:txBody>
          <a:bodyPr wrap="square" anchor="t" lIns="45720" rIns="45720" tIns="27432" bIns="27432">
            <a:spAutoFit/>
          </a:bodyPr>
          <a:lstStyle/>
          <a:p>
            <a:pPr algn="l"/>
            <a:r>
              <a:rPr sz="3000" b="0">
                <a:solidFill>
                  <a:srgbClr val="1E2761"/>
                </a:solidFill>
                <a:latin typeface="Cambria"/>
              </a:rPr>
              <a:t>Purpose and context</a:t>
            </a:r>
          </a:p>
        </p:txBody>
      </p:sp>
      <p:sp>
        <p:nvSpPr>
          <p:cNvPr id="4" name="TextBox 3"/>
          <p:cNvSpPr txBox="1"/>
          <p:nvPr/>
        </p:nvSpPr>
        <p:spPr>
          <a:xfrm>
            <a:off x="548640" y="6473952"/>
            <a:ext cx="8686800" cy="228600"/>
          </a:xfrm>
          <a:prstGeom prst="rect">
            <a:avLst/>
          </a:prstGeom>
          <a:noFill/>
        </p:spPr>
        <p:txBody>
          <a:bodyPr wrap="square" anchor="t" lIns="45720" rIns="45720" tIns="27432" bIns="27432">
            <a:spAutoFit/>
          </a:bodyPr>
          <a:lstStyle/>
          <a:p>
            <a:pPr algn="l"/>
            <a:r>
              <a:rPr sz="900" b="0">
                <a:solidFill>
                  <a:srgbClr val="5C667A"/>
                </a:solidFill>
                <a:latin typeface="Calibri"/>
              </a:rPr>
              <a:t>Using GitHub Copilot with our repositories: user guide   ·   Screens and model names change over time</a:t>
            </a:r>
          </a:p>
        </p:txBody>
      </p:sp>
      <p:sp>
        <p:nvSpPr>
          <p:cNvPr id="5" name="Rectangle 4"/>
          <p:cNvSpPr/>
          <p:nvPr/>
        </p:nvSpPr>
        <p:spPr>
          <a:xfrm>
            <a:off x="548640" y="1371600"/>
            <a:ext cx="11091672" cy="233172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68680" y="1481328"/>
            <a:ext cx="10424160" cy="365760"/>
          </a:xfrm>
          <a:prstGeom prst="rect">
            <a:avLst/>
          </a:prstGeom>
          <a:noFill/>
        </p:spPr>
        <p:txBody>
          <a:bodyPr wrap="square" anchor="t" lIns="45720" rIns="45720" tIns="27432" bIns="27432">
            <a:spAutoFit/>
          </a:bodyPr>
          <a:lstStyle/>
          <a:p>
            <a:pPr algn="l"/>
            <a:r>
              <a:rPr sz="1300" b="1">
                <a:solidFill>
                  <a:srgbClr val="CADCFC"/>
                </a:solidFill>
                <a:latin typeface="Calibri"/>
              </a:rPr>
              <a:t>PURPOSE</a:t>
            </a:r>
          </a:p>
        </p:txBody>
      </p:sp>
      <p:sp>
        <p:nvSpPr>
          <p:cNvPr id="7" name="TextBox 6"/>
          <p:cNvSpPr txBox="1"/>
          <p:nvPr/>
        </p:nvSpPr>
        <p:spPr>
          <a:xfrm>
            <a:off x="868680" y="1828800"/>
            <a:ext cx="10424160" cy="1828800"/>
          </a:xfrm>
          <a:prstGeom prst="rect">
            <a:avLst/>
          </a:prstGeom>
          <a:noFill/>
        </p:spPr>
        <p:txBody>
          <a:bodyPr wrap="square" anchor="t" lIns="45720" rIns="45720" tIns="27432" bIns="27432">
            <a:spAutoFit/>
          </a:bodyPr>
          <a:lstStyle/>
          <a:p>
            <a:pPr algn="l"/>
            <a:r>
              <a:rPr sz="1800" b="0">
                <a:solidFill>
                  <a:srgbClr val="FFFFFF"/>
                </a:solidFill>
                <a:latin typeface="Cambria"/>
              </a:rPr>
              <a:t>Take a non-programmer from zero to working productively with GitHub Copilot on our shared repositories.</a:t>
            </a:r>
          </a:p>
          <a:p>
            <a:pPr algn="l">
              <a:spcBef>
                <a:spcPts val="1000"/>
              </a:spcBef>
            </a:pPr>
            <a:r>
              <a:rPr sz="1350" b="0">
                <a:solidFill>
                  <a:srgbClr val="CADCFC"/>
                </a:solidFill>
                <a:latin typeface="Calibri"/>
              </a:rPr>
              <a:t>Explain the shared plumbing once — what a repo is, GitHub and git, the sync script, Copilot's modes, models and credits — so the tool-specific guides can stay short, and be the one place to look when something about GitHub or Copilot is unclear.</a:t>
            </a:r>
          </a:p>
        </p:txBody>
      </p:sp>
      <p:sp>
        <p:nvSpPr>
          <p:cNvPr id="8" name="Rectangle 7"/>
          <p:cNvSpPr/>
          <p:nvPr/>
        </p:nvSpPr>
        <p:spPr>
          <a:xfrm>
            <a:off x="548640" y="3886200"/>
            <a:ext cx="5440680" cy="2377440"/>
          </a:xfrm>
          <a:prstGeom prst="rect">
            <a:avLst/>
          </a:prstGeom>
          <a:solidFill>
            <a:srgbClr val="E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3977639"/>
            <a:ext cx="5029200" cy="365760"/>
          </a:xfrm>
          <a:prstGeom prst="rect">
            <a:avLst/>
          </a:prstGeom>
          <a:noFill/>
        </p:spPr>
        <p:txBody>
          <a:bodyPr wrap="square" anchor="t" lIns="45720" rIns="45720" tIns="27432" bIns="27432">
            <a:spAutoFit/>
          </a:bodyPr>
          <a:lstStyle/>
          <a:p>
            <a:pPr algn="l"/>
            <a:r>
              <a:rPr sz="1600" b="1">
                <a:solidFill>
                  <a:srgbClr val="0F7B6C"/>
                </a:solidFill>
                <a:latin typeface="Calibri"/>
              </a:rPr>
              <a:t>Context</a:t>
            </a:r>
          </a:p>
        </p:txBody>
      </p:sp>
      <p:sp>
        <p:nvSpPr>
          <p:cNvPr id="10" name="TextBox 9"/>
          <p:cNvSpPr txBox="1"/>
          <p:nvPr/>
        </p:nvSpPr>
        <p:spPr>
          <a:xfrm>
            <a:off x="777240" y="4389120"/>
            <a:ext cx="5029200" cy="1828800"/>
          </a:xfrm>
          <a:prstGeom prst="rect">
            <a:avLst/>
          </a:prstGeom>
          <a:noFill/>
        </p:spPr>
        <p:txBody>
          <a:bodyPr wrap="square" anchor="t" lIns="45720" rIns="45720" tIns="27432" bIns="27432">
            <a:spAutoFit/>
          </a:bodyPr>
          <a:lstStyle/>
          <a:p>
            <a:pPr algn="l"/>
            <a:r>
              <a:rPr sz="1250" b="0">
                <a:solidFill>
                  <a:srgbClr val="1F1F2E"/>
                </a:solidFill>
                <a:latin typeface="Calibri"/>
              </a:rPr>
              <a:t>The Fiscal Policy Unit has a GitHub team under the World Bank Group organisation; Copilot is supported by the Bank and billed to the unit.</a:t>
            </a:r>
          </a:p>
          <a:p>
            <a:pPr algn="l">
              <a:spcBef>
                <a:spcPts val="600"/>
              </a:spcBef>
            </a:pPr>
            <a:r>
              <a:rPr sz="1250" b="0">
                <a:solidFill>
                  <a:srgbClr val="1F1F2E"/>
                </a:solidFill>
                <a:latin typeface="Calibri"/>
              </a:rPr>
              <a:t>Our working repos sit in a second organisation, cpmodel, so IMF colleagues and independent contractors (ICs) can collaborate. Two repos matter: CPAT and AI-Tools.</a:t>
            </a:r>
          </a:p>
        </p:txBody>
      </p:sp>
      <p:sp>
        <p:nvSpPr>
          <p:cNvPr id="11" name="Rectangle 10"/>
          <p:cNvSpPr/>
          <p:nvPr/>
        </p:nvSpPr>
        <p:spPr>
          <a:xfrm>
            <a:off x="6199632" y="3886200"/>
            <a:ext cx="5440680" cy="2377440"/>
          </a:xfrm>
          <a:prstGeom prst="rect">
            <a:avLst/>
          </a:prstGeom>
          <a:solidFill>
            <a:srgbClr val="FD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428232" y="3977639"/>
            <a:ext cx="5029200" cy="365760"/>
          </a:xfrm>
          <a:prstGeom prst="rect">
            <a:avLst/>
          </a:prstGeom>
          <a:noFill/>
        </p:spPr>
        <p:txBody>
          <a:bodyPr wrap="square" anchor="t" lIns="45720" rIns="45720" tIns="27432" bIns="27432">
            <a:spAutoFit/>
          </a:bodyPr>
          <a:lstStyle/>
          <a:p>
            <a:pPr algn="l"/>
            <a:r>
              <a:rPr sz="1600" b="1">
                <a:solidFill>
                  <a:srgbClr val="E08A1E"/>
                </a:solidFill>
                <a:latin typeface="Calibri"/>
              </a:rPr>
              <a:t>Who this is for, and how to read it</a:t>
            </a:r>
          </a:p>
        </p:txBody>
      </p:sp>
      <p:sp>
        <p:nvSpPr>
          <p:cNvPr id="13" name="TextBox 12"/>
          <p:cNvSpPr txBox="1"/>
          <p:nvPr/>
        </p:nvSpPr>
        <p:spPr>
          <a:xfrm>
            <a:off x="6428232" y="4389120"/>
            <a:ext cx="5029200" cy="1828800"/>
          </a:xfrm>
          <a:prstGeom prst="rect">
            <a:avLst/>
          </a:prstGeom>
          <a:noFill/>
        </p:spPr>
        <p:txBody>
          <a:bodyPr wrap="square" anchor="t" lIns="45720" rIns="45720" tIns="27432" bIns="27432">
            <a:spAutoFit/>
          </a:bodyPr>
          <a:lstStyle/>
          <a:p>
            <a:pPr algn="l"/>
            <a:r>
              <a:rPr sz="1250" b="0">
                <a:solidFill>
                  <a:srgbClr val="1F1F2E"/>
                </a:solidFill>
                <a:latin typeface="Calibri"/>
              </a:rPr>
              <a:t>Anyone in the unit — or an IMF or IC collaborator — who will use the CPAT or AI-Tools repos. No coding assumed.</a:t>
            </a:r>
          </a:p>
          <a:p>
            <a:pPr algn="l">
              <a:spcBef>
                <a:spcPts val="600"/>
              </a:spcBef>
            </a:pPr>
            <a:r>
              <a:rPr sz="1250" b="0">
                <a:solidFill>
                  <a:srgbClr val="1F1F2E"/>
                </a:solidFill>
                <a:latin typeface="Calibri"/>
              </a:rPr>
              <a:t>Read the Quick Start guide first (slides 2–9, about ten minutes). Appendix 1 has what you need when you set up or when something goes wrong; Appendix 2 has the background and the detailed onboarding steps. Tool guides are in the same folder:  Presentations - Tools\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7315200" cy="274320"/>
          </a:xfrm>
          <a:prstGeom prst="rect">
            <a:avLst/>
          </a:prstGeom>
          <a:noFill/>
        </p:spPr>
        <p:txBody>
          <a:bodyPr wrap="square" anchor="t" lIns="45720" rIns="45720" tIns="27432" bIns="27432">
            <a:spAutoFit/>
          </a:bodyPr>
          <a:lstStyle/>
          <a:p>
            <a:pPr algn="l"/>
            <a:r>
              <a:rPr sz="1200" b="1">
                <a:solidFill>
                  <a:srgbClr val="0F7B6C"/>
                </a:solidFill>
                <a:latin typeface="Calibri"/>
              </a:rPr>
              <a:t>QUICK START · CONTENTS</a:t>
            </a:r>
          </a:p>
        </p:txBody>
      </p:sp>
      <p:sp>
        <p:nvSpPr>
          <p:cNvPr id="3" name="TextBox 2"/>
          <p:cNvSpPr txBox="1"/>
          <p:nvPr/>
        </p:nvSpPr>
        <p:spPr>
          <a:xfrm>
            <a:off x="548640" y="502920"/>
            <a:ext cx="11064240" cy="685800"/>
          </a:xfrm>
          <a:prstGeom prst="rect">
            <a:avLst/>
          </a:prstGeom>
          <a:noFill/>
        </p:spPr>
        <p:txBody>
          <a:bodyPr wrap="square" anchor="t" lIns="45720" rIns="45720" tIns="27432" bIns="27432">
            <a:spAutoFit/>
          </a:bodyPr>
          <a:lstStyle/>
          <a:p>
            <a:pPr algn="l"/>
            <a:r>
              <a:rPr sz="3000" b="0">
                <a:solidFill>
                  <a:srgbClr val="1E2761"/>
                </a:solidFill>
                <a:latin typeface="Cambria"/>
              </a:rPr>
              <a:t>Contents: a short guide, then two appendices</a:t>
            </a:r>
          </a:p>
        </p:txBody>
      </p:sp>
      <p:sp>
        <p:nvSpPr>
          <p:cNvPr id="4" name="TextBox 3"/>
          <p:cNvSpPr txBox="1"/>
          <p:nvPr/>
        </p:nvSpPr>
        <p:spPr>
          <a:xfrm>
            <a:off x="548640" y="6473952"/>
            <a:ext cx="8686800" cy="228600"/>
          </a:xfrm>
          <a:prstGeom prst="rect">
            <a:avLst/>
          </a:prstGeom>
          <a:noFill/>
        </p:spPr>
        <p:txBody>
          <a:bodyPr wrap="square" anchor="t" lIns="45720" rIns="45720" tIns="27432" bIns="27432">
            <a:spAutoFit/>
          </a:bodyPr>
          <a:lstStyle/>
          <a:p>
            <a:pPr algn="l"/>
            <a:r>
              <a:rPr sz="900" b="0">
                <a:solidFill>
                  <a:srgbClr val="5C667A"/>
                </a:solidFill>
                <a:latin typeface="Calibri"/>
              </a:rPr>
              <a:t>Using GitHub Copilot with our repositories: user guide   ·   Screens and model names change over time</a:t>
            </a:r>
          </a:p>
        </p:txBody>
      </p:sp>
      <p:sp>
        <p:nvSpPr>
          <p:cNvPr id="5" name="Rectangle 4"/>
          <p:cNvSpPr/>
          <p:nvPr/>
        </p:nvSpPr>
        <p:spPr>
          <a:xfrm>
            <a:off x="548640" y="1325880"/>
            <a:ext cx="3593592" cy="4160520"/>
          </a:xfrm>
          <a:prstGeom prst="rect">
            <a:avLst/>
          </a:prstGeom>
          <a:solidFill>
            <a:srgbClr val="E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31520" y="1481328"/>
            <a:ext cx="402336" cy="402336"/>
          </a:xfrm>
          <a:prstGeom prst="ellipse">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31520" y="1481328"/>
            <a:ext cx="402336" cy="402336"/>
          </a:xfrm>
          <a:prstGeom prst="rect">
            <a:avLst/>
          </a:prstGeom>
          <a:noFill/>
        </p:spPr>
        <p:txBody>
          <a:bodyPr wrap="square" anchor="ctr" lIns="45720" rIns="45720" tIns="27432" bIns="27432">
            <a:spAutoFit/>
          </a:bodyPr>
          <a:lstStyle/>
          <a:p>
            <a:pPr algn="ctr"/>
            <a:r>
              <a:rPr sz="1200" b="1">
                <a:solidFill>
                  <a:srgbClr val="FFFFFF"/>
                </a:solidFill>
                <a:latin typeface="Calibri"/>
              </a:rPr>
              <a:t>1</a:t>
            </a:r>
          </a:p>
        </p:txBody>
      </p:sp>
      <p:sp>
        <p:nvSpPr>
          <p:cNvPr id="8" name="TextBox 7"/>
          <p:cNvSpPr txBox="1"/>
          <p:nvPr/>
        </p:nvSpPr>
        <p:spPr>
          <a:xfrm>
            <a:off x="1261872" y="1417320"/>
            <a:ext cx="2788920" cy="548640"/>
          </a:xfrm>
          <a:prstGeom prst="rect">
            <a:avLst/>
          </a:prstGeom>
          <a:noFill/>
        </p:spPr>
        <p:txBody>
          <a:bodyPr wrap="square" anchor="ctr" lIns="45720" rIns="45720" tIns="27432" bIns="27432">
            <a:spAutoFit/>
          </a:bodyPr>
          <a:lstStyle/>
          <a:p>
            <a:pPr algn="l"/>
            <a:r>
              <a:rPr sz="1400" b="1">
                <a:solidFill>
                  <a:srgbClr val="1E2761"/>
                </a:solidFill>
                <a:latin typeface="Calibri"/>
              </a:rPr>
              <a:t>Quick Start guide</a:t>
            </a:r>
          </a:p>
        </p:txBody>
      </p:sp>
      <p:sp>
        <p:nvSpPr>
          <p:cNvPr id="9" name="TextBox 8"/>
          <p:cNvSpPr txBox="1"/>
          <p:nvPr/>
        </p:nvSpPr>
        <p:spPr>
          <a:xfrm>
            <a:off x="731520" y="2057400"/>
            <a:ext cx="3246120" cy="274320"/>
          </a:xfrm>
          <a:prstGeom prst="rect">
            <a:avLst/>
          </a:prstGeom>
          <a:noFill/>
        </p:spPr>
        <p:txBody>
          <a:bodyPr wrap="square" anchor="t" lIns="45720" rIns="45720" tIns="27432" bIns="27432">
            <a:spAutoFit/>
          </a:bodyPr>
          <a:lstStyle/>
          <a:p>
            <a:pPr algn="l"/>
            <a:r>
              <a:rPr sz="1150" b="1">
                <a:solidFill>
                  <a:srgbClr val="0F7B6C"/>
                </a:solidFill>
                <a:latin typeface="Calibri"/>
              </a:rPr>
              <a:t>Slides 2–9</a:t>
            </a:r>
          </a:p>
        </p:txBody>
      </p:sp>
      <p:sp>
        <p:nvSpPr>
          <p:cNvPr id="10" name="TextBox 9"/>
          <p:cNvSpPr txBox="1"/>
          <p:nvPr/>
        </p:nvSpPr>
        <p:spPr>
          <a:xfrm>
            <a:off x="731520" y="2359152"/>
            <a:ext cx="3246120" cy="548640"/>
          </a:xfrm>
          <a:prstGeom prst="rect">
            <a:avLst/>
          </a:prstGeom>
          <a:noFill/>
        </p:spPr>
        <p:txBody>
          <a:bodyPr wrap="square" anchor="t" lIns="45720" rIns="45720" tIns="27432" bIns="27432">
            <a:spAutoFit/>
          </a:bodyPr>
          <a:lstStyle/>
          <a:p>
            <a:pPr algn="l"/>
            <a:r>
              <a:rPr sz="1200" b="0">
                <a:solidFill>
                  <a:srgbClr val="1F1F2E"/>
                </a:solidFill>
                <a:latin typeface="Calibri"/>
              </a:rPr>
              <a:t>The basics and the step-by-step setup, for everyone. Read this first.</a:t>
            </a:r>
          </a:p>
        </p:txBody>
      </p:sp>
      <p:sp>
        <p:nvSpPr>
          <p:cNvPr id="11" name="TextBox 10"/>
          <p:cNvSpPr txBox="1"/>
          <p:nvPr/>
        </p:nvSpPr>
        <p:spPr>
          <a:xfrm>
            <a:off x="731520" y="3017520"/>
            <a:ext cx="3246120" cy="2926080"/>
          </a:xfrm>
          <a:prstGeom prst="rect">
            <a:avLst/>
          </a:prstGeom>
          <a:noFill/>
        </p:spPr>
        <p:txBody>
          <a:bodyPr wrap="square" anchor="t" lIns="45720" rIns="45720" tIns="27432" bIns="27432">
            <a:spAutoFit/>
          </a:bodyPr>
          <a:lstStyle/>
          <a:p>
            <a:pPr algn="l">
              <a:spcBef>
                <a:spcPts val="400"/>
              </a:spcBef>
            </a:pPr>
            <a:r>
              <a:rPr sz="1150" b="0">
                <a:solidFill>
                  <a:srgbClr val="1F1F2E"/>
                </a:solidFill>
                <a:latin typeface="Calibri"/>
              </a:rPr>
              <a:t>•  What a repo is, what GitHub is, where repos are stored</a:t>
            </a:r>
          </a:p>
          <a:p>
            <a:pPr algn="l">
              <a:spcBef>
                <a:spcPts val="400"/>
              </a:spcBef>
            </a:pPr>
            <a:r>
              <a:rPr sz="1150" b="0">
                <a:solidFill>
                  <a:srgbClr val="1F1F2E"/>
                </a:solidFill>
                <a:latin typeface="Calibri"/>
              </a:rPr>
              <a:t>•  What GitHub Copilot is, and five reasons we use it</a:t>
            </a:r>
          </a:p>
          <a:p>
            <a:pPr algn="l">
              <a:spcBef>
                <a:spcPts val="400"/>
              </a:spcBef>
            </a:pPr>
            <a:r>
              <a:rPr sz="1150" b="0">
                <a:solidFill>
                  <a:srgbClr val="1F1F2E"/>
                </a:solidFill>
                <a:latin typeface="Calibri"/>
              </a:rPr>
              <a:t>•  Your path in five steps</a:t>
            </a:r>
          </a:p>
          <a:p>
            <a:pPr algn="l">
              <a:spcBef>
                <a:spcPts val="400"/>
              </a:spcBef>
            </a:pPr>
            <a:r>
              <a:rPr sz="1150" b="0">
                <a:solidFill>
                  <a:srgbClr val="1F1F2E"/>
                </a:solidFill>
                <a:latin typeface="Calibri"/>
              </a:rPr>
              <a:t>•  Steps 1–2 in detail: get access, install the tools</a:t>
            </a:r>
          </a:p>
          <a:p>
            <a:pPr algn="l">
              <a:spcBef>
                <a:spcPts val="400"/>
              </a:spcBef>
            </a:pPr>
            <a:r>
              <a:rPr sz="1150" b="0">
                <a:solidFill>
                  <a:srgbClr val="1F1F2E"/>
                </a:solidFill>
                <a:latin typeface="Calibri"/>
              </a:rPr>
              <a:t>•  Steps 3–5 in detail: set up local mode and work</a:t>
            </a:r>
          </a:p>
          <a:p>
            <a:pPr algn="l">
              <a:spcBef>
                <a:spcPts val="400"/>
              </a:spcBef>
            </a:pPr>
            <a:r>
              <a:rPr sz="1150" b="0">
                <a:solidFill>
                  <a:srgbClr val="1F1F2E"/>
                </a:solidFill>
                <a:latin typeface="Calibri"/>
              </a:rPr>
              <a:t>•  What to remember, and what to do next</a:t>
            </a:r>
          </a:p>
        </p:txBody>
      </p:sp>
      <p:sp>
        <p:nvSpPr>
          <p:cNvPr id="12" name="Rectangle 11"/>
          <p:cNvSpPr/>
          <p:nvPr/>
        </p:nvSpPr>
        <p:spPr>
          <a:xfrm>
            <a:off x="4297679" y="1325880"/>
            <a:ext cx="3593592" cy="4160520"/>
          </a:xfrm>
          <a:prstGeom prst="rect">
            <a:avLst/>
          </a:prstGeom>
          <a:solidFill>
            <a:srgbClr val="FD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480559" y="1481328"/>
            <a:ext cx="402336" cy="402336"/>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80559" y="1481328"/>
            <a:ext cx="402336" cy="402336"/>
          </a:xfrm>
          <a:prstGeom prst="rect">
            <a:avLst/>
          </a:prstGeom>
          <a:noFill/>
        </p:spPr>
        <p:txBody>
          <a:bodyPr wrap="square" anchor="ctr" lIns="45720" rIns="45720" tIns="27432" bIns="27432">
            <a:spAutoFit/>
          </a:bodyPr>
          <a:lstStyle/>
          <a:p>
            <a:pPr algn="ctr"/>
            <a:r>
              <a:rPr sz="1200" b="1">
                <a:solidFill>
                  <a:srgbClr val="FFFFFF"/>
                </a:solidFill>
                <a:latin typeface="Calibri"/>
              </a:rPr>
              <a:t>A1</a:t>
            </a:r>
          </a:p>
        </p:txBody>
      </p:sp>
      <p:sp>
        <p:nvSpPr>
          <p:cNvPr id="15" name="TextBox 14"/>
          <p:cNvSpPr txBox="1"/>
          <p:nvPr/>
        </p:nvSpPr>
        <p:spPr>
          <a:xfrm>
            <a:off x="5010912" y="1417320"/>
            <a:ext cx="2788920" cy="548640"/>
          </a:xfrm>
          <a:prstGeom prst="rect">
            <a:avLst/>
          </a:prstGeom>
          <a:noFill/>
        </p:spPr>
        <p:txBody>
          <a:bodyPr wrap="square" anchor="ctr" lIns="45720" rIns="45720" tIns="27432" bIns="27432">
            <a:spAutoFit/>
          </a:bodyPr>
          <a:lstStyle/>
          <a:p>
            <a:pPr algn="l"/>
            <a:r>
              <a:rPr sz="1400" b="1">
                <a:solidFill>
                  <a:srgbClr val="1E2761"/>
                </a:solidFill>
                <a:latin typeface="Calibri"/>
              </a:rPr>
              <a:t>Appendix 1 · More important information</a:t>
            </a:r>
          </a:p>
        </p:txBody>
      </p:sp>
      <p:sp>
        <p:nvSpPr>
          <p:cNvPr id="16" name="TextBox 15"/>
          <p:cNvSpPr txBox="1"/>
          <p:nvPr/>
        </p:nvSpPr>
        <p:spPr>
          <a:xfrm>
            <a:off x="4480559" y="2057400"/>
            <a:ext cx="3246120" cy="274320"/>
          </a:xfrm>
          <a:prstGeom prst="rect">
            <a:avLst/>
          </a:prstGeom>
          <a:noFill/>
        </p:spPr>
        <p:txBody>
          <a:bodyPr wrap="square" anchor="t" lIns="45720" rIns="45720" tIns="27432" bIns="27432">
            <a:spAutoFit/>
          </a:bodyPr>
          <a:lstStyle/>
          <a:p>
            <a:pPr algn="l"/>
            <a:r>
              <a:rPr sz="1150" b="1">
                <a:solidFill>
                  <a:srgbClr val="E08A1E"/>
                </a:solidFill>
                <a:latin typeface="Calibri"/>
              </a:rPr>
              <a:t>Slides 11–22</a:t>
            </a:r>
          </a:p>
        </p:txBody>
      </p:sp>
      <p:sp>
        <p:nvSpPr>
          <p:cNvPr id="17" name="TextBox 16"/>
          <p:cNvSpPr txBox="1"/>
          <p:nvPr/>
        </p:nvSpPr>
        <p:spPr>
          <a:xfrm>
            <a:off x="4480559" y="2359152"/>
            <a:ext cx="3246120" cy="548640"/>
          </a:xfrm>
          <a:prstGeom prst="rect">
            <a:avLst/>
          </a:prstGeom>
          <a:noFill/>
        </p:spPr>
        <p:txBody>
          <a:bodyPr wrap="square" anchor="t" lIns="45720" rIns="45720" tIns="27432" bIns="27432">
            <a:spAutoFit/>
          </a:bodyPr>
          <a:lstStyle/>
          <a:p>
            <a:pPr algn="l"/>
            <a:r>
              <a:rPr sz="1200" b="0">
                <a:solidFill>
                  <a:srgbClr val="1F1F2E"/>
                </a:solidFill>
                <a:latin typeface="Calibri"/>
              </a:rPr>
              <a:t>Read when you set up, and when something goes wrong.</a:t>
            </a:r>
          </a:p>
        </p:txBody>
      </p:sp>
      <p:sp>
        <p:nvSpPr>
          <p:cNvPr id="18" name="TextBox 17"/>
          <p:cNvSpPr txBox="1"/>
          <p:nvPr/>
        </p:nvSpPr>
        <p:spPr>
          <a:xfrm>
            <a:off x="4480559" y="3017520"/>
            <a:ext cx="3246120" cy="2926080"/>
          </a:xfrm>
          <a:prstGeom prst="rect">
            <a:avLst/>
          </a:prstGeom>
          <a:noFill/>
        </p:spPr>
        <p:txBody>
          <a:bodyPr wrap="square" anchor="t" lIns="45720" rIns="45720" tIns="27432" bIns="27432">
            <a:spAutoFit/>
          </a:bodyPr>
          <a:lstStyle/>
          <a:p>
            <a:pPr algn="l">
              <a:spcBef>
                <a:spcPts val="400"/>
              </a:spcBef>
            </a:pPr>
            <a:r>
              <a:rPr sz="1150" b="0">
                <a:solidFill>
                  <a:srgbClr val="1F1F2E"/>
                </a:solidFill>
                <a:latin typeface="Calibri"/>
              </a:rPr>
              <a:t>•  Three modes Copilot runs in · a Repos folder outside OneDrive · our two repos (cpmodel)</a:t>
            </a:r>
          </a:p>
          <a:p>
            <a:pPr algn="l">
              <a:spcBef>
                <a:spcPts val="400"/>
              </a:spcBef>
            </a:pPr>
            <a:r>
              <a:rPr sz="1150" b="0">
                <a:solidFill>
                  <a:srgbClr val="1F1F2E"/>
                </a:solidFill>
                <a:latin typeface="Calibri"/>
              </a:rPr>
              <a:t>•  Tools to install (gh) · SyncRepo.bat</a:t>
            </a:r>
          </a:p>
          <a:p>
            <a:pPr algn="l">
              <a:spcBef>
                <a:spcPts val="400"/>
              </a:spcBef>
            </a:pPr>
            <a:r>
              <a:rPr sz="1150" b="0">
                <a:solidFill>
                  <a:srgbClr val="1F1F2E"/>
                </a:solidFill>
                <a:latin typeface="Calibri"/>
              </a:rPr>
              <a:t>•  Access and credits · the Copilot app</a:t>
            </a:r>
          </a:p>
          <a:p>
            <a:pPr algn="l">
              <a:spcBef>
                <a:spcPts val="400"/>
              </a:spcBef>
            </a:pPr>
            <a:r>
              <a:rPr sz="1150" b="0">
                <a:solidFill>
                  <a:srgbClr val="1F1F2E"/>
                </a:solidFill>
                <a:latin typeface="Calibri"/>
              </a:rPr>
              <a:t>•  How Copilot uses AI · which model to use · our four AI-built tools</a:t>
            </a:r>
          </a:p>
          <a:p>
            <a:pPr algn="l">
              <a:spcBef>
                <a:spcPts val="400"/>
              </a:spcBef>
            </a:pPr>
            <a:r>
              <a:rPr sz="1150" b="0">
                <a:solidFill>
                  <a:srgbClr val="1F1F2E"/>
                </a:solidFill>
                <a:latin typeface="Calibri"/>
              </a:rPr>
              <a:t>•  Troubleshooting · quick reference</a:t>
            </a:r>
          </a:p>
        </p:txBody>
      </p:sp>
      <p:sp>
        <p:nvSpPr>
          <p:cNvPr id="19" name="Rectangle 18"/>
          <p:cNvSpPr/>
          <p:nvPr/>
        </p:nvSpPr>
        <p:spPr>
          <a:xfrm>
            <a:off x="8046719" y="1325880"/>
            <a:ext cx="3593592" cy="416052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8229599" y="1481328"/>
            <a:ext cx="402336" cy="402336"/>
          </a:xfrm>
          <a:prstGeom prst="ellipse">
            <a:avLst/>
          </a:prstGeom>
          <a:solidFill>
            <a:srgbClr val="2E3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229599" y="1481328"/>
            <a:ext cx="402336" cy="402336"/>
          </a:xfrm>
          <a:prstGeom prst="rect">
            <a:avLst/>
          </a:prstGeom>
          <a:noFill/>
        </p:spPr>
        <p:txBody>
          <a:bodyPr wrap="square" anchor="ctr" lIns="45720" rIns="45720" tIns="27432" bIns="27432">
            <a:spAutoFit/>
          </a:bodyPr>
          <a:lstStyle/>
          <a:p>
            <a:pPr algn="ctr"/>
            <a:r>
              <a:rPr sz="1200" b="1">
                <a:solidFill>
                  <a:srgbClr val="FFFFFF"/>
                </a:solidFill>
                <a:latin typeface="Calibri"/>
              </a:rPr>
              <a:t>A2</a:t>
            </a:r>
          </a:p>
        </p:txBody>
      </p:sp>
      <p:sp>
        <p:nvSpPr>
          <p:cNvPr id="22" name="TextBox 21"/>
          <p:cNvSpPr txBox="1"/>
          <p:nvPr/>
        </p:nvSpPr>
        <p:spPr>
          <a:xfrm>
            <a:off x="8759951" y="1417320"/>
            <a:ext cx="2788920" cy="548640"/>
          </a:xfrm>
          <a:prstGeom prst="rect">
            <a:avLst/>
          </a:prstGeom>
          <a:noFill/>
        </p:spPr>
        <p:txBody>
          <a:bodyPr wrap="square" anchor="ctr" lIns="45720" rIns="45720" tIns="27432" bIns="27432">
            <a:spAutoFit/>
          </a:bodyPr>
          <a:lstStyle/>
          <a:p>
            <a:pPr algn="l"/>
            <a:r>
              <a:rPr sz="1400" b="1">
                <a:solidFill>
                  <a:srgbClr val="1E2761"/>
                </a:solidFill>
                <a:latin typeface="Calibri"/>
              </a:rPr>
              <a:t>Appendix 2 · Further information</a:t>
            </a:r>
          </a:p>
        </p:txBody>
      </p:sp>
      <p:sp>
        <p:nvSpPr>
          <p:cNvPr id="23" name="TextBox 22"/>
          <p:cNvSpPr txBox="1"/>
          <p:nvPr/>
        </p:nvSpPr>
        <p:spPr>
          <a:xfrm>
            <a:off x="8229599" y="2057400"/>
            <a:ext cx="3246120" cy="274320"/>
          </a:xfrm>
          <a:prstGeom prst="rect">
            <a:avLst/>
          </a:prstGeom>
          <a:noFill/>
        </p:spPr>
        <p:txBody>
          <a:bodyPr wrap="square" anchor="t" lIns="45720" rIns="45720" tIns="27432" bIns="27432">
            <a:spAutoFit/>
          </a:bodyPr>
          <a:lstStyle/>
          <a:p>
            <a:pPr algn="l"/>
            <a:r>
              <a:rPr sz="1150" b="1">
                <a:solidFill>
                  <a:srgbClr val="2E3A7A"/>
                </a:solidFill>
                <a:latin typeface="Calibri"/>
              </a:rPr>
              <a:t>Slides 24–33</a:t>
            </a:r>
          </a:p>
        </p:txBody>
      </p:sp>
      <p:sp>
        <p:nvSpPr>
          <p:cNvPr id="24" name="TextBox 23"/>
          <p:cNvSpPr txBox="1"/>
          <p:nvPr/>
        </p:nvSpPr>
        <p:spPr>
          <a:xfrm>
            <a:off x="8229599" y="2359152"/>
            <a:ext cx="3246120" cy="548640"/>
          </a:xfrm>
          <a:prstGeom prst="rect">
            <a:avLst/>
          </a:prstGeom>
          <a:noFill/>
        </p:spPr>
        <p:txBody>
          <a:bodyPr wrap="square" anchor="t" lIns="45720" rIns="45720" tIns="27432" bIns="27432">
            <a:spAutoFit/>
          </a:bodyPr>
          <a:lstStyle/>
          <a:p>
            <a:pPr algn="l"/>
            <a:r>
              <a:rPr sz="1200" b="0">
                <a:solidFill>
                  <a:srgbClr val="1F1F2E"/>
                </a:solidFill>
                <a:latin typeface="Calibri"/>
              </a:rPr>
              <a:t>Background and detail, for when you want it.</a:t>
            </a:r>
          </a:p>
        </p:txBody>
      </p:sp>
      <p:sp>
        <p:nvSpPr>
          <p:cNvPr id="25" name="TextBox 24"/>
          <p:cNvSpPr txBox="1"/>
          <p:nvPr/>
        </p:nvSpPr>
        <p:spPr>
          <a:xfrm>
            <a:off x="8229599" y="3017520"/>
            <a:ext cx="3246120" cy="2926080"/>
          </a:xfrm>
          <a:prstGeom prst="rect">
            <a:avLst/>
          </a:prstGeom>
          <a:noFill/>
        </p:spPr>
        <p:txBody>
          <a:bodyPr wrap="square" anchor="t" lIns="45720" rIns="45720" tIns="27432" bIns="27432">
            <a:spAutoFit/>
          </a:bodyPr>
          <a:lstStyle/>
          <a:p>
            <a:pPr algn="l">
              <a:spcBef>
                <a:spcPts val="400"/>
              </a:spcBef>
            </a:pPr>
            <a:r>
              <a:rPr sz="1150" b="0">
                <a:solidFill>
                  <a:srgbClr val="1F1F2E"/>
                </a:solidFill>
                <a:latin typeface="Calibri"/>
              </a:rPr>
              <a:t>•  GitHub and git basics: the repo page, twelve terms, the cycle</a:t>
            </a:r>
          </a:p>
          <a:p>
            <a:pPr algn="l">
              <a:spcBef>
                <a:spcPts val="400"/>
              </a:spcBef>
            </a:pPr>
            <a:r>
              <a:rPr sz="1150" b="0">
                <a:solidFill>
                  <a:srgbClr val="1F1F2E"/>
                </a:solidFill>
                <a:latin typeface="Calibri"/>
              </a:rPr>
              <a:t>•  How each tool works with Copilot: Excise, Dashboard, CPAT</a:t>
            </a:r>
          </a:p>
          <a:p>
            <a:pPr algn="l">
              <a:spcBef>
                <a:spcPts val="400"/>
              </a:spcBef>
            </a:pPr>
            <a:r>
              <a:rPr sz="1150" b="0">
                <a:solidFill>
                  <a:srgbClr val="1F1F2E"/>
                </a:solidFill>
                <a:latin typeface="Calibri"/>
              </a:rPr>
              <a:t>•  Onboarding steps 1–5: WBG organisation, unit team, create a repo, set up Copilot</a:t>
            </a:r>
          </a:p>
        </p:txBody>
      </p:sp>
      <p:sp>
        <p:nvSpPr>
          <p:cNvPr id="26" name="TextBox 25"/>
          <p:cNvSpPr txBox="1"/>
          <p:nvPr/>
        </p:nvSpPr>
        <p:spPr>
          <a:xfrm>
            <a:off x="548640" y="5715000"/>
            <a:ext cx="10972800" cy="274320"/>
          </a:xfrm>
          <a:prstGeom prst="rect">
            <a:avLst/>
          </a:prstGeom>
          <a:noFill/>
        </p:spPr>
        <p:txBody>
          <a:bodyPr wrap="square" anchor="t" lIns="45720" rIns="45720" tIns="27432" bIns="27432">
            <a:spAutoFit/>
          </a:bodyPr>
          <a:lstStyle/>
          <a:p>
            <a:pPr algn="l"/>
            <a:r>
              <a:rPr sz="1050" b="0">
                <a:solidFill>
                  <a:srgbClr val="5C667A"/>
                </a:solidFill>
                <a:latin typeface="Calibri"/>
              </a:rPr>
              <a:t>Companion guides, same folder:  Excise_Diagnostic_User_Guide.pptx  ·  TaxMacroFiscalDashboard-user-guide.pptx  ·  CPAT-Excel-AI guide (to follow)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7315200" cy="274320"/>
          </a:xfrm>
          <a:prstGeom prst="rect">
            <a:avLst/>
          </a:prstGeom>
          <a:noFill/>
        </p:spPr>
        <p:txBody>
          <a:bodyPr wrap="square" anchor="t" lIns="45720" rIns="45720" tIns="27432" bIns="27432">
            <a:spAutoFit/>
          </a:bodyPr>
          <a:lstStyle/>
          <a:p>
            <a:pPr algn="l"/>
            <a:r>
              <a:rPr sz="1200" b="1">
                <a:solidFill>
                  <a:srgbClr val="0F7B6C"/>
                </a:solidFill>
                <a:latin typeface="Calibri"/>
              </a:rPr>
              <a:t>QUICK START · REPOS AND GITHUB</a:t>
            </a:r>
          </a:p>
        </p:txBody>
      </p:sp>
      <p:sp>
        <p:nvSpPr>
          <p:cNvPr id="3" name="TextBox 2"/>
          <p:cNvSpPr txBox="1"/>
          <p:nvPr/>
        </p:nvSpPr>
        <p:spPr>
          <a:xfrm>
            <a:off x="548640" y="502920"/>
            <a:ext cx="11064240" cy="685800"/>
          </a:xfrm>
          <a:prstGeom prst="rect">
            <a:avLst/>
          </a:prstGeom>
          <a:noFill/>
        </p:spPr>
        <p:txBody>
          <a:bodyPr wrap="square" anchor="t" lIns="45720" rIns="45720" tIns="27432" bIns="27432">
            <a:spAutoFit/>
          </a:bodyPr>
          <a:lstStyle/>
          <a:p>
            <a:pPr algn="l"/>
            <a:r>
              <a:rPr sz="3000" b="0">
                <a:solidFill>
                  <a:srgbClr val="1E2761"/>
                </a:solidFill>
                <a:latin typeface="Cambria"/>
              </a:rPr>
              <a:t>What a repo is, what GitHub is, and where repos are stored</a:t>
            </a:r>
          </a:p>
        </p:txBody>
      </p:sp>
      <p:sp>
        <p:nvSpPr>
          <p:cNvPr id="4" name="TextBox 3"/>
          <p:cNvSpPr txBox="1"/>
          <p:nvPr/>
        </p:nvSpPr>
        <p:spPr>
          <a:xfrm>
            <a:off x="548640" y="6473952"/>
            <a:ext cx="8686800" cy="228600"/>
          </a:xfrm>
          <a:prstGeom prst="rect">
            <a:avLst/>
          </a:prstGeom>
          <a:noFill/>
        </p:spPr>
        <p:txBody>
          <a:bodyPr wrap="square" anchor="t" lIns="45720" rIns="45720" tIns="27432" bIns="27432">
            <a:spAutoFit/>
          </a:bodyPr>
          <a:lstStyle/>
          <a:p>
            <a:pPr algn="l"/>
            <a:r>
              <a:rPr sz="900" b="0">
                <a:solidFill>
                  <a:srgbClr val="5C667A"/>
                </a:solidFill>
                <a:latin typeface="Calibri"/>
              </a:rPr>
              <a:t>Using GitHub Copilot with our repositories: user guide   ·   Screens and model names change over time</a:t>
            </a:r>
          </a:p>
        </p:txBody>
      </p:sp>
      <p:sp>
        <p:nvSpPr>
          <p:cNvPr id="5" name="Rectangle 4"/>
          <p:cNvSpPr/>
          <p:nvPr/>
        </p:nvSpPr>
        <p:spPr>
          <a:xfrm>
            <a:off x="548640" y="1325880"/>
            <a:ext cx="4206240" cy="493776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77240" y="1417320"/>
            <a:ext cx="3840480" cy="365760"/>
          </a:xfrm>
          <a:prstGeom prst="rect">
            <a:avLst/>
          </a:prstGeom>
          <a:noFill/>
        </p:spPr>
        <p:txBody>
          <a:bodyPr wrap="square" anchor="t" lIns="45720" rIns="45720" tIns="27432" bIns="27432">
            <a:spAutoFit/>
          </a:bodyPr>
          <a:lstStyle/>
          <a:p>
            <a:pPr algn="l"/>
            <a:r>
              <a:rPr sz="1600" b="1">
                <a:solidFill>
                  <a:srgbClr val="1E2761"/>
                </a:solidFill>
                <a:latin typeface="Calibri"/>
              </a:rPr>
              <a:t>Repos and GitHub in plain terms</a:t>
            </a:r>
          </a:p>
        </p:txBody>
      </p:sp>
      <p:sp>
        <p:nvSpPr>
          <p:cNvPr id="7" name="TextBox 6"/>
          <p:cNvSpPr txBox="1"/>
          <p:nvPr/>
        </p:nvSpPr>
        <p:spPr>
          <a:xfrm>
            <a:off x="777240" y="1828800"/>
            <a:ext cx="3840480" cy="4389120"/>
          </a:xfrm>
          <a:prstGeom prst="rect">
            <a:avLst/>
          </a:prstGeom>
          <a:noFill/>
        </p:spPr>
        <p:txBody>
          <a:bodyPr wrap="square" anchor="t" lIns="45720" rIns="45720" tIns="27432" bIns="27432">
            <a:spAutoFit/>
          </a:bodyPr>
          <a:lstStyle/>
          <a:p>
            <a:pPr algn="l"/>
            <a:r>
              <a:rPr sz="1250" b="0">
                <a:solidFill>
                  <a:srgbClr val="1F1F2E"/>
                </a:solidFill>
                <a:latin typeface="Calibri"/>
              </a:rPr>
              <a:t>A repository (repo) is a project folder — code, instructions, small data, documents — that git keeps a complete history of: every version of every file, who changed it and why.</a:t>
            </a:r>
          </a:p>
          <a:p>
            <a:pPr algn="l">
              <a:spcBef>
                <a:spcPts val="800"/>
              </a:spcBef>
            </a:pPr>
            <a:r>
              <a:rPr sz="1250" b="1">
                <a:solidFill>
                  <a:srgbClr val="1E2761"/>
                </a:solidFill>
                <a:latin typeface="Calibri"/>
              </a:rPr>
              <a:t>A repo is stored in two places at once:</a:t>
            </a:r>
          </a:p>
          <a:p>
            <a:pPr algn="l">
              <a:spcBef>
                <a:spcPts val="300"/>
              </a:spcBef>
            </a:pPr>
            <a:r>
              <a:rPr sz="1250" b="0">
                <a:solidFill>
                  <a:srgbClr val="1F1F2E"/>
                </a:solidFill>
                <a:latin typeface="Calibri"/>
              </a:rPr>
              <a:t>•  on your drive, under C:\Users\&lt;you&gt;\Repos\, as an ordinary folder you open in Explorer, Excel or Python;</a:t>
            </a:r>
          </a:p>
          <a:p>
            <a:pPr algn="l">
              <a:spcBef>
                <a:spcPts val="200"/>
              </a:spcBef>
            </a:pPr>
            <a:r>
              <a:rPr sz="1250" b="0">
                <a:solidFill>
                  <a:srgbClr val="1F1F2E"/>
                </a:solidFill>
                <a:latin typeface="Calibri"/>
              </a:rPr>
              <a:t>•  in the cloud, on GitHub, as the shared master copy the whole team works from.</a:t>
            </a:r>
          </a:p>
          <a:p>
            <a:pPr algn="l">
              <a:spcBef>
                <a:spcPts val="800"/>
              </a:spcBef>
            </a:pPr>
            <a:r>
              <a:rPr sz="1250" b="0">
                <a:solidFill>
                  <a:srgbClr val="1F1F2E"/>
                </a:solidFill>
                <a:latin typeface="Calibri"/>
              </a:rPr>
              <a:t>GitHub is the website (github.com) that holds the cloud copies. Repos are grouped into organisations: ours live in cpmodel (shared with IMF and ICs); your Copilot seat sits in worldbank.</a:t>
            </a:r>
          </a:p>
          <a:p>
            <a:pPr algn="l">
              <a:spcBef>
                <a:spcPts val="800"/>
              </a:spcBef>
            </a:pPr>
            <a:r>
              <a:rPr sz="1250" b="0">
                <a:solidFill>
                  <a:srgbClr val="1F1F2E"/>
                </a:solidFill>
                <a:latin typeface="Calibri"/>
              </a:rPr>
              <a:t>You pull to bring the team's changes down, and push to send yours up. Nothing moves until you say so, which is the big difference from OneDrive.</a:t>
            </a:r>
          </a:p>
          <a:p>
            <a:pPr algn="l">
              <a:spcBef>
                <a:spcPts val="800"/>
              </a:spcBef>
            </a:pPr>
            <a:r>
              <a:rPr sz="1250" b="1">
                <a:solidFill>
                  <a:srgbClr val="0F7B6C"/>
                </a:solidFill>
                <a:latin typeface="Calibri"/>
              </a:rPr>
              <a:t>Copilot works in the folder on your drive; GitHub keeps the shared copy safe.</a:t>
            </a:r>
          </a:p>
        </p:txBody>
      </p:sp>
      <p:sp>
        <p:nvSpPr>
          <p:cNvPr id="8" name="Rectangle 7"/>
          <p:cNvSpPr/>
          <p:nvPr/>
        </p:nvSpPr>
        <p:spPr>
          <a:xfrm>
            <a:off x="5074920" y="1325880"/>
            <a:ext cx="2926080" cy="1417320"/>
          </a:xfrm>
          <a:prstGeom prst="rect">
            <a:avLst/>
          </a:prstGeom>
          <a:solidFill>
            <a:srgbClr val="FD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212080" y="1371600"/>
            <a:ext cx="2651760" cy="1325880"/>
          </a:xfrm>
          <a:prstGeom prst="rect">
            <a:avLst/>
          </a:prstGeom>
          <a:noFill/>
        </p:spPr>
        <p:txBody>
          <a:bodyPr wrap="square" anchor="t" lIns="45720" rIns="45720" tIns="27432" bIns="27432">
            <a:spAutoFit/>
          </a:bodyPr>
          <a:lstStyle/>
          <a:p>
            <a:pPr algn="l"/>
            <a:r>
              <a:rPr sz="1400" b="1">
                <a:solidFill>
                  <a:srgbClr val="E08A1E"/>
                </a:solidFill>
                <a:latin typeface="Calibri"/>
              </a:rPr>
              <a:t>Your drive</a:t>
            </a:r>
          </a:p>
          <a:p>
            <a:pPr algn="l"/>
            <a:r>
              <a:rPr sz="1100" b="0">
                <a:solidFill>
                  <a:srgbClr val="1F1F2E"/>
                </a:solidFill>
                <a:latin typeface="Consolas"/>
              </a:rPr>
              <a:t>C:\Users\&lt;you&gt;\Repos\CPAT\</a:t>
            </a:r>
          </a:p>
          <a:p>
            <a:pPr algn="l">
              <a:spcBef>
                <a:spcPts val="300"/>
              </a:spcBef>
            </a:pPr>
            <a:r>
              <a:rPr sz="1100" b="0">
                <a:solidFill>
                  <a:srgbClr val="1F1F2E"/>
                </a:solidFill>
                <a:latin typeface="Calibri"/>
              </a:rPr>
              <a:t>Your working copy (a clone). Edit, run, let Copilot work here.</a:t>
            </a:r>
          </a:p>
        </p:txBody>
      </p:sp>
      <p:sp>
        <p:nvSpPr>
          <p:cNvPr id="10" name="Rectangle 9"/>
          <p:cNvSpPr/>
          <p:nvPr/>
        </p:nvSpPr>
        <p:spPr>
          <a:xfrm>
            <a:off x="8732520" y="1325880"/>
            <a:ext cx="2907792" cy="1417320"/>
          </a:xfrm>
          <a:prstGeom prst="rect">
            <a:avLst/>
          </a:prstGeom>
          <a:solidFill>
            <a:srgbClr val="E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869680" y="1371600"/>
            <a:ext cx="2651760" cy="1325880"/>
          </a:xfrm>
          <a:prstGeom prst="rect">
            <a:avLst/>
          </a:prstGeom>
          <a:noFill/>
        </p:spPr>
        <p:txBody>
          <a:bodyPr wrap="square" anchor="t" lIns="45720" rIns="45720" tIns="27432" bIns="27432">
            <a:spAutoFit/>
          </a:bodyPr>
          <a:lstStyle/>
          <a:p>
            <a:pPr algn="l"/>
            <a:r>
              <a:rPr sz="1400" b="1">
                <a:solidFill>
                  <a:srgbClr val="0F7B6C"/>
                </a:solidFill>
                <a:latin typeface="Calibri"/>
              </a:rPr>
              <a:t>GitHub (cloud)</a:t>
            </a:r>
          </a:p>
          <a:p>
            <a:pPr algn="l"/>
            <a:r>
              <a:rPr sz="1100" b="0">
                <a:solidFill>
                  <a:srgbClr val="1F1F2E"/>
                </a:solidFill>
                <a:latin typeface="Consolas"/>
              </a:rPr>
              <a:t>github.com/cpmodel/CPAT</a:t>
            </a:r>
          </a:p>
          <a:p>
            <a:pPr algn="l">
              <a:spcBef>
                <a:spcPts val="300"/>
              </a:spcBef>
            </a:pPr>
            <a:r>
              <a:rPr sz="1100" b="0">
                <a:solidFill>
                  <a:srgbClr val="1F1F2E"/>
                </a:solidFill>
                <a:latin typeface="Calibri"/>
              </a:rPr>
              <a:t>The shared master copy, with full history, in the cpmodel organisation. The backup.</a:t>
            </a:r>
          </a:p>
        </p:txBody>
      </p:sp>
      <p:cxnSp>
        <p:nvCxnSpPr>
          <p:cNvPr id="12" name="Connector 11"/>
          <p:cNvCxnSpPr/>
          <p:nvPr/>
        </p:nvCxnSpPr>
        <p:spPr>
          <a:xfrm>
            <a:off x="8046720" y="1828800"/>
            <a:ext cx="640080" cy="0"/>
          </a:xfrm>
          <a:prstGeom prst="line">
            <a:avLst/>
          </a:prstGeom>
          <a:ln w="19050">
            <a:solidFill>
              <a:srgbClr val="0F7B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028431" y="1508760"/>
            <a:ext cx="685800" cy="274320"/>
          </a:xfrm>
          <a:prstGeom prst="rect">
            <a:avLst/>
          </a:prstGeom>
          <a:noFill/>
        </p:spPr>
        <p:txBody>
          <a:bodyPr wrap="square" anchor="t" lIns="45720" rIns="45720" tIns="27432" bIns="27432">
            <a:spAutoFit/>
          </a:bodyPr>
          <a:lstStyle/>
          <a:p>
            <a:pPr algn="ctr"/>
            <a:r>
              <a:rPr sz="1000" b="1">
                <a:solidFill>
                  <a:srgbClr val="0F7B6C"/>
                </a:solidFill>
                <a:latin typeface="Calibri"/>
              </a:rPr>
              <a:t>push</a:t>
            </a:r>
          </a:p>
        </p:txBody>
      </p:sp>
      <p:cxnSp>
        <p:nvCxnSpPr>
          <p:cNvPr id="14" name="Connector 13"/>
          <p:cNvCxnSpPr/>
          <p:nvPr/>
        </p:nvCxnSpPr>
        <p:spPr>
          <a:xfrm flipH="1">
            <a:off x="8046720" y="2286000"/>
            <a:ext cx="640080" cy="0"/>
          </a:xfrm>
          <a:prstGeom prst="line">
            <a:avLst/>
          </a:prstGeom>
          <a:ln w="19050">
            <a:solidFill>
              <a:srgbClr val="E08A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028431" y="2331720"/>
            <a:ext cx="685800" cy="274320"/>
          </a:xfrm>
          <a:prstGeom prst="rect">
            <a:avLst/>
          </a:prstGeom>
          <a:noFill/>
        </p:spPr>
        <p:txBody>
          <a:bodyPr wrap="square" anchor="t" lIns="45720" rIns="45720" tIns="27432" bIns="27432">
            <a:spAutoFit/>
          </a:bodyPr>
          <a:lstStyle/>
          <a:p>
            <a:pPr algn="ctr"/>
            <a:r>
              <a:rPr sz="1000" b="1">
                <a:solidFill>
                  <a:srgbClr val="E08A1E"/>
                </a:solidFill>
                <a:latin typeface="Calibri"/>
              </a:rPr>
              <a:t>pull</a:t>
            </a:r>
          </a:p>
        </p:txBody>
      </p:sp>
      <p:sp>
        <p:nvSpPr>
          <p:cNvPr id="16" name="Rectangle 15"/>
          <p:cNvSpPr/>
          <p:nvPr/>
        </p:nvSpPr>
        <p:spPr>
          <a:xfrm>
            <a:off x="5074920" y="2971800"/>
            <a:ext cx="6565392"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166360" y="2971800"/>
            <a:ext cx="1417320" cy="384048"/>
          </a:xfrm>
          <a:prstGeom prst="rect">
            <a:avLst/>
          </a:prstGeom>
          <a:noFill/>
        </p:spPr>
        <p:txBody>
          <a:bodyPr wrap="square" anchor="ctr" lIns="45720" rIns="45720" tIns="27432" bIns="27432">
            <a:spAutoFit/>
          </a:bodyPr>
          <a:lstStyle/>
          <a:p>
            <a:pPr algn="l"/>
            <a:r>
              <a:rPr sz="1100" b="1">
                <a:solidFill>
                  <a:srgbClr val="FFFFFF"/>
                </a:solidFill>
                <a:latin typeface="Calibri"/>
              </a:rPr>
              <a:t/>
            </a:r>
          </a:p>
        </p:txBody>
      </p:sp>
      <p:sp>
        <p:nvSpPr>
          <p:cNvPr id="18" name="TextBox 17"/>
          <p:cNvSpPr txBox="1"/>
          <p:nvPr/>
        </p:nvSpPr>
        <p:spPr>
          <a:xfrm>
            <a:off x="6629400" y="2971800"/>
            <a:ext cx="2423160" cy="384048"/>
          </a:xfrm>
          <a:prstGeom prst="rect">
            <a:avLst/>
          </a:prstGeom>
          <a:noFill/>
        </p:spPr>
        <p:txBody>
          <a:bodyPr wrap="square" anchor="ctr" lIns="45720" rIns="45720" tIns="27432" bIns="27432">
            <a:spAutoFit/>
          </a:bodyPr>
          <a:lstStyle/>
          <a:p>
            <a:pPr algn="l"/>
            <a:r>
              <a:rPr sz="1100" b="1">
                <a:solidFill>
                  <a:srgbClr val="FFFFFF"/>
                </a:solidFill>
                <a:latin typeface="Calibri"/>
              </a:rPr>
              <a:t>OneDrive folder</a:t>
            </a:r>
          </a:p>
        </p:txBody>
      </p:sp>
      <p:sp>
        <p:nvSpPr>
          <p:cNvPr id="19" name="TextBox 18"/>
          <p:cNvSpPr txBox="1"/>
          <p:nvPr/>
        </p:nvSpPr>
        <p:spPr>
          <a:xfrm>
            <a:off x="9144000" y="2971800"/>
            <a:ext cx="2423160" cy="384048"/>
          </a:xfrm>
          <a:prstGeom prst="rect">
            <a:avLst/>
          </a:prstGeom>
          <a:noFill/>
        </p:spPr>
        <p:txBody>
          <a:bodyPr wrap="square" anchor="ctr" lIns="45720" rIns="45720" tIns="27432" bIns="27432">
            <a:spAutoFit/>
          </a:bodyPr>
          <a:lstStyle/>
          <a:p>
            <a:pPr algn="l"/>
            <a:r>
              <a:rPr sz="1100" b="1">
                <a:solidFill>
                  <a:srgbClr val="FFFFFF"/>
                </a:solidFill>
                <a:latin typeface="Calibri"/>
              </a:rPr>
              <a:t>Git repo</a:t>
            </a:r>
          </a:p>
        </p:txBody>
      </p:sp>
      <p:sp>
        <p:nvSpPr>
          <p:cNvPr id="20" name="Rectangle 19"/>
          <p:cNvSpPr/>
          <p:nvPr/>
        </p:nvSpPr>
        <p:spPr>
          <a:xfrm>
            <a:off x="5074920" y="3355848"/>
            <a:ext cx="6565392" cy="548640"/>
          </a:xfrm>
          <a:prstGeom prst="rect">
            <a:avLst/>
          </a:prstGeom>
          <a:solidFill>
            <a:srgbClr val="F4F6FB"/>
          </a:solidFill>
          <a:ln w="9525">
            <a:solidFill>
              <a:srgbClr val="D5DA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166360" y="3355848"/>
            <a:ext cx="1417320" cy="548640"/>
          </a:xfrm>
          <a:prstGeom prst="rect">
            <a:avLst/>
          </a:prstGeom>
          <a:noFill/>
        </p:spPr>
        <p:txBody>
          <a:bodyPr wrap="square" anchor="ctr" lIns="45720" rIns="45720" tIns="27432" bIns="27432">
            <a:spAutoFit/>
          </a:bodyPr>
          <a:lstStyle/>
          <a:p>
            <a:pPr algn="l"/>
            <a:r>
              <a:rPr sz="1100" b="1">
                <a:solidFill>
                  <a:srgbClr val="1E2761"/>
                </a:solidFill>
                <a:latin typeface="Calibri"/>
              </a:rPr>
              <a:t>What it is for</a:t>
            </a:r>
          </a:p>
        </p:txBody>
      </p:sp>
      <p:sp>
        <p:nvSpPr>
          <p:cNvPr id="22" name="TextBox 21"/>
          <p:cNvSpPr txBox="1"/>
          <p:nvPr/>
        </p:nvSpPr>
        <p:spPr>
          <a:xfrm>
            <a:off x="6629400" y="3355848"/>
            <a:ext cx="2423160" cy="548640"/>
          </a:xfrm>
          <a:prstGeom prst="rect">
            <a:avLst/>
          </a:prstGeom>
          <a:noFill/>
        </p:spPr>
        <p:txBody>
          <a:bodyPr wrap="square" anchor="ctr" lIns="45720" rIns="45720" tIns="27432" bIns="27432">
            <a:spAutoFit/>
          </a:bodyPr>
          <a:lstStyle/>
          <a:p>
            <a:pPr algn="l"/>
            <a:r>
              <a:rPr sz="1100" b="0">
                <a:solidFill>
                  <a:srgbClr val="1F1F2E"/>
                </a:solidFill>
                <a:latin typeface="Calibri"/>
              </a:rPr>
              <a:t>Documents you edit alone or share informally</a:t>
            </a:r>
          </a:p>
        </p:txBody>
      </p:sp>
      <p:sp>
        <p:nvSpPr>
          <p:cNvPr id="23" name="TextBox 22"/>
          <p:cNvSpPr txBox="1"/>
          <p:nvPr/>
        </p:nvSpPr>
        <p:spPr>
          <a:xfrm>
            <a:off x="9144000" y="3355848"/>
            <a:ext cx="2423160" cy="548640"/>
          </a:xfrm>
          <a:prstGeom prst="rect">
            <a:avLst/>
          </a:prstGeom>
          <a:noFill/>
        </p:spPr>
        <p:txBody>
          <a:bodyPr wrap="square" anchor="ctr" lIns="45720" rIns="45720" tIns="27432" bIns="27432">
            <a:spAutoFit/>
          </a:bodyPr>
          <a:lstStyle/>
          <a:p>
            <a:pPr algn="l"/>
            <a:r>
              <a:rPr sz="1100" b="0">
                <a:solidFill>
                  <a:srgbClr val="1F1F2E"/>
                </a:solidFill>
                <a:latin typeface="Calibri"/>
              </a:rPr>
              <a:t>Projects built with others and with AI</a:t>
            </a:r>
          </a:p>
        </p:txBody>
      </p:sp>
      <p:sp>
        <p:nvSpPr>
          <p:cNvPr id="24" name="Rectangle 23"/>
          <p:cNvSpPr/>
          <p:nvPr/>
        </p:nvSpPr>
        <p:spPr>
          <a:xfrm>
            <a:off x="5074920" y="3904487"/>
            <a:ext cx="6565392" cy="548640"/>
          </a:xfrm>
          <a:prstGeom prst="rect">
            <a:avLst/>
          </a:prstGeom>
          <a:solidFill>
            <a:srgbClr val="FFFFFF"/>
          </a:solidFill>
          <a:ln w="9525">
            <a:solidFill>
              <a:srgbClr val="D5DA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166360" y="3904487"/>
            <a:ext cx="1417320" cy="548640"/>
          </a:xfrm>
          <a:prstGeom prst="rect">
            <a:avLst/>
          </a:prstGeom>
          <a:noFill/>
        </p:spPr>
        <p:txBody>
          <a:bodyPr wrap="square" anchor="ctr" lIns="45720" rIns="45720" tIns="27432" bIns="27432">
            <a:spAutoFit/>
          </a:bodyPr>
          <a:lstStyle/>
          <a:p>
            <a:pPr algn="l"/>
            <a:r>
              <a:rPr sz="1100" b="1">
                <a:solidFill>
                  <a:srgbClr val="1E2761"/>
                </a:solidFill>
                <a:latin typeface="Calibri"/>
              </a:rPr>
              <a:t>When it syncs</a:t>
            </a:r>
          </a:p>
        </p:txBody>
      </p:sp>
      <p:sp>
        <p:nvSpPr>
          <p:cNvPr id="26" name="TextBox 25"/>
          <p:cNvSpPr txBox="1"/>
          <p:nvPr/>
        </p:nvSpPr>
        <p:spPr>
          <a:xfrm>
            <a:off x="6629400" y="3904487"/>
            <a:ext cx="2423160" cy="548640"/>
          </a:xfrm>
          <a:prstGeom prst="rect">
            <a:avLst/>
          </a:prstGeom>
          <a:noFill/>
        </p:spPr>
        <p:txBody>
          <a:bodyPr wrap="square" anchor="ctr" lIns="45720" rIns="45720" tIns="27432" bIns="27432">
            <a:spAutoFit/>
          </a:bodyPr>
          <a:lstStyle/>
          <a:p>
            <a:pPr algn="l"/>
            <a:r>
              <a:rPr sz="1100" b="0">
                <a:solidFill>
                  <a:srgbClr val="1F1F2E"/>
                </a:solidFill>
                <a:latin typeface="Calibri"/>
              </a:rPr>
              <a:t>Continuously, file by file, automatically</a:t>
            </a:r>
          </a:p>
        </p:txBody>
      </p:sp>
      <p:sp>
        <p:nvSpPr>
          <p:cNvPr id="27" name="TextBox 26"/>
          <p:cNvSpPr txBox="1"/>
          <p:nvPr/>
        </p:nvSpPr>
        <p:spPr>
          <a:xfrm>
            <a:off x="9144000" y="3904487"/>
            <a:ext cx="2423160" cy="548640"/>
          </a:xfrm>
          <a:prstGeom prst="rect">
            <a:avLst/>
          </a:prstGeom>
          <a:noFill/>
        </p:spPr>
        <p:txBody>
          <a:bodyPr wrap="square" anchor="ctr" lIns="45720" rIns="45720" tIns="27432" bIns="27432">
            <a:spAutoFit/>
          </a:bodyPr>
          <a:lstStyle/>
          <a:p>
            <a:pPr algn="l"/>
            <a:r>
              <a:rPr sz="1100" b="0">
                <a:solidFill>
                  <a:srgbClr val="1F1F2E"/>
                </a:solidFill>
                <a:latin typeface="Calibri"/>
              </a:rPr>
              <a:t>Only when you pull or push (or run SyncRepo.bat)</a:t>
            </a:r>
          </a:p>
        </p:txBody>
      </p:sp>
      <p:sp>
        <p:nvSpPr>
          <p:cNvPr id="28" name="Rectangle 27"/>
          <p:cNvSpPr/>
          <p:nvPr/>
        </p:nvSpPr>
        <p:spPr>
          <a:xfrm>
            <a:off x="5074920" y="4453127"/>
            <a:ext cx="6565392" cy="548640"/>
          </a:xfrm>
          <a:prstGeom prst="rect">
            <a:avLst/>
          </a:prstGeom>
          <a:solidFill>
            <a:srgbClr val="F4F6FB"/>
          </a:solidFill>
          <a:ln w="9525">
            <a:solidFill>
              <a:srgbClr val="D5DA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166360" y="4453127"/>
            <a:ext cx="1417320" cy="548640"/>
          </a:xfrm>
          <a:prstGeom prst="rect">
            <a:avLst/>
          </a:prstGeom>
          <a:noFill/>
        </p:spPr>
        <p:txBody>
          <a:bodyPr wrap="square" anchor="ctr" lIns="45720" rIns="45720" tIns="27432" bIns="27432">
            <a:spAutoFit/>
          </a:bodyPr>
          <a:lstStyle/>
          <a:p>
            <a:pPr algn="l"/>
            <a:r>
              <a:rPr sz="1100" b="1">
                <a:solidFill>
                  <a:srgbClr val="1E2761"/>
                </a:solidFill>
                <a:latin typeface="Calibri"/>
              </a:rPr>
              <a:t>History</a:t>
            </a:r>
          </a:p>
        </p:txBody>
      </p:sp>
      <p:sp>
        <p:nvSpPr>
          <p:cNvPr id="30" name="TextBox 29"/>
          <p:cNvSpPr txBox="1"/>
          <p:nvPr/>
        </p:nvSpPr>
        <p:spPr>
          <a:xfrm>
            <a:off x="6629400" y="4453127"/>
            <a:ext cx="2423160" cy="548640"/>
          </a:xfrm>
          <a:prstGeom prst="rect">
            <a:avLst/>
          </a:prstGeom>
          <a:noFill/>
        </p:spPr>
        <p:txBody>
          <a:bodyPr wrap="square" anchor="ctr" lIns="45720" rIns="45720" tIns="27432" bIns="27432">
            <a:spAutoFit/>
          </a:bodyPr>
          <a:lstStyle/>
          <a:p>
            <a:pPr algn="l"/>
            <a:r>
              <a:rPr sz="1100" b="0">
                <a:solidFill>
                  <a:srgbClr val="1F1F2E"/>
                </a:solidFill>
                <a:latin typeface="Calibri"/>
              </a:rPr>
              <a:t>Limited version history per file</a:t>
            </a:r>
          </a:p>
        </p:txBody>
      </p:sp>
      <p:sp>
        <p:nvSpPr>
          <p:cNvPr id="31" name="TextBox 30"/>
          <p:cNvSpPr txBox="1"/>
          <p:nvPr/>
        </p:nvSpPr>
        <p:spPr>
          <a:xfrm>
            <a:off x="9144000" y="4453127"/>
            <a:ext cx="2423160" cy="548640"/>
          </a:xfrm>
          <a:prstGeom prst="rect">
            <a:avLst/>
          </a:prstGeom>
          <a:noFill/>
        </p:spPr>
        <p:txBody>
          <a:bodyPr wrap="square" anchor="ctr" lIns="45720" rIns="45720" tIns="27432" bIns="27432">
            <a:spAutoFit/>
          </a:bodyPr>
          <a:lstStyle/>
          <a:p>
            <a:pPr algn="l"/>
            <a:r>
              <a:rPr sz="1100" b="0">
                <a:solidFill>
                  <a:srgbClr val="1F1F2E"/>
                </a:solidFill>
                <a:latin typeface="Calibri"/>
              </a:rPr>
              <a:t>Every change to every file, with message and author</a:t>
            </a:r>
          </a:p>
        </p:txBody>
      </p:sp>
      <p:sp>
        <p:nvSpPr>
          <p:cNvPr id="32" name="Rectangle 31"/>
          <p:cNvSpPr/>
          <p:nvPr/>
        </p:nvSpPr>
        <p:spPr>
          <a:xfrm>
            <a:off x="5074920" y="5001767"/>
            <a:ext cx="6565392" cy="548640"/>
          </a:xfrm>
          <a:prstGeom prst="rect">
            <a:avLst/>
          </a:prstGeom>
          <a:solidFill>
            <a:srgbClr val="FFFFFF"/>
          </a:solidFill>
          <a:ln w="9525">
            <a:solidFill>
              <a:srgbClr val="D5DA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5166360" y="5001767"/>
            <a:ext cx="1417320" cy="548640"/>
          </a:xfrm>
          <a:prstGeom prst="rect">
            <a:avLst/>
          </a:prstGeom>
          <a:noFill/>
        </p:spPr>
        <p:txBody>
          <a:bodyPr wrap="square" anchor="ctr" lIns="45720" rIns="45720" tIns="27432" bIns="27432">
            <a:spAutoFit/>
          </a:bodyPr>
          <a:lstStyle/>
          <a:p>
            <a:pPr algn="l"/>
            <a:r>
              <a:rPr sz="1100" b="1">
                <a:solidFill>
                  <a:srgbClr val="1E2761"/>
                </a:solidFill>
                <a:latin typeface="Calibri"/>
              </a:rPr>
              <a:t>Two people edit</a:t>
            </a:r>
          </a:p>
        </p:txBody>
      </p:sp>
      <p:sp>
        <p:nvSpPr>
          <p:cNvPr id="34" name="TextBox 33"/>
          <p:cNvSpPr txBox="1"/>
          <p:nvPr/>
        </p:nvSpPr>
        <p:spPr>
          <a:xfrm>
            <a:off x="6629400" y="5001767"/>
            <a:ext cx="2423160" cy="548640"/>
          </a:xfrm>
          <a:prstGeom prst="rect">
            <a:avLst/>
          </a:prstGeom>
          <a:noFill/>
        </p:spPr>
        <p:txBody>
          <a:bodyPr wrap="square" anchor="ctr" lIns="45720" rIns="45720" tIns="27432" bIns="27432">
            <a:spAutoFit/>
          </a:bodyPr>
          <a:lstStyle/>
          <a:p>
            <a:pPr algn="l"/>
            <a:r>
              <a:rPr sz="1100" b="0">
                <a:solidFill>
                  <a:srgbClr val="1F1F2E"/>
                </a:solidFill>
                <a:latin typeface="Calibri"/>
              </a:rPr>
              <a:t>'Conflicted copy' files appear</a:t>
            </a:r>
          </a:p>
        </p:txBody>
      </p:sp>
      <p:sp>
        <p:nvSpPr>
          <p:cNvPr id="35" name="TextBox 34"/>
          <p:cNvSpPr txBox="1"/>
          <p:nvPr/>
        </p:nvSpPr>
        <p:spPr>
          <a:xfrm>
            <a:off x="9144000" y="5001767"/>
            <a:ext cx="2423160" cy="548640"/>
          </a:xfrm>
          <a:prstGeom prst="rect">
            <a:avLst/>
          </a:prstGeom>
          <a:noFill/>
        </p:spPr>
        <p:txBody>
          <a:bodyPr wrap="square" anchor="ctr" lIns="45720" rIns="45720" tIns="27432" bIns="27432">
            <a:spAutoFit/>
          </a:bodyPr>
          <a:lstStyle/>
          <a:p>
            <a:pPr algn="l"/>
            <a:r>
              <a:rPr sz="1100" b="0">
                <a:solidFill>
                  <a:srgbClr val="1F1F2E"/>
                </a:solidFill>
                <a:latin typeface="Calibri"/>
              </a:rPr>
              <a:t>Git merges, or asks you to resolve a clear conflict</a:t>
            </a:r>
          </a:p>
        </p:txBody>
      </p:sp>
      <p:sp>
        <p:nvSpPr>
          <p:cNvPr id="36" name="Rectangle 35"/>
          <p:cNvSpPr/>
          <p:nvPr/>
        </p:nvSpPr>
        <p:spPr>
          <a:xfrm>
            <a:off x="5074920" y="5550407"/>
            <a:ext cx="6565392" cy="548640"/>
          </a:xfrm>
          <a:prstGeom prst="rect">
            <a:avLst/>
          </a:prstGeom>
          <a:solidFill>
            <a:srgbClr val="F4F6FB"/>
          </a:solidFill>
          <a:ln w="9525">
            <a:solidFill>
              <a:srgbClr val="D5DA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5166360" y="5550407"/>
            <a:ext cx="1417320" cy="548640"/>
          </a:xfrm>
          <a:prstGeom prst="rect">
            <a:avLst/>
          </a:prstGeom>
          <a:noFill/>
        </p:spPr>
        <p:txBody>
          <a:bodyPr wrap="square" anchor="ctr" lIns="45720" rIns="45720" tIns="27432" bIns="27432">
            <a:spAutoFit/>
          </a:bodyPr>
          <a:lstStyle/>
          <a:p>
            <a:pPr algn="l"/>
            <a:r>
              <a:rPr sz="1100" b="1">
                <a:solidFill>
                  <a:srgbClr val="1E2761"/>
                </a:solidFill>
                <a:latin typeface="Calibri"/>
              </a:rPr>
              <a:t>Where to keep it</a:t>
            </a:r>
          </a:p>
        </p:txBody>
      </p:sp>
      <p:sp>
        <p:nvSpPr>
          <p:cNvPr id="38" name="TextBox 37"/>
          <p:cNvSpPr txBox="1"/>
          <p:nvPr/>
        </p:nvSpPr>
        <p:spPr>
          <a:xfrm>
            <a:off x="6629400" y="5550407"/>
            <a:ext cx="2423160" cy="548640"/>
          </a:xfrm>
          <a:prstGeom prst="rect">
            <a:avLst/>
          </a:prstGeom>
          <a:noFill/>
        </p:spPr>
        <p:txBody>
          <a:bodyPr wrap="square" anchor="ctr" lIns="45720" rIns="45720" tIns="27432" bIns="27432">
            <a:spAutoFit/>
          </a:bodyPr>
          <a:lstStyle/>
          <a:p>
            <a:pPr algn="l"/>
            <a:r>
              <a:rPr sz="1100" b="0">
                <a:solidFill>
                  <a:srgbClr val="1F1F2E"/>
                </a:solidFill>
                <a:latin typeface="Calibri"/>
              </a:rPr>
              <a:t>C:\Users\&lt;you&gt;\OneDrive - WBG\</a:t>
            </a:r>
          </a:p>
        </p:txBody>
      </p:sp>
      <p:sp>
        <p:nvSpPr>
          <p:cNvPr id="39" name="TextBox 38"/>
          <p:cNvSpPr txBox="1"/>
          <p:nvPr/>
        </p:nvSpPr>
        <p:spPr>
          <a:xfrm>
            <a:off x="9144000" y="5550407"/>
            <a:ext cx="2423160" cy="548640"/>
          </a:xfrm>
          <a:prstGeom prst="rect">
            <a:avLst/>
          </a:prstGeom>
          <a:noFill/>
        </p:spPr>
        <p:txBody>
          <a:bodyPr wrap="square" anchor="ctr" lIns="45720" rIns="45720" tIns="27432" bIns="27432">
            <a:spAutoFit/>
          </a:bodyPr>
          <a:lstStyle/>
          <a:p>
            <a:pPr algn="l"/>
            <a:r>
              <a:rPr sz="1100" b="0">
                <a:solidFill>
                  <a:srgbClr val="1F1F2E"/>
                </a:solidFill>
                <a:latin typeface="Calibri"/>
              </a:rPr>
              <a:t>C:\Users\&lt;you&gt;\Repos\  — outside OneDrive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7315200" cy="274320"/>
          </a:xfrm>
          <a:prstGeom prst="rect">
            <a:avLst/>
          </a:prstGeom>
          <a:noFill/>
        </p:spPr>
        <p:txBody>
          <a:bodyPr wrap="square" anchor="t" lIns="45720" rIns="45720" tIns="27432" bIns="27432">
            <a:spAutoFit/>
          </a:bodyPr>
          <a:lstStyle/>
          <a:p>
            <a:pPr algn="l"/>
            <a:r>
              <a:rPr sz="1200" b="1">
                <a:solidFill>
                  <a:srgbClr val="0F7B6C"/>
                </a:solidFill>
                <a:latin typeface="Calibri"/>
              </a:rPr>
              <a:t>QUICK START · GITHUB COPILOT</a:t>
            </a:r>
          </a:p>
        </p:txBody>
      </p:sp>
      <p:sp>
        <p:nvSpPr>
          <p:cNvPr id="3" name="TextBox 2"/>
          <p:cNvSpPr txBox="1"/>
          <p:nvPr/>
        </p:nvSpPr>
        <p:spPr>
          <a:xfrm>
            <a:off x="548640" y="502920"/>
            <a:ext cx="11064240" cy="685800"/>
          </a:xfrm>
          <a:prstGeom prst="rect">
            <a:avLst/>
          </a:prstGeom>
          <a:noFill/>
        </p:spPr>
        <p:txBody>
          <a:bodyPr wrap="square" anchor="t" lIns="45720" rIns="45720" tIns="27432" bIns="27432">
            <a:spAutoFit/>
          </a:bodyPr>
          <a:lstStyle/>
          <a:p>
            <a:pPr algn="l"/>
            <a:r>
              <a:rPr sz="3000" b="0">
                <a:solidFill>
                  <a:srgbClr val="1E2761"/>
                </a:solidFill>
                <a:latin typeface="Cambria"/>
              </a:rPr>
              <a:t>What GitHub Copilot is, and five reasons we use it</a:t>
            </a:r>
          </a:p>
        </p:txBody>
      </p:sp>
      <p:sp>
        <p:nvSpPr>
          <p:cNvPr id="4" name="TextBox 3"/>
          <p:cNvSpPr txBox="1"/>
          <p:nvPr/>
        </p:nvSpPr>
        <p:spPr>
          <a:xfrm>
            <a:off x="548640" y="6473952"/>
            <a:ext cx="8686800" cy="228600"/>
          </a:xfrm>
          <a:prstGeom prst="rect">
            <a:avLst/>
          </a:prstGeom>
          <a:noFill/>
        </p:spPr>
        <p:txBody>
          <a:bodyPr wrap="square" anchor="t" lIns="45720" rIns="45720" tIns="27432" bIns="27432">
            <a:spAutoFit/>
          </a:bodyPr>
          <a:lstStyle/>
          <a:p>
            <a:pPr algn="l"/>
            <a:r>
              <a:rPr sz="900" b="0">
                <a:solidFill>
                  <a:srgbClr val="5C667A"/>
                </a:solidFill>
                <a:latin typeface="Calibri"/>
              </a:rPr>
              <a:t>Using GitHub Copilot with our repositories: user guide   ·   Screens and model names change over time</a:t>
            </a:r>
          </a:p>
        </p:txBody>
      </p:sp>
      <p:sp>
        <p:nvSpPr>
          <p:cNvPr id="5" name="Rectangle 4"/>
          <p:cNvSpPr/>
          <p:nvPr/>
        </p:nvSpPr>
        <p:spPr>
          <a:xfrm>
            <a:off x="548640" y="1371600"/>
            <a:ext cx="3931920" cy="489204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77240" y="1463040"/>
            <a:ext cx="3566160" cy="365760"/>
          </a:xfrm>
          <a:prstGeom prst="rect">
            <a:avLst/>
          </a:prstGeom>
          <a:noFill/>
        </p:spPr>
        <p:txBody>
          <a:bodyPr wrap="square" anchor="t" lIns="45720" rIns="45720" tIns="27432" bIns="27432">
            <a:spAutoFit/>
          </a:bodyPr>
          <a:lstStyle/>
          <a:p>
            <a:pPr algn="l"/>
            <a:r>
              <a:rPr sz="1600" b="1">
                <a:solidFill>
                  <a:srgbClr val="1E2761"/>
                </a:solidFill>
                <a:latin typeface="Calibri"/>
              </a:rPr>
              <a:t>In plain terms</a:t>
            </a:r>
          </a:p>
        </p:txBody>
      </p:sp>
      <p:sp>
        <p:nvSpPr>
          <p:cNvPr id="7" name="TextBox 6"/>
          <p:cNvSpPr txBox="1"/>
          <p:nvPr/>
        </p:nvSpPr>
        <p:spPr>
          <a:xfrm>
            <a:off x="777240" y="1874519"/>
            <a:ext cx="3566160" cy="4297680"/>
          </a:xfrm>
          <a:prstGeom prst="rect">
            <a:avLst/>
          </a:prstGeom>
          <a:noFill/>
        </p:spPr>
        <p:txBody>
          <a:bodyPr wrap="square" anchor="t" lIns="45720" rIns="45720" tIns="27432" bIns="27432">
            <a:spAutoFit/>
          </a:bodyPr>
          <a:lstStyle/>
          <a:p>
            <a:pPr algn="l"/>
            <a:r>
              <a:rPr sz="1250" b="0">
                <a:solidFill>
                  <a:srgbClr val="1F1F2E"/>
                </a:solidFill>
                <a:latin typeface="Calibri"/>
              </a:rPr>
              <a:t>GitHub Copilot is an AI assistant that works inside a repo. You describe what you want in plain English; it reads the files, proposes changes, runs scripts and drafts documents — and shows you a diff to accept or reject before anything is kept.</a:t>
            </a:r>
          </a:p>
          <a:p>
            <a:pPr algn="l">
              <a:spcBef>
                <a:spcPts val="1000"/>
              </a:spcBef>
            </a:pPr>
            <a:r>
              <a:rPr sz="1300" b="1">
                <a:solidFill>
                  <a:srgbClr val="1E2761"/>
                </a:solidFill>
                <a:latin typeface="Calibri"/>
              </a:rPr>
              <a:t>Where you meet it</a:t>
            </a:r>
          </a:p>
          <a:p>
            <a:pPr algn="l">
              <a:spcBef>
                <a:spcPts val="300"/>
              </a:spcBef>
            </a:pPr>
            <a:r>
              <a:rPr sz="1250" b="0">
                <a:solidFill>
                  <a:srgbClr val="1F1F2E"/>
                </a:solidFill>
                <a:latin typeface="Calibri"/>
              </a:rPr>
              <a:t>•  The Copilot desktop app (used in this guide): a Claude Code or Codex-like agent.</a:t>
            </a:r>
          </a:p>
          <a:p>
            <a:pPr algn="l">
              <a:spcBef>
                <a:spcPts val="200"/>
              </a:spcBef>
            </a:pPr>
            <a:r>
              <a:rPr sz="1250" b="0">
                <a:solidFill>
                  <a:srgbClr val="1F1F2E"/>
                </a:solidFill>
                <a:latin typeface="Calibri"/>
              </a:rPr>
              <a:t>•  VS Code, as the Copilot Chat extension, if you prefer a traditional editor.</a:t>
            </a:r>
          </a:p>
          <a:p>
            <a:pPr algn="l">
              <a:spcBef>
                <a:spcPts val="200"/>
              </a:spcBef>
            </a:pPr>
            <a:r>
              <a:rPr sz="1250" b="0">
                <a:solidFill>
                  <a:srgbClr val="1F1F2E"/>
                </a:solidFill>
                <a:latin typeface="Calibri"/>
              </a:rPr>
              <a:t>•  The terminal, via gh copilot.</a:t>
            </a:r>
          </a:p>
          <a:p>
            <a:pPr algn="l">
              <a:spcBef>
                <a:spcPts val="1000"/>
              </a:spcBef>
            </a:pPr>
            <a:r>
              <a:rPr sz="1250" b="1">
                <a:solidFill>
                  <a:srgbClr val="0F7B6C"/>
                </a:solidFill>
                <a:latin typeface="Calibri"/>
              </a:rPr>
              <a:t>Same agent, same models, same repo whichever door you use.</a:t>
            </a:r>
          </a:p>
        </p:txBody>
      </p:sp>
      <p:sp>
        <p:nvSpPr>
          <p:cNvPr id="8" name="TextBox 7"/>
          <p:cNvSpPr txBox="1"/>
          <p:nvPr/>
        </p:nvSpPr>
        <p:spPr>
          <a:xfrm>
            <a:off x="4709160" y="1371600"/>
            <a:ext cx="6949440" cy="365760"/>
          </a:xfrm>
          <a:prstGeom prst="rect">
            <a:avLst/>
          </a:prstGeom>
          <a:noFill/>
        </p:spPr>
        <p:txBody>
          <a:bodyPr wrap="square" anchor="t" lIns="45720" rIns="45720" tIns="27432" bIns="27432">
            <a:spAutoFit/>
          </a:bodyPr>
          <a:lstStyle/>
          <a:p>
            <a:pPr algn="l"/>
            <a:r>
              <a:rPr sz="1600" b="1">
                <a:solidFill>
                  <a:srgbClr val="1E2761"/>
                </a:solidFill>
                <a:latin typeface="Calibri"/>
              </a:rPr>
              <a:t>Five reasons we use it</a:t>
            </a:r>
          </a:p>
        </p:txBody>
      </p:sp>
      <p:sp>
        <p:nvSpPr>
          <p:cNvPr id="9" name="Oval 8"/>
          <p:cNvSpPr/>
          <p:nvPr/>
        </p:nvSpPr>
        <p:spPr>
          <a:xfrm>
            <a:off x="4709160" y="1801368"/>
            <a:ext cx="365760" cy="365760"/>
          </a:xfrm>
          <a:prstGeom prst="ellipse">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709160" y="1801368"/>
            <a:ext cx="365760" cy="365760"/>
          </a:xfrm>
          <a:prstGeom prst="rect">
            <a:avLst/>
          </a:prstGeom>
          <a:noFill/>
        </p:spPr>
        <p:txBody>
          <a:bodyPr wrap="square" anchor="ctr" lIns="45720" rIns="45720" tIns="27432" bIns="27432">
            <a:spAutoFit/>
          </a:bodyPr>
          <a:lstStyle/>
          <a:p>
            <a:pPr algn="ctr"/>
            <a:r>
              <a:rPr sz="1400" b="1">
                <a:solidFill>
                  <a:srgbClr val="FFFFFF"/>
                </a:solidFill>
                <a:latin typeface="Calibri"/>
              </a:rPr>
              <a:t>1</a:t>
            </a:r>
          </a:p>
        </p:txBody>
      </p:sp>
      <p:sp>
        <p:nvSpPr>
          <p:cNvPr id="11" name="TextBox 10"/>
          <p:cNvSpPr txBox="1"/>
          <p:nvPr/>
        </p:nvSpPr>
        <p:spPr>
          <a:xfrm>
            <a:off x="5212080" y="1783080"/>
            <a:ext cx="6400800" cy="896112"/>
          </a:xfrm>
          <a:prstGeom prst="rect">
            <a:avLst/>
          </a:prstGeom>
          <a:noFill/>
        </p:spPr>
        <p:txBody>
          <a:bodyPr wrap="square" anchor="t" lIns="45720" rIns="45720" tIns="27432" bIns="27432">
            <a:spAutoFit/>
          </a:bodyPr>
          <a:lstStyle/>
          <a:p>
            <a:pPr algn="l"/>
            <a:r>
              <a:rPr sz="1250" b="1">
                <a:solidFill>
                  <a:srgbClr val="1E2761"/>
                </a:solidFill>
                <a:latin typeface="Calibri"/>
              </a:rPr>
              <a:t>The World Bank-approved tool, with an allowance</a:t>
            </a:r>
          </a:p>
          <a:p>
            <a:pPr algn="l"/>
            <a:r>
              <a:rPr sz="1150" b="0">
                <a:solidFill>
                  <a:srgbClr val="1F1F2E"/>
                </a:solidFill>
                <a:latin typeface="Calibri"/>
              </a:rPr>
              <a:t>Supported by the Bank and billed to the unit. Use a personal account or an enterprise account; the enterprise seat gives you a monthly token allowance within the WB (ask for a higher limit — Appendix 1).</a:t>
            </a:r>
          </a:p>
        </p:txBody>
      </p:sp>
      <p:sp>
        <p:nvSpPr>
          <p:cNvPr id="12" name="Oval 11"/>
          <p:cNvSpPr/>
          <p:nvPr/>
        </p:nvSpPr>
        <p:spPr>
          <a:xfrm>
            <a:off x="4709160" y="2697479"/>
            <a:ext cx="365760" cy="365760"/>
          </a:xfrm>
          <a:prstGeom prst="ellipse">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09160" y="2697479"/>
            <a:ext cx="365760" cy="365760"/>
          </a:xfrm>
          <a:prstGeom prst="rect">
            <a:avLst/>
          </a:prstGeom>
          <a:noFill/>
        </p:spPr>
        <p:txBody>
          <a:bodyPr wrap="square" anchor="ctr" lIns="45720" rIns="45720" tIns="27432" bIns="27432">
            <a:spAutoFit/>
          </a:bodyPr>
          <a:lstStyle/>
          <a:p>
            <a:pPr algn="ctr"/>
            <a:r>
              <a:rPr sz="1400" b="1">
                <a:solidFill>
                  <a:srgbClr val="FFFFFF"/>
                </a:solidFill>
                <a:latin typeface="Calibri"/>
              </a:rPr>
              <a:t>2</a:t>
            </a:r>
          </a:p>
        </p:txBody>
      </p:sp>
      <p:sp>
        <p:nvSpPr>
          <p:cNvPr id="14" name="TextBox 13"/>
          <p:cNvSpPr txBox="1"/>
          <p:nvPr/>
        </p:nvSpPr>
        <p:spPr>
          <a:xfrm>
            <a:off x="5212080" y="2679191"/>
            <a:ext cx="6400800" cy="896112"/>
          </a:xfrm>
          <a:prstGeom prst="rect">
            <a:avLst/>
          </a:prstGeom>
          <a:noFill/>
        </p:spPr>
        <p:txBody>
          <a:bodyPr wrap="square" anchor="t" lIns="45720" rIns="45720" tIns="27432" bIns="27432">
            <a:spAutoFit/>
          </a:bodyPr>
          <a:lstStyle/>
          <a:p>
            <a:pPr algn="l"/>
            <a:r>
              <a:rPr sz="1250" b="1">
                <a:solidFill>
                  <a:srgbClr val="1E2761"/>
                </a:solidFill>
                <a:latin typeface="Calibri"/>
              </a:rPr>
              <a:t>Coding and chat-like document work</a:t>
            </a:r>
          </a:p>
          <a:p>
            <a:pPr algn="l"/>
            <a:r>
              <a:rPr sz="1150" b="0">
                <a:solidFill>
                  <a:srgbClr val="1F1F2E"/>
                </a:solidFill>
                <a:latin typeface="Calibri"/>
              </a:rPr>
              <a:t>Write and fix code, or use it like Claude or ChatGPT for drafting, summarising and editing documents — grounded in the files in your repo rather than generic.</a:t>
            </a:r>
          </a:p>
        </p:txBody>
      </p:sp>
      <p:sp>
        <p:nvSpPr>
          <p:cNvPr id="15" name="Oval 14"/>
          <p:cNvSpPr/>
          <p:nvPr/>
        </p:nvSpPr>
        <p:spPr>
          <a:xfrm>
            <a:off x="4709160" y="3593592"/>
            <a:ext cx="365760" cy="365760"/>
          </a:xfrm>
          <a:prstGeom prst="ellipse">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709160" y="3593592"/>
            <a:ext cx="365760" cy="365760"/>
          </a:xfrm>
          <a:prstGeom prst="rect">
            <a:avLst/>
          </a:prstGeom>
          <a:noFill/>
        </p:spPr>
        <p:txBody>
          <a:bodyPr wrap="square" anchor="ctr" lIns="45720" rIns="45720" tIns="27432" bIns="27432">
            <a:spAutoFit/>
          </a:bodyPr>
          <a:lstStyle/>
          <a:p>
            <a:pPr algn="ctr"/>
            <a:r>
              <a:rPr sz="1400" b="1">
                <a:solidFill>
                  <a:srgbClr val="FFFFFF"/>
                </a:solidFill>
                <a:latin typeface="Calibri"/>
              </a:rPr>
              <a:t>3</a:t>
            </a:r>
          </a:p>
        </p:txBody>
      </p:sp>
      <p:sp>
        <p:nvSpPr>
          <p:cNvPr id="17" name="TextBox 16"/>
          <p:cNvSpPr txBox="1"/>
          <p:nvPr/>
        </p:nvSpPr>
        <p:spPr>
          <a:xfrm>
            <a:off x="5212080" y="3575304"/>
            <a:ext cx="6400800" cy="896112"/>
          </a:xfrm>
          <a:prstGeom prst="rect">
            <a:avLst/>
          </a:prstGeom>
          <a:noFill/>
        </p:spPr>
        <p:txBody>
          <a:bodyPr wrap="square" anchor="t" lIns="45720" rIns="45720" tIns="27432" bIns="27432">
            <a:spAutoFit/>
          </a:bodyPr>
          <a:lstStyle/>
          <a:p>
            <a:pPr algn="l"/>
            <a:r>
              <a:rPr sz="1250" b="1">
                <a:solidFill>
                  <a:srgbClr val="1E2761"/>
                </a:solidFill>
                <a:latin typeface="Calibri"/>
              </a:rPr>
              <a:t>It updates our AI tools</a:t>
            </a:r>
          </a:p>
          <a:p>
            <a:pPr algn="l"/>
            <a:r>
              <a:rPr sz="1150" b="0">
                <a:solidFill>
                  <a:srgbClr val="1F1F2E"/>
                </a:solidFill>
                <a:latin typeface="Calibri"/>
              </a:rPr>
              <a:t>The coded CPAT, the Excise Diagnostic and the Tax &amp; Macro-Fiscal Dashboard are all built and maintained with Copilot: ask, review the diff, accept.</a:t>
            </a:r>
          </a:p>
        </p:txBody>
      </p:sp>
      <p:sp>
        <p:nvSpPr>
          <p:cNvPr id="18" name="Oval 17"/>
          <p:cNvSpPr/>
          <p:nvPr/>
        </p:nvSpPr>
        <p:spPr>
          <a:xfrm>
            <a:off x="4709160" y="4489703"/>
            <a:ext cx="365760" cy="365760"/>
          </a:xfrm>
          <a:prstGeom prst="ellipse">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709160" y="4489703"/>
            <a:ext cx="365760" cy="365760"/>
          </a:xfrm>
          <a:prstGeom prst="rect">
            <a:avLst/>
          </a:prstGeom>
          <a:noFill/>
        </p:spPr>
        <p:txBody>
          <a:bodyPr wrap="square" anchor="ctr" lIns="45720" rIns="45720" tIns="27432" bIns="27432">
            <a:spAutoFit/>
          </a:bodyPr>
          <a:lstStyle/>
          <a:p>
            <a:pPr algn="ctr"/>
            <a:r>
              <a:rPr sz="1400" b="1">
                <a:solidFill>
                  <a:srgbClr val="FFFFFF"/>
                </a:solidFill>
                <a:latin typeface="Calibri"/>
              </a:rPr>
              <a:t>4</a:t>
            </a:r>
          </a:p>
        </p:txBody>
      </p:sp>
      <p:sp>
        <p:nvSpPr>
          <p:cNvPr id="20" name="TextBox 19"/>
          <p:cNvSpPr txBox="1"/>
          <p:nvPr/>
        </p:nvSpPr>
        <p:spPr>
          <a:xfrm>
            <a:off x="5212080" y="4471416"/>
            <a:ext cx="6400800" cy="896112"/>
          </a:xfrm>
          <a:prstGeom prst="rect">
            <a:avLst/>
          </a:prstGeom>
          <a:noFill/>
        </p:spPr>
        <p:txBody>
          <a:bodyPr wrap="square" anchor="t" lIns="45720" rIns="45720" tIns="27432" bIns="27432">
            <a:spAutoFit/>
          </a:bodyPr>
          <a:lstStyle/>
          <a:p>
            <a:pPr algn="l"/>
            <a:r>
              <a:rPr sz="1250" b="1">
                <a:solidFill>
                  <a:srgbClr val="1E2761"/>
                </a:solidFill>
                <a:latin typeface="Calibri"/>
              </a:rPr>
              <a:t>All the models, including the most advanced</a:t>
            </a:r>
          </a:p>
          <a:p>
            <a:pPr algn="l"/>
            <a:r>
              <a:rPr sz="1150" b="0">
                <a:solidFill>
                  <a:srgbClr val="1F1F2E"/>
                </a:solidFill>
                <a:latin typeface="Calibri"/>
              </a:rPr>
              <a:t>Claude Fable, the latest GPT model, Gemini and others, switchable per session. One tool, many models (Appendix 1).</a:t>
            </a:r>
          </a:p>
        </p:txBody>
      </p:sp>
      <p:sp>
        <p:nvSpPr>
          <p:cNvPr id="21" name="Oval 20"/>
          <p:cNvSpPr/>
          <p:nvPr/>
        </p:nvSpPr>
        <p:spPr>
          <a:xfrm>
            <a:off x="4709160" y="5385816"/>
            <a:ext cx="365760" cy="365760"/>
          </a:xfrm>
          <a:prstGeom prst="ellipse">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709160" y="5385816"/>
            <a:ext cx="365760" cy="365760"/>
          </a:xfrm>
          <a:prstGeom prst="rect">
            <a:avLst/>
          </a:prstGeom>
          <a:noFill/>
        </p:spPr>
        <p:txBody>
          <a:bodyPr wrap="square" anchor="ctr" lIns="45720" rIns="45720" tIns="27432" bIns="27432">
            <a:spAutoFit/>
          </a:bodyPr>
          <a:lstStyle/>
          <a:p>
            <a:pPr algn="ctr"/>
            <a:r>
              <a:rPr sz="1400" b="1">
                <a:solidFill>
                  <a:srgbClr val="FFFFFF"/>
                </a:solidFill>
                <a:latin typeface="Calibri"/>
              </a:rPr>
              <a:t>5</a:t>
            </a:r>
          </a:p>
        </p:txBody>
      </p:sp>
      <p:sp>
        <p:nvSpPr>
          <p:cNvPr id="23" name="TextBox 22"/>
          <p:cNvSpPr txBox="1"/>
          <p:nvPr/>
        </p:nvSpPr>
        <p:spPr>
          <a:xfrm>
            <a:off x="5212080" y="5367528"/>
            <a:ext cx="6400800" cy="896112"/>
          </a:xfrm>
          <a:prstGeom prst="rect">
            <a:avLst/>
          </a:prstGeom>
          <a:noFill/>
        </p:spPr>
        <p:txBody>
          <a:bodyPr wrap="square" anchor="t" lIns="45720" rIns="45720" tIns="27432" bIns="27432">
            <a:spAutoFit/>
          </a:bodyPr>
          <a:lstStyle/>
          <a:p>
            <a:pPr algn="l"/>
            <a:r>
              <a:rPr sz="1250" b="1">
                <a:solidFill>
                  <a:srgbClr val="1E2761"/>
                </a:solidFill>
                <a:latin typeface="Calibri"/>
              </a:rPr>
              <a:t>Works with repos, so collaboration is more secure</a:t>
            </a:r>
          </a:p>
          <a:p>
            <a:pPr algn="l"/>
            <a:r>
              <a:rPr sz="1150" b="0">
                <a:solidFill>
                  <a:srgbClr val="1F1F2E"/>
                </a:solidFill>
                <a:latin typeface="Calibri"/>
              </a:rPr>
              <a:t>Every change is recorded, reviewable and reversible; access is controlled per organisation and repo; nothing is emailed around.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7315200" cy="274320"/>
          </a:xfrm>
          <a:prstGeom prst="rect">
            <a:avLst/>
          </a:prstGeom>
          <a:noFill/>
        </p:spPr>
        <p:txBody>
          <a:bodyPr wrap="square" anchor="t" lIns="45720" rIns="45720" tIns="27432" bIns="27432">
            <a:spAutoFit/>
          </a:bodyPr>
          <a:lstStyle/>
          <a:p>
            <a:pPr algn="l"/>
            <a:r>
              <a:rPr sz="1200" b="1">
                <a:solidFill>
                  <a:srgbClr val="0F7B6C"/>
                </a:solidFill>
                <a:latin typeface="Calibri"/>
              </a:rPr>
              <a:t>QUICK START · YOUR PATH</a:t>
            </a:r>
          </a:p>
        </p:txBody>
      </p:sp>
      <p:sp>
        <p:nvSpPr>
          <p:cNvPr id="3" name="TextBox 2"/>
          <p:cNvSpPr txBox="1"/>
          <p:nvPr/>
        </p:nvSpPr>
        <p:spPr>
          <a:xfrm>
            <a:off x="548640" y="502920"/>
            <a:ext cx="11064240" cy="685800"/>
          </a:xfrm>
          <a:prstGeom prst="rect">
            <a:avLst/>
          </a:prstGeom>
          <a:noFill/>
        </p:spPr>
        <p:txBody>
          <a:bodyPr wrap="square" anchor="t" lIns="45720" rIns="45720" tIns="27432" bIns="27432">
            <a:spAutoFit/>
          </a:bodyPr>
          <a:lstStyle/>
          <a:p>
            <a:pPr algn="l"/>
            <a:r>
              <a:rPr sz="3000" b="0">
                <a:solidFill>
                  <a:srgbClr val="1E2761"/>
                </a:solidFill>
                <a:latin typeface="Cambria"/>
              </a:rPr>
              <a:t>Your path in five steps</a:t>
            </a:r>
          </a:p>
        </p:txBody>
      </p:sp>
      <p:sp>
        <p:nvSpPr>
          <p:cNvPr id="4" name="TextBox 3"/>
          <p:cNvSpPr txBox="1"/>
          <p:nvPr/>
        </p:nvSpPr>
        <p:spPr>
          <a:xfrm>
            <a:off x="548640" y="6473952"/>
            <a:ext cx="8686800" cy="228600"/>
          </a:xfrm>
          <a:prstGeom prst="rect">
            <a:avLst/>
          </a:prstGeom>
          <a:noFill/>
        </p:spPr>
        <p:txBody>
          <a:bodyPr wrap="square" anchor="t" lIns="45720" rIns="45720" tIns="27432" bIns="27432">
            <a:spAutoFit/>
          </a:bodyPr>
          <a:lstStyle/>
          <a:p>
            <a:pPr algn="l"/>
            <a:r>
              <a:rPr sz="900" b="0">
                <a:solidFill>
                  <a:srgbClr val="5C667A"/>
                </a:solidFill>
                <a:latin typeface="Calibri"/>
              </a:rPr>
              <a:t>Using GitHub Copilot with our repositories: user guide   ·   Screens and model names change over time</a:t>
            </a:r>
          </a:p>
        </p:txBody>
      </p:sp>
      <p:sp>
        <p:nvSpPr>
          <p:cNvPr id="5" name="Rectangle 4"/>
          <p:cNvSpPr/>
          <p:nvPr/>
        </p:nvSpPr>
        <p:spPr>
          <a:xfrm>
            <a:off x="548640" y="1417320"/>
            <a:ext cx="2103120" cy="38862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325880" y="1600200"/>
            <a:ext cx="548640" cy="548640"/>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325880" y="1600200"/>
            <a:ext cx="548640" cy="548640"/>
          </a:xfrm>
          <a:prstGeom prst="rect">
            <a:avLst/>
          </a:prstGeom>
          <a:noFill/>
        </p:spPr>
        <p:txBody>
          <a:bodyPr wrap="square" anchor="ctr" lIns="45720" rIns="45720" tIns="27432" bIns="27432">
            <a:spAutoFit/>
          </a:bodyPr>
          <a:lstStyle/>
          <a:p>
            <a:pPr algn="ctr"/>
            <a:r>
              <a:rPr sz="1800" b="1">
                <a:solidFill>
                  <a:srgbClr val="FFFFFF"/>
                </a:solidFill>
                <a:latin typeface="Calibri"/>
              </a:rPr>
              <a:t>1</a:t>
            </a:r>
          </a:p>
        </p:txBody>
      </p:sp>
      <p:sp>
        <p:nvSpPr>
          <p:cNvPr id="8" name="TextBox 7"/>
          <p:cNvSpPr txBox="1"/>
          <p:nvPr/>
        </p:nvSpPr>
        <p:spPr>
          <a:xfrm>
            <a:off x="685800" y="2286000"/>
            <a:ext cx="1828800" cy="411480"/>
          </a:xfrm>
          <a:prstGeom prst="rect">
            <a:avLst/>
          </a:prstGeom>
          <a:noFill/>
        </p:spPr>
        <p:txBody>
          <a:bodyPr wrap="square" anchor="t" lIns="45720" rIns="45720" tIns="27432" bIns="27432">
            <a:spAutoFit/>
          </a:bodyPr>
          <a:lstStyle/>
          <a:p>
            <a:pPr algn="l"/>
            <a:r>
              <a:rPr sz="1600" b="1">
                <a:solidFill>
                  <a:srgbClr val="1E2761"/>
                </a:solidFill>
                <a:latin typeface="Calibri"/>
              </a:rPr>
              <a:t>Get access</a:t>
            </a:r>
          </a:p>
        </p:txBody>
      </p:sp>
      <p:sp>
        <p:nvSpPr>
          <p:cNvPr id="9" name="TextBox 8"/>
          <p:cNvSpPr txBox="1"/>
          <p:nvPr/>
        </p:nvSpPr>
        <p:spPr>
          <a:xfrm>
            <a:off x="685800" y="2743200"/>
            <a:ext cx="1828800" cy="2377440"/>
          </a:xfrm>
          <a:prstGeom prst="rect">
            <a:avLst/>
          </a:prstGeom>
          <a:noFill/>
        </p:spPr>
        <p:txBody>
          <a:bodyPr wrap="square" anchor="t" lIns="45720" rIns="45720" tIns="27432" bIns="27432">
            <a:spAutoFit/>
          </a:bodyPr>
          <a:lstStyle/>
          <a:p>
            <a:pPr algn="l"/>
            <a:r>
              <a:rPr sz="1250" b="0">
                <a:solidFill>
                  <a:srgbClr val="1F1F2E"/>
                </a:solidFill>
                <a:latin typeface="Calibri"/>
              </a:rPr>
              <a:t>A GitHub account, then Copilot: enterprise seat (preferred) or personal plan.</a:t>
            </a:r>
          </a:p>
        </p:txBody>
      </p:sp>
      <p:cxnSp>
        <p:nvCxnSpPr>
          <p:cNvPr id="10" name="Connector 9"/>
          <p:cNvCxnSpPr/>
          <p:nvPr/>
        </p:nvCxnSpPr>
        <p:spPr>
          <a:xfrm>
            <a:off x="2660904" y="1874519"/>
            <a:ext cx="146304" cy="0"/>
          </a:xfrm>
          <a:prstGeom prst="line">
            <a:avLst/>
          </a:prstGeom>
          <a:ln w="19050">
            <a:solidFill>
              <a:srgbClr val="5C66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2816352" y="1417320"/>
            <a:ext cx="2103120" cy="38862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3593592" y="1600200"/>
            <a:ext cx="548640" cy="548640"/>
          </a:xfrm>
          <a:prstGeom prst="ellipse">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593592" y="1600200"/>
            <a:ext cx="548640" cy="548640"/>
          </a:xfrm>
          <a:prstGeom prst="rect">
            <a:avLst/>
          </a:prstGeom>
          <a:noFill/>
        </p:spPr>
        <p:txBody>
          <a:bodyPr wrap="square" anchor="ctr" lIns="45720" rIns="45720" tIns="27432" bIns="27432">
            <a:spAutoFit/>
          </a:bodyPr>
          <a:lstStyle/>
          <a:p>
            <a:pPr algn="ctr"/>
            <a:r>
              <a:rPr sz="1800" b="1">
                <a:solidFill>
                  <a:srgbClr val="FFFFFF"/>
                </a:solidFill>
                <a:latin typeface="Calibri"/>
              </a:rPr>
              <a:t>2</a:t>
            </a:r>
          </a:p>
        </p:txBody>
      </p:sp>
      <p:sp>
        <p:nvSpPr>
          <p:cNvPr id="14" name="TextBox 13"/>
          <p:cNvSpPr txBox="1"/>
          <p:nvPr/>
        </p:nvSpPr>
        <p:spPr>
          <a:xfrm>
            <a:off x="2953512" y="2286000"/>
            <a:ext cx="1828800" cy="411480"/>
          </a:xfrm>
          <a:prstGeom prst="rect">
            <a:avLst/>
          </a:prstGeom>
          <a:noFill/>
        </p:spPr>
        <p:txBody>
          <a:bodyPr wrap="square" anchor="t" lIns="45720" rIns="45720" tIns="27432" bIns="27432">
            <a:spAutoFit/>
          </a:bodyPr>
          <a:lstStyle/>
          <a:p>
            <a:pPr algn="l"/>
            <a:r>
              <a:rPr sz="1600" b="1">
                <a:solidFill>
                  <a:srgbClr val="1E2761"/>
                </a:solidFill>
                <a:latin typeface="Calibri"/>
              </a:rPr>
              <a:t>Install tools</a:t>
            </a:r>
          </a:p>
        </p:txBody>
      </p:sp>
      <p:sp>
        <p:nvSpPr>
          <p:cNvPr id="15" name="TextBox 14"/>
          <p:cNvSpPr txBox="1"/>
          <p:nvPr/>
        </p:nvSpPr>
        <p:spPr>
          <a:xfrm>
            <a:off x="2953512" y="2743200"/>
            <a:ext cx="1828800" cy="2377440"/>
          </a:xfrm>
          <a:prstGeom prst="rect">
            <a:avLst/>
          </a:prstGeom>
          <a:noFill/>
        </p:spPr>
        <p:txBody>
          <a:bodyPr wrap="square" anchor="t" lIns="45720" rIns="45720" tIns="27432" bIns="27432">
            <a:spAutoFit/>
          </a:bodyPr>
          <a:lstStyle/>
          <a:p>
            <a:pPr algn="l"/>
            <a:r>
              <a:rPr sz="1250" b="0">
                <a:solidFill>
                  <a:srgbClr val="1F1F2E"/>
                </a:solidFill>
                <a:latin typeface="Calibri"/>
              </a:rPr>
              <a:t>Git, GitHub CLI (gh), VS Code and the Copilot app. One-off.</a:t>
            </a:r>
          </a:p>
        </p:txBody>
      </p:sp>
      <p:cxnSp>
        <p:nvCxnSpPr>
          <p:cNvPr id="16" name="Connector 15"/>
          <p:cNvCxnSpPr/>
          <p:nvPr/>
        </p:nvCxnSpPr>
        <p:spPr>
          <a:xfrm>
            <a:off x="4928616" y="1874519"/>
            <a:ext cx="146304" cy="0"/>
          </a:xfrm>
          <a:prstGeom prst="line">
            <a:avLst/>
          </a:prstGeom>
          <a:ln w="19050">
            <a:solidFill>
              <a:srgbClr val="5C66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5084064" y="1417320"/>
            <a:ext cx="2103120" cy="38862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5861303" y="1600200"/>
            <a:ext cx="548640" cy="548640"/>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861303" y="1600200"/>
            <a:ext cx="548640" cy="548640"/>
          </a:xfrm>
          <a:prstGeom prst="rect">
            <a:avLst/>
          </a:prstGeom>
          <a:noFill/>
        </p:spPr>
        <p:txBody>
          <a:bodyPr wrap="square" anchor="ctr" lIns="45720" rIns="45720" tIns="27432" bIns="27432">
            <a:spAutoFit/>
          </a:bodyPr>
          <a:lstStyle/>
          <a:p>
            <a:pPr algn="ctr"/>
            <a:r>
              <a:rPr sz="1800" b="1">
                <a:solidFill>
                  <a:srgbClr val="FFFFFF"/>
                </a:solidFill>
                <a:latin typeface="Calibri"/>
              </a:rPr>
              <a:t>3</a:t>
            </a:r>
          </a:p>
        </p:txBody>
      </p:sp>
      <p:sp>
        <p:nvSpPr>
          <p:cNvPr id="20" name="TextBox 19"/>
          <p:cNvSpPr txBox="1"/>
          <p:nvPr/>
        </p:nvSpPr>
        <p:spPr>
          <a:xfrm>
            <a:off x="5221224" y="2286000"/>
            <a:ext cx="1828800" cy="411480"/>
          </a:xfrm>
          <a:prstGeom prst="rect">
            <a:avLst/>
          </a:prstGeom>
          <a:noFill/>
        </p:spPr>
        <p:txBody>
          <a:bodyPr wrap="square" anchor="t" lIns="45720" rIns="45720" tIns="27432" bIns="27432">
            <a:spAutoFit/>
          </a:bodyPr>
          <a:lstStyle/>
          <a:p>
            <a:pPr algn="l"/>
            <a:r>
              <a:rPr sz="1600" b="1">
                <a:solidFill>
                  <a:srgbClr val="1E2761"/>
                </a:solidFill>
                <a:latin typeface="Calibri"/>
              </a:rPr>
              <a:t>Make a Repos folder</a:t>
            </a:r>
          </a:p>
        </p:txBody>
      </p:sp>
      <p:sp>
        <p:nvSpPr>
          <p:cNvPr id="21" name="TextBox 20"/>
          <p:cNvSpPr txBox="1"/>
          <p:nvPr/>
        </p:nvSpPr>
        <p:spPr>
          <a:xfrm>
            <a:off x="5221224" y="2743200"/>
            <a:ext cx="1828800" cy="2377440"/>
          </a:xfrm>
          <a:prstGeom prst="rect">
            <a:avLst/>
          </a:prstGeom>
          <a:noFill/>
        </p:spPr>
        <p:txBody>
          <a:bodyPr wrap="square" anchor="t" lIns="45720" rIns="45720" tIns="27432" bIns="27432">
            <a:spAutoFit/>
          </a:bodyPr>
          <a:lstStyle/>
          <a:p>
            <a:pPr algn="l"/>
            <a:r>
              <a:rPr sz="1250" b="0">
                <a:solidFill>
                  <a:srgbClr val="1F1F2E"/>
                </a:solidFill>
                <a:latin typeface="Calibri"/>
              </a:rPr>
              <a:t>Outside OneDrive, e.g. C:\Users\&lt;you&gt;\Repos. Clone the repo into it.</a:t>
            </a:r>
          </a:p>
        </p:txBody>
      </p:sp>
      <p:cxnSp>
        <p:nvCxnSpPr>
          <p:cNvPr id="22" name="Connector 21"/>
          <p:cNvCxnSpPr/>
          <p:nvPr/>
        </p:nvCxnSpPr>
        <p:spPr>
          <a:xfrm>
            <a:off x="7196327" y="1874519"/>
            <a:ext cx="146304" cy="0"/>
          </a:xfrm>
          <a:prstGeom prst="line">
            <a:avLst/>
          </a:prstGeom>
          <a:ln w="19050">
            <a:solidFill>
              <a:srgbClr val="5C66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7351775" y="1417320"/>
            <a:ext cx="2103120" cy="38862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8129015" y="1600200"/>
            <a:ext cx="548640" cy="548640"/>
          </a:xfrm>
          <a:prstGeom prst="ellipse">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129015" y="1600200"/>
            <a:ext cx="548640" cy="548640"/>
          </a:xfrm>
          <a:prstGeom prst="rect">
            <a:avLst/>
          </a:prstGeom>
          <a:noFill/>
        </p:spPr>
        <p:txBody>
          <a:bodyPr wrap="square" anchor="ctr" lIns="45720" rIns="45720" tIns="27432" bIns="27432">
            <a:spAutoFit/>
          </a:bodyPr>
          <a:lstStyle/>
          <a:p>
            <a:pPr algn="ctr"/>
            <a:r>
              <a:rPr sz="1800" b="1">
                <a:solidFill>
                  <a:srgbClr val="FFFFFF"/>
                </a:solidFill>
                <a:latin typeface="Calibri"/>
              </a:rPr>
              <a:t>4</a:t>
            </a:r>
          </a:p>
        </p:txBody>
      </p:sp>
      <p:sp>
        <p:nvSpPr>
          <p:cNvPr id="26" name="TextBox 25"/>
          <p:cNvSpPr txBox="1"/>
          <p:nvPr/>
        </p:nvSpPr>
        <p:spPr>
          <a:xfrm>
            <a:off x="7488936" y="2286000"/>
            <a:ext cx="1828800" cy="411480"/>
          </a:xfrm>
          <a:prstGeom prst="rect">
            <a:avLst/>
          </a:prstGeom>
          <a:noFill/>
        </p:spPr>
        <p:txBody>
          <a:bodyPr wrap="square" anchor="t" lIns="45720" rIns="45720" tIns="27432" bIns="27432">
            <a:spAutoFit/>
          </a:bodyPr>
          <a:lstStyle/>
          <a:p>
            <a:pPr algn="l"/>
            <a:r>
              <a:rPr sz="1600" b="1">
                <a:solidFill>
                  <a:srgbClr val="1E2761"/>
                </a:solidFill>
                <a:latin typeface="Calibri"/>
              </a:rPr>
              <a:t>Work with Copilot</a:t>
            </a:r>
          </a:p>
        </p:txBody>
      </p:sp>
      <p:sp>
        <p:nvSpPr>
          <p:cNvPr id="27" name="TextBox 26"/>
          <p:cNvSpPr txBox="1"/>
          <p:nvPr/>
        </p:nvSpPr>
        <p:spPr>
          <a:xfrm>
            <a:off x="7488936" y="2743200"/>
            <a:ext cx="1828800" cy="2377440"/>
          </a:xfrm>
          <a:prstGeom prst="rect">
            <a:avLst/>
          </a:prstGeom>
          <a:noFill/>
        </p:spPr>
        <p:txBody>
          <a:bodyPr wrap="square" anchor="t" lIns="45720" rIns="45720" tIns="27432" bIns="27432">
            <a:spAutoFit/>
          </a:bodyPr>
          <a:lstStyle/>
          <a:p>
            <a:pPr algn="l"/>
            <a:r>
              <a:rPr sz="1250" b="0">
                <a:solidFill>
                  <a:srgbClr val="1F1F2E"/>
                </a:solidFill>
                <a:latin typeface="Calibri"/>
              </a:rPr>
              <a:t>Normally in local mode on the repo on your drive. Pick a model. Ask, review, accept.</a:t>
            </a:r>
          </a:p>
        </p:txBody>
      </p:sp>
      <p:cxnSp>
        <p:nvCxnSpPr>
          <p:cNvPr id="28" name="Connector 27"/>
          <p:cNvCxnSpPr/>
          <p:nvPr/>
        </p:nvCxnSpPr>
        <p:spPr>
          <a:xfrm>
            <a:off x="9464040" y="1874519"/>
            <a:ext cx="146304" cy="0"/>
          </a:xfrm>
          <a:prstGeom prst="line">
            <a:avLst/>
          </a:prstGeom>
          <a:ln w="19050">
            <a:solidFill>
              <a:srgbClr val="5C66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9619488" y="1417320"/>
            <a:ext cx="2103120" cy="38862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10396728" y="1600200"/>
            <a:ext cx="548640" cy="548640"/>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0396728" y="1600200"/>
            <a:ext cx="548640" cy="548640"/>
          </a:xfrm>
          <a:prstGeom prst="rect">
            <a:avLst/>
          </a:prstGeom>
          <a:noFill/>
        </p:spPr>
        <p:txBody>
          <a:bodyPr wrap="square" anchor="ctr" lIns="45720" rIns="45720" tIns="27432" bIns="27432">
            <a:spAutoFit/>
          </a:bodyPr>
          <a:lstStyle/>
          <a:p>
            <a:pPr algn="ctr"/>
            <a:r>
              <a:rPr sz="1800" b="1">
                <a:solidFill>
                  <a:srgbClr val="FFFFFF"/>
                </a:solidFill>
                <a:latin typeface="Calibri"/>
              </a:rPr>
              <a:t>5</a:t>
            </a:r>
          </a:p>
        </p:txBody>
      </p:sp>
      <p:sp>
        <p:nvSpPr>
          <p:cNvPr id="32" name="TextBox 31"/>
          <p:cNvSpPr txBox="1"/>
          <p:nvPr/>
        </p:nvSpPr>
        <p:spPr>
          <a:xfrm>
            <a:off x="9756648" y="2286000"/>
            <a:ext cx="1828800" cy="411480"/>
          </a:xfrm>
          <a:prstGeom prst="rect">
            <a:avLst/>
          </a:prstGeom>
          <a:noFill/>
        </p:spPr>
        <p:txBody>
          <a:bodyPr wrap="square" anchor="t" lIns="45720" rIns="45720" tIns="27432" bIns="27432">
            <a:spAutoFit/>
          </a:bodyPr>
          <a:lstStyle/>
          <a:p>
            <a:pPr algn="l"/>
            <a:r>
              <a:rPr sz="1600" b="1">
                <a:solidFill>
                  <a:srgbClr val="1E2761"/>
                </a:solidFill>
                <a:latin typeface="Calibri"/>
              </a:rPr>
              <a:t>Sync</a:t>
            </a:r>
          </a:p>
        </p:txBody>
      </p:sp>
      <p:sp>
        <p:nvSpPr>
          <p:cNvPr id="33" name="TextBox 32"/>
          <p:cNvSpPr txBox="1"/>
          <p:nvPr/>
        </p:nvSpPr>
        <p:spPr>
          <a:xfrm>
            <a:off x="9756648" y="2743200"/>
            <a:ext cx="1828800" cy="2377440"/>
          </a:xfrm>
          <a:prstGeom prst="rect">
            <a:avLst/>
          </a:prstGeom>
          <a:noFill/>
        </p:spPr>
        <p:txBody>
          <a:bodyPr wrap="square" anchor="t" lIns="45720" rIns="45720" tIns="27432" bIns="27432">
            <a:spAutoFit/>
          </a:bodyPr>
          <a:lstStyle/>
          <a:p>
            <a:pPr algn="l"/>
            <a:r>
              <a:rPr sz="1250" b="0">
                <a:solidFill>
                  <a:srgbClr val="1F1F2E"/>
                </a:solidFill>
                <a:latin typeface="Calibri"/>
              </a:rPr>
              <a:t>Run SyncRepo.bat at the start and end of a session: pull, commit, push.</a:t>
            </a:r>
          </a:p>
        </p:txBody>
      </p:sp>
      <p:sp>
        <p:nvSpPr>
          <p:cNvPr id="34" name="Rectangle 33"/>
          <p:cNvSpPr/>
          <p:nvPr/>
        </p:nvSpPr>
        <p:spPr>
          <a:xfrm>
            <a:off x="548640" y="5532120"/>
            <a:ext cx="4590288" cy="731520"/>
          </a:xfrm>
          <a:prstGeom prst="rect">
            <a:avLst/>
          </a:prstGeom>
          <a:solidFill>
            <a:srgbClr val="E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31520" y="5532120"/>
            <a:ext cx="4297680" cy="731520"/>
          </a:xfrm>
          <a:prstGeom prst="rect">
            <a:avLst/>
          </a:prstGeom>
          <a:noFill/>
        </p:spPr>
        <p:txBody>
          <a:bodyPr wrap="square" anchor="ctr" lIns="45720" rIns="45720" tIns="27432" bIns="27432">
            <a:spAutoFit/>
          </a:bodyPr>
          <a:lstStyle/>
          <a:p>
            <a:pPr algn="l"/>
            <a:r>
              <a:rPr sz="1400" b="1">
                <a:solidFill>
                  <a:srgbClr val="0F7B6C"/>
                </a:solidFill>
                <a:latin typeface="Calibri"/>
              </a:rPr>
              <a:t>Steps 1–3: do these once.</a:t>
            </a:r>
          </a:p>
        </p:txBody>
      </p:sp>
      <p:sp>
        <p:nvSpPr>
          <p:cNvPr id="36" name="Rectangle 35"/>
          <p:cNvSpPr/>
          <p:nvPr/>
        </p:nvSpPr>
        <p:spPr>
          <a:xfrm>
            <a:off x="5303520" y="5532120"/>
            <a:ext cx="6336792" cy="731520"/>
          </a:xfrm>
          <a:prstGeom prst="rect">
            <a:avLst/>
          </a:prstGeom>
          <a:solidFill>
            <a:srgbClr val="FD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5486400" y="5532120"/>
            <a:ext cx="6035040" cy="731520"/>
          </a:xfrm>
          <a:prstGeom prst="rect">
            <a:avLst/>
          </a:prstGeom>
          <a:noFill/>
        </p:spPr>
        <p:txBody>
          <a:bodyPr wrap="square" anchor="ctr" lIns="45720" rIns="45720" tIns="27432" bIns="27432">
            <a:spAutoFit/>
          </a:bodyPr>
          <a:lstStyle/>
          <a:p>
            <a:pPr algn="l"/>
            <a:r>
              <a:rPr sz="1400" b="1">
                <a:solidFill>
                  <a:srgbClr val="E08A1E"/>
                </a:solidFill>
                <a:latin typeface="Calibri"/>
              </a:rPr>
              <a:t>Steps 4–5: every working session. Sync first, work, sync last.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7315200" cy="274320"/>
          </a:xfrm>
          <a:prstGeom prst="rect">
            <a:avLst/>
          </a:prstGeom>
          <a:noFill/>
        </p:spPr>
        <p:txBody>
          <a:bodyPr wrap="square" anchor="t" lIns="45720" rIns="45720" tIns="27432" bIns="27432">
            <a:spAutoFit/>
          </a:bodyPr>
          <a:lstStyle/>
          <a:p>
            <a:pPr algn="l"/>
            <a:r>
              <a:rPr sz="1200" b="1">
                <a:solidFill>
                  <a:srgbClr val="0F7B6C"/>
                </a:solidFill>
                <a:latin typeface="Calibri"/>
              </a:rPr>
              <a:t>QUICK START · STEP BY STEP</a:t>
            </a:r>
          </a:p>
        </p:txBody>
      </p:sp>
      <p:sp>
        <p:nvSpPr>
          <p:cNvPr id="3" name="TextBox 2"/>
          <p:cNvSpPr txBox="1"/>
          <p:nvPr/>
        </p:nvSpPr>
        <p:spPr>
          <a:xfrm>
            <a:off x="548640" y="502920"/>
            <a:ext cx="11064240" cy="685800"/>
          </a:xfrm>
          <a:prstGeom prst="rect">
            <a:avLst/>
          </a:prstGeom>
          <a:noFill/>
        </p:spPr>
        <p:txBody>
          <a:bodyPr wrap="square" anchor="t" lIns="45720" rIns="45720" tIns="27432" bIns="27432">
            <a:spAutoFit/>
          </a:bodyPr>
          <a:lstStyle/>
          <a:p>
            <a:pPr algn="l"/>
            <a:r>
              <a:rPr sz="3000" b="0">
                <a:solidFill>
                  <a:srgbClr val="1E2761"/>
                </a:solidFill>
                <a:latin typeface="Cambria"/>
              </a:rPr>
              <a:t>Steps 1–2 in detail: get access, then install the tools</a:t>
            </a:r>
          </a:p>
        </p:txBody>
      </p:sp>
      <p:sp>
        <p:nvSpPr>
          <p:cNvPr id="4" name="TextBox 3"/>
          <p:cNvSpPr txBox="1"/>
          <p:nvPr/>
        </p:nvSpPr>
        <p:spPr>
          <a:xfrm>
            <a:off x="548640" y="6473952"/>
            <a:ext cx="8686800" cy="228600"/>
          </a:xfrm>
          <a:prstGeom prst="rect">
            <a:avLst/>
          </a:prstGeom>
          <a:noFill/>
        </p:spPr>
        <p:txBody>
          <a:bodyPr wrap="square" anchor="t" lIns="45720" rIns="45720" tIns="27432" bIns="27432">
            <a:spAutoFit/>
          </a:bodyPr>
          <a:lstStyle/>
          <a:p>
            <a:pPr algn="l"/>
            <a:r>
              <a:rPr sz="900" b="0">
                <a:solidFill>
                  <a:srgbClr val="5C667A"/>
                </a:solidFill>
                <a:latin typeface="Calibri"/>
              </a:rPr>
              <a:t>Using GitHub Copilot with our repositories: user guide   ·   Screens and model names change over time</a:t>
            </a:r>
          </a:p>
        </p:txBody>
      </p:sp>
      <p:sp>
        <p:nvSpPr>
          <p:cNvPr id="5" name="Rectangle 4"/>
          <p:cNvSpPr/>
          <p:nvPr/>
        </p:nvSpPr>
        <p:spPr>
          <a:xfrm>
            <a:off x="548640" y="1325880"/>
            <a:ext cx="5440680" cy="4937760"/>
          </a:xfrm>
          <a:prstGeom prst="rect">
            <a:avLst/>
          </a:prstGeom>
          <a:solidFill>
            <a:srgbClr val="E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77240" y="1417320"/>
            <a:ext cx="5029200" cy="365760"/>
          </a:xfrm>
          <a:prstGeom prst="rect">
            <a:avLst/>
          </a:prstGeom>
          <a:noFill/>
        </p:spPr>
        <p:txBody>
          <a:bodyPr wrap="square" anchor="t" lIns="45720" rIns="45720" tIns="27432" bIns="27432">
            <a:spAutoFit/>
          </a:bodyPr>
          <a:lstStyle/>
          <a:p>
            <a:pPr algn="l"/>
            <a:r>
              <a:rPr sz="1600" b="1">
                <a:solidFill>
                  <a:srgbClr val="0F7B6C"/>
                </a:solidFill>
                <a:latin typeface="Calibri"/>
              </a:rPr>
              <a:t>Step 1 · Get access</a:t>
            </a:r>
          </a:p>
        </p:txBody>
      </p:sp>
      <p:sp>
        <p:nvSpPr>
          <p:cNvPr id="7" name="Oval 6"/>
          <p:cNvSpPr/>
          <p:nvPr/>
        </p:nvSpPr>
        <p:spPr>
          <a:xfrm>
            <a:off x="777240" y="1892807"/>
            <a:ext cx="365760" cy="365760"/>
          </a:xfrm>
          <a:prstGeom prst="ellipse">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1892807"/>
            <a:ext cx="365760" cy="365760"/>
          </a:xfrm>
          <a:prstGeom prst="rect">
            <a:avLst/>
          </a:prstGeom>
          <a:noFill/>
        </p:spPr>
        <p:txBody>
          <a:bodyPr wrap="square" anchor="ctr" lIns="45720" rIns="45720" tIns="27432" bIns="27432">
            <a:spAutoFit/>
          </a:bodyPr>
          <a:lstStyle/>
          <a:p>
            <a:pPr algn="ctr"/>
            <a:r>
              <a:rPr sz="1400" b="1">
                <a:solidFill>
                  <a:srgbClr val="FFFFFF"/>
                </a:solidFill>
                <a:latin typeface="Calibri"/>
              </a:rPr>
              <a:t>1</a:t>
            </a:r>
          </a:p>
        </p:txBody>
      </p:sp>
      <p:sp>
        <p:nvSpPr>
          <p:cNvPr id="9" name="TextBox 8"/>
          <p:cNvSpPr txBox="1"/>
          <p:nvPr/>
        </p:nvSpPr>
        <p:spPr>
          <a:xfrm>
            <a:off x="1280160" y="1874519"/>
            <a:ext cx="4526280" cy="896112"/>
          </a:xfrm>
          <a:prstGeom prst="rect">
            <a:avLst/>
          </a:prstGeom>
          <a:noFill/>
        </p:spPr>
        <p:txBody>
          <a:bodyPr wrap="square" anchor="t" lIns="45720" rIns="45720" tIns="27432" bIns="27432">
            <a:spAutoFit/>
          </a:bodyPr>
          <a:lstStyle/>
          <a:p>
            <a:pPr algn="l"/>
            <a:r>
              <a:rPr sz="1200" b="1">
                <a:solidFill>
                  <a:srgbClr val="1E2761"/>
                </a:solidFill>
                <a:latin typeface="Calibri"/>
              </a:rPr>
              <a:t>Create a GitHub.com account</a:t>
            </a:r>
          </a:p>
          <a:p>
            <a:pPr algn="l"/>
            <a:r>
              <a:rPr sz="1100" b="0">
                <a:solidFill>
                  <a:srgbClr val="1F1F2E"/>
                </a:solidFill>
                <a:latin typeface="Calibri"/>
              </a:rPr>
              <a:t>Free, personal, if you do not already have one. Use your name so colleagues recognise you.</a:t>
            </a:r>
          </a:p>
        </p:txBody>
      </p:sp>
      <p:sp>
        <p:nvSpPr>
          <p:cNvPr id="10" name="Oval 9"/>
          <p:cNvSpPr/>
          <p:nvPr/>
        </p:nvSpPr>
        <p:spPr>
          <a:xfrm>
            <a:off x="777240" y="2788920"/>
            <a:ext cx="365760" cy="365760"/>
          </a:xfrm>
          <a:prstGeom prst="ellipse">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2788920"/>
            <a:ext cx="365760" cy="365760"/>
          </a:xfrm>
          <a:prstGeom prst="rect">
            <a:avLst/>
          </a:prstGeom>
          <a:noFill/>
        </p:spPr>
        <p:txBody>
          <a:bodyPr wrap="square" anchor="ctr" lIns="45720" rIns="45720" tIns="27432" bIns="27432">
            <a:spAutoFit/>
          </a:bodyPr>
          <a:lstStyle/>
          <a:p>
            <a:pPr algn="ctr"/>
            <a:r>
              <a:rPr sz="1400" b="1">
                <a:solidFill>
                  <a:srgbClr val="FFFFFF"/>
                </a:solidFill>
                <a:latin typeface="Calibri"/>
              </a:rPr>
              <a:t>2</a:t>
            </a:r>
          </a:p>
        </p:txBody>
      </p:sp>
      <p:sp>
        <p:nvSpPr>
          <p:cNvPr id="12" name="TextBox 11"/>
          <p:cNvSpPr txBox="1"/>
          <p:nvPr/>
        </p:nvSpPr>
        <p:spPr>
          <a:xfrm>
            <a:off x="1280160" y="2770632"/>
            <a:ext cx="4526280" cy="896112"/>
          </a:xfrm>
          <a:prstGeom prst="rect">
            <a:avLst/>
          </a:prstGeom>
          <a:noFill/>
        </p:spPr>
        <p:txBody>
          <a:bodyPr wrap="square" anchor="t" lIns="45720" rIns="45720" tIns="27432" bIns="27432">
            <a:spAutoFit/>
          </a:bodyPr>
          <a:lstStyle/>
          <a:p>
            <a:pPr algn="l"/>
            <a:r>
              <a:rPr sz="1200" b="1">
                <a:solidFill>
                  <a:srgbClr val="1E2761"/>
                </a:solidFill>
                <a:latin typeface="Calibri"/>
              </a:rPr>
              <a:t>Join the WBG organisation</a:t>
            </a:r>
          </a:p>
          <a:p>
            <a:pPr algn="l"/>
            <a:r>
              <a:rPr sz="1100" b="0">
                <a:solidFill>
                  <a:srgbClr val="1F1F2E"/>
                </a:solidFill>
                <a:latin typeface="Calibri"/>
              </a:rPr>
              <a:t>Email your GitHub username to github@worldbank.org and ask to join.</a:t>
            </a:r>
          </a:p>
        </p:txBody>
      </p:sp>
      <p:sp>
        <p:nvSpPr>
          <p:cNvPr id="13" name="Oval 12"/>
          <p:cNvSpPr/>
          <p:nvPr/>
        </p:nvSpPr>
        <p:spPr>
          <a:xfrm>
            <a:off x="777240" y="3685031"/>
            <a:ext cx="365760" cy="365760"/>
          </a:xfrm>
          <a:prstGeom prst="ellipse">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77240" y="3685031"/>
            <a:ext cx="365760" cy="365760"/>
          </a:xfrm>
          <a:prstGeom prst="rect">
            <a:avLst/>
          </a:prstGeom>
          <a:noFill/>
        </p:spPr>
        <p:txBody>
          <a:bodyPr wrap="square" anchor="ctr" lIns="45720" rIns="45720" tIns="27432" bIns="27432">
            <a:spAutoFit/>
          </a:bodyPr>
          <a:lstStyle/>
          <a:p>
            <a:pPr algn="ctr"/>
            <a:r>
              <a:rPr sz="1400" b="1">
                <a:solidFill>
                  <a:srgbClr val="FFFFFF"/>
                </a:solidFill>
                <a:latin typeface="Calibri"/>
              </a:rPr>
              <a:t>3</a:t>
            </a:r>
          </a:p>
        </p:txBody>
      </p:sp>
      <p:sp>
        <p:nvSpPr>
          <p:cNvPr id="15" name="TextBox 14"/>
          <p:cNvSpPr txBox="1"/>
          <p:nvPr/>
        </p:nvSpPr>
        <p:spPr>
          <a:xfrm>
            <a:off x="1280160" y="3666744"/>
            <a:ext cx="4526280" cy="896112"/>
          </a:xfrm>
          <a:prstGeom prst="rect">
            <a:avLst/>
          </a:prstGeom>
          <a:noFill/>
        </p:spPr>
        <p:txBody>
          <a:bodyPr wrap="square" anchor="t" lIns="45720" rIns="45720" tIns="27432" bIns="27432">
            <a:spAutoFit/>
          </a:bodyPr>
          <a:lstStyle/>
          <a:p>
            <a:pPr algn="l"/>
            <a:r>
              <a:rPr sz="1200" b="1">
                <a:solidFill>
                  <a:srgbClr val="1E2761"/>
                </a:solidFill>
                <a:latin typeface="Calibri"/>
              </a:rPr>
              <a:t>Ask for a higher usage limit</a:t>
            </a:r>
          </a:p>
          <a:p>
            <a:pPr algn="l"/>
            <a:r>
              <a:rPr sz="1100" b="0">
                <a:solidFill>
                  <a:srgbClr val="1F1F2E"/>
                </a:solidFill>
                <a:latin typeface="Calibri"/>
              </a:rPr>
              <a:t>Email GitHub_Enterprise_Admin@worldbankgroup.org with your username. The default (about $19/month) lasts a couple of hours.</a:t>
            </a:r>
          </a:p>
        </p:txBody>
      </p:sp>
      <p:sp>
        <p:nvSpPr>
          <p:cNvPr id="16" name="Oval 15"/>
          <p:cNvSpPr/>
          <p:nvPr/>
        </p:nvSpPr>
        <p:spPr>
          <a:xfrm>
            <a:off x="777240" y="4581144"/>
            <a:ext cx="365760" cy="365760"/>
          </a:xfrm>
          <a:prstGeom prst="ellipse">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77240" y="4581144"/>
            <a:ext cx="365760" cy="365760"/>
          </a:xfrm>
          <a:prstGeom prst="rect">
            <a:avLst/>
          </a:prstGeom>
          <a:noFill/>
        </p:spPr>
        <p:txBody>
          <a:bodyPr wrap="square" anchor="ctr" lIns="45720" rIns="45720" tIns="27432" bIns="27432">
            <a:spAutoFit/>
          </a:bodyPr>
          <a:lstStyle/>
          <a:p>
            <a:pPr algn="ctr"/>
            <a:r>
              <a:rPr sz="1400" b="1">
                <a:solidFill>
                  <a:srgbClr val="FFFFFF"/>
                </a:solidFill>
                <a:latin typeface="Calibri"/>
              </a:rPr>
              <a:t>4</a:t>
            </a:r>
          </a:p>
        </p:txBody>
      </p:sp>
      <p:sp>
        <p:nvSpPr>
          <p:cNvPr id="18" name="TextBox 17"/>
          <p:cNvSpPr txBox="1"/>
          <p:nvPr/>
        </p:nvSpPr>
        <p:spPr>
          <a:xfrm>
            <a:off x="1280160" y="4562856"/>
            <a:ext cx="4526280" cy="896112"/>
          </a:xfrm>
          <a:prstGeom prst="rect">
            <a:avLst/>
          </a:prstGeom>
          <a:noFill/>
        </p:spPr>
        <p:txBody>
          <a:bodyPr wrap="square" anchor="t" lIns="45720" rIns="45720" tIns="27432" bIns="27432">
            <a:spAutoFit/>
          </a:bodyPr>
          <a:lstStyle/>
          <a:p>
            <a:pPr algn="l"/>
            <a:r>
              <a:rPr sz="1200" b="1">
                <a:solidFill>
                  <a:srgbClr val="1E2761"/>
                </a:solidFill>
                <a:latin typeface="Calibri"/>
              </a:rPr>
              <a:t>Join the team and the cpmodel repos</a:t>
            </a:r>
          </a:p>
          <a:p>
            <a:pPr algn="l"/>
            <a:r>
              <a:rPr sz="1100" b="0">
                <a:solidFill>
                  <a:srgbClr val="1F1F2E"/>
                </a:solidFill>
                <a:latin typeface="Calibri"/>
              </a:rPr>
              <a:t>Send your username to Santiago (safonso@worldbankgroup.org) or Paulina (pschulzantipa@worldbankgroup.org); ask the repo owner to add you to cpmodel.</a:t>
            </a:r>
          </a:p>
        </p:txBody>
      </p:sp>
      <p:sp>
        <p:nvSpPr>
          <p:cNvPr id="19" name="TextBox 18"/>
          <p:cNvSpPr txBox="1"/>
          <p:nvPr/>
        </p:nvSpPr>
        <p:spPr>
          <a:xfrm>
            <a:off x="777240" y="5577840"/>
            <a:ext cx="5029200" cy="640080"/>
          </a:xfrm>
          <a:prstGeom prst="rect">
            <a:avLst/>
          </a:prstGeom>
          <a:noFill/>
        </p:spPr>
        <p:txBody>
          <a:bodyPr wrap="square" anchor="t" lIns="45720" rIns="45720" tIns="27432" bIns="27432">
            <a:spAutoFit/>
          </a:bodyPr>
          <a:lstStyle/>
          <a:p>
            <a:pPr algn="l"/>
            <a:r>
              <a:rPr sz="1150" b="1">
                <a:solidFill>
                  <a:srgbClr val="0F7B6C"/>
                </a:solidFill>
                <a:latin typeface="Calibri"/>
              </a:rPr>
              <a:t>Enterprise seat is the normal route; a personal Copilot plan works while you wait. Full onboarding detail: Appendix 2.</a:t>
            </a:r>
          </a:p>
        </p:txBody>
      </p:sp>
      <p:sp>
        <p:nvSpPr>
          <p:cNvPr id="20" name="Rectangle 19"/>
          <p:cNvSpPr/>
          <p:nvPr/>
        </p:nvSpPr>
        <p:spPr>
          <a:xfrm>
            <a:off x="6199632" y="1325880"/>
            <a:ext cx="5440680" cy="4937760"/>
          </a:xfrm>
          <a:prstGeom prst="rect">
            <a:avLst/>
          </a:prstGeom>
          <a:solidFill>
            <a:srgbClr val="FD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28232" y="1417320"/>
            <a:ext cx="5029200" cy="365760"/>
          </a:xfrm>
          <a:prstGeom prst="rect">
            <a:avLst/>
          </a:prstGeom>
          <a:noFill/>
        </p:spPr>
        <p:txBody>
          <a:bodyPr wrap="square" anchor="t" lIns="45720" rIns="45720" tIns="27432" bIns="27432">
            <a:spAutoFit/>
          </a:bodyPr>
          <a:lstStyle/>
          <a:p>
            <a:pPr algn="l"/>
            <a:r>
              <a:rPr sz="1600" b="1">
                <a:solidFill>
                  <a:srgbClr val="E08A1E"/>
                </a:solidFill>
                <a:latin typeface="Calibri"/>
              </a:rPr>
              <a:t>Step 2 · Install the tools (once)</a:t>
            </a:r>
          </a:p>
        </p:txBody>
      </p:sp>
      <p:sp>
        <p:nvSpPr>
          <p:cNvPr id="22" name="Oval 21"/>
          <p:cNvSpPr/>
          <p:nvPr/>
        </p:nvSpPr>
        <p:spPr>
          <a:xfrm>
            <a:off x="6428232" y="1892807"/>
            <a:ext cx="365760" cy="365760"/>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428232" y="1892807"/>
            <a:ext cx="365760" cy="365760"/>
          </a:xfrm>
          <a:prstGeom prst="rect">
            <a:avLst/>
          </a:prstGeom>
          <a:noFill/>
        </p:spPr>
        <p:txBody>
          <a:bodyPr wrap="square" anchor="ctr" lIns="45720" rIns="45720" tIns="27432" bIns="27432">
            <a:spAutoFit/>
          </a:bodyPr>
          <a:lstStyle/>
          <a:p>
            <a:pPr algn="ctr"/>
            <a:r>
              <a:rPr sz="1400" b="1">
                <a:solidFill>
                  <a:srgbClr val="FFFFFF"/>
                </a:solidFill>
                <a:latin typeface="Calibri"/>
              </a:rPr>
              <a:t>1</a:t>
            </a:r>
          </a:p>
        </p:txBody>
      </p:sp>
      <p:sp>
        <p:nvSpPr>
          <p:cNvPr id="24" name="TextBox 23"/>
          <p:cNvSpPr txBox="1"/>
          <p:nvPr/>
        </p:nvSpPr>
        <p:spPr>
          <a:xfrm>
            <a:off x="6931152" y="1874519"/>
            <a:ext cx="4526280" cy="896112"/>
          </a:xfrm>
          <a:prstGeom prst="rect">
            <a:avLst/>
          </a:prstGeom>
          <a:noFill/>
        </p:spPr>
        <p:txBody>
          <a:bodyPr wrap="square" anchor="t" lIns="45720" rIns="45720" tIns="27432" bIns="27432">
            <a:spAutoFit/>
          </a:bodyPr>
          <a:lstStyle/>
          <a:p>
            <a:pPr algn="l"/>
            <a:r>
              <a:rPr sz="1200" b="1">
                <a:solidFill>
                  <a:srgbClr val="1E2761"/>
                </a:solidFill>
                <a:latin typeface="Calibri"/>
              </a:rPr>
              <a:t>Git for Windows</a:t>
            </a:r>
          </a:p>
          <a:p>
            <a:pPr algn="l"/>
            <a:r>
              <a:rPr sz="1100" b="0">
                <a:solidFill>
                  <a:srgbClr val="1F1F2E"/>
                </a:solidFill>
                <a:latin typeface="Calibri"/>
              </a:rPr>
              <a:t>Software Center, or git-scm.com. Accept the defaults.</a:t>
            </a:r>
          </a:p>
        </p:txBody>
      </p:sp>
      <p:sp>
        <p:nvSpPr>
          <p:cNvPr id="25" name="Oval 24"/>
          <p:cNvSpPr/>
          <p:nvPr/>
        </p:nvSpPr>
        <p:spPr>
          <a:xfrm>
            <a:off x="6428232" y="2788920"/>
            <a:ext cx="365760" cy="365760"/>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428232" y="2788920"/>
            <a:ext cx="365760" cy="365760"/>
          </a:xfrm>
          <a:prstGeom prst="rect">
            <a:avLst/>
          </a:prstGeom>
          <a:noFill/>
        </p:spPr>
        <p:txBody>
          <a:bodyPr wrap="square" anchor="ctr" lIns="45720" rIns="45720" tIns="27432" bIns="27432">
            <a:spAutoFit/>
          </a:bodyPr>
          <a:lstStyle/>
          <a:p>
            <a:pPr algn="ctr"/>
            <a:r>
              <a:rPr sz="1400" b="1">
                <a:solidFill>
                  <a:srgbClr val="FFFFFF"/>
                </a:solidFill>
                <a:latin typeface="Calibri"/>
              </a:rPr>
              <a:t>2</a:t>
            </a:r>
          </a:p>
        </p:txBody>
      </p:sp>
      <p:sp>
        <p:nvSpPr>
          <p:cNvPr id="27" name="TextBox 26"/>
          <p:cNvSpPr txBox="1"/>
          <p:nvPr/>
        </p:nvSpPr>
        <p:spPr>
          <a:xfrm>
            <a:off x="6931152" y="2770632"/>
            <a:ext cx="4526280" cy="896112"/>
          </a:xfrm>
          <a:prstGeom prst="rect">
            <a:avLst/>
          </a:prstGeom>
          <a:noFill/>
        </p:spPr>
        <p:txBody>
          <a:bodyPr wrap="square" anchor="t" lIns="45720" rIns="45720" tIns="27432" bIns="27432">
            <a:spAutoFit/>
          </a:bodyPr>
          <a:lstStyle/>
          <a:p>
            <a:pPr algn="l"/>
            <a:r>
              <a:rPr sz="1200" b="1">
                <a:solidFill>
                  <a:srgbClr val="1E2761"/>
                </a:solidFill>
                <a:latin typeface="Calibri"/>
              </a:rPr>
              <a:t>GitHub CLI (gh), then sign in</a:t>
            </a:r>
          </a:p>
          <a:p>
            <a:pPr algn="l"/>
            <a:r>
              <a:rPr sz="1100" b="0">
                <a:solidFill>
                  <a:srgbClr val="1F1F2E"/>
                </a:solidFill>
                <a:latin typeface="Calibri"/>
              </a:rPr>
              <a:t>Software Center, or cli.github.com. Open a terminal and run  gh auth login  — a browser opens; sign in with the account from step 1.</a:t>
            </a:r>
          </a:p>
        </p:txBody>
      </p:sp>
      <p:sp>
        <p:nvSpPr>
          <p:cNvPr id="28" name="Oval 27"/>
          <p:cNvSpPr/>
          <p:nvPr/>
        </p:nvSpPr>
        <p:spPr>
          <a:xfrm>
            <a:off x="6428232" y="3685031"/>
            <a:ext cx="365760" cy="365760"/>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428232" y="3685031"/>
            <a:ext cx="365760" cy="365760"/>
          </a:xfrm>
          <a:prstGeom prst="rect">
            <a:avLst/>
          </a:prstGeom>
          <a:noFill/>
        </p:spPr>
        <p:txBody>
          <a:bodyPr wrap="square" anchor="ctr" lIns="45720" rIns="45720" tIns="27432" bIns="27432">
            <a:spAutoFit/>
          </a:bodyPr>
          <a:lstStyle/>
          <a:p>
            <a:pPr algn="ctr"/>
            <a:r>
              <a:rPr sz="1400" b="1">
                <a:solidFill>
                  <a:srgbClr val="FFFFFF"/>
                </a:solidFill>
                <a:latin typeface="Calibri"/>
              </a:rPr>
              <a:t>3</a:t>
            </a:r>
          </a:p>
        </p:txBody>
      </p:sp>
      <p:sp>
        <p:nvSpPr>
          <p:cNvPr id="30" name="TextBox 29"/>
          <p:cNvSpPr txBox="1"/>
          <p:nvPr/>
        </p:nvSpPr>
        <p:spPr>
          <a:xfrm>
            <a:off x="6931152" y="3666744"/>
            <a:ext cx="4526280" cy="896112"/>
          </a:xfrm>
          <a:prstGeom prst="rect">
            <a:avLst/>
          </a:prstGeom>
          <a:noFill/>
        </p:spPr>
        <p:txBody>
          <a:bodyPr wrap="square" anchor="t" lIns="45720" rIns="45720" tIns="27432" bIns="27432">
            <a:spAutoFit/>
          </a:bodyPr>
          <a:lstStyle/>
          <a:p>
            <a:pPr algn="l"/>
            <a:r>
              <a:rPr sz="1200" b="1">
                <a:solidFill>
                  <a:srgbClr val="1E2761"/>
                </a:solidFill>
                <a:latin typeface="Calibri"/>
              </a:rPr>
              <a:t>GitHub Copilot app</a:t>
            </a:r>
          </a:p>
          <a:p>
            <a:pPr algn="l"/>
            <a:r>
              <a:rPr sz="1100" b="0">
                <a:solidFill>
                  <a:srgbClr val="1F1F2E"/>
                </a:solidFill>
                <a:latin typeface="Calibri"/>
              </a:rPr>
              <a:t>Microsoft Store → GitHub Copilot. Sign in with the same account. (Prefer an editor? VS Code plus the Copilot extension does the same job.)</a:t>
            </a:r>
          </a:p>
        </p:txBody>
      </p:sp>
      <p:sp>
        <p:nvSpPr>
          <p:cNvPr id="31" name="Oval 30"/>
          <p:cNvSpPr/>
          <p:nvPr/>
        </p:nvSpPr>
        <p:spPr>
          <a:xfrm>
            <a:off x="6428232" y="4581144"/>
            <a:ext cx="365760" cy="365760"/>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428232" y="4581144"/>
            <a:ext cx="365760" cy="365760"/>
          </a:xfrm>
          <a:prstGeom prst="rect">
            <a:avLst/>
          </a:prstGeom>
          <a:noFill/>
        </p:spPr>
        <p:txBody>
          <a:bodyPr wrap="square" anchor="ctr" lIns="45720" rIns="45720" tIns="27432" bIns="27432">
            <a:spAutoFit/>
          </a:bodyPr>
          <a:lstStyle/>
          <a:p>
            <a:pPr algn="ctr"/>
            <a:r>
              <a:rPr sz="1400" b="1">
                <a:solidFill>
                  <a:srgbClr val="FFFFFF"/>
                </a:solidFill>
                <a:latin typeface="Calibri"/>
              </a:rPr>
              <a:t>4</a:t>
            </a:r>
          </a:p>
        </p:txBody>
      </p:sp>
      <p:sp>
        <p:nvSpPr>
          <p:cNvPr id="33" name="TextBox 32"/>
          <p:cNvSpPr txBox="1"/>
          <p:nvPr/>
        </p:nvSpPr>
        <p:spPr>
          <a:xfrm>
            <a:off x="6931152" y="4562856"/>
            <a:ext cx="4526280" cy="896112"/>
          </a:xfrm>
          <a:prstGeom prst="rect">
            <a:avLst/>
          </a:prstGeom>
          <a:noFill/>
        </p:spPr>
        <p:txBody>
          <a:bodyPr wrap="square" anchor="t" lIns="45720" rIns="45720" tIns="27432" bIns="27432">
            <a:spAutoFit/>
          </a:bodyPr>
          <a:lstStyle/>
          <a:p>
            <a:pPr algn="l"/>
            <a:r>
              <a:rPr sz="1200" b="1">
                <a:solidFill>
                  <a:srgbClr val="1E2761"/>
                </a:solidFill>
                <a:latin typeface="Calibri"/>
              </a:rPr>
              <a:t>Check it worked</a:t>
            </a:r>
          </a:p>
          <a:p>
            <a:pPr algn="l"/>
            <a:r>
              <a:rPr sz="1100" b="0">
                <a:solidFill>
                  <a:srgbClr val="1F1F2E"/>
                </a:solidFill>
                <a:latin typeface="Calibri"/>
              </a:rPr>
              <a:t>In a terminal:  git --version  and  gh auth status.  Both should answer without errors. If not: Appendix 1, Troubleshooting.</a:t>
            </a:r>
          </a:p>
        </p:txBody>
      </p:sp>
      <p:sp>
        <p:nvSpPr>
          <p:cNvPr id="34" name="TextBox 33"/>
          <p:cNvSpPr txBox="1"/>
          <p:nvPr/>
        </p:nvSpPr>
        <p:spPr>
          <a:xfrm>
            <a:off x="6428232" y="5577840"/>
            <a:ext cx="5029200" cy="640080"/>
          </a:xfrm>
          <a:prstGeom prst="rect">
            <a:avLst/>
          </a:prstGeom>
          <a:noFill/>
        </p:spPr>
        <p:txBody>
          <a:bodyPr wrap="square" anchor="t" lIns="45720" rIns="45720" tIns="27432" bIns="27432">
            <a:spAutoFit/>
          </a:bodyPr>
          <a:lstStyle/>
          <a:p>
            <a:pPr algn="l"/>
            <a:r>
              <a:rPr sz="1150" b="1">
                <a:solidFill>
                  <a:srgbClr val="E08A1E"/>
                </a:solidFill>
                <a:latin typeface="Calibri"/>
              </a:rPr>
              <a:t>What each tool is for, and the five gh commands that matter: Appendix 1, Tools.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7315200" cy="274320"/>
          </a:xfrm>
          <a:prstGeom prst="rect">
            <a:avLst/>
          </a:prstGeom>
          <a:noFill/>
        </p:spPr>
        <p:txBody>
          <a:bodyPr wrap="square" anchor="t" lIns="45720" rIns="45720" tIns="27432" bIns="27432">
            <a:spAutoFit/>
          </a:bodyPr>
          <a:lstStyle/>
          <a:p>
            <a:pPr algn="l"/>
            <a:r>
              <a:rPr sz="1200" b="1">
                <a:solidFill>
                  <a:srgbClr val="0F7B6C"/>
                </a:solidFill>
                <a:latin typeface="Calibri"/>
              </a:rPr>
              <a:t>QUICK START · STEP BY STEP</a:t>
            </a:r>
          </a:p>
        </p:txBody>
      </p:sp>
      <p:sp>
        <p:nvSpPr>
          <p:cNvPr id="3" name="TextBox 2"/>
          <p:cNvSpPr txBox="1"/>
          <p:nvPr/>
        </p:nvSpPr>
        <p:spPr>
          <a:xfrm>
            <a:off x="548640" y="502920"/>
            <a:ext cx="11064240" cy="685800"/>
          </a:xfrm>
          <a:prstGeom prst="rect">
            <a:avLst/>
          </a:prstGeom>
          <a:noFill/>
        </p:spPr>
        <p:txBody>
          <a:bodyPr wrap="square" anchor="t" lIns="45720" rIns="45720" tIns="27432" bIns="27432">
            <a:spAutoFit/>
          </a:bodyPr>
          <a:lstStyle/>
          <a:p>
            <a:pPr algn="l"/>
            <a:r>
              <a:rPr sz="3000" b="0">
                <a:solidFill>
                  <a:srgbClr val="1E2761"/>
                </a:solidFill>
                <a:latin typeface="Cambria"/>
              </a:rPr>
              <a:t>Steps 3–5 in detail: set up local mode and work</a:t>
            </a:r>
          </a:p>
        </p:txBody>
      </p:sp>
      <p:sp>
        <p:nvSpPr>
          <p:cNvPr id="4" name="TextBox 3"/>
          <p:cNvSpPr txBox="1"/>
          <p:nvPr/>
        </p:nvSpPr>
        <p:spPr>
          <a:xfrm>
            <a:off x="548640" y="6473952"/>
            <a:ext cx="8686800" cy="228600"/>
          </a:xfrm>
          <a:prstGeom prst="rect">
            <a:avLst/>
          </a:prstGeom>
          <a:noFill/>
        </p:spPr>
        <p:txBody>
          <a:bodyPr wrap="square" anchor="t" lIns="45720" rIns="45720" tIns="27432" bIns="27432">
            <a:spAutoFit/>
          </a:bodyPr>
          <a:lstStyle/>
          <a:p>
            <a:pPr algn="l"/>
            <a:r>
              <a:rPr sz="900" b="0">
                <a:solidFill>
                  <a:srgbClr val="5C667A"/>
                </a:solidFill>
                <a:latin typeface="Calibri"/>
              </a:rPr>
              <a:t>Using GitHub Copilot with our repositories: user guide   ·   Screens and model names change over time</a:t>
            </a:r>
          </a:p>
        </p:txBody>
      </p:sp>
      <p:sp>
        <p:nvSpPr>
          <p:cNvPr id="5" name="Oval 4"/>
          <p:cNvSpPr/>
          <p:nvPr/>
        </p:nvSpPr>
        <p:spPr>
          <a:xfrm>
            <a:off x="548640" y="1389888"/>
            <a:ext cx="365760" cy="365760"/>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1389888"/>
            <a:ext cx="365760" cy="365760"/>
          </a:xfrm>
          <a:prstGeom prst="rect">
            <a:avLst/>
          </a:prstGeom>
          <a:noFill/>
        </p:spPr>
        <p:txBody>
          <a:bodyPr wrap="square" anchor="ctr" lIns="45720" rIns="45720" tIns="27432" bIns="27432">
            <a:spAutoFit/>
          </a:bodyPr>
          <a:lstStyle/>
          <a:p>
            <a:pPr algn="ctr"/>
            <a:r>
              <a:rPr sz="1400" b="1">
                <a:solidFill>
                  <a:srgbClr val="FFFFFF"/>
                </a:solidFill>
                <a:latin typeface="Calibri"/>
              </a:rPr>
              <a:t>1</a:t>
            </a:r>
          </a:p>
        </p:txBody>
      </p:sp>
      <p:sp>
        <p:nvSpPr>
          <p:cNvPr id="7" name="TextBox 6"/>
          <p:cNvSpPr txBox="1"/>
          <p:nvPr/>
        </p:nvSpPr>
        <p:spPr>
          <a:xfrm>
            <a:off x="1051560" y="1371600"/>
            <a:ext cx="6172200" cy="932688"/>
          </a:xfrm>
          <a:prstGeom prst="rect">
            <a:avLst/>
          </a:prstGeom>
          <a:noFill/>
        </p:spPr>
        <p:txBody>
          <a:bodyPr wrap="square" anchor="t" lIns="45720" rIns="45720" tIns="27432" bIns="27432">
            <a:spAutoFit/>
          </a:bodyPr>
          <a:lstStyle/>
          <a:p>
            <a:pPr algn="l"/>
            <a:r>
              <a:rPr sz="1350" b="1">
                <a:solidFill>
                  <a:srgbClr val="1E2761"/>
                </a:solidFill>
                <a:latin typeface="Calibri"/>
              </a:rPr>
              <a:t>Make the Repos folder</a:t>
            </a:r>
          </a:p>
          <a:p>
            <a:pPr algn="l"/>
            <a:r>
              <a:rPr sz="1250" b="0">
                <a:solidFill>
                  <a:srgbClr val="1F1F2E"/>
                </a:solidFill>
                <a:latin typeface="Calibri"/>
              </a:rPr>
              <a:t>C:\Users\&lt;you&gt;\Repos\ — outside OneDrive (why: Appendix 1, Where files live).</a:t>
            </a:r>
          </a:p>
        </p:txBody>
      </p:sp>
      <p:sp>
        <p:nvSpPr>
          <p:cNvPr id="8" name="Oval 7"/>
          <p:cNvSpPr/>
          <p:nvPr/>
        </p:nvSpPr>
        <p:spPr>
          <a:xfrm>
            <a:off x="548640" y="2322576"/>
            <a:ext cx="365760" cy="365760"/>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2322576"/>
            <a:ext cx="365760" cy="365760"/>
          </a:xfrm>
          <a:prstGeom prst="rect">
            <a:avLst/>
          </a:prstGeom>
          <a:noFill/>
        </p:spPr>
        <p:txBody>
          <a:bodyPr wrap="square" anchor="ctr" lIns="45720" rIns="45720" tIns="27432" bIns="27432">
            <a:spAutoFit/>
          </a:bodyPr>
          <a:lstStyle/>
          <a:p>
            <a:pPr algn="ctr"/>
            <a:r>
              <a:rPr sz="1400" b="1">
                <a:solidFill>
                  <a:srgbClr val="FFFFFF"/>
                </a:solidFill>
                <a:latin typeface="Calibri"/>
              </a:rPr>
              <a:t>2</a:t>
            </a:r>
          </a:p>
        </p:txBody>
      </p:sp>
      <p:sp>
        <p:nvSpPr>
          <p:cNvPr id="10" name="TextBox 9"/>
          <p:cNvSpPr txBox="1"/>
          <p:nvPr/>
        </p:nvSpPr>
        <p:spPr>
          <a:xfrm>
            <a:off x="1051560" y="2304288"/>
            <a:ext cx="6172200" cy="932688"/>
          </a:xfrm>
          <a:prstGeom prst="rect">
            <a:avLst/>
          </a:prstGeom>
          <a:noFill/>
        </p:spPr>
        <p:txBody>
          <a:bodyPr wrap="square" anchor="t" lIns="45720" rIns="45720" tIns="27432" bIns="27432">
            <a:spAutoFit/>
          </a:bodyPr>
          <a:lstStyle/>
          <a:p>
            <a:pPr algn="l"/>
            <a:r>
              <a:rPr sz="1350" b="1">
                <a:solidFill>
                  <a:srgbClr val="1E2761"/>
                </a:solidFill>
                <a:latin typeface="Calibri"/>
              </a:rPr>
              <a:t>Clone the repo into it</a:t>
            </a:r>
          </a:p>
          <a:p>
            <a:pPr algn="l"/>
            <a:r>
              <a:rPr sz="1250" b="0">
                <a:solidFill>
                  <a:srgbClr val="1F1F2E"/>
                </a:solidFill>
                <a:latin typeface="Calibri"/>
              </a:rPr>
              <a:t>In a terminal inside Repos\:  gh repo clone cpmodel/&lt;repo&gt;   — or in the Copilot app: Add project → Clone from GitHub → choose the Repos folder.</a:t>
            </a:r>
          </a:p>
        </p:txBody>
      </p:sp>
      <p:sp>
        <p:nvSpPr>
          <p:cNvPr id="11" name="Oval 10"/>
          <p:cNvSpPr/>
          <p:nvPr/>
        </p:nvSpPr>
        <p:spPr>
          <a:xfrm>
            <a:off x="548640" y="3255264"/>
            <a:ext cx="365760" cy="365760"/>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48640" y="3255264"/>
            <a:ext cx="365760" cy="365760"/>
          </a:xfrm>
          <a:prstGeom prst="rect">
            <a:avLst/>
          </a:prstGeom>
          <a:noFill/>
        </p:spPr>
        <p:txBody>
          <a:bodyPr wrap="square" anchor="ctr" lIns="45720" rIns="45720" tIns="27432" bIns="27432">
            <a:spAutoFit/>
          </a:bodyPr>
          <a:lstStyle/>
          <a:p>
            <a:pPr algn="ctr"/>
            <a:r>
              <a:rPr sz="1400" b="1">
                <a:solidFill>
                  <a:srgbClr val="FFFFFF"/>
                </a:solidFill>
                <a:latin typeface="Calibri"/>
              </a:rPr>
              <a:t>3</a:t>
            </a:r>
          </a:p>
        </p:txBody>
      </p:sp>
      <p:sp>
        <p:nvSpPr>
          <p:cNvPr id="13" name="TextBox 12"/>
          <p:cNvSpPr txBox="1"/>
          <p:nvPr/>
        </p:nvSpPr>
        <p:spPr>
          <a:xfrm>
            <a:off x="1051560" y="3236976"/>
            <a:ext cx="6172200" cy="932688"/>
          </a:xfrm>
          <a:prstGeom prst="rect">
            <a:avLst/>
          </a:prstGeom>
          <a:noFill/>
        </p:spPr>
        <p:txBody>
          <a:bodyPr wrap="square" anchor="t" lIns="45720" rIns="45720" tIns="27432" bIns="27432">
            <a:spAutoFit/>
          </a:bodyPr>
          <a:lstStyle/>
          <a:p>
            <a:pPr algn="l"/>
            <a:r>
              <a:rPr sz="1350" b="1">
                <a:solidFill>
                  <a:srgbClr val="1E2761"/>
                </a:solidFill>
                <a:latin typeface="Calibri"/>
              </a:rPr>
              <a:t>Open it as a project in the Copilot app</a:t>
            </a:r>
          </a:p>
          <a:p>
            <a:pPr algn="l"/>
            <a:r>
              <a:rPr sz="1250" b="0">
                <a:solidFill>
                  <a:srgbClr val="1F1F2E"/>
                </a:solidFill>
                <a:latin typeface="Calibri"/>
              </a:rPr>
              <a:t>Projects → Add → pick the repo folder (or it is already there after cloning). The app shows the repo name and the branch (main).</a:t>
            </a:r>
          </a:p>
        </p:txBody>
      </p:sp>
      <p:sp>
        <p:nvSpPr>
          <p:cNvPr id="14" name="Oval 13"/>
          <p:cNvSpPr/>
          <p:nvPr/>
        </p:nvSpPr>
        <p:spPr>
          <a:xfrm>
            <a:off x="548640" y="4187952"/>
            <a:ext cx="365760" cy="365760"/>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48640" y="4187952"/>
            <a:ext cx="365760" cy="365760"/>
          </a:xfrm>
          <a:prstGeom prst="rect">
            <a:avLst/>
          </a:prstGeom>
          <a:noFill/>
        </p:spPr>
        <p:txBody>
          <a:bodyPr wrap="square" anchor="ctr" lIns="45720" rIns="45720" tIns="27432" bIns="27432">
            <a:spAutoFit/>
          </a:bodyPr>
          <a:lstStyle/>
          <a:p>
            <a:pPr algn="ctr"/>
            <a:r>
              <a:rPr sz="1400" b="1">
                <a:solidFill>
                  <a:srgbClr val="FFFFFF"/>
                </a:solidFill>
                <a:latin typeface="Calibri"/>
              </a:rPr>
              <a:t>4</a:t>
            </a:r>
          </a:p>
        </p:txBody>
      </p:sp>
      <p:sp>
        <p:nvSpPr>
          <p:cNvPr id="16" name="TextBox 15"/>
          <p:cNvSpPr txBox="1"/>
          <p:nvPr/>
        </p:nvSpPr>
        <p:spPr>
          <a:xfrm>
            <a:off x="1051560" y="4169664"/>
            <a:ext cx="6172200" cy="932688"/>
          </a:xfrm>
          <a:prstGeom prst="rect">
            <a:avLst/>
          </a:prstGeom>
          <a:noFill/>
        </p:spPr>
        <p:txBody>
          <a:bodyPr wrap="square" anchor="t" lIns="45720" rIns="45720" tIns="27432" bIns="27432">
            <a:spAutoFit/>
          </a:bodyPr>
          <a:lstStyle/>
          <a:p>
            <a:pPr algn="l"/>
            <a:r>
              <a:rPr sz="1350" b="1">
                <a:solidFill>
                  <a:srgbClr val="1E2761"/>
                </a:solidFill>
                <a:latin typeface="Calibri"/>
              </a:rPr>
              <a:t>Start a session in the local checkout</a:t>
            </a:r>
          </a:p>
          <a:p>
            <a:pPr algn="l"/>
            <a:r>
              <a:rPr sz="1250" b="0">
                <a:solidFill>
                  <a:srgbClr val="1F1F2E"/>
                </a:solidFill>
                <a:latin typeface="Calibri"/>
              </a:rPr>
              <a:t>New session → choose to work in the current checkout / branch, not 'Worktree' and not 'Cloud' (labels vary; the three modes are explained in Appendix 1). The session header should show your Repos\ path.</a:t>
            </a:r>
          </a:p>
        </p:txBody>
      </p:sp>
      <p:sp>
        <p:nvSpPr>
          <p:cNvPr id="17" name="Oval 16"/>
          <p:cNvSpPr/>
          <p:nvPr/>
        </p:nvSpPr>
        <p:spPr>
          <a:xfrm>
            <a:off x="548640" y="5120640"/>
            <a:ext cx="365760" cy="365760"/>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48640" y="5120640"/>
            <a:ext cx="365760" cy="365760"/>
          </a:xfrm>
          <a:prstGeom prst="rect">
            <a:avLst/>
          </a:prstGeom>
          <a:noFill/>
        </p:spPr>
        <p:txBody>
          <a:bodyPr wrap="square" anchor="ctr" lIns="45720" rIns="45720" tIns="27432" bIns="27432">
            <a:spAutoFit/>
          </a:bodyPr>
          <a:lstStyle/>
          <a:p>
            <a:pPr algn="ctr"/>
            <a:r>
              <a:rPr sz="1400" b="1">
                <a:solidFill>
                  <a:srgbClr val="FFFFFF"/>
                </a:solidFill>
                <a:latin typeface="Calibri"/>
              </a:rPr>
              <a:t>5</a:t>
            </a:r>
          </a:p>
        </p:txBody>
      </p:sp>
      <p:sp>
        <p:nvSpPr>
          <p:cNvPr id="19" name="TextBox 18"/>
          <p:cNvSpPr txBox="1"/>
          <p:nvPr/>
        </p:nvSpPr>
        <p:spPr>
          <a:xfrm>
            <a:off x="1051560" y="5102352"/>
            <a:ext cx="6172200" cy="932688"/>
          </a:xfrm>
          <a:prstGeom prst="rect">
            <a:avLst/>
          </a:prstGeom>
          <a:noFill/>
        </p:spPr>
        <p:txBody>
          <a:bodyPr wrap="square" anchor="t" lIns="45720" rIns="45720" tIns="27432" bIns="27432">
            <a:spAutoFit/>
          </a:bodyPr>
          <a:lstStyle/>
          <a:p>
            <a:pPr algn="l"/>
            <a:r>
              <a:rPr sz="1350" b="1">
                <a:solidFill>
                  <a:srgbClr val="1E2761"/>
                </a:solidFill>
                <a:latin typeface="Calibri"/>
              </a:rPr>
              <a:t>Work, then sync</a:t>
            </a:r>
          </a:p>
          <a:p>
            <a:pPr algn="l"/>
            <a:r>
              <a:rPr sz="1250" b="0">
                <a:solidFill>
                  <a:srgbClr val="1F1F2E"/>
                </a:solidFill>
                <a:latin typeface="Calibri"/>
              </a:rPr>
              <a:t>Pick a model, describe the task, review the diff, accept. When finished, double-click SyncRepo.bat (or ask Copilot: 'commit and push with a clear message').</a:t>
            </a:r>
          </a:p>
        </p:txBody>
      </p:sp>
      <p:sp>
        <p:nvSpPr>
          <p:cNvPr id="20" name="Rectangle 19"/>
          <p:cNvSpPr/>
          <p:nvPr/>
        </p:nvSpPr>
        <p:spPr>
          <a:xfrm>
            <a:off x="7498079" y="1371600"/>
            <a:ext cx="4142232" cy="2423160"/>
          </a:xfrm>
          <a:prstGeom prst="rect">
            <a:avLst/>
          </a:prstGeom>
          <a:solidFill>
            <a:srgbClr val="E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726679" y="1463040"/>
            <a:ext cx="3749039" cy="2286000"/>
          </a:xfrm>
          <a:prstGeom prst="rect">
            <a:avLst/>
          </a:prstGeom>
          <a:noFill/>
        </p:spPr>
        <p:txBody>
          <a:bodyPr wrap="square" anchor="t" lIns="45720" rIns="45720" tIns="27432" bIns="27432">
            <a:spAutoFit/>
          </a:bodyPr>
          <a:lstStyle/>
          <a:p>
            <a:pPr algn="l"/>
            <a:r>
              <a:rPr sz="1500" b="1">
                <a:solidFill>
                  <a:srgbClr val="0F7B6C"/>
                </a:solidFill>
                <a:latin typeface="Calibri"/>
              </a:rPr>
              <a:t>How to tell you are in local mode</a:t>
            </a:r>
          </a:p>
          <a:p>
            <a:pPr algn="l">
              <a:spcBef>
                <a:spcPts val="600"/>
              </a:spcBef>
            </a:pPr>
            <a:r>
              <a:rPr sz="1200" b="0">
                <a:solidFill>
                  <a:srgbClr val="1F1F2E"/>
                </a:solidFill>
                <a:latin typeface="Calibri"/>
              </a:rPr>
              <a:t>•  Session header shows a path under C:\Users\&lt;you&gt;\Repos\ and branch main.</a:t>
            </a:r>
          </a:p>
          <a:p>
            <a:pPr algn="l">
              <a:spcBef>
                <a:spcPts val="300"/>
              </a:spcBef>
            </a:pPr>
            <a:r>
              <a:rPr sz="1200" b="0">
                <a:solidFill>
                  <a:srgbClr val="1F1F2E"/>
                </a:solidFill>
                <a:latin typeface="Calibri"/>
              </a:rPr>
              <a:t>•  Edits show up in File Explorer immediately, in the same folder you opened.</a:t>
            </a:r>
          </a:p>
          <a:p>
            <a:pPr algn="l">
              <a:spcBef>
                <a:spcPts val="300"/>
              </a:spcBef>
            </a:pPr>
            <a:r>
              <a:rPr sz="1200" b="0">
                <a:solidFill>
                  <a:srgbClr val="1F1F2E"/>
                </a:solidFill>
                <a:latin typeface="Calibri"/>
              </a:rPr>
              <a:t>•  Nothing new appears on GitHub until you run SyncRepo.bat.</a:t>
            </a:r>
          </a:p>
        </p:txBody>
      </p:sp>
      <p:sp>
        <p:nvSpPr>
          <p:cNvPr id="22" name="Rectangle 21"/>
          <p:cNvSpPr/>
          <p:nvPr/>
        </p:nvSpPr>
        <p:spPr>
          <a:xfrm>
            <a:off x="7498079" y="3931920"/>
            <a:ext cx="4142232" cy="233172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726679" y="4023360"/>
            <a:ext cx="3749039" cy="2194560"/>
          </a:xfrm>
          <a:prstGeom prst="rect">
            <a:avLst/>
          </a:prstGeom>
          <a:noFill/>
        </p:spPr>
        <p:txBody>
          <a:bodyPr wrap="square" anchor="t" lIns="45720" rIns="45720" tIns="27432" bIns="27432">
            <a:spAutoFit/>
          </a:bodyPr>
          <a:lstStyle/>
          <a:p>
            <a:pPr algn="l"/>
            <a:r>
              <a:rPr sz="1500" b="1">
                <a:solidFill>
                  <a:srgbClr val="1E2761"/>
                </a:solidFill>
                <a:latin typeface="Calibri"/>
              </a:rPr>
              <a:t>When to switch mode</a:t>
            </a:r>
          </a:p>
          <a:p>
            <a:pPr algn="l">
              <a:spcBef>
                <a:spcPts val="600"/>
              </a:spcBef>
            </a:pPr>
            <a:r>
              <a:rPr sz="1200" b="0">
                <a:solidFill>
                  <a:srgbClr val="1F1F2E"/>
                </a:solidFill>
                <a:latin typeface="Calibri"/>
              </a:rPr>
              <a:t>Worktree: a change you want reviewed as a pull request, or two tasks at once on the same repo.</a:t>
            </a:r>
          </a:p>
          <a:p>
            <a:pPr algn="l">
              <a:spcBef>
                <a:spcPts val="400"/>
              </a:spcBef>
            </a:pPr>
            <a:r>
              <a:rPr sz="1200" b="0">
                <a:solidFill>
                  <a:srgbClr val="1F1F2E"/>
                </a:solidFill>
                <a:latin typeface="Calibri"/>
              </a:rPr>
              <a:t>Direct on the online repo: a well-defined task to run while you are away from the laptop.</a:t>
            </a:r>
          </a:p>
          <a:p>
            <a:pPr algn="l">
              <a:spcBef>
                <a:spcPts val="400"/>
              </a:spcBef>
            </a:pPr>
            <a:r>
              <a:rPr sz="1200" b="1">
                <a:solidFill>
                  <a:srgbClr val="E08A1E"/>
                </a:solidFill>
                <a:latin typeface="Calibri"/>
              </a:rPr>
              <a:t>Otherwise stay local: simplest, fastest, and SyncRepo.bat keeps GitHub up to date.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7315200" cy="274320"/>
          </a:xfrm>
          <a:prstGeom prst="rect">
            <a:avLst/>
          </a:prstGeom>
          <a:noFill/>
        </p:spPr>
        <p:txBody>
          <a:bodyPr wrap="square" anchor="t" lIns="45720" rIns="45720" tIns="27432" bIns="27432">
            <a:spAutoFit/>
          </a:bodyPr>
          <a:lstStyle/>
          <a:p>
            <a:pPr algn="l"/>
            <a:r>
              <a:rPr sz="1200" b="1">
                <a:solidFill>
                  <a:srgbClr val="0F7B6C"/>
                </a:solidFill>
                <a:latin typeface="Calibri"/>
              </a:rPr>
              <a:t>QUICK START · CONCLUSION</a:t>
            </a:r>
          </a:p>
        </p:txBody>
      </p:sp>
      <p:sp>
        <p:nvSpPr>
          <p:cNvPr id="3" name="TextBox 2"/>
          <p:cNvSpPr txBox="1"/>
          <p:nvPr/>
        </p:nvSpPr>
        <p:spPr>
          <a:xfrm>
            <a:off x="548640" y="502920"/>
            <a:ext cx="11064240" cy="685800"/>
          </a:xfrm>
          <a:prstGeom prst="rect">
            <a:avLst/>
          </a:prstGeom>
          <a:noFill/>
        </p:spPr>
        <p:txBody>
          <a:bodyPr wrap="square" anchor="t" lIns="45720" rIns="45720" tIns="27432" bIns="27432">
            <a:spAutoFit/>
          </a:bodyPr>
          <a:lstStyle/>
          <a:p>
            <a:pPr algn="l"/>
            <a:r>
              <a:rPr sz="3000" b="0">
                <a:solidFill>
                  <a:srgbClr val="1E2761"/>
                </a:solidFill>
                <a:latin typeface="Cambria"/>
              </a:rPr>
              <a:t>What to remember, and what to do next</a:t>
            </a:r>
          </a:p>
        </p:txBody>
      </p:sp>
      <p:sp>
        <p:nvSpPr>
          <p:cNvPr id="4" name="TextBox 3"/>
          <p:cNvSpPr txBox="1"/>
          <p:nvPr/>
        </p:nvSpPr>
        <p:spPr>
          <a:xfrm>
            <a:off x="548640" y="6473952"/>
            <a:ext cx="8686800" cy="228600"/>
          </a:xfrm>
          <a:prstGeom prst="rect">
            <a:avLst/>
          </a:prstGeom>
          <a:noFill/>
        </p:spPr>
        <p:txBody>
          <a:bodyPr wrap="square" anchor="t" lIns="45720" rIns="45720" tIns="27432" bIns="27432">
            <a:spAutoFit/>
          </a:bodyPr>
          <a:lstStyle/>
          <a:p>
            <a:pPr algn="l"/>
            <a:r>
              <a:rPr sz="900" b="0">
                <a:solidFill>
                  <a:srgbClr val="5C667A"/>
                </a:solidFill>
                <a:latin typeface="Calibri"/>
              </a:rPr>
              <a:t>Using GitHub Copilot with our repositories: user guide   ·   Screens and model names change over time</a:t>
            </a:r>
          </a:p>
        </p:txBody>
      </p:sp>
      <p:sp>
        <p:nvSpPr>
          <p:cNvPr id="5" name="Rectangle 4"/>
          <p:cNvSpPr/>
          <p:nvPr/>
        </p:nvSpPr>
        <p:spPr>
          <a:xfrm>
            <a:off x="548640" y="1371600"/>
            <a:ext cx="6675120" cy="489204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77240" y="1463040"/>
            <a:ext cx="6309360" cy="365760"/>
          </a:xfrm>
          <a:prstGeom prst="rect">
            <a:avLst/>
          </a:prstGeom>
          <a:noFill/>
        </p:spPr>
        <p:txBody>
          <a:bodyPr wrap="square" anchor="t" lIns="45720" rIns="45720" tIns="27432" bIns="27432">
            <a:spAutoFit/>
          </a:bodyPr>
          <a:lstStyle/>
          <a:p>
            <a:pPr algn="l"/>
            <a:r>
              <a:rPr sz="1600" b="1">
                <a:solidFill>
                  <a:srgbClr val="1E2761"/>
                </a:solidFill>
                <a:latin typeface="Calibri"/>
              </a:rPr>
              <a:t>Seven things to remember</a:t>
            </a:r>
          </a:p>
        </p:txBody>
      </p:sp>
      <p:sp>
        <p:nvSpPr>
          <p:cNvPr id="7" name="Oval 6"/>
          <p:cNvSpPr/>
          <p:nvPr/>
        </p:nvSpPr>
        <p:spPr>
          <a:xfrm>
            <a:off x="777240" y="1938528"/>
            <a:ext cx="365760" cy="365760"/>
          </a:xfrm>
          <a:prstGeom prst="ellipse">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1938528"/>
            <a:ext cx="365760" cy="365760"/>
          </a:xfrm>
          <a:prstGeom prst="rect">
            <a:avLst/>
          </a:prstGeom>
          <a:noFill/>
        </p:spPr>
        <p:txBody>
          <a:bodyPr wrap="square" anchor="ctr" lIns="45720" rIns="45720" tIns="27432" bIns="27432">
            <a:spAutoFit/>
          </a:bodyPr>
          <a:lstStyle/>
          <a:p>
            <a:pPr algn="ctr"/>
            <a:r>
              <a:rPr sz="1400" b="1">
                <a:solidFill>
                  <a:srgbClr val="FFFFFF"/>
                </a:solidFill>
                <a:latin typeface="Calibri"/>
              </a:rPr>
              <a:t>1</a:t>
            </a:r>
          </a:p>
        </p:txBody>
      </p:sp>
      <p:sp>
        <p:nvSpPr>
          <p:cNvPr id="9" name="TextBox 8"/>
          <p:cNvSpPr txBox="1"/>
          <p:nvPr/>
        </p:nvSpPr>
        <p:spPr>
          <a:xfrm>
            <a:off x="1280160" y="1920240"/>
            <a:ext cx="5715000" cy="603504"/>
          </a:xfrm>
          <a:prstGeom prst="rect">
            <a:avLst/>
          </a:prstGeom>
          <a:noFill/>
        </p:spPr>
        <p:txBody>
          <a:bodyPr wrap="square" anchor="t" lIns="45720" rIns="45720" tIns="27432" bIns="27432">
            <a:spAutoFit/>
          </a:bodyPr>
          <a:lstStyle/>
          <a:p>
            <a:pPr algn="l"/>
            <a:r>
              <a:rPr sz="1250" b="1">
                <a:solidFill>
                  <a:srgbClr val="1E2761"/>
                </a:solidFill>
                <a:latin typeface="Calibri"/>
              </a:rPr>
              <a:t>A repo lives on your drive and on GitHub</a:t>
            </a:r>
          </a:p>
          <a:p>
            <a:pPr algn="l"/>
            <a:r>
              <a:rPr sz="1150" b="0">
                <a:solidFill>
                  <a:srgbClr val="1F1F2E"/>
                </a:solidFill>
                <a:latin typeface="Calibri"/>
              </a:rPr>
              <a:t>Pull brings the team's work down; push sends yours up. GitHub is the backup.</a:t>
            </a:r>
          </a:p>
        </p:txBody>
      </p:sp>
      <p:sp>
        <p:nvSpPr>
          <p:cNvPr id="10" name="Oval 9"/>
          <p:cNvSpPr/>
          <p:nvPr/>
        </p:nvSpPr>
        <p:spPr>
          <a:xfrm>
            <a:off x="777240" y="2542032"/>
            <a:ext cx="365760" cy="365760"/>
          </a:xfrm>
          <a:prstGeom prst="ellipse">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2542032"/>
            <a:ext cx="365760" cy="365760"/>
          </a:xfrm>
          <a:prstGeom prst="rect">
            <a:avLst/>
          </a:prstGeom>
          <a:noFill/>
        </p:spPr>
        <p:txBody>
          <a:bodyPr wrap="square" anchor="ctr" lIns="45720" rIns="45720" tIns="27432" bIns="27432">
            <a:spAutoFit/>
          </a:bodyPr>
          <a:lstStyle/>
          <a:p>
            <a:pPr algn="ctr"/>
            <a:r>
              <a:rPr sz="1400" b="1">
                <a:solidFill>
                  <a:srgbClr val="FFFFFF"/>
                </a:solidFill>
                <a:latin typeface="Calibri"/>
              </a:rPr>
              <a:t>2</a:t>
            </a:r>
          </a:p>
        </p:txBody>
      </p:sp>
      <p:sp>
        <p:nvSpPr>
          <p:cNvPr id="12" name="TextBox 11"/>
          <p:cNvSpPr txBox="1"/>
          <p:nvPr/>
        </p:nvSpPr>
        <p:spPr>
          <a:xfrm>
            <a:off x="1280160" y="2523744"/>
            <a:ext cx="5715000" cy="603504"/>
          </a:xfrm>
          <a:prstGeom prst="rect">
            <a:avLst/>
          </a:prstGeom>
          <a:noFill/>
        </p:spPr>
        <p:txBody>
          <a:bodyPr wrap="square" anchor="t" lIns="45720" rIns="45720" tIns="27432" bIns="27432">
            <a:spAutoFit/>
          </a:bodyPr>
          <a:lstStyle/>
          <a:p>
            <a:pPr algn="l"/>
            <a:r>
              <a:rPr sz="1250" b="1">
                <a:solidFill>
                  <a:srgbClr val="1E2761"/>
                </a:solidFill>
                <a:latin typeface="Calibri"/>
              </a:rPr>
              <a:t>Keep repos outside OneDrive</a:t>
            </a:r>
          </a:p>
          <a:p>
            <a:pPr algn="l"/>
            <a:r>
              <a:rPr sz="1150" b="0">
                <a:solidFill>
                  <a:srgbClr val="1F1F2E"/>
                </a:solidFill>
                <a:latin typeface="Calibri"/>
              </a:rPr>
              <a:t>C:\Users\&lt;you&gt;\Repos\. OneDrive and git fight; keep them apart.</a:t>
            </a:r>
          </a:p>
        </p:txBody>
      </p:sp>
      <p:sp>
        <p:nvSpPr>
          <p:cNvPr id="13" name="Oval 12"/>
          <p:cNvSpPr/>
          <p:nvPr/>
        </p:nvSpPr>
        <p:spPr>
          <a:xfrm>
            <a:off x="777240" y="3145536"/>
            <a:ext cx="365760" cy="365760"/>
          </a:xfrm>
          <a:prstGeom prst="ellipse">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77240" y="3145536"/>
            <a:ext cx="365760" cy="365760"/>
          </a:xfrm>
          <a:prstGeom prst="rect">
            <a:avLst/>
          </a:prstGeom>
          <a:noFill/>
        </p:spPr>
        <p:txBody>
          <a:bodyPr wrap="square" anchor="ctr" lIns="45720" rIns="45720" tIns="27432" bIns="27432">
            <a:spAutoFit/>
          </a:bodyPr>
          <a:lstStyle/>
          <a:p>
            <a:pPr algn="ctr"/>
            <a:r>
              <a:rPr sz="1400" b="1">
                <a:solidFill>
                  <a:srgbClr val="FFFFFF"/>
                </a:solidFill>
                <a:latin typeface="Calibri"/>
              </a:rPr>
              <a:t>3</a:t>
            </a:r>
          </a:p>
        </p:txBody>
      </p:sp>
      <p:sp>
        <p:nvSpPr>
          <p:cNvPr id="15" name="TextBox 14"/>
          <p:cNvSpPr txBox="1"/>
          <p:nvPr/>
        </p:nvSpPr>
        <p:spPr>
          <a:xfrm>
            <a:off x="1280160" y="3127248"/>
            <a:ext cx="5715000" cy="603504"/>
          </a:xfrm>
          <a:prstGeom prst="rect">
            <a:avLst/>
          </a:prstGeom>
          <a:noFill/>
        </p:spPr>
        <p:txBody>
          <a:bodyPr wrap="square" anchor="t" lIns="45720" rIns="45720" tIns="27432" bIns="27432">
            <a:spAutoFit/>
          </a:bodyPr>
          <a:lstStyle/>
          <a:p>
            <a:pPr algn="l"/>
            <a:r>
              <a:rPr sz="1250" b="1">
                <a:solidFill>
                  <a:srgbClr val="1E2761"/>
                </a:solidFill>
                <a:latin typeface="Calibri"/>
              </a:rPr>
              <a:t>Two repos: CPAT and AI-Tools, both in cpmodel</a:t>
            </a:r>
          </a:p>
          <a:p>
            <a:pPr algn="l"/>
            <a:r>
              <a:rPr sz="1150" b="0">
                <a:solidFill>
                  <a:srgbClr val="1F1F2E"/>
                </a:solidFill>
                <a:latin typeface="Calibri"/>
              </a:rPr>
              <a:t>So IMF colleagues and ICs can collaborate. Your seat comes from the WBG org.</a:t>
            </a:r>
          </a:p>
        </p:txBody>
      </p:sp>
      <p:sp>
        <p:nvSpPr>
          <p:cNvPr id="16" name="Oval 15"/>
          <p:cNvSpPr/>
          <p:nvPr/>
        </p:nvSpPr>
        <p:spPr>
          <a:xfrm>
            <a:off x="777240" y="3749039"/>
            <a:ext cx="365760" cy="365760"/>
          </a:xfrm>
          <a:prstGeom prst="ellipse">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77240" y="3749039"/>
            <a:ext cx="365760" cy="365760"/>
          </a:xfrm>
          <a:prstGeom prst="rect">
            <a:avLst/>
          </a:prstGeom>
          <a:noFill/>
        </p:spPr>
        <p:txBody>
          <a:bodyPr wrap="square" anchor="ctr" lIns="45720" rIns="45720" tIns="27432" bIns="27432">
            <a:spAutoFit/>
          </a:bodyPr>
          <a:lstStyle/>
          <a:p>
            <a:pPr algn="ctr"/>
            <a:r>
              <a:rPr sz="1400" b="1">
                <a:solidFill>
                  <a:srgbClr val="FFFFFF"/>
                </a:solidFill>
                <a:latin typeface="Calibri"/>
              </a:rPr>
              <a:t>4</a:t>
            </a:r>
          </a:p>
        </p:txBody>
      </p:sp>
      <p:sp>
        <p:nvSpPr>
          <p:cNvPr id="18" name="TextBox 17"/>
          <p:cNvSpPr txBox="1"/>
          <p:nvPr/>
        </p:nvSpPr>
        <p:spPr>
          <a:xfrm>
            <a:off x="1280160" y="3730752"/>
            <a:ext cx="5715000" cy="603504"/>
          </a:xfrm>
          <a:prstGeom prst="rect">
            <a:avLst/>
          </a:prstGeom>
          <a:noFill/>
        </p:spPr>
        <p:txBody>
          <a:bodyPr wrap="square" anchor="t" lIns="45720" rIns="45720" tIns="27432" bIns="27432">
            <a:spAutoFit/>
          </a:bodyPr>
          <a:lstStyle/>
          <a:p>
            <a:pPr algn="l"/>
            <a:r>
              <a:rPr sz="1250" b="1">
                <a:solidFill>
                  <a:srgbClr val="1E2761"/>
                </a:solidFill>
                <a:latin typeface="Calibri"/>
              </a:rPr>
              <a:t>Work in local mode</a:t>
            </a:r>
          </a:p>
          <a:p>
            <a:pPr algn="l"/>
            <a:r>
              <a:rPr sz="1150" b="0">
                <a:solidFill>
                  <a:srgbClr val="1F1F2E"/>
                </a:solidFill>
                <a:latin typeface="Calibri"/>
              </a:rPr>
              <a:t>Copilot edits the folder on your drive; SyncRepo.bat at the start and end of every session.</a:t>
            </a:r>
          </a:p>
        </p:txBody>
      </p:sp>
      <p:sp>
        <p:nvSpPr>
          <p:cNvPr id="19" name="Oval 18"/>
          <p:cNvSpPr/>
          <p:nvPr/>
        </p:nvSpPr>
        <p:spPr>
          <a:xfrm>
            <a:off x="777240" y="4352544"/>
            <a:ext cx="365760" cy="365760"/>
          </a:xfrm>
          <a:prstGeom prst="ellipse">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77240" y="4352544"/>
            <a:ext cx="365760" cy="365760"/>
          </a:xfrm>
          <a:prstGeom prst="rect">
            <a:avLst/>
          </a:prstGeom>
          <a:noFill/>
        </p:spPr>
        <p:txBody>
          <a:bodyPr wrap="square" anchor="ctr" lIns="45720" rIns="45720" tIns="27432" bIns="27432">
            <a:spAutoFit/>
          </a:bodyPr>
          <a:lstStyle/>
          <a:p>
            <a:pPr algn="ctr"/>
            <a:r>
              <a:rPr sz="1400" b="1">
                <a:solidFill>
                  <a:srgbClr val="FFFFFF"/>
                </a:solidFill>
                <a:latin typeface="Calibri"/>
              </a:rPr>
              <a:t>5</a:t>
            </a:r>
          </a:p>
        </p:txBody>
      </p:sp>
      <p:sp>
        <p:nvSpPr>
          <p:cNvPr id="21" name="TextBox 20"/>
          <p:cNvSpPr txBox="1"/>
          <p:nvPr/>
        </p:nvSpPr>
        <p:spPr>
          <a:xfrm>
            <a:off x="1280160" y="4334256"/>
            <a:ext cx="5715000" cy="603504"/>
          </a:xfrm>
          <a:prstGeom prst="rect">
            <a:avLst/>
          </a:prstGeom>
          <a:noFill/>
        </p:spPr>
        <p:txBody>
          <a:bodyPr wrap="square" anchor="t" lIns="45720" rIns="45720" tIns="27432" bIns="27432">
            <a:spAutoFit/>
          </a:bodyPr>
          <a:lstStyle/>
          <a:p>
            <a:pPr algn="l"/>
            <a:r>
              <a:rPr sz="1250" b="1">
                <a:solidFill>
                  <a:srgbClr val="1E2761"/>
                </a:solidFill>
                <a:latin typeface="Calibri"/>
              </a:rPr>
              <a:t>Enterprise seat, then ask for a higher limit</a:t>
            </a:r>
          </a:p>
          <a:p>
            <a:pPr algn="l"/>
            <a:r>
              <a:rPr sz="1150" b="0">
                <a:solidFill>
                  <a:srgbClr val="1F1F2E"/>
                </a:solidFill>
                <a:latin typeface="Calibri"/>
              </a:rPr>
              <a:t>GitHub_Enterprise_Admin@worldbankgroup.org — the default runs out in hours.</a:t>
            </a:r>
          </a:p>
        </p:txBody>
      </p:sp>
      <p:sp>
        <p:nvSpPr>
          <p:cNvPr id="22" name="Oval 21"/>
          <p:cNvSpPr/>
          <p:nvPr/>
        </p:nvSpPr>
        <p:spPr>
          <a:xfrm>
            <a:off x="777240" y="4956048"/>
            <a:ext cx="365760" cy="365760"/>
          </a:xfrm>
          <a:prstGeom prst="ellipse">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77240" y="4956048"/>
            <a:ext cx="365760" cy="365760"/>
          </a:xfrm>
          <a:prstGeom prst="rect">
            <a:avLst/>
          </a:prstGeom>
          <a:noFill/>
        </p:spPr>
        <p:txBody>
          <a:bodyPr wrap="square" anchor="ctr" lIns="45720" rIns="45720" tIns="27432" bIns="27432">
            <a:spAutoFit/>
          </a:bodyPr>
          <a:lstStyle/>
          <a:p>
            <a:pPr algn="ctr"/>
            <a:r>
              <a:rPr sz="1400" b="1">
                <a:solidFill>
                  <a:srgbClr val="FFFFFF"/>
                </a:solidFill>
                <a:latin typeface="Calibri"/>
              </a:rPr>
              <a:t>6</a:t>
            </a:r>
          </a:p>
        </p:txBody>
      </p:sp>
      <p:sp>
        <p:nvSpPr>
          <p:cNvPr id="24" name="TextBox 23"/>
          <p:cNvSpPr txBox="1"/>
          <p:nvPr/>
        </p:nvSpPr>
        <p:spPr>
          <a:xfrm>
            <a:off x="1280160" y="4937760"/>
            <a:ext cx="5715000" cy="603504"/>
          </a:xfrm>
          <a:prstGeom prst="rect">
            <a:avLst/>
          </a:prstGeom>
          <a:noFill/>
        </p:spPr>
        <p:txBody>
          <a:bodyPr wrap="square" anchor="t" lIns="45720" rIns="45720" tIns="27432" bIns="27432">
            <a:spAutoFit/>
          </a:bodyPr>
          <a:lstStyle/>
          <a:p>
            <a:pPr algn="l"/>
            <a:r>
              <a:rPr sz="1250" b="1">
                <a:solidFill>
                  <a:srgbClr val="1E2761"/>
                </a:solidFill>
                <a:latin typeface="Calibri"/>
              </a:rPr>
              <a:t>Sonnet for everyday, Opus or Fable for the hard parts</a:t>
            </a:r>
          </a:p>
          <a:p>
            <a:pPr algn="l"/>
            <a:r>
              <a:rPr sz="1150" b="0">
                <a:solidFill>
                  <a:srgbClr val="1F1F2E"/>
                </a:solidFill>
                <a:latin typeface="Calibri"/>
              </a:rPr>
              <a:t>Plan first, read the diff, accept deliberately.</a:t>
            </a:r>
          </a:p>
        </p:txBody>
      </p:sp>
      <p:sp>
        <p:nvSpPr>
          <p:cNvPr id="25" name="Oval 24"/>
          <p:cNvSpPr/>
          <p:nvPr/>
        </p:nvSpPr>
        <p:spPr>
          <a:xfrm>
            <a:off x="777240" y="5559552"/>
            <a:ext cx="365760" cy="365760"/>
          </a:xfrm>
          <a:prstGeom prst="ellipse">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77240" y="5559552"/>
            <a:ext cx="365760" cy="365760"/>
          </a:xfrm>
          <a:prstGeom prst="rect">
            <a:avLst/>
          </a:prstGeom>
          <a:noFill/>
        </p:spPr>
        <p:txBody>
          <a:bodyPr wrap="square" anchor="ctr" lIns="45720" rIns="45720" tIns="27432" bIns="27432">
            <a:spAutoFit/>
          </a:bodyPr>
          <a:lstStyle/>
          <a:p>
            <a:pPr algn="ctr"/>
            <a:r>
              <a:rPr sz="1400" b="1">
                <a:solidFill>
                  <a:srgbClr val="FFFFFF"/>
                </a:solidFill>
                <a:latin typeface="Calibri"/>
              </a:rPr>
              <a:t>7</a:t>
            </a:r>
          </a:p>
        </p:txBody>
      </p:sp>
      <p:sp>
        <p:nvSpPr>
          <p:cNvPr id="27" name="TextBox 26"/>
          <p:cNvSpPr txBox="1"/>
          <p:nvPr/>
        </p:nvSpPr>
        <p:spPr>
          <a:xfrm>
            <a:off x="1280160" y="5541264"/>
            <a:ext cx="5715000" cy="603504"/>
          </a:xfrm>
          <a:prstGeom prst="rect">
            <a:avLst/>
          </a:prstGeom>
          <a:noFill/>
        </p:spPr>
        <p:txBody>
          <a:bodyPr wrap="square" anchor="t" lIns="45720" rIns="45720" tIns="27432" bIns="27432">
            <a:spAutoFit/>
          </a:bodyPr>
          <a:lstStyle/>
          <a:p>
            <a:pPr algn="l"/>
            <a:r>
              <a:rPr sz="1250" b="1">
                <a:solidFill>
                  <a:srgbClr val="1E2761"/>
                </a:solidFill>
                <a:latin typeface="Calibri"/>
              </a:rPr>
              <a:t>Each tool has its own guide</a:t>
            </a:r>
          </a:p>
          <a:p>
            <a:pPr algn="l"/>
            <a:r>
              <a:rPr sz="1150" b="0">
                <a:solidFill>
                  <a:srgbClr val="1F1F2E"/>
                </a:solidFill>
                <a:latin typeface="Calibri"/>
              </a:rPr>
              <a:t>This deck covers what they share; the tool guides cover the specifics.</a:t>
            </a:r>
          </a:p>
        </p:txBody>
      </p:sp>
      <p:sp>
        <p:nvSpPr>
          <p:cNvPr id="28" name="Rectangle 27"/>
          <p:cNvSpPr/>
          <p:nvPr/>
        </p:nvSpPr>
        <p:spPr>
          <a:xfrm>
            <a:off x="7406640" y="1371600"/>
            <a:ext cx="4233672" cy="2377440"/>
          </a:xfrm>
          <a:prstGeom prst="rect">
            <a:avLst/>
          </a:prstGeom>
          <a:solidFill>
            <a:srgbClr val="FD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635240" y="1463040"/>
            <a:ext cx="3840480" cy="2240280"/>
          </a:xfrm>
          <a:prstGeom prst="rect">
            <a:avLst/>
          </a:prstGeom>
          <a:noFill/>
        </p:spPr>
        <p:txBody>
          <a:bodyPr wrap="square" anchor="t" lIns="45720" rIns="45720" tIns="27432" bIns="27432">
            <a:spAutoFit/>
          </a:bodyPr>
          <a:lstStyle/>
          <a:p>
            <a:pPr algn="l"/>
            <a:r>
              <a:rPr sz="1600" b="1">
                <a:solidFill>
                  <a:srgbClr val="E08A1E"/>
                </a:solidFill>
                <a:latin typeface="Calibri"/>
              </a:rPr>
              <a:t>Next steps for a new user</a:t>
            </a:r>
          </a:p>
          <a:p>
            <a:pPr algn="l">
              <a:spcBef>
                <a:spcPts val="600"/>
              </a:spcBef>
            </a:pPr>
            <a:r>
              <a:rPr sz="1250" b="0">
                <a:solidFill>
                  <a:srgbClr val="1F1F2E"/>
                </a:solidFill>
                <a:latin typeface="Calibri"/>
              </a:rPr>
              <a:t>1.  Follow the step-by-step slides (steps 1–5). The onboarding detail is in Appendix 2.</a:t>
            </a:r>
          </a:p>
          <a:p>
            <a:pPr algn="l">
              <a:spcBef>
                <a:spcPts val="300"/>
              </a:spcBef>
            </a:pPr>
            <a:r>
              <a:rPr sz="1250" b="0">
                <a:solidFill>
                  <a:srgbClr val="1F1F2E"/>
                </a:solidFill>
                <a:latin typeface="Calibri"/>
              </a:rPr>
              <a:t>2.  Make the Repos folder, clone CPAT or AI-Tools, open it in the Copilot app in local mode.</a:t>
            </a:r>
          </a:p>
          <a:p>
            <a:pPr algn="l">
              <a:spcBef>
                <a:spcPts val="300"/>
              </a:spcBef>
            </a:pPr>
            <a:r>
              <a:rPr sz="1250" b="0">
                <a:solidFill>
                  <a:srgbClr val="1F1F2E"/>
                </a:solidFill>
                <a:latin typeface="Calibri"/>
              </a:rPr>
              <a:t>3.  Ask Copilot to explain the README, then run SyncRepo.bat.</a:t>
            </a:r>
          </a:p>
          <a:p>
            <a:pPr algn="l">
              <a:spcBef>
                <a:spcPts val="300"/>
              </a:spcBef>
            </a:pPr>
            <a:r>
              <a:rPr sz="1250" b="0">
                <a:solidFill>
                  <a:srgbClr val="1F1F2E"/>
                </a:solidFill>
                <a:latin typeface="Calibri"/>
              </a:rPr>
              <a:t>4.  Open the guide for the tool you need.</a:t>
            </a:r>
          </a:p>
        </p:txBody>
      </p:sp>
      <p:sp>
        <p:nvSpPr>
          <p:cNvPr id="30" name="Rectangle 29"/>
          <p:cNvSpPr/>
          <p:nvPr/>
        </p:nvSpPr>
        <p:spPr>
          <a:xfrm>
            <a:off x="7406640" y="3886200"/>
            <a:ext cx="4233672" cy="2377440"/>
          </a:xfrm>
          <a:prstGeom prst="rect">
            <a:avLst/>
          </a:prstGeom>
          <a:solidFill>
            <a:srgbClr val="E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635240" y="3977639"/>
            <a:ext cx="3840480" cy="2240280"/>
          </a:xfrm>
          <a:prstGeom prst="rect">
            <a:avLst/>
          </a:prstGeom>
          <a:noFill/>
        </p:spPr>
        <p:txBody>
          <a:bodyPr wrap="square" anchor="t" lIns="45720" rIns="45720" tIns="27432" bIns="27432">
            <a:spAutoFit/>
          </a:bodyPr>
          <a:lstStyle/>
          <a:p>
            <a:pPr algn="l"/>
            <a:r>
              <a:rPr sz="1600" b="1">
                <a:solidFill>
                  <a:srgbClr val="0F7B6C"/>
                </a:solidFill>
                <a:latin typeface="Calibri"/>
              </a:rPr>
              <a:t>Keeping this guide current</a:t>
            </a:r>
          </a:p>
          <a:p>
            <a:pPr algn="l">
              <a:spcBef>
                <a:spcPts val="600"/>
              </a:spcBef>
            </a:pPr>
            <a:r>
              <a:rPr sz="1250" b="0">
                <a:solidFill>
                  <a:srgbClr val="1F1F2E"/>
                </a:solidFill>
                <a:latin typeface="Calibri"/>
              </a:rPr>
              <a:t>Screens, model names and limits change. If something here no longer matches what you see, tell the repo owner — or open the deck in a Copilot session and ask it to update the slide.</a:t>
            </a:r>
          </a:p>
          <a:p>
            <a:pPr algn="l">
              <a:spcBef>
                <a:spcPts val="800"/>
              </a:spcBef>
            </a:pPr>
            <a:r>
              <a:rPr sz="1100" b="0">
                <a:solidFill>
                  <a:srgbClr val="5C667A"/>
                </a:solidFill>
                <a:latin typeface="Consolas"/>
              </a:rPr>
              <a:t>Presentations - Tools\GitHub_Copilot_AI_User_Guide.pptx</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640080" y="822960"/>
            <a:ext cx="5486400" cy="320040"/>
          </a:xfrm>
          <a:prstGeom prst="rect">
            <a:avLst/>
          </a:prstGeom>
          <a:noFill/>
        </p:spPr>
        <p:txBody>
          <a:bodyPr wrap="square" anchor="t" lIns="45720" rIns="45720" tIns="27432" bIns="27432">
            <a:spAutoFit/>
          </a:bodyPr>
          <a:lstStyle/>
          <a:p>
            <a:pPr algn="l"/>
            <a:r>
              <a:rPr sz="1400" b="1">
                <a:solidFill>
                  <a:srgbClr val="CADCFC"/>
                </a:solidFill>
                <a:latin typeface="Calibri"/>
              </a:rPr>
              <a:t>APPENDIX 1</a:t>
            </a:r>
          </a:p>
        </p:txBody>
      </p:sp>
      <p:sp>
        <p:nvSpPr>
          <p:cNvPr id="3" name="TextBox 2"/>
          <p:cNvSpPr txBox="1"/>
          <p:nvPr/>
        </p:nvSpPr>
        <p:spPr>
          <a:xfrm>
            <a:off x="640080" y="1188720"/>
            <a:ext cx="5852160" cy="1554480"/>
          </a:xfrm>
          <a:prstGeom prst="rect">
            <a:avLst/>
          </a:prstGeom>
          <a:noFill/>
        </p:spPr>
        <p:txBody>
          <a:bodyPr wrap="square" anchor="t" lIns="45720" rIns="45720" tIns="27432" bIns="27432">
            <a:spAutoFit/>
          </a:bodyPr>
          <a:lstStyle/>
          <a:p>
            <a:pPr algn="l"/>
            <a:r>
              <a:rPr sz="3600" b="0">
                <a:solidFill>
                  <a:srgbClr val="FFFFFF"/>
                </a:solidFill>
                <a:latin typeface="Cambria"/>
              </a:rPr>
              <a:t>More important information</a:t>
            </a:r>
          </a:p>
        </p:txBody>
      </p:sp>
      <p:sp>
        <p:nvSpPr>
          <p:cNvPr id="4" name="TextBox 3"/>
          <p:cNvSpPr txBox="1"/>
          <p:nvPr/>
        </p:nvSpPr>
        <p:spPr>
          <a:xfrm>
            <a:off x="640080" y="2880360"/>
            <a:ext cx="5760720" cy="2377440"/>
          </a:xfrm>
          <a:prstGeom prst="rect">
            <a:avLst/>
          </a:prstGeom>
          <a:noFill/>
        </p:spPr>
        <p:txBody>
          <a:bodyPr wrap="square" anchor="t" lIns="45720" rIns="45720" tIns="27432" bIns="27432">
            <a:spAutoFit/>
          </a:bodyPr>
          <a:lstStyle/>
          <a:p>
            <a:pPr algn="l"/>
            <a:r>
              <a:rPr sz="1400" b="0">
                <a:solidFill>
                  <a:srgbClr val="CADCFC"/>
                </a:solidFill>
                <a:latin typeface="Calibri"/>
              </a:rPr>
              <a:t>The things you will need once you start: how Copilot can run, where to keep the repo on your drive, which repos we use, the tools to install, the sync script, how access and credits work, what is where in the app, how Copilot uses AI and which model to pick, our AI-built tools, and what to do when something goes wrong.</a:t>
            </a:r>
          </a:p>
        </p:txBody>
      </p:sp>
      <p:sp>
        <p:nvSpPr>
          <p:cNvPr id="5" name="TextBox 4"/>
          <p:cNvSpPr txBox="1"/>
          <p:nvPr/>
        </p:nvSpPr>
        <p:spPr>
          <a:xfrm>
            <a:off x="640080" y="5257800"/>
            <a:ext cx="5760720" cy="914400"/>
          </a:xfrm>
          <a:prstGeom prst="rect">
            <a:avLst/>
          </a:prstGeom>
          <a:noFill/>
        </p:spPr>
        <p:txBody>
          <a:bodyPr wrap="square" anchor="t" lIns="45720" rIns="45720" tIns="27432" bIns="27432">
            <a:spAutoFit/>
          </a:bodyPr>
          <a:lstStyle/>
          <a:p>
            <a:pPr algn="l"/>
            <a:r>
              <a:rPr sz="1200" b="0">
                <a:solidFill>
                  <a:srgbClr val="CADCFC"/>
                </a:solidFill>
                <a:latin typeface="Calibri"/>
              </a:rPr>
              <a:t>Keep the last two slides of this appendix to hand while you work.</a:t>
            </a:r>
          </a:p>
        </p:txBody>
      </p:sp>
      <p:sp>
        <p:nvSpPr>
          <p:cNvPr id="6" name="Rectangle 5"/>
          <p:cNvSpPr/>
          <p:nvPr/>
        </p:nvSpPr>
        <p:spPr>
          <a:xfrm>
            <a:off x="6858000" y="1188720"/>
            <a:ext cx="4754880" cy="4937760"/>
          </a:xfrm>
          <a:prstGeom prst="rect">
            <a:avLst/>
          </a:prstGeom>
          <a:solidFill>
            <a:srgbClr val="2E3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086600" y="1280160"/>
            <a:ext cx="4297680" cy="365760"/>
          </a:xfrm>
          <a:prstGeom prst="rect">
            <a:avLst/>
          </a:prstGeom>
          <a:noFill/>
        </p:spPr>
        <p:txBody>
          <a:bodyPr wrap="square" anchor="t" lIns="45720" rIns="45720" tIns="27432" bIns="27432">
            <a:spAutoFit/>
          </a:bodyPr>
          <a:lstStyle/>
          <a:p>
            <a:pPr algn="l"/>
            <a:r>
              <a:rPr sz="1500" b="1">
                <a:solidFill>
                  <a:srgbClr val="FFFFFF"/>
                </a:solidFill>
                <a:latin typeface="Calibri"/>
              </a:rPr>
              <a:t>Appendix 1 contents</a:t>
            </a:r>
          </a:p>
        </p:txBody>
      </p:sp>
      <p:sp>
        <p:nvSpPr>
          <p:cNvPr id="8" name="Oval 7"/>
          <p:cNvSpPr/>
          <p:nvPr/>
        </p:nvSpPr>
        <p:spPr>
          <a:xfrm>
            <a:off x="7086600" y="1819656"/>
            <a:ext cx="329184" cy="329184"/>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086600" y="1819656"/>
            <a:ext cx="329184" cy="329184"/>
          </a:xfrm>
          <a:prstGeom prst="rect">
            <a:avLst/>
          </a:prstGeom>
          <a:noFill/>
        </p:spPr>
        <p:txBody>
          <a:bodyPr wrap="square" anchor="ctr" lIns="45720" rIns="45720" tIns="27432" bIns="27432">
            <a:spAutoFit/>
          </a:bodyPr>
          <a:lstStyle/>
          <a:p>
            <a:pPr algn="ctr"/>
            <a:r>
              <a:rPr sz="950" b="1">
                <a:solidFill>
                  <a:srgbClr val="FFFFFF"/>
                </a:solidFill>
                <a:latin typeface="Calibri"/>
              </a:rPr>
              <a:t>1.1</a:t>
            </a:r>
          </a:p>
        </p:txBody>
      </p:sp>
      <p:sp>
        <p:nvSpPr>
          <p:cNvPr id="10" name="TextBox 9"/>
          <p:cNvSpPr txBox="1"/>
          <p:nvPr/>
        </p:nvSpPr>
        <p:spPr>
          <a:xfrm>
            <a:off x="7543800" y="1783080"/>
            <a:ext cx="3977639" cy="402336"/>
          </a:xfrm>
          <a:prstGeom prst="rect">
            <a:avLst/>
          </a:prstGeom>
          <a:noFill/>
        </p:spPr>
        <p:txBody>
          <a:bodyPr wrap="square" anchor="ctr" lIns="45720" rIns="45720" tIns="27432" bIns="27432">
            <a:spAutoFit/>
          </a:bodyPr>
          <a:lstStyle/>
          <a:p>
            <a:pPr algn="l"/>
            <a:r>
              <a:rPr sz="1200" b="0">
                <a:solidFill>
                  <a:srgbClr val="FFFFFF"/>
                </a:solidFill>
                <a:latin typeface="Calibri"/>
              </a:rPr>
              <a:t>Three modes Copilot can run in</a:t>
            </a:r>
          </a:p>
        </p:txBody>
      </p:sp>
      <p:sp>
        <p:nvSpPr>
          <p:cNvPr id="11" name="Oval 10"/>
          <p:cNvSpPr/>
          <p:nvPr/>
        </p:nvSpPr>
        <p:spPr>
          <a:xfrm>
            <a:off x="7086600" y="2166366"/>
            <a:ext cx="329184" cy="329184"/>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086600" y="2166366"/>
            <a:ext cx="329184" cy="329184"/>
          </a:xfrm>
          <a:prstGeom prst="rect">
            <a:avLst/>
          </a:prstGeom>
          <a:noFill/>
        </p:spPr>
        <p:txBody>
          <a:bodyPr wrap="square" anchor="ctr" lIns="45720" rIns="45720" tIns="27432" bIns="27432">
            <a:spAutoFit/>
          </a:bodyPr>
          <a:lstStyle/>
          <a:p>
            <a:pPr algn="ctr"/>
            <a:r>
              <a:rPr sz="950" b="1">
                <a:solidFill>
                  <a:srgbClr val="FFFFFF"/>
                </a:solidFill>
                <a:latin typeface="Calibri"/>
              </a:rPr>
              <a:t>1.2</a:t>
            </a:r>
          </a:p>
        </p:txBody>
      </p:sp>
      <p:sp>
        <p:nvSpPr>
          <p:cNvPr id="13" name="TextBox 12"/>
          <p:cNvSpPr txBox="1"/>
          <p:nvPr/>
        </p:nvSpPr>
        <p:spPr>
          <a:xfrm>
            <a:off x="7543800" y="2129790"/>
            <a:ext cx="3977639" cy="402336"/>
          </a:xfrm>
          <a:prstGeom prst="rect">
            <a:avLst/>
          </a:prstGeom>
          <a:noFill/>
        </p:spPr>
        <p:txBody>
          <a:bodyPr wrap="square" anchor="ctr" lIns="45720" rIns="45720" tIns="27432" bIns="27432">
            <a:spAutoFit/>
          </a:bodyPr>
          <a:lstStyle/>
          <a:p>
            <a:pPr algn="l"/>
            <a:r>
              <a:rPr sz="1200" b="0">
                <a:solidFill>
                  <a:srgbClr val="FFFFFF"/>
                </a:solidFill>
                <a:latin typeface="Calibri"/>
              </a:rPr>
              <a:t>Keep a Repos folder outside OneDrive</a:t>
            </a:r>
          </a:p>
        </p:txBody>
      </p:sp>
      <p:sp>
        <p:nvSpPr>
          <p:cNvPr id="14" name="Oval 13"/>
          <p:cNvSpPr/>
          <p:nvPr/>
        </p:nvSpPr>
        <p:spPr>
          <a:xfrm>
            <a:off x="7086600" y="2513075"/>
            <a:ext cx="329184" cy="329184"/>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086600" y="2513075"/>
            <a:ext cx="329184" cy="329184"/>
          </a:xfrm>
          <a:prstGeom prst="rect">
            <a:avLst/>
          </a:prstGeom>
          <a:noFill/>
        </p:spPr>
        <p:txBody>
          <a:bodyPr wrap="square" anchor="ctr" lIns="45720" rIns="45720" tIns="27432" bIns="27432">
            <a:spAutoFit/>
          </a:bodyPr>
          <a:lstStyle/>
          <a:p>
            <a:pPr algn="ctr"/>
            <a:r>
              <a:rPr sz="950" b="1">
                <a:solidFill>
                  <a:srgbClr val="FFFFFF"/>
                </a:solidFill>
                <a:latin typeface="Calibri"/>
              </a:rPr>
              <a:t>1.3</a:t>
            </a:r>
          </a:p>
        </p:txBody>
      </p:sp>
      <p:sp>
        <p:nvSpPr>
          <p:cNvPr id="16" name="TextBox 15"/>
          <p:cNvSpPr txBox="1"/>
          <p:nvPr/>
        </p:nvSpPr>
        <p:spPr>
          <a:xfrm>
            <a:off x="7543800" y="2476499"/>
            <a:ext cx="3977639" cy="402336"/>
          </a:xfrm>
          <a:prstGeom prst="rect">
            <a:avLst/>
          </a:prstGeom>
          <a:noFill/>
        </p:spPr>
        <p:txBody>
          <a:bodyPr wrap="square" anchor="ctr" lIns="45720" rIns="45720" tIns="27432" bIns="27432">
            <a:spAutoFit/>
          </a:bodyPr>
          <a:lstStyle/>
          <a:p>
            <a:pPr algn="l"/>
            <a:r>
              <a:rPr sz="1200" b="0">
                <a:solidFill>
                  <a:srgbClr val="FFFFFF"/>
                </a:solidFill>
                <a:latin typeface="Calibri"/>
              </a:rPr>
              <a:t>Two repos, both in cpmodel</a:t>
            </a:r>
          </a:p>
        </p:txBody>
      </p:sp>
      <p:sp>
        <p:nvSpPr>
          <p:cNvPr id="17" name="Oval 16"/>
          <p:cNvSpPr/>
          <p:nvPr/>
        </p:nvSpPr>
        <p:spPr>
          <a:xfrm>
            <a:off x="7086600" y="2859786"/>
            <a:ext cx="329184" cy="329184"/>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086600" y="2859786"/>
            <a:ext cx="329184" cy="329184"/>
          </a:xfrm>
          <a:prstGeom prst="rect">
            <a:avLst/>
          </a:prstGeom>
          <a:noFill/>
        </p:spPr>
        <p:txBody>
          <a:bodyPr wrap="square" anchor="ctr" lIns="45720" rIns="45720" tIns="27432" bIns="27432">
            <a:spAutoFit/>
          </a:bodyPr>
          <a:lstStyle/>
          <a:p>
            <a:pPr algn="ctr"/>
            <a:r>
              <a:rPr sz="950" b="1">
                <a:solidFill>
                  <a:srgbClr val="FFFFFF"/>
                </a:solidFill>
                <a:latin typeface="Calibri"/>
              </a:rPr>
              <a:t>1.4</a:t>
            </a:r>
          </a:p>
        </p:txBody>
      </p:sp>
      <p:sp>
        <p:nvSpPr>
          <p:cNvPr id="19" name="TextBox 18"/>
          <p:cNvSpPr txBox="1"/>
          <p:nvPr/>
        </p:nvSpPr>
        <p:spPr>
          <a:xfrm>
            <a:off x="7543800" y="2823210"/>
            <a:ext cx="3977639" cy="402336"/>
          </a:xfrm>
          <a:prstGeom prst="rect">
            <a:avLst/>
          </a:prstGeom>
          <a:noFill/>
        </p:spPr>
        <p:txBody>
          <a:bodyPr wrap="square" anchor="ctr" lIns="45720" rIns="45720" tIns="27432" bIns="27432">
            <a:spAutoFit/>
          </a:bodyPr>
          <a:lstStyle/>
          <a:p>
            <a:pPr algn="l"/>
            <a:r>
              <a:rPr sz="1200" b="0">
                <a:solidFill>
                  <a:srgbClr val="FFFFFF"/>
                </a:solidFill>
                <a:latin typeface="Calibri"/>
              </a:rPr>
              <a:t>Four free tools, including gh</a:t>
            </a:r>
          </a:p>
        </p:txBody>
      </p:sp>
      <p:sp>
        <p:nvSpPr>
          <p:cNvPr id="20" name="Oval 19"/>
          <p:cNvSpPr/>
          <p:nvPr/>
        </p:nvSpPr>
        <p:spPr>
          <a:xfrm>
            <a:off x="7086600" y="3206496"/>
            <a:ext cx="329184" cy="329184"/>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086600" y="3206496"/>
            <a:ext cx="329184" cy="329184"/>
          </a:xfrm>
          <a:prstGeom prst="rect">
            <a:avLst/>
          </a:prstGeom>
          <a:noFill/>
        </p:spPr>
        <p:txBody>
          <a:bodyPr wrap="square" anchor="ctr" lIns="45720" rIns="45720" tIns="27432" bIns="27432">
            <a:spAutoFit/>
          </a:bodyPr>
          <a:lstStyle/>
          <a:p>
            <a:pPr algn="ctr"/>
            <a:r>
              <a:rPr sz="950" b="1">
                <a:solidFill>
                  <a:srgbClr val="FFFFFF"/>
                </a:solidFill>
                <a:latin typeface="Calibri"/>
              </a:rPr>
              <a:t>1.5</a:t>
            </a:r>
          </a:p>
        </p:txBody>
      </p:sp>
      <p:sp>
        <p:nvSpPr>
          <p:cNvPr id="22" name="TextBox 21"/>
          <p:cNvSpPr txBox="1"/>
          <p:nvPr/>
        </p:nvSpPr>
        <p:spPr>
          <a:xfrm>
            <a:off x="7543800" y="3169920"/>
            <a:ext cx="3977639" cy="402336"/>
          </a:xfrm>
          <a:prstGeom prst="rect">
            <a:avLst/>
          </a:prstGeom>
          <a:noFill/>
        </p:spPr>
        <p:txBody>
          <a:bodyPr wrap="square" anchor="ctr" lIns="45720" rIns="45720" tIns="27432" bIns="27432">
            <a:spAutoFit/>
          </a:bodyPr>
          <a:lstStyle/>
          <a:p>
            <a:pPr algn="l"/>
            <a:r>
              <a:rPr sz="1200" b="0">
                <a:solidFill>
                  <a:srgbClr val="FFFFFF"/>
                </a:solidFill>
                <a:latin typeface="Calibri"/>
              </a:rPr>
              <a:t>SyncRepo.bat</a:t>
            </a:r>
          </a:p>
        </p:txBody>
      </p:sp>
      <p:sp>
        <p:nvSpPr>
          <p:cNvPr id="23" name="Oval 22"/>
          <p:cNvSpPr/>
          <p:nvPr/>
        </p:nvSpPr>
        <p:spPr>
          <a:xfrm>
            <a:off x="7086600" y="3553206"/>
            <a:ext cx="329184" cy="329184"/>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086600" y="3553206"/>
            <a:ext cx="329184" cy="329184"/>
          </a:xfrm>
          <a:prstGeom prst="rect">
            <a:avLst/>
          </a:prstGeom>
          <a:noFill/>
        </p:spPr>
        <p:txBody>
          <a:bodyPr wrap="square" anchor="ctr" lIns="45720" rIns="45720" tIns="27432" bIns="27432">
            <a:spAutoFit/>
          </a:bodyPr>
          <a:lstStyle/>
          <a:p>
            <a:pPr algn="ctr"/>
            <a:r>
              <a:rPr sz="950" b="1">
                <a:solidFill>
                  <a:srgbClr val="FFFFFF"/>
                </a:solidFill>
                <a:latin typeface="Calibri"/>
              </a:rPr>
              <a:t>1.6</a:t>
            </a:r>
          </a:p>
        </p:txBody>
      </p:sp>
      <p:sp>
        <p:nvSpPr>
          <p:cNvPr id="25" name="TextBox 24"/>
          <p:cNvSpPr txBox="1"/>
          <p:nvPr/>
        </p:nvSpPr>
        <p:spPr>
          <a:xfrm>
            <a:off x="7543800" y="3516630"/>
            <a:ext cx="3977639" cy="402336"/>
          </a:xfrm>
          <a:prstGeom prst="rect">
            <a:avLst/>
          </a:prstGeom>
          <a:noFill/>
        </p:spPr>
        <p:txBody>
          <a:bodyPr wrap="square" anchor="ctr" lIns="45720" rIns="45720" tIns="27432" bIns="27432">
            <a:spAutoFit/>
          </a:bodyPr>
          <a:lstStyle/>
          <a:p>
            <a:pPr algn="l"/>
            <a:r>
              <a:rPr sz="1200" b="0">
                <a:solidFill>
                  <a:srgbClr val="FFFFFF"/>
                </a:solidFill>
                <a:latin typeface="Calibri"/>
              </a:rPr>
              <a:t>Subscriptions and credits</a:t>
            </a:r>
          </a:p>
        </p:txBody>
      </p:sp>
      <p:sp>
        <p:nvSpPr>
          <p:cNvPr id="26" name="Oval 25"/>
          <p:cNvSpPr/>
          <p:nvPr/>
        </p:nvSpPr>
        <p:spPr>
          <a:xfrm>
            <a:off x="7086600" y="3899915"/>
            <a:ext cx="329184" cy="329184"/>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086600" y="3899915"/>
            <a:ext cx="329184" cy="329184"/>
          </a:xfrm>
          <a:prstGeom prst="rect">
            <a:avLst/>
          </a:prstGeom>
          <a:noFill/>
        </p:spPr>
        <p:txBody>
          <a:bodyPr wrap="square" anchor="ctr" lIns="45720" rIns="45720" tIns="27432" bIns="27432">
            <a:spAutoFit/>
          </a:bodyPr>
          <a:lstStyle/>
          <a:p>
            <a:pPr algn="ctr"/>
            <a:r>
              <a:rPr sz="950" b="1">
                <a:solidFill>
                  <a:srgbClr val="FFFFFF"/>
                </a:solidFill>
                <a:latin typeface="Calibri"/>
              </a:rPr>
              <a:t>1.7</a:t>
            </a:r>
          </a:p>
        </p:txBody>
      </p:sp>
      <p:sp>
        <p:nvSpPr>
          <p:cNvPr id="28" name="TextBox 27"/>
          <p:cNvSpPr txBox="1"/>
          <p:nvPr/>
        </p:nvSpPr>
        <p:spPr>
          <a:xfrm>
            <a:off x="7543800" y="3863339"/>
            <a:ext cx="3977639" cy="402336"/>
          </a:xfrm>
          <a:prstGeom prst="rect">
            <a:avLst/>
          </a:prstGeom>
          <a:noFill/>
        </p:spPr>
        <p:txBody>
          <a:bodyPr wrap="square" anchor="ctr" lIns="45720" rIns="45720" tIns="27432" bIns="27432">
            <a:spAutoFit/>
          </a:bodyPr>
          <a:lstStyle/>
          <a:p>
            <a:pPr algn="l"/>
            <a:r>
              <a:rPr sz="1200" b="0">
                <a:solidFill>
                  <a:srgbClr val="FFFFFF"/>
                </a:solidFill>
                <a:latin typeface="Calibri"/>
              </a:rPr>
              <a:t>The Copilot app: what is where</a:t>
            </a:r>
          </a:p>
        </p:txBody>
      </p:sp>
      <p:sp>
        <p:nvSpPr>
          <p:cNvPr id="29" name="Oval 28"/>
          <p:cNvSpPr/>
          <p:nvPr/>
        </p:nvSpPr>
        <p:spPr>
          <a:xfrm>
            <a:off x="7086600" y="4246626"/>
            <a:ext cx="329184" cy="329184"/>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086600" y="4246626"/>
            <a:ext cx="329184" cy="329184"/>
          </a:xfrm>
          <a:prstGeom prst="rect">
            <a:avLst/>
          </a:prstGeom>
          <a:noFill/>
        </p:spPr>
        <p:txBody>
          <a:bodyPr wrap="square" anchor="ctr" lIns="45720" rIns="45720" tIns="27432" bIns="27432">
            <a:spAutoFit/>
          </a:bodyPr>
          <a:lstStyle/>
          <a:p>
            <a:pPr algn="ctr"/>
            <a:r>
              <a:rPr sz="950" b="1">
                <a:solidFill>
                  <a:srgbClr val="FFFFFF"/>
                </a:solidFill>
                <a:latin typeface="Calibri"/>
              </a:rPr>
              <a:t>1.8</a:t>
            </a:r>
          </a:p>
        </p:txBody>
      </p:sp>
      <p:sp>
        <p:nvSpPr>
          <p:cNvPr id="31" name="TextBox 30"/>
          <p:cNvSpPr txBox="1"/>
          <p:nvPr/>
        </p:nvSpPr>
        <p:spPr>
          <a:xfrm>
            <a:off x="7543800" y="4210050"/>
            <a:ext cx="3977639" cy="402336"/>
          </a:xfrm>
          <a:prstGeom prst="rect">
            <a:avLst/>
          </a:prstGeom>
          <a:noFill/>
        </p:spPr>
        <p:txBody>
          <a:bodyPr wrap="square" anchor="ctr" lIns="45720" rIns="45720" tIns="27432" bIns="27432">
            <a:spAutoFit/>
          </a:bodyPr>
          <a:lstStyle/>
          <a:p>
            <a:pPr algn="l"/>
            <a:r>
              <a:rPr sz="1200" b="0">
                <a:solidFill>
                  <a:srgbClr val="FFFFFF"/>
                </a:solidFill>
                <a:latin typeface="Calibri"/>
              </a:rPr>
              <a:t>How Copilot uses AI: one agent, many models</a:t>
            </a:r>
          </a:p>
        </p:txBody>
      </p:sp>
      <p:sp>
        <p:nvSpPr>
          <p:cNvPr id="32" name="Oval 31"/>
          <p:cNvSpPr/>
          <p:nvPr/>
        </p:nvSpPr>
        <p:spPr>
          <a:xfrm>
            <a:off x="7086600" y="4593336"/>
            <a:ext cx="329184" cy="329184"/>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086600" y="4593336"/>
            <a:ext cx="329184" cy="329184"/>
          </a:xfrm>
          <a:prstGeom prst="rect">
            <a:avLst/>
          </a:prstGeom>
          <a:noFill/>
        </p:spPr>
        <p:txBody>
          <a:bodyPr wrap="square" anchor="ctr" lIns="45720" rIns="45720" tIns="27432" bIns="27432">
            <a:spAutoFit/>
          </a:bodyPr>
          <a:lstStyle/>
          <a:p>
            <a:pPr algn="ctr"/>
            <a:r>
              <a:rPr sz="950" b="1">
                <a:solidFill>
                  <a:srgbClr val="FFFFFF"/>
                </a:solidFill>
                <a:latin typeface="Calibri"/>
              </a:rPr>
              <a:t>1.9</a:t>
            </a:r>
          </a:p>
        </p:txBody>
      </p:sp>
      <p:sp>
        <p:nvSpPr>
          <p:cNvPr id="34" name="TextBox 33"/>
          <p:cNvSpPr txBox="1"/>
          <p:nvPr/>
        </p:nvSpPr>
        <p:spPr>
          <a:xfrm>
            <a:off x="7543800" y="4556760"/>
            <a:ext cx="3977639" cy="402336"/>
          </a:xfrm>
          <a:prstGeom prst="rect">
            <a:avLst/>
          </a:prstGeom>
          <a:noFill/>
        </p:spPr>
        <p:txBody>
          <a:bodyPr wrap="square" anchor="ctr" lIns="45720" rIns="45720" tIns="27432" bIns="27432">
            <a:spAutoFit/>
          </a:bodyPr>
          <a:lstStyle/>
          <a:p>
            <a:pPr algn="l"/>
            <a:r>
              <a:rPr sz="1200" b="0">
                <a:solidFill>
                  <a:srgbClr val="FFFFFF"/>
                </a:solidFill>
                <a:latin typeface="Calibri"/>
              </a:rPr>
              <a:t>Which model to use</a:t>
            </a:r>
          </a:p>
        </p:txBody>
      </p:sp>
      <p:sp>
        <p:nvSpPr>
          <p:cNvPr id="35" name="Oval 34"/>
          <p:cNvSpPr/>
          <p:nvPr/>
        </p:nvSpPr>
        <p:spPr>
          <a:xfrm>
            <a:off x="7086600" y="4940046"/>
            <a:ext cx="329184" cy="329184"/>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086600" y="4940046"/>
            <a:ext cx="329184" cy="329184"/>
          </a:xfrm>
          <a:prstGeom prst="rect">
            <a:avLst/>
          </a:prstGeom>
          <a:noFill/>
        </p:spPr>
        <p:txBody>
          <a:bodyPr wrap="square" anchor="ctr" lIns="45720" rIns="45720" tIns="27432" bIns="27432">
            <a:spAutoFit/>
          </a:bodyPr>
          <a:lstStyle/>
          <a:p>
            <a:pPr algn="ctr"/>
            <a:r>
              <a:rPr sz="950" b="1">
                <a:solidFill>
                  <a:srgbClr val="FFFFFF"/>
                </a:solidFill>
                <a:latin typeface="Calibri"/>
              </a:rPr>
              <a:t>1.10</a:t>
            </a:r>
          </a:p>
        </p:txBody>
      </p:sp>
      <p:sp>
        <p:nvSpPr>
          <p:cNvPr id="37" name="TextBox 36"/>
          <p:cNvSpPr txBox="1"/>
          <p:nvPr/>
        </p:nvSpPr>
        <p:spPr>
          <a:xfrm>
            <a:off x="7543800" y="4903470"/>
            <a:ext cx="3977639" cy="402336"/>
          </a:xfrm>
          <a:prstGeom prst="rect">
            <a:avLst/>
          </a:prstGeom>
          <a:noFill/>
        </p:spPr>
        <p:txBody>
          <a:bodyPr wrap="square" anchor="ctr" lIns="45720" rIns="45720" tIns="27432" bIns="27432">
            <a:spAutoFit/>
          </a:bodyPr>
          <a:lstStyle/>
          <a:p>
            <a:pPr algn="l"/>
            <a:r>
              <a:rPr sz="1200" b="0">
                <a:solidFill>
                  <a:srgbClr val="FFFFFF"/>
                </a:solidFill>
                <a:latin typeface="Calibri"/>
              </a:rPr>
              <a:t>Our four AI-built tools</a:t>
            </a:r>
          </a:p>
        </p:txBody>
      </p:sp>
      <p:sp>
        <p:nvSpPr>
          <p:cNvPr id="38" name="Oval 37"/>
          <p:cNvSpPr/>
          <p:nvPr/>
        </p:nvSpPr>
        <p:spPr>
          <a:xfrm>
            <a:off x="7086600" y="5286756"/>
            <a:ext cx="329184" cy="329184"/>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7086600" y="5286756"/>
            <a:ext cx="329184" cy="329184"/>
          </a:xfrm>
          <a:prstGeom prst="rect">
            <a:avLst/>
          </a:prstGeom>
          <a:noFill/>
        </p:spPr>
        <p:txBody>
          <a:bodyPr wrap="square" anchor="ctr" lIns="45720" rIns="45720" tIns="27432" bIns="27432">
            <a:spAutoFit/>
          </a:bodyPr>
          <a:lstStyle/>
          <a:p>
            <a:pPr algn="ctr"/>
            <a:r>
              <a:rPr sz="950" b="1">
                <a:solidFill>
                  <a:srgbClr val="FFFFFF"/>
                </a:solidFill>
                <a:latin typeface="Calibri"/>
              </a:rPr>
              <a:t>1.11</a:t>
            </a:r>
          </a:p>
        </p:txBody>
      </p:sp>
      <p:sp>
        <p:nvSpPr>
          <p:cNvPr id="40" name="TextBox 39"/>
          <p:cNvSpPr txBox="1"/>
          <p:nvPr/>
        </p:nvSpPr>
        <p:spPr>
          <a:xfrm>
            <a:off x="7543800" y="5250180"/>
            <a:ext cx="3977639" cy="402336"/>
          </a:xfrm>
          <a:prstGeom prst="rect">
            <a:avLst/>
          </a:prstGeom>
          <a:noFill/>
        </p:spPr>
        <p:txBody>
          <a:bodyPr wrap="square" anchor="ctr" lIns="45720" rIns="45720" tIns="27432" bIns="27432">
            <a:spAutoFit/>
          </a:bodyPr>
          <a:lstStyle/>
          <a:p>
            <a:pPr algn="l"/>
            <a:r>
              <a:rPr sz="1200" b="0">
                <a:solidFill>
                  <a:srgbClr val="FFFFFF"/>
                </a:solidFill>
                <a:latin typeface="Calibri"/>
              </a:rPr>
              <a:t>Troubleshooting</a:t>
            </a:r>
          </a:p>
        </p:txBody>
      </p:sp>
      <p:sp>
        <p:nvSpPr>
          <p:cNvPr id="41" name="Oval 40"/>
          <p:cNvSpPr/>
          <p:nvPr/>
        </p:nvSpPr>
        <p:spPr>
          <a:xfrm>
            <a:off x="7086600" y="5633466"/>
            <a:ext cx="329184" cy="329184"/>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7086600" y="5633466"/>
            <a:ext cx="329184" cy="329184"/>
          </a:xfrm>
          <a:prstGeom prst="rect">
            <a:avLst/>
          </a:prstGeom>
          <a:noFill/>
        </p:spPr>
        <p:txBody>
          <a:bodyPr wrap="square" anchor="ctr" lIns="45720" rIns="45720" tIns="27432" bIns="27432">
            <a:spAutoFit/>
          </a:bodyPr>
          <a:lstStyle/>
          <a:p>
            <a:pPr algn="ctr"/>
            <a:r>
              <a:rPr sz="950" b="1">
                <a:solidFill>
                  <a:srgbClr val="FFFFFF"/>
                </a:solidFill>
                <a:latin typeface="Calibri"/>
              </a:rPr>
              <a:t>1.12</a:t>
            </a:r>
          </a:p>
        </p:txBody>
      </p:sp>
      <p:sp>
        <p:nvSpPr>
          <p:cNvPr id="43" name="TextBox 42"/>
          <p:cNvSpPr txBox="1"/>
          <p:nvPr/>
        </p:nvSpPr>
        <p:spPr>
          <a:xfrm>
            <a:off x="7543800" y="5596890"/>
            <a:ext cx="3977639" cy="402336"/>
          </a:xfrm>
          <a:prstGeom prst="rect">
            <a:avLst/>
          </a:prstGeom>
          <a:noFill/>
        </p:spPr>
        <p:txBody>
          <a:bodyPr wrap="square" anchor="ctr" lIns="45720" rIns="45720" tIns="27432" bIns="27432">
            <a:spAutoFit/>
          </a:bodyPr>
          <a:lstStyle/>
          <a:p>
            <a:pPr algn="l"/>
            <a:r>
              <a:rPr sz="1200" b="0">
                <a:solidFill>
                  <a:srgbClr val="FFFFFF"/>
                </a:solidFill>
                <a:latin typeface="Calibri"/>
              </a:rPr>
              <a:t>Quick reference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7315200" cy="274320"/>
          </a:xfrm>
          <a:prstGeom prst="rect">
            <a:avLst/>
          </a:prstGeom>
          <a:noFill/>
        </p:spPr>
        <p:txBody>
          <a:bodyPr wrap="square" anchor="t" lIns="45720" rIns="45720" tIns="27432" bIns="27432">
            <a:spAutoFit/>
          </a:bodyPr>
          <a:lstStyle/>
          <a:p>
            <a:pPr algn="l"/>
            <a:r>
              <a:rPr sz="1200" b="1">
                <a:solidFill>
                  <a:srgbClr val="0F7B6C"/>
                </a:solidFill>
                <a:latin typeface="Calibri"/>
              </a:rPr>
              <a:t>APPENDIX 1 · WAYS OF WORKING</a:t>
            </a:r>
          </a:p>
        </p:txBody>
      </p:sp>
      <p:sp>
        <p:nvSpPr>
          <p:cNvPr id="3" name="TextBox 2"/>
          <p:cNvSpPr txBox="1"/>
          <p:nvPr/>
        </p:nvSpPr>
        <p:spPr>
          <a:xfrm>
            <a:off x="548640" y="502920"/>
            <a:ext cx="11064240" cy="685800"/>
          </a:xfrm>
          <a:prstGeom prst="rect">
            <a:avLst/>
          </a:prstGeom>
          <a:noFill/>
        </p:spPr>
        <p:txBody>
          <a:bodyPr wrap="square" anchor="t" lIns="45720" rIns="45720" tIns="27432" bIns="27432">
            <a:spAutoFit/>
          </a:bodyPr>
          <a:lstStyle/>
          <a:p>
            <a:pPr algn="l"/>
            <a:r>
              <a:rPr sz="3000" b="0">
                <a:solidFill>
                  <a:srgbClr val="1E2761"/>
                </a:solidFill>
                <a:latin typeface="Cambria"/>
              </a:rPr>
              <a:t>Three modes Copilot can run in — you will normally use local</a:t>
            </a:r>
          </a:p>
        </p:txBody>
      </p:sp>
      <p:sp>
        <p:nvSpPr>
          <p:cNvPr id="4" name="TextBox 3"/>
          <p:cNvSpPr txBox="1"/>
          <p:nvPr/>
        </p:nvSpPr>
        <p:spPr>
          <a:xfrm>
            <a:off x="548640" y="6473952"/>
            <a:ext cx="8686800" cy="228600"/>
          </a:xfrm>
          <a:prstGeom prst="rect">
            <a:avLst/>
          </a:prstGeom>
          <a:noFill/>
        </p:spPr>
        <p:txBody>
          <a:bodyPr wrap="square" anchor="t" lIns="45720" rIns="45720" tIns="27432" bIns="27432">
            <a:spAutoFit/>
          </a:bodyPr>
          <a:lstStyle/>
          <a:p>
            <a:pPr algn="l"/>
            <a:r>
              <a:rPr sz="900" b="0">
                <a:solidFill>
                  <a:srgbClr val="5C667A"/>
                </a:solidFill>
                <a:latin typeface="Calibri"/>
              </a:rPr>
              <a:t>Using GitHub Copilot with our repositories: user guide   ·   Screens and model names change over time</a:t>
            </a:r>
          </a:p>
        </p:txBody>
      </p:sp>
      <p:sp>
        <p:nvSpPr>
          <p:cNvPr id="5" name="Rectangle 4"/>
          <p:cNvSpPr/>
          <p:nvPr/>
        </p:nvSpPr>
        <p:spPr>
          <a:xfrm>
            <a:off x="548640" y="1371600"/>
            <a:ext cx="3547872" cy="489204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1371600"/>
            <a:ext cx="3547872" cy="685800"/>
          </a:xfrm>
          <a:prstGeom prst="rect">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1371600"/>
            <a:ext cx="3547872" cy="685800"/>
          </a:xfrm>
          <a:prstGeom prst="rect">
            <a:avLst/>
          </a:prstGeom>
          <a:noFill/>
        </p:spPr>
        <p:txBody>
          <a:bodyPr wrap="square" anchor="ctr" lIns="45720" rIns="45720" tIns="27432" bIns="27432">
            <a:spAutoFit/>
          </a:bodyPr>
          <a:lstStyle/>
          <a:p>
            <a:pPr algn="ctr"/>
            <a:r>
              <a:rPr sz="1700" b="1">
                <a:solidFill>
                  <a:srgbClr val="FFFFFF"/>
                </a:solidFill>
                <a:latin typeface="Calibri"/>
              </a:rPr>
              <a:t>Worktree</a:t>
            </a:r>
          </a:p>
        </p:txBody>
      </p:sp>
      <p:sp>
        <p:nvSpPr>
          <p:cNvPr id="8" name="TextBox 7"/>
          <p:cNvSpPr txBox="1"/>
          <p:nvPr/>
        </p:nvSpPr>
        <p:spPr>
          <a:xfrm>
            <a:off x="731520" y="2148840"/>
            <a:ext cx="3182112" cy="457200"/>
          </a:xfrm>
          <a:prstGeom prst="rect">
            <a:avLst/>
          </a:prstGeom>
          <a:noFill/>
        </p:spPr>
        <p:txBody>
          <a:bodyPr wrap="square" anchor="t" lIns="45720" rIns="45720" tIns="27432" bIns="27432">
            <a:spAutoFit/>
          </a:bodyPr>
          <a:lstStyle/>
          <a:p>
            <a:pPr algn="l"/>
            <a:r>
              <a:rPr sz="1250" b="1">
                <a:solidFill>
                  <a:srgbClr val="0F7B6C"/>
                </a:solidFill>
                <a:latin typeface="Calibri"/>
              </a:rPr>
              <a:t>A branch of the online repo, in a side folder</a:t>
            </a:r>
          </a:p>
        </p:txBody>
      </p:sp>
      <p:sp>
        <p:nvSpPr>
          <p:cNvPr id="9" name="TextBox 8"/>
          <p:cNvSpPr txBox="1"/>
          <p:nvPr/>
        </p:nvSpPr>
        <p:spPr>
          <a:xfrm>
            <a:off x="731520" y="2651760"/>
            <a:ext cx="3182112" cy="1828800"/>
          </a:xfrm>
          <a:prstGeom prst="rect">
            <a:avLst/>
          </a:prstGeom>
          <a:noFill/>
        </p:spPr>
        <p:txBody>
          <a:bodyPr wrap="square" anchor="t" lIns="45720" rIns="45720" tIns="27432" bIns="27432">
            <a:spAutoFit/>
          </a:bodyPr>
          <a:lstStyle/>
          <a:p>
            <a:pPr algn="l"/>
            <a:r>
              <a:rPr sz="1200" b="0">
                <a:solidFill>
                  <a:srgbClr val="1F1F2E"/>
                </a:solidFill>
                <a:latin typeface="Calibri"/>
              </a:rPr>
              <a:t>Copilot creates a separate folder on your drive checked out to a new branch. Your main repo folder is untouched. When done it opens a pull request so the change is reviewed before joining main.</a:t>
            </a:r>
          </a:p>
        </p:txBody>
      </p:sp>
      <p:sp>
        <p:nvSpPr>
          <p:cNvPr id="10" name="TextBox 9"/>
          <p:cNvSpPr txBox="1"/>
          <p:nvPr/>
        </p:nvSpPr>
        <p:spPr>
          <a:xfrm>
            <a:off x="731520" y="4526280"/>
            <a:ext cx="3182112" cy="1005840"/>
          </a:xfrm>
          <a:prstGeom prst="rect">
            <a:avLst/>
          </a:prstGeom>
          <a:noFill/>
        </p:spPr>
        <p:txBody>
          <a:bodyPr wrap="square" anchor="t" lIns="45720" rIns="45720" tIns="27432" bIns="27432">
            <a:spAutoFit/>
          </a:bodyPr>
          <a:lstStyle/>
          <a:p>
            <a:pPr algn="l"/>
            <a:r>
              <a:rPr sz="1200" b="1">
                <a:solidFill>
                  <a:srgbClr val="1E2761"/>
                </a:solidFill>
                <a:latin typeface="Calibri"/>
              </a:rPr>
              <a:t>Best for: bigger changes, several tasks in parallel, anything you want a colleague to review first.</a:t>
            </a:r>
          </a:p>
        </p:txBody>
      </p:sp>
      <p:sp>
        <p:nvSpPr>
          <p:cNvPr id="11" name="TextBox 10"/>
          <p:cNvSpPr txBox="1"/>
          <p:nvPr/>
        </p:nvSpPr>
        <p:spPr>
          <a:xfrm>
            <a:off x="731520" y="5577840"/>
            <a:ext cx="3182112" cy="594360"/>
          </a:xfrm>
          <a:prstGeom prst="rect">
            <a:avLst/>
          </a:prstGeom>
          <a:noFill/>
        </p:spPr>
        <p:txBody>
          <a:bodyPr wrap="square" anchor="t" lIns="45720" rIns="45720" tIns="27432" bIns="27432">
            <a:spAutoFit/>
          </a:bodyPr>
          <a:lstStyle/>
          <a:p>
            <a:pPr algn="l"/>
            <a:r>
              <a:rPr sz="1100" b="0">
                <a:solidFill>
                  <a:srgbClr val="5C667A"/>
                </a:solidFill>
                <a:latin typeface="Calibri"/>
              </a:rPr>
              <a:t>Sync: through the pull request, not SyncRepo.bat.</a:t>
            </a:r>
          </a:p>
        </p:txBody>
      </p:sp>
      <p:sp>
        <p:nvSpPr>
          <p:cNvPr id="12" name="Rectangle 11"/>
          <p:cNvSpPr/>
          <p:nvPr/>
        </p:nvSpPr>
        <p:spPr>
          <a:xfrm>
            <a:off x="4325112" y="1371600"/>
            <a:ext cx="3547872" cy="489204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325112" y="1371600"/>
            <a:ext cx="3547872" cy="685800"/>
          </a:xfrm>
          <a:prstGeom prst="rect">
            <a:avLst/>
          </a:prstGeom>
          <a:solidFill>
            <a:srgbClr val="2E3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325112" y="1371600"/>
            <a:ext cx="3547872" cy="685800"/>
          </a:xfrm>
          <a:prstGeom prst="rect">
            <a:avLst/>
          </a:prstGeom>
          <a:noFill/>
        </p:spPr>
        <p:txBody>
          <a:bodyPr wrap="square" anchor="ctr" lIns="45720" rIns="45720" tIns="27432" bIns="27432">
            <a:spAutoFit/>
          </a:bodyPr>
          <a:lstStyle/>
          <a:p>
            <a:pPr algn="ctr"/>
            <a:r>
              <a:rPr sz="1700" b="1">
                <a:solidFill>
                  <a:srgbClr val="FFFFFF"/>
                </a:solidFill>
                <a:latin typeface="Calibri"/>
              </a:rPr>
              <a:t>Direct on the online repo</a:t>
            </a:r>
          </a:p>
        </p:txBody>
      </p:sp>
      <p:sp>
        <p:nvSpPr>
          <p:cNvPr id="15" name="TextBox 14"/>
          <p:cNvSpPr txBox="1"/>
          <p:nvPr/>
        </p:nvSpPr>
        <p:spPr>
          <a:xfrm>
            <a:off x="4507992" y="2148840"/>
            <a:ext cx="3182112" cy="457200"/>
          </a:xfrm>
          <a:prstGeom prst="rect">
            <a:avLst/>
          </a:prstGeom>
          <a:noFill/>
        </p:spPr>
        <p:txBody>
          <a:bodyPr wrap="square" anchor="t" lIns="45720" rIns="45720" tIns="27432" bIns="27432">
            <a:spAutoFit/>
          </a:bodyPr>
          <a:lstStyle/>
          <a:p>
            <a:pPr algn="l"/>
            <a:r>
              <a:rPr sz="1250" b="1">
                <a:solidFill>
                  <a:srgbClr val="2E3A7A"/>
                </a:solidFill>
                <a:latin typeface="Calibri"/>
              </a:rPr>
              <a:t>Copilot works in the cloud, on GitHub's copy</a:t>
            </a:r>
          </a:p>
        </p:txBody>
      </p:sp>
      <p:sp>
        <p:nvSpPr>
          <p:cNvPr id="16" name="TextBox 15"/>
          <p:cNvSpPr txBox="1"/>
          <p:nvPr/>
        </p:nvSpPr>
        <p:spPr>
          <a:xfrm>
            <a:off x="4507992" y="2651760"/>
            <a:ext cx="3182112" cy="1828800"/>
          </a:xfrm>
          <a:prstGeom prst="rect">
            <a:avLst/>
          </a:prstGeom>
          <a:noFill/>
        </p:spPr>
        <p:txBody>
          <a:bodyPr wrap="square" anchor="t" lIns="45720" rIns="45720" tIns="27432" bIns="27432">
            <a:spAutoFit/>
          </a:bodyPr>
          <a:lstStyle/>
          <a:p>
            <a:pPr algn="l"/>
            <a:r>
              <a:rPr sz="1200" b="0">
                <a:solidFill>
                  <a:srgbClr val="1F1F2E"/>
                </a:solidFill>
                <a:latin typeface="Calibri"/>
              </a:rPr>
              <a:t>You assign a task from the app or from GitHub; a cloud agent works on GitHub's servers and returns a pull request. Nothing happens on your laptop and you do not need the repo cloned.</a:t>
            </a:r>
          </a:p>
        </p:txBody>
      </p:sp>
      <p:sp>
        <p:nvSpPr>
          <p:cNvPr id="17" name="TextBox 16"/>
          <p:cNvSpPr txBox="1"/>
          <p:nvPr/>
        </p:nvSpPr>
        <p:spPr>
          <a:xfrm>
            <a:off x="4507992" y="4526280"/>
            <a:ext cx="3182112" cy="1005840"/>
          </a:xfrm>
          <a:prstGeom prst="rect">
            <a:avLst/>
          </a:prstGeom>
          <a:noFill/>
        </p:spPr>
        <p:txBody>
          <a:bodyPr wrap="square" anchor="t" lIns="45720" rIns="45720" tIns="27432" bIns="27432">
            <a:spAutoFit/>
          </a:bodyPr>
          <a:lstStyle/>
          <a:p>
            <a:pPr algn="l"/>
            <a:r>
              <a:rPr sz="1200" b="1">
                <a:solidFill>
                  <a:srgbClr val="1E2761"/>
                </a:solidFill>
                <a:latin typeface="Calibri"/>
              </a:rPr>
              <a:t>Best for: tasks you can fully describe up front and check later; working from a machine without the repo.</a:t>
            </a:r>
          </a:p>
        </p:txBody>
      </p:sp>
      <p:sp>
        <p:nvSpPr>
          <p:cNvPr id="18" name="TextBox 17"/>
          <p:cNvSpPr txBox="1"/>
          <p:nvPr/>
        </p:nvSpPr>
        <p:spPr>
          <a:xfrm>
            <a:off x="4507992" y="5577840"/>
            <a:ext cx="3182112" cy="594360"/>
          </a:xfrm>
          <a:prstGeom prst="rect">
            <a:avLst/>
          </a:prstGeom>
          <a:noFill/>
        </p:spPr>
        <p:txBody>
          <a:bodyPr wrap="square" anchor="t" lIns="45720" rIns="45720" tIns="27432" bIns="27432">
            <a:spAutoFit/>
          </a:bodyPr>
          <a:lstStyle/>
          <a:p>
            <a:pPr algn="l"/>
            <a:r>
              <a:rPr sz="1100" b="0">
                <a:solidFill>
                  <a:srgbClr val="5C667A"/>
                </a:solidFill>
                <a:latin typeface="Calibri"/>
              </a:rPr>
              <a:t>Sync: through the pull request.</a:t>
            </a:r>
          </a:p>
        </p:txBody>
      </p:sp>
      <p:sp>
        <p:nvSpPr>
          <p:cNvPr id="19" name="Rectangle 18"/>
          <p:cNvSpPr/>
          <p:nvPr/>
        </p:nvSpPr>
        <p:spPr>
          <a:xfrm>
            <a:off x="8101583" y="1371600"/>
            <a:ext cx="3547872" cy="4892040"/>
          </a:xfrm>
          <a:prstGeom prst="rect">
            <a:avLst/>
          </a:prstGeom>
          <a:solidFill>
            <a:srgbClr val="FD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101583" y="1371600"/>
            <a:ext cx="3547872" cy="685800"/>
          </a:xfrm>
          <a:prstGeom prst="rect">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101583" y="1371600"/>
            <a:ext cx="3547872" cy="685800"/>
          </a:xfrm>
          <a:prstGeom prst="rect">
            <a:avLst/>
          </a:prstGeom>
          <a:noFill/>
        </p:spPr>
        <p:txBody>
          <a:bodyPr wrap="square" anchor="ctr" lIns="45720" rIns="45720" tIns="27432" bIns="27432">
            <a:spAutoFit/>
          </a:bodyPr>
          <a:lstStyle/>
          <a:p>
            <a:pPr algn="ctr"/>
            <a:r>
              <a:rPr sz="1700" b="1">
                <a:solidFill>
                  <a:srgbClr val="FFFFFF"/>
                </a:solidFill>
                <a:latin typeface="Calibri"/>
              </a:rPr>
              <a:t>Local  (the normal mode)</a:t>
            </a:r>
          </a:p>
        </p:txBody>
      </p:sp>
      <p:sp>
        <p:nvSpPr>
          <p:cNvPr id="22" name="TextBox 21"/>
          <p:cNvSpPr txBox="1"/>
          <p:nvPr/>
        </p:nvSpPr>
        <p:spPr>
          <a:xfrm>
            <a:off x="8284463" y="2148840"/>
            <a:ext cx="3182112" cy="457200"/>
          </a:xfrm>
          <a:prstGeom prst="rect">
            <a:avLst/>
          </a:prstGeom>
          <a:noFill/>
        </p:spPr>
        <p:txBody>
          <a:bodyPr wrap="square" anchor="t" lIns="45720" rIns="45720" tIns="27432" bIns="27432">
            <a:spAutoFit/>
          </a:bodyPr>
          <a:lstStyle/>
          <a:p>
            <a:pPr algn="l"/>
            <a:r>
              <a:rPr sz="1250" b="1">
                <a:solidFill>
                  <a:srgbClr val="E08A1E"/>
                </a:solidFill>
                <a:latin typeface="Calibri"/>
              </a:rPr>
              <a:t>Edits the repo folder on your own drive</a:t>
            </a:r>
          </a:p>
        </p:txBody>
      </p:sp>
      <p:sp>
        <p:nvSpPr>
          <p:cNvPr id="23" name="TextBox 22"/>
          <p:cNvSpPr txBox="1"/>
          <p:nvPr/>
        </p:nvSpPr>
        <p:spPr>
          <a:xfrm>
            <a:off x="8284463" y="2651760"/>
            <a:ext cx="3182112" cy="1828800"/>
          </a:xfrm>
          <a:prstGeom prst="rect">
            <a:avLst/>
          </a:prstGeom>
          <a:noFill/>
        </p:spPr>
        <p:txBody>
          <a:bodyPr wrap="square" anchor="t" lIns="45720" rIns="45720" tIns="27432" bIns="27432">
            <a:spAutoFit/>
          </a:bodyPr>
          <a:lstStyle/>
          <a:p>
            <a:pPr algn="l"/>
            <a:r>
              <a:rPr sz="1200" b="0">
                <a:solidFill>
                  <a:srgbClr val="1F1F2E"/>
                </a:solidFill>
                <a:latin typeface="Calibri"/>
              </a:rPr>
              <a:t>Copilot works directly in C:\Users\&lt;you&gt;\Repos\&lt;repo&gt;\ on the branch you have checked out (main). What you see in File Explorer is what it changed. Nothing is committed or pushed unless you ask.</a:t>
            </a:r>
          </a:p>
        </p:txBody>
      </p:sp>
      <p:sp>
        <p:nvSpPr>
          <p:cNvPr id="24" name="TextBox 23"/>
          <p:cNvSpPr txBox="1"/>
          <p:nvPr/>
        </p:nvSpPr>
        <p:spPr>
          <a:xfrm>
            <a:off x="8284463" y="4526280"/>
            <a:ext cx="3182112" cy="1005840"/>
          </a:xfrm>
          <a:prstGeom prst="rect">
            <a:avLst/>
          </a:prstGeom>
          <a:noFill/>
        </p:spPr>
        <p:txBody>
          <a:bodyPr wrap="square" anchor="t" lIns="45720" rIns="45720" tIns="27432" bIns="27432">
            <a:spAutoFit/>
          </a:bodyPr>
          <a:lstStyle/>
          <a:p>
            <a:pPr algn="l"/>
            <a:r>
              <a:rPr sz="1200" b="1">
                <a:solidFill>
                  <a:srgbClr val="1E2761"/>
                </a:solidFill>
                <a:latin typeface="Calibri"/>
              </a:rPr>
              <a:t>Best for: day-to-day work on the tools — data updates, running a diagnostic, small fixes, questions about the repo.</a:t>
            </a:r>
          </a:p>
        </p:txBody>
      </p:sp>
      <p:sp>
        <p:nvSpPr>
          <p:cNvPr id="25" name="TextBox 24"/>
          <p:cNvSpPr txBox="1"/>
          <p:nvPr/>
        </p:nvSpPr>
        <p:spPr>
          <a:xfrm>
            <a:off x="8284463" y="5577840"/>
            <a:ext cx="3182112" cy="594360"/>
          </a:xfrm>
          <a:prstGeom prst="rect">
            <a:avLst/>
          </a:prstGeom>
          <a:noFill/>
        </p:spPr>
        <p:txBody>
          <a:bodyPr wrap="square" anchor="t" lIns="45720" rIns="45720" tIns="27432" bIns="27432">
            <a:spAutoFit/>
          </a:bodyPr>
          <a:lstStyle/>
          <a:p>
            <a:pPr algn="l"/>
            <a:r>
              <a:rPr sz="1100" b="0">
                <a:solidFill>
                  <a:srgbClr val="5C667A"/>
                </a:solidFill>
                <a:latin typeface="Calibri"/>
              </a:rPr>
              <a:t>Sync: run SyncRepo.bat at the start and end. Setup: next slide.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7315200" cy="274320"/>
          </a:xfrm>
          <a:prstGeom prst="rect">
            <a:avLst/>
          </a:prstGeom>
          <a:noFill/>
        </p:spPr>
        <p:txBody>
          <a:bodyPr wrap="square" anchor="t" lIns="45720" rIns="45720" tIns="27432" bIns="27432">
            <a:spAutoFit/>
          </a:bodyPr>
          <a:lstStyle/>
          <a:p>
            <a:pPr algn="l"/>
            <a:r>
              <a:rPr sz="1200" b="1">
                <a:solidFill>
                  <a:srgbClr val="0F7B6C"/>
                </a:solidFill>
                <a:latin typeface="Calibri"/>
              </a:rPr>
              <a:t>APPENDIX 1 · WHERE FILES LIVE</a:t>
            </a:r>
          </a:p>
        </p:txBody>
      </p:sp>
      <p:sp>
        <p:nvSpPr>
          <p:cNvPr id="3" name="TextBox 2"/>
          <p:cNvSpPr txBox="1"/>
          <p:nvPr/>
        </p:nvSpPr>
        <p:spPr>
          <a:xfrm>
            <a:off x="548640" y="502920"/>
            <a:ext cx="11064240" cy="685800"/>
          </a:xfrm>
          <a:prstGeom prst="rect">
            <a:avLst/>
          </a:prstGeom>
          <a:noFill/>
        </p:spPr>
        <p:txBody>
          <a:bodyPr wrap="square" anchor="t" lIns="45720" rIns="45720" tIns="27432" bIns="27432">
            <a:spAutoFit/>
          </a:bodyPr>
          <a:lstStyle/>
          <a:p>
            <a:pPr algn="l"/>
            <a:r>
              <a:rPr sz="3000" b="0">
                <a:solidFill>
                  <a:srgbClr val="1E2761"/>
                </a:solidFill>
                <a:latin typeface="Cambria"/>
              </a:rPr>
              <a:t>Keep a Repos folder outside the OneDrive-synced area</a:t>
            </a:r>
          </a:p>
        </p:txBody>
      </p:sp>
      <p:sp>
        <p:nvSpPr>
          <p:cNvPr id="4" name="TextBox 3"/>
          <p:cNvSpPr txBox="1"/>
          <p:nvPr/>
        </p:nvSpPr>
        <p:spPr>
          <a:xfrm>
            <a:off x="548640" y="6473952"/>
            <a:ext cx="8686800" cy="228600"/>
          </a:xfrm>
          <a:prstGeom prst="rect">
            <a:avLst/>
          </a:prstGeom>
          <a:noFill/>
        </p:spPr>
        <p:txBody>
          <a:bodyPr wrap="square" anchor="t" lIns="45720" rIns="45720" tIns="27432" bIns="27432">
            <a:spAutoFit/>
          </a:bodyPr>
          <a:lstStyle/>
          <a:p>
            <a:pPr algn="l"/>
            <a:r>
              <a:rPr sz="900" b="0">
                <a:solidFill>
                  <a:srgbClr val="5C667A"/>
                </a:solidFill>
                <a:latin typeface="Calibri"/>
              </a:rPr>
              <a:t>Using GitHub Copilot with our repositories: user guide   ·   Screens and model names change over time</a:t>
            </a:r>
          </a:p>
        </p:txBody>
      </p:sp>
      <p:sp>
        <p:nvSpPr>
          <p:cNvPr id="5" name="Rectangle 4"/>
          <p:cNvSpPr/>
          <p:nvPr/>
        </p:nvSpPr>
        <p:spPr>
          <a:xfrm>
            <a:off x="548640" y="1325880"/>
            <a:ext cx="5394960" cy="493776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77240" y="1463040"/>
            <a:ext cx="5029200" cy="365760"/>
          </a:xfrm>
          <a:prstGeom prst="rect">
            <a:avLst/>
          </a:prstGeom>
          <a:noFill/>
        </p:spPr>
        <p:txBody>
          <a:bodyPr wrap="square" anchor="t" lIns="45720" rIns="45720" tIns="27432" bIns="27432">
            <a:spAutoFit/>
          </a:bodyPr>
          <a:lstStyle/>
          <a:p>
            <a:pPr algn="l"/>
            <a:r>
              <a:rPr sz="1600" b="1">
                <a:solidFill>
                  <a:srgbClr val="1E2761"/>
                </a:solidFill>
                <a:latin typeface="Calibri"/>
              </a:rPr>
              <a:t>Why git and OneDrive fight</a:t>
            </a:r>
          </a:p>
        </p:txBody>
      </p:sp>
      <p:sp>
        <p:nvSpPr>
          <p:cNvPr id="7" name="TextBox 6"/>
          <p:cNvSpPr txBox="1"/>
          <p:nvPr/>
        </p:nvSpPr>
        <p:spPr>
          <a:xfrm>
            <a:off x="777240" y="1920240"/>
            <a:ext cx="4937760" cy="4206240"/>
          </a:xfrm>
          <a:prstGeom prst="rect">
            <a:avLst/>
          </a:prstGeom>
          <a:noFill/>
        </p:spPr>
        <p:txBody>
          <a:bodyPr wrap="square" anchor="t" lIns="45720" rIns="45720" tIns="27432" bIns="27432">
            <a:spAutoFit/>
          </a:bodyPr>
          <a:lstStyle/>
          <a:p>
            <a:pPr algn="l"/>
            <a:r>
              <a:rPr sz="1250" b="0">
                <a:solidFill>
                  <a:srgbClr val="1F1F2E"/>
                </a:solidFill>
                <a:latin typeface="Calibri"/>
              </a:rPr>
              <a:t>•  A repo is thousands of tiny files in .git. OneDrive tries to sync each one and slows everything down.</a:t>
            </a:r>
          </a:p>
          <a:p>
            <a:pPr algn="l">
              <a:spcBef>
                <a:spcPts val="600"/>
              </a:spcBef>
            </a:pPr>
            <a:r>
              <a:rPr sz="1250" b="0">
                <a:solidFill>
                  <a:srgbClr val="1F1F2E"/>
                </a:solidFill>
                <a:latin typeface="Calibri"/>
              </a:rPr>
              <a:t>•  OneDrive locks files while uploading; git then fails with 'permission denied' or 'index.lock' errors.</a:t>
            </a:r>
          </a:p>
          <a:p>
            <a:pPr algn="l">
              <a:spcBef>
                <a:spcPts val="600"/>
              </a:spcBef>
            </a:pPr>
            <a:r>
              <a:rPr sz="1250" b="0">
                <a:solidFill>
                  <a:srgbClr val="1F1F2E"/>
                </a:solidFill>
                <a:latin typeface="Calibri"/>
              </a:rPr>
              <a:t>•  Two machines syncing the same .git corrupt the history and spawn 'conflicted copy' files.</a:t>
            </a:r>
          </a:p>
          <a:p>
            <a:pPr algn="l">
              <a:spcBef>
                <a:spcPts val="600"/>
              </a:spcBef>
            </a:pPr>
            <a:r>
              <a:rPr sz="1250" b="0">
                <a:solidFill>
                  <a:srgbClr val="1F1F2E"/>
                </a:solidFill>
                <a:latin typeface="Calibri"/>
              </a:rPr>
              <a:t>•  Copilot and Python work the repo folder hard; OneDrive re-uploads every intermediate file.</a:t>
            </a:r>
          </a:p>
          <a:p>
            <a:pPr algn="l">
              <a:spcBef>
                <a:spcPts val="600"/>
              </a:spcBef>
            </a:pPr>
            <a:r>
              <a:rPr sz="1250" b="0">
                <a:solidFill>
                  <a:srgbClr val="1F1F2E"/>
                </a:solidFill>
                <a:latin typeface="Calibri"/>
              </a:rPr>
              <a:t>•  GitHub already is the backup. Pushing is the save; OneDrive adds nothing but risk.</a:t>
            </a:r>
          </a:p>
          <a:p>
            <a:pPr algn="l">
              <a:spcBef>
                <a:spcPts val="1000"/>
              </a:spcBef>
            </a:pPr>
            <a:r>
              <a:rPr sz="1250" b="1">
                <a:solidFill>
                  <a:srgbClr val="0F7B6C"/>
                </a:solidFill>
                <a:latin typeface="Calibri"/>
              </a:rPr>
              <a:t>OneDrive is for documents you edit alone. GitHub is for projects you build with others and with AI.</a:t>
            </a:r>
          </a:p>
        </p:txBody>
      </p:sp>
      <p:sp>
        <p:nvSpPr>
          <p:cNvPr id="8" name="TextBox 7"/>
          <p:cNvSpPr txBox="1"/>
          <p:nvPr/>
        </p:nvSpPr>
        <p:spPr>
          <a:xfrm>
            <a:off x="6309360" y="1325880"/>
            <a:ext cx="5303520" cy="365760"/>
          </a:xfrm>
          <a:prstGeom prst="rect">
            <a:avLst/>
          </a:prstGeom>
          <a:noFill/>
        </p:spPr>
        <p:txBody>
          <a:bodyPr wrap="square" anchor="t" lIns="45720" rIns="45720" tIns="27432" bIns="27432">
            <a:spAutoFit/>
          </a:bodyPr>
          <a:lstStyle/>
          <a:p>
            <a:pPr algn="l"/>
            <a:r>
              <a:rPr sz="1600" b="1">
                <a:solidFill>
                  <a:srgbClr val="1E2761"/>
                </a:solidFill>
                <a:latin typeface="Calibri"/>
              </a:rPr>
              <a:t>Recommended layout</a:t>
            </a:r>
          </a:p>
        </p:txBody>
      </p:sp>
      <p:sp>
        <p:nvSpPr>
          <p:cNvPr id="9" name="Rectangle 8"/>
          <p:cNvSpPr/>
          <p:nvPr/>
        </p:nvSpPr>
        <p:spPr>
          <a:xfrm>
            <a:off x="6309360" y="1783080"/>
            <a:ext cx="5330952" cy="2331720"/>
          </a:xfrm>
          <a:prstGeom prst="rect">
            <a:avLst/>
          </a:prstGeom>
          <a:solidFill>
            <a:srgbClr val="2B2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92240" y="1874519"/>
            <a:ext cx="5029200" cy="2194560"/>
          </a:xfrm>
          <a:prstGeom prst="rect">
            <a:avLst/>
          </a:prstGeom>
          <a:noFill/>
        </p:spPr>
        <p:txBody>
          <a:bodyPr wrap="square" anchor="t" lIns="45720" rIns="45720" tIns="27432" bIns="27432">
            <a:spAutoFit/>
          </a:bodyPr>
          <a:lstStyle/>
          <a:p>
            <a:pPr algn="l"/>
            <a:r>
              <a:rPr sz="1250" b="0">
                <a:solidFill>
                  <a:srgbClr val="E6E6EA"/>
                </a:solidFill>
                <a:latin typeface="Consolas"/>
              </a:rPr>
              <a:t>C:\Users\&lt;you&gt;\</a:t>
            </a:r>
          </a:p>
          <a:p>
            <a:pPr algn="l"/>
            <a:r>
              <a:rPr sz="1250" b="0">
                <a:solidFill>
                  <a:srgbClr val="E6E6EA"/>
                </a:solidFill>
                <a:latin typeface="Consolas"/>
              </a:rPr>
              <a:t>├── OneDrive - WBG\        ← documents, decks, Word</a:t>
            </a:r>
          </a:p>
          <a:p>
            <a:pPr algn="l"/>
            <a:r>
              <a:rPr sz="1250" b="0">
                <a:solidFill>
                  <a:srgbClr val="E6E6EA"/>
                </a:solidFill>
                <a:latin typeface="Consolas"/>
              </a:rPr>
              <a:t>└── Repos\                 ← NOT synced by OneDrive</a:t>
            </a:r>
          </a:p>
          <a:p>
            <a:pPr algn="l"/>
            <a:r>
              <a:rPr sz="1250" b="0">
                <a:solidFill>
                  <a:srgbClr val="E6E6EA"/>
                </a:solidFill>
                <a:latin typeface="Consolas"/>
              </a:rPr>
              <a:t>    ├── CPAT\                ← cpmodel/CPAT</a:t>
            </a:r>
          </a:p>
          <a:p>
            <a:pPr algn="l"/>
            <a:r>
              <a:rPr sz="1250" b="0">
                <a:solidFill>
                  <a:srgbClr val="E6E6EA"/>
                </a:solidFill>
                <a:latin typeface="Consolas"/>
              </a:rPr>
              <a:t>    ├── AI-Tools\            ← cpmodel/AI-Tools</a:t>
            </a:r>
          </a:p>
          <a:p>
            <a:pPr algn="l"/>
            <a:r>
              <a:rPr sz="1250" b="0">
                <a:solidFill>
                  <a:srgbClr val="E6E6EA"/>
                </a:solidFill>
                <a:latin typeface="Consolas"/>
              </a:rPr>
              <a:t>    └── PlanningPPTsAndGeneral\</a:t>
            </a:r>
          </a:p>
        </p:txBody>
      </p:sp>
      <p:sp>
        <p:nvSpPr>
          <p:cNvPr id="11" name="Rectangle 10"/>
          <p:cNvSpPr/>
          <p:nvPr/>
        </p:nvSpPr>
        <p:spPr>
          <a:xfrm>
            <a:off x="6309360" y="4297680"/>
            <a:ext cx="5330952" cy="914400"/>
          </a:xfrm>
          <a:prstGeom prst="rect">
            <a:avLst/>
          </a:prstGeom>
          <a:solidFill>
            <a:srgbClr val="FD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492240" y="4297680"/>
            <a:ext cx="5029200" cy="914400"/>
          </a:xfrm>
          <a:prstGeom prst="rect">
            <a:avLst/>
          </a:prstGeom>
          <a:noFill/>
        </p:spPr>
        <p:txBody>
          <a:bodyPr wrap="square" anchor="ctr" lIns="45720" rIns="45720" tIns="27432" bIns="27432">
            <a:spAutoFit/>
          </a:bodyPr>
          <a:lstStyle/>
          <a:p>
            <a:pPr algn="l"/>
            <a:r>
              <a:rPr sz="1200" b="1">
                <a:solidFill>
                  <a:srgbClr val="E08A1E"/>
                </a:solidFill>
                <a:latin typeface="Calibri"/>
              </a:rPr>
              <a:t>Check: open File Explorer, right-click Repos. If you see a cloud icon or 'Always keep on this device', it is inside OneDrive. Move it.</a:t>
            </a:r>
          </a:p>
        </p:txBody>
      </p:sp>
      <p:sp>
        <p:nvSpPr>
          <p:cNvPr id="13" name="Rectangle 12"/>
          <p:cNvSpPr/>
          <p:nvPr/>
        </p:nvSpPr>
        <p:spPr>
          <a:xfrm>
            <a:off x="6309360" y="5349240"/>
            <a:ext cx="5330952" cy="914400"/>
          </a:xfrm>
          <a:prstGeom prst="rect">
            <a:avLst/>
          </a:prstGeom>
          <a:solidFill>
            <a:srgbClr val="E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92240" y="5349240"/>
            <a:ext cx="5029200" cy="914400"/>
          </a:xfrm>
          <a:prstGeom prst="rect">
            <a:avLst/>
          </a:prstGeom>
          <a:noFill/>
        </p:spPr>
        <p:txBody>
          <a:bodyPr wrap="square" anchor="ctr" lIns="45720" rIns="45720" tIns="27432" bIns="27432">
            <a:spAutoFit/>
          </a:bodyPr>
          <a:lstStyle/>
          <a:p>
            <a:pPr algn="l"/>
            <a:r>
              <a:rPr sz="1200" b="1">
                <a:solidFill>
                  <a:srgbClr val="0F7B6C"/>
                </a:solidFill>
                <a:latin typeface="Calibri"/>
              </a:rPr>
              <a:t>Large data files: keep them in the repo's data folder but list them in .gitignore, or store them on OneDrive and point the code at them.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7315200" cy="274320"/>
          </a:xfrm>
          <a:prstGeom prst="rect">
            <a:avLst/>
          </a:prstGeom>
          <a:noFill/>
        </p:spPr>
        <p:txBody>
          <a:bodyPr wrap="square" anchor="t" lIns="45720" rIns="45720" tIns="27432" bIns="27432">
            <a:spAutoFit/>
          </a:bodyPr>
          <a:lstStyle/>
          <a:p>
            <a:pPr algn="l"/>
            <a:r>
              <a:rPr sz="1200" b="1">
                <a:solidFill>
                  <a:srgbClr val="0F7B6C"/>
                </a:solidFill>
                <a:latin typeface="Calibri"/>
              </a:rPr>
              <a:t>APPENDIX 1 · OUR REPOSITORIES</a:t>
            </a:r>
          </a:p>
        </p:txBody>
      </p:sp>
      <p:sp>
        <p:nvSpPr>
          <p:cNvPr id="3" name="TextBox 2"/>
          <p:cNvSpPr txBox="1"/>
          <p:nvPr/>
        </p:nvSpPr>
        <p:spPr>
          <a:xfrm>
            <a:off x="548640" y="502920"/>
            <a:ext cx="11064240" cy="685800"/>
          </a:xfrm>
          <a:prstGeom prst="rect">
            <a:avLst/>
          </a:prstGeom>
          <a:noFill/>
        </p:spPr>
        <p:txBody>
          <a:bodyPr wrap="square" anchor="t" lIns="45720" rIns="45720" tIns="27432" bIns="27432">
            <a:spAutoFit/>
          </a:bodyPr>
          <a:lstStyle/>
          <a:p>
            <a:pPr algn="l"/>
            <a:r>
              <a:rPr sz="3000" b="0">
                <a:solidFill>
                  <a:srgbClr val="1E2761"/>
                </a:solidFill>
                <a:latin typeface="Cambria"/>
              </a:rPr>
              <a:t>Two repos, both in the cpmodel organisation</a:t>
            </a:r>
          </a:p>
        </p:txBody>
      </p:sp>
      <p:sp>
        <p:nvSpPr>
          <p:cNvPr id="4" name="TextBox 3"/>
          <p:cNvSpPr txBox="1"/>
          <p:nvPr/>
        </p:nvSpPr>
        <p:spPr>
          <a:xfrm>
            <a:off x="548640" y="6473952"/>
            <a:ext cx="8686800" cy="228600"/>
          </a:xfrm>
          <a:prstGeom prst="rect">
            <a:avLst/>
          </a:prstGeom>
          <a:noFill/>
        </p:spPr>
        <p:txBody>
          <a:bodyPr wrap="square" anchor="t" lIns="45720" rIns="45720" tIns="27432" bIns="27432">
            <a:spAutoFit/>
          </a:bodyPr>
          <a:lstStyle/>
          <a:p>
            <a:pPr algn="l"/>
            <a:r>
              <a:rPr sz="900" b="0">
                <a:solidFill>
                  <a:srgbClr val="5C667A"/>
                </a:solidFill>
                <a:latin typeface="Calibri"/>
              </a:rPr>
              <a:t>Using GitHub Copilot with our repositories: user guide   ·   Screens and model names change over time</a:t>
            </a:r>
          </a:p>
        </p:txBody>
      </p:sp>
      <p:sp>
        <p:nvSpPr>
          <p:cNvPr id="5" name="Rectangle 4"/>
          <p:cNvSpPr/>
          <p:nvPr/>
        </p:nvSpPr>
        <p:spPr>
          <a:xfrm>
            <a:off x="548640" y="1371600"/>
            <a:ext cx="5422392" cy="41148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1371600"/>
            <a:ext cx="5422392" cy="731520"/>
          </a:xfrm>
          <a:prstGeom prst="rect">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31520" y="1371600"/>
            <a:ext cx="3108960" cy="731520"/>
          </a:xfrm>
          <a:prstGeom prst="rect">
            <a:avLst/>
          </a:prstGeom>
          <a:noFill/>
        </p:spPr>
        <p:txBody>
          <a:bodyPr wrap="square" anchor="ctr" lIns="45720" rIns="45720" tIns="27432" bIns="27432">
            <a:spAutoFit/>
          </a:bodyPr>
          <a:lstStyle/>
          <a:p>
            <a:pPr algn="l"/>
            <a:r>
              <a:rPr sz="2000" b="1">
                <a:solidFill>
                  <a:srgbClr val="FFFFFF"/>
                </a:solidFill>
                <a:latin typeface="Calibri"/>
              </a:rPr>
              <a:t>CPAT</a:t>
            </a:r>
          </a:p>
        </p:txBody>
      </p:sp>
      <p:sp>
        <p:nvSpPr>
          <p:cNvPr id="8" name="TextBox 7"/>
          <p:cNvSpPr txBox="1"/>
          <p:nvPr/>
        </p:nvSpPr>
        <p:spPr>
          <a:xfrm>
            <a:off x="2926080" y="1371600"/>
            <a:ext cx="2926080" cy="731520"/>
          </a:xfrm>
          <a:prstGeom prst="rect">
            <a:avLst/>
          </a:prstGeom>
          <a:noFill/>
        </p:spPr>
        <p:txBody>
          <a:bodyPr wrap="square" anchor="ctr" lIns="45720" rIns="45720" tIns="27432" bIns="27432">
            <a:spAutoFit/>
          </a:bodyPr>
          <a:lstStyle/>
          <a:p>
            <a:pPr algn="r"/>
            <a:r>
              <a:rPr sz="1100" b="0">
                <a:solidFill>
                  <a:srgbClr val="FFFFFF"/>
                </a:solidFill>
                <a:latin typeface="Consolas"/>
              </a:rPr>
              <a:t>github.com/cpmodel/CPAT</a:t>
            </a:r>
          </a:p>
        </p:txBody>
      </p:sp>
      <p:sp>
        <p:nvSpPr>
          <p:cNvPr id="9" name="TextBox 8"/>
          <p:cNvSpPr txBox="1"/>
          <p:nvPr/>
        </p:nvSpPr>
        <p:spPr>
          <a:xfrm>
            <a:off x="731520" y="2194560"/>
            <a:ext cx="5029200" cy="731520"/>
          </a:xfrm>
          <a:prstGeom prst="rect">
            <a:avLst/>
          </a:prstGeom>
          <a:noFill/>
        </p:spPr>
        <p:txBody>
          <a:bodyPr wrap="square" anchor="t" lIns="45720" rIns="45720" tIns="27432" bIns="27432">
            <a:spAutoFit/>
          </a:bodyPr>
          <a:lstStyle/>
          <a:p>
            <a:pPr algn="l"/>
            <a:r>
              <a:rPr sz="1250" b="0">
                <a:solidFill>
                  <a:srgbClr val="1F1F2E"/>
                </a:solidFill>
                <a:latin typeface="Calibri"/>
              </a:rPr>
              <a:t>The Climate Policy Assessment Tool as code: the mitigation module, the distribution module and the user interface built in Shiny.</a:t>
            </a:r>
          </a:p>
        </p:txBody>
      </p:sp>
      <p:sp>
        <p:nvSpPr>
          <p:cNvPr id="10" name="TextBox 9"/>
          <p:cNvSpPr txBox="1"/>
          <p:nvPr/>
        </p:nvSpPr>
        <p:spPr>
          <a:xfrm>
            <a:off x="731520" y="2926080"/>
            <a:ext cx="5029200" cy="1737360"/>
          </a:xfrm>
          <a:prstGeom prst="rect">
            <a:avLst/>
          </a:prstGeom>
          <a:noFill/>
        </p:spPr>
        <p:txBody>
          <a:bodyPr wrap="square" anchor="t" lIns="45720" rIns="45720" tIns="27432" bIns="27432">
            <a:spAutoFit/>
          </a:bodyPr>
          <a:lstStyle/>
          <a:p>
            <a:pPr algn="l">
              <a:spcBef>
                <a:spcPts val="0"/>
              </a:spcBef>
            </a:pPr>
            <a:r>
              <a:rPr sz="1200" b="0">
                <a:solidFill>
                  <a:srgbClr val="1F1F2E"/>
                </a:solidFill>
                <a:latin typeface="Calibri"/>
              </a:rPr>
              <a:t>•  Mitigation module — emissions, revenue and price effects of carbon pricing and related reforms.</a:t>
            </a:r>
          </a:p>
          <a:p>
            <a:pPr algn="l">
              <a:spcBef>
                <a:spcPts val="400"/>
              </a:spcBef>
            </a:pPr>
            <a:r>
              <a:rPr sz="1200" b="0">
                <a:solidFill>
                  <a:srgbClr val="1F1F2E"/>
                </a:solidFill>
                <a:latin typeface="Calibri"/>
              </a:rPr>
              <a:t>•  Distribution module — household and sectoral incidence of those reforms.</a:t>
            </a:r>
          </a:p>
          <a:p>
            <a:pPr algn="l">
              <a:spcBef>
                <a:spcPts val="400"/>
              </a:spcBef>
            </a:pPr>
            <a:r>
              <a:rPr sz="1200" b="0">
                <a:solidFill>
                  <a:srgbClr val="1F1F2E"/>
                </a:solidFill>
                <a:latin typeface="Calibri"/>
              </a:rPr>
              <a:t>•  Shiny user interface — the point-and-click front end that runs the modules.</a:t>
            </a:r>
          </a:p>
        </p:txBody>
      </p:sp>
      <p:sp>
        <p:nvSpPr>
          <p:cNvPr id="11" name="Rectangle 10"/>
          <p:cNvSpPr/>
          <p:nvPr/>
        </p:nvSpPr>
        <p:spPr>
          <a:xfrm>
            <a:off x="685800" y="4663440"/>
            <a:ext cx="5148072" cy="731520"/>
          </a:xfrm>
          <a:prstGeom prst="rect">
            <a:avLst/>
          </a:prstGeom>
          <a:solidFill>
            <a:srgbClr val="E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22959" y="4663440"/>
            <a:ext cx="4892040" cy="731520"/>
          </a:xfrm>
          <a:prstGeom prst="rect">
            <a:avLst/>
          </a:prstGeom>
          <a:noFill/>
        </p:spPr>
        <p:txBody>
          <a:bodyPr wrap="square" anchor="ctr" lIns="45720" rIns="45720" tIns="27432" bIns="27432">
            <a:spAutoFit/>
          </a:bodyPr>
          <a:lstStyle/>
          <a:p>
            <a:pPr algn="l"/>
            <a:r>
              <a:rPr sz="1150" b="1">
                <a:solidFill>
                  <a:srgbClr val="0F7B6C"/>
                </a:solidFill>
                <a:latin typeface="Calibri"/>
              </a:rPr>
              <a:t>Work here with Copilot the way a developer would (see CPAT-Python). CPAT-Excel-AI sits alongside, working on the Excel version of the model.</a:t>
            </a:r>
          </a:p>
        </p:txBody>
      </p:sp>
      <p:sp>
        <p:nvSpPr>
          <p:cNvPr id="13" name="Rectangle 12"/>
          <p:cNvSpPr/>
          <p:nvPr/>
        </p:nvSpPr>
        <p:spPr>
          <a:xfrm>
            <a:off x="6217920" y="1371600"/>
            <a:ext cx="5422392" cy="41148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6217920" y="1371600"/>
            <a:ext cx="5422392" cy="731520"/>
          </a:xfrm>
          <a:prstGeom prst="rect">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00800" y="1371600"/>
            <a:ext cx="3108960" cy="731520"/>
          </a:xfrm>
          <a:prstGeom prst="rect">
            <a:avLst/>
          </a:prstGeom>
          <a:noFill/>
        </p:spPr>
        <p:txBody>
          <a:bodyPr wrap="square" anchor="ctr" lIns="45720" rIns="45720" tIns="27432" bIns="27432">
            <a:spAutoFit/>
          </a:bodyPr>
          <a:lstStyle/>
          <a:p>
            <a:pPr algn="l"/>
            <a:r>
              <a:rPr sz="2000" b="1">
                <a:solidFill>
                  <a:srgbClr val="FFFFFF"/>
                </a:solidFill>
                <a:latin typeface="Calibri"/>
              </a:rPr>
              <a:t>AI-Tools</a:t>
            </a:r>
          </a:p>
        </p:txBody>
      </p:sp>
      <p:sp>
        <p:nvSpPr>
          <p:cNvPr id="16" name="TextBox 15"/>
          <p:cNvSpPr txBox="1"/>
          <p:nvPr/>
        </p:nvSpPr>
        <p:spPr>
          <a:xfrm>
            <a:off x="8595360" y="1371600"/>
            <a:ext cx="2926080" cy="731520"/>
          </a:xfrm>
          <a:prstGeom prst="rect">
            <a:avLst/>
          </a:prstGeom>
          <a:noFill/>
        </p:spPr>
        <p:txBody>
          <a:bodyPr wrap="square" anchor="ctr" lIns="45720" rIns="45720" tIns="27432" bIns="27432">
            <a:spAutoFit/>
          </a:bodyPr>
          <a:lstStyle/>
          <a:p>
            <a:pPr algn="r"/>
            <a:r>
              <a:rPr sz="1100" b="0">
                <a:solidFill>
                  <a:srgbClr val="FFFFFF"/>
                </a:solidFill>
                <a:latin typeface="Consolas"/>
              </a:rPr>
              <a:t>github.com/cpmodel/AI-Tools</a:t>
            </a:r>
          </a:p>
        </p:txBody>
      </p:sp>
      <p:sp>
        <p:nvSpPr>
          <p:cNvPr id="17" name="TextBox 16"/>
          <p:cNvSpPr txBox="1"/>
          <p:nvPr/>
        </p:nvSpPr>
        <p:spPr>
          <a:xfrm>
            <a:off x="6400800" y="2194560"/>
            <a:ext cx="5029200" cy="731520"/>
          </a:xfrm>
          <a:prstGeom prst="rect">
            <a:avLst/>
          </a:prstGeom>
          <a:noFill/>
        </p:spPr>
        <p:txBody>
          <a:bodyPr wrap="square" anchor="t" lIns="45720" rIns="45720" tIns="27432" bIns="27432">
            <a:spAutoFit/>
          </a:bodyPr>
          <a:lstStyle/>
          <a:p>
            <a:pPr algn="l"/>
            <a:r>
              <a:rPr sz="1250" b="0">
                <a:solidFill>
                  <a:srgbClr val="1F1F2E"/>
                </a:solidFill>
                <a:latin typeface="Calibri"/>
              </a:rPr>
              <a:t>The AI-built analytical tools that produce country outputs from instructions and data.</a:t>
            </a:r>
          </a:p>
        </p:txBody>
      </p:sp>
      <p:sp>
        <p:nvSpPr>
          <p:cNvPr id="18" name="TextBox 17"/>
          <p:cNvSpPr txBox="1"/>
          <p:nvPr/>
        </p:nvSpPr>
        <p:spPr>
          <a:xfrm>
            <a:off x="6400800" y="2926080"/>
            <a:ext cx="5029200" cy="1737360"/>
          </a:xfrm>
          <a:prstGeom prst="rect">
            <a:avLst/>
          </a:prstGeom>
          <a:noFill/>
        </p:spPr>
        <p:txBody>
          <a:bodyPr wrap="square" anchor="t" lIns="45720" rIns="45720" tIns="27432" bIns="27432">
            <a:spAutoFit/>
          </a:bodyPr>
          <a:lstStyle/>
          <a:p>
            <a:pPr algn="l">
              <a:spcBef>
                <a:spcPts val="0"/>
              </a:spcBef>
            </a:pPr>
            <a:r>
              <a:rPr sz="1200" b="0">
                <a:solidFill>
                  <a:srgbClr val="1F1F2E"/>
                </a:solidFill>
                <a:latin typeface="Calibri"/>
              </a:rPr>
              <a:t>•  Excise Diagnostic — generative markdown instructions drive the AI to write a report and workbook.</a:t>
            </a:r>
          </a:p>
          <a:p>
            <a:pPr algn="l">
              <a:spcBef>
                <a:spcPts val="400"/>
              </a:spcBef>
            </a:pPr>
            <a:r>
              <a:rPr sz="1200" b="0">
                <a:solidFill>
                  <a:srgbClr val="1F1F2E"/>
                </a:solidFill>
                <a:latin typeface="Calibri"/>
              </a:rPr>
              <a:t>•  Tax &amp; Macro-Fiscal Indicators Dashboard — raw data in, database out, Excel dashboard reads it.</a:t>
            </a:r>
          </a:p>
          <a:p>
            <a:pPr algn="l">
              <a:spcBef>
                <a:spcPts val="400"/>
              </a:spcBef>
            </a:pPr>
            <a:r>
              <a:rPr sz="1200" b="0">
                <a:solidFill>
                  <a:srgbClr val="1F1F2E"/>
                </a:solidFill>
                <a:latin typeface="Calibri"/>
              </a:rPr>
              <a:t>•  Shared conventions: README, SyncRepo.bat, RepoDirectory.csv, a data folder, .gitignore.</a:t>
            </a:r>
          </a:p>
        </p:txBody>
      </p:sp>
      <p:sp>
        <p:nvSpPr>
          <p:cNvPr id="19" name="Rectangle 18"/>
          <p:cNvSpPr/>
          <p:nvPr/>
        </p:nvSpPr>
        <p:spPr>
          <a:xfrm>
            <a:off x="6355080" y="4663440"/>
            <a:ext cx="5148072" cy="731520"/>
          </a:xfrm>
          <a:prstGeom prst="rect">
            <a:avLst/>
          </a:prstGeom>
          <a:solidFill>
            <a:srgbClr val="FD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92240" y="4663440"/>
            <a:ext cx="4892040" cy="731520"/>
          </a:xfrm>
          <a:prstGeom prst="rect">
            <a:avLst/>
          </a:prstGeom>
          <a:noFill/>
        </p:spPr>
        <p:txBody>
          <a:bodyPr wrap="square" anchor="ctr" lIns="45720" rIns="45720" tIns="27432" bIns="27432">
            <a:spAutoFit/>
          </a:bodyPr>
          <a:lstStyle/>
          <a:p>
            <a:pPr algn="l"/>
            <a:r>
              <a:rPr sz="1150" b="1">
                <a:solidFill>
                  <a:srgbClr val="E08A1E"/>
                </a:solidFill>
                <a:latin typeface="Calibri"/>
              </a:rPr>
              <a:t>Each tool has its own guide in Presentations - Tools\; this deck covers what they share.</a:t>
            </a:r>
          </a:p>
        </p:txBody>
      </p:sp>
      <p:sp>
        <p:nvSpPr>
          <p:cNvPr id="21" name="Rectangle 20"/>
          <p:cNvSpPr/>
          <p:nvPr/>
        </p:nvSpPr>
        <p:spPr>
          <a:xfrm>
            <a:off x="548640" y="5623560"/>
            <a:ext cx="11091672" cy="64008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31520" y="5623560"/>
            <a:ext cx="10789920" cy="640080"/>
          </a:xfrm>
          <a:prstGeom prst="rect">
            <a:avLst/>
          </a:prstGeom>
          <a:noFill/>
        </p:spPr>
        <p:txBody>
          <a:bodyPr wrap="square" anchor="ctr" lIns="45720" rIns="45720" tIns="27432" bIns="27432">
            <a:spAutoFit/>
          </a:bodyPr>
          <a:lstStyle/>
          <a:p>
            <a:pPr algn="l"/>
            <a:r>
              <a:rPr sz="1150" b="0">
                <a:solidFill>
                  <a:srgbClr val="1E2761"/>
                </a:solidFill>
                <a:latin typeface="Calibri"/>
              </a:rPr>
              <a:t>Why cpmodel and not worldbank: the cpmodel organisation lets IMF colleagues and independent contractors (ICs) outside the Bank be added as collaborators. Your Copilot seat still comes from the WBG organisation (Appendix 2). Repo names are indicative.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7315200" cy="274320"/>
          </a:xfrm>
          <a:prstGeom prst="rect">
            <a:avLst/>
          </a:prstGeom>
          <a:noFill/>
        </p:spPr>
        <p:txBody>
          <a:bodyPr wrap="square" anchor="t" lIns="45720" rIns="45720" tIns="27432" bIns="27432">
            <a:spAutoFit/>
          </a:bodyPr>
          <a:lstStyle/>
          <a:p>
            <a:pPr algn="l"/>
            <a:r>
              <a:rPr sz="1200" b="1">
                <a:solidFill>
                  <a:srgbClr val="0F7B6C"/>
                </a:solidFill>
                <a:latin typeface="Calibri"/>
              </a:rPr>
              <a:t>APPENDIX 1 · TOOLS</a:t>
            </a:r>
          </a:p>
        </p:txBody>
      </p:sp>
      <p:sp>
        <p:nvSpPr>
          <p:cNvPr id="3" name="TextBox 2"/>
          <p:cNvSpPr txBox="1"/>
          <p:nvPr/>
        </p:nvSpPr>
        <p:spPr>
          <a:xfrm>
            <a:off x="548640" y="502920"/>
            <a:ext cx="11064240" cy="685800"/>
          </a:xfrm>
          <a:prstGeom prst="rect">
            <a:avLst/>
          </a:prstGeom>
          <a:noFill/>
        </p:spPr>
        <p:txBody>
          <a:bodyPr wrap="square" anchor="t" lIns="45720" rIns="45720" tIns="27432" bIns="27432">
            <a:spAutoFit/>
          </a:bodyPr>
          <a:lstStyle/>
          <a:p>
            <a:pPr algn="l"/>
            <a:r>
              <a:rPr sz="3000" b="0">
                <a:solidFill>
                  <a:srgbClr val="1E2761"/>
                </a:solidFill>
                <a:latin typeface="Cambria"/>
              </a:rPr>
              <a:t>Four free tools, and what each one is for</a:t>
            </a:r>
          </a:p>
        </p:txBody>
      </p:sp>
      <p:sp>
        <p:nvSpPr>
          <p:cNvPr id="4" name="TextBox 3"/>
          <p:cNvSpPr txBox="1"/>
          <p:nvPr/>
        </p:nvSpPr>
        <p:spPr>
          <a:xfrm>
            <a:off x="548640" y="6473952"/>
            <a:ext cx="8686800" cy="228600"/>
          </a:xfrm>
          <a:prstGeom prst="rect">
            <a:avLst/>
          </a:prstGeom>
          <a:noFill/>
        </p:spPr>
        <p:txBody>
          <a:bodyPr wrap="square" anchor="t" lIns="45720" rIns="45720" tIns="27432" bIns="27432">
            <a:spAutoFit/>
          </a:bodyPr>
          <a:lstStyle/>
          <a:p>
            <a:pPr algn="l"/>
            <a:r>
              <a:rPr sz="900" b="0">
                <a:solidFill>
                  <a:srgbClr val="5C667A"/>
                </a:solidFill>
                <a:latin typeface="Calibri"/>
              </a:rPr>
              <a:t>Using GitHub Copilot with our repositories: user guide   ·   Screens and model names change over time</a:t>
            </a:r>
          </a:p>
        </p:txBody>
      </p:sp>
      <p:sp>
        <p:nvSpPr>
          <p:cNvPr id="5" name="Rectangle 4"/>
          <p:cNvSpPr/>
          <p:nvPr/>
        </p:nvSpPr>
        <p:spPr>
          <a:xfrm>
            <a:off x="548640" y="1371600"/>
            <a:ext cx="2606040" cy="25146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1371600"/>
            <a:ext cx="2606040" cy="91440"/>
          </a:xfrm>
          <a:prstGeom prst="rect">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31520" y="1554480"/>
            <a:ext cx="2286000" cy="457200"/>
          </a:xfrm>
          <a:prstGeom prst="rect">
            <a:avLst/>
          </a:prstGeom>
          <a:noFill/>
        </p:spPr>
        <p:txBody>
          <a:bodyPr wrap="square" anchor="t" lIns="45720" rIns="45720" tIns="27432" bIns="27432">
            <a:spAutoFit/>
          </a:bodyPr>
          <a:lstStyle/>
          <a:p>
            <a:pPr algn="l"/>
            <a:r>
              <a:rPr sz="1500" b="1">
                <a:solidFill>
                  <a:srgbClr val="1E2761"/>
                </a:solidFill>
                <a:latin typeface="Calibri"/>
              </a:rPr>
              <a:t>Git for Windows</a:t>
            </a:r>
          </a:p>
        </p:txBody>
      </p:sp>
      <p:sp>
        <p:nvSpPr>
          <p:cNvPr id="8" name="TextBox 7"/>
          <p:cNvSpPr txBox="1"/>
          <p:nvPr/>
        </p:nvSpPr>
        <p:spPr>
          <a:xfrm>
            <a:off x="731520" y="2057400"/>
            <a:ext cx="2286000" cy="1463040"/>
          </a:xfrm>
          <a:prstGeom prst="rect">
            <a:avLst/>
          </a:prstGeom>
          <a:noFill/>
        </p:spPr>
        <p:txBody>
          <a:bodyPr wrap="square" anchor="t" lIns="45720" rIns="45720" tIns="27432" bIns="27432">
            <a:spAutoFit/>
          </a:bodyPr>
          <a:lstStyle/>
          <a:p>
            <a:pPr algn="l"/>
            <a:r>
              <a:rPr sz="1200" b="0">
                <a:solidFill>
                  <a:srgbClr val="1F1F2E"/>
                </a:solidFill>
                <a:latin typeface="Calibri"/>
              </a:rPr>
              <a:t>The version-control engine. Everything else drives it.</a:t>
            </a:r>
          </a:p>
        </p:txBody>
      </p:sp>
      <p:sp>
        <p:nvSpPr>
          <p:cNvPr id="9" name="TextBox 8"/>
          <p:cNvSpPr txBox="1"/>
          <p:nvPr/>
        </p:nvSpPr>
        <p:spPr>
          <a:xfrm>
            <a:off x="731520" y="3520440"/>
            <a:ext cx="2286000" cy="320040"/>
          </a:xfrm>
          <a:prstGeom prst="rect">
            <a:avLst/>
          </a:prstGeom>
          <a:noFill/>
        </p:spPr>
        <p:txBody>
          <a:bodyPr wrap="square" anchor="t" lIns="45720" rIns="45720" tIns="27432" bIns="27432">
            <a:spAutoFit/>
          </a:bodyPr>
          <a:lstStyle/>
          <a:p>
            <a:pPr algn="l"/>
            <a:r>
              <a:rPr sz="1050" b="0">
                <a:solidFill>
                  <a:srgbClr val="5C667A"/>
                </a:solidFill>
                <a:latin typeface="Calibri"/>
              </a:rPr>
              <a:t>git-scm.com</a:t>
            </a:r>
          </a:p>
        </p:txBody>
      </p:sp>
      <p:sp>
        <p:nvSpPr>
          <p:cNvPr id="10" name="Rectangle 9"/>
          <p:cNvSpPr/>
          <p:nvPr/>
        </p:nvSpPr>
        <p:spPr>
          <a:xfrm>
            <a:off x="3383280" y="1371600"/>
            <a:ext cx="2606040" cy="25146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383280" y="1371600"/>
            <a:ext cx="2606040" cy="91440"/>
          </a:xfrm>
          <a:prstGeom prst="rect">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566160" y="1554480"/>
            <a:ext cx="2286000" cy="457200"/>
          </a:xfrm>
          <a:prstGeom prst="rect">
            <a:avLst/>
          </a:prstGeom>
          <a:noFill/>
        </p:spPr>
        <p:txBody>
          <a:bodyPr wrap="square" anchor="t" lIns="45720" rIns="45720" tIns="27432" bIns="27432">
            <a:spAutoFit/>
          </a:bodyPr>
          <a:lstStyle/>
          <a:p>
            <a:pPr algn="l"/>
            <a:r>
              <a:rPr sz="1500" b="1">
                <a:solidFill>
                  <a:srgbClr val="1E2761"/>
                </a:solidFill>
                <a:latin typeface="Calibri"/>
              </a:rPr>
              <a:t>GitHub CLI (gh)</a:t>
            </a:r>
          </a:p>
        </p:txBody>
      </p:sp>
      <p:sp>
        <p:nvSpPr>
          <p:cNvPr id="13" name="TextBox 12"/>
          <p:cNvSpPr txBox="1"/>
          <p:nvPr/>
        </p:nvSpPr>
        <p:spPr>
          <a:xfrm>
            <a:off x="3566160" y="2057400"/>
            <a:ext cx="2286000" cy="1463040"/>
          </a:xfrm>
          <a:prstGeom prst="rect">
            <a:avLst/>
          </a:prstGeom>
          <a:noFill/>
        </p:spPr>
        <p:txBody>
          <a:bodyPr wrap="square" anchor="t" lIns="45720" rIns="45720" tIns="27432" bIns="27432">
            <a:spAutoFit/>
          </a:bodyPr>
          <a:lstStyle/>
          <a:p>
            <a:pPr algn="l"/>
            <a:r>
              <a:rPr sz="1200" b="0">
                <a:solidFill>
                  <a:srgbClr val="1F1F2E"/>
                </a:solidFill>
                <a:latin typeface="Calibri"/>
              </a:rPr>
              <a:t>GitHub from the command line: sign in once, clone, open PRs, and launch Copilot. 'gh auth login' is the one command you must run.</a:t>
            </a:r>
          </a:p>
        </p:txBody>
      </p:sp>
      <p:sp>
        <p:nvSpPr>
          <p:cNvPr id="14" name="TextBox 13"/>
          <p:cNvSpPr txBox="1"/>
          <p:nvPr/>
        </p:nvSpPr>
        <p:spPr>
          <a:xfrm>
            <a:off x="3566160" y="3520440"/>
            <a:ext cx="2286000" cy="320040"/>
          </a:xfrm>
          <a:prstGeom prst="rect">
            <a:avLst/>
          </a:prstGeom>
          <a:noFill/>
        </p:spPr>
        <p:txBody>
          <a:bodyPr wrap="square" anchor="t" lIns="45720" rIns="45720" tIns="27432" bIns="27432">
            <a:spAutoFit/>
          </a:bodyPr>
          <a:lstStyle/>
          <a:p>
            <a:pPr algn="l"/>
            <a:r>
              <a:rPr sz="1050" b="0">
                <a:solidFill>
                  <a:srgbClr val="5C667A"/>
                </a:solidFill>
                <a:latin typeface="Calibri"/>
              </a:rPr>
              <a:t>cli.github.com</a:t>
            </a:r>
          </a:p>
        </p:txBody>
      </p:sp>
      <p:sp>
        <p:nvSpPr>
          <p:cNvPr id="15" name="Rectangle 14"/>
          <p:cNvSpPr/>
          <p:nvPr/>
        </p:nvSpPr>
        <p:spPr>
          <a:xfrm>
            <a:off x="6217920" y="1371600"/>
            <a:ext cx="2606040" cy="25146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217920" y="1371600"/>
            <a:ext cx="2606040" cy="91440"/>
          </a:xfrm>
          <a:prstGeom prst="rect">
            <a:avLst/>
          </a:prstGeom>
          <a:solidFill>
            <a:srgbClr val="2E3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00800" y="1554480"/>
            <a:ext cx="2286000" cy="457200"/>
          </a:xfrm>
          <a:prstGeom prst="rect">
            <a:avLst/>
          </a:prstGeom>
          <a:noFill/>
        </p:spPr>
        <p:txBody>
          <a:bodyPr wrap="square" anchor="t" lIns="45720" rIns="45720" tIns="27432" bIns="27432">
            <a:spAutoFit/>
          </a:bodyPr>
          <a:lstStyle/>
          <a:p>
            <a:pPr algn="l"/>
            <a:r>
              <a:rPr sz="1500" b="1">
                <a:solidFill>
                  <a:srgbClr val="1E2761"/>
                </a:solidFill>
                <a:latin typeface="Calibri"/>
              </a:rPr>
              <a:t>VS Code</a:t>
            </a:r>
          </a:p>
        </p:txBody>
      </p:sp>
      <p:sp>
        <p:nvSpPr>
          <p:cNvPr id="18" name="TextBox 17"/>
          <p:cNvSpPr txBox="1"/>
          <p:nvPr/>
        </p:nvSpPr>
        <p:spPr>
          <a:xfrm>
            <a:off x="6400800" y="2057400"/>
            <a:ext cx="2286000" cy="1463040"/>
          </a:xfrm>
          <a:prstGeom prst="rect">
            <a:avLst/>
          </a:prstGeom>
          <a:noFill/>
        </p:spPr>
        <p:txBody>
          <a:bodyPr wrap="square" anchor="t" lIns="45720" rIns="45720" tIns="27432" bIns="27432">
            <a:spAutoFit/>
          </a:bodyPr>
          <a:lstStyle/>
          <a:p>
            <a:pPr algn="l"/>
            <a:r>
              <a:rPr sz="1200" b="0">
                <a:solidFill>
                  <a:srgbClr val="1F1F2E"/>
                </a:solidFill>
                <a:latin typeface="Calibri"/>
              </a:rPr>
              <a:t>A free editor. Shows files, diffs and a terminal, and hosts Copilot Chat if you prefer it to the app.</a:t>
            </a:r>
          </a:p>
        </p:txBody>
      </p:sp>
      <p:sp>
        <p:nvSpPr>
          <p:cNvPr id="19" name="TextBox 18"/>
          <p:cNvSpPr txBox="1"/>
          <p:nvPr/>
        </p:nvSpPr>
        <p:spPr>
          <a:xfrm>
            <a:off x="6400800" y="3520440"/>
            <a:ext cx="2286000" cy="320040"/>
          </a:xfrm>
          <a:prstGeom prst="rect">
            <a:avLst/>
          </a:prstGeom>
          <a:noFill/>
        </p:spPr>
        <p:txBody>
          <a:bodyPr wrap="square" anchor="t" lIns="45720" rIns="45720" tIns="27432" bIns="27432">
            <a:spAutoFit/>
          </a:bodyPr>
          <a:lstStyle/>
          <a:p>
            <a:pPr algn="l"/>
            <a:r>
              <a:rPr sz="1050" b="0">
                <a:solidFill>
                  <a:srgbClr val="5C667A"/>
                </a:solidFill>
                <a:latin typeface="Calibri"/>
              </a:rPr>
              <a:t>code.visualstudio.com</a:t>
            </a:r>
          </a:p>
        </p:txBody>
      </p:sp>
      <p:sp>
        <p:nvSpPr>
          <p:cNvPr id="20" name="Rectangle 19"/>
          <p:cNvSpPr/>
          <p:nvPr/>
        </p:nvSpPr>
        <p:spPr>
          <a:xfrm>
            <a:off x="9052560" y="1371600"/>
            <a:ext cx="2606040" cy="25146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9052560" y="1371600"/>
            <a:ext cx="2606040" cy="91440"/>
          </a:xfrm>
          <a:prstGeom prst="rect">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235440" y="1554480"/>
            <a:ext cx="2286000" cy="457200"/>
          </a:xfrm>
          <a:prstGeom prst="rect">
            <a:avLst/>
          </a:prstGeom>
          <a:noFill/>
        </p:spPr>
        <p:txBody>
          <a:bodyPr wrap="square" anchor="t" lIns="45720" rIns="45720" tIns="27432" bIns="27432">
            <a:spAutoFit/>
          </a:bodyPr>
          <a:lstStyle/>
          <a:p>
            <a:pPr algn="l"/>
            <a:r>
              <a:rPr sz="1500" b="1">
                <a:solidFill>
                  <a:srgbClr val="1E2761"/>
                </a:solidFill>
                <a:latin typeface="Calibri"/>
              </a:rPr>
              <a:t>GitHub Copilot app / CLI</a:t>
            </a:r>
          </a:p>
        </p:txBody>
      </p:sp>
      <p:sp>
        <p:nvSpPr>
          <p:cNvPr id="23" name="TextBox 22"/>
          <p:cNvSpPr txBox="1"/>
          <p:nvPr/>
        </p:nvSpPr>
        <p:spPr>
          <a:xfrm>
            <a:off x="9235440" y="2057400"/>
            <a:ext cx="2286000" cy="1463040"/>
          </a:xfrm>
          <a:prstGeom prst="rect">
            <a:avLst/>
          </a:prstGeom>
          <a:noFill/>
        </p:spPr>
        <p:txBody>
          <a:bodyPr wrap="square" anchor="t" lIns="45720" rIns="45720" tIns="27432" bIns="27432">
            <a:spAutoFit/>
          </a:bodyPr>
          <a:lstStyle/>
          <a:p>
            <a:pPr algn="l"/>
            <a:r>
              <a:rPr sz="1200" b="0">
                <a:solidFill>
                  <a:srgbClr val="1F1F2E"/>
                </a:solidFill>
                <a:latin typeface="Calibri"/>
              </a:rPr>
              <a:t>The agent you will talk to. Opens a repo as a session, picks a model, edits files and runs commands with your approval.</a:t>
            </a:r>
          </a:p>
        </p:txBody>
      </p:sp>
      <p:sp>
        <p:nvSpPr>
          <p:cNvPr id="24" name="TextBox 23"/>
          <p:cNvSpPr txBox="1"/>
          <p:nvPr/>
        </p:nvSpPr>
        <p:spPr>
          <a:xfrm>
            <a:off x="9235440" y="3520440"/>
            <a:ext cx="2286000" cy="320040"/>
          </a:xfrm>
          <a:prstGeom prst="rect">
            <a:avLst/>
          </a:prstGeom>
          <a:noFill/>
        </p:spPr>
        <p:txBody>
          <a:bodyPr wrap="square" anchor="t" lIns="45720" rIns="45720" tIns="27432" bIns="27432">
            <a:spAutoFit/>
          </a:bodyPr>
          <a:lstStyle/>
          <a:p>
            <a:pPr algn="l"/>
            <a:r>
              <a:rPr sz="1050" b="0">
                <a:solidFill>
                  <a:srgbClr val="5C667A"/>
                </a:solidFill>
                <a:latin typeface="Calibri"/>
              </a:rPr>
              <a:t>github.com/features/copilot</a:t>
            </a:r>
          </a:p>
        </p:txBody>
      </p:sp>
      <p:sp>
        <p:nvSpPr>
          <p:cNvPr id="25" name="Rectangle 24"/>
          <p:cNvSpPr/>
          <p:nvPr/>
        </p:nvSpPr>
        <p:spPr>
          <a:xfrm>
            <a:off x="548640" y="4069080"/>
            <a:ext cx="11091672" cy="2194560"/>
          </a:xfrm>
          <a:prstGeom prst="rect">
            <a:avLst/>
          </a:prstGeom>
          <a:solidFill>
            <a:srgbClr val="2B2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77240" y="4160520"/>
            <a:ext cx="5486400" cy="320040"/>
          </a:xfrm>
          <a:prstGeom prst="rect">
            <a:avLst/>
          </a:prstGeom>
          <a:noFill/>
        </p:spPr>
        <p:txBody>
          <a:bodyPr wrap="square" anchor="t" lIns="45720" rIns="45720" tIns="27432" bIns="27432">
            <a:spAutoFit/>
          </a:bodyPr>
          <a:lstStyle/>
          <a:p>
            <a:pPr algn="l"/>
            <a:r>
              <a:rPr sz="1300" b="1">
                <a:solidFill>
                  <a:srgbClr val="FFFFFF"/>
                </a:solidFill>
                <a:latin typeface="Calibri"/>
              </a:rPr>
              <a:t>gh: the five commands that matter</a:t>
            </a:r>
          </a:p>
        </p:txBody>
      </p:sp>
      <p:sp>
        <p:nvSpPr>
          <p:cNvPr id="27" name="TextBox 26"/>
          <p:cNvSpPr txBox="1"/>
          <p:nvPr/>
        </p:nvSpPr>
        <p:spPr>
          <a:xfrm>
            <a:off x="777240" y="4526280"/>
            <a:ext cx="2651760" cy="274320"/>
          </a:xfrm>
          <a:prstGeom prst="rect">
            <a:avLst/>
          </a:prstGeom>
          <a:noFill/>
        </p:spPr>
        <p:txBody>
          <a:bodyPr wrap="square" anchor="t" lIns="45720" rIns="45720" tIns="27432" bIns="27432">
            <a:spAutoFit/>
          </a:bodyPr>
          <a:lstStyle/>
          <a:p>
            <a:pPr algn="l"/>
            <a:r>
              <a:rPr sz="1150" b="0">
                <a:solidFill>
                  <a:srgbClr val="C8F0C8"/>
                </a:solidFill>
                <a:latin typeface="Consolas"/>
              </a:rPr>
              <a:t>gh auth login</a:t>
            </a:r>
          </a:p>
        </p:txBody>
      </p:sp>
      <p:sp>
        <p:nvSpPr>
          <p:cNvPr id="28" name="TextBox 27"/>
          <p:cNvSpPr txBox="1"/>
          <p:nvPr/>
        </p:nvSpPr>
        <p:spPr>
          <a:xfrm>
            <a:off x="3474720" y="4526280"/>
            <a:ext cx="4114800" cy="274320"/>
          </a:xfrm>
          <a:prstGeom prst="rect">
            <a:avLst/>
          </a:prstGeom>
          <a:noFill/>
        </p:spPr>
        <p:txBody>
          <a:bodyPr wrap="square" anchor="t" lIns="45720" rIns="45720" tIns="27432" bIns="27432">
            <a:spAutoFit/>
          </a:bodyPr>
          <a:lstStyle/>
          <a:p>
            <a:pPr algn="l"/>
            <a:r>
              <a:rPr sz="1150" b="0">
                <a:solidFill>
                  <a:srgbClr val="FFFFFF"/>
                </a:solidFill>
                <a:latin typeface="Calibri"/>
              </a:rPr>
              <a:t>sign in to GitHub (a browser window opens) — once</a:t>
            </a:r>
          </a:p>
        </p:txBody>
      </p:sp>
      <p:sp>
        <p:nvSpPr>
          <p:cNvPr id="29" name="TextBox 28"/>
          <p:cNvSpPr txBox="1"/>
          <p:nvPr/>
        </p:nvSpPr>
        <p:spPr>
          <a:xfrm>
            <a:off x="777240" y="4800600"/>
            <a:ext cx="2651760" cy="274320"/>
          </a:xfrm>
          <a:prstGeom prst="rect">
            <a:avLst/>
          </a:prstGeom>
          <a:noFill/>
        </p:spPr>
        <p:txBody>
          <a:bodyPr wrap="square" anchor="t" lIns="45720" rIns="45720" tIns="27432" bIns="27432">
            <a:spAutoFit/>
          </a:bodyPr>
          <a:lstStyle/>
          <a:p>
            <a:pPr algn="l"/>
            <a:r>
              <a:rPr sz="1150" b="0">
                <a:solidFill>
                  <a:srgbClr val="C8F0C8"/>
                </a:solidFill>
                <a:latin typeface="Consolas"/>
              </a:rPr>
              <a:t>gh repo clone cpmodel/repo</a:t>
            </a:r>
          </a:p>
        </p:txBody>
      </p:sp>
      <p:sp>
        <p:nvSpPr>
          <p:cNvPr id="30" name="TextBox 29"/>
          <p:cNvSpPr txBox="1"/>
          <p:nvPr/>
        </p:nvSpPr>
        <p:spPr>
          <a:xfrm>
            <a:off x="3474720" y="4800600"/>
            <a:ext cx="4114800" cy="274320"/>
          </a:xfrm>
          <a:prstGeom prst="rect">
            <a:avLst/>
          </a:prstGeom>
          <a:noFill/>
        </p:spPr>
        <p:txBody>
          <a:bodyPr wrap="square" anchor="t" lIns="45720" rIns="45720" tIns="27432" bIns="27432">
            <a:spAutoFit/>
          </a:bodyPr>
          <a:lstStyle/>
          <a:p>
            <a:pPr algn="l"/>
            <a:r>
              <a:rPr sz="1150" b="0">
                <a:solidFill>
                  <a:srgbClr val="FFFFFF"/>
                </a:solidFill>
                <a:latin typeface="Calibri"/>
              </a:rPr>
              <a:t>download a repo into the current folder</a:t>
            </a:r>
          </a:p>
        </p:txBody>
      </p:sp>
      <p:sp>
        <p:nvSpPr>
          <p:cNvPr id="31" name="TextBox 30"/>
          <p:cNvSpPr txBox="1"/>
          <p:nvPr/>
        </p:nvSpPr>
        <p:spPr>
          <a:xfrm>
            <a:off x="777240" y="5074920"/>
            <a:ext cx="2651760" cy="274320"/>
          </a:xfrm>
          <a:prstGeom prst="rect">
            <a:avLst/>
          </a:prstGeom>
          <a:noFill/>
        </p:spPr>
        <p:txBody>
          <a:bodyPr wrap="square" anchor="t" lIns="45720" rIns="45720" tIns="27432" bIns="27432">
            <a:spAutoFit/>
          </a:bodyPr>
          <a:lstStyle/>
          <a:p>
            <a:pPr algn="l"/>
            <a:r>
              <a:rPr sz="1150" b="0">
                <a:solidFill>
                  <a:srgbClr val="C8F0C8"/>
                </a:solidFill>
                <a:latin typeface="Consolas"/>
              </a:rPr>
              <a:t>gh pr create</a:t>
            </a:r>
          </a:p>
        </p:txBody>
      </p:sp>
      <p:sp>
        <p:nvSpPr>
          <p:cNvPr id="32" name="TextBox 31"/>
          <p:cNvSpPr txBox="1"/>
          <p:nvPr/>
        </p:nvSpPr>
        <p:spPr>
          <a:xfrm>
            <a:off x="3474720" y="5074920"/>
            <a:ext cx="4114800" cy="274320"/>
          </a:xfrm>
          <a:prstGeom prst="rect">
            <a:avLst/>
          </a:prstGeom>
          <a:noFill/>
        </p:spPr>
        <p:txBody>
          <a:bodyPr wrap="square" anchor="t" lIns="45720" rIns="45720" tIns="27432" bIns="27432">
            <a:spAutoFit/>
          </a:bodyPr>
          <a:lstStyle/>
          <a:p>
            <a:pPr algn="l"/>
            <a:r>
              <a:rPr sz="1150" b="0">
                <a:solidFill>
                  <a:srgbClr val="FFFFFF"/>
                </a:solidFill>
                <a:latin typeface="Calibri"/>
              </a:rPr>
              <a:t>turn your branch into a pull request</a:t>
            </a:r>
          </a:p>
        </p:txBody>
      </p:sp>
      <p:sp>
        <p:nvSpPr>
          <p:cNvPr id="33" name="TextBox 32"/>
          <p:cNvSpPr txBox="1"/>
          <p:nvPr/>
        </p:nvSpPr>
        <p:spPr>
          <a:xfrm>
            <a:off x="777240" y="5349240"/>
            <a:ext cx="2651760" cy="274320"/>
          </a:xfrm>
          <a:prstGeom prst="rect">
            <a:avLst/>
          </a:prstGeom>
          <a:noFill/>
        </p:spPr>
        <p:txBody>
          <a:bodyPr wrap="square" anchor="t" lIns="45720" rIns="45720" tIns="27432" bIns="27432">
            <a:spAutoFit/>
          </a:bodyPr>
          <a:lstStyle/>
          <a:p>
            <a:pPr algn="l"/>
            <a:r>
              <a:rPr sz="1150" b="0">
                <a:solidFill>
                  <a:srgbClr val="C8F0C8"/>
                </a:solidFill>
                <a:latin typeface="Consolas"/>
              </a:rPr>
              <a:t>gh pr list</a:t>
            </a:r>
          </a:p>
        </p:txBody>
      </p:sp>
      <p:sp>
        <p:nvSpPr>
          <p:cNvPr id="34" name="TextBox 33"/>
          <p:cNvSpPr txBox="1"/>
          <p:nvPr/>
        </p:nvSpPr>
        <p:spPr>
          <a:xfrm>
            <a:off x="3474720" y="5349240"/>
            <a:ext cx="4114800" cy="274320"/>
          </a:xfrm>
          <a:prstGeom prst="rect">
            <a:avLst/>
          </a:prstGeom>
          <a:noFill/>
        </p:spPr>
        <p:txBody>
          <a:bodyPr wrap="square" anchor="t" lIns="45720" rIns="45720" tIns="27432" bIns="27432">
            <a:spAutoFit/>
          </a:bodyPr>
          <a:lstStyle/>
          <a:p>
            <a:pPr algn="l"/>
            <a:r>
              <a:rPr sz="1150" b="0">
                <a:solidFill>
                  <a:srgbClr val="FFFFFF"/>
                </a:solidFill>
                <a:latin typeface="Calibri"/>
              </a:rPr>
              <a:t>see open pull requests</a:t>
            </a:r>
          </a:p>
        </p:txBody>
      </p:sp>
      <p:sp>
        <p:nvSpPr>
          <p:cNvPr id="35" name="TextBox 34"/>
          <p:cNvSpPr txBox="1"/>
          <p:nvPr/>
        </p:nvSpPr>
        <p:spPr>
          <a:xfrm>
            <a:off x="777240" y="5623560"/>
            <a:ext cx="2651760" cy="274320"/>
          </a:xfrm>
          <a:prstGeom prst="rect">
            <a:avLst/>
          </a:prstGeom>
          <a:noFill/>
        </p:spPr>
        <p:txBody>
          <a:bodyPr wrap="square" anchor="t" lIns="45720" rIns="45720" tIns="27432" bIns="27432">
            <a:spAutoFit/>
          </a:bodyPr>
          <a:lstStyle/>
          <a:p>
            <a:pPr algn="l"/>
            <a:r>
              <a:rPr sz="1150" b="0">
                <a:solidFill>
                  <a:srgbClr val="C8F0C8"/>
                </a:solidFill>
                <a:latin typeface="Consolas"/>
              </a:rPr>
              <a:t>gh copilot</a:t>
            </a:r>
          </a:p>
        </p:txBody>
      </p:sp>
      <p:sp>
        <p:nvSpPr>
          <p:cNvPr id="36" name="TextBox 35"/>
          <p:cNvSpPr txBox="1"/>
          <p:nvPr/>
        </p:nvSpPr>
        <p:spPr>
          <a:xfrm>
            <a:off x="3474720" y="5623560"/>
            <a:ext cx="4114800" cy="274320"/>
          </a:xfrm>
          <a:prstGeom prst="rect">
            <a:avLst/>
          </a:prstGeom>
          <a:noFill/>
        </p:spPr>
        <p:txBody>
          <a:bodyPr wrap="square" anchor="t" lIns="45720" rIns="45720" tIns="27432" bIns="27432">
            <a:spAutoFit/>
          </a:bodyPr>
          <a:lstStyle/>
          <a:p>
            <a:pPr algn="l"/>
            <a:r>
              <a:rPr sz="1150" b="0">
                <a:solidFill>
                  <a:srgbClr val="FFFFFF"/>
                </a:solidFill>
                <a:latin typeface="Calibri"/>
              </a:rPr>
              <a:t>start Copilot in the terminal (the CLI agent)</a:t>
            </a:r>
          </a:p>
        </p:txBody>
      </p:sp>
      <p:sp>
        <p:nvSpPr>
          <p:cNvPr id="37" name="TextBox 36"/>
          <p:cNvSpPr txBox="1"/>
          <p:nvPr/>
        </p:nvSpPr>
        <p:spPr>
          <a:xfrm>
            <a:off x="7863840" y="4526280"/>
            <a:ext cx="3566160" cy="1463040"/>
          </a:xfrm>
          <a:prstGeom prst="rect">
            <a:avLst/>
          </a:prstGeom>
          <a:noFill/>
        </p:spPr>
        <p:txBody>
          <a:bodyPr wrap="square" anchor="t" lIns="45720" rIns="45720" tIns="27432" bIns="27432">
            <a:spAutoFit/>
          </a:bodyPr>
          <a:lstStyle/>
          <a:p>
            <a:pPr algn="l"/>
            <a:r>
              <a:rPr sz="1200" b="1">
                <a:solidFill>
                  <a:srgbClr val="FFFFFF"/>
                </a:solidFill>
                <a:latin typeface="Calibri"/>
              </a:rPr>
              <a:t>Enterprise laptops</a:t>
            </a:r>
          </a:p>
          <a:p>
            <a:pPr algn="l"/>
            <a:r>
              <a:rPr sz="1150" b="0">
                <a:solidFill>
                  <a:srgbClr val="CADCFC"/>
                </a:solidFill>
                <a:latin typeface="Calibri"/>
              </a:rPr>
              <a:t>Install from the Software Center if the download sites are blocked. Ask IT for gh and git together; they are small.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7315200" cy="274320"/>
          </a:xfrm>
          <a:prstGeom prst="rect">
            <a:avLst/>
          </a:prstGeom>
          <a:noFill/>
        </p:spPr>
        <p:txBody>
          <a:bodyPr wrap="square" anchor="t" lIns="45720" rIns="45720" tIns="27432" bIns="27432">
            <a:spAutoFit/>
          </a:bodyPr>
          <a:lstStyle/>
          <a:p>
            <a:pPr algn="l"/>
            <a:r>
              <a:rPr sz="1200" b="1">
                <a:solidFill>
                  <a:srgbClr val="0F7B6C"/>
                </a:solidFill>
                <a:latin typeface="Calibri"/>
              </a:rPr>
              <a:t>APPENDIX 1 · THE SYNC SCRIPT</a:t>
            </a:r>
          </a:p>
        </p:txBody>
      </p:sp>
      <p:sp>
        <p:nvSpPr>
          <p:cNvPr id="3" name="TextBox 2"/>
          <p:cNvSpPr txBox="1"/>
          <p:nvPr/>
        </p:nvSpPr>
        <p:spPr>
          <a:xfrm>
            <a:off x="548640" y="502920"/>
            <a:ext cx="11064240" cy="685800"/>
          </a:xfrm>
          <a:prstGeom prst="rect">
            <a:avLst/>
          </a:prstGeom>
          <a:noFill/>
        </p:spPr>
        <p:txBody>
          <a:bodyPr wrap="square" anchor="t" lIns="45720" rIns="45720" tIns="27432" bIns="27432">
            <a:spAutoFit/>
          </a:bodyPr>
          <a:lstStyle/>
          <a:p>
            <a:pPr algn="l"/>
            <a:r>
              <a:rPr sz="3000" b="0">
                <a:solidFill>
                  <a:srgbClr val="1E2761"/>
                </a:solidFill>
                <a:latin typeface="Cambria"/>
              </a:rPr>
              <a:t>SyncRepo.bat: one double-click to pull, commit and push</a:t>
            </a:r>
          </a:p>
        </p:txBody>
      </p:sp>
      <p:sp>
        <p:nvSpPr>
          <p:cNvPr id="4" name="TextBox 3"/>
          <p:cNvSpPr txBox="1"/>
          <p:nvPr/>
        </p:nvSpPr>
        <p:spPr>
          <a:xfrm>
            <a:off x="548640" y="6473952"/>
            <a:ext cx="8686800" cy="228600"/>
          </a:xfrm>
          <a:prstGeom prst="rect">
            <a:avLst/>
          </a:prstGeom>
          <a:noFill/>
        </p:spPr>
        <p:txBody>
          <a:bodyPr wrap="square" anchor="t" lIns="45720" rIns="45720" tIns="27432" bIns="27432">
            <a:spAutoFit/>
          </a:bodyPr>
          <a:lstStyle/>
          <a:p>
            <a:pPr algn="l"/>
            <a:r>
              <a:rPr sz="900" b="0">
                <a:solidFill>
                  <a:srgbClr val="5C667A"/>
                </a:solidFill>
                <a:latin typeface="Calibri"/>
              </a:rPr>
              <a:t>Using GitHub Copilot with our repositories: user guide   ·   Screens and model names change over time</a:t>
            </a:r>
          </a:p>
        </p:txBody>
      </p:sp>
      <p:sp>
        <p:nvSpPr>
          <p:cNvPr id="5" name="Rectangle 4"/>
          <p:cNvSpPr/>
          <p:nvPr/>
        </p:nvSpPr>
        <p:spPr>
          <a:xfrm>
            <a:off x="548640" y="1325880"/>
            <a:ext cx="4846320" cy="493776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77240" y="1463040"/>
            <a:ext cx="4480560" cy="365760"/>
          </a:xfrm>
          <a:prstGeom prst="rect">
            <a:avLst/>
          </a:prstGeom>
          <a:noFill/>
        </p:spPr>
        <p:txBody>
          <a:bodyPr wrap="square" anchor="t" lIns="45720" rIns="45720" tIns="27432" bIns="27432">
            <a:spAutoFit/>
          </a:bodyPr>
          <a:lstStyle/>
          <a:p>
            <a:pPr algn="l"/>
            <a:r>
              <a:rPr sz="1600" b="1">
                <a:solidFill>
                  <a:srgbClr val="1E2761"/>
                </a:solidFill>
                <a:latin typeface="Calibri"/>
              </a:rPr>
              <a:t>What you get</a:t>
            </a:r>
          </a:p>
        </p:txBody>
      </p:sp>
      <p:sp>
        <p:nvSpPr>
          <p:cNvPr id="7" name="TextBox 6"/>
          <p:cNvSpPr txBox="1"/>
          <p:nvPr/>
        </p:nvSpPr>
        <p:spPr>
          <a:xfrm>
            <a:off x="777240" y="1920240"/>
            <a:ext cx="4480560" cy="4206240"/>
          </a:xfrm>
          <a:prstGeom prst="rect">
            <a:avLst/>
          </a:prstGeom>
          <a:noFill/>
        </p:spPr>
        <p:txBody>
          <a:bodyPr wrap="square" anchor="t" lIns="45720" rIns="45720" tIns="27432" bIns="27432">
            <a:spAutoFit/>
          </a:bodyPr>
          <a:lstStyle/>
          <a:p>
            <a:pPr algn="l"/>
            <a:r>
              <a:rPr sz="1250" b="0">
                <a:solidFill>
                  <a:srgbClr val="1F1F2E"/>
                </a:solidFill>
                <a:latin typeface="Calibri"/>
              </a:rPr>
              <a:t>A sync script will be provided for each repo. Two files sit in the repo root:</a:t>
            </a:r>
          </a:p>
          <a:p>
            <a:pPr algn="l">
              <a:spcBef>
                <a:spcPts val="800"/>
              </a:spcBef>
            </a:pPr>
            <a:r>
              <a:rPr sz="1250" b="1">
                <a:solidFill>
                  <a:srgbClr val="1F1F2E"/>
                </a:solidFill>
                <a:latin typeface="Calibri"/>
              </a:rPr>
              <a:t>SyncRepo.bat — the script you double-click.</a:t>
            </a:r>
          </a:p>
          <a:p>
            <a:pPr algn="l">
              <a:spcBef>
                <a:spcPts val="400"/>
              </a:spcBef>
            </a:pPr>
            <a:r>
              <a:rPr sz="1250" b="1">
                <a:solidFill>
                  <a:srgbClr val="1F1F2E"/>
                </a:solidFill>
                <a:latin typeface="Calibri"/>
              </a:rPr>
              <a:t>RepoDirectory.csv — one line naming the repo address and whether to pull and push (Y/Y).</a:t>
            </a:r>
          </a:p>
          <a:p>
            <a:pPr algn="l">
              <a:spcBef>
                <a:spcPts val="800"/>
              </a:spcBef>
            </a:pPr>
            <a:r>
              <a:rPr sz="1250" b="0">
                <a:solidFill>
                  <a:srgbClr val="1F1F2E"/>
                </a:solidFill>
                <a:latin typeface="Calibri"/>
              </a:rPr>
              <a:t>It needs git on the PATH and you signed in once (gh auth login). Nothing else.</a:t>
            </a:r>
          </a:p>
          <a:p>
            <a:pPr algn="l">
              <a:spcBef>
                <a:spcPts val="1000"/>
              </a:spcBef>
            </a:pPr>
            <a:r>
              <a:rPr sz="1250" b="0">
                <a:solidFill>
                  <a:srgbClr val="1F1F2E"/>
                </a:solidFill>
                <a:latin typeface="Calibri"/>
              </a:rPr>
              <a:t>Run it with a message to skip the prompt:</a:t>
            </a:r>
          </a:p>
          <a:p>
            <a:pPr algn="l">
              <a:spcBef>
                <a:spcPts val="200"/>
              </a:spcBef>
            </a:pPr>
            <a:r>
              <a:rPr sz="1150" b="0">
                <a:solidFill>
                  <a:srgbClr val="0F7B6C"/>
                </a:solidFill>
                <a:latin typeface="Consolas"/>
              </a:rPr>
              <a:t>SyncRepo.bat "added Kenya excise data"</a:t>
            </a:r>
          </a:p>
          <a:p>
            <a:pPr algn="l">
              <a:spcBef>
                <a:spcPts val="1000"/>
              </a:spcBef>
            </a:pPr>
            <a:r>
              <a:rPr sz="1200" b="0">
                <a:solidFill>
                  <a:srgbClr val="5C667A"/>
                </a:solidFill>
                <a:latin typeface="Calibri"/>
              </a:rPr>
              <a:t>Works best in local mode on main (see ways-of-working slides).</a:t>
            </a:r>
          </a:p>
        </p:txBody>
      </p:sp>
      <p:sp>
        <p:nvSpPr>
          <p:cNvPr id="8" name="TextBox 7"/>
          <p:cNvSpPr txBox="1"/>
          <p:nvPr/>
        </p:nvSpPr>
        <p:spPr>
          <a:xfrm>
            <a:off x="5669280" y="1325880"/>
            <a:ext cx="5943600" cy="365760"/>
          </a:xfrm>
          <a:prstGeom prst="rect">
            <a:avLst/>
          </a:prstGeom>
          <a:noFill/>
        </p:spPr>
        <p:txBody>
          <a:bodyPr wrap="square" anchor="t" lIns="45720" rIns="45720" tIns="27432" bIns="27432">
            <a:spAutoFit/>
          </a:bodyPr>
          <a:lstStyle/>
          <a:p>
            <a:pPr algn="l"/>
            <a:r>
              <a:rPr sz="1600" b="1">
                <a:solidFill>
                  <a:srgbClr val="1E2761"/>
                </a:solidFill>
                <a:latin typeface="Calibri"/>
              </a:rPr>
              <a:t>What happens when you run it</a:t>
            </a:r>
          </a:p>
        </p:txBody>
      </p:sp>
      <p:sp>
        <p:nvSpPr>
          <p:cNvPr id="9" name="Oval 8"/>
          <p:cNvSpPr/>
          <p:nvPr/>
        </p:nvSpPr>
        <p:spPr>
          <a:xfrm>
            <a:off x="5669280" y="1801368"/>
            <a:ext cx="365760" cy="365760"/>
          </a:xfrm>
          <a:prstGeom prst="ellipse">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669280" y="1801368"/>
            <a:ext cx="365760" cy="365760"/>
          </a:xfrm>
          <a:prstGeom prst="rect">
            <a:avLst/>
          </a:prstGeom>
          <a:noFill/>
        </p:spPr>
        <p:txBody>
          <a:bodyPr wrap="square" anchor="ctr" lIns="45720" rIns="45720" tIns="27432" bIns="27432">
            <a:spAutoFit/>
          </a:bodyPr>
          <a:lstStyle/>
          <a:p>
            <a:pPr algn="ctr"/>
            <a:r>
              <a:rPr sz="1400" b="1">
                <a:solidFill>
                  <a:srgbClr val="FFFFFF"/>
                </a:solidFill>
                <a:latin typeface="Calibri"/>
              </a:rPr>
              <a:t>1</a:t>
            </a:r>
          </a:p>
        </p:txBody>
      </p:sp>
      <p:sp>
        <p:nvSpPr>
          <p:cNvPr id="11" name="TextBox 10"/>
          <p:cNvSpPr txBox="1"/>
          <p:nvPr/>
        </p:nvSpPr>
        <p:spPr>
          <a:xfrm>
            <a:off x="6172200" y="1783080"/>
            <a:ext cx="5440680" cy="841248"/>
          </a:xfrm>
          <a:prstGeom prst="rect">
            <a:avLst/>
          </a:prstGeom>
          <a:noFill/>
        </p:spPr>
        <p:txBody>
          <a:bodyPr wrap="square" anchor="t" lIns="45720" rIns="45720" tIns="27432" bIns="27432">
            <a:spAutoFit/>
          </a:bodyPr>
          <a:lstStyle/>
          <a:p>
            <a:pPr algn="l"/>
            <a:r>
              <a:rPr sz="1300" b="1">
                <a:solidFill>
                  <a:srgbClr val="1E2761"/>
                </a:solidFill>
                <a:latin typeface="Calibri"/>
              </a:rPr>
              <a:t>Switches to main</a:t>
            </a:r>
          </a:p>
          <a:p>
            <a:pPr algn="l"/>
            <a:r>
              <a:rPr sz="1200" b="0">
                <a:solidFill>
                  <a:srgbClr val="1F1F2E"/>
                </a:solidFill>
                <a:latin typeface="Calibri"/>
              </a:rPr>
              <a:t>If you are on another branch it checks out main (stops if you have uncommitted work there).</a:t>
            </a:r>
          </a:p>
        </p:txBody>
      </p:sp>
      <p:sp>
        <p:nvSpPr>
          <p:cNvPr id="12" name="Oval 11"/>
          <p:cNvSpPr/>
          <p:nvPr/>
        </p:nvSpPr>
        <p:spPr>
          <a:xfrm>
            <a:off x="5669280" y="2642616"/>
            <a:ext cx="365760" cy="365760"/>
          </a:xfrm>
          <a:prstGeom prst="ellipse">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669280" y="2642616"/>
            <a:ext cx="365760" cy="365760"/>
          </a:xfrm>
          <a:prstGeom prst="rect">
            <a:avLst/>
          </a:prstGeom>
          <a:noFill/>
        </p:spPr>
        <p:txBody>
          <a:bodyPr wrap="square" anchor="ctr" lIns="45720" rIns="45720" tIns="27432" bIns="27432">
            <a:spAutoFit/>
          </a:bodyPr>
          <a:lstStyle/>
          <a:p>
            <a:pPr algn="ctr"/>
            <a:r>
              <a:rPr sz="1400" b="1">
                <a:solidFill>
                  <a:srgbClr val="FFFFFF"/>
                </a:solidFill>
                <a:latin typeface="Calibri"/>
              </a:rPr>
              <a:t>2</a:t>
            </a:r>
          </a:p>
        </p:txBody>
      </p:sp>
      <p:sp>
        <p:nvSpPr>
          <p:cNvPr id="14" name="TextBox 13"/>
          <p:cNvSpPr txBox="1"/>
          <p:nvPr/>
        </p:nvSpPr>
        <p:spPr>
          <a:xfrm>
            <a:off x="6172200" y="2624328"/>
            <a:ext cx="5440680" cy="841248"/>
          </a:xfrm>
          <a:prstGeom prst="rect">
            <a:avLst/>
          </a:prstGeom>
          <a:noFill/>
        </p:spPr>
        <p:txBody>
          <a:bodyPr wrap="square" anchor="t" lIns="45720" rIns="45720" tIns="27432" bIns="27432">
            <a:spAutoFit/>
          </a:bodyPr>
          <a:lstStyle/>
          <a:p>
            <a:pPr algn="l"/>
            <a:r>
              <a:rPr sz="1300" b="1">
                <a:solidFill>
                  <a:srgbClr val="1E2761"/>
                </a:solidFill>
                <a:latin typeface="Calibri"/>
              </a:rPr>
              <a:t>Pulls</a:t>
            </a:r>
          </a:p>
          <a:p>
            <a:pPr algn="l"/>
            <a:r>
              <a:rPr sz="1200" b="0">
                <a:solidFill>
                  <a:srgbClr val="1F1F2E"/>
                </a:solidFill>
                <a:latin typeface="Calibri"/>
              </a:rPr>
              <a:t>git pull brings down everything colleagues pushed. Stops and tells you if that fails.</a:t>
            </a:r>
          </a:p>
        </p:txBody>
      </p:sp>
      <p:sp>
        <p:nvSpPr>
          <p:cNvPr id="15" name="Oval 14"/>
          <p:cNvSpPr/>
          <p:nvPr/>
        </p:nvSpPr>
        <p:spPr>
          <a:xfrm>
            <a:off x="5669280" y="3483864"/>
            <a:ext cx="365760" cy="365760"/>
          </a:xfrm>
          <a:prstGeom prst="ellipse">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669280" y="3483864"/>
            <a:ext cx="365760" cy="365760"/>
          </a:xfrm>
          <a:prstGeom prst="rect">
            <a:avLst/>
          </a:prstGeom>
          <a:noFill/>
        </p:spPr>
        <p:txBody>
          <a:bodyPr wrap="square" anchor="ctr" lIns="45720" rIns="45720" tIns="27432" bIns="27432">
            <a:spAutoFit/>
          </a:bodyPr>
          <a:lstStyle/>
          <a:p>
            <a:pPr algn="ctr"/>
            <a:r>
              <a:rPr sz="1400" b="1">
                <a:solidFill>
                  <a:srgbClr val="FFFFFF"/>
                </a:solidFill>
                <a:latin typeface="Calibri"/>
              </a:rPr>
              <a:t>3</a:t>
            </a:r>
          </a:p>
        </p:txBody>
      </p:sp>
      <p:sp>
        <p:nvSpPr>
          <p:cNvPr id="17" name="TextBox 16"/>
          <p:cNvSpPr txBox="1"/>
          <p:nvPr/>
        </p:nvSpPr>
        <p:spPr>
          <a:xfrm>
            <a:off x="6172200" y="3465576"/>
            <a:ext cx="5440680" cy="841248"/>
          </a:xfrm>
          <a:prstGeom prst="rect">
            <a:avLst/>
          </a:prstGeom>
          <a:noFill/>
        </p:spPr>
        <p:txBody>
          <a:bodyPr wrap="square" anchor="t" lIns="45720" rIns="45720" tIns="27432" bIns="27432">
            <a:spAutoFit/>
          </a:bodyPr>
          <a:lstStyle/>
          <a:p>
            <a:pPr algn="l"/>
            <a:r>
              <a:rPr sz="1300" b="1">
                <a:solidFill>
                  <a:srgbClr val="1E2761"/>
                </a:solidFill>
                <a:latin typeface="Calibri"/>
              </a:rPr>
              <a:t>Stages everything</a:t>
            </a:r>
          </a:p>
          <a:p>
            <a:pPr algn="l"/>
            <a:r>
              <a:rPr sz="1200" b="0">
                <a:solidFill>
                  <a:srgbClr val="1F1F2E"/>
                </a:solidFill>
                <a:latin typeface="Calibri"/>
              </a:rPr>
              <a:t>git add -A: new, changed and deleted files, all included.</a:t>
            </a:r>
          </a:p>
        </p:txBody>
      </p:sp>
      <p:sp>
        <p:nvSpPr>
          <p:cNvPr id="18" name="Oval 17"/>
          <p:cNvSpPr/>
          <p:nvPr/>
        </p:nvSpPr>
        <p:spPr>
          <a:xfrm>
            <a:off x="5669280" y="4325112"/>
            <a:ext cx="365760" cy="365760"/>
          </a:xfrm>
          <a:prstGeom prst="ellipse">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669280" y="4325112"/>
            <a:ext cx="365760" cy="365760"/>
          </a:xfrm>
          <a:prstGeom prst="rect">
            <a:avLst/>
          </a:prstGeom>
          <a:noFill/>
        </p:spPr>
        <p:txBody>
          <a:bodyPr wrap="square" anchor="ctr" lIns="45720" rIns="45720" tIns="27432" bIns="27432">
            <a:spAutoFit/>
          </a:bodyPr>
          <a:lstStyle/>
          <a:p>
            <a:pPr algn="ctr"/>
            <a:r>
              <a:rPr sz="1400" b="1">
                <a:solidFill>
                  <a:srgbClr val="FFFFFF"/>
                </a:solidFill>
                <a:latin typeface="Calibri"/>
              </a:rPr>
              <a:t>4</a:t>
            </a:r>
          </a:p>
        </p:txBody>
      </p:sp>
      <p:sp>
        <p:nvSpPr>
          <p:cNvPr id="20" name="TextBox 19"/>
          <p:cNvSpPr txBox="1"/>
          <p:nvPr/>
        </p:nvSpPr>
        <p:spPr>
          <a:xfrm>
            <a:off x="6172200" y="4306824"/>
            <a:ext cx="5440680" cy="841248"/>
          </a:xfrm>
          <a:prstGeom prst="rect">
            <a:avLst/>
          </a:prstGeom>
          <a:noFill/>
        </p:spPr>
        <p:txBody>
          <a:bodyPr wrap="square" anchor="t" lIns="45720" rIns="45720" tIns="27432" bIns="27432">
            <a:spAutoFit/>
          </a:bodyPr>
          <a:lstStyle/>
          <a:p>
            <a:pPr algn="l"/>
            <a:r>
              <a:rPr sz="1300" b="1">
                <a:solidFill>
                  <a:srgbClr val="1E2761"/>
                </a:solidFill>
                <a:latin typeface="Calibri"/>
              </a:rPr>
              <a:t>Asks for a commit message</a:t>
            </a:r>
          </a:p>
          <a:p>
            <a:pPr algn="l"/>
            <a:r>
              <a:rPr sz="1200" b="0">
                <a:solidFill>
                  <a:srgbClr val="1F1F2E"/>
                </a:solidFill>
                <a:latin typeface="Calibri"/>
              </a:rPr>
              <a:t>Shows the list of changed files, then prompts. Empty message = nothing committed.</a:t>
            </a:r>
          </a:p>
        </p:txBody>
      </p:sp>
      <p:sp>
        <p:nvSpPr>
          <p:cNvPr id="21" name="Oval 20"/>
          <p:cNvSpPr/>
          <p:nvPr/>
        </p:nvSpPr>
        <p:spPr>
          <a:xfrm>
            <a:off x="5669280" y="5166359"/>
            <a:ext cx="365760" cy="365760"/>
          </a:xfrm>
          <a:prstGeom prst="ellipse">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669280" y="5166359"/>
            <a:ext cx="365760" cy="365760"/>
          </a:xfrm>
          <a:prstGeom prst="rect">
            <a:avLst/>
          </a:prstGeom>
          <a:noFill/>
        </p:spPr>
        <p:txBody>
          <a:bodyPr wrap="square" anchor="ctr" lIns="45720" rIns="45720" tIns="27432" bIns="27432">
            <a:spAutoFit/>
          </a:bodyPr>
          <a:lstStyle/>
          <a:p>
            <a:pPr algn="ctr"/>
            <a:r>
              <a:rPr sz="1400" b="1">
                <a:solidFill>
                  <a:srgbClr val="FFFFFF"/>
                </a:solidFill>
                <a:latin typeface="Calibri"/>
              </a:rPr>
              <a:t>5</a:t>
            </a:r>
          </a:p>
        </p:txBody>
      </p:sp>
      <p:sp>
        <p:nvSpPr>
          <p:cNvPr id="23" name="TextBox 22"/>
          <p:cNvSpPr txBox="1"/>
          <p:nvPr/>
        </p:nvSpPr>
        <p:spPr>
          <a:xfrm>
            <a:off x="6172200" y="5148072"/>
            <a:ext cx="5440680" cy="841248"/>
          </a:xfrm>
          <a:prstGeom prst="rect">
            <a:avLst/>
          </a:prstGeom>
          <a:noFill/>
        </p:spPr>
        <p:txBody>
          <a:bodyPr wrap="square" anchor="t" lIns="45720" rIns="45720" tIns="27432" bIns="27432">
            <a:spAutoFit/>
          </a:bodyPr>
          <a:lstStyle/>
          <a:p>
            <a:pPr algn="l"/>
            <a:r>
              <a:rPr sz="1300" b="1">
                <a:solidFill>
                  <a:srgbClr val="1E2761"/>
                </a:solidFill>
                <a:latin typeface="Calibri"/>
              </a:rPr>
              <a:t>Commits and pushes to main</a:t>
            </a:r>
          </a:p>
          <a:p>
            <a:pPr algn="l"/>
            <a:r>
              <a:rPr sz="1200" b="0">
                <a:solidFill>
                  <a:srgbClr val="1F1F2E"/>
                </a:solidFill>
                <a:latin typeface="Calibri"/>
              </a:rPr>
              <a:t>git commit, then git push origin HEAD:main. Prints 'Pushed.' when done.</a:t>
            </a:r>
          </a:p>
        </p:txBody>
      </p:sp>
      <p:sp>
        <p:nvSpPr>
          <p:cNvPr id="24" name="Rectangle 23"/>
          <p:cNvSpPr/>
          <p:nvPr/>
        </p:nvSpPr>
        <p:spPr>
          <a:xfrm>
            <a:off x="5669280" y="6035040"/>
            <a:ext cx="5971032" cy="274320"/>
          </a:xfrm>
          <a:prstGeom prst="rect">
            <a:avLst/>
          </a:prstGeom>
          <a:solidFill>
            <a:srgbClr val="FD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760720" y="6035040"/>
            <a:ext cx="5852160" cy="274320"/>
          </a:xfrm>
          <a:prstGeom prst="rect">
            <a:avLst/>
          </a:prstGeom>
          <a:noFill/>
        </p:spPr>
        <p:txBody>
          <a:bodyPr wrap="square" anchor="ctr" lIns="45720" rIns="45720" tIns="27432" bIns="27432">
            <a:spAutoFit/>
          </a:bodyPr>
          <a:lstStyle/>
          <a:p>
            <a:pPr algn="l"/>
            <a:r>
              <a:rPr sz="1050" b="1">
                <a:solidFill>
                  <a:srgbClr val="E08A1E"/>
                </a:solidFill>
                <a:latin typeface="Calibri"/>
              </a:rPr>
              <a:t>If it reports an error, do not re-run blindly: paste the message into Copilot and ask what to do.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7315200" cy="274320"/>
          </a:xfrm>
          <a:prstGeom prst="rect">
            <a:avLst/>
          </a:prstGeom>
          <a:noFill/>
        </p:spPr>
        <p:txBody>
          <a:bodyPr wrap="square" anchor="t" lIns="45720" rIns="45720" tIns="27432" bIns="27432">
            <a:spAutoFit/>
          </a:bodyPr>
          <a:lstStyle/>
          <a:p>
            <a:pPr algn="l"/>
            <a:r>
              <a:rPr sz="1200" b="1">
                <a:solidFill>
                  <a:srgbClr val="0F7B6C"/>
                </a:solidFill>
                <a:latin typeface="Calibri"/>
              </a:rPr>
              <a:t>APPENDIX 1 · ACCESS AND CREDITS</a:t>
            </a:r>
          </a:p>
        </p:txBody>
      </p:sp>
      <p:sp>
        <p:nvSpPr>
          <p:cNvPr id="3" name="TextBox 2"/>
          <p:cNvSpPr txBox="1"/>
          <p:nvPr/>
        </p:nvSpPr>
        <p:spPr>
          <a:xfrm>
            <a:off x="548640" y="502920"/>
            <a:ext cx="11064240" cy="685800"/>
          </a:xfrm>
          <a:prstGeom prst="rect">
            <a:avLst/>
          </a:prstGeom>
          <a:noFill/>
        </p:spPr>
        <p:txBody>
          <a:bodyPr wrap="square" anchor="t" lIns="45720" rIns="45720" tIns="27432" bIns="27432">
            <a:spAutoFit/>
          </a:bodyPr>
          <a:lstStyle/>
          <a:p>
            <a:pPr algn="l"/>
            <a:r>
              <a:rPr sz="3000" b="0">
                <a:solidFill>
                  <a:srgbClr val="1E2761"/>
                </a:solidFill>
                <a:latin typeface="Cambria"/>
              </a:rPr>
              <a:t>Personal or enterprise subscription, and how credits work</a:t>
            </a:r>
          </a:p>
        </p:txBody>
      </p:sp>
      <p:sp>
        <p:nvSpPr>
          <p:cNvPr id="4" name="TextBox 3"/>
          <p:cNvSpPr txBox="1"/>
          <p:nvPr/>
        </p:nvSpPr>
        <p:spPr>
          <a:xfrm>
            <a:off x="548640" y="6473952"/>
            <a:ext cx="8686800" cy="228600"/>
          </a:xfrm>
          <a:prstGeom prst="rect">
            <a:avLst/>
          </a:prstGeom>
          <a:noFill/>
        </p:spPr>
        <p:txBody>
          <a:bodyPr wrap="square" anchor="t" lIns="45720" rIns="45720" tIns="27432" bIns="27432">
            <a:spAutoFit/>
          </a:bodyPr>
          <a:lstStyle/>
          <a:p>
            <a:pPr algn="l"/>
            <a:r>
              <a:rPr sz="900" b="0">
                <a:solidFill>
                  <a:srgbClr val="5C667A"/>
                </a:solidFill>
                <a:latin typeface="Calibri"/>
              </a:rPr>
              <a:t>Using GitHub Copilot with our repositories: user guide   ·   Screens and model names change over time</a:t>
            </a:r>
          </a:p>
        </p:txBody>
      </p:sp>
      <p:sp>
        <p:nvSpPr>
          <p:cNvPr id="5" name="Rectangle 4"/>
          <p:cNvSpPr/>
          <p:nvPr/>
        </p:nvSpPr>
        <p:spPr>
          <a:xfrm>
            <a:off x="548640" y="1371600"/>
            <a:ext cx="5394960" cy="27432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77240" y="1463040"/>
            <a:ext cx="5029200" cy="365760"/>
          </a:xfrm>
          <a:prstGeom prst="rect">
            <a:avLst/>
          </a:prstGeom>
          <a:noFill/>
        </p:spPr>
        <p:txBody>
          <a:bodyPr wrap="square" anchor="t" lIns="45720" rIns="45720" tIns="27432" bIns="27432">
            <a:spAutoFit/>
          </a:bodyPr>
          <a:lstStyle/>
          <a:p>
            <a:pPr algn="l"/>
            <a:r>
              <a:rPr sz="1600" b="1">
                <a:solidFill>
                  <a:srgbClr val="1E2761"/>
                </a:solidFill>
                <a:latin typeface="Calibri"/>
              </a:rPr>
              <a:t>Personal (Copilot Pro / Pro+)</a:t>
            </a:r>
          </a:p>
        </p:txBody>
      </p:sp>
      <p:sp>
        <p:nvSpPr>
          <p:cNvPr id="7" name="TextBox 6"/>
          <p:cNvSpPr txBox="1"/>
          <p:nvPr/>
        </p:nvSpPr>
        <p:spPr>
          <a:xfrm>
            <a:off x="777240" y="1874519"/>
            <a:ext cx="4937760" cy="2194560"/>
          </a:xfrm>
          <a:prstGeom prst="rect">
            <a:avLst/>
          </a:prstGeom>
          <a:noFill/>
        </p:spPr>
        <p:txBody>
          <a:bodyPr wrap="square" anchor="t" lIns="45720" rIns="45720" tIns="27432" bIns="27432">
            <a:spAutoFit/>
          </a:bodyPr>
          <a:lstStyle/>
          <a:p>
            <a:pPr algn="l"/>
            <a:r>
              <a:rPr sz="1250" b="0">
                <a:solidFill>
                  <a:srgbClr val="1F1F2E"/>
                </a:solidFill>
                <a:latin typeface="Calibri"/>
              </a:rPr>
              <a:t>•  Bought by you on your own GitHub account, monthly.</a:t>
            </a:r>
          </a:p>
          <a:p>
            <a:pPr algn="l">
              <a:spcBef>
                <a:spcPts val="400"/>
              </a:spcBef>
            </a:pPr>
            <a:r>
              <a:rPr sz="1250" b="0">
                <a:solidFill>
                  <a:srgbClr val="1F1F2E"/>
                </a:solidFill>
                <a:latin typeface="Calibri"/>
              </a:rPr>
              <a:t>•  Quick to start; fine for trying things or for a personal project.</a:t>
            </a:r>
          </a:p>
          <a:p>
            <a:pPr algn="l">
              <a:spcBef>
                <a:spcPts val="400"/>
              </a:spcBef>
            </a:pPr>
            <a:r>
              <a:rPr sz="1250" b="0">
                <a:solidFill>
                  <a:srgbClr val="1F1F2E"/>
                </a:solidFill>
                <a:latin typeface="Calibri"/>
              </a:rPr>
              <a:t>•  Monthly allowance of premium requests is yours alone; top-ups come off your card.</a:t>
            </a:r>
          </a:p>
          <a:p>
            <a:pPr algn="l">
              <a:spcBef>
                <a:spcPts val="400"/>
              </a:spcBef>
            </a:pPr>
            <a:r>
              <a:rPr sz="1250" b="0">
                <a:solidFill>
                  <a:srgbClr val="1F1F2E"/>
                </a:solidFill>
                <a:latin typeface="Calibri"/>
              </a:rPr>
              <a:t>•  Not covered by the organisation's data agreements.</a:t>
            </a:r>
          </a:p>
        </p:txBody>
      </p:sp>
      <p:sp>
        <p:nvSpPr>
          <p:cNvPr id="8" name="Rectangle 7"/>
          <p:cNvSpPr/>
          <p:nvPr/>
        </p:nvSpPr>
        <p:spPr>
          <a:xfrm>
            <a:off x="6217920" y="1371600"/>
            <a:ext cx="5422392" cy="2743200"/>
          </a:xfrm>
          <a:prstGeom prst="rect">
            <a:avLst/>
          </a:prstGeom>
          <a:solidFill>
            <a:srgbClr val="E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446520" y="1463040"/>
            <a:ext cx="3291840" cy="365760"/>
          </a:xfrm>
          <a:prstGeom prst="rect">
            <a:avLst/>
          </a:prstGeom>
          <a:noFill/>
        </p:spPr>
        <p:txBody>
          <a:bodyPr wrap="square" anchor="t" lIns="45720" rIns="45720" tIns="27432" bIns="27432">
            <a:spAutoFit/>
          </a:bodyPr>
          <a:lstStyle/>
          <a:p>
            <a:pPr algn="l"/>
            <a:r>
              <a:rPr sz="1600" b="1">
                <a:solidFill>
                  <a:srgbClr val="0F7B6C"/>
                </a:solidFill>
                <a:latin typeface="Calibri"/>
              </a:rPr>
              <a:t>Enterprise (Business / Enterprise)</a:t>
            </a:r>
          </a:p>
        </p:txBody>
      </p:sp>
      <p:sp>
        <p:nvSpPr>
          <p:cNvPr id="10" name="Rounded Rectangle 9"/>
          <p:cNvSpPr/>
          <p:nvPr/>
        </p:nvSpPr>
        <p:spPr>
          <a:xfrm>
            <a:off x="9646920" y="1481328"/>
            <a:ext cx="1828800" cy="310896"/>
          </a:xfrm>
          <a:prstGeom prst="roundRect">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646920" y="1481328"/>
            <a:ext cx="1828800" cy="310896"/>
          </a:xfrm>
          <a:prstGeom prst="rect">
            <a:avLst/>
          </a:prstGeom>
          <a:noFill/>
        </p:spPr>
        <p:txBody>
          <a:bodyPr wrap="square" anchor="ctr" lIns="45720" rIns="45720" tIns="27432" bIns="27432">
            <a:spAutoFit/>
          </a:bodyPr>
          <a:lstStyle/>
          <a:p>
            <a:pPr algn="ctr"/>
            <a:r>
              <a:rPr sz="1050" b="1">
                <a:solidFill>
                  <a:srgbClr val="FFFFFF"/>
                </a:solidFill>
                <a:latin typeface="Calibri"/>
              </a:rPr>
              <a:t>Usually the way forward</a:t>
            </a:r>
          </a:p>
        </p:txBody>
      </p:sp>
      <p:sp>
        <p:nvSpPr>
          <p:cNvPr id="12" name="TextBox 11"/>
          <p:cNvSpPr txBox="1"/>
          <p:nvPr/>
        </p:nvSpPr>
        <p:spPr>
          <a:xfrm>
            <a:off x="6446520" y="1874519"/>
            <a:ext cx="5029200" cy="2194560"/>
          </a:xfrm>
          <a:prstGeom prst="rect">
            <a:avLst/>
          </a:prstGeom>
          <a:noFill/>
        </p:spPr>
        <p:txBody>
          <a:bodyPr wrap="square" anchor="t" lIns="45720" rIns="45720" tIns="27432" bIns="27432">
            <a:spAutoFit/>
          </a:bodyPr>
          <a:lstStyle/>
          <a:p>
            <a:pPr algn="l"/>
            <a:r>
              <a:rPr sz="1250" b="0">
                <a:solidFill>
                  <a:srgbClr val="1F1F2E"/>
                </a:solidFill>
                <a:latin typeface="Calibri"/>
              </a:rPr>
              <a:t>•  Supported by the Bank, with billing integrated to the unit. Your seat comes via the WBG GitHub organisation.</a:t>
            </a:r>
          </a:p>
          <a:p>
            <a:pPr algn="l">
              <a:spcBef>
                <a:spcPts val="400"/>
              </a:spcBef>
            </a:pPr>
            <a:r>
              <a:rPr sz="1250" b="0">
                <a:solidFill>
                  <a:srgbClr val="1F1F2E"/>
                </a:solidFill>
                <a:latin typeface="Calibri"/>
              </a:rPr>
              <a:t>•  Organisation-level data protection, policy controls and audit.</a:t>
            </a:r>
          </a:p>
          <a:p>
            <a:pPr algn="l">
              <a:spcBef>
                <a:spcPts val="400"/>
              </a:spcBef>
            </a:pPr>
            <a:r>
              <a:rPr sz="1250" b="0">
                <a:solidFill>
                  <a:srgbClr val="1F1F2E"/>
                </a:solidFill>
                <a:latin typeface="Calibri"/>
              </a:rPr>
              <a:t>•  Works on our cpmodel repos as well as WBG ones; the same login covers both.</a:t>
            </a:r>
          </a:p>
          <a:p>
            <a:pPr algn="l">
              <a:spcBef>
                <a:spcPts val="400"/>
              </a:spcBef>
            </a:pPr>
            <a:r>
              <a:rPr sz="1250" b="0">
                <a:solidFill>
                  <a:srgbClr val="1F1F2E"/>
                </a:solidFill>
                <a:latin typeface="Calibri"/>
              </a:rPr>
              <a:t>•  The default usage limit is small (about $19/month, a couple of hours of agent work) — ask for an increase (below).</a:t>
            </a:r>
          </a:p>
        </p:txBody>
      </p:sp>
      <p:sp>
        <p:nvSpPr>
          <p:cNvPr id="13" name="Rectangle 12"/>
          <p:cNvSpPr/>
          <p:nvPr/>
        </p:nvSpPr>
        <p:spPr>
          <a:xfrm>
            <a:off x="548640" y="4343400"/>
            <a:ext cx="11091672" cy="1920240"/>
          </a:xfrm>
          <a:prstGeom prst="rect">
            <a:avLst/>
          </a:prstGeom>
          <a:solidFill>
            <a:srgbClr val="FD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77240" y="4434840"/>
            <a:ext cx="10698480" cy="365760"/>
          </a:xfrm>
          <a:prstGeom prst="rect">
            <a:avLst/>
          </a:prstGeom>
          <a:noFill/>
        </p:spPr>
        <p:txBody>
          <a:bodyPr wrap="square" anchor="t" lIns="45720" rIns="45720" tIns="27432" bIns="27432">
            <a:spAutoFit/>
          </a:bodyPr>
          <a:lstStyle/>
          <a:p>
            <a:pPr algn="l"/>
            <a:r>
              <a:rPr sz="1600" b="1">
                <a:solidFill>
                  <a:srgbClr val="E08A1E"/>
                </a:solidFill>
                <a:latin typeface="Calibri"/>
              </a:rPr>
              <a:t>Credits: how usage is counted, and how to get more</a:t>
            </a:r>
          </a:p>
        </p:txBody>
      </p:sp>
      <p:sp>
        <p:nvSpPr>
          <p:cNvPr id="15" name="TextBox 14"/>
          <p:cNvSpPr txBox="1"/>
          <p:nvPr/>
        </p:nvSpPr>
        <p:spPr>
          <a:xfrm>
            <a:off x="777240" y="4846320"/>
            <a:ext cx="5212080" cy="1371600"/>
          </a:xfrm>
          <a:prstGeom prst="rect">
            <a:avLst/>
          </a:prstGeom>
          <a:noFill/>
        </p:spPr>
        <p:txBody>
          <a:bodyPr wrap="square" anchor="t" lIns="45720" rIns="45720" tIns="27432" bIns="27432">
            <a:spAutoFit/>
          </a:bodyPr>
          <a:lstStyle/>
          <a:p>
            <a:pPr algn="l"/>
            <a:r>
              <a:rPr sz="1250" b="0">
                <a:solidFill>
                  <a:srgbClr val="1F1F2E"/>
                </a:solidFill>
                <a:latin typeface="Calibri"/>
              </a:rPr>
              <a:t>Every message to a premium model costs 'premium requests'. Bigger models cost more per request (Sonnet is cheap, Opus/Fable cost several times more). The app shows your remaining allowance.</a:t>
            </a:r>
          </a:p>
          <a:p>
            <a:pPr algn="l">
              <a:spcBef>
                <a:spcPts val="600"/>
              </a:spcBef>
            </a:pPr>
            <a:r>
              <a:rPr sz="1250" b="0">
                <a:solidFill>
                  <a:srgbClr val="1F1F2E"/>
                </a:solidFill>
                <a:latin typeface="Calibri"/>
              </a:rPr>
              <a:t>Agent sessions that run for a long time use more; Plan mode and smaller models stretch the budget.</a:t>
            </a:r>
          </a:p>
        </p:txBody>
      </p:sp>
      <p:sp>
        <p:nvSpPr>
          <p:cNvPr id="16" name="Rectangle 15"/>
          <p:cNvSpPr/>
          <p:nvPr/>
        </p:nvSpPr>
        <p:spPr>
          <a:xfrm>
            <a:off x="6217920" y="4846320"/>
            <a:ext cx="5239512" cy="1280160"/>
          </a:xfrm>
          <a:prstGeom prst="rect">
            <a:avLst/>
          </a:prstGeom>
          <a:solidFill>
            <a:srgbClr val="FFFFFF"/>
          </a:solidFill>
          <a:ln w="9525">
            <a:solidFill>
              <a:srgbClr val="E08A1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00800" y="4892040"/>
            <a:ext cx="4937760" cy="1188720"/>
          </a:xfrm>
          <a:prstGeom prst="rect">
            <a:avLst/>
          </a:prstGeom>
          <a:noFill/>
        </p:spPr>
        <p:txBody>
          <a:bodyPr wrap="square" anchor="t" lIns="45720" rIns="45720" tIns="27432" bIns="27432">
            <a:spAutoFit/>
          </a:bodyPr>
          <a:lstStyle/>
          <a:p>
            <a:pPr algn="l"/>
            <a:r>
              <a:rPr sz="1300" b="1">
                <a:solidFill>
                  <a:srgbClr val="1E2761"/>
                </a:solidFill>
                <a:latin typeface="Calibri"/>
              </a:rPr>
              <a:t>Need more credits?  Email the central mailbox:</a:t>
            </a:r>
          </a:p>
          <a:p>
            <a:pPr algn="l">
              <a:spcBef>
                <a:spcPts val="400"/>
              </a:spcBef>
            </a:pPr>
            <a:r>
              <a:rPr sz="1300" b="1">
                <a:solidFill>
                  <a:srgbClr val="E08A1E"/>
                </a:solidFill>
                <a:latin typeface="Calibri"/>
              </a:rPr>
              <a:t>GitHub_Enterprise_Admin@worldbankgroup.org</a:t>
            </a:r>
          </a:p>
          <a:p>
            <a:pPr algn="l">
              <a:spcBef>
                <a:spcPts val="400"/>
              </a:spcBef>
            </a:pPr>
            <a:r>
              <a:rPr sz="1150" b="0">
                <a:solidFill>
                  <a:srgbClr val="1F1F2E"/>
                </a:solidFill>
                <a:latin typeface="Calibri"/>
              </a:rPr>
              <a:t>Request an increased individual usage limit and include your GitHub username. Do this as soon as you join — the default allowance runs out fast.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7315200" cy="274320"/>
          </a:xfrm>
          <a:prstGeom prst="rect">
            <a:avLst/>
          </a:prstGeom>
          <a:noFill/>
        </p:spPr>
        <p:txBody>
          <a:bodyPr wrap="square" anchor="t" lIns="45720" rIns="45720" tIns="27432" bIns="27432">
            <a:spAutoFit/>
          </a:bodyPr>
          <a:lstStyle/>
          <a:p>
            <a:pPr algn="l"/>
            <a:r>
              <a:rPr sz="1200" b="1">
                <a:solidFill>
                  <a:srgbClr val="0F7B6C"/>
                </a:solidFill>
                <a:latin typeface="Calibri"/>
              </a:rPr>
              <a:t>APPENDIX 1 · THE COPILOT APP</a:t>
            </a:r>
          </a:p>
        </p:txBody>
      </p:sp>
      <p:sp>
        <p:nvSpPr>
          <p:cNvPr id="3" name="TextBox 2"/>
          <p:cNvSpPr txBox="1"/>
          <p:nvPr/>
        </p:nvSpPr>
        <p:spPr>
          <a:xfrm>
            <a:off x="548640" y="502920"/>
            <a:ext cx="11064240" cy="685800"/>
          </a:xfrm>
          <a:prstGeom prst="rect">
            <a:avLst/>
          </a:prstGeom>
          <a:noFill/>
        </p:spPr>
        <p:txBody>
          <a:bodyPr wrap="square" anchor="t" lIns="45720" rIns="45720" tIns="27432" bIns="27432">
            <a:spAutoFit/>
          </a:bodyPr>
          <a:lstStyle/>
          <a:p>
            <a:pPr algn="l"/>
            <a:r>
              <a:rPr sz="3000" b="0">
                <a:solidFill>
                  <a:srgbClr val="1E2761"/>
                </a:solidFill>
                <a:latin typeface="Cambria"/>
              </a:rPr>
              <a:t>The Copilot app: what is where (schematic; your screen will differ)</a:t>
            </a:r>
          </a:p>
        </p:txBody>
      </p:sp>
      <p:sp>
        <p:nvSpPr>
          <p:cNvPr id="4" name="TextBox 3"/>
          <p:cNvSpPr txBox="1"/>
          <p:nvPr/>
        </p:nvSpPr>
        <p:spPr>
          <a:xfrm>
            <a:off x="548640" y="6473952"/>
            <a:ext cx="8686800" cy="228600"/>
          </a:xfrm>
          <a:prstGeom prst="rect">
            <a:avLst/>
          </a:prstGeom>
          <a:noFill/>
        </p:spPr>
        <p:txBody>
          <a:bodyPr wrap="square" anchor="t" lIns="45720" rIns="45720" tIns="27432" bIns="27432">
            <a:spAutoFit/>
          </a:bodyPr>
          <a:lstStyle/>
          <a:p>
            <a:pPr algn="l"/>
            <a:r>
              <a:rPr sz="900" b="0">
                <a:solidFill>
                  <a:srgbClr val="5C667A"/>
                </a:solidFill>
                <a:latin typeface="Calibri"/>
              </a:rPr>
              <a:t>Using GitHub Copilot with our repositories: user guide   ·   Screens and model names change over time</a:t>
            </a:r>
          </a:p>
        </p:txBody>
      </p:sp>
      <p:sp>
        <p:nvSpPr>
          <p:cNvPr id="5" name="Rectangle 4"/>
          <p:cNvSpPr/>
          <p:nvPr/>
        </p:nvSpPr>
        <p:spPr>
          <a:xfrm>
            <a:off x="548640" y="1371600"/>
            <a:ext cx="7589520" cy="4892040"/>
          </a:xfrm>
          <a:prstGeom prst="rect">
            <a:avLst/>
          </a:prstGeom>
          <a:solidFill>
            <a:srgbClr val="FFFFFF"/>
          </a:solidFill>
          <a:ln w="9525">
            <a:solidFill>
              <a:srgbClr val="D5DA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1371600"/>
            <a:ext cx="1737360" cy="4892040"/>
          </a:xfrm>
          <a:prstGeom prst="rect">
            <a:avLst/>
          </a:prstGeom>
          <a:solidFill>
            <a:srgbClr val="F0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640080" y="1463040"/>
            <a:ext cx="1554480" cy="274320"/>
          </a:xfrm>
          <a:prstGeom prst="roundRect">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0080" y="1463040"/>
            <a:ext cx="1554480" cy="274320"/>
          </a:xfrm>
          <a:prstGeom prst="rect">
            <a:avLst/>
          </a:prstGeom>
          <a:noFill/>
        </p:spPr>
        <p:txBody>
          <a:bodyPr wrap="square" anchor="ctr" lIns="45720" rIns="45720" tIns="27432" bIns="27432">
            <a:spAutoFit/>
          </a:bodyPr>
          <a:lstStyle/>
          <a:p>
            <a:pPr algn="ctr"/>
            <a:r>
              <a:rPr sz="1000" b="1">
                <a:solidFill>
                  <a:srgbClr val="FFFFFF"/>
                </a:solidFill>
                <a:latin typeface="Calibri"/>
              </a:rPr>
              <a:t>+ New session</a:t>
            </a:r>
          </a:p>
        </p:txBody>
      </p:sp>
      <p:sp>
        <p:nvSpPr>
          <p:cNvPr id="9" name="TextBox 8"/>
          <p:cNvSpPr txBox="1"/>
          <p:nvPr/>
        </p:nvSpPr>
        <p:spPr>
          <a:xfrm>
            <a:off x="640080" y="1874519"/>
            <a:ext cx="1554480" cy="274320"/>
          </a:xfrm>
          <a:prstGeom prst="rect">
            <a:avLst/>
          </a:prstGeom>
          <a:noFill/>
        </p:spPr>
        <p:txBody>
          <a:bodyPr wrap="square" anchor="t" lIns="45720" rIns="45720" tIns="27432" bIns="27432">
            <a:spAutoFit/>
          </a:bodyPr>
          <a:lstStyle/>
          <a:p>
            <a:pPr algn="l"/>
            <a:r>
              <a:rPr sz="850" b="1">
                <a:solidFill>
                  <a:srgbClr val="5C667A"/>
                </a:solidFill>
                <a:latin typeface="Calibri"/>
              </a:rPr>
              <a:t>PROJECTS</a:t>
            </a:r>
          </a:p>
        </p:txBody>
      </p:sp>
      <p:sp>
        <p:nvSpPr>
          <p:cNvPr id="10" name="TextBox 9"/>
          <p:cNvSpPr txBox="1"/>
          <p:nvPr/>
        </p:nvSpPr>
        <p:spPr>
          <a:xfrm>
            <a:off x="640080" y="2148840"/>
            <a:ext cx="1600200" cy="274320"/>
          </a:xfrm>
          <a:prstGeom prst="rect">
            <a:avLst/>
          </a:prstGeom>
          <a:noFill/>
        </p:spPr>
        <p:txBody>
          <a:bodyPr wrap="square" anchor="t" lIns="45720" rIns="45720" tIns="27432" bIns="27432">
            <a:spAutoFit/>
          </a:bodyPr>
          <a:lstStyle/>
          <a:p>
            <a:pPr algn="l"/>
            <a:r>
              <a:rPr sz="900" b="0">
                <a:solidFill>
                  <a:srgbClr val="1E2761"/>
                </a:solidFill>
                <a:latin typeface="Calibri"/>
              </a:rPr>
              <a:t>TaxMacroFiscalDashboard</a:t>
            </a:r>
          </a:p>
        </p:txBody>
      </p:sp>
      <p:sp>
        <p:nvSpPr>
          <p:cNvPr id="11" name="TextBox 10"/>
          <p:cNvSpPr txBox="1"/>
          <p:nvPr/>
        </p:nvSpPr>
        <p:spPr>
          <a:xfrm>
            <a:off x="640080" y="2423160"/>
            <a:ext cx="1600200" cy="274320"/>
          </a:xfrm>
          <a:prstGeom prst="rect">
            <a:avLst/>
          </a:prstGeom>
          <a:noFill/>
        </p:spPr>
        <p:txBody>
          <a:bodyPr wrap="square" anchor="t" lIns="45720" rIns="45720" tIns="27432" bIns="27432">
            <a:spAutoFit/>
          </a:bodyPr>
          <a:lstStyle/>
          <a:p>
            <a:pPr algn="l"/>
            <a:r>
              <a:rPr sz="900" b="0">
                <a:solidFill>
                  <a:srgbClr val="1F1F2E"/>
                </a:solidFill>
                <a:latin typeface="Calibri"/>
              </a:rPr>
              <a:t>  · Add Kenya data</a:t>
            </a:r>
          </a:p>
        </p:txBody>
      </p:sp>
      <p:sp>
        <p:nvSpPr>
          <p:cNvPr id="12" name="TextBox 11"/>
          <p:cNvSpPr txBox="1"/>
          <p:nvPr/>
        </p:nvSpPr>
        <p:spPr>
          <a:xfrm>
            <a:off x="640080" y="2697480"/>
            <a:ext cx="1600200" cy="274320"/>
          </a:xfrm>
          <a:prstGeom prst="rect">
            <a:avLst/>
          </a:prstGeom>
          <a:noFill/>
        </p:spPr>
        <p:txBody>
          <a:bodyPr wrap="square" anchor="t" lIns="45720" rIns="45720" tIns="27432" bIns="27432">
            <a:spAutoFit/>
          </a:bodyPr>
          <a:lstStyle/>
          <a:p>
            <a:pPr algn="l"/>
            <a:r>
              <a:rPr sz="900" b="0">
                <a:solidFill>
                  <a:srgbClr val="1F1F2E"/>
                </a:solidFill>
                <a:latin typeface="Calibri"/>
              </a:rPr>
              <a:t>  · Fix chart</a:t>
            </a:r>
          </a:p>
        </p:txBody>
      </p:sp>
      <p:sp>
        <p:nvSpPr>
          <p:cNvPr id="13" name="TextBox 12"/>
          <p:cNvSpPr txBox="1"/>
          <p:nvPr/>
        </p:nvSpPr>
        <p:spPr>
          <a:xfrm>
            <a:off x="640080" y="2971800"/>
            <a:ext cx="1600200" cy="274320"/>
          </a:xfrm>
          <a:prstGeom prst="rect">
            <a:avLst/>
          </a:prstGeom>
          <a:noFill/>
        </p:spPr>
        <p:txBody>
          <a:bodyPr wrap="square" anchor="t" lIns="45720" rIns="45720" tIns="27432" bIns="27432">
            <a:spAutoFit/>
          </a:bodyPr>
          <a:lstStyle/>
          <a:p>
            <a:pPr algn="l"/>
            <a:r>
              <a:rPr sz="900" b="0">
                <a:solidFill>
                  <a:srgbClr val="1E2761"/>
                </a:solidFill>
                <a:latin typeface="Calibri"/>
              </a:rPr>
              <a:t>ExciseDiagnostic</a:t>
            </a:r>
          </a:p>
        </p:txBody>
      </p:sp>
      <p:sp>
        <p:nvSpPr>
          <p:cNvPr id="14" name="TextBox 13"/>
          <p:cNvSpPr txBox="1"/>
          <p:nvPr/>
        </p:nvSpPr>
        <p:spPr>
          <a:xfrm>
            <a:off x="640080" y="3246120"/>
            <a:ext cx="1600200" cy="274320"/>
          </a:xfrm>
          <a:prstGeom prst="rect">
            <a:avLst/>
          </a:prstGeom>
          <a:noFill/>
        </p:spPr>
        <p:txBody>
          <a:bodyPr wrap="square" anchor="t" lIns="45720" rIns="45720" tIns="27432" bIns="27432">
            <a:spAutoFit/>
          </a:bodyPr>
          <a:lstStyle/>
          <a:p>
            <a:pPr algn="l"/>
            <a:r>
              <a:rPr sz="900" b="0">
                <a:solidFill>
                  <a:srgbClr val="1F1F2E"/>
                </a:solidFill>
                <a:latin typeface="Calibri"/>
              </a:rPr>
              <a:t>  · Uganda run</a:t>
            </a:r>
          </a:p>
        </p:txBody>
      </p:sp>
      <p:sp>
        <p:nvSpPr>
          <p:cNvPr id="15" name="TextBox 14"/>
          <p:cNvSpPr txBox="1"/>
          <p:nvPr/>
        </p:nvSpPr>
        <p:spPr>
          <a:xfrm>
            <a:off x="640080" y="3520440"/>
            <a:ext cx="1600200" cy="274320"/>
          </a:xfrm>
          <a:prstGeom prst="rect">
            <a:avLst/>
          </a:prstGeom>
          <a:noFill/>
        </p:spPr>
        <p:txBody>
          <a:bodyPr wrap="square" anchor="t" lIns="45720" rIns="45720" tIns="27432" bIns="27432">
            <a:spAutoFit/>
          </a:bodyPr>
          <a:lstStyle/>
          <a:p>
            <a:pPr algn="l"/>
            <a:r>
              <a:rPr sz="900" b="0">
                <a:solidFill>
                  <a:srgbClr val="1E2761"/>
                </a:solidFill>
                <a:latin typeface="Calibri"/>
              </a:rPr>
              <a:t>CPAT-Python</a:t>
            </a:r>
          </a:p>
        </p:txBody>
      </p:sp>
      <p:sp>
        <p:nvSpPr>
          <p:cNvPr id="16" name="TextBox 15"/>
          <p:cNvSpPr txBox="1"/>
          <p:nvPr/>
        </p:nvSpPr>
        <p:spPr>
          <a:xfrm>
            <a:off x="2423160" y="1444752"/>
            <a:ext cx="3291840" cy="274320"/>
          </a:xfrm>
          <a:prstGeom prst="rect">
            <a:avLst/>
          </a:prstGeom>
          <a:noFill/>
        </p:spPr>
        <p:txBody>
          <a:bodyPr wrap="square" anchor="t" lIns="45720" rIns="45720" tIns="27432" bIns="27432">
            <a:spAutoFit/>
          </a:bodyPr>
          <a:lstStyle/>
          <a:p>
            <a:pPr algn="l"/>
            <a:r>
              <a:rPr sz="900" b="0">
                <a:solidFill>
                  <a:srgbClr val="5C667A"/>
                </a:solidFill>
                <a:latin typeface="Calibri"/>
              </a:rPr>
              <a:t>Add Kenya data   ·   branch: main   ·   local</a:t>
            </a:r>
          </a:p>
        </p:txBody>
      </p:sp>
      <p:sp>
        <p:nvSpPr>
          <p:cNvPr id="17" name="Rounded Rectangle 16"/>
          <p:cNvSpPr/>
          <p:nvPr/>
        </p:nvSpPr>
        <p:spPr>
          <a:xfrm>
            <a:off x="2468880" y="1828800"/>
            <a:ext cx="3108960" cy="548640"/>
          </a:xfrm>
          <a:prstGeom prst="roundRect">
            <a:avLst/>
          </a:prstGeom>
          <a:solidFill>
            <a:srgbClr val="E8EE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2560320" y="1828800"/>
            <a:ext cx="2926080" cy="548640"/>
          </a:xfrm>
          <a:prstGeom prst="rect">
            <a:avLst/>
          </a:prstGeom>
          <a:noFill/>
        </p:spPr>
        <p:txBody>
          <a:bodyPr wrap="square" anchor="ctr" lIns="45720" rIns="45720" tIns="27432" bIns="27432">
            <a:spAutoFit/>
          </a:bodyPr>
          <a:lstStyle/>
          <a:p>
            <a:pPr algn="l"/>
            <a:r>
              <a:rPr sz="850" b="0">
                <a:solidFill>
                  <a:srgbClr val="1F1F2E"/>
                </a:solidFill>
                <a:latin typeface="Calibri"/>
              </a:rPr>
              <a:t>You: Add the new WEO file in raw_data to the database, following the IMF pattern.</a:t>
            </a:r>
          </a:p>
        </p:txBody>
      </p:sp>
      <p:sp>
        <p:nvSpPr>
          <p:cNvPr id="19" name="Rounded Rectangle 18"/>
          <p:cNvSpPr/>
          <p:nvPr/>
        </p:nvSpPr>
        <p:spPr>
          <a:xfrm>
            <a:off x="2468880" y="2514600"/>
            <a:ext cx="3108960" cy="1417320"/>
          </a:xfrm>
          <a:prstGeom prst="round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2560320" y="2560320"/>
            <a:ext cx="2926080" cy="1371600"/>
          </a:xfrm>
          <a:prstGeom prst="rect">
            <a:avLst/>
          </a:prstGeom>
          <a:noFill/>
        </p:spPr>
        <p:txBody>
          <a:bodyPr wrap="square" anchor="t" lIns="45720" rIns="45720" tIns="27432" bIns="27432">
            <a:spAutoFit/>
          </a:bodyPr>
          <a:lstStyle/>
          <a:p>
            <a:pPr algn="l"/>
            <a:r>
              <a:rPr sz="850" b="0">
                <a:solidFill>
                  <a:srgbClr val="1F1F2E"/>
                </a:solidFill>
                <a:latin typeface="Calibri"/>
              </a:rPr>
              <a:t>Copilot: Plan — 1) inspect file, 2) add loader like imf_weo.py, 3) add row to config\indicators.csv, 4) rebuild, 5) check Kenya.</a:t>
            </a:r>
          </a:p>
          <a:p>
            <a:pPr algn="l">
              <a:spcBef>
                <a:spcPts val="400"/>
              </a:spcBef>
            </a:pPr>
            <a:r>
              <a:rPr sz="850" b="0">
                <a:solidFill>
                  <a:srgbClr val="0F7B6C"/>
                </a:solidFill>
                <a:latin typeface="Calibri"/>
              </a:rPr>
              <a:t>▶ Ran: python build_db.py   ✓</a:t>
            </a:r>
          </a:p>
          <a:p>
            <a:pPr algn="l">
              <a:spcBef>
                <a:spcPts val="400"/>
              </a:spcBef>
            </a:pPr>
            <a:r>
              <a:rPr sz="850" b="0">
                <a:solidFill>
                  <a:srgbClr val="1F1F2E"/>
                </a:solidFill>
                <a:latin typeface="Calibri"/>
              </a:rPr>
              <a:t>Edited 2 files. Review the diff on the right. Shall I commit?</a:t>
            </a:r>
          </a:p>
        </p:txBody>
      </p:sp>
      <p:sp>
        <p:nvSpPr>
          <p:cNvPr id="21" name="Rounded Rectangle 20"/>
          <p:cNvSpPr/>
          <p:nvPr/>
        </p:nvSpPr>
        <p:spPr>
          <a:xfrm>
            <a:off x="2468880" y="5120640"/>
            <a:ext cx="3108960" cy="640080"/>
          </a:xfrm>
          <a:prstGeom prst="roundRect">
            <a:avLst/>
          </a:prstGeom>
          <a:solidFill>
            <a:srgbClr val="FFFFFF"/>
          </a:solidFill>
          <a:ln w="9525">
            <a:solidFill>
              <a:srgbClr val="D5DA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2560320" y="5120640"/>
            <a:ext cx="2926080" cy="640080"/>
          </a:xfrm>
          <a:prstGeom prst="rect">
            <a:avLst/>
          </a:prstGeom>
          <a:noFill/>
        </p:spPr>
        <p:txBody>
          <a:bodyPr wrap="square" anchor="ctr" lIns="45720" rIns="45720" tIns="27432" bIns="27432">
            <a:spAutoFit/>
          </a:bodyPr>
          <a:lstStyle/>
          <a:p>
            <a:pPr algn="l"/>
            <a:r>
              <a:rPr sz="900" b="0">
                <a:solidFill>
                  <a:srgbClr val="5C667A"/>
                </a:solidFill>
                <a:latin typeface="Calibri"/>
              </a:rPr>
              <a:t>Type a message…</a:t>
            </a:r>
          </a:p>
        </p:txBody>
      </p:sp>
      <p:sp>
        <p:nvSpPr>
          <p:cNvPr id="23" name="Rounded Rectangle 22"/>
          <p:cNvSpPr/>
          <p:nvPr/>
        </p:nvSpPr>
        <p:spPr>
          <a:xfrm>
            <a:off x="2468880" y="5852159"/>
            <a:ext cx="1051560" cy="274320"/>
          </a:xfrm>
          <a:prstGeom prst="roundRect">
            <a:avLst/>
          </a:prstGeom>
          <a:solidFill>
            <a:srgbClr val="F0F2F7"/>
          </a:solidFill>
          <a:ln w="9525">
            <a:solidFill>
              <a:srgbClr val="D5DA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2468880" y="5852159"/>
            <a:ext cx="1051560" cy="274320"/>
          </a:xfrm>
          <a:prstGeom prst="rect">
            <a:avLst/>
          </a:prstGeom>
          <a:noFill/>
        </p:spPr>
        <p:txBody>
          <a:bodyPr wrap="square" anchor="ctr" lIns="45720" rIns="45720" tIns="27432" bIns="27432">
            <a:spAutoFit/>
          </a:bodyPr>
          <a:lstStyle/>
          <a:p>
            <a:pPr algn="ctr"/>
            <a:r>
              <a:rPr sz="850" b="1">
                <a:solidFill>
                  <a:srgbClr val="1E2761"/>
                </a:solidFill>
                <a:latin typeface="Calibri"/>
              </a:rPr>
              <a:t>Claude Sonnet ▾</a:t>
            </a:r>
          </a:p>
        </p:txBody>
      </p:sp>
      <p:sp>
        <p:nvSpPr>
          <p:cNvPr id="25" name="Rounded Rectangle 24"/>
          <p:cNvSpPr/>
          <p:nvPr/>
        </p:nvSpPr>
        <p:spPr>
          <a:xfrm>
            <a:off x="3611880" y="5852159"/>
            <a:ext cx="868680" cy="274320"/>
          </a:xfrm>
          <a:prstGeom prst="roundRect">
            <a:avLst/>
          </a:prstGeom>
          <a:solidFill>
            <a:srgbClr val="F0F2F7"/>
          </a:solidFill>
          <a:ln w="9525">
            <a:solidFill>
              <a:srgbClr val="D5DA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3611880" y="5852159"/>
            <a:ext cx="868680" cy="274320"/>
          </a:xfrm>
          <a:prstGeom prst="rect">
            <a:avLst/>
          </a:prstGeom>
          <a:noFill/>
        </p:spPr>
        <p:txBody>
          <a:bodyPr wrap="square" anchor="ctr" lIns="45720" rIns="45720" tIns="27432" bIns="27432">
            <a:spAutoFit/>
          </a:bodyPr>
          <a:lstStyle/>
          <a:p>
            <a:pPr algn="ctr"/>
            <a:r>
              <a:rPr sz="850" b="1">
                <a:solidFill>
                  <a:srgbClr val="1E2761"/>
                </a:solidFill>
                <a:latin typeface="Calibri"/>
              </a:rPr>
              <a:t>Interactive ▾</a:t>
            </a:r>
          </a:p>
        </p:txBody>
      </p:sp>
      <p:sp>
        <p:nvSpPr>
          <p:cNvPr id="27" name="Rounded Rectangle 26"/>
          <p:cNvSpPr/>
          <p:nvPr/>
        </p:nvSpPr>
        <p:spPr>
          <a:xfrm>
            <a:off x="4572000" y="5852159"/>
            <a:ext cx="548640" cy="274320"/>
          </a:xfrm>
          <a:prstGeom prst="roundRect">
            <a:avLst/>
          </a:prstGeom>
          <a:solidFill>
            <a:srgbClr val="F0F2F7"/>
          </a:solidFill>
          <a:ln w="9525">
            <a:solidFill>
              <a:srgbClr val="D5DA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4572000" y="5852159"/>
            <a:ext cx="548640" cy="274320"/>
          </a:xfrm>
          <a:prstGeom prst="rect">
            <a:avLst/>
          </a:prstGeom>
          <a:noFill/>
        </p:spPr>
        <p:txBody>
          <a:bodyPr wrap="square" anchor="ctr" lIns="45720" rIns="45720" tIns="27432" bIns="27432">
            <a:spAutoFit/>
          </a:bodyPr>
          <a:lstStyle/>
          <a:p>
            <a:pPr algn="ctr"/>
            <a:r>
              <a:rPr sz="850" b="1">
                <a:solidFill>
                  <a:srgbClr val="1E2761"/>
                </a:solidFill>
                <a:latin typeface="Calibri"/>
              </a:rPr>
              <a:t>Attach</a:t>
            </a:r>
          </a:p>
        </p:txBody>
      </p:sp>
      <p:sp>
        <p:nvSpPr>
          <p:cNvPr id="29" name="Rectangle 28"/>
          <p:cNvSpPr/>
          <p:nvPr/>
        </p:nvSpPr>
        <p:spPr>
          <a:xfrm>
            <a:off x="5760720" y="1371600"/>
            <a:ext cx="2377439" cy="4892040"/>
          </a:xfrm>
          <a:prstGeom prst="rect">
            <a:avLst/>
          </a:prstGeom>
          <a:solidFill>
            <a:srgbClr val="FA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5760720" y="1371600"/>
            <a:ext cx="2377439" cy="320040"/>
          </a:xfrm>
          <a:prstGeom prst="rect">
            <a:avLst/>
          </a:prstGeom>
          <a:solidFill>
            <a:srgbClr val="F0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852160" y="1371600"/>
            <a:ext cx="2194560" cy="320040"/>
          </a:xfrm>
          <a:prstGeom prst="rect">
            <a:avLst/>
          </a:prstGeom>
          <a:noFill/>
        </p:spPr>
        <p:txBody>
          <a:bodyPr wrap="square" anchor="ctr" lIns="45720" rIns="45720" tIns="27432" bIns="27432">
            <a:spAutoFit/>
          </a:bodyPr>
          <a:lstStyle/>
          <a:p>
            <a:pPr algn="l"/>
            <a:r>
              <a:rPr sz="900" b="1">
                <a:solidFill>
                  <a:srgbClr val="1E2761"/>
                </a:solidFill>
                <a:latin typeface="Calibri"/>
              </a:rPr>
              <a:t>Changes (2 files)</a:t>
            </a:r>
          </a:p>
        </p:txBody>
      </p:sp>
      <p:sp>
        <p:nvSpPr>
          <p:cNvPr id="32" name="TextBox 31"/>
          <p:cNvSpPr txBox="1"/>
          <p:nvPr/>
        </p:nvSpPr>
        <p:spPr>
          <a:xfrm>
            <a:off x="5852160" y="1783080"/>
            <a:ext cx="2194560" cy="274320"/>
          </a:xfrm>
          <a:prstGeom prst="rect">
            <a:avLst/>
          </a:prstGeom>
          <a:noFill/>
        </p:spPr>
        <p:txBody>
          <a:bodyPr wrap="square" anchor="t" lIns="45720" rIns="45720" tIns="27432" bIns="27432">
            <a:spAutoFit/>
          </a:bodyPr>
          <a:lstStyle/>
          <a:p>
            <a:pPr algn="l"/>
            <a:r>
              <a:rPr sz="850" b="0">
                <a:solidFill>
                  <a:srgbClr val="1F1F2E"/>
                </a:solidFill>
                <a:latin typeface="Calibri"/>
              </a:rPr>
              <a:t>src/loaders/imf_weo_kenya.py</a:t>
            </a:r>
          </a:p>
        </p:txBody>
      </p:sp>
      <p:sp>
        <p:nvSpPr>
          <p:cNvPr id="33" name="Rectangle 32"/>
          <p:cNvSpPr/>
          <p:nvPr/>
        </p:nvSpPr>
        <p:spPr>
          <a:xfrm>
            <a:off x="5852160" y="2103120"/>
            <a:ext cx="2194559" cy="256032"/>
          </a:xfrm>
          <a:prstGeom prst="rect">
            <a:avLst/>
          </a:prstGeom>
          <a:solidFill>
            <a:srgbClr val="E6F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870448" y="2103120"/>
            <a:ext cx="2157983" cy="256032"/>
          </a:xfrm>
          <a:prstGeom prst="rect">
            <a:avLst/>
          </a:prstGeom>
          <a:noFill/>
        </p:spPr>
        <p:txBody>
          <a:bodyPr wrap="square" anchor="ctr" lIns="45720" rIns="45720" tIns="27432" bIns="27432">
            <a:spAutoFit/>
          </a:bodyPr>
          <a:lstStyle/>
          <a:p>
            <a:pPr algn="l"/>
            <a:r>
              <a:rPr sz="800" b="0">
                <a:solidFill>
                  <a:srgbClr val="1F1F2E"/>
                </a:solidFill>
                <a:latin typeface="Consolas"/>
              </a:rPr>
              <a:t>+ def load_weo(path):</a:t>
            </a:r>
          </a:p>
        </p:txBody>
      </p:sp>
      <p:sp>
        <p:nvSpPr>
          <p:cNvPr id="35" name="Rectangle 34"/>
          <p:cNvSpPr/>
          <p:nvPr/>
        </p:nvSpPr>
        <p:spPr>
          <a:xfrm>
            <a:off x="5852160" y="2377439"/>
            <a:ext cx="2194559" cy="256032"/>
          </a:xfrm>
          <a:prstGeom prst="rect">
            <a:avLst/>
          </a:prstGeom>
          <a:solidFill>
            <a:srgbClr val="E6F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5870448" y="2377439"/>
            <a:ext cx="2157983" cy="256032"/>
          </a:xfrm>
          <a:prstGeom prst="rect">
            <a:avLst/>
          </a:prstGeom>
          <a:noFill/>
        </p:spPr>
        <p:txBody>
          <a:bodyPr wrap="square" anchor="ctr" lIns="45720" rIns="45720" tIns="27432" bIns="27432">
            <a:spAutoFit/>
          </a:bodyPr>
          <a:lstStyle/>
          <a:p>
            <a:pPr algn="l"/>
            <a:r>
              <a:rPr sz="800" b="0">
                <a:solidFill>
                  <a:srgbClr val="1F1F2E"/>
                </a:solidFill>
                <a:latin typeface="Consolas"/>
              </a:rPr>
              <a:t>+     df = pd.read_csv(path)</a:t>
            </a:r>
          </a:p>
        </p:txBody>
      </p:sp>
      <p:sp>
        <p:nvSpPr>
          <p:cNvPr id="37" name="Rectangle 36"/>
          <p:cNvSpPr/>
          <p:nvPr/>
        </p:nvSpPr>
        <p:spPr>
          <a:xfrm>
            <a:off x="5852160" y="2651760"/>
            <a:ext cx="2194559" cy="256032"/>
          </a:xfrm>
          <a:prstGeom prst="rect">
            <a:avLst/>
          </a:prstGeom>
          <a:solidFill>
            <a:srgbClr val="E6F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5870448" y="2651760"/>
            <a:ext cx="2157983" cy="256032"/>
          </a:xfrm>
          <a:prstGeom prst="rect">
            <a:avLst/>
          </a:prstGeom>
          <a:noFill/>
        </p:spPr>
        <p:txBody>
          <a:bodyPr wrap="square" anchor="ctr" lIns="45720" rIns="45720" tIns="27432" bIns="27432">
            <a:spAutoFit/>
          </a:bodyPr>
          <a:lstStyle/>
          <a:p>
            <a:pPr algn="l"/>
            <a:r>
              <a:rPr sz="800" b="0">
                <a:solidFill>
                  <a:srgbClr val="1F1F2E"/>
                </a:solidFill>
                <a:latin typeface="Consolas"/>
              </a:rPr>
              <a:t>+     return tidy(df)</a:t>
            </a:r>
          </a:p>
        </p:txBody>
      </p:sp>
      <p:sp>
        <p:nvSpPr>
          <p:cNvPr id="39" name="Rectangle 38"/>
          <p:cNvSpPr/>
          <p:nvPr/>
        </p:nvSpPr>
        <p:spPr>
          <a:xfrm>
            <a:off x="5852160" y="2926079"/>
            <a:ext cx="2194559" cy="256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870448" y="2926079"/>
            <a:ext cx="2157983" cy="256032"/>
          </a:xfrm>
          <a:prstGeom prst="rect">
            <a:avLst/>
          </a:prstGeom>
          <a:noFill/>
        </p:spPr>
        <p:txBody>
          <a:bodyPr wrap="square" anchor="ctr" lIns="45720" rIns="45720" tIns="27432" bIns="27432">
            <a:spAutoFit/>
          </a:bodyPr>
          <a:lstStyle/>
          <a:p>
            <a:pPr algn="l"/>
            <a:r>
              <a:rPr sz="800" b="0">
                <a:solidFill>
                  <a:srgbClr val="1F1F2E"/>
                </a:solidFill>
                <a:latin typeface="Consolas"/>
              </a:rPr>
              <a:t>  config/indicators.csv</a:t>
            </a:r>
          </a:p>
        </p:txBody>
      </p:sp>
      <p:sp>
        <p:nvSpPr>
          <p:cNvPr id="41" name="Rectangle 40"/>
          <p:cNvSpPr/>
          <p:nvPr/>
        </p:nvSpPr>
        <p:spPr>
          <a:xfrm>
            <a:off x="5852160" y="3200400"/>
            <a:ext cx="2194559" cy="256032"/>
          </a:xfrm>
          <a:prstGeom prst="rect">
            <a:avLst/>
          </a:prstGeom>
          <a:solidFill>
            <a:srgbClr val="E6F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5870448" y="3200400"/>
            <a:ext cx="2157983" cy="256032"/>
          </a:xfrm>
          <a:prstGeom prst="rect">
            <a:avLst/>
          </a:prstGeom>
          <a:noFill/>
        </p:spPr>
        <p:txBody>
          <a:bodyPr wrap="square" anchor="ctr" lIns="45720" rIns="45720" tIns="27432" bIns="27432">
            <a:spAutoFit/>
          </a:bodyPr>
          <a:lstStyle/>
          <a:p>
            <a:pPr algn="l"/>
            <a:r>
              <a:rPr sz="800" b="0">
                <a:solidFill>
                  <a:srgbClr val="1F1F2E"/>
                </a:solidFill>
                <a:latin typeface="Consolas"/>
              </a:rPr>
              <a:t>+ WEO_GDP,IMF WEO,Kenya,…</a:t>
            </a:r>
          </a:p>
        </p:txBody>
      </p:sp>
      <p:sp>
        <p:nvSpPr>
          <p:cNvPr id="43" name="Rectangle 42"/>
          <p:cNvSpPr/>
          <p:nvPr/>
        </p:nvSpPr>
        <p:spPr>
          <a:xfrm>
            <a:off x="5852160" y="3474720"/>
            <a:ext cx="2194559" cy="256032"/>
          </a:xfrm>
          <a:prstGeom prst="rect">
            <a:avLst/>
          </a:prstGeom>
          <a:solidFill>
            <a:srgbClr val="FBE7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5870448" y="3474720"/>
            <a:ext cx="2157983" cy="256032"/>
          </a:xfrm>
          <a:prstGeom prst="rect">
            <a:avLst/>
          </a:prstGeom>
          <a:noFill/>
        </p:spPr>
        <p:txBody>
          <a:bodyPr wrap="square" anchor="ctr" lIns="45720" rIns="45720" tIns="27432" bIns="27432">
            <a:spAutoFit/>
          </a:bodyPr>
          <a:lstStyle/>
          <a:p>
            <a:pPr algn="l"/>
            <a:r>
              <a:rPr sz="800" b="0">
                <a:solidFill>
                  <a:srgbClr val="1F1F2E"/>
                </a:solidFill>
                <a:latin typeface="Consolas"/>
              </a:rPr>
              <a:t>- OLD_ROW,…</a:t>
            </a:r>
          </a:p>
        </p:txBody>
      </p:sp>
      <p:sp>
        <p:nvSpPr>
          <p:cNvPr id="45" name="Rounded Rectangle 44"/>
          <p:cNvSpPr/>
          <p:nvPr/>
        </p:nvSpPr>
        <p:spPr>
          <a:xfrm>
            <a:off x="5852160" y="5852159"/>
            <a:ext cx="1005840" cy="274320"/>
          </a:xfrm>
          <a:prstGeom prst="roundRect">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5852160" y="5852159"/>
            <a:ext cx="1005840" cy="274320"/>
          </a:xfrm>
          <a:prstGeom prst="rect">
            <a:avLst/>
          </a:prstGeom>
          <a:noFill/>
        </p:spPr>
        <p:txBody>
          <a:bodyPr wrap="square" anchor="ctr" lIns="45720" rIns="45720" tIns="27432" bIns="27432">
            <a:spAutoFit/>
          </a:bodyPr>
          <a:lstStyle/>
          <a:p>
            <a:pPr algn="ctr"/>
            <a:r>
              <a:rPr sz="850" b="1">
                <a:solidFill>
                  <a:srgbClr val="FFFFFF"/>
                </a:solidFill>
                <a:latin typeface="Calibri"/>
              </a:rPr>
              <a:t>Accept all</a:t>
            </a:r>
          </a:p>
        </p:txBody>
      </p:sp>
      <p:sp>
        <p:nvSpPr>
          <p:cNvPr id="47" name="Rounded Rectangle 46"/>
          <p:cNvSpPr/>
          <p:nvPr/>
        </p:nvSpPr>
        <p:spPr>
          <a:xfrm>
            <a:off x="6949440" y="5852159"/>
            <a:ext cx="1005840" cy="274320"/>
          </a:xfrm>
          <a:prstGeom prst="roundRect">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949440" y="5852159"/>
            <a:ext cx="1005840" cy="274320"/>
          </a:xfrm>
          <a:prstGeom prst="rect">
            <a:avLst/>
          </a:prstGeom>
          <a:noFill/>
        </p:spPr>
        <p:txBody>
          <a:bodyPr wrap="square" anchor="ctr" lIns="45720" rIns="45720" tIns="27432" bIns="27432">
            <a:spAutoFit/>
          </a:bodyPr>
          <a:lstStyle/>
          <a:p>
            <a:pPr algn="ctr"/>
            <a:r>
              <a:rPr sz="850" b="1">
                <a:solidFill>
                  <a:srgbClr val="FFFFFF"/>
                </a:solidFill>
                <a:latin typeface="Calibri"/>
              </a:rPr>
              <a:t>Commit…</a:t>
            </a:r>
          </a:p>
        </p:txBody>
      </p:sp>
      <p:sp>
        <p:nvSpPr>
          <p:cNvPr id="49" name="Oval 48"/>
          <p:cNvSpPr/>
          <p:nvPr/>
        </p:nvSpPr>
        <p:spPr>
          <a:xfrm>
            <a:off x="1965960" y="1417320"/>
            <a:ext cx="256032" cy="256032"/>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1965960" y="1417320"/>
            <a:ext cx="256032" cy="256032"/>
          </a:xfrm>
          <a:prstGeom prst="rect">
            <a:avLst/>
          </a:prstGeom>
          <a:noFill/>
        </p:spPr>
        <p:txBody>
          <a:bodyPr wrap="square" anchor="ctr" lIns="45720" rIns="45720" tIns="27432" bIns="27432">
            <a:spAutoFit/>
          </a:bodyPr>
          <a:lstStyle/>
          <a:p>
            <a:pPr algn="ctr"/>
            <a:r>
              <a:rPr sz="900" b="1">
                <a:solidFill>
                  <a:srgbClr val="FFFFFF"/>
                </a:solidFill>
                <a:latin typeface="Calibri"/>
              </a:rPr>
              <a:t>1</a:t>
            </a:r>
          </a:p>
        </p:txBody>
      </p:sp>
      <p:sp>
        <p:nvSpPr>
          <p:cNvPr id="51" name="Oval 50"/>
          <p:cNvSpPr/>
          <p:nvPr/>
        </p:nvSpPr>
        <p:spPr>
          <a:xfrm>
            <a:off x="1965960" y="1828800"/>
            <a:ext cx="256032" cy="256032"/>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1965960" y="1828800"/>
            <a:ext cx="256032" cy="256032"/>
          </a:xfrm>
          <a:prstGeom prst="rect">
            <a:avLst/>
          </a:prstGeom>
          <a:noFill/>
        </p:spPr>
        <p:txBody>
          <a:bodyPr wrap="square" anchor="ctr" lIns="45720" rIns="45720" tIns="27432" bIns="27432">
            <a:spAutoFit/>
          </a:bodyPr>
          <a:lstStyle/>
          <a:p>
            <a:pPr algn="ctr"/>
            <a:r>
              <a:rPr sz="900" b="1">
                <a:solidFill>
                  <a:srgbClr val="FFFFFF"/>
                </a:solidFill>
                <a:latin typeface="Calibri"/>
              </a:rPr>
              <a:t>2</a:t>
            </a:r>
          </a:p>
        </p:txBody>
      </p:sp>
      <p:sp>
        <p:nvSpPr>
          <p:cNvPr id="53" name="Oval 52"/>
          <p:cNvSpPr/>
          <p:nvPr/>
        </p:nvSpPr>
        <p:spPr>
          <a:xfrm>
            <a:off x="5303520" y="1389888"/>
            <a:ext cx="256032" cy="256032"/>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5303520" y="1389888"/>
            <a:ext cx="256032" cy="256032"/>
          </a:xfrm>
          <a:prstGeom prst="rect">
            <a:avLst/>
          </a:prstGeom>
          <a:noFill/>
        </p:spPr>
        <p:txBody>
          <a:bodyPr wrap="square" anchor="ctr" lIns="45720" rIns="45720" tIns="27432" bIns="27432">
            <a:spAutoFit/>
          </a:bodyPr>
          <a:lstStyle/>
          <a:p>
            <a:pPr algn="ctr"/>
            <a:r>
              <a:rPr sz="900" b="1">
                <a:solidFill>
                  <a:srgbClr val="FFFFFF"/>
                </a:solidFill>
                <a:latin typeface="Calibri"/>
              </a:rPr>
              <a:t>3</a:t>
            </a:r>
          </a:p>
        </p:txBody>
      </p:sp>
      <p:sp>
        <p:nvSpPr>
          <p:cNvPr id="55" name="Oval 54"/>
          <p:cNvSpPr/>
          <p:nvPr/>
        </p:nvSpPr>
        <p:spPr>
          <a:xfrm>
            <a:off x="2423160" y="5715000"/>
            <a:ext cx="256032" cy="256032"/>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2423160" y="5715000"/>
            <a:ext cx="256032" cy="256032"/>
          </a:xfrm>
          <a:prstGeom prst="rect">
            <a:avLst/>
          </a:prstGeom>
          <a:noFill/>
        </p:spPr>
        <p:txBody>
          <a:bodyPr wrap="square" anchor="ctr" lIns="45720" rIns="45720" tIns="27432" bIns="27432">
            <a:spAutoFit/>
          </a:bodyPr>
          <a:lstStyle/>
          <a:p>
            <a:pPr algn="ctr"/>
            <a:r>
              <a:rPr sz="900" b="1">
                <a:solidFill>
                  <a:srgbClr val="FFFFFF"/>
                </a:solidFill>
                <a:latin typeface="Calibri"/>
              </a:rPr>
              <a:t>4</a:t>
            </a:r>
          </a:p>
        </p:txBody>
      </p:sp>
      <p:sp>
        <p:nvSpPr>
          <p:cNvPr id="57" name="Oval 56"/>
          <p:cNvSpPr/>
          <p:nvPr/>
        </p:nvSpPr>
        <p:spPr>
          <a:xfrm>
            <a:off x="3566160" y="5715000"/>
            <a:ext cx="256032" cy="256032"/>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3566160" y="5715000"/>
            <a:ext cx="256032" cy="256032"/>
          </a:xfrm>
          <a:prstGeom prst="rect">
            <a:avLst/>
          </a:prstGeom>
          <a:noFill/>
        </p:spPr>
        <p:txBody>
          <a:bodyPr wrap="square" anchor="ctr" lIns="45720" rIns="45720" tIns="27432" bIns="27432">
            <a:spAutoFit/>
          </a:bodyPr>
          <a:lstStyle/>
          <a:p>
            <a:pPr algn="ctr"/>
            <a:r>
              <a:rPr sz="900" b="1">
                <a:solidFill>
                  <a:srgbClr val="FFFFFF"/>
                </a:solidFill>
                <a:latin typeface="Calibri"/>
              </a:rPr>
              <a:t>5</a:t>
            </a:r>
          </a:p>
        </p:txBody>
      </p:sp>
      <p:sp>
        <p:nvSpPr>
          <p:cNvPr id="59" name="Oval 58"/>
          <p:cNvSpPr/>
          <p:nvPr/>
        </p:nvSpPr>
        <p:spPr>
          <a:xfrm>
            <a:off x="7680960" y="1389888"/>
            <a:ext cx="256032" cy="256032"/>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7680960" y="1389888"/>
            <a:ext cx="256032" cy="256032"/>
          </a:xfrm>
          <a:prstGeom prst="rect">
            <a:avLst/>
          </a:prstGeom>
          <a:noFill/>
        </p:spPr>
        <p:txBody>
          <a:bodyPr wrap="square" anchor="ctr" lIns="45720" rIns="45720" tIns="27432" bIns="27432">
            <a:spAutoFit/>
          </a:bodyPr>
          <a:lstStyle/>
          <a:p>
            <a:pPr algn="ctr"/>
            <a:r>
              <a:rPr sz="900" b="1">
                <a:solidFill>
                  <a:srgbClr val="FFFFFF"/>
                </a:solidFill>
                <a:latin typeface="Calibri"/>
              </a:rPr>
              <a:t>6</a:t>
            </a:r>
          </a:p>
        </p:txBody>
      </p:sp>
      <p:sp>
        <p:nvSpPr>
          <p:cNvPr id="61" name="TextBox 60"/>
          <p:cNvSpPr txBox="1"/>
          <p:nvPr/>
        </p:nvSpPr>
        <p:spPr>
          <a:xfrm>
            <a:off x="8412480" y="1371600"/>
            <a:ext cx="3200400" cy="365760"/>
          </a:xfrm>
          <a:prstGeom prst="rect">
            <a:avLst/>
          </a:prstGeom>
          <a:noFill/>
        </p:spPr>
        <p:txBody>
          <a:bodyPr wrap="square" anchor="t" lIns="45720" rIns="45720" tIns="27432" bIns="27432">
            <a:spAutoFit/>
          </a:bodyPr>
          <a:lstStyle/>
          <a:p>
            <a:pPr algn="l"/>
            <a:r>
              <a:rPr sz="1500" b="1">
                <a:solidFill>
                  <a:srgbClr val="1E2761"/>
                </a:solidFill>
                <a:latin typeface="Calibri"/>
              </a:rPr>
              <a:t>What the numbers mean</a:t>
            </a:r>
          </a:p>
        </p:txBody>
      </p:sp>
      <p:sp>
        <p:nvSpPr>
          <p:cNvPr id="62" name="Oval 61"/>
          <p:cNvSpPr/>
          <p:nvPr/>
        </p:nvSpPr>
        <p:spPr>
          <a:xfrm>
            <a:off x="8412480" y="1828800"/>
            <a:ext cx="274320" cy="274320"/>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Box 62"/>
          <p:cNvSpPr txBox="1"/>
          <p:nvPr/>
        </p:nvSpPr>
        <p:spPr>
          <a:xfrm>
            <a:off x="8412480" y="1828800"/>
            <a:ext cx="274320" cy="274320"/>
          </a:xfrm>
          <a:prstGeom prst="rect">
            <a:avLst/>
          </a:prstGeom>
          <a:noFill/>
        </p:spPr>
        <p:txBody>
          <a:bodyPr wrap="square" anchor="ctr" lIns="45720" rIns="45720" tIns="27432" bIns="27432">
            <a:spAutoFit/>
          </a:bodyPr>
          <a:lstStyle/>
          <a:p>
            <a:pPr algn="ctr"/>
            <a:r>
              <a:rPr sz="1000" b="1">
                <a:solidFill>
                  <a:srgbClr val="FFFFFF"/>
                </a:solidFill>
                <a:latin typeface="Calibri"/>
              </a:rPr>
              <a:t>1</a:t>
            </a:r>
          </a:p>
        </p:txBody>
      </p:sp>
      <p:sp>
        <p:nvSpPr>
          <p:cNvPr id="64" name="TextBox 63"/>
          <p:cNvSpPr txBox="1"/>
          <p:nvPr/>
        </p:nvSpPr>
        <p:spPr>
          <a:xfrm>
            <a:off x="8778240" y="1764792"/>
            <a:ext cx="2880360" cy="731520"/>
          </a:xfrm>
          <a:prstGeom prst="rect">
            <a:avLst/>
          </a:prstGeom>
          <a:noFill/>
        </p:spPr>
        <p:txBody>
          <a:bodyPr wrap="square" anchor="t" lIns="45720" rIns="45720" tIns="27432" bIns="27432">
            <a:spAutoFit/>
          </a:bodyPr>
          <a:lstStyle/>
          <a:p>
            <a:pPr algn="l"/>
            <a:r>
              <a:rPr sz="1150" b="1">
                <a:solidFill>
                  <a:srgbClr val="1E2761"/>
                </a:solidFill>
                <a:latin typeface="Calibri"/>
              </a:rPr>
              <a:t>New session</a:t>
            </a:r>
          </a:p>
          <a:p>
            <a:pPr algn="l"/>
            <a:r>
              <a:rPr sz="1000" b="0">
                <a:solidFill>
                  <a:srgbClr val="1F1F2E"/>
                </a:solidFill>
                <a:latin typeface="Calibri"/>
              </a:rPr>
              <a:t>Pick a project (repo), then the way of working: worktree, branch (direct), or local folder; or cloud.</a:t>
            </a:r>
          </a:p>
        </p:txBody>
      </p:sp>
      <p:sp>
        <p:nvSpPr>
          <p:cNvPr id="65" name="Oval 64"/>
          <p:cNvSpPr/>
          <p:nvPr/>
        </p:nvSpPr>
        <p:spPr>
          <a:xfrm>
            <a:off x="8412480" y="2560320"/>
            <a:ext cx="274320" cy="274320"/>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Box 65"/>
          <p:cNvSpPr txBox="1"/>
          <p:nvPr/>
        </p:nvSpPr>
        <p:spPr>
          <a:xfrm>
            <a:off x="8412480" y="2560320"/>
            <a:ext cx="274320" cy="274320"/>
          </a:xfrm>
          <a:prstGeom prst="rect">
            <a:avLst/>
          </a:prstGeom>
          <a:noFill/>
        </p:spPr>
        <p:txBody>
          <a:bodyPr wrap="square" anchor="ctr" lIns="45720" rIns="45720" tIns="27432" bIns="27432">
            <a:spAutoFit/>
          </a:bodyPr>
          <a:lstStyle/>
          <a:p>
            <a:pPr algn="ctr"/>
            <a:r>
              <a:rPr sz="1000" b="1">
                <a:solidFill>
                  <a:srgbClr val="FFFFFF"/>
                </a:solidFill>
                <a:latin typeface="Calibri"/>
              </a:rPr>
              <a:t>2</a:t>
            </a:r>
          </a:p>
        </p:txBody>
      </p:sp>
      <p:sp>
        <p:nvSpPr>
          <p:cNvPr id="67" name="TextBox 66"/>
          <p:cNvSpPr txBox="1"/>
          <p:nvPr/>
        </p:nvSpPr>
        <p:spPr>
          <a:xfrm>
            <a:off x="8778240" y="2496312"/>
            <a:ext cx="2880360" cy="731520"/>
          </a:xfrm>
          <a:prstGeom prst="rect">
            <a:avLst/>
          </a:prstGeom>
          <a:noFill/>
        </p:spPr>
        <p:txBody>
          <a:bodyPr wrap="square" anchor="t" lIns="45720" rIns="45720" tIns="27432" bIns="27432">
            <a:spAutoFit/>
          </a:bodyPr>
          <a:lstStyle/>
          <a:p>
            <a:pPr algn="l"/>
            <a:r>
              <a:rPr sz="1150" b="1">
                <a:solidFill>
                  <a:srgbClr val="1E2761"/>
                </a:solidFill>
                <a:latin typeface="Calibri"/>
              </a:rPr>
              <a:t>Sessions list</a:t>
            </a:r>
          </a:p>
          <a:p>
            <a:pPr algn="l"/>
            <a:r>
              <a:rPr sz="1000" b="0">
                <a:solidFill>
                  <a:srgbClr val="1F1F2E"/>
                </a:solidFill>
                <a:latin typeface="Calibri"/>
              </a:rPr>
              <a:t>Each conversation is a session tied to a repo and branch. Come back to it any time.</a:t>
            </a:r>
          </a:p>
        </p:txBody>
      </p:sp>
      <p:sp>
        <p:nvSpPr>
          <p:cNvPr id="68" name="Oval 67"/>
          <p:cNvSpPr/>
          <p:nvPr/>
        </p:nvSpPr>
        <p:spPr>
          <a:xfrm>
            <a:off x="8412480" y="3291839"/>
            <a:ext cx="274320" cy="274320"/>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Box 68"/>
          <p:cNvSpPr txBox="1"/>
          <p:nvPr/>
        </p:nvSpPr>
        <p:spPr>
          <a:xfrm>
            <a:off x="8412480" y="3291839"/>
            <a:ext cx="274320" cy="274320"/>
          </a:xfrm>
          <a:prstGeom prst="rect">
            <a:avLst/>
          </a:prstGeom>
          <a:noFill/>
        </p:spPr>
        <p:txBody>
          <a:bodyPr wrap="square" anchor="ctr" lIns="45720" rIns="45720" tIns="27432" bIns="27432">
            <a:spAutoFit/>
          </a:bodyPr>
          <a:lstStyle/>
          <a:p>
            <a:pPr algn="ctr"/>
            <a:r>
              <a:rPr sz="1000" b="1">
                <a:solidFill>
                  <a:srgbClr val="FFFFFF"/>
                </a:solidFill>
                <a:latin typeface="Calibri"/>
              </a:rPr>
              <a:t>3</a:t>
            </a:r>
          </a:p>
        </p:txBody>
      </p:sp>
      <p:sp>
        <p:nvSpPr>
          <p:cNvPr id="70" name="TextBox 69"/>
          <p:cNvSpPr txBox="1"/>
          <p:nvPr/>
        </p:nvSpPr>
        <p:spPr>
          <a:xfrm>
            <a:off x="8778240" y="3227832"/>
            <a:ext cx="2880360" cy="731520"/>
          </a:xfrm>
          <a:prstGeom prst="rect">
            <a:avLst/>
          </a:prstGeom>
          <a:noFill/>
        </p:spPr>
        <p:txBody>
          <a:bodyPr wrap="square" anchor="t" lIns="45720" rIns="45720" tIns="27432" bIns="27432">
            <a:spAutoFit/>
          </a:bodyPr>
          <a:lstStyle/>
          <a:p>
            <a:pPr algn="l"/>
            <a:r>
              <a:rPr sz="1150" b="1">
                <a:solidFill>
                  <a:srgbClr val="1E2761"/>
                </a:solidFill>
                <a:latin typeface="Calibri"/>
              </a:rPr>
              <a:t>Session header</a:t>
            </a:r>
          </a:p>
          <a:p>
            <a:pPr algn="l"/>
            <a:r>
              <a:rPr sz="1000" b="0">
                <a:solidFill>
                  <a:srgbClr val="1F1F2E"/>
                </a:solidFill>
                <a:latin typeface="Calibri"/>
              </a:rPr>
              <a:t>Shows repo, branch and mode, so you always know where edits will land.</a:t>
            </a:r>
          </a:p>
        </p:txBody>
      </p:sp>
      <p:sp>
        <p:nvSpPr>
          <p:cNvPr id="71" name="Oval 70"/>
          <p:cNvSpPr/>
          <p:nvPr/>
        </p:nvSpPr>
        <p:spPr>
          <a:xfrm>
            <a:off x="8412480" y="4023360"/>
            <a:ext cx="274320" cy="274320"/>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TextBox 71"/>
          <p:cNvSpPr txBox="1"/>
          <p:nvPr/>
        </p:nvSpPr>
        <p:spPr>
          <a:xfrm>
            <a:off x="8412480" y="4023360"/>
            <a:ext cx="274320" cy="274320"/>
          </a:xfrm>
          <a:prstGeom prst="rect">
            <a:avLst/>
          </a:prstGeom>
          <a:noFill/>
        </p:spPr>
        <p:txBody>
          <a:bodyPr wrap="square" anchor="ctr" lIns="45720" rIns="45720" tIns="27432" bIns="27432">
            <a:spAutoFit/>
          </a:bodyPr>
          <a:lstStyle/>
          <a:p>
            <a:pPr algn="ctr"/>
            <a:r>
              <a:rPr sz="1000" b="1">
                <a:solidFill>
                  <a:srgbClr val="FFFFFF"/>
                </a:solidFill>
                <a:latin typeface="Calibri"/>
              </a:rPr>
              <a:t>4</a:t>
            </a:r>
          </a:p>
        </p:txBody>
      </p:sp>
      <p:sp>
        <p:nvSpPr>
          <p:cNvPr id="73" name="TextBox 72"/>
          <p:cNvSpPr txBox="1"/>
          <p:nvPr/>
        </p:nvSpPr>
        <p:spPr>
          <a:xfrm>
            <a:off x="8778240" y="3959352"/>
            <a:ext cx="2880360" cy="731520"/>
          </a:xfrm>
          <a:prstGeom prst="rect">
            <a:avLst/>
          </a:prstGeom>
          <a:noFill/>
        </p:spPr>
        <p:txBody>
          <a:bodyPr wrap="square" anchor="t" lIns="45720" rIns="45720" tIns="27432" bIns="27432">
            <a:spAutoFit/>
          </a:bodyPr>
          <a:lstStyle/>
          <a:p>
            <a:pPr algn="l"/>
            <a:r>
              <a:rPr sz="1150" b="1">
                <a:solidFill>
                  <a:srgbClr val="1E2761"/>
                </a:solidFill>
                <a:latin typeface="Calibri"/>
              </a:rPr>
              <a:t>Model picker</a:t>
            </a:r>
          </a:p>
          <a:p>
            <a:pPr algn="l"/>
            <a:r>
              <a:rPr sz="1000" b="0">
                <a:solidFill>
                  <a:srgbClr val="1F1F2E"/>
                </a:solidFill>
                <a:latin typeface="Calibri"/>
              </a:rPr>
              <a:t>Sonnet for everyday work; Opus or Fable for the hard stuff (Which model, this appendix).</a:t>
            </a:r>
          </a:p>
        </p:txBody>
      </p:sp>
      <p:sp>
        <p:nvSpPr>
          <p:cNvPr id="74" name="Oval 73"/>
          <p:cNvSpPr/>
          <p:nvPr/>
        </p:nvSpPr>
        <p:spPr>
          <a:xfrm>
            <a:off x="8412480" y="4754880"/>
            <a:ext cx="274320" cy="274320"/>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TextBox 74"/>
          <p:cNvSpPr txBox="1"/>
          <p:nvPr/>
        </p:nvSpPr>
        <p:spPr>
          <a:xfrm>
            <a:off x="8412480" y="4754880"/>
            <a:ext cx="274320" cy="274320"/>
          </a:xfrm>
          <a:prstGeom prst="rect">
            <a:avLst/>
          </a:prstGeom>
          <a:noFill/>
        </p:spPr>
        <p:txBody>
          <a:bodyPr wrap="square" anchor="ctr" lIns="45720" rIns="45720" tIns="27432" bIns="27432">
            <a:spAutoFit/>
          </a:bodyPr>
          <a:lstStyle/>
          <a:p>
            <a:pPr algn="ctr"/>
            <a:r>
              <a:rPr sz="1000" b="1">
                <a:solidFill>
                  <a:srgbClr val="FFFFFF"/>
                </a:solidFill>
                <a:latin typeface="Calibri"/>
              </a:rPr>
              <a:t>5</a:t>
            </a:r>
          </a:p>
        </p:txBody>
      </p:sp>
      <p:sp>
        <p:nvSpPr>
          <p:cNvPr id="76" name="TextBox 75"/>
          <p:cNvSpPr txBox="1"/>
          <p:nvPr/>
        </p:nvSpPr>
        <p:spPr>
          <a:xfrm>
            <a:off x="8778240" y="4690872"/>
            <a:ext cx="2880360" cy="731520"/>
          </a:xfrm>
          <a:prstGeom prst="rect">
            <a:avLst/>
          </a:prstGeom>
          <a:noFill/>
        </p:spPr>
        <p:txBody>
          <a:bodyPr wrap="square" anchor="t" lIns="45720" rIns="45720" tIns="27432" bIns="27432">
            <a:spAutoFit/>
          </a:bodyPr>
          <a:lstStyle/>
          <a:p>
            <a:pPr algn="l"/>
            <a:r>
              <a:rPr sz="1150" b="1">
                <a:solidFill>
                  <a:srgbClr val="1E2761"/>
                </a:solidFill>
                <a:latin typeface="Calibri"/>
              </a:rPr>
              <a:t>Mode picker</a:t>
            </a:r>
          </a:p>
          <a:p>
            <a:pPr algn="l"/>
            <a:r>
              <a:rPr sz="1000" b="0">
                <a:solidFill>
                  <a:srgbClr val="1F1F2E"/>
                </a:solidFill>
                <a:latin typeface="Calibri"/>
              </a:rPr>
              <a:t>Plan (think first, no edits), Interactive (asks before acting), Autopilot (runs through).</a:t>
            </a:r>
          </a:p>
        </p:txBody>
      </p:sp>
      <p:sp>
        <p:nvSpPr>
          <p:cNvPr id="77" name="Oval 76"/>
          <p:cNvSpPr/>
          <p:nvPr/>
        </p:nvSpPr>
        <p:spPr>
          <a:xfrm>
            <a:off x="8412480" y="5486400"/>
            <a:ext cx="274320" cy="274320"/>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Box 77"/>
          <p:cNvSpPr txBox="1"/>
          <p:nvPr/>
        </p:nvSpPr>
        <p:spPr>
          <a:xfrm>
            <a:off x="8412480" y="5486400"/>
            <a:ext cx="274320" cy="274320"/>
          </a:xfrm>
          <a:prstGeom prst="rect">
            <a:avLst/>
          </a:prstGeom>
          <a:noFill/>
        </p:spPr>
        <p:txBody>
          <a:bodyPr wrap="square" anchor="ctr" lIns="45720" rIns="45720" tIns="27432" bIns="27432">
            <a:spAutoFit/>
          </a:bodyPr>
          <a:lstStyle/>
          <a:p>
            <a:pPr algn="ctr"/>
            <a:r>
              <a:rPr sz="1000" b="1">
                <a:solidFill>
                  <a:srgbClr val="FFFFFF"/>
                </a:solidFill>
                <a:latin typeface="Calibri"/>
              </a:rPr>
              <a:t>6</a:t>
            </a:r>
          </a:p>
        </p:txBody>
      </p:sp>
      <p:sp>
        <p:nvSpPr>
          <p:cNvPr id="79" name="TextBox 78"/>
          <p:cNvSpPr txBox="1"/>
          <p:nvPr/>
        </p:nvSpPr>
        <p:spPr>
          <a:xfrm>
            <a:off x="8778240" y="5422392"/>
            <a:ext cx="2880360" cy="731520"/>
          </a:xfrm>
          <a:prstGeom prst="rect">
            <a:avLst/>
          </a:prstGeom>
          <a:noFill/>
        </p:spPr>
        <p:txBody>
          <a:bodyPr wrap="square" anchor="t" lIns="45720" rIns="45720" tIns="27432" bIns="27432">
            <a:spAutoFit/>
          </a:bodyPr>
          <a:lstStyle/>
          <a:p>
            <a:pPr algn="l"/>
            <a:r>
              <a:rPr sz="1150" b="1">
                <a:solidFill>
                  <a:srgbClr val="1E2761"/>
                </a:solidFill>
                <a:latin typeface="Calibri"/>
              </a:rPr>
              <a:t>Changes panel</a:t>
            </a:r>
          </a:p>
          <a:p>
            <a:pPr algn="l"/>
            <a:r>
              <a:rPr sz="1000" b="0">
                <a:solidFill>
                  <a:srgbClr val="1F1F2E"/>
                </a:solidFill>
                <a:latin typeface="Calibri"/>
              </a:rPr>
              <a:t>Every edit as a diff. Accept, undo, or ask Copilot to commit and push.</a:t>
            </a:r>
          </a:p>
        </p:txBody>
      </p:sp>
      <p:sp>
        <p:nvSpPr>
          <p:cNvPr id="80" name="TextBox 79"/>
          <p:cNvSpPr txBox="1"/>
          <p:nvPr/>
        </p:nvSpPr>
        <p:spPr>
          <a:xfrm>
            <a:off x="8412480" y="6172200"/>
            <a:ext cx="3200400" cy="274320"/>
          </a:xfrm>
          <a:prstGeom prst="rect">
            <a:avLst/>
          </a:prstGeom>
          <a:noFill/>
        </p:spPr>
        <p:txBody>
          <a:bodyPr wrap="square" anchor="t" lIns="45720" rIns="45720" tIns="27432" bIns="27432">
            <a:spAutoFit/>
          </a:bodyPr>
          <a:lstStyle/>
          <a:p>
            <a:pPr algn="l"/>
            <a:r>
              <a:rPr sz="950" b="0">
                <a:solidFill>
                  <a:srgbClr val="5C667A"/>
                </a:solidFill>
                <a:latin typeface="Calibri"/>
              </a:rPr>
              <a:t>VS Code's Copilot Chat has the same pieces: chat, model picker, mode, and a diff view.</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7315200" cy="274320"/>
          </a:xfrm>
          <a:prstGeom prst="rect">
            <a:avLst/>
          </a:prstGeom>
          <a:noFill/>
        </p:spPr>
        <p:txBody>
          <a:bodyPr wrap="square" anchor="t" lIns="45720" rIns="45720" tIns="27432" bIns="27432">
            <a:spAutoFit/>
          </a:bodyPr>
          <a:lstStyle/>
          <a:p>
            <a:pPr algn="l"/>
            <a:r>
              <a:rPr sz="1200" b="1">
                <a:solidFill>
                  <a:srgbClr val="0F7B6C"/>
                </a:solidFill>
                <a:latin typeface="Calibri"/>
              </a:rPr>
              <a:t>APPENDIX 1 · HOW COPILOT USES AI</a:t>
            </a:r>
          </a:p>
        </p:txBody>
      </p:sp>
      <p:sp>
        <p:nvSpPr>
          <p:cNvPr id="3" name="TextBox 2"/>
          <p:cNvSpPr txBox="1"/>
          <p:nvPr/>
        </p:nvSpPr>
        <p:spPr>
          <a:xfrm>
            <a:off x="548640" y="502920"/>
            <a:ext cx="11064240" cy="685800"/>
          </a:xfrm>
          <a:prstGeom prst="rect">
            <a:avLst/>
          </a:prstGeom>
          <a:noFill/>
        </p:spPr>
        <p:txBody>
          <a:bodyPr wrap="square" anchor="t" lIns="45720" rIns="45720" tIns="27432" bIns="27432">
            <a:spAutoFit/>
          </a:bodyPr>
          <a:lstStyle/>
          <a:p>
            <a:pPr algn="l"/>
            <a:r>
              <a:rPr sz="3000" b="0">
                <a:solidFill>
                  <a:srgbClr val="1E2761"/>
                </a:solidFill>
                <a:latin typeface="Cambria"/>
              </a:rPr>
              <a:t>How Copilot uses AI: one agent, many models</a:t>
            </a:r>
          </a:p>
        </p:txBody>
      </p:sp>
      <p:sp>
        <p:nvSpPr>
          <p:cNvPr id="4" name="TextBox 3"/>
          <p:cNvSpPr txBox="1"/>
          <p:nvPr/>
        </p:nvSpPr>
        <p:spPr>
          <a:xfrm>
            <a:off x="548640" y="6473952"/>
            <a:ext cx="8686800" cy="228600"/>
          </a:xfrm>
          <a:prstGeom prst="rect">
            <a:avLst/>
          </a:prstGeom>
          <a:noFill/>
        </p:spPr>
        <p:txBody>
          <a:bodyPr wrap="square" anchor="t" lIns="45720" rIns="45720" tIns="27432" bIns="27432">
            <a:spAutoFit/>
          </a:bodyPr>
          <a:lstStyle/>
          <a:p>
            <a:pPr algn="l"/>
            <a:r>
              <a:rPr sz="900" b="0">
                <a:solidFill>
                  <a:srgbClr val="5C667A"/>
                </a:solidFill>
                <a:latin typeface="Calibri"/>
              </a:rPr>
              <a:t>Using GitHub Copilot with our repositories: user guide   ·   Screens and model names change over time</a:t>
            </a:r>
          </a:p>
        </p:txBody>
      </p:sp>
      <p:sp>
        <p:nvSpPr>
          <p:cNvPr id="5" name="Rectangle 4"/>
          <p:cNvSpPr/>
          <p:nvPr/>
        </p:nvSpPr>
        <p:spPr>
          <a:xfrm>
            <a:off x="548640" y="1371600"/>
            <a:ext cx="6675120" cy="489204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822960" y="2011680"/>
            <a:ext cx="1463040" cy="1005840"/>
          </a:xfrm>
          <a:prstGeom prst="rect">
            <a:avLst/>
          </a:prstGeom>
          <a:solidFill>
            <a:srgbClr val="2E3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60" y="2011680"/>
            <a:ext cx="1463040" cy="1005840"/>
          </a:xfrm>
          <a:prstGeom prst="rect">
            <a:avLst/>
          </a:prstGeom>
          <a:noFill/>
        </p:spPr>
        <p:txBody>
          <a:bodyPr wrap="square" anchor="ctr" lIns="45720" rIns="45720" tIns="27432" bIns="27432">
            <a:spAutoFit/>
          </a:bodyPr>
          <a:lstStyle/>
          <a:p>
            <a:pPr algn="ctr"/>
            <a:r>
              <a:rPr sz="1250" b="1">
                <a:solidFill>
                  <a:srgbClr val="FFFFFF"/>
                </a:solidFill>
                <a:latin typeface="Calibri"/>
              </a:rPr>
              <a:t>You
(plain English)</a:t>
            </a:r>
          </a:p>
        </p:txBody>
      </p:sp>
      <p:sp>
        <p:nvSpPr>
          <p:cNvPr id="8" name="Rectangle 7"/>
          <p:cNvSpPr/>
          <p:nvPr/>
        </p:nvSpPr>
        <p:spPr>
          <a:xfrm>
            <a:off x="2834640" y="1691640"/>
            <a:ext cx="2103120" cy="1645920"/>
          </a:xfrm>
          <a:prstGeom prst="rect">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834640" y="1691640"/>
            <a:ext cx="2103120" cy="1645920"/>
          </a:xfrm>
          <a:prstGeom prst="rect">
            <a:avLst/>
          </a:prstGeom>
          <a:noFill/>
        </p:spPr>
        <p:txBody>
          <a:bodyPr wrap="square" anchor="ctr" lIns="45720" rIns="45720" tIns="27432" bIns="27432">
            <a:spAutoFit/>
          </a:bodyPr>
          <a:lstStyle/>
          <a:p>
            <a:pPr algn="ctr"/>
            <a:r>
              <a:rPr sz="1150" b="1">
                <a:solidFill>
                  <a:srgbClr val="FFFFFF"/>
                </a:solidFill>
                <a:latin typeface="Calibri"/>
              </a:rPr>
              <a:t>Copilot agent
plans · reads files · edits · runs commands · searches web · asks you</a:t>
            </a:r>
          </a:p>
        </p:txBody>
      </p:sp>
      <p:cxnSp>
        <p:nvCxnSpPr>
          <p:cNvPr id="10" name="Connector 9"/>
          <p:cNvCxnSpPr/>
          <p:nvPr/>
        </p:nvCxnSpPr>
        <p:spPr>
          <a:xfrm>
            <a:off x="2286000" y="2514600"/>
            <a:ext cx="548640" cy="0"/>
          </a:xfrm>
          <a:prstGeom prst="line">
            <a:avLst/>
          </a:prstGeom>
          <a:ln w="19050">
            <a:solidFill>
              <a:srgbClr val="5C66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5486400" y="1600200"/>
            <a:ext cx="1600200" cy="594360"/>
          </a:xfrm>
          <a:prstGeom prst="rect">
            <a:avLst/>
          </a:prstGeom>
          <a:solidFill>
            <a:srgbClr val="FFFFFF"/>
          </a:solidFill>
          <a:ln w="9525">
            <a:solidFill>
              <a:srgbClr val="D5DA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486400" y="1600200"/>
            <a:ext cx="1600200" cy="594360"/>
          </a:xfrm>
          <a:prstGeom prst="rect">
            <a:avLst/>
          </a:prstGeom>
          <a:noFill/>
        </p:spPr>
        <p:txBody>
          <a:bodyPr wrap="square" anchor="ctr" lIns="45720" rIns="45720" tIns="27432" bIns="27432">
            <a:spAutoFit/>
          </a:bodyPr>
          <a:lstStyle/>
          <a:p>
            <a:pPr algn="ctr"/>
            <a:r>
              <a:rPr sz="1050" b="1">
                <a:solidFill>
                  <a:srgbClr val="1E2761"/>
                </a:solidFill>
                <a:latin typeface="Calibri"/>
              </a:rPr>
              <a:t>Claude Sonnet</a:t>
            </a:r>
          </a:p>
          <a:p>
            <a:pPr algn="ctr"/>
            <a:r>
              <a:rPr sz="950" b="0">
                <a:solidFill>
                  <a:srgbClr val="5C667A"/>
                </a:solidFill>
                <a:latin typeface="Calibri"/>
              </a:rPr>
              <a:t>Anthropic</a:t>
            </a:r>
          </a:p>
        </p:txBody>
      </p:sp>
      <p:sp>
        <p:nvSpPr>
          <p:cNvPr id="13" name="Rectangle 12"/>
          <p:cNvSpPr/>
          <p:nvPr/>
        </p:nvSpPr>
        <p:spPr>
          <a:xfrm>
            <a:off x="5486400" y="2331720"/>
            <a:ext cx="1600200" cy="594360"/>
          </a:xfrm>
          <a:prstGeom prst="rect">
            <a:avLst/>
          </a:prstGeom>
          <a:solidFill>
            <a:srgbClr val="FFFFFF"/>
          </a:solidFill>
          <a:ln w="9525">
            <a:solidFill>
              <a:srgbClr val="D5DA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486400" y="2331720"/>
            <a:ext cx="1600200" cy="594360"/>
          </a:xfrm>
          <a:prstGeom prst="rect">
            <a:avLst/>
          </a:prstGeom>
          <a:noFill/>
        </p:spPr>
        <p:txBody>
          <a:bodyPr wrap="square" anchor="ctr" lIns="45720" rIns="45720" tIns="27432" bIns="27432">
            <a:spAutoFit/>
          </a:bodyPr>
          <a:lstStyle/>
          <a:p>
            <a:pPr algn="ctr"/>
            <a:r>
              <a:rPr sz="1050" b="1">
                <a:solidFill>
                  <a:srgbClr val="1E2761"/>
                </a:solidFill>
                <a:latin typeface="Calibri"/>
              </a:rPr>
              <a:t>Claude Opus / Fable</a:t>
            </a:r>
          </a:p>
          <a:p>
            <a:pPr algn="ctr"/>
            <a:r>
              <a:rPr sz="950" b="0">
                <a:solidFill>
                  <a:srgbClr val="5C667A"/>
                </a:solidFill>
                <a:latin typeface="Calibri"/>
              </a:rPr>
              <a:t>Anthropic</a:t>
            </a:r>
          </a:p>
        </p:txBody>
      </p:sp>
      <p:sp>
        <p:nvSpPr>
          <p:cNvPr id="15" name="Rectangle 14"/>
          <p:cNvSpPr/>
          <p:nvPr/>
        </p:nvSpPr>
        <p:spPr>
          <a:xfrm>
            <a:off x="5486400" y="3063240"/>
            <a:ext cx="1600200" cy="594360"/>
          </a:xfrm>
          <a:prstGeom prst="rect">
            <a:avLst/>
          </a:prstGeom>
          <a:solidFill>
            <a:srgbClr val="FFFFFF"/>
          </a:solidFill>
          <a:ln w="9525">
            <a:solidFill>
              <a:srgbClr val="D5DA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486400" y="3063240"/>
            <a:ext cx="1600200" cy="594360"/>
          </a:xfrm>
          <a:prstGeom prst="rect">
            <a:avLst/>
          </a:prstGeom>
          <a:noFill/>
        </p:spPr>
        <p:txBody>
          <a:bodyPr wrap="square" anchor="ctr" lIns="45720" rIns="45720" tIns="27432" bIns="27432">
            <a:spAutoFit/>
          </a:bodyPr>
          <a:lstStyle/>
          <a:p>
            <a:pPr algn="ctr"/>
            <a:r>
              <a:rPr sz="1050" b="1">
                <a:solidFill>
                  <a:srgbClr val="1E2761"/>
                </a:solidFill>
                <a:latin typeface="Calibri"/>
              </a:rPr>
              <a:t>GPT family</a:t>
            </a:r>
          </a:p>
          <a:p>
            <a:pPr algn="ctr"/>
            <a:r>
              <a:rPr sz="950" b="0">
                <a:solidFill>
                  <a:srgbClr val="5C667A"/>
                </a:solidFill>
                <a:latin typeface="Calibri"/>
              </a:rPr>
              <a:t>OpenAI</a:t>
            </a:r>
          </a:p>
        </p:txBody>
      </p:sp>
      <p:sp>
        <p:nvSpPr>
          <p:cNvPr id="17" name="Rectangle 16"/>
          <p:cNvSpPr/>
          <p:nvPr/>
        </p:nvSpPr>
        <p:spPr>
          <a:xfrm>
            <a:off x="5486400" y="3794760"/>
            <a:ext cx="1600200" cy="594360"/>
          </a:xfrm>
          <a:prstGeom prst="rect">
            <a:avLst/>
          </a:prstGeom>
          <a:solidFill>
            <a:srgbClr val="FFFFFF"/>
          </a:solidFill>
          <a:ln w="9525">
            <a:solidFill>
              <a:srgbClr val="D5DA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486400" y="3794760"/>
            <a:ext cx="1600200" cy="594360"/>
          </a:xfrm>
          <a:prstGeom prst="rect">
            <a:avLst/>
          </a:prstGeom>
          <a:noFill/>
        </p:spPr>
        <p:txBody>
          <a:bodyPr wrap="square" anchor="ctr" lIns="45720" rIns="45720" tIns="27432" bIns="27432">
            <a:spAutoFit/>
          </a:bodyPr>
          <a:lstStyle/>
          <a:p>
            <a:pPr algn="ctr"/>
            <a:r>
              <a:rPr sz="1050" b="1">
                <a:solidFill>
                  <a:srgbClr val="1E2761"/>
                </a:solidFill>
                <a:latin typeface="Calibri"/>
              </a:rPr>
              <a:t>Gemini</a:t>
            </a:r>
          </a:p>
          <a:p>
            <a:pPr algn="ctr"/>
            <a:r>
              <a:rPr sz="950" b="0">
                <a:solidFill>
                  <a:srgbClr val="5C667A"/>
                </a:solidFill>
                <a:latin typeface="Calibri"/>
              </a:rPr>
              <a:t>Google</a:t>
            </a:r>
          </a:p>
        </p:txBody>
      </p:sp>
      <p:sp>
        <p:nvSpPr>
          <p:cNvPr id="19" name="Rectangle 18"/>
          <p:cNvSpPr/>
          <p:nvPr/>
        </p:nvSpPr>
        <p:spPr>
          <a:xfrm>
            <a:off x="5486400" y="4526280"/>
            <a:ext cx="1600200" cy="594360"/>
          </a:xfrm>
          <a:prstGeom prst="rect">
            <a:avLst/>
          </a:prstGeom>
          <a:solidFill>
            <a:srgbClr val="FFFFFF"/>
          </a:solidFill>
          <a:ln w="9525">
            <a:solidFill>
              <a:srgbClr val="D5DA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486400" y="4526280"/>
            <a:ext cx="1600200" cy="594360"/>
          </a:xfrm>
          <a:prstGeom prst="rect">
            <a:avLst/>
          </a:prstGeom>
          <a:noFill/>
        </p:spPr>
        <p:txBody>
          <a:bodyPr wrap="square" anchor="ctr" lIns="45720" rIns="45720" tIns="27432" bIns="27432">
            <a:spAutoFit/>
          </a:bodyPr>
          <a:lstStyle/>
          <a:p>
            <a:pPr algn="ctr"/>
            <a:r>
              <a:rPr sz="1050" b="1">
                <a:solidFill>
                  <a:srgbClr val="1E2761"/>
                </a:solidFill>
                <a:latin typeface="Calibri"/>
              </a:rPr>
              <a:t>Others (Grok, Kimi…)</a:t>
            </a:r>
          </a:p>
          <a:p>
            <a:pPr algn="ctr"/>
            <a:r>
              <a:rPr sz="950" b="0">
                <a:solidFill>
                  <a:srgbClr val="5C667A"/>
                </a:solidFill>
                <a:latin typeface="Calibri"/>
              </a:rPr>
              <a:t>various</a:t>
            </a:r>
          </a:p>
        </p:txBody>
      </p:sp>
      <p:cxnSp>
        <p:nvCxnSpPr>
          <p:cNvPr id="21" name="Connector 20"/>
          <p:cNvCxnSpPr/>
          <p:nvPr/>
        </p:nvCxnSpPr>
        <p:spPr>
          <a:xfrm>
            <a:off x="4937760" y="2514600"/>
            <a:ext cx="548640" cy="0"/>
          </a:xfrm>
          <a:prstGeom prst="line">
            <a:avLst/>
          </a:prstGeom>
          <a:ln w="19050">
            <a:solidFill>
              <a:srgbClr val="5C66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956048" y="2011680"/>
            <a:ext cx="548640" cy="457200"/>
          </a:xfrm>
          <a:prstGeom prst="rect">
            <a:avLst/>
          </a:prstGeom>
          <a:noFill/>
        </p:spPr>
        <p:txBody>
          <a:bodyPr wrap="square" anchor="t" lIns="45720" rIns="45720" tIns="27432" bIns="27432">
            <a:spAutoFit/>
          </a:bodyPr>
          <a:lstStyle/>
          <a:p>
            <a:pPr algn="ctr"/>
            <a:r>
              <a:rPr sz="900" b="0">
                <a:solidFill>
                  <a:srgbClr val="5C667A"/>
                </a:solidFill>
                <a:latin typeface="Calibri"/>
              </a:rPr>
              <a:t>picks one</a:t>
            </a:r>
          </a:p>
        </p:txBody>
      </p:sp>
      <p:sp>
        <p:nvSpPr>
          <p:cNvPr id="23" name="Rectangle 22"/>
          <p:cNvSpPr/>
          <p:nvPr/>
        </p:nvSpPr>
        <p:spPr>
          <a:xfrm>
            <a:off x="2834640" y="3931920"/>
            <a:ext cx="2103120" cy="1097280"/>
          </a:xfrm>
          <a:prstGeom prst="rect">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2834640" y="3931920"/>
            <a:ext cx="2103120" cy="1097280"/>
          </a:xfrm>
          <a:prstGeom prst="rect">
            <a:avLst/>
          </a:prstGeom>
          <a:noFill/>
        </p:spPr>
        <p:txBody>
          <a:bodyPr wrap="square" anchor="ctr" lIns="45720" rIns="45720" tIns="27432" bIns="27432">
            <a:spAutoFit/>
          </a:bodyPr>
          <a:lstStyle/>
          <a:p>
            <a:pPr algn="ctr"/>
            <a:r>
              <a:rPr sz="1150" b="1">
                <a:solidFill>
                  <a:srgbClr val="FFFFFF"/>
                </a:solidFill>
                <a:latin typeface="Calibri"/>
              </a:rPr>
              <a:t>Your repo folder
files · data · git history</a:t>
            </a:r>
          </a:p>
        </p:txBody>
      </p:sp>
      <p:cxnSp>
        <p:nvCxnSpPr>
          <p:cNvPr id="25" name="Connector 24"/>
          <p:cNvCxnSpPr/>
          <p:nvPr/>
        </p:nvCxnSpPr>
        <p:spPr>
          <a:xfrm>
            <a:off x="3886200" y="3337560"/>
            <a:ext cx="0" cy="594360"/>
          </a:xfrm>
          <a:prstGeom prst="line">
            <a:avLst/>
          </a:prstGeom>
          <a:ln w="19050">
            <a:solidFill>
              <a:srgbClr val="5C66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822960" y="3749039"/>
            <a:ext cx="1828800" cy="1463040"/>
          </a:xfrm>
          <a:prstGeom prst="rect">
            <a:avLst/>
          </a:prstGeom>
          <a:noFill/>
        </p:spPr>
        <p:txBody>
          <a:bodyPr wrap="square" anchor="t" lIns="45720" rIns="45720" tIns="27432" bIns="27432">
            <a:spAutoFit/>
          </a:bodyPr>
          <a:lstStyle/>
          <a:p>
            <a:pPr algn="l"/>
            <a:r>
              <a:rPr sz="1150" b="0">
                <a:solidFill>
                  <a:srgbClr val="1F1F2E"/>
                </a:solidFill>
                <a:latin typeface="Calibri"/>
              </a:rPr>
              <a:t>Nothing happens to your files without a diff you can see and accept.</a:t>
            </a:r>
          </a:p>
        </p:txBody>
      </p:sp>
      <p:sp>
        <p:nvSpPr>
          <p:cNvPr id="27" name="TextBox 26"/>
          <p:cNvSpPr txBox="1"/>
          <p:nvPr/>
        </p:nvSpPr>
        <p:spPr>
          <a:xfrm>
            <a:off x="822960" y="5212080"/>
            <a:ext cx="6217920" cy="914400"/>
          </a:xfrm>
          <a:prstGeom prst="rect">
            <a:avLst/>
          </a:prstGeom>
          <a:noFill/>
        </p:spPr>
        <p:txBody>
          <a:bodyPr wrap="square" anchor="t" lIns="45720" rIns="45720" tIns="27432" bIns="27432">
            <a:spAutoFit/>
          </a:bodyPr>
          <a:lstStyle/>
          <a:p>
            <a:pPr algn="l"/>
            <a:r>
              <a:rPr sz="1200" b="1">
                <a:solidFill>
                  <a:srgbClr val="1E2761"/>
                </a:solidFill>
                <a:latin typeface="Calibri"/>
              </a:rPr>
              <a:t>Copilot is not one model. It is a harness that lets many frontier models from different labs do the work, with the same tools and the same safety rails, inside your repo.</a:t>
            </a:r>
          </a:p>
        </p:txBody>
      </p:sp>
      <p:sp>
        <p:nvSpPr>
          <p:cNvPr id="28" name="TextBox 27"/>
          <p:cNvSpPr txBox="1"/>
          <p:nvPr/>
        </p:nvSpPr>
        <p:spPr>
          <a:xfrm>
            <a:off x="7498079" y="1371600"/>
            <a:ext cx="4114800" cy="365760"/>
          </a:xfrm>
          <a:prstGeom prst="rect">
            <a:avLst/>
          </a:prstGeom>
          <a:noFill/>
        </p:spPr>
        <p:txBody>
          <a:bodyPr wrap="square" anchor="t" lIns="45720" rIns="45720" tIns="27432" bIns="27432">
            <a:spAutoFit/>
          </a:bodyPr>
          <a:lstStyle/>
          <a:p>
            <a:pPr algn="l"/>
            <a:r>
              <a:rPr sz="1600" b="1">
                <a:solidFill>
                  <a:srgbClr val="1E2761"/>
                </a:solidFill>
                <a:latin typeface="Calibri"/>
              </a:rPr>
              <a:t>What that means in practice</a:t>
            </a:r>
          </a:p>
        </p:txBody>
      </p:sp>
      <p:sp>
        <p:nvSpPr>
          <p:cNvPr id="29" name="TextBox 28"/>
          <p:cNvSpPr txBox="1"/>
          <p:nvPr/>
        </p:nvSpPr>
        <p:spPr>
          <a:xfrm>
            <a:off x="7498079" y="1828800"/>
            <a:ext cx="4114800" cy="4480560"/>
          </a:xfrm>
          <a:prstGeom prst="rect">
            <a:avLst/>
          </a:prstGeom>
          <a:noFill/>
        </p:spPr>
        <p:txBody>
          <a:bodyPr wrap="square" anchor="t" lIns="45720" rIns="45720" tIns="27432" bIns="27432">
            <a:spAutoFit/>
          </a:bodyPr>
          <a:lstStyle/>
          <a:p>
            <a:pPr algn="l"/>
            <a:r>
              <a:rPr sz="1250" b="0">
                <a:solidFill>
                  <a:srgbClr val="1F1F2E"/>
                </a:solidFill>
                <a:latin typeface="Calibri"/>
              </a:rPr>
              <a:t>You describe the outcome; the agent works out the steps, shows a plan and asks before anything risky.</a:t>
            </a:r>
          </a:p>
          <a:p>
            <a:pPr algn="l">
              <a:spcBef>
                <a:spcPts val="800"/>
              </a:spcBef>
            </a:pPr>
            <a:r>
              <a:rPr sz="1250" b="0">
                <a:solidFill>
                  <a:srgbClr val="1F1F2E"/>
                </a:solidFill>
                <a:latin typeface="Calibri"/>
              </a:rPr>
              <a:t>It reads the repo (instructions, data, code) so answers are grounded in your files, not generic.</a:t>
            </a:r>
          </a:p>
          <a:p>
            <a:pPr algn="l">
              <a:spcBef>
                <a:spcPts val="800"/>
              </a:spcBef>
            </a:pPr>
            <a:r>
              <a:rPr sz="1250" b="0">
                <a:solidFill>
                  <a:srgbClr val="1F1F2E"/>
                </a:solidFill>
                <a:latin typeface="Calibri"/>
              </a:rPr>
              <a:t>It can run scripts, install packages, build Excel/Word outputs and commit, with your approval.</a:t>
            </a:r>
          </a:p>
          <a:p>
            <a:pPr algn="l">
              <a:spcBef>
                <a:spcPts val="800"/>
              </a:spcBef>
            </a:pPr>
            <a:r>
              <a:rPr sz="1250" b="0">
                <a:solidFill>
                  <a:srgbClr val="1F1F2E"/>
                </a:solidFill>
                <a:latin typeface="Calibri"/>
              </a:rPr>
              <a:t>You choose the model per session and can switch mid-task; the conversation carries over.</a:t>
            </a:r>
          </a:p>
          <a:p>
            <a:pPr algn="l">
              <a:spcBef>
                <a:spcPts val="1000"/>
              </a:spcBef>
            </a:pPr>
            <a:r>
              <a:rPr sz="1250" b="1">
                <a:solidFill>
                  <a:srgbClr val="B03A2E"/>
                </a:solidFill>
                <a:latin typeface="Calibri"/>
              </a:rPr>
              <a:t>Never paste passwords, tokens or personal data into a prompt; keep secrets out of the repo too.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7315200" cy="274320"/>
          </a:xfrm>
          <a:prstGeom prst="rect">
            <a:avLst/>
          </a:prstGeom>
          <a:noFill/>
        </p:spPr>
        <p:txBody>
          <a:bodyPr wrap="square" anchor="t" lIns="45720" rIns="45720" tIns="27432" bIns="27432">
            <a:spAutoFit/>
          </a:bodyPr>
          <a:lstStyle/>
          <a:p>
            <a:pPr algn="l"/>
            <a:r>
              <a:rPr sz="1200" b="1">
                <a:solidFill>
                  <a:srgbClr val="0F7B6C"/>
                </a:solidFill>
                <a:latin typeface="Calibri"/>
              </a:rPr>
              <a:t>APPENDIX 1 · WHICH MODEL</a:t>
            </a:r>
          </a:p>
        </p:txBody>
      </p:sp>
      <p:sp>
        <p:nvSpPr>
          <p:cNvPr id="3" name="TextBox 2"/>
          <p:cNvSpPr txBox="1"/>
          <p:nvPr/>
        </p:nvSpPr>
        <p:spPr>
          <a:xfrm>
            <a:off x="548640" y="502920"/>
            <a:ext cx="11064240" cy="685800"/>
          </a:xfrm>
          <a:prstGeom prst="rect">
            <a:avLst/>
          </a:prstGeom>
          <a:noFill/>
        </p:spPr>
        <p:txBody>
          <a:bodyPr wrap="square" anchor="t" lIns="45720" rIns="45720" tIns="27432" bIns="27432">
            <a:spAutoFit/>
          </a:bodyPr>
          <a:lstStyle/>
          <a:p>
            <a:pPr algn="l"/>
            <a:r>
              <a:rPr sz="3000" b="0">
                <a:solidFill>
                  <a:srgbClr val="1E2761"/>
                </a:solidFill>
                <a:latin typeface="Cambria"/>
              </a:rPr>
              <a:t>Which model to use: start with Sonnet, escalate when it matters</a:t>
            </a:r>
          </a:p>
        </p:txBody>
      </p:sp>
      <p:sp>
        <p:nvSpPr>
          <p:cNvPr id="4" name="TextBox 3"/>
          <p:cNvSpPr txBox="1"/>
          <p:nvPr/>
        </p:nvSpPr>
        <p:spPr>
          <a:xfrm>
            <a:off x="548640" y="6473952"/>
            <a:ext cx="8686800" cy="228600"/>
          </a:xfrm>
          <a:prstGeom prst="rect">
            <a:avLst/>
          </a:prstGeom>
          <a:noFill/>
        </p:spPr>
        <p:txBody>
          <a:bodyPr wrap="square" anchor="t" lIns="45720" rIns="45720" tIns="27432" bIns="27432">
            <a:spAutoFit/>
          </a:bodyPr>
          <a:lstStyle/>
          <a:p>
            <a:pPr algn="l"/>
            <a:r>
              <a:rPr sz="900" b="0">
                <a:solidFill>
                  <a:srgbClr val="5C667A"/>
                </a:solidFill>
                <a:latin typeface="Calibri"/>
              </a:rPr>
              <a:t>Using GitHub Copilot with our repositories: user guide   ·   Screens and model names change over time</a:t>
            </a:r>
          </a:p>
        </p:txBody>
      </p:sp>
      <p:sp>
        <p:nvSpPr>
          <p:cNvPr id="5" name="TextBox 4"/>
          <p:cNvSpPr txBox="1"/>
          <p:nvPr/>
        </p:nvSpPr>
        <p:spPr>
          <a:xfrm>
            <a:off x="548640" y="1325880"/>
            <a:ext cx="2011680" cy="320040"/>
          </a:xfrm>
          <a:prstGeom prst="rect">
            <a:avLst/>
          </a:prstGeom>
          <a:noFill/>
        </p:spPr>
        <p:txBody>
          <a:bodyPr wrap="square" anchor="t" lIns="45720" rIns="45720" tIns="27432" bIns="27432">
            <a:spAutoFit/>
          </a:bodyPr>
          <a:lstStyle/>
          <a:p>
            <a:pPr algn="l"/>
            <a:r>
              <a:rPr sz="1200" b="1">
                <a:solidFill>
                  <a:srgbClr val="5C667A"/>
                </a:solidFill>
                <a:latin typeface="Calibri"/>
              </a:rPr>
              <a:t>Model</a:t>
            </a:r>
          </a:p>
        </p:txBody>
      </p:sp>
      <p:sp>
        <p:nvSpPr>
          <p:cNvPr id="6" name="TextBox 5"/>
          <p:cNvSpPr txBox="1"/>
          <p:nvPr/>
        </p:nvSpPr>
        <p:spPr>
          <a:xfrm>
            <a:off x="2651760" y="1325880"/>
            <a:ext cx="1828800" cy="320040"/>
          </a:xfrm>
          <a:prstGeom prst="rect">
            <a:avLst/>
          </a:prstGeom>
          <a:noFill/>
        </p:spPr>
        <p:txBody>
          <a:bodyPr wrap="square" anchor="t" lIns="45720" rIns="45720" tIns="27432" bIns="27432">
            <a:spAutoFit/>
          </a:bodyPr>
          <a:lstStyle/>
          <a:p>
            <a:pPr algn="l"/>
            <a:r>
              <a:rPr sz="1200" b="1">
                <a:solidFill>
                  <a:srgbClr val="5C667A"/>
                </a:solidFill>
                <a:latin typeface="Calibri"/>
              </a:rPr>
              <a:t>Role</a:t>
            </a:r>
          </a:p>
        </p:txBody>
      </p:sp>
      <p:sp>
        <p:nvSpPr>
          <p:cNvPr id="7" name="TextBox 6"/>
          <p:cNvSpPr txBox="1"/>
          <p:nvPr/>
        </p:nvSpPr>
        <p:spPr>
          <a:xfrm>
            <a:off x="4572000" y="1325880"/>
            <a:ext cx="4480560" cy="320040"/>
          </a:xfrm>
          <a:prstGeom prst="rect">
            <a:avLst/>
          </a:prstGeom>
          <a:noFill/>
        </p:spPr>
        <p:txBody>
          <a:bodyPr wrap="square" anchor="t" lIns="45720" rIns="45720" tIns="27432" bIns="27432">
            <a:spAutoFit/>
          </a:bodyPr>
          <a:lstStyle/>
          <a:p>
            <a:pPr algn="l"/>
            <a:r>
              <a:rPr sz="1200" b="1">
                <a:solidFill>
                  <a:srgbClr val="5C667A"/>
                </a:solidFill>
                <a:latin typeface="Calibri"/>
              </a:rPr>
              <a:t>What it is good for</a:t>
            </a:r>
          </a:p>
        </p:txBody>
      </p:sp>
      <p:sp>
        <p:nvSpPr>
          <p:cNvPr id="8" name="TextBox 7"/>
          <p:cNvSpPr txBox="1"/>
          <p:nvPr/>
        </p:nvSpPr>
        <p:spPr>
          <a:xfrm>
            <a:off x="9144000" y="1325880"/>
            <a:ext cx="2468880" cy="320040"/>
          </a:xfrm>
          <a:prstGeom prst="rect">
            <a:avLst/>
          </a:prstGeom>
          <a:noFill/>
        </p:spPr>
        <p:txBody>
          <a:bodyPr wrap="square" anchor="t" lIns="45720" rIns="45720" tIns="27432" bIns="27432">
            <a:spAutoFit/>
          </a:bodyPr>
          <a:lstStyle/>
          <a:p>
            <a:pPr algn="l"/>
            <a:r>
              <a:rPr sz="1200" b="1">
                <a:solidFill>
                  <a:srgbClr val="5C667A"/>
                </a:solidFill>
                <a:latin typeface="Calibri"/>
              </a:rPr>
              <a:t>Rule of thumb</a:t>
            </a:r>
          </a:p>
        </p:txBody>
      </p:sp>
      <p:sp>
        <p:nvSpPr>
          <p:cNvPr id="9" name="Rectangle 8"/>
          <p:cNvSpPr/>
          <p:nvPr/>
        </p:nvSpPr>
        <p:spPr>
          <a:xfrm>
            <a:off x="548640" y="1691640"/>
            <a:ext cx="11091672" cy="9144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48640" y="1691640"/>
            <a:ext cx="91440" cy="914400"/>
          </a:xfrm>
          <a:prstGeom prst="rect">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1691640"/>
            <a:ext cx="1828800" cy="914400"/>
          </a:xfrm>
          <a:prstGeom prst="rect">
            <a:avLst/>
          </a:prstGeom>
          <a:noFill/>
        </p:spPr>
        <p:txBody>
          <a:bodyPr wrap="square" anchor="ctr" lIns="45720" rIns="45720" tIns="27432" bIns="27432">
            <a:spAutoFit/>
          </a:bodyPr>
          <a:lstStyle/>
          <a:p>
            <a:pPr algn="l"/>
            <a:r>
              <a:rPr sz="1500" b="1">
                <a:solidFill>
                  <a:srgbClr val="1E2761"/>
                </a:solidFill>
                <a:latin typeface="Calibri"/>
              </a:rPr>
              <a:t>Claude Sonnet</a:t>
            </a:r>
          </a:p>
        </p:txBody>
      </p:sp>
      <p:sp>
        <p:nvSpPr>
          <p:cNvPr id="12" name="TextBox 11"/>
          <p:cNvSpPr txBox="1"/>
          <p:nvPr/>
        </p:nvSpPr>
        <p:spPr>
          <a:xfrm>
            <a:off x="2651760" y="1691640"/>
            <a:ext cx="1828800" cy="914400"/>
          </a:xfrm>
          <a:prstGeom prst="rect">
            <a:avLst/>
          </a:prstGeom>
          <a:noFill/>
        </p:spPr>
        <p:txBody>
          <a:bodyPr wrap="square" anchor="ctr" lIns="45720" rIns="45720" tIns="27432" bIns="27432">
            <a:spAutoFit/>
          </a:bodyPr>
          <a:lstStyle/>
          <a:p>
            <a:pPr algn="l"/>
            <a:r>
              <a:rPr sz="1250" b="1">
                <a:solidFill>
                  <a:srgbClr val="0F7B6C"/>
                </a:solidFill>
                <a:latin typeface="Calibri"/>
              </a:rPr>
              <a:t>Everyday / basic work</a:t>
            </a:r>
          </a:p>
        </p:txBody>
      </p:sp>
      <p:sp>
        <p:nvSpPr>
          <p:cNvPr id="13" name="TextBox 12"/>
          <p:cNvSpPr txBox="1"/>
          <p:nvPr/>
        </p:nvSpPr>
        <p:spPr>
          <a:xfrm>
            <a:off x="4572000" y="1691640"/>
            <a:ext cx="4480560" cy="914400"/>
          </a:xfrm>
          <a:prstGeom prst="rect">
            <a:avLst/>
          </a:prstGeom>
          <a:noFill/>
        </p:spPr>
        <p:txBody>
          <a:bodyPr wrap="square" anchor="ctr" lIns="45720" rIns="45720" tIns="27432" bIns="27432">
            <a:spAutoFit/>
          </a:bodyPr>
          <a:lstStyle/>
          <a:p>
            <a:pPr algn="l"/>
            <a:r>
              <a:rPr sz="1150" b="0">
                <a:solidFill>
                  <a:srgbClr val="1F1F2E"/>
                </a:solidFill>
                <a:latin typeface="Calibri"/>
              </a:rPr>
              <a:t>Fast, cheap in credits, very capable. Data wrangling, drafting, small code changes, following the Excise or Dashboard instructions, explaining errors.</a:t>
            </a:r>
          </a:p>
        </p:txBody>
      </p:sp>
      <p:sp>
        <p:nvSpPr>
          <p:cNvPr id="14" name="TextBox 13"/>
          <p:cNvSpPr txBox="1"/>
          <p:nvPr/>
        </p:nvSpPr>
        <p:spPr>
          <a:xfrm>
            <a:off x="9144000" y="1691640"/>
            <a:ext cx="2423160" cy="914400"/>
          </a:xfrm>
          <a:prstGeom prst="rect">
            <a:avLst/>
          </a:prstGeom>
          <a:noFill/>
        </p:spPr>
        <p:txBody>
          <a:bodyPr wrap="square" anchor="ctr" lIns="45720" rIns="45720" tIns="27432" bIns="27432">
            <a:spAutoFit/>
          </a:bodyPr>
          <a:lstStyle/>
          <a:p>
            <a:pPr algn="l"/>
            <a:r>
              <a:rPr sz="1150" b="1">
                <a:solidFill>
                  <a:srgbClr val="1E2761"/>
                </a:solidFill>
                <a:latin typeface="Calibri"/>
              </a:rPr>
              <a:t>Default for most sessions.</a:t>
            </a:r>
          </a:p>
        </p:txBody>
      </p:sp>
      <p:sp>
        <p:nvSpPr>
          <p:cNvPr id="15" name="Rectangle 14"/>
          <p:cNvSpPr/>
          <p:nvPr/>
        </p:nvSpPr>
        <p:spPr>
          <a:xfrm>
            <a:off x="548640" y="2715768"/>
            <a:ext cx="11091672" cy="9144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48640" y="2715768"/>
            <a:ext cx="91440" cy="914400"/>
          </a:xfrm>
          <a:prstGeom prst="rect">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77240" y="2715768"/>
            <a:ext cx="1828800" cy="914400"/>
          </a:xfrm>
          <a:prstGeom prst="rect">
            <a:avLst/>
          </a:prstGeom>
          <a:noFill/>
        </p:spPr>
        <p:txBody>
          <a:bodyPr wrap="square" anchor="ctr" lIns="45720" rIns="45720" tIns="27432" bIns="27432">
            <a:spAutoFit/>
          </a:bodyPr>
          <a:lstStyle/>
          <a:p>
            <a:pPr algn="l"/>
            <a:r>
              <a:rPr sz="1500" b="1">
                <a:solidFill>
                  <a:srgbClr val="1E2761"/>
                </a:solidFill>
                <a:latin typeface="Calibri"/>
              </a:rPr>
              <a:t>Claude Opus</a:t>
            </a:r>
          </a:p>
        </p:txBody>
      </p:sp>
      <p:sp>
        <p:nvSpPr>
          <p:cNvPr id="18" name="TextBox 17"/>
          <p:cNvSpPr txBox="1"/>
          <p:nvPr/>
        </p:nvSpPr>
        <p:spPr>
          <a:xfrm>
            <a:off x="2651760" y="2715768"/>
            <a:ext cx="1828800" cy="914400"/>
          </a:xfrm>
          <a:prstGeom prst="rect">
            <a:avLst/>
          </a:prstGeom>
          <a:noFill/>
        </p:spPr>
        <p:txBody>
          <a:bodyPr wrap="square" anchor="ctr" lIns="45720" rIns="45720" tIns="27432" bIns="27432">
            <a:spAutoFit/>
          </a:bodyPr>
          <a:lstStyle/>
          <a:p>
            <a:pPr algn="l"/>
            <a:r>
              <a:rPr sz="1250" b="1">
                <a:solidFill>
                  <a:srgbClr val="E08A1E"/>
                </a:solidFill>
                <a:latin typeface="Calibri"/>
              </a:rPr>
              <a:t>Hard problems</a:t>
            </a:r>
          </a:p>
        </p:txBody>
      </p:sp>
      <p:sp>
        <p:nvSpPr>
          <p:cNvPr id="19" name="TextBox 18"/>
          <p:cNvSpPr txBox="1"/>
          <p:nvPr/>
        </p:nvSpPr>
        <p:spPr>
          <a:xfrm>
            <a:off x="4572000" y="2715768"/>
            <a:ext cx="4480560" cy="914400"/>
          </a:xfrm>
          <a:prstGeom prst="rect">
            <a:avLst/>
          </a:prstGeom>
          <a:noFill/>
        </p:spPr>
        <p:txBody>
          <a:bodyPr wrap="square" anchor="ctr" lIns="45720" rIns="45720" tIns="27432" bIns="27432">
            <a:spAutoFit/>
          </a:bodyPr>
          <a:lstStyle/>
          <a:p>
            <a:pPr algn="l"/>
            <a:r>
              <a:rPr sz="1150" b="0">
                <a:solidFill>
                  <a:srgbClr val="1F1F2E"/>
                </a:solidFill>
                <a:latin typeface="Calibri"/>
              </a:rPr>
              <a:t>Deeper reasoning, large refactors, debugging something subtle, multi-step plans across many files. Slower and several times the credits.</a:t>
            </a:r>
          </a:p>
        </p:txBody>
      </p:sp>
      <p:sp>
        <p:nvSpPr>
          <p:cNvPr id="20" name="TextBox 19"/>
          <p:cNvSpPr txBox="1"/>
          <p:nvPr/>
        </p:nvSpPr>
        <p:spPr>
          <a:xfrm>
            <a:off x="9144000" y="2715768"/>
            <a:ext cx="2423160" cy="914400"/>
          </a:xfrm>
          <a:prstGeom prst="rect">
            <a:avLst/>
          </a:prstGeom>
          <a:noFill/>
        </p:spPr>
        <p:txBody>
          <a:bodyPr wrap="square" anchor="ctr" lIns="45720" rIns="45720" tIns="27432" bIns="27432">
            <a:spAutoFit/>
          </a:bodyPr>
          <a:lstStyle/>
          <a:p>
            <a:pPr algn="l"/>
            <a:r>
              <a:rPr sz="1150" b="1">
                <a:solidFill>
                  <a:srgbClr val="1E2761"/>
                </a:solidFill>
                <a:latin typeface="Calibri"/>
              </a:rPr>
              <a:t>Use when Sonnet stalls or the stakes are high.</a:t>
            </a:r>
          </a:p>
        </p:txBody>
      </p:sp>
      <p:sp>
        <p:nvSpPr>
          <p:cNvPr id="21" name="Rectangle 20"/>
          <p:cNvSpPr/>
          <p:nvPr/>
        </p:nvSpPr>
        <p:spPr>
          <a:xfrm>
            <a:off x="548640" y="3739896"/>
            <a:ext cx="11091672" cy="9144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548640" y="3739896"/>
            <a:ext cx="91440" cy="914400"/>
          </a:xfrm>
          <a:prstGeom prst="rect">
            <a:avLst/>
          </a:prstGeom>
          <a:solidFill>
            <a:srgbClr val="2E3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77240" y="3739896"/>
            <a:ext cx="1828800" cy="914400"/>
          </a:xfrm>
          <a:prstGeom prst="rect">
            <a:avLst/>
          </a:prstGeom>
          <a:noFill/>
        </p:spPr>
        <p:txBody>
          <a:bodyPr wrap="square" anchor="ctr" lIns="45720" rIns="45720" tIns="27432" bIns="27432">
            <a:spAutoFit/>
          </a:bodyPr>
          <a:lstStyle/>
          <a:p>
            <a:pPr algn="l"/>
            <a:r>
              <a:rPr sz="1500" b="1">
                <a:solidFill>
                  <a:srgbClr val="1E2761"/>
                </a:solidFill>
                <a:latin typeface="Calibri"/>
              </a:rPr>
              <a:t>Claude Fable</a:t>
            </a:r>
          </a:p>
        </p:txBody>
      </p:sp>
      <p:sp>
        <p:nvSpPr>
          <p:cNvPr id="24" name="TextBox 23"/>
          <p:cNvSpPr txBox="1"/>
          <p:nvPr/>
        </p:nvSpPr>
        <p:spPr>
          <a:xfrm>
            <a:off x="2651760" y="3739896"/>
            <a:ext cx="1828800" cy="914400"/>
          </a:xfrm>
          <a:prstGeom prst="rect">
            <a:avLst/>
          </a:prstGeom>
          <a:noFill/>
        </p:spPr>
        <p:txBody>
          <a:bodyPr wrap="square" anchor="ctr" lIns="45720" rIns="45720" tIns="27432" bIns="27432">
            <a:spAutoFit/>
          </a:bodyPr>
          <a:lstStyle/>
          <a:p>
            <a:pPr algn="l"/>
            <a:r>
              <a:rPr sz="1250" b="1">
                <a:solidFill>
                  <a:srgbClr val="2E3A7A"/>
                </a:solidFill>
                <a:latin typeface="Calibri"/>
              </a:rPr>
              <a:t>Latest generation</a:t>
            </a:r>
          </a:p>
        </p:txBody>
      </p:sp>
      <p:sp>
        <p:nvSpPr>
          <p:cNvPr id="25" name="TextBox 24"/>
          <p:cNvSpPr txBox="1"/>
          <p:nvPr/>
        </p:nvSpPr>
        <p:spPr>
          <a:xfrm>
            <a:off x="4572000" y="3739896"/>
            <a:ext cx="4480560" cy="914400"/>
          </a:xfrm>
          <a:prstGeom prst="rect">
            <a:avLst/>
          </a:prstGeom>
          <a:noFill/>
        </p:spPr>
        <p:txBody>
          <a:bodyPr wrap="square" anchor="ctr" lIns="45720" rIns="45720" tIns="27432" bIns="27432">
            <a:spAutoFit/>
          </a:bodyPr>
          <a:lstStyle/>
          <a:p>
            <a:pPr algn="l"/>
            <a:r>
              <a:rPr sz="1150" b="0">
                <a:solidFill>
                  <a:srgbClr val="1F1F2E"/>
                </a:solidFill>
                <a:latin typeface="Calibri"/>
              </a:rPr>
              <a:t>The newest, most capable Claude. Best quality on long, ambiguous or research-like tasks. Highest credit cost; pick it for final versions and tricky analysis.</a:t>
            </a:r>
          </a:p>
        </p:txBody>
      </p:sp>
      <p:sp>
        <p:nvSpPr>
          <p:cNvPr id="26" name="TextBox 25"/>
          <p:cNvSpPr txBox="1"/>
          <p:nvPr/>
        </p:nvSpPr>
        <p:spPr>
          <a:xfrm>
            <a:off x="9144000" y="3739896"/>
            <a:ext cx="2423160" cy="914400"/>
          </a:xfrm>
          <a:prstGeom prst="rect">
            <a:avLst/>
          </a:prstGeom>
          <a:noFill/>
        </p:spPr>
        <p:txBody>
          <a:bodyPr wrap="square" anchor="ctr" lIns="45720" rIns="45720" tIns="27432" bIns="27432">
            <a:spAutoFit/>
          </a:bodyPr>
          <a:lstStyle/>
          <a:p>
            <a:pPr algn="l"/>
            <a:r>
              <a:rPr sz="1150" b="1">
                <a:solidFill>
                  <a:srgbClr val="1E2761"/>
                </a:solidFill>
                <a:latin typeface="Calibri"/>
              </a:rPr>
              <a:t>Use for the latest-and-best when quality matters most.</a:t>
            </a:r>
          </a:p>
        </p:txBody>
      </p:sp>
      <p:sp>
        <p:nvSpPr>
          <p:cNvPr id="27" name="Rectangle 26"/>
          <p:cNvSpPr/>
          <p:nvPr/>
        </p:nvSpPr>
        <p:spPr>
          <a:xfrm>
            <a:off x="548640" y="4764024"/>
            <a:ext cx="11091672" cy="9144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548640" y="4764024"/>
            <a:ext cx="91440" cy="914400"/>
          </a:xfrm>
          <a:prstGeom prst="rect">
            <a:avLst/>
          </a:prstGeom>
          <a:solidFill>
            <a:srgbClr val="5C66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77240" y="4764024"/>
            <a:ext cx="1828800" cy="914400"/>
          </a:xfrm>
          <a:prstGeom prst="rect">
            <a:avLst/>
          </a:prstGeom>
          <a:noFill/>
        </p:spPr>
        <p:txBody>
          <a:bodyPr wrap="square" anchor="ctr" lIns="45720" rIns="45720" tIns="27432" bIns="27432">
            <a:spAutoFit/>
          </a:bodyPr>
          <a:lstStyle/>
          <a:p>
            <a:pPr algn="l"/>
            <a:r>
              <a:rPr sz="1500" b="1">
                <a:solidFill>
                  <a:srgbClr val="1E2761"/>
                </a:solidFill>
                <a:latin typeface="Calibri"/>
              </a:rPr>
              <a:t>GPT / Gemini / others</a:t>
            </a:r>
          </a:p>
        </p:txBody>
      </p:sp>
      <p:sp>
        <p:nvSpPr>
          <p:cNvPr id="30" name="TextBox 29"/>
          <p:cNvSpPr txBox="1"/>
          <p:nvPr/>
        </p:nvSpPr>
        <p:spPr>
          <a:xfrm>
            <a:off x="2651760" y="4764024"/>
            <a:ext cx="1828800" cy="914400"/>
          </a:xfrm>
          <a:prstGeom prst="rect">
            <a:avLst/>
          </a:prstGeom>
          <a:noFill/>
        </p:spPr>
        <p:txBody>
          <a:bodyPr wrap="square" anchor="ctr" lIns="45720" rIns="45720" tIns="27432" bIns="27432">
            <a:spAutoFit/>
          </a:bodyPr>
          <a:lstStyle/>
          <a:p>
            <a:pPr algn="l"/>
            <a:r>
              <a:rPr sz="1250" b="1">
                <a:solidFill>
                  <a:srgbClr val="5C667A"/>
                </a:solidFill>
                <a:latin typeface="Calibri"/>
              </a:rPr>
              <a:t>Second opinion</a:t>
            </a:r>
          </a:p>
        </p:txBody>
      </p:sp>
      <p:sp>
        <p:nvSpPr>
          <p:cNvPr id="31" name="TextBox 30"/>
          <p:cNvSpPr txBox="1"/>
          <p:nvPr/>
        </p:nvSpPr>
        <p:spPr>
          <a:xfrm>
            <a:off x="4572000" y="4764024"/>
            <a:ext cx="4480560" cy="914400"/>
          </a:xfrm>
          <a:prstGeom prst="rect">
            <a:avLst/>
          </a:prstGeom>
          <a:noFill/>
        </p:spPr>
        <p:txBody>
          <a:bodyPr wrap="square" anchor="ctr" lIns="45720" rIns="45720" tIns="27432" bIns="27432">
            <a:spAutoFit/>
          </a:bodyPr>
          <a:lstStyle/>
          <a:p>
            <a:pPr algn="l"/>
            <a:r>
              <a:rPr sz="1150" b="0">
                <a:solidFill>
                  <a:srgbClr val="1F1F2E"/>
                </a:solidFill>
                <a:latin typeface="Calibri"/>
              </a:rPr>
              <a:t>Alternative families from OpenAI, Google and others. Useful to cross-check an answer, or when a task suits them. Availability depends on what the organisation enables.</a:t>
            </a:r>
          </a:p>
        </p:txBody>
      </p:sp>
      <p:sp>
        <p:nvSpPr>
          <p:cNvPr id="32" name="TextBox 31"/>
          <p:cNvSpPr txBox="1"/>
          <p:nvPr/>
        </p:nvSpPr>
        <p:spPr>
          <a:xfrm>
            <a:off x="9144000" y="4764024"/>
            <a:ext cx="2423160" cy="914400"/>
          </a:xfrm>
          <a:prstGeom prst="rect">
            <a:avLst/>
          </a:prstGeom>
          <a:noFill/>
        </p:spPr>
        <p:txBody>
          <a:bodyPr wrap="square" anchor="ctr" lIns="45720" rIns="45720" tIns="27432" bIns="27432">
            <a:spAutoFit/>
          </a:bodyPr>
          <a:lstStyle/>
          <a:p>
            <a:pPr algn="l"/>
            <a:r>
              <a:rPr sz="1150" b="1">
                <a:solidFill>
                  <a:srgbClr val="1E2761"/>
                </a:solidFill>
                <a:latin typeface="Calibri"/>
              </a:rPr>
              <a:t>Use to compare, not as the daily default.</a:t>
            </a:r>
          </a:p>
        </p:txBody>
      </p:sp>
      <p:sp>
        <p:nvSpPr>
          <p:cNvPr id="33" name="Rectangle 32"/>
          <p:cNvSpPr/>
          <p:nvPr/>
        </p:nvSpPr>
        <p:spPr>
          <a:xfrm>
            <a:off x="548640" y="5852160"/>
            <a:ext cx="5440680" cy="457200"/>
          </a:xfrm>
          <a:prstGeom prst="rect">
            <a:avLst/>
          </a:prstGeom>
          <a:solidFill>
            <a:srgbClr val="E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85800" y="5852160"/>
            <a:ext cx="5212080" cy="457200"/>
          </a:xfrm>
          <a:prstGeom prst="rect">
            <a:avLst/>
          </a:prstGeom>
          <a:noFill/>
        </p:spPr>
        <p:txBody>
          <a:bodyPr wrap="square" anchor="ctr" lIns="45720" rIns="45720" tIns="27432" bIns="27432">
            <a:spAutoFit/>
          </a:bodyPr>
          <a:lstStyle/>
          <a:p>
            <a:pPr algn="l"/>
            <a:r>
              <a:rPr sz="1050" b="1">
                <a:solidFill>
                  <a:srgbClr val="0F7B6C"/>
                </a:solidFill>
                <a:latin typeface="Calibri"/>
              </a:rPr>
              <a:t>Reasoning effort: most models have a low/medium/high setting. Medium is fine; high for proofs and tricky bugs.</a:t>
            </a:r>
          </a:p>
        </p:txBody>
      </p:sp>
      <p:sp>
        <p:nvSpPr>
          <p:cNvPr id="35" name="Rectangle 34"/>
          <p:cNvSpPr/>
          <p:nvPr/>
        </p:nvSpPr>
        <p:spPr>
          <a:xfrm>
            <a:off x="6199632" y="5852160"/>
            <a:ext cx="5440680" cy="457200"/>
          </a:xfrm>
          <a:prstGeom prst="rect">
            <a:avLst/>
          </a:prstGeom>
          <a:solidFill>
            <a:srgbClr val="FD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336792" y="5852160"/>
            <a:ext cx="5212080" cy="457200"/>
          </a:xfrm>
          <a:prstGeom prst="rect">
            <a:avLst/>
          </a:prstGeom>
          <a:noFill/>
        </p:spPr>
        <p:txBody>
          <a:bodyPr wrap="square" anchor="ctr" lIns="45720" rIns="45720" tIns="27432" bIns="27432">
            <a:spAutoFit/>
          </a:bodyPr>
          <a:lstStyle/>
          <a:p>
            <a:pPr algn="l"/>
            <a:r>
              <a:rPr sz="1050" b="1">
                <a:solidFill>
                  <a:srgbClr val="E08A1E"/>
                </a:solidFill>
                <a:latin typeface="Calibri"/>
              </a:rPr>
              <a:t>Model names change every few months. The pattern does not: a fast default, a heavyweight, and the newest.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7315200" cy="274320"/>
          </a:xfrm>
          <a:prstGeom prst="rect">
            <a:avLst/>
          </a:prstGeom>
          <a:noFill/>
        </p:spPr>
        <p:txBody>
          <a:bodyPr wrap="square" anchor="t" lIns="45720" rIns="45720" tIns="27432" bIns="27432">
            <a:spAutoFit/>
          </a:bodyPr>
          <a:lstStyle/>
          <a:p>
            <a:pPr algn="l"/>
            <a:r>
              <a:rPr sz="1200" b="1">
                <a:solidFill>
                  <a:srgbClr val="0F7B6C"/>
                </a:solidFill>
                <a:latin typeface="Calibri"/>
              </a:rPr>
              <a:t>APPENDIX 1 · OUR AI-BUILT TOOLS</a:t>
            </a:r>
          </a:p>
        </p:txBody>
      </p:sp>
      <p:sp>
        <p:nvSpPr>
          <p:cNvPr id="3" name="TextBox 2"/>
          <p:cNvSpPr txBox="1"/>
          <p:nvPr/>
        </p:nvSpPr>
        <p:spPr>
          <a:xfrm>
            <a:off x="548640" y="502920"/>
            <a:ext cx="11064240" cy="685800"/>
          </a:xfrm>
          <a:prstGeom prst="rect">
            <a:avLst/>
          </a:prstGeom>
          <a:noFill/>
        </p:spPr>
        <p:txBody>
          <a:bodyPr wrap="square" anchor="t" lIns="45720" rIns="45720" tIns="27432" bIns="27432">
            <a:spAutoFit/>
          </a:bodyPr>
          <a:lstStyle/>
          <a:p>
            <a:pPr algn="l"/>
            <a:r>
              <a:rPr sz="3000" b="0">
                <a:solidFill>
                  <a:srgbClr val="1E2761"/>
                </a:solidFill>
                <a:latin typeface="Cambria"/>
              </a:rPr>
              <a:t>Four tools, four ways of working with Copilot</a:t>
            </a:r>
          </a:p>
        </p:txBody>
      </p:sp>
      <p:sp>
        <p:nvSpPr>
          <p:cNvPr id="4" name="TextBox 3"/>
          <p:cNvSpPr txBox="1"/>
          <p:nvPr/>
        </p:nvSpPr>
        <p:spPr>
          <a:xfrm>
            <a:off x="548640" y="6473952"/>
            <a:ext cx="8686800" cy="228600"/>
          </a:xfrm>
          <a:prstGeom prst="rect">
            <a:avLst/>
          </a:prstGeom>
          <a:noFill/>
        </p:spPr>
        <p:txBody>
          <a:bodyPr wrap="square" anchor="t" lIns="45720" rIns="45720" tIns="27432" bIns="27432">
            <a:spAutoFit/>
          </a:bodyPr>
          <a:lstStyle/>
          <a:p>
            <a:pPr algn="l"/>
            <a:r>
              <a:rPr sz="900" b="0">
                <a:solidFill>
                  <a:srgbClr val="5C667A"/>
                </a:solidFill>
                <a:latin typeface="Calibri"/>
              </a:rPr>
              <a:t>Using GitHub Copilot with our repositories: user guide   ·   Screens and model names change over time</a:t>
            </a:r>
          </a:p>
        </p:txBody>
      </p:sp>
      <p:sp>
        <p:nvSpPr>
          <p:cNvPr id="5" name="Rectangle 4"/>
          <p:cNvSpPr/>
          <p:nvPr/>
        </p:nvSpPr>
        <p:spPr>
          <a:xfrm>
            <a:off x="548640" y="1371600"/>
            <a:ext cx="2606040" cy="489204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1371600"/>
            <a:ext cx="2606040" cy="685800"/>
          </a:xfrm>
          <a:prstGeom prst="rect">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1371600"/>
            <a:ext cx="2606040" cy="685800"/>
          </a:xfrm>
          <a:prstGeom prst="rect">
            <a:avLst/>
          </a:prstGeom>
          <a:noFill/>
        </p:spPr>
        <p:txBody>
          <a:bodyPr wrap="square" anchor="ctr" lIns="45720" rIns="45720" tIns="27432" bIns="27432">
            <a:spAutoFit/>
          </a:bodyPr>
          <a:lstStyle/>
          <a:p>
            <a:pPr algn="ctr"/>
            <a:r>
              <a:rPr sz="1500" b="1">
                <a:solidFill>
                  <a:srgbClr val="FFFFFF"/>
                </a:solidFill>
                <a:latin typeface="Calibri"/>
              </a:rPr>
              <a:t>Excise Diagnostic</a:t>
            </a:r>
          </a:p>
        </p:txBody>
      </p:sp>
      <p:sp>
        <p:nvSpPr>
          <p:cNvPr id="8" name="TextBox 7"/>
          <p:cNvSpPr txBox="1"/>
          <p:nvPr/>
        </p:nvSpPr>
        <p:spPr>
          <a:xfrm>
            <a:off x="713232" y="2148840"/>
            <a:ext cx="2286000" cy="457200"/>
          </a:xfrm>
          <a:prstGeom prst="rect">
            <a:avLst/>
          </a:prstGeom>
          <a:noFill/>
        </p:spPr>
        <p:txBody>
          <a:bodyPr wrap="square" anchor="t" lIns="45720" rIns="45720" tIns="27432" bIns="27432">
            <a:spAutoFit/>
          </a:bodyPr>
          <a:lstStyle/>
          <a:p>
            <a:pPr algn="l"/>
            <a:r>
              <a:rPr sz="1250" b="1">
                <a:solidFill>
                  <a:srgbClr val="0F7B6C"/>
                </a:solidFill>
                <a:latin typeface="Calibri"/>
              </a:rPr>
              <a:t>Generative markdown</a:t>
            </a:r>
          </a:p>
        </p:txBody>
      </p:sp>
      <p:sp>
        <p:nvSpPr>
          <p:cNvPr id="9" name="TextBox 8"/>
          <p:cNvSpPr txBox="1"/>
          <p:nvPr/>
        </p:nvSpPr>
        <p:spPr>
          <a:xfrm>
            <a:off x="713232" y="2606040"/>
            <a:ext cx="2286000" cy="2377440"/>
          </a:xfrm>
          <a:prstGeom prst="rect">
            <a:avLst/>
          </a:prstGeom>
          <a:noFill/>
        </p:spPr>
        <p:txBody>
          <a:bodyPr wrap="square" anchor="t" lIns="45720" rIns="45720" tIns="27432" bIns="27432">
            <a:spAutoFit/>
          </a:bodyPr>
          <a:lstStyle/>
          <a:p>
            <a:pPr algn="l"/>
            <a:r>
              <a:rPr sz="1200" b="0">
                <a:solidFill>
                  <a:srgbClr val="1F1F2E"/>
                </a:solidFill>
                <a:latin typeface="Calibri"/>
              </a:rPr>
              <a:t>Markdown instruction files tell the AI exactly what to research and produce. You paste a stage prompt; it writes a Word report and an Excel workbook.</a:t>
            </a:r>
          </a:p>
        </p:txBody>
      </p:sp>
      <p:sp>
        <p:nvSpPr>
          <p:cNvPr id="10" name="Rectangle 9"/>
          <p:cNvSpPr/>
          <p:nvPr/>
        </p:nvSpPr>
        <p:spPr>
          <a:xfrm>
            <a:off x="685800" y="5166360"/>
            <a:ext cx="2331720" cy="914400"/>
          </a:xfrm>
          <a:prstGeom prst="rect">
            <a:avLst/>
          </a:prstGeom>
          <a:solidFill>
            <a:srgbClr val="FFFFFF"/>
          </a:solidFill>
          <a:ln w="9525">
            <a:solidFill>
              <a:srgbClr val="D5DA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5166360"/>
            <a:ext cx="2148840" cy="914400"/>
          </a:xfrm>
          <a:prstGeom prst="rect">
            <a:avLst/>
          </a:prstGeom>
          <a:noFill/>
        </p:spPr>
        <p:txBody>
          <a:bodyPr wrap="square" anchor="ctr" lIns="45720" rIns="45720" tIns="27432" bIns="27432">
            <a:spAutoFit/>
          </a:bodyPr>
          <a:lstStyle/>
          <a:p>
            <a:pPr algn="l"/>
            <a:r>
              <a:rPr sz="1000" b="1">
                <a:solidFill>
                  <a:srgbClr val="1E2761"/>
                </a:solidFill>
                <a:latin typeface="Calibri"/>
              </a:rPr>
              <a:t>Guide: Excise_Diagnostic_User_Guide.pptx</a:t>
            </a:r>
          </a:p>
        </p:txBody>
      </p:sp>
      <p:sp>
        <p:nvSpPr>
          <p:cNvPr id="12" name="Rectangle 11"/>
          <p:cNvSpPr/>
          <p:nvPr/>
        </p:nvSpPr>
        <p:spPr>
          <a:xfrm>
            <a:off x="3383280" y="1371600"/>
            <a:ext cx="2606040" cy="489204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383280" y="1371600"/>
            <a:ext cx="2606040" cy="685800"/>
          </a:xfrm>
          <a:prstGeom prst="rect">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383280" y="1371600"/>
            <a:ext cx="2606040" cy="685800"/>
          </a:xfrm>
          <a:prstGeom prst="rect">
            <a:avLst/>
          </a:prstGeom>
          <a:noFill/>
        </p:spPr>
        <p:txBody>
          <a:bodyPr wrap="square" anchor="ctr" lIns="45720" rIns="45720" tIns="27432" bIns="27432">
            <a:spAutoFit/>
          </a:bodyPr>
          <a:lstStyle/>
          <a:p>
            <a:pPr algn="ctr"/>
            <a:r>
              <a:rPr sz="1500" b="1">
                <a:solidFill>
                  <a:srgbClr val="FFFFFF"/>
                </a:solidFill>
                <a:latin typeface="Calibri"/>
              </a:rPr>
              <a:t>Tax &amp; Macro-Fiscal Dashboard</a:t>
            </a:r>
          </a:p>
        </p:txBody>
      </p:sp>
      <p:sp>
        <p:nvSpPr>
          <p:cNvPr id="15" name="TextBox 14"/>
          <p:cNvSpPr txBox="1"/>
          <p:nvPr/>
        </p:nvSpPr>
        <p:spPr>
          <a:xfrm>
            <a:off x="3547872" y="2148840"/>
            <a:ext cx="2286000" cy="457200"/>
          </a:xfrm>
          <a:prstGeom prst="rect">
            <a:avLst/>
          </a:prstGeom>
          <a:noFill/>
        </p:spPr>
        <p:txBody>
          <a:bodyPr wrap="square" anchor="t" lIns="45720" rIns="45720" tIns="27432" bIns="27432">
            <a:spAutoFit/>
          </a:bodyPr>
          <a:lstStyle/>
          <a:p>
            <a:pPr algn="l"/>
            <a:r>
              <a:rPr sz="1250" b="1">
                <a:solidFill>
                  <a:srgbClr val="E08A1E"/>
                </a:solidFill>
                <a:latin typeface="Calibri"/>
              </a:rPr>
              <a:t>Data pipeline + Excel front end</a:t>
            </a:r>
          </a:p>
        </p:txBody>
      </p:sp>
      <p:sp>
        <p:nvSpPr>
          <p:cNvPr id="16" name="TextBox 15"/>
          <p:cNvSpPr txBox="1"/>
          <p:nvPr/>
        </p:nvSpPr>
        <p:spPr>
          <a:xfrm>
            <a:off x="3547872" y="2606040"/>
            <a:ext cx="2286000" cy="2377440"/>
          </a:xfrm>
          <a:prstGeom prst="rect">
            <a:avLst/>
          </a:prstGeom>
          <a:noFill/>
        </p:spPr>
        <p:txBody>
          <a:bodyPr wrap="square" anchor="t" lIns="45720" rIns="45720" tIns="27432" bIns="27432">
            <a:spAutoFit/>
          </a:bodyPr>
          <a:lstStyle/>
          <a:p>
            <a:pPr algn="l"/>
            <a:r>
              <a:rPr sz="1200" b="0">
                <a:solidFill>
                  <a:srgbClr val="1F1F2E"/>
                </a:solidFill>
                <a:latin typeface="Calibri"/>
              </a:rPr>
              <a:t>Raw files go in the data folder, a Python script builds a database, the Excel dashboard reads it. Copilot writes the loader for each new source.</a:t>
            </a:r>
          </a:p>
        </p:txBody>
      </p:sp>
      <p:sp>
        <p:nvSpPr>
          <p:cNvPr id="17" name="Rectangle 16"/>
          <p:cNvSpPr/>
          <p:nvPr/>
        </p:nvSpPr>
        <p:spPr>
          <a:xfrm>
            <a:off x="3520440" y="5166360"/>
            <a:ext cx="2331720" cy="914400"/>
          </a:xfrm>
          <a:prstGeom prst="rect">
            <a:avLst/>
          </a:prstGeom>
          <a:solidFill>
            <a:srgbClr val="FFFFFF"/>
          </a:solidFill>
          <a:ln w="9525">
            <a:solidFill>
              <a:srgbClr val="D5DA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3611880" y="5166360"/>
            <a:ext cx="2148840" cy="914400"/>
          </a:xfrm>
          <a:prstGeom prst="rect">
            <a:avLst/>
          </a:prstGeom>
          <a:noFill/>
        </p:spPr>
        <p:txBody>
          <a:bodyPr wrap="square" anchor="ctr" lIns="45720" rIns="45720" tIns="27432" bIns="27432">
            <a:spAutoFit/>
          </a:bodyPr>
          <a:lstStyle/>
          <a:p>
            <a:pPr algn="l"/>
            <a:r>
              <a:rPr sz="1000" b="1">
                <a:solidFill>
                  <a:srgbClr val="1E2761"/>
                </a:solidFill>
                <a:latin typeface="Calibri"/>
              </a:rPr>
              <a:t>Guide: TaxMacroFiscalDashboard-user-guide.pptx</a:t>
            </a:r>
          </a:p>
        </p:txBody>
      </p:sp>
      <p:sp>
        <p:nvSpPr>
          <p:cNvPr id="19" name="Rectangle 18"/>
          <p:cNvSpPr/>
          <p:nvPr/>
        </p:nvSpPr>
        <p:spPr>
          <a:xfrm>
            <a:off x="6217920" y="1371600"/>
            <a:ext cx="2606040" cy="489204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6217920" y="1371600"/>
            <a:ext cx="2606040" cy="685800"/>
          </a:xfrm>
          <a:prstGeom prst="rect">
            <a:avLst/>
          </a:prstGeom>
          <a:solidFill>
            <a:srgbClr val="2E3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217920" y="1371600"/>
            <a:ext cx="2606040" cy="685800"/>
          </a:xfrm>
          <a:prstGeom prst="rect">
            <a:avLst/>
          </a:prstGeom>
          <a:noFill/>
        </p:spPr>
        <p:txBody>
          <a:bodyPr wrap="square" anchor="ctr" lIns="45720" rIns="45720" tIns="27432" bIns="27432">
            <a:spAutoFit/>
          </a:bodyPr>
          <a:lstStyle/>
          <a:p>
            <a:pPr algn="ctr"/>
            <a:r>
              <a:rPr sz="1500" b="1">
                <a:solidFill>
                  <a:srgbClr val="FFFFFF"/>
                </a:solidFill>
                <a:latin typeface="Calibri"/>
              </a:rPr>
              <a:t>CPAT-Excel-AI</a:t>
            </a:r>
          </a:p>
        </p:txBody>
      </p:sp>
      <p:sp>
        <p:nvSpPr>
          <p:cNvPr id="22" name="TextBox 21"/>
          <p:cNvSpPr txBox="1"/>
          <p:nvPr/>
        </p:nvSpPr>
        <p:spPr>
          <a:xfrm>
            <a:off x="6382512" y="2148840"/>
            <a:ext cx="2286000" cy="457200"/>
          </a:xfrm>
          <a:prstGeom prst="rect">
            <a:avLst/>
          </a:prstGeom>
          <a:noFill/>
        </p:spPr>
        <p:txBody>
          <a:bodyPr wrap="square" anchor="t" lIns="45720" rIns="45720" tIns="27432" bIns="27432">
            <a:spAutoFit/>
          </a:bodyPr>
          <a:lstStyle/>
          <a:p>
            <a:pPr algn="l"/>
            <a:r>
              <a:rPr sz="1250" b="1">
                <a:solidFill>
                  <a:srgbClr val="2E3A7A"/>
                </a:solidFill>
                <a:latin typeface="Calibri"/>
              </a:rPr>
              <a:t>AI inside the Excel model</a:t>
            </a:r>
          </a:p>
        </p:txBody>
      </p:sp>
      <p:sp>
        <p:nvSpPr>
          <p:cNvPr id="23" name="TextBox 22"/>
          <p:cNvSpPr txBox="1"/>
          <p:nvPr/>
        </p:nvSpPr>
        <p:spPr>
          <a:xfrm>
            <a:off x="6382512" y="2606040"/>
            <a:ext cx="2286000" cy="2377440"/>
          </a:xfrm>
          <a:prstGeom prst="rect">
            <a:avLst/>
          </a:prstGeom>
          <a:noFill/>
        </p:spPr>
        <p:txBody>
          <a:bodyPr wrap="square" anchor="t" lIns="45720" rIns="45720" tIns="27432" bIns="27432">
            <a:spAutoFit/>
          </a:bodyPr>
          <a:lstStyle/>
          <a:p>
            <a:pPr algn="l"/>
            <a:r>
              <a:rPr sz="1200" b="0">
                <a:solidFill>
                  <a:srgbClr val="1F1F2E"/>
                </a:solidFill>
                <a:latin typeface="Calibri"/>
              </a:rPr>
              <a:t>Copilot works with the CPAT Excel model: reading structure, checking formulas, drafting changes. Instructions will be provided later.</a:t>
            </a:r>
          </a:p>
        </p:txBody>
      </p:sp>
      <p:sp>
        <p:nvSpPr>
          <p:cNvPr id="24" name="Rectangle 23"/>
          <p:cNvSpPr/>
          <p:nvPr/>
        </p:nvSpPr>
        <p:spPr>
          <a:xfrm>
            <a:off x="6355080" y="5166360"/>
            <a:ext cx="2331720" cy="914400"/>
          </a:xfrm>
          <a:prstGeom prst="rect">
            <a:avLst/>
          </a:prstGeom>
          <a:solidFill>
            <a:srgbClr val="FFFFFF"/>
          </a:solidFill>
          <a:ln w="9525">
            <a:solidFill>
              <a:srgbClr val="D5DA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446520" y="5166360"/>
            <a:ext cx="2148840" cy="914400"/>
          </a:xfrm>
          <a:prstGeom prst="rect">
            <a:avLst/>
          </a:prstGeom>
          <a:noFill/>
        </p:spPr>
        <p:txBody>
          <a:bodyPr wrap="square" anchor="ctr" lIns="45720" rIns="45720" tIns="27432" bIns="27432">
            <a:spAutoFit/>
          </a:bodyPr>
          <a:lstStyle/>
          <a:p>
            <a:pPr algn="l"/>
            <a:r>
              <a:rPr sz="1000" b="1">
                <a:solidFill>
                  <a:srgbClr val="1E2761"/>
                </a:solidFill>
                <a:latin typeface="Calibri"/>
              </a:rPr>
              <a:t>Guide: to follow</a:t>
            </a:r>
          </a:p>
        </p:txBody>
      </p:sp>
      <p:sp>
        <p:nvSpPr>
          <p:cNvPr id="26" name="Rectangle 25"/>
          <p:cNvSpPr/>
          <p:nvPr/>
        </p:nvSpPr>
        <p:spPr>
          <a:xfrm>
            <a:off x="9052560" y="1371600"/>
            <a:ext cx="2606040" cy="489204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9052560" y="1371600"/>
            <a:ext cx="2606040" cy="685800"/>
          </a:xfrm>
          <a:prstGeom prst="rect">
            <a:avLst/>
          </a:prstGeom>
          <a:solidFill>
            <a:srgbClr val="5C66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052560" y="1371600"/>
            <a:ext cx="2606040" cy="685800"/>
          </a:xfrm>
          <a:prstGeom prst="rect">
            <a:avLst/>
          </a:prstGeom>
          <a:noFill/>
        </p:spPr>
        <p:txBody>
          <a:bodyPr wrap="square" anchor="ctr" lIns="45720" rIns="45720" tIns="27432" bIns="27432">
            <a:spAutoFit/>
          </a:bodyPr>
          <a:lstStyle/>
          <a:p>
            <a:pPr algn="ctr"/>
            <a:r>
              <a:rPr sz="1500" b="1">
                <a:solidFill>
                  <a:srgbClr val="FFFFFF"/>
                </a:solidFill>
                <a:latin typeface="Calibri"/>
              </a:rPr>
              <a:t>CPAT-Python</a:t>
            </a:r>
          </a:p>
        </p:txBody>
      </p:sp>
      <p:sp>
        <p:nvSpPr>
          <p:cNvPr id="29" name="TextBox 28"/>
          <p:cNvSpPr txBox="1"/>
          <p:nvPr/>
        </p:nvSpPr>
        <p:spPr>
          <a:xfrm>
            <a:off x="9217152" y="2148840"/>
            <a:ext cx="2286000" cy="457200"/>
          </a:xfrm>
          <a:prstGeom prst="rect">
            <a:avLst/>
          </a:prstGeom>
          <a:noFill/>
        </p:spPr>
        <p:txBody>
          <a:bodyPr wrap="square" anchor="t" lIns="45720" rIns="45720" tIns="27432" bIns="27432">
            <a:spAutoFit/>
          </a:bodyPr>
          <a:lstStyle/>
          <a:p>
            <a:pPr algn="l"/>
            <a:r>
              <a:rPr sz="1250" b="1">
                <a:solidFill>
                  <a:srgbClr val="5C667A"/>
                </a:solidFill>
                <a:latin typeface="Calibri"/>
              </a:rPr>
              <a:t>Normal coding</a:t>
            </a:r>
          </a:p>
        </p:txBody>
      </p:sp>
      <p:sp>
        <p:nvSpPr>
          <p:cNvPr id="30" name="TextBox 29"/>
          <p:cNvSpPr txBox="1"/>
          <p:nvPr/>
        </p:nvSpPr>
        <p:spPr>
          <a:xfrm>
            <a:off x="9217152" y="2606040"/>
            <a:ext cx="2286000" cy="2377440"/>
          </a:xfrm>
          <a:prstGeom prst="rect">
            <a:avLst/>
          </a:prstGeom>
          <a:noFill/>
        </p:spPr>
        <p:txBody>
          <a:bodyPr wrap="square" anchor="t" lIns="45720" rIns="45720" tIns="27432" bIns="27432">
            <a:spAutoFit/>
          </a:bodyPr>
          <a:lstStyle/>
          <a:p>
            <a:pPr algn="l"/>
            <a:r>
              <a:rPr sz="1200" b="0">
                <a:solidFill>
                  <a:srgbClr val="1F1F2E"/>
                </a:solidFill>
                <a:latin typeface="Calibri"/>
              </a:rPr>
              <a:t>A Python codebase. Use Copilot as a programmer would: describe the change, review the diff, run the tests, sync.</a:t>
            </a:r>
          </a:p>
        </p:txBody>
      </p:sp>
      <p:sp>
        <p:nvSpPr>
          <p:cNvPr id="31" name="Rectangle 30"/>
          <p:cNvSpPr/>
          <p:nvPr/>
        </p:nvSpPr>
        <p:spPr>
          <a:xfrm>
            <a:off x="9189720" y="5166360"/>
            <a:ext cx="2331720" cy="914400"/>
          </a:xfrm>
          <a:prstGeom prst="rect">
            <a:avLst/>
          </a:prstGeom>
          <a:solidFill>
            <a:srgbClr val="FFFFFF"/>
          </a:solidFill>
          <a:ln w="9525">
            <a:solidFill>
              <a:srgbClr val="D5DA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9281160" y="5166360"/>
            <a:ext cx="2148840" cy="914400"/>
          </a:xfrm>
          <a:prstGeom prst="rect">
            <a:avLst/>
          </a:prstGeom>
          <a:noFill/>
        </p:spPr>
        <p:txBody>
          <a:bodyPr wrap="square" anchor="ctr" lIns="45720" rIns="45720" tIns="27432" bIns="27432">
            <a:spAutoFit/>
          </a:bodyPr>
          <a:lstStyle/>
          <a:p>
            <a:pPr algn="l"/>
            <a:r>
              <a:rPr sz="1000" b="1">
                <a:solidFill>
                  <a:srgbClr val="1E2761"/>
                </a:solidFill>
                <a:latin typeface="Calibri"/>
              </a:rPr>
              <a:t>Guide: this deck (Appendix 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7315200" cy="274320"/>
          </a:xfrm>
          <a:prstGeom prst="rect">
            <a:avLst/>
          </a:prstGeom>
          <a:noFill/>
        </p:spPr>
        <p:txBody>
          <a:bodyPr wrap="square" anchor="t" lIns="45720" rIns="45720" tIns="27432" bIns="27432">
            <a:spAutoFit/>
          </a:bodyPr>
          <a:lstStyle/>
          <a:p>
            <a:pPr algn="l"/>
            <a:r>
              <a:rPr sz="1200" b="1">
                <a:solidFill>
                  <a:srgbClr val="0F7B6C"/>
                </a:solidFill>
                <a:latin typeface="Calibri"/>
              </a:rPr>
              <a:t>APPENDIX 1 · TROUBLESHOOTING</a:t>
            </a:r>
          </a:p>
        </p:txBody>
      </p:sp>
      <p:sp>
        <p:nvSpPr>
          <p:cNvPr id="3" name="TextBox 2"/>
          <p:cNvSpPr txBox="1"/>
          <p:nvPr/>
        </p:nvSpPr>
        <p:spPr>
          <a:xfrm>
            <a:off x="548640" y="502920"/>
            <a:ext cx="11064240" cy="685800"/>
          </a:xfrm>
          <a:prstGeom prst="rect">
            <a:avLst/>
          </a:prstGeom>
          <a:noFill/>
        </p:spPr>
        <p:txBody>
          <a:bodyPr wrap="square" anchor="t" lIns="45720" rIns="45720" tIns="27432" bIns="27432">
            <a:spAutoFit/>
          </a:bodyPr>
          <a:lstStyle/>
          <a:p>
            <a:pPr algn="l"/>
            <a:r>
              <a:rPr sz="3000" b="0">
                <a:solidFill>
                  <a:srgbClr val="1E2761"/>
                </a:solidFill>
                <a:latin typeface="Cambria"/>
              </a:rPr>
              <a:t>Six things that actually go wrong, and the fix for each</a:t>
            </a:r>
          </a:p>
        </p:txBody>
      </p:sp>
      <p:sp>
        <p:nvSpPr>
          <p:cNvPr id="4" name="TextBox 3"/>
          <p:cNvSpPr txBox="1"/>
          <p:nvPr/>
        </p:nvSpPr>
        <p:spPr>
          <a:xfrm>
            <a:off x="548640" y="6473952"/>
            <a:ext cx="8686800" cy="228600"/>
          </a:xfrm>
          <a:prstGeom prst="rect">
            <a:avLst/>
          </a:prstGeom>
          <a:noFill/>
        </p:spPr>
        <p:txBody>
          <a:bodyPr wrap="square" anchor="t" lIns="45720" rIns="45720" tIns="27432" bIns="27432">
            <a:spAutoFit/>
          </a:bodyPr>
          <a:lstStyle/>
          <a:p>
            <a:pPr algn="l"/>
            <a:r>
              <a:rPr sz="900" b="0">
                <a:solidFill>
                  <a:srgbClr val="5C667A"/>
                </a:solidFill>
                <a:latin typeface="Calibri"/>
              </a:rPr>
              <a:t>Using GitHub Copilot with our repositories: user guide   ·   Screens and model names change over time</a:t>
            </a:r>
          </a:p>
        </p:txBody>
      </p:sp>
      <p:sp>
        <p:nvSpPr>
          <p:cNvPr id="5" name="Rectangle 4"/>
          <p:cNvSpPr/>
          <p:nvPr/>
        </p:nvSpPr>
        <p:spPr>
          <a:xfrm>
            <a:off x="548640" y="1371600"/>
            <a:ext cx="5422392" cy="123444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1371600"/>
            <a:ext cx="91440" cy="1234440"/>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463040"/>
            <a:ext cx="5029200" cy="1097280"/>
          </a:xfrm>
          <a:prstGeom prst="rect">
            <a:avLst/>
          </a:prstGeom>
          <a:noFill/>
        </p:spPr>
        <p:txBody>
          <a:bodyPr wrap="square" anchor="t" lIns="45720" rIns="45720" tIns="27432" bIns="27432">
            <a:spAutoFit/>
          </a:bodyPr>
          <a:lstStyle/>
          <a:p>
            <a:pPr algn="l"/>
            <a:r>
              <a:rPr sz="1350" b="1">
                <a:solidFill>
                  <a:srgbClr val="1E2761"/>
                </a:solidFill>
                <a:latin typeface="Calibri"/>
              </a:rPr>
              <a:t>Git errors mention 'index.lock' or 'permission denied'</a:t>
            </a:r>
          </a:p>
          <a:p>
            <a:pPr algn="l"/>
            <a:r>
              <a:rPr sz="1200" b="0">
                <a:solidFill>
                  <a:srgbClr val="1F1F2E"/>
                </a:solidFill>
                <a:latin typeface="Calibri"/>
              </a:rPr>
              <a:t>The repo is inside OneDrive. Move the folder to C:\Users\&lt;you&gt;\Repos and clone again if needed.</a:t>
            </a:r>
          </a:p>
        </p:txBody>
      </p:sp>
      <p:sp>
        <p:nvSpPr>
          <p:cNvPr id="8" name="Rectangle 7"/>
          <p:cNvSpPr/>
          <p:nvPr/>
        </p:nvSpPr>
        <p:spPr>
          <a:xfrm>
            <a:off x="6217920" y="1371600"/>
            <a:ext cx="5422392" cy="123444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217920" y="1371600"/>
            <a:ext cx="91440" cy="1234440"/>
          </a:xfrm>
          <a:prstGeom prst="rect">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46520" y="1463040"/>
            <a:ext cx="5029200" cy="1097280"/>
          </a:xfrm>
          <a:prstGeom prst="rect">
            <a:avLst/>
          </a:prstGeom>
          <a:noFill/>
        </p:spPr>
        <p:txBody>
          <a:bodyPr wrap="square" anchor="t" lIns="45720" rIns="45720" tIns="27432" bIns="27432">
            <a:spAutoFit/>
          </a:bodyPr>
          <a:lstStyle/>
          <a:p>
            <a:pPr algn="l"/>
            <a:r>
              <a:rPr sz="1350" b="1">
                <a:solidFill>
                  <a:srgbClr val="1E2761"/>
                </a:solidFill>
                <a:latin typeface="Calibri"/>
              </a:rPr>
              <a:t>'Authentication failed' when pulling or pushing</a:t>
            </a:r>
          </a:p>
          <a:p>
            <a:pPr algn="l"/>
            <a:r>
              <a:rPr sz="1200" b="0">
                <a:solidFill>
                  <a:srgbClr val="1F1F2E"/>
                </a:solidFill>
                <a:latin typeface="Calibri"/>
              </a:rPr>
              <a:t>Run gh auth login and sign in with your work GitHub account. Enterprise seats need SSO authorised.</a:t>
            </a:r>
          </a:p>
        </p:txBody>
      </p:sp>
      <p:sp>
        <p:nvSpPr>
          <p:cNvPr id="11" name="Rectangle 10"/>
          <p:cNvSpPr/>
          <p:nvPr/>
        </p:nvSpPr>
        <p:spPr>
          <a:xfrm>
            <a:off x="548640" y="2743200"/>
            <a:ext cx="5422392" cy="123444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548640" y="2743200"/>
            <a:ext cx="91440" cy="1234440"/>
          </a:xfrm>
          <a:prstGeom prst="rect">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77240" y="2834640"/>
            <a:ext cx="5029200" cy="1097280"/>
          </a:xfrm>
          <a:prstGeom prst="rect">
            <a:avLst/>
          </a:prstGeom>
          <a:noFill/>
        </p:spPr>
        <p:txBody>
          <a:bodyPr wrap="square" anchor="t" lIns="45720" rIns="45720" tIns="27432" bIns="27432">
            <a:spAutoFit/>
          </a:bodyPr>
          <a:lstStyle/>
          <a:p>
            <a:pPr algn="l"/>
            <a:r>
              <a:rPr sz="1350" b="1">
                <a:solidFill>
                  <a:srgbClr val="1E2761"/>
                </a:solidFill>
                <a:latin typeface="Calibri"/>
              </a:rPr>
              <a:t>Copilot says you are out of premium requests</a:t>
            </a:r>
          </a:p>
          <a:p>
            <a:pPr algn="l"/>
            <a:r>
              <a:rPr sz="1200" b="0">
                <a:solidFill>
                  <a:srgbClr val="1F1F2E"/>
                </a:solidFill>
                <a:latin typeface="Calibri"/>
              </a:rPr>
              <a:t>Switch to Sonnet for the rest of the month, or email GitHub_Enterprise_Admin@worldbankgroup.org for a higher limit.</a:t>
            </a:r>
          </a:p>
        </p:txBody>
      </p:sp>
      <p:sp>
        <p:nvSpPr>
          <p:cNvPr id="14" name="Rectangle 13"/>
          <p:cNvSpPr/>
          <p:nvPr/>
        </p:nvSpPr>
        <p:spPr>
          <a:xfrm>
            <a:off x="6217920" y="2743200"/>
            <a:ext cx="5422392" cy="123444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6217920" y="2743200"/>
            <a:ext cx="91440" cy="1234440"/>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446520" y="2834640"/>
            <a:ext cx="5029200" cy="1097280"/>
          </a:xfrm>
          <a:prstGeom prst="rect">
            <a:avLst/>
          </a:prstGeom>
          <a:noFill/>
        </p:spPr>
        <p:txBody>
          <a:bodyPr wrap="square" anchor="t" lIns="45720" rIns="45720" tIns="27432" bIns="27432">
            <a:spAutoFit/>
          </a:bodyPr>
          <a:lstStyle/>
          <a:p>
            <a:pPr algn="l"/>
            <a:r>
              <a:rPr sz="1350" b="1">
                <a:solidFill>
                  <a:srgbClr val="1E2761"/>
                </a:solidFill>
                <a:latin typeface="Calibri"/>
              </a:rPr>
              <a:t>Push rejected / merge conflict</a:t>
            </a:r>
          </a:p>
          <a:p>
            <a:pPr algn="l"/>
            <a:r>
              <a:rPr sz="1200" b="0">
                <a:solidFill>
                  <a:srgbClr val="1F1F2E"/>
                </a:solidFill>
                <a:latin typeface="Calibri"/>
              </a:rPr>
              <a:t>Someone pushed first. Paste the message into Copilot: 'Help me resolve this conflict.' Do not force-push.</a:t>
            </a:r>
          </a:p>
        </p:txBody>
      </p:sp>
      <p:sp>
        <p:nvSpPr>
          <p:cNvPr id="17" name="Rectangle 16"/>
          <p:cNvSpPr/>
          <p:nvPr/>
        </p:nvSpPr>
        <p:spPr>
          <a:xfrm>
            <a:off x="548640" y="4114800"/>
            <a:ext cx="5422392" cy="123444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548640" y="4114800"/>
            <a:ext cx="91440" cy="1234440"/>
          </a:xfrm>
          <a:prstGeom prst="rect">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77240" y="4206240"/>
            <a:ext cx="5029200" cy="1097280"/>
          </a:xfrm>
          <a:prstGeom prst="rect">
            <a:avLst/>
          </a:prstGeom>
          <a:noFill/>
        </p:spPr>
        <p:txBody>
          <a:bodyPr wrap="square" anchor="t" lIns="45720" rIns="45720" tIns="27432" bIns="27432">
            <a:spAutoFit/>
          </a:bodyPr>
          <a:lstStyle/>
          <a:p>
            <a:pPr algn="l"/>
            <a:r>
              <a:rPr sz="1350" b="1">
                <a:solidFill>
                  <a:srgbClr val="1E2761"/>
                </a:solidFill>
                <a:latin typeface="Calibri"/>
              </a:rPr>
              <a:t>Edits landed on the wrong branch</a:t>
            </a:r>
          </a:p>
          <a:p>
            <a:pPr algn="l"/>
            <a:r>
              <a:rPr sz="1200" b="0">
                <a:solidFill>
                  <a:srgbClr val="1F1F2E"/>
                </a:solidFill>
                <a:latin typeface="Calibri"/>
              </a:rPr>
              <a:t>Check the session header. Worktree sessions make a new branch; local sessions use the one you have checked out.</a:t>
            </a:r>
          </a:p>
        </p:txBody>
      </p:sp>
      <p:sp>
        <p:nvSpPr>
          <p:cNvPr id="20" name="Rectangle 19"/>
          <p:cNvSpPr/>
          <p:nvPr/>
        </p:nvSpPr>
        <p:spPr>
          <a:xfrm>
            <a:off x="6217920" y="4114800"/>
            <a:ext cx="5422392" cy="123444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217920" y="4114800"/>
            <a:ext cx="91440" cy="1234440"/>
          </a:xfrm>
          <a:prstGeom prst="rect">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46520" y="4206240"/>
            <a:ext cx="5029200" cy="1097280"/>
          </a:xfrm>
          <a:prstGeom prst="rect">
            <a:avLst/>
          </a:prstGeom>
          <a:noFill/>
        </p:spPr>
        <p:txBody>
          <a:bodyPr wrap="square" anchor="t" lIns="45720" rIns="45720" tIns="27432" bIns="27432">
            <a:spAutoFit/>
          </a:bodyPr>
          <a:lstStyle/>
          <a:p>
            <a:pPr algn="l"/>
            <a:r>
              <a:rPr sz="1350" b="1">
                <a:solidFill>
                  <a:srgbClr val="1E2761"/>
                </a:solidFill>
                <a:latin typeface="Calibri"/>
              </a:rPr>
              <a:t>The model is slow or goes in circles</a:t>
            </a:r>
          </a:p>
          <a:p>
            <a:pPr algn="l"/>
            <a:r>
              <a:rPr sz="1200" b="0">
                <a:solidFill>
                  <a:srgbClr val="1F1F2E"/>
                </a:solidFill>
                <a:latin typeface="Calibri"/>
              </a:rPr>
              <a:t>Switch to Plan mode, restate the goal with the files attached, or step up to Opus/Fable for one message.</a:t>
            </a:r>
          </a:p>
        </p:txBody>
      </p:sp>
      <p:sp>
        <p:nvSpPr>
          <p:cNvPr id="23" name="Rectangle 22"/>
          <p:cNvSpPr/>
          <p:nvPr/>
        </p:nvSpPr>
        <p:spPr>
          <a:xfrm>
            <a:off x="548640" y="5577840"/>
            <a:ext cx="11091672" cy="685800"/>
          </a:xfrm>
          <a:prstGeom prst="rect">
            <a:avLst/>
          </a:prstGeom>
          <a:solidFill>
            <a:srgbClr val="E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31520" y="5577840"/>
            <a:ext cx="10789920" cy="685800"/>
          </a:xfrm>
          <a:prstGeom prst="rect">
            <a:avLst/>
          </a:prstGeom>
          <a:noFill/>
        </p:spPr>
        <p:txBody>
          <a:bodyPr wrap="square" anchor="ctr" lIns="45720" rIns="45720" tIns="27432" bIns="27432">
            <a:spAutoFit/>
          </a:bodyPr>
          <a:lstStyle/>
          <a:p>
            <a:pPr algn="l"/>
            <a:r>
              <a:rPr sz="1200" b="1">
                <a:solidFill>
                  <a:srgbClr val="0F7B6C"/>
                </a:solidFill>
                <a:latin typeface="Calibri"/>
              </a:rPr>
              <a:t>Good habits: sync at the start and end · attach the files you mean · ask for a plan before edits · read the diff · keep secrets out of prompts and repos · one task per session.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7315200" cy="274320"/>
          </a:xfrm>
          <a:prstGeom prst="rect">
            <a:avLst/>
          </a:prstGeom>
          <a:noFill/>
        </p:spPr>
        <p:txBody>
          <a:bodyPr wrap="square" anchor="t" lIns="45720" rIns="45720" tIns="27432" bIns="27432">
            <a:spAutoFit/>
          </a:bodyPr>
          <a:lstStyle/>
          <a:p>
            <a:pPr algn="l"/>
            <a:r>
              <a:rPr sz="1200" b="1">
                <a:solidFill>
                  <a:srgbClr val="0F7B6C"/>
                </a:solidFill>
                <a:latin typeface="Calibri"/>
              </a:rPr>
              <a:t>APPENDIX 1 · QUICK REFERENCE</a:t>
            </a:r>
          </a:p>
        </p:txBody>
      </p:sp>
      <p:sp>
        <p:nvSpPr>
          <p:cNvPr id="3" name="TextBox 2"/>
          <p:cNvSpPr txBox="1"/>
          <p:nvPr/>
        </p:nvSpPr>
        <p:spPr>
          <a:xfrm>
            <a:off x="548640" y="502920"/>
            <a:ext cx="11064240" cy="685800"/>
          </a:xfrm>
          <a:prstGeom prst="rect">
            <a:avLst/>
          </a:prstGeom>
          <a:noFill/>
        </p:spPr>
        <p:txBody>
          <a:bodyPr wrap="square" anchor="t" lIns="45720" rIns="45720" tIns="27432" bIns="27432">
            <a:spAutoFit/>
          </a:bodyPr>
          <a:lstStyle/>
          <a:p>
            <a:pPr algn="l"/>
            <a:r>
              <a:rPr sz="3000" b="0">
                <a:solidFill>
                  <a:srgbClr val="1E2761"/>
                </a:solidFill>
                <a:latin typeface="Cambria"/>
              </a:rPr>
              <a:t>Files, commands and where to go next</a:t>
            </a:r>
          </a:p>
        </p:txBody>
      </p:sp>
      <p:sp>
        <p:nvSpPr>
          <p:cNvPr id="4" name="TextBox 3"/>
          <p:cNvSpPr txBox="1"/>
          <p:nvPr/>
        </p:nvSpPr>
        <p:spPr>
          <a:xfrm>
            <a:off x="548640" y="6473952"/>
            <a:ext cx="8686800" cy="228600"/>
          </a:xfrm>
          <a:prstGeom prst="rect">
            <a:avLst/>
          </a:prstGeom>
          <a:noFill/>
        </p:spPr>
        <p:txBody>
          <a:bodyPr wrap="square" anchor="t" lIns="45720" rIns="45720" tIns="27432" bIns="27432">
            <a:spAutoFit/>
          </a:bodyPr>
          <a:lstStyle/>
          <a:p>
            <a:pPr algn="l"/>
            <a:r>
              <a:rPr sz="900" b="0">
                <a:solidFill>
                  <a:srgbClr val="5C667A"/>
                </a:solidFill>
                <a:latin typeface="Calibri"/>
              </a:rPr>
              <a:t>Using GitHub Copilot with our repositories: user guide   ·   Screens and model names change over time</a:t>
            </a:r>
          </a:p>
        </p:txBody>
      </p:sp>
      <p:sp>
        <p:nvSpPr>
          <p:cNvPr id="5" name="Rectangle 4"/>
          <p:cNvSpPr/>
          <p:nvPr/>
        </p:nvSpPr>
        <p:spPr>
          <a:xfrm>
            <a:off x="548640" y="1371600"/>
            <a:ext cx="3611880" cy="489204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77240" y="1463040"/>
            <a:ext cx="3291840" cy="365760"/>
          </a:xfrm>
          <a:prstGeom prst="rect">
            <a:avLst/>
          </a:prstGeom>
          <a:noFill/>
        </p:spPr>
        <p:txBody>
          <a:bodyPr wrap="square" anchor="t" lIns="45720" rIns="45720" tIns="27432" bIns="27432">
            <a:spAutoFit/>
          </a:bodyPr>
          <a:lstStyle/>
          <a:p>
            <a:pPr algn="l"/>
            <a:r>
              <a:rPr sz="1500" b="1">
                <a:solidFill>
                  <a:srgbClr val="1E2761"/>
                </a:solidFill>
                <a:latin typeface="Calibri"/>
              </a:rPr>
              <a:t>Files in every repo</a:t>
            </a:r>
          </a:p>
        </p:txBody>
      </p:sp>
      <p:sp>
        <p:nvSpPr>
          <p:cNvPr id="7" name="TextBox 6"/>
          <p:cNvSpPr txBox="1"/>
          <p:nvPr/>
        </p:nvSpPr>
        <p:spPr>
          <a:xfrm>
            <a:off x="777240" y="1874519"/>
            <a:ext cx="3291840" cy="4297680"/>
          </a:xfrm>
          <a:prstGeom prst="rect">
            <a:avLst/>
          </a:prstGeom>
          <a:noFill/>
        </p:spPr>
        <p:txBody>
          <a:bodyPr wrap="square" anchor="t" lIns="45720" rIns="45720" tIns="27432" bIns="27432">
            <a:spAutoFit/>
          </a:bodyPr>
          <a:lstStyle/>
          <a:p>
            <a:pPr algn="l"/>
            <a:r>
              <a:rPr sz="1250" b="1">
                <a:solidFill>
                  <a:srgbClr val="0F7B6C"/>
                </a:solidFill>
                <a:latin typeface="Calibri"/>
              </a:rPr>
              <a:t>SyncRepo.bat</a:t>
            </a:r>
          </a:p>
          <a:p>
            <a:pPr algn="l"/>
            <a:r>
              <a:rPr sz="1150" b="0">
                <a:solidFill>
                  <a:srgbClr val="1F1F2E"/>
                </a:solidFill>
                <a:latin typeface="Calibri"/>
              </a:rPr>
              <a:t>Pull, commit, push. Double-click.</a:t>
            </a:r>
          </a:p>
          <a:p>
            <a:pPr algn="l">
              <a:spcBef>
                <a:spcPts val="800"/>
              </a:spcBef>
            </a:pPr>
            <a:r>
              <a:rPr sz="1250" b="1">
                <a:solidFill>
                  <a:srgbClr val="0F7B6C"/>
                </a:solidFill>
                <a:latin typeface="Calibri"/>
              </a:rPr>
              <a:t>RepoDirectory.csv</a:t>
            </a:r>
          </a:p>
          <a:p>
            <a:pPr algn="l"/>
            <a:r>
              <a:rPr sz="1150" b="0">
                <a:solidFill>
                  <a:srgbClr val="1F1F2E"/>
                </a:solidFill>
                <a:latin typeface="Calibri"/>
              </a:rPr>
              <a:t>Repo address + Y/Y flags the script reads.</a:t>
            </a:r>
          </a:p>
          <a:p>
            <a:pPr algn="l">
              <a:spcBef>
                <a:spcPts val="800"/>
              </a:spcBef>
            </a:pPr>
            <a:r>
              <a:rPr sz="1250" b="1">
                <a:solidFill>
                  <a:srgbClr val="0F7B6C"/>
                </a:solidFill>
                <a:latin typeface="Calibri"/>
              </a:rPr>
              <a:t>README.md</a:t>
            </a:r>
          </a:p>
          <a:p>
            <a:pPr algn="l"/>
            <a:r>
              <a:rPr sz="1150" b="0">
                <a:solidFill>
                  <a:srgbClr val="1F1F2E"/>
                </a:solidFill>
                <a:latin typeface="Calibri"/>
              </a:rPr>
              <a:t>What is in the folder. Copilot reads it too.</a:t>
            </a:r>
          </a:p>
          <a:p>
            <a:pPr algn="l">
              <a:spcBef>
                <a:spcPts val="800"/>
              </a:spcBef>
            </a:pPr>
            <a:r>
              <a:rPr sz="1250" b="1">
                <a:solidFill>
                  <a:srgbClr val="0F7B6C"/>
                </a:solidFill>
                <a:latin typeface="Calibri"/>
              </a:rPr>
              <a:t>.gitignore</a:t>
            </a:r>
          </a:p>
          <a:p>
            <a:pPr algn="l"/>
            <a:r>
              <a:rPr sz="1150" b="0">
                <a:solidFill>
                  <a:srgbClr val="1F1F2E"/>
                </a:solidFill>
                <a:latin typeface="Calibri"/>
              </a:rPr>
              <a:t>Files git ignores (big data, outputs, secrets).</a:t>
            </a:r>
          </a:p>
          <a:p>
            <a:pPr algn="l">
              <a:spcBef>
                <a:spcPts val="1200"/>
              </a:spcBef>
            </a:pPr>
            <a:r>
              <a:rPr sz="1150" b="1">
                <a:solidFill>
                  <a:srgbClr val="E08A1E"/>
                </a:solidFill>
                <a:latin typeface="Calibri"/>
              </a:rPr>
              <a:t>Repos live in: C:\Users\&lt;you&gt;\Repos\</a:t>
            </a:r>
          </a:p>
        </p:txBody>
      </p:sp>
      <p:sp>
        <p:nvSpPr>
          <p:cNvPr id="8" name="Rectangle 7"/>
          <p:cNvSpPr/>
          <p:nvPr/>
        </p:nvSpPr>
        <p:spPr>
          <a:xfrm>
            <a:off x="4297680" y="1371600"/>
            <a:ext cx="3611880" cy="4892040"/>
          </a:xfrm>
          <a:prstGeom prst="rect">
            <a:avLst/>
          </a:prstGeom>
          <a:solidFill>
            <a:srgbClr val="2B2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526280" y="1463040"/>
            <a:ext cx="3291840" cy="365760"/>
          </a:xfrm>
          <a:prstGeom prst="rect">
            <a:avLst/>
          </a:prstGeom>
          <a:noFill/>
        </p:spPr>
        <p:txBody>
          <a:bodyPr wrap="square" anchor="t" lIns="45720" rIns="45720" tIns="27432" bIns="27432">
            <a:spAutoFit/>
          </a:bodyPr>
          <a:lstStyle/>
          <a:p>
            <a:pPr algn="l"/>
            <a:r>
              <a:rPr sz="1500" b="1">
                <a:solidFill>
                  <a:srgbClr val="FFFFFF"/>
                </a:solidFill>
                <a:latin typeface="Calibri"/>
              </a:rPr>
              <a:t>Commands you may type</a:t>
            </a:r>
          </a:p>
        </p:txBody>
      </p:sp>
      <p:sp>
        <p:nvSpPr>
          <p:cNvPr id="10" name="TextBox 9"/>
          <p:cNvSpPr txBox="1"/>
          <p:nvPr/>
        </p:nvSpPr>
        <p:spPr>
          <a:xfrm>
            <a:off x="4526280" y="1874519"/>
            <a:ext cx="3291840" cy="4297680"/>
          </a:xfrm>
          <a:prstGeom prst="rect">
            <a:avLst/>
          </a:prstGeom>
          <a:noFill/>
        </p:spPr>
        <p:txBody>
          <a:bodyPr wrap="square" anchor="t" lIns="45720" rIns="45720" tIns="27432" bIns="27432">
            <a:spAutoFit/>
          </a:bodyPr>
          <a:lstStyle/>
          <a:p>
            <a:pPr algn="l"/>
            <a:r>
              <a:rPr sz="1150" b="0">
                <a:solidFill>
                  <a:srgbClr val="C8F0C8"/>
                </a:solidFill>
                <a:latin typeface="Consolas"/>
              </a:rPr>
              <a:t>gh auth login</a:t>
            </a:r>
          </a:p>
          <a:p>
            <a:pPr algn="l">
              <a:spcBef>
                <a:spcPts val="600"/>
              </a:spcBef>
            </a:pPr>
            <a:r>
              <a:rPr sz="1150" b="0">
                <a:solidFill>
                  <a:srgbClr val="C8F0C8"/>
                </a:solidFill>
                <a:latin typeface="Consolas"/>
              </a:rPr>
              <a:t>gh repo clone cpmodel/repo</a:t>
            </a:r>
          </a:p>
          <a:p>
            <a:pPr algn="l">
              <a:spcBef>
                <a:spcPts val="600"/>
              </a:spcBef>
            </a:pPr>
            <a:r>
              <a:rPr sz="1150" b="0">
                <a:solidFill>
                  <a:srgbClr val="C8F0C8"/>
                </a:solidFill>
                <a:latin typeface="Consolas"/>
              </a:rPr>
              <a:t>git pull</a:t>
            </a:r>
          </a:p>
          <a:p>
            <a:pPr algn="l">
              <a:spcBef>
                <a:spcPts val="600"/>
              </a:spcBef>
            </a:pPr>
            <a:r>
              <a:rPr sz="1150" b="0">
                <a:solidFill>
                  <a:srgbClr val="C8F0C8"/>
                </a:solidFill>
                <a:latin typeface="Consolas"/>
              </a:rPr>
              <a:t>git status</a:t>
            </a:r>
          </a:p>
          <a:p>
            <a:pPr algn="l">
              <a:spcBef>
                <a:spcPts val="600"/>
              </a:spcBef>
            </a:pPr>
            <a:r>
              <a:rPr sz="1150" b="0">
                <a:solidFill>
                  <a:srgbClr val="C8F0C8"/>
                </a:solidFill>
                <a:latin typeface="Consolas"/>
              </a:rPr>
              <a:t>git add -A</a:t>
            </a:r>
          </a:p>
          <a:p>
            <a:pPr algn="l">
              <a:spcBef>
                <a:spcPts val="600"/>
              </a:spcBef>
            </a:pPr>
            <a:r>
              <a:rPr sz="1150" b="0">
                <a:solidFill>
                  <a:srgbClr val="C8F0C8"/>
                </a:solidFill>
                <a:latin typeface="Consolas"/>
              </a:rPr>
              <a:t>git commit -m "message"</a:t>
            </a:r>
          </a:p>
          <a:p>
            <a:pPr algn="l">
              <a:spcBef>
                <a:spcPts val="600"/>
              </a:spcBef>
            </a:pPr>
            <a:r>
              <a:rPr sz="1150" b="0">
                <a:solidFill>
                  <a:srgbClr val="C8F0C8"/>
                </a:solidFill>
                <a:latin typeface="Consolas"/>
              </a:rPr>
              <a:t>git push</a:t>
            </a:r>
          </a:p>
          <a:p>
            <a:pPr algn="l">
              <a:spcBef>
                <a:spcPts val="600"/>
              </a:spcBef>
            </a:pPr>
            <a:r>
              <a:rPr sz="1150" b="0">
                <a:solidFill>
                  <a:srgbClr val="C8F0C8"/>
                </a:solidFill>
                <a:latin typeface="Consolas"/>
              </a:rPr>
              <a:t>gh pr create</a:t>
            </a:r>
          </a:p>
          <a:p>
            <a:pPr algn="l">
              <a:spcBef>
                <a:spcPts val="600"/>
              </a:spcBef>
            </a:pPr>
            <a:r>
              <a:rPr sz="1150" b="0">
                <a:solidFill>
                  <a:srgbClr val="C8F0C8"/>
                </a:solidFill>
                <a:latin typeface="Consolas"/>
              </a:rPr>
              <a:t>gh copilot</a:t>
            </a:r>
          </a:p>
          <a:p>
            <a:pPr algn="l">
              <a:spcBef>
                <a:spcPts val="1400"/>
              </a:spcBef>
            </a:pPr>
            <a:r>
              <a:rPr sz="1050" b="0">
                <a:solidFill>
                  <a:srgbClr val="CADCFC"/>
                </a:solidFill>
                <a:latin typeface="Calibri"/>
              </a:rPr>
              <a:t>Or just ask Copilot to do these for you.</a:t>
            </a:r>
          </a:p>
        </p:txBody>
      </p:sp>
      <p:sp>
        <p:nvSpPr>
          <p:cNvPr id="11" name="Rectangle 10"/>
          <p:cNvSpPr/>
          <p:nvPr/>
        </p:nvSpPr>
        <p:spPr>
          <a:xfrm>
            <a:off x="8046720" y="1371600"/>
            <a:ext cx="3593592" cy="4892040"/>
          </a:xfrm>
          <a:prstGeom prst="rect">
            <a:avLst/>
          </a:prstGeom>
          <a:solidFill>
            <a:srgbClr val="E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275320" y="1463040"/>
            <a:ext cx="3291840" cy="365760"/>
          </a:xfrm>
          <a:prstGeom prst="rect">
            <a:avLst/>
          </a:prstGeom>
          <a:noFill/>
        </p:spPr>
        <p:txBody>
          <a:bodyPr wrap="square" anchor="t" lIns="45720" rIns="45720" tIns="27432" bIns="27432">
            <a:spAutoFit/>
          </a:bodyPr>
          <a:lstStyle/>
          <a:p>
            <a:pPr algn="l"/>
            <a:r>
              <a:rPr sz="1500" b="1">
                <a:solidFill>
                  <a:srgbClr val="0F7B6C"/>
                </a:solidFill>
                <a:latin typeface="Calibri"/>
              </a:rPr>
              <a:t>Where to go next</a:t>
            </a:r>
          </a:p>
        </p:txBody>
      </p:sp>
      <p:sp>
        <p:nvSpPr>
          <p:cNvPr id="13" name="TextBox 12"/>
          <p:cNvSpPr txBox="1"/>
          <p:nvPr/>
        </p:nvSpPr>
        <p:spPr>
          <a:xfrm>
            <a:off x="8275320" y="1874519"/>
            <a:ext cx="3246120" cy="4297680"/>
          </a:xfrm>
          <a:prstGeom prst="rect">
            <a:avLst/>
          </a:prstGeom>
          <a:noFill/>
        </p:spPr>
        <p:txBody>
          <a:bodyPr wrap="square" anchor="t" lIns="45720" rIns="45720" tIns="27432" bIns="27432">
            <a:spAutoFit/>
          </a:bodyPr>
          <a:lstStyle/>
          <a:p>
            <a:pPr algn="l"/>
            <a:r>
              <a:rPr sz="1250" b="1">
                <a:solidFill>
                  <a:srgbClr val="1E2761"/>
                </a:solidFill>
                <a:latin typeface="Calibri"/>
              </a:rPr>
              <a:t>Presentations - Tools\</a:t>
            </a:r>
          </a:p>
          <a:p>
            <a:pPr algn="l">
              <a:spcBef>
                <a:spcPts val="600"/>
              </a:spcBef>
            </a:pPr>
            <a:r>
              <a:rPr sz="1150" b="0">
                <a:solidFill>
                  <a:srgbClr val="1F1F2E"/>
                </a:solidFill>
                <a:latin typeface="Calibri"/>
              </a:rPr>
              <a:t>Excise_Diagnostic_User_Guide.pptx</a:t>
            </a:r>
          </a:p>
          <a:p>
            <a:pPr algn="l">
              <a:spcBef>
                <a:spcPts val="400"/>
              </a:spcBef>
            </a:pPr>
            <a:r>
              <a:rPr sz="1150" b="0">
                <a:solidFill>
                  <a:srgbClr val="1F1F2E"/>
                </a:solidFill>
                <a:latin typeface="Calibri"/>
              </a:rPr>
              <a:t>TaxMacroFiscalDashboard-user-guide.pptx</a:t>
            </a:r>
          </a:p>
          <a:p>
            <a:pPr algn="l">
              <a:spcBef>
                <a:spcPts val="400"/>
              </a:spcBef>
            </a:pPr>
            <a:r>
              <a:rPr sz="1150" b="0">
                <a:solidFill>
                  <a:srgbClr val="1F1F2E"/>
                </a:solidFill>
                <a:latin typeface="Calibri"/>
              </a:rPr>
              <a:t>CPAT-Excel-AI guide (to follow)</a:t>
            </a:r>
          </a:p>
          <a:p>
            <a:pPr algn="l">
              <a:spcBef>
                <a:spcPts val="1200"/>
              </a:spcBef>
            </a:pPr>
            <a:r>
              <a:rPr sz="1250" b="1">
                <a:solidFill>
                  <a:srgbClr val="1E2761"/>
                </a:solidFill>
                <a:latin typeface="Calibri"/>
              </a:rPr>
              <a:t>Model picks</a:t>
            </a:r>
          </a:p>
          <a:p>
            <a:pPr algn="l"/>
            <a:r>
              <a:rPr sz="1150" b="0">
                <a:solidFill>
                  <a:srgbClr val="1F1F2E"/>
                </a:solidFill>
                <a:latin typeface="Calibri"/>
              </a:rPr>
              <a:t>Sonnet: everyday.  Opus: hard.  Fable: latest and best.</a:t>
            </a:r>
          </a:p>
          <a:p>
            <a:pPr algn="l">
              <a:spcBef>
                <a:spcPts val="1200"/>
              </a:spcBef>
            </a:pPr>
            <a:r>
              <a:rPr sz="1250" b="1">
                <a:solidFill>
                  <a:srgbClr val="1E2761"/>
                </a:solidFill>
                <a:latin typeface="Calibri"/>
              </a:rPr>
              <a:t>Credits</a:t>
            </a:r>
          </a:p>
          <a:p>
            <a:pPr algn="l"/>
            <a:r>
              <a:rPr sz="1150" b="0">
                <a:solidFill>
                  <a:srgbClr val="1F1F2E"/>
                </a:solidFill>
                <a:latin typeface="Calibri"/>
              </a:rPr>
              <a:t>Enterprise seat first. More credits: GitHub_Enterprise_Admin@worldbankgroup.org (give your username).</a:t>
            </a:r>
          </a:p>
          <a:p>
            <a:pPr algn="l">
              <a:spcBef>
                <a:spcPts val="1200"/>
              </a:spcBef>
            </a:pPr>
            <a:r>
              <a:rPr sz="1250" b="1">
                <a:solidFill>
                  <a:srgbClr val="1E2761"/>
                </a:solidFill>
                <a:latin typeface="Calibri"/>
              </a:rPr>
              <a:t>Repos</a:t>
            </a:r>
          </a:p>
          <a:p>
            <a:pPr algn="l"/>
            <a:r>
              <a:rPr sz="1150" b="0">
                <a:solidFill>
                  <a:srgbClr val="1F1F2E"/>
                </a:solidFill>
                <a:latin typeface="Calibri"/>
              </a:rPr>
              <a:t>Working repos: github.com/cpmodel. Onboarding steps: Appendix 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640080" y="822960"/>
            <a:ext cx="5486400" cy="320040"/>
          </a:xfrm>
          <a:prstGeom prst="rect">
            <a:avLst/>
          </a:prstGeom>
          <a:noFill/>
        </p:spPr>
        <p:txBody>
          <a:bodyPr wrap="square" anchor="t" lIns="45720" rIns="45720" tIns="27432" bIns="27432">
            <a:spAutoFit/>
          </a:bodyPr>
          <a:lstStyle/>
          <a:p>
            <a:pPr algn="l"/>
            <a:r>
              <a:rPr sz="1400" b="1">
                <a:solidFill>
                  <a:srgbClr val="CADCFC"/>
                </a:solidFill>
                <a:latin typeface="Calibri"/>
              </a:rPr>
              <a:t>APPENDIX 2</a:t>
            </a:r>
          </a:p>
        </p:txBody>
      </p:sp>
      <p:sp>
        <p:nvSpPr>
          <p:cNvPr id="3" name="TextBox 2"/>
          <p:cNvSpPr txBox="1"/>
          <p:nvPr/>
        </p:nvSpPr>
        <p:spPr>
          <a:xfrm>
            <a:off x="640080" y="1188720"/>
            <a:ext cx="5852160" cy="1554480"/>
          </a:xfrm>
          <a:prstGeom prst="rect">
            <a:avLst/>
          </a:prstGeom>
          <a:noFill/>
        </p:spPr>
        <p:txBody>
          <a:bodyPr wrap="square" anchor="t" lIns="45720" rIns="45720" tIns="27432" bIns="27432">
            <a:spAutoFit/>
          </a:bodyPr>
          <a:lstStyle/>
          <a:p>
            <a:pPr algn="l"/>
            <a:r>
              <a:rPr sz="3600" b="0">
                <a:solidFill>
                  <a:srgbClr val="FFFFFF"/>
                </a:solidFill>
                <a:latin typeface="Cambria"/>
              </a:rPr>
              <a:t>Further information</a:t>
            </a:r>
          </a:p>
        </p:txBody>
      </p:sp>
      <p:sp>
        <p:nvSpPr>
          <p:cNvPr id="4" name="TextBox 3"/>
          <p:cNvSpPr txBox="1"/>
          <p:nvPr/>
        </p:nvSpPr>
        <p:spPr>
          <a:xfrm>
            <a:off x="640080" y="2880360"/>
            <a:ext cx="5760720" cy="2377440"/>
          </a:xfrm>
          <a:prstGeom prst="rect">
            <a:avLst/>
          </a:prstGeom>
          <a:noFill/>
        </p:spPr>
        <p:txBody>
          <a:bodyPr wrap="square" anchor="t" lIns="45720" rIns="45720" tIns="27432" bIns="27432">
            <a:spAutoFit/>
          </a:bodyPr>
          <a:lstStyle/>
          <a:p>
            <a:pPr algn="l"/>
            <a:r>
              <a:rPr sz="1400" b="0">
                <a:solidFill>
                  <a:srgbClr val="CADCFC"/>
                </a:solidFill>
                <a:latin typeface="Calibri"/>
              </a:rPr>
              <a:t>Background for when you want to understand what is going on under the hood: what GitHub and git are, how each of our AI-built tools works with Copilot, and the unit's five onboarding steps in full (from the onboarding email to colleagues).</a:t>
            </a:r>
          </a:p>
        </p:txBody>
      </p:sp>
      <p:sp>
        <p:nvSpPr>
          <p:cNvPr id="5" name="TextBox 4"/>
          <p:cNvSpPr txBox="1"/>
          <p:nvPr/>
        </p:nvSpPr>
        <p:spPr>
          <a:xfrm>
            <a:off x="640080" y="5257800"/>
            <a:ext cx="5760720" cy="914400"/>
          </a:xfrm>
          <a:prstGeom prst="rect">
            <a:avLst/>
          </a:prstGeom>
          <a:noFill/>
        </p:spPr>
        <p:txBody>
          <a:bodyPr wrap="square" anchor="t" lIns="45720" rIns="45720" tIns="27432" bIns="27432">
            <a:spAutoFit/>
          </a:bodyPr>
          <a:lstStyle/>
          <a:p>
            <a:pPr algn="l"/>
            <a:r>
              <a:rPr sz="1200" b="0">
                <a:solidFill>
                  <a:srgbClr val="CADCFC"/>
                </a:solidFill>
                <a:latin typeface="Calibri"/>
              </a:rPr>
              <a:t>Two organisations: github.com/worldbank holds your seat, billing and unit team; github.com/cpmodel holds the working repos (CPAT, AI-Tools) shared with IMF and ICs.</a:t>
            </a:r>
          </a:p>
        </p:txBody>
      </p:sp>
      <p:sp>
        <p:nvSpPr>
          <p:cNvPr id="6" name="Rectangle 5"/>
          <p:cNvSpPr/>
          <p:nvPr/>
        </p:nvSpPr>
        <p:spPr>
          <a:xfrm>
            <a:off x="6858000" y="1188720"/>
            <a:ext cx="4754880" cy="4937760"/>
          </a:xfrm>
          <a:prstGeom prst="rect">
            <a:avLst/>
          </a:prstGeom>
          <a:solidFill>
            <a:srgbClr val="2E3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086600" y="1280160"/>
            <a:ext cx="4297680" cy="365760"/>
          </a:xfrm>
          <a:prstGeom prst="rect">
            <a:avLst/>
          </a:prstGeom>
          <a:noFill/>
        </p:spPr>
        <p:txBody>
          <a:bodyPr wrap="square" anchor="t" lIns="45720" rIns="45720" tIns="27432" bIns="27432">
            <a:spAutoFit/>
          </a:bodyPr>
          <a:lstStyle/>
          <a:p>
            <a:pPr algn="l"/>
            <a:r>
              <a:rPr sz="1500" b="1">
                <a:solidFill>
                  <a:srgbClr val="FFFFFF"/>
                </a:solidFill>
                <a:latin typeface="Calibri"/>
              </a:rPr>
              <a:t>Appendix 2 contents</a:t>
            </a:r>
          </a:p>
        </p:txBody>
      </p:sp>
      <p:sp>
        <p:nvSpPr>
          <p:cNvPr id="8" name="Oval 7"/>
          <p:cNvSpPr/>
          <p:nvPr/>
        </p:nvSpPr>
        <p:spPr>
          <a:xfrm>
            <a:off x="7086600" y="1819656"/>
            <a:ext cx="329184" cy="329184"/>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086600" y="1819656"/>
            <a:ext cx="329184" cy="329184"/>
          </a:xfrm>
          <a:prstGeom prst="rect">
            <a:avLst/>
          </a:prstGeom>
          <a:noFill/>
        </p:spPr>
        <p:txBody>
          <a:bodyPr wrap="square" anchor="ctr" lIns="45720" rIns="45720" tIns="27432" bIns="27432">
            <a:spAutoFit/>
          </a:bodyPr>
          <a:lstStyle/>
          <a:p>
            <a:pPr algn="ctr"/>
            <a:r>
              <a:rPr sz="950" b="1">
                <a:solidFill>
                  <a:srgbClr val="FFFFFF"/>
                </a:solidFill>
                <a:latin typeface="Calibri"/>
              </a:rPr>
              <a:t>2.1</a:t>
            </a:r>
          </a:p>
        </p:txBody>
      </p:sp>
      <p:sp>
        <p:nvSpPr>
          <p:cNvPr id="10" name="TextBox 9"/>
          <p:cNvSpPr txBox="1"/>
          <p:nvPr/>
        </p:nvSpPr>
        <p:spPr>
          <a:xfrm>
            <a:off x="7543800" y="1783080"/>
            <a:ext cx="3977639" cy="402336"/>
          </a:xfrm>
          <a:prstGeom prst="rect">
            <a:avLst/>
          </a:prstGeom>
          <a:noFill/>
        </p:spPr>
        <p:txBody>
          <a:bodyPr wrap="square" anchor="ctr" lIns="45720" rIns="45720" tIns="27432" bIns="27432">
            <a:spAutoFit/>
          </a:bodyPr>
          <a:lstStyle/>
          <a:p>
            <a:pPr algn="l"/>
            <a:r>
              <a:rPr sz="1200" b="0">
                <a:solidFill>
                  <a:srgbClr val="FFFFFF"/>
                </a:solidFill>
                <a:latin typeface="Calibri"/>
              </a:rPr>
              <a:t>What GitHub is: the repository page</a:t>
            </a:r>
          </a:p>
        </p:txBody>
      </p:sp>
      <p:sp>
        <p:nvSpPr>
          <p:cNvPr id="11" name="Oval 10"/>
          <p:cNvSpPr/>
          <p:nvPr/>
        </p:nvSpPr>
        <p:spPr>
          <a:xfrm>
            <a:off x="7086600" y="2235708"/>
            <a:ext cx="329184" cy="329184"/>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086600" y="2235708"/>
            <a:ext cx="329184" cy="329184"/>
          </a:xfrm>
          <a:prstGeom prst="rect">
            <a:avLst/>
          </a:prstGeom>
          <a:noFill/>
        </p:spPr>
        <p:txBody>
          <a:bodyPr wrap="square" anchor="ctr" lIns="45720" rIns="45720" tIns="27432" bIns="27432">
            <a:spAutoFit/>
          </a:bodyPr>
          <a:lstStyle/>
          <a:p>
            <a:pPr algn="ctr"/>
            <a:r>
              <a:rPr sz="950" b="1">
                <a:solidFill>
                  <a:srgbClr val="FFFFFF"/>
                </a:solidFill>
                <a:latin typeface="Calibri"/>
              </a:rPr>
              <a:t>2.2</a:t>
            </a:r>
          </a:p>
        </p:txBody>
      </p:sp>
      <p:sp>
        <p:nvSpPr>
          <p:cNvPr id="13" name="TextBox 12"/>
          <p:cNvSpPr txBox="1"/>
          <p:nvPr/>
        </p:nvSpPr>
        <p:spPr>
          <a:xfrm>
            <a:off x="7543800" y="2199132"/>
            <a:ext cx="3977639" cy="402336"/>
          </a:xfrm>
          <a:prstGeom prst="rect">
            <a:avLst/>
          </a:prstGeom>
          <a:noFill/>
        </p:spPr>
        <p:txBody>
          <a:bodyPr wrap="square" anchor="ctr" lIns="45720" rIns="45720" tIns="27432" bIns="27432">
            <a:spAutoFit/>
          </a:bodyPr>
          <a:lstStyle/>
          <a:p>
            <a:pPr algn="l"/>
            <a:r>
              <a:rPr sz="1200" b="0">
                <a:solidFill>
                  <a:srgbClr val="FFFFFF"/>
                </a:solidFill>
                <a:latin typeface="Calibri"/>
              </a:rPr>
              <a:t>Twelve git words in plain English</a:t>
            </a:r>
          </a:p>
        </p:txBody>
      </p:sp>
      <p:sp>
        <p:nvSpPr>
          <p:cNvPr id="14" name="Oval 13"/>
          <p:cNvSpPr/>
          <p:nvPr/>
        </p:nvSpPr>
        <p:spPr>
          <a:xfrm>
            <a:off x="7086600" y="2651760"/>
            <a:ext cx="329184" cy="329184"/>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086600" y="2651760"/>
            <a:ext cx="329184" cy="329184"/>
          </a:xfrm>
          <a:prstGeom prst="rect">
            <a:avLst/>
          </a:prstGeom>
          <a:noFill/>
        </p:spPr>
        <p:txBody>
          <a:bodyPr wrap="square" anchor="ctr" lIns="45720" rIns="45720" tIns="27432" bIns="27432">
            <a:spAutoFit/>
          </a:bodyPr>
          <a:lstStyle/>
          <a:p>
            <a:pPr algn="ctr"/>
            <a:r>
              <a:rPr sz="950" b="1">
                <a:solidFill>
                  <a:srgbClr val="FFFFFF"/>
                </a:solidFill>
                <a:latin typeface="Calibri"/>
              </a:rPr>
              <a:t>2.3</a:t>
            </a:r>
          </a:p>
        </p:txBody>
      </p:sp>
      <p:sp>
        <p:nvSpPr>
          <p:cNvPr id="16" name="TextBox 15"/>
          <p:cNvSpPr txBox="1"/>
          <p:nvPr/>
        </p:nvSpPr>
        <p:spPr>
          <a:xfrm>
            <a:off x="7543800" y="2615184"/>
            <a:ext cx="3977639" cy="402336"/>
          </a:xfrm>
          <a:prstGeom prst="rect">
            <a:avLst/>
          </a:prstGeom>
          <a:noFill/>
        </p:spPr>
        <p:txBody>
          <a:bodyPr wrap="square" anchor="ctr" lIns="45720" rIns="45720" tIns="27432" bIns="27432">
            <a:spAutoFit/>
          </a:bodyPr>
          <a:lstStyle/>
          <a:p>
            <a:pPr algn="l"/>
            <a:r>
              <a:rPr sz="1200" b="0">
                <a:solidFill>
                  <a:srgbClr val="FFFFFF"/>
                </a:solidFill>
                <a:latin typeface="Calibri"/>
              </a:rPr>
              <a:t>The everyday cycle: pull, work, commit, push</a:t>
            </a:r>
          </a:p>
        </p:txBody>
      </p:sp>
      <p:sp>
        <p:nvSpPr>
          <p:cNvPr id="17" name="Oval 16"/>
          <p:cNvSpPr/>
          <p:nvPr/>
        </p:nvSpPr>
        <p:spPr>
          <a:xfrm>
            <a:off x="7086600" y="3067811"/>
            <a:ext cx="329184" cy="329184"/>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086600" y="3067811"/>
            <a:ext cx="329184" cy="329184"/>
          </a:xfrm>
          <a:prstGeom prst="rect">
            <a:avLst/>
          </a:prstGeom>
          <a:noFill/>
        </p:spPr>
        <p:txBody>
          <a:bodyPr wrap="square" anchor="ctr" lIns="45720" rIns="45720" tIns="27432" bIns="27432">
            <a:spAutoFit/>
          </a:bodyPr>
          <a:lstStyle/>
          <a:p>
            <a:pPr algn="ctr"/>
            <a:r>
              <a:rPr sz="950" b="1">
                <a:solidFill>
                  <a:srgbClr val="FFFFFF"/>
                </a:solidFill>
                <a:latin typeface="Calibri"/>
              </a:rPr>
              <a:t>2.4</a:t>
            </a:r>
          </a:p>
        </p:txBody>
      </p:sp>
      <p:sp>
        <p:nvSpPr>
          <p:cNvPr id="19" name="TextBox 18"/>
          <p:cNvSpPr txBox="1"/>
          <p:nvPr/>
        </p:nvSpPr>
        <p:spPr>
          <a:xfrm>
            <a:off x="7543800" y="3031235"/>
            <a:ext cx="3977639" cy="402336"/>
          </a:xfrm>
          <a:prstGeom prst="rect">
            <a:avLst/>
          </a:prstGeom>
          <a:noFill/>
        </p:spPr>
        <p:txBody>
          <a:bodyPr wrap="square" anchor="ctr" lIns="45720" rIns="45720" tIns="27432" bIns="27432">
            <a:spAutoFit/>
          </a:bodyPr>
          <a:lstStyle/>
          <a:p>
            <a:pPr algn="l"/>
            <a:r>
              <a:rPr sz="1200" b="0">
                <a:solidFill>
                  <a:srgbClr val="FFFFFF"/>
                </a:solidFill>
                <a:latin typeface="Calibri"/>
              </a:rPr>
              <a:t>Tool 1 · Excise Diagnostic</a:t>
            </a:r>
          </a:p>
        </p:txBody>
      </p:sp>
      <p:sp>
        <p:nvSpPr>
          <p:cNvPr id="20" name="Oval 19"/>
          <p:cNvSpPr/>
          <p:nvPr/>
        </p:nvSpPr>
        <p:spPr>
          <a:xfrm>
            <a:off x="7086600" y="3483863"/>
            <a:ext cx="329184" cy="329184"/>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086600" y="3483863"/>
            <a:ext cx="329184" cy="329184"/>
          </a:xfrm>
          <a:prstGeom prst="rect">
            <a:avLst/>
          </a:prstGeom>
          <a:noFill/>
        </p:spPr>
        <p:txBody>
          <a:bodyPr wrap="square" anchor="ctr" lIns="45720" rIns="45720" tIns="27432" bIns="27432">
            <a:spAutoFit/>
          </a:bodyPr>
          <a:lstStyle/>
          <a:p>
            <a:pPr algn="ctr"/>
            <a:r>
              <a:rPr sz="950" b="1">
                <a:solidFill>
                  <a:srgbClr val="FFFFFF"/>
                </a:solidFill>
                <a:latin typeface="Calibri"/>
              </a:rPr>
              <a:t>2.5</a:t>
            </a:r>
          </a:p>
        </p:txBody>
      </p:sp>
      <p:sp>
        <p:nvSpPr>
          <p:cNvPr id="22" name="TextBox 21"/>
          <p:cNvSpPr txBox="1"/>
          <p:nvPr/>
        </p:nvSpPr>
        <p:spPr>
          <a:xfrm>
            <a:off x="7543800" y="3447287"/>
            <a:ext cx="3977639" cy="402336"/>
          </a:xfrm>
          <a:prstGeom prst="rect">
            <a:avLst/>
          </a:prstGeom>
          <a:noFill/>
        </p:spPr>
        <p:txBody>
          <a:bodyPr wrap="square" anchor="ctr" lIns="45720" rIns="45720" tIns="27432" bIns="27432">
            <a:spAutoFit/>
          </a:bodyPr>
          <a:lstStyle/>
          <a:p>
            <a:pPr algn="l"/>
            <a:r>
              <a:rPr sz="1200" b="0">
                <a:solidFill>
                  <a:srgbClr val="FFFFFF"/>
                </a:solidFill>
                <a:latin typeface="Calibri"/>
              </a:rPr>
              <a:t>Tool 2 · Tax and Macro-Fiscal Dashboard</a:t>
            </a:r>
          </a:p>
        </p:txBody>
      </p:sp>
      <p:sp>
        <p:nvSpPr>
          <p:cNvPr id="23" name="Oval 22"/>
          <p:cNvSpPr/>
          <p:nvPr/>
        </p:nvSpPr>
        <p:spPr>
          <a:xfrm>
            <a:off x="7086600" y="3899915"/>
            <a:ext cx="329184" cy="329184"/>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086600" y="3899915"/>
            <a:ext cx="329184" cy="329184"/>
          </a:xfrm>
          <a:prstGeom prst="rect">
            <a:avLst/>
          </a:prstGeom>
          <a:noFill/>
        </p:spPr>
        <p:txBody>
          <a:bodyPr wrap="square" anchor="ctr" lIns="45720" rIns="45720" tIns="27432" bIns="27432">
            <a:spAutoFit/>
          </a:bodyPr>
          <a:lstStyle/>
          <a:p>
            <a:pPr algn="ctr"/>
            <a:r>
              <a:rPr sz="950" b="1">
                <a:solidFill>
                  <a:srgbClr val="FFFFFF"/>
                </a:solidFill>
                <a:latin typeface="Calibri"/>
              </a:rPr>
              <a:t>2.6</a:t>
            </a:r>
          </a:p>
        </p:txBody>
      </p:sp>
      <p:sp>
        <p:nvSpPr>
          <p:cNvPr id="25" name="TextBox 24"/>
          <p:cNvSpPr txBox="1"/>
          <p:nvPr/>
        </p:nvSpPr>
        <p:spPr>
          <a:xfrm>
            <a:off x="7543800" y="3863339"/>
            <a:ext cx="3977639" cy="402336"/>
          </a:xfrm>
          <a:prstGeom prst="rect">
            <a:avLst/>
          </a:prstGeom>
          <a:noFill/>
        </p:spPr>
        <p:txBody>
          <a:bodyPr wrap="square" anchor="ctr" lIns="45720" rIns="45720" tIns="27432" bIns="27432">
            <a:spAutoFit/>
          </a:bodyPr>
          <a:lstStyle/>
          <a:p>
            <a:pPr algn="l"/>
            <a:r>
              <a:rPr sz="1200" b="0">
                <a:solidFill>
                  <a:srgbClr val="FFFFFF"/>
                </a:solidFill>
                <a:latin typeface="Calibri"/>
              </a:rPr>
              <a:t>Tools 3 &amp; 4 · CPAT-Excel-AI and CPAT-Python</a:t>
            </a:r>
          </a:p>
        </p:txBody>
      </p:sp>
      <p:sp>
        <p:nvSpPr>
          <p:cNvPr id="26" name="Oval 25"/>
          <p:cNvSpPr/>
          <p:nvPr/>
        </p:nvSpPr>
        <p:spPr>
          <a:xfrm>
            <a:off x="7086600" y="4315968"/>
            <a:ext cx="329184" cy="329184"/>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086600" y="4315968"/>
            <a:ext cx="329184" cy="329184"/>
          </a:xfrm>
          <a:prstGeom prst="rect">
            <a:avLst/>
          </a:prstGeom>
          <a:noFill/>
        </p:spPr>
        <p:txBody>
          <a:bodyPr wrap="square" anchor="ctr" lIns="45720" rIns="45720" tIns="27432" bIns="27432">
            <a:spAutoFit/>
          </a:bodyPr>
          <a:lstStyle/>
          <a:p>
            <a:pPr algn="ctr"/>
            <a:r>
              <a:rPr sz="950" b="1">
                <a:solidFill>
                  <a:srgbClr val="FFFFFF"/>
                </a:solidFill>
                <a:latin typeface="Calibri"/>
              </a:rPr>
              <a:t>2.7</a:t>
            </a:r>
          </a:p>
        </p:txBody>
      </p:sp>
      <p:sp>
        <p:nvSpPr>
          <p:cNvPr id="28" name="TextBox 27"/>
          <p:cNvSpPr txBox="1"/>
          <p:nvPr/>
        </p:nvSpPr>
        <p:spPr>
          <a:xfrm>
            <a:off x="7543800" y="4279392"/>
            <a:ext cx="3977639" cy="402336"/>
          </a:xfrm>
          <a:prstGeom prst="rect">
            <a:avLst/>
          </a:prstGeom>
          <a:noFill/>
        </p:spPr>
        <p:txBody>
          <a:bodyPr wrap="square" anchor="ctr" lIns="45720" rIns="45720" tIns="27432" bIns="27432">
            <a:spAutoFit/>
          </a:bodyPr>
          <a:lstStyle/>
          <a:p>
            <a:pPr algn="l"/>
            <a:r>
              <a:rPr sz="1200" b="0">
                <a:solidFill>
                  <a:srgbClr val="FFFFFF"/>
                </a:solidFill>
                <a:latin typeface="Calibri"/>
              </a:rPr>
              <a:t>Onboarding 1 · Join the WBG GitHub organisation</a:t>
            </a:r>
          </a:p>
        </p:txBody>
      </p:sp>
      <p:sp>
        <p:nvSpPr>
          <p:cNvPr id="29" name="Oval 28"/>
          <p:cNvSpPr/>
          <p:nvPr/>
        </p:nvSpPr>
        <p:spPr>
          <a:xfrm>
            <a:off x="7086600" y="4732020"/>
            <a:ext cx="329184" cy="329184"/>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086600" y="4732020"/>
            <a:ext cx="329184" cy="329184"/>
          </a:xfrm>
          <a:prstGeom prst="rect">
            <a:avLst/>
          </a:prstGeom>
          <a:noFill/>
        </p:spPr>
        <p:txBody>
          <a:bodyPr wrap="square" anchor="ctr" lIns="45720" rIns="45720" tIns="27432" bIns="27432">
            <a:spAutoFit/>
          </a:bodyPr>
          <a:lstStyle/>
          <a:p>
            <a:pPr algn="ctr"/>
            <a:r>
              <a:rPr sz="950" b="1">
                <a:solidFill>
                  <a:srgbClr val="FFFFFF"/>
                </a:solidFill>
                <a:latin typeface="Calibri"/>
              </a:rPr>
              <a:t>2.8</a:t>
            </a:r>
          </a:p>
        </p:txBody>
      </p:sp>
      <p:sp>
        <p:nvSpPr>
          <p:cNvPr id="31" name="TextBox 30"/>
          <p:cNvSpPr txBox="1"/>
          <p:nvPr/>
        </p:nvSpPr>
        <p:spPr>
          <a:xfrm>
            <a:off x="7543800" y="4695444"/>
            <a:ext cx="3977639" cy="402336"/>
          </a:xfrm>
          <a:prstGeom prst="rect">
            <a:avLst/>
          </a:prstGeom>
          <a:noFill/>
        </p:spPr>
        <p:txBody>
          <a:bodyPr wrap="square" anchor="ctr" lIns="45720" rIns="45720" tIns="27432" bIns="27432">
            <a:spAutoFit/>
          </a:bodyPr>
          <a:lstStyle/>
          <a:p>
            <a:pPr algn="l"/>
            <a:r>
              <a:rPr sz="1200" b="0">
                <a:solidFill>
                  <a:srgbClr val="FFFFFF"/>
                </a:solidFill>
                <a:latin typeface="Calibri"/>
              </a:rPr>
              <a:t>Onboarding 2 · Join the Fiscal Policy Unit team</a:t>
            </a:r>
          </a:p>
        </p:txBody>
      </p:sp>
      <p:sp>
        <p:nvSpPr>
          <p:cNvPr id="32" name="Oval 31"/>
          <p:cNvSpPr/>
          <p:nvPr/>
        </p:nvSpPr>
        <p:spPr>
          <a:xfrm>
            <a:off x="7086600" y="5148072"/>
            <a:ext cx="329184" cy="329184"/>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086600" y="5148072"/>
            <a:ext cx="329184" cy="329184"/>
          </a:xfrm>
          <a:prstGeom prst="rect">
            <a:avLst/>
          </a:prstGeom>
          <a:noFill/>
        </p:spPr>
        <p:txBody>
          <a:bodyPr wrap="square" anchor="ctr" lIns="45720" rIns="45720" tIns="27432" bIns="27432">
            <a:spAutoFit/>
          </a:bodyPr>
          <a:lstStyle/>
          <a:p>
            <a:pPr algn="ctr"/>
            <a:r>
              <a:rPr sz="950" b="1">
                <a:solidFill>
                  <a:srgbClr val="FFFFFF"/>
                </a:solidFill>
                <a:latin typeface="Calibri"/>
              </a:rPr>
              <a:t>2.9</a:t>
            </a:r>
          </a:p>
        </p:txBody>
      </p:sp>
      <p:sp>
        <p:nvSpPr>
          <p:cNvPr id="34" name="TextBox 33"/>
          <p:cNvSpPr txBox="1"/>
          <p:nvPr/>
        </p:nvSpPr>
        <p:spPr>
          <a:xfrm>
            <a:off x="7543800" y="5111496"/>
            <a:ext cx="3977639" cy="402336"/>
          </a:xfrm>
          <a:prstGeom prst="rect">
            <a:avLst/>
          </a:prstGeom>
          <a:noFill/>
        </p:spPr>
        <p:txBody>
          <a:bodyPr wrap="square" anchor="ctr" lIns="45720" rIns="45720" tIns="27432" bIns="27432">
            <a:spAutoFit/>
          </a:bodyPr>
          <a:lstStyle/>
          <a:p>
            <a:pPr algn="l"/>
            <a:r>
              <a:rPr sz="1200" b="0">
                <a:solidFill>
                  <a:srgbClr val="FFFFFF"/>
                </a:solidFill>
                <a:latin typeface="Calibri"/>
              </a:rPr>
              <a:t>Onboarding 3 · Create a repo, add it to the team</a:t>
            </a:r>
          </a:p>
        </p:txBody>
      </p:sp>
      <p:sp>
        <p:nvSpPr>
          <p:cNvPr id="35" name="Oval 34"/>
          <p:cNvSpPr/>
          <p:nvPr/>
        </p:nvSpPr>
        <p:spPr>
          <a:xfrm>
            <a:off x="7086600" y="5564124"/>
            <a:ext cx="329184" cy="329184"/>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086600" y="5564124"/>
            <a:ext cx="329184" cy="329184"/>
          </a:xfrm>
          <a:prstGeom prst="rect">
            <a:avLst/>
          </a:prstGeom>
          <a:noFill/>
        </p:spPr>
        <p:txBody>
          <a:bodyPr wrap="square" anchor="ctr" lIns="45720" rIns="45720" tIns="27432" bIns="27432">
            <a:spAutoFit/>
          </a:bodyPr>
          <a:lstStyle/>
          <a:p>
            <a:pPr algn="ctr"/>
            <a:r>
              <a:rPr sz="950" b="1">
                <a:solidFill>
                  <a:srgbClr val="FFFFFF"/>
                </a:solidFill>
                <a:latin typeface="Calibri"/>
              </a:rPr>
              <a:t>2.10</a:t>
            </a:r>
          </a:p>
        </p:txBody>
      </p:sp>
      <p:sp>
        <p:nvSpPr>
          <p:cNvPr id="37" name="TextBox 36"/>
          <p:cNvSpPr txBox="1"/>
          <p:nvPr/>
        </p:nvSpPr>
        <p:spPr>
          <a:xfrm>
            <a:off x="7543800" y="5527548"/>
            <a:ext cx="3977639" cy="402336"/>
          </a:xfrm>
          <a:prstGeom prst="rect">
            <a:avLst/>
          </a:prstGeom>
          <a:noFill/>
        </p:spPr>
        <p:txBody>
          <a:bodyPr wrap="square" anchor="ctr" lIns="45720" rIns="45720" tIns="27432" bIns="27432">
            <a:spAutoFit/>
          </a:bodyPr>
          <a:lstStyle/>
          <a:p>
            <a:pPr algn="l"/>
            <a:r>
              <a:rPr sz="1200" b="0">
                <a:solidFill>
                  <a:srgbClr val="FFFFFF"/>
                </a:solidFill>
                <a:latin typeface="Calibri"/>
              </a:rPr>
              <a:t>Onboarding 4–5 · Set up Copilot, clone a repo</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7315200" cy="274320"/>
          </a:xfrm>
          <a:prstGeom prst="rect">
            <a:avLst/>
          </a:prstGeom>
          <a:noFill/>
        </p:spPr>
        <p:txBody>
          <a:bodyPr wrap="square" anchor="t" lIns="45720" rIns="45720" tIns="27432" bIns="27432">
            <a:spAutoFit/>
          </a:bodyPr>
          <a:lstStyle/>
          <a:p>
            <a:pPr algn="l"/>
            <a:r>
              <a:rPr sz="1200" b="1">
                <a:solidFill>
                  <a:srgbClr val="0F7B6C"/>
                </a:solidFill>
                <a:latin typeface="Calibri"/>
              </a:rPr>
              <a:t>APPENDIX 2 · GITHUB BASICS</a:t>
            </a:r>
          </a:p>
        </p:txBody>
      </p:sp>
      <p:sp>
        <p:nvSpPr>
          <p:cNvPr id="3" name="TextBox 2"/>
          <p:cNvSpPr txBox="1"/>
          <p:nvPr/>
        </p:nvSpPr>
        <p:spPr>
          <a:xfrm>
            <a:off x="548640" y="502920"/>
            <a:ext cx="11064240" cy="685800"/>
          </a:xfrm>
          <a:prstGeom prst="rect">
            <a:avLst/>
          </a:prstGeom>
          <a:noFill/>
        </p:spPr>
        <p:txBody>
          <a:bodyPr wrap="square" anchor="t" lIns="45720" rIns="45720" tIns="27432" bIns="27432">
            <a:spAutoFit/>
          </a:bodyPr>
          <a:lstStyle/>
          <a:p>
            <a:pPr algn="l"/>
            <a:r>
              <a:rPr sz="3000" b="0">
                <a:solidFill>
                  <a:srgbClr val="1E2761"/>
                </a:solidFill>
                <a:latin typeface="Cambria"/>
              </a:rPr>
              <a:t>What GitHub is, and five things you will see on a repository page</a:t>
            </a:r>
          </a:p>
        </p:txBody>
      </p:sp>
      <p:sp>
        <p:nvSpPr>
          <p:cNvPr id="4" name="TextBox 3"/>
          <p:cNvSpPr txBox="1"/>
          <p:nvPr/>
        </p:nvSpPr>
        <p:spPr>
          <a:xfrm>
            <a:off x="548640" y="6473952"/>
            <a:ext cx="8686800" cy="228600"/>
          </a:xfrm>
          <a:prstGeom prst="rect">
            <a:avLst/>
          </a:prstGeom>
          <a:noFill/>
        </p:spPr>
        <p:txBody>
          <a:bodyPr wrap="square" anchor="t" lIns="45720" rIns="45720" tIns="27432" bIns="27432">
            <a:spAutoFit/>
          </a:bodyPr>
          <a:lstStyle/>
          <a:p>
            <a:pPr algn="l"/>
            <a:r>
              <a:rPr sz="900" b="0">
                <a:solidFill>
                  <a:srgbClr val="5C667A"/>
                </a:solidFill>
                <a:latin typeface="Calibri"/>
              </a:rPr>
              <a:t>Using GitHub Copilot with our repositories: user guide   ·   Screens and model names change over time</a:t>
            </a:r>
          </a:p>
        </p:txBody>
      </p:sp>
      <p:sp>
        <p:nvSpPr>
          <p:cNvPr id="5" name="Rectangle 4"/>
          <p:cNvSpPr/>
          <p:nvPr/>
        </p:nvSpPr>
        <p:spPr>
          <a:xfrm>
            <a:off x="548640" y="1325880"/>
            <a:ext cx="4572000" cy="493776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77240" y="1463040"/>
            <a:ext cx="4206240" cy="365760"/>
          </a:xfrm>
          <a:prstGeom prst="rect">
            <a:avLst/>
          </a:prstGeom>
          <a:noFill/>
        </p:spPr>
        <p:txBody>
          <a:bodyPr wrap="square" anchor="t" lIns="45720" rIns="45720" tIns="27432" bIns="27432">
            <a:spAutoFit/>
          </a:bodyPr>
          <a:lstStyle/>
          <a:p>
            <a:pPr algn="l"/>
            <a:r>
              <a:rPr sz="1600" b="1">
                <a:solidFill>
                  <a:srgbClr val="1E2761"/>
                </a:solidFill>
                <a:latin typeface="Calibri"/>
              </a:rPr>
              <a:t>GitHub in one paragraph</a:t>
            </a:r>
          </a:p>
        </p:txBody>
      </p:sp>
      <p:sp>
        <p:nvSpPr>
          <p:cNvPr id="7" name="TextBox 6"/>
          <p:cNvSpPr txBox="1"/>
          <p:nvPr/>
        </p:nvSpPr>
        <p:spPr>
          <a:xfrm>
            <a:off x="777240" y="1920240"/>
            <a:ext cx="4114800" cy="4206240"/>
          </a:xfrm>
          <a:prstGeom prst="rect">
            <a:avLst/>
          </a:prstGeom>
          <a:noFill/>
        </p:spPr>
        <p:txBody>
          <a:bodyPr wrap="square" anchor="t" lIns="45720" rIns="45720" tIns="27432" bIns="27432">
            <a:spAutoFit/>
          </a:bodyPr>
          <a:lstStyle/>
          <a:p>
            <a:pPr algn="l"/>
            <a:r>
              <a:rPr sz="1300" b="0">
                <a:solidFill>
                  <a:srgbClr val="1F1F2E"/>
                </a:solidFill>
                <a:latin typeface="Calibri"/>
              </a:rPr>
              <a:t>GitHub is a website (github.com) that stores git repositories online, with a full history of every change and who made it. It is the single shared copy of each project: your laptop holds a clone, GitHub holds the master.</a:t>
            </a:r>
          </a:p>
          <a:p>
            <a:pPr algn="l">
              <a:spcBef>
                <a:spcPts val="800"/>
              </a:spcBef>
            </a:pPr>
            <a:r>
              <a:rPr sz="1300" b="0">
                <a:solidFill>
                  <a:srgbClr val="1F1F2E"/>
                </a:solidFill>
                <a:latin typeface="Calibri"/>
              </a:rPr>
              <a:t>A repository (repo) is one project folder: code, instructions, small data and documents.</a:t>
            </a:r>
          </a:p>
          <a:p>
            <a:pPr algn="l">
              <a:spcBef>
                <a:spcPts val="800"/>
              </a:spcBef>
            </a:pPr>
            <a:r>
              <a:rPr sz="1300" b="0">
                <a:solidFill>
                  <a:srgbClr val="1F1F2E"/>
                </a:solidFill>
                <a:latin typeface="Calibri"/>
              </a:rPr>
              <a:t>Repos belong to a user or an organisation and can be private (team only) or public.</a:t>
            </a:r>
          </a:p>
          <a:p>
            <a:pPr algn="l">
              <a:spcBef>
                <a:spcPts val="800"/>
              </a:spcBef>
            </a:pPr>
            <a:r>
              <a:rPr sz="1300" b="1">
                <a:solidFill>
                  <a:srgbClr val="0F7B6C"/>
                </a:solidFill>
                <a:latin typeface="Calibri"/>
              </a:rPr>
              <a:t>Our working repos live in the cpmodel organisation (github.com/cpmodel), not the World Bank one, so IMF colleagues and independent contractors (ICs) can collaborate on them. The WBG organisation (github.com/worldbank) is where your Copilot seat and billing sit — see Appendix 2, onboarding.</a:t>
            </a:r>
          </a:p>
          <a:p>
            <a:pPr algn="l">
              <a:spcBef>
                <a:spcPts val="800"/>
              </a:spcBef>
            </a:pPr>
            <a:r>
              <a:rPr sz="1300" b="0">
                <a:solidFill>
                  <a:srgbClr val="1F1F2E"/>
                </a:solidFill>
                <a:latin typeface="Calibri"/>
              </a:rPr>
              <a:t>GitHub also sells Copilot, which is why the two are tied together: Copilot works best inside a repo.</a:t>
            </a:r>
          </a:p>
          <a:p>
            <a:pPr algn="l">
              <a:spcBef>
                <a:spcPts val="1000"/>
              </a:spcBef>
            </a:pPr>
            <a:r>
              <a:rPr sz="1150" b="0">
                <a:solidFill>
                  <a:srgbClr val="5C667A"/>
                </a:solidFill>
                <a:latin typeface="Calibri"/>
              </a:rPr>
              <a:t>Example address: github.com/cpmodel/&lt;repo-name&gt;</a:t>
            </a:r>
          </a:p>
        </p:txBody>
      </p:sp>
      <p:sp>
        <p:nvSpPr>
          <p:cNvPr id="8" name="Rectangle 7"/>
          <p:cNvSpPr/>
          <p:nvPr/>
        </p:nvSpPr>
        <p:spPr>
          <a:xfrm>
            <a:off x="5486400" y="1325880"/>
            <a:ext cx="6153912" cy="4937760"/>
          </a:xfrm>
          <a:prstGeom prst="rect">
            <a:avLst/>
          </a:prstGeom>
          <a:solidFill>
            <a:srgbClr val="FFFFFF"/>
          </a:solidFill>
          <a:ln w="9525">
            <a:solidFill>
              <a:srgbClr val="D5DA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0" y="1325880"/>
            <a:ext cx="6153912" cy="411480"/>
          </a:xfrm>
          <a:prstGeom prst="rect">
            <a:avLst/>
          </a:prstGeom>
          <a:solidFill>
            <a:srgbClr val="242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623560" y="1325880"/>
            <a:ext cx="5852160" cy="411480"/>
          </a:xfrm>
          <a:prstGeom prst="rect">
            <a:avLst/>
          </a:prstGeom>
          <a:noFill/>
        </p:spPr>
        <p:txBody>
          <a:bodyPr wrap="square" anchor="ctr" lIns="45720" rIns="45720" tIns="27432" bIns="27432">
            <a:spAutoFit/>
          </a:bodyPr>
          <a:lstStyle/>
          <a:p>
            <a:pPr algn="l"/>
            <a:r>
              <a:rPr sz="1100" b="0">
                <a:solidFill>
                  <a:srgbClr val="FFFFFF"/>
                </a:solidFill>
                <a:latin typeface="Calibri"/>
              </a:rPr>
              <a:t>github.com / cpmodel / repo-name</a:t>
            </a:r>
          </a:p>
        </p:txBody>
      </p:sp>
      <p:sp>
        <p:nvSpPr>
          <p:cNvPr id="11" name="TextBox 10"/>
          <p:cNvSpPr txBox="1"/>
          <p:nvPr/>
        </p:nvSpPr>
        <p:spPr>
          <a:xfrm>
            <a:off x="5623560" y="1783080"/>
            <a:ext cx="1188720" cy="320040"/>
          </a:xfrm>
          <a:prstGeom prst="rect">
            <a:avLst/>
          </a:prstGeom>
          <a:noFill/>
        </p:spPr>
        <p:txBody>
          <a:bodyPr wrap="square" anchor="t" lIns="45720" rIns="45720" tIns="27432" bIns="27432">
            <a:spAutoFit/>
          </a:bodyPr>
          <a:lstStyle/>
          <a:p>
            <a:pPr algn="l"/>
            <a:r>
              <a:rPr sz="1100" b="1">
                <a:solidFill>
                  <a:srgbClr val="1E2761"/>
                </a:solidFill>
                <a:latin typeface="Calibri"/>
              </a:rPr>
              <a:t>Code</a:t>
            </a:r>
          </a:p>
        </p:txBody>
      </p:sp>
      <p:sp>
        <p:nvSpPr>
          <p:cNvPr id="12" name="TextBox 11"/>
          <p:cNvSpPr txBox="1"/>
          <p:nvPr/>
        </p:nvSpPr>
        <p:spPr>
          <a:xfrm>
            <a:off x="6812280" y="1783080"/>
            <a:ext cx="1188720" cy="320040"/>
          </a:xfrm>
          <a:prstGeom prst="rect">
            <a:avLst/>
          </a:prstGeom>
          <a:noFill/>
        </p:spPr>
        <p:txBody>
          <a:bodyPr wrap="square" anchor="t" lIns="45720" rIns="45720" tIns="27432" bIns="27432">
            <a:spAutoFit/>
          </a:bodyPr>
          <a:lstStyle/>
          <a:p>
            <a:pPr algn="l"/>
            <a:r>
              <a:rPr sz="1100" b="0">
                <a:solidFill>
                  <a:srgbClr val="1E2761"/>
                </a:solidFill>
                <a:latin typeface="Calibri"/>
              </a:rPr>
              <a:t>Issues</a:t>
            </a:r>
          </a:p>
        </p:txBody>
      </p:sp>
      <p:sp>
        <p:nvSpPr>
          <p:cNvPr id="13" name="TextBox 12"/>
          <p:cNvSpPr txBox="1"/>
          <p:nvPr/>
        </p:nvSpPr>
        <p:spPr>
          <a:xfrm>
            <a:off x="8001000" y="1783080"/>
            <a:ext cx="1188720" cy="320040"/>
          </a:xfrm>
          <a:prstGeom prst="rect">
            <a:avLst/>
          </a:prstGeom>
          <a:noFill/>
        </p:spPr>
        <p:txBody>
          <a:bodyPr wrap="square" anchor="t" lIns="45720" rIns="45720" tIns="27432" bIns="27432">
            <a:spAutoFit/>
          </a:bodyPr>
          <a:lstStyle/>
          <a:p>
            <a:pPr algn="l"/>
            <a:r>
              <a:rPr sz="1100" b="0">
                <a:solidFill>
                  <a:srgbClr val="1E2761"/>
                </a:solidFill>
                <a:latin typeface="Calibri"/>
              </a:rPr>
              <a:t>Pull requests</a:t>
            </a:r>
          </a:p>
        </p:txBody>
      </p:sp>
      <p:sp>
        <p:nvSpPr>
          <p:cNvPr id="14" name="TextBox 13"/>
          <p:cNvSpPr txBox="1"/>
          <p:nvPr/>
        </p:nvSpPr>
        <p:spPr>
          <a:xfrm>
            <a:off x="9189720" y="1783080"/>
            <a:ext cx="1188720" cy="320040"/>
          </a:xfrm>
          <a:prstGeom prst="rect">
            <a:avLst/>
          </a:prstGeom>
          <a:noFill/>
        </p:spPr>
        <p:txBody>
          <a:bodyPr wrap="square" anchor="t" lIns="45720" rIns="45720" tIns="27432" bIns="27432">
            <a:spAutoFit/>
          </a:bodyPr>
          <a:lstStyle/>
          <a:p>
            <a:pPr algn="l"/>
            <a:r>
              <a:rPr sz="1100" b="0">
                <a:solidFill>
                  <a:srgbClr val="1E2761"/>
                </a:solidFill>
                <a:latin typeface="Calibri"/>
              </a:rPr>
              <a:t>Actions</a:t>
            </a:r>
          </a:p>
        </p:txBody>
      </p:sp>
      <p:sp>
        <p:nvSpPr>
          <p:cNvPr id="15" name="Rectangle 14"/>
          <p:cNvSpPr/>
          <p:nvPr/>
        </p:nvSpPr>
        <p:spPr>
          <a:xfrm>
            <a:off x="5623560" y="2103120"/>
            <a:ext cx="1005840" cy="27432"/>
          </a:xfrm>
          <a:prstGeom prst="rect">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23560" y="2286000"/>
            <a:ext cx="3931920" cy="192024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760720" y="2331720"/>
            <a:ext cx="3657600" cy="320040"/>
          </a:xfrm>
          <a:prstGeom prst="rect">
            <a:avLst/>
          </a:prstGeom>
          <a:noFill/>
        </p:spPr>
        <p:txBody>
          <a:bodyPr wrap="square" anchor="t" lIns="45720" rIns="45720" tIns="27432" bIns="27432">
            <a:spAutoFit/>
          </a:bodyPr>
          <a:lstStyle/>
          <a:p>
            <a:pPr algn="l"/>
            <a:r>
              <a:rPr sz="1150" b="0">
                <a:solidFill>
                  <a:srgbClr val="1F1F2E"/>
                </a:solidFill>
                <a:latin typeface="Calibri"/>
              </a:rPr>
              <a:t>📁 process_files/</a:t>
            </a:r>
          </a:p>
        </p:txBody>
      </p:sp>
      <p:sp>
        <p:nvSpPr>
          <p:cNvPr id="18" name="TextBox 17"/>
          <p:cNvSpPr txBox="1"/>
          <p:nvPr/>
        </p:nvSpPr>
        <p:spPr>
          <a:xfrm>
            <a:off x="5760720" y="2697479"/>
            <a:ext cx="3657600" cy="320040"/>
          </a:xfrm>
          <a:prstGeom prst="rect">
            <a:avLst/>
          </a:prstGeom>
          <a:noFill/>
        </p:spPr>
        <p:txBody>
          <a:bodyPr wrap="square" anchor="t" lIns="45720" rIns="45720" tIns="27432" bIns="27432">
            <a:spAutoFit/>
          </a:bodyPr>
          <a:lstStyle/>
          <a:p>
            <a:pPr algn="l"/>
            <a:r>
              <a:rPr sz="1150" b="0">
                <a:solidFill>
                  <a:srgbClr val="1F1F2E"/>
                </a:solidFill>
                <a:latin typeface="Calibri"/>
              </a:rPr>
              <a:t>📁 raw_data/</a:t>
            </a:r>
          </a:p>
        </p:txBody>
      </p:sp>
      <p:sp>
        <p:nvSpPr>
          <p:cNvPr id="19" name="TextBox 18"/>
          <p:cNvSpPr txBox="1"/>
          <p:nvPr/>
        </p:nvSpPr>
        <p:spPr>
          <a:xfrm>
            <a:off x="5760720" y="3063239"/>
            <a:ext cx="3657600" cy="320040"/>
          </a:xfrm>
          <a:prstGeom prst="rect">
            <a:avLst/>
          </a:prstGeom>
          <a:noFill/>
        </p:spPr>
        <p:txBody>
          <a:bodyPr wrap="square" anchor="t" lIns="45720" rIns="45720" tIns="27432" bIns="27432">
            <a:spAutoFit/>
          </a:bodyPr>
          <a:lstStyle/>
          <a:p>
            <a:pPr algn="l"/>
            <a:r>
              <a:rPr sz="1150" b="0">
                <a:solidFill>
                  <a:srgbClr val="1F1F2E"/>
                </a:solidFill>
                <a:latin typeface="Calibri"/>
              </a:rPr>
              <a:t>📄 README.md</a:t>
            </a:r>
          </a:p>
        </p:txBody>
      </p:sp>
      <p:sp>
        <p:nvSpPr>
          <p:cNvPr id="20" name="TextBox 19"/>
          <p:cNvSpPr txBox="1"/>
          <p:nvPr/>
        </p:nvSpPr>
        <p:spPr>
          <a:xfrm>
            <a:off x="5760720" y="3429000"/>
            <a:ext cx="3657600" cy="320040"/>
          </a:xfrm>
          <a:prstGeom prst="rect">
            <a:avLst/>
          </a:prstGeom>
          <a:noFill/>
        </p:spPr>
        <p:txBody>
          <a:bodyPr wrap="square" anchor="t" lIns="45720" rIns="45720" tIns="27432" bIns="27432">
            <a:spAutoFit/>
          </a:bodyPr>
          <a:lstStyle/>
          <a:p>
            <a:pPr algn="l"/>
            <a:r>
              <a:rPr sz="1150" b="0">
                <a:solidFill>
                  <a:srgbClr val="1F1F2E"/>
                </a:solidFill>
                <a:latin typeface="Calibri"/>
              </a:rPr>
              <a:t>📄 SyncRepo.bat</a:t>
            </a:r>
          </a:p>
        </p:txBody>
      </p:sp>
      <p:sp>
        <p:nvSpPr>
          <p:cNvPr id="21" name="TextBox 20"/>
          <p:cNvSpPr txBox="1"/>
          <p:nvPr/>
        </p:nvSpPr>
        <p:spPr>
          <a:xfrm>
            <a:off x="5760720" y="3794760"/>
            <a:ext cx="3657600" cy="320040"/>
          </a:xfrm>
          <a:prstGeom prst="rect">
            <a:avLst/>
          </a:prstGeom>
          <a:noFill/>
        </p:spPr>
        <p:txBody>
          <a:bodyPr wrap="square" anchor="t" lIns="45720" rIns="45720" tIns="27432" bIns="27432">
            <a:spAutoFit/>
          </a:bodyPr>
          <a:lstStyle/>
          <a:p>
            <a:pPr algn="l"/>
            <a:r>
              <a:rPr sz="1150" b="0">
                <a:solidFill>
                  <a:srgbClr val="1F1F2E"/>
                </a:solidFill>
                <a:latin typeface="Calibri"/>
              </a:rPr>
              <a:t>📄 RepoDirectory.csv</a:t>
            </a:r>
          </a:p>
        </p:txBody>
      </p:sp>
      <p:sp>
        <p:nvSpPr>
          <p:cNvPr id="22" name="Rounded Rectangle 21"/>
          <p:cNvSpPr/>
          <p:nvPr/>
        </p:nvSpPr>
        <p:spPr>
          <a:xfrm>
            <a:off x="9738360" y="2286000"/>
            <a:ext cx="1783080" cy="365760"/>
          </a:xfrm>
          <a:prstGeom prst="roundRect">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738360" y="2286000"/>
            <a:ext cx="1783080" cy="365760"/>
          </a:xfrm>
          <a:prstGeom prst="rect">
            <a:avLst/>
          </a:prstGeom>
          <a:noFill/>
        </p:spPr>
        <p:txBody>
          <a:bodyPr wrap="square" anchor="ctr" lIns="45720" rIns="45720" tIns="27432" bIns="27432">
            <a:spAutoFit/>
          </a:bodyPr>
          <a:lstStyle/>
          <a:p>
            <a:pPr algn="ctr"/>
            <a:r>
              <a:rPr sz="1100" b="1">
                <a:solidFill>
                  <a:srgbClr val="FFFFFF"/>
                </a:solidFill>
                <a:latin typeface="Calibri"/>
              </a:rPr>
              <a:t>&lt;&gt; Code  ▾</a:t>
            </a:r>
          </a:p>
        </p:txBody>
      </p:sp>
      <p:sp>
        <p:nvSpPr>
          <p:cNvPr id="24" name="TextBox 23"/>
          <p:cNvSpPr txBox="1"/>
          <p:nvPr/>
        </p:nvSpPr>
        <p:spPr>
          <a:xfrm>
            <a:off x="9738360" y="2743200"/>
            <a:ext cx="1828800" cy="1097280"/>
          </a:xfrm>
          <a:prstGeom prst="rect">
            <a:avLst/>
          </a:prstGeom>
          <a:noFill/>
        </p:spPr>
        <p:txBody>
          <a:bodyPr wrap="square" anchor="t" lIns="45720" rIns="45720" tIns="27432" bIns="27432">
            <a:spAutoFit/>
          </a:bodyPr>
          <a:lstStyle/>
          <a:p>
            <a:pPr algn="l"/>
            <a:r>
              <a:rPr sz="1050" b="0">
                <a:solidFill>
                  <a:srgbClr val="5C667A"/>
                </a:solidFill>
                <a:latin typeface="Calibri"/>
              </a:rPr>
              <a:t>Clone address or Download ZIP live under the green Code button.</a:t>
            </a:r>
          </a:p>
        </p:txBody>
      </p:sp>
      <p:sp>
        <p:nvSpPr>
          <p:cNvPr id="25" name="Oval 24"/>
          <p:cNvSpPr/>
          <p:nvPr/>
        </p:nvSpPr>
        <p:spPr>
          <a:xfrm>
            <a:off x="6172200" y="1828800"/>
            <a:ext cx="256032" cy="256032"/>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172200" y="1828800"/>
            <a:ext cx="256032" cy="256032"/>
          </a:xfrm>
          <a:prstGeom prst="rect">
            <a:avLst/>
          </a:prstGeom>
          <a:noFill/>
        </p:spPr>
        <p:txBody>
          <a:bodyPr wrap="square" anchor="ctr" lIns="45720" rIns="45720" tIns="27432" bIns="27432">
            <a:spAutoFit/>
          </a:bodyPr>
          <a:lstStyle/>
          <a:p>
            <a:pPr algn="ctr"/>
            <a:r>
              <a:rPr sz="900" b="1">
                <a:solidFill>
                  <a:srgbClr val="FFFFFF"/>
                </a:solidFill>
                <a:latin typeface="Calibri"/>
              </a:rPr>
              <a:t>1</a:t>
            </a:r>
          </a:p>
        </p:txBody>
      </p:sp>
      <p:sp>
        <p:nvSpPr>
          <p:cNvPr id="27" name="Oval 26"/>
          <p:cNvSpPr/>
          <p:nvPr/>
        </p:nvSpPr>
        <p:spPr>
          <a:xfrm>
            <a:off x="7406640" y="1828800"/>
            <a:ext cx="256032" cy="256032"/>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406640" y="1828800"/>
            <a:ext cx="256032" cy="256032"/>
          </a:xfrm>
          <a:prstGeom prst="rect">
            <a:avLst/>
          </a:prstGeom>
          <a:noFill/>
        </p:spPr>
        <p:txBody>
          <a:bodyPr wrap="square" anchor="ctr" lIns="45720" rIns="45720" tIns="27432" bIns="27432">
            <a:spAutoFit/>
          </a:bodyPr>
          <a:lstStyle/>
          <a:p>
            <a:pPr algn="ctr"/>
            <a:r>
              <a:rPr sz="900" b="1">
                <a:solidFill>
                  <a:srgbClr val="FFFFFF"/>
                </a:solidFill>
                <a:latin typeface="Calibri"/>
              </a:rPr>
              <a:t>2</a:t>
            </a:r>
          </a:p>
        </p:txBody>
      </p:sp>
      <p:sp>
        <p:nvSpPr>
          <p:cNvPr id="29" name="Oval 28"/>
          <p:cNvSpPr/>
          <p:nvPr/>
        </p:nvSpPr>
        <p:spPr>
          <a:xfrm>
            <a:off x="8915400" y="1828800"/>
            <a:ext cx="256032" cy="256032"/>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915400" y="1828800"/>
            <a:ext cx="256032" cy="256032"/>
          </a:xfrm>
          <a:prstGeom prst="rect">
            <a:avLst/>
          </a:prstGeom>
          <a:noFill/>
        </p:spPr>
        <p:txBody>
          <a:bodyPr wrap="square" anchor="ctr" lIns="45720" rIns="45720" tIns="27432" bIns="27432">
            <a:spAutoFit/>
          </a:bodyPr>
          <a:lstStyle/>
          <a:p>
            <a:pPr algn="ctr"/>
            <a:r>
              <a:rPr sz="900" b="1">
                <a:solidFill>
                  <a:srgbClr val="FFFFFF"/>
                </a:solidFill>
                <a:latin typeface="Calibri"/>
              </a:rPr>
              <a:t>3</a:t>
            </a:r>
          </a:p>
        </p:txBody>
      </p:sp>
      <p:sp>
        <p:nvSpPr>
          <p:cNvPr id="31" name="Oval 30"/>
          <p:cNvSpPr/>
          <p:nvPr/>
        </p:nvSpPr>
        <p:spPr>
          <a:xfrm>
            <a:off x="10012680" y="1828800"/>
            <a:ext cx="256032" cy="256032"/>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0012680" y="1828800"/>
            <a:ext cx="256032" cy="256032"/>
          </a:xfrm>
          <a:prstGeom prst="rect">
            <a:avLst/>
          </a:prstGeom>
          <a:noFill/>
        </p:spPr>
        <p:txBody>
          <a:bodyPr wrap="square" anchor="ctr" lIns="45720" rIns="45720" tIns="27432" bIns="27432">
            <a:spAutoFit/>
          </a:bodyPr>
          <a:lstStyle/>
          <a:p>
            <a:pPr algn="ctr"/>
            <a:r>
              <a:rPr sz="900" b="1">
                <a:solidFill>
                  <a:srgbClr val="FFFFFF"/>
                </a:solidFill>
                <a:latin typeface="Calibri"/>
              </a:rPr>
              <a:t>4</a:t>
            </a:r>
          </a:p>
        </p:txBody>
      </p:sp>
      <p:sp>
        <p:nvSpPr>
          <p:cNvPr id="33" name="Oval 32"/>
          <p:cNvSpPr/>
          <p:nvPr/>
        </p:nvSpPr>
        <p:spPr>
          <a:xfrm>
            <a:off x="11247120" y="2331720"/>
            <a:ext cx="256032" cy="256032"/>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1247120" y="2331720"/>
            <a:ext cx="256032" cy="256032"/>
          </a:xfrm>
          <a:prstGeom prst="rect">
            <a:avLst/>
          </a:prstGeom>
          <a:noFill/>
        </p:spPr>
        <p:txBody>
          <a:bodyPr wrap="square" anchor="ctr" lIns="45720" rIns="45720" tIns="27432" bIns="27432">
            <a:spAutoFit/>
          </a:bodyPr>
          <a:lstStyle/>
          <a:p>
            <a:pPr algn="ctr"/>
            <a:r>
              <a:rPr sz="900" b="1">
                <a:solidFill>
                  <a:srgbClr val="FFFFFF"/>
                </a:solidFill>
                <a:latin typeface="Calibri"/>
              </a:rPr>
              <a:t>5</a:t>
            </a:r>
          </a:p>
        </p:txBody>
      </p:sp>
      <p:sp>
        <p:nvSpPr>
          <p:cNvPr id="35" name="TextBox 34"/>
          <p:cNvSpPr txBox="1"/>
          <p:nvPr/>
        </p:nvSpPr>
        <p:spPr>
          <a:xfrm>
            <a:off x="5623560" y="4343400"/>
            <a:ext cx="5852160" cy="1920240"/>
          </a:xfrm>
          <a:prstGeom prst="rect">
            <a:avLst/>
          </a:prstGeom>
          <a:noFill/>
        </p:spPr>
        <p:txBody>
          <a:bodyPr wrap="square" anchor="t" lIns="45720" rIns="45720" tIns="27432" bIns="27432">
            <a:spAutoFit/>
          </a:bodyPr>
          <a:lstStyle/>
          <a:p>
            <a:pPr algn="l"/>
            <a:r>
              <a:rPr sz="1150" b="0">
                <a:solidFill>
                  <a:srgbClr val="1F1F2E"/>
                </a:solidFill>
                <a:latin typeface="Calibri"/>
              </a:rPr>
              <a:t>1  Code: the files and their history.</a:t>
            </a:r>
          </a:p>
          <a:p>
            <a:pPr algn="l"/>
            <a:r>
              <a:rPr sz="1150" b="0">
                <a:solidFill>
                  <a:srgbClr val="1F1F2E"/>
                </a:solidFill>
                <a:latin typeface="Calibri"/>
              </a:rPr>
              <a:t>2  Issues: a to-do list and discussion for the project.</a:t>
            </a:r>
          </a:p>
          <a:p>
            <a:pPr algn="l"/>
            <a:r>
              <a:rPr sz="1150" b="0">
                <a:solidFill>
                  <a:srgbClr val="1F1F2E"/>
                </a:solidFill>
                <a:latin typeface="Calibri"/>
              </a:rPr>
              <a:t>3  Pull requests: proposed changes on a branch, reviewed before they join main.</a:t>
            </a:r>
          </a:p>
          <a:p>
            <a:pPr algn="l"/>
            <a:r>
              <a:rPr sz="1150" b="0">
                <a:solidFill>
                  <a:srgbClr val="1F1F2E"/>
                </a:solidFill>
                <a:latin typeface="Calibri"/>
              </a:rPr>
              <a:t>4  Actions: automated jobs (tests, builds) GitHub runs for you.</a:t>
            </a:r>
          </a:p>
          <a:p>
            <a:pPr algn="l"/>
            <a:r>
              <a:rPr sz="1150" b="0">
                <a:solidFill>
                  <a:srgbClr val="1F1F2E"/>
                </a:solidFill>
                <a:latin typeface="Calibri"/>
              </a:rPr>
              <a:t>5  Code button: clone address, Download ZIP, open in Codespaces.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7315200" cy="274320"/>
          </a:xfrm>
          <a:prstGeom prst="rect">
            <a:avLst/>
          </a:prstGeom>
          <a:noFill/>
        </p:spPr>
        <p:txBody>
          <a:bodyPr wrap="square" anchor="t" lIns="45720" rIns="45720" tIns="27432" bIns="27432">
            <a:spAutoFit/>
          </a:bodyPr>
          <a:lstStyle/>
          <a:p>
            <a:pPr algn="l"/>
            <a:r>
              <a:rPr sz="1200" b="1">
                <a:solidFill>
                  <a:srgbClr val="0F7B6C"/>
                </a:solidFill>
                <a:latin typeface="Calibri"/>
              </a:rPr>
              <a:t>APPENDIX 2 · GIT BASICS</a:t>
            </a:r>
          </a:p>
        </p:txBody>
      </p:sp>
      <p:sp>
        <p:nvSpPr>
          <p:cNvPr id="3" name="TextBox 2"/>
          <p:cNvSpPr txBox="1"/>
          <p:nvPr/>
        </p:nvSpPr>
        <p:spPr>
          <a:xfrm>
            <a:off x="548640" y="502920"/>
            <a:ext cx="11064240" cy="685800"/>
          </a:xfrm>
          <a:prstGeom prst="rect">
            <a:avLst/>
          </a:prstGeom>
          <a:noFill/>
        </p:spPr>
        <p:txBody>
          <a:bodyPr wrap="square" anchor="t" lIns="45720" rIns="45720" tIns="27432" bIns="27432">
            <a:spAutoFit/>
          </a:bodyPr>
          <a:lstStyle/>
          <a:p>
            <a:pPr algn="l"/>
            <a:r>
              <a:rPr sz="3000" b="0">
                <a:solidFill>
                  <a:srgbClr val="1E2761"/>
                </a:solidFill>
                <a:latin typeface="Cambria"/>
              </a:rPr>
              <a:t>Twelve git words you will hear, in plain English</a:t>
            </a:r>
          </a:p>
        </p:txBody>
      </p:sp>
      <p:sp>
        <p:nvSpPr>
          <p:cNvPr id="4" name="TextBox 3"/>
          <p:cNvSpPr txBox="1"/>
          <p:nvPr/>
        </p:nvSpPr>
        <p:spPr>
          <a:xfrm>
            <a:off x="548640" y="6473952"/>
            <a:ext cx="8686800" cy="228600"/>
          </a:xfrm>
          <a:prstGeom prst="rect">
            <a:avLst/>
          </a:prstGeom>
          <a:noFill/>
        </p:spPr>
        <p:txBody>
          <a:bodyPr wrap="square" anchor="t" lIns="45720" rIns="45720" tIns="27432" bIns="27432">
            <a:spAutoFit/>
          </a:bodyPr>
          <a:lstStyle/>
          <a:p>
            <a:pPr algn="l"/>
            <a:r>
              <a:rPr sz="900" b="0">
                <a:solidFill>
                  <a:srgbClr val="5C667A"/>
                </a:solidFill>
                <a:latin typeface="Calibri"/>
              </a:rPr>
              <a:t>Using GitHub Copilot with our repositories: user guide   ·   Screens and model names change over time</a:t>
            </a:r>
          </a:p>
        </p:txBody>
      </p:sp>
      <p:sp>
        <p:nvSpPr>
          <p:cNvPr id="5" name="Rectangle 4"/>
          <p:cNvSpPr/>
          <p:nvPr/>
        </p:nvSpPr>
        <p:spPr>
          <a:xfrm>
            <a:off x="548640" y="1371600"/>
            <a:ext cx="3611880" cy="1115568"/>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1371600"/>
            <a:ext cx="73152" cy="1115568"/>
          </a:xfrm>
          <a:prstGeom prst="rect">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31520" y="1444752"/>
            <a:ext cx="3291840" cy="1005840"/>
          </a:xfrm>
          <a:prstGeom prst="rect">
            <a:avLst/>
          </a:prstGeom>
          <a:noFill/>
        </p:spPr>
        <p:txBody>
          <a:bodyPr wrap="square" anchor="t" lIns="45720" rIns="45720" tIns="27432" bIns="27432">
            <a:spAutoFit/>
          </a:bodyPr>
          <a:lstStyle/>
          <a:p>
            <a:pPr algn="l"/>
            <a:r>
              <a:rPr sz="1350" b="1">
                <a:solidFill>
                  <a:srgbClr val="1E2761"/>
                </a:solidFill>
                <a:latin typeface="Calibri"/>
              </a:rPr>
              <a:t>Repository (repo)</a:t>
            </a:r>
          </a:p>
          <a:p>
            <a:pPr algn="l"/>
            <a:r>
              <a:rPr sz="1150" b="0">
                <a:solidFill>
                  <a:srgbClr val="1F1F2E"/>
                </a:solidFill>
                <a:latin typeface="Calibri"/>
              </a:rPr>
              <a:t>A project folder whose history git tracks. The hidden .git subfolder is the history.</a:t>
            </a:r>
          </a:p>
        </p:txBody>
      </p:sp>
      <p:sp>
        <p:nvSpPr>
          <p:cNvPr id="8" name="Rectangle 7"/>
          <p:cNvSpPr/>
          <p:nvPr/>
        </p:nvSpPr>
        <p:spPr>
          <a:xfrm>
            <a:off x="4297679" y="1371600"/>
            <a:ext cx="3611880" cy="1115568"/>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4297679" y="1371600"/>
            <a:ext cx="73152" cy="1115568"/>
          </a:xfrm>
          <a:prstGeom prst="rect">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480559" y="1444752"/>
            <a:ext cx="3291840" cy="1005840"/>
          </a:xfrm>
          <a:prstGeom prst="rect">
            <a:avLst/>
          </a:prstGeom>
          <a:noFill/>
        </p:spPr>
        <p:txBody>
          <a:bodyPr wrap="square" anchor="t" lIns="45720" rIns="45720" tIns="27432" bIns="27432">
            <a:spAutoFit/>
          </a:bodyPr>
          <a:lstStyle/>
          <a:p>
            <a:pPr algn="l"/>
            <a:r>
              <a:rPr sz="1350" b="1">
                <a:solidFill>
                  <a:srgbClr val="1E2761"/>
                </a:solidFill>
                <a:latin typeface="Calibri"/>
              </a:rPr>
              <a:t>Clone</a:t>
            </a:r>
          </a:p>
          <a:p>
            <a:pPr algn="l"/>
            <a:r>
              <a:rPr sz="1150" b="0">
                <a:solidFill>
                  <a:srgbClr val="1F1F2E"/>
                </a:solidFill>
                <a:latin typeface="Calibri"/>
              </a:rPr>
              <a:t>Download a repo from GitHub to your laptop for the first time, keeping the link to it.</a:t>
            </a:r>
          </a:p>
        </p:txBody>
      </p:sp>
      <p:sp>
        <p:nvSpPr>
          <p:cNvPr id="11" name="Rectangle 10"/>
          <p:cNvSpPr/>
          <p:nvPr/>
        </p:nvSpPr>
        <p:spPr>
          <a:xfrm>
            <a:off x="8046719" y="1371600"/>
            <a:ext cx="3611880" cy="1115568"/>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8046719" y="1371600"/>
            <a:ext cx="73152" cy="1115568"/>
          </a:xfrm>
          <a:prstGeom prst="rect">
            <a:avLst/>
          </a:prstGeom>
          <a:solidFill>
            <a:srgbClr val="2E3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229599" y="1444752"/>
            <a:ext cx="3291840" cy="1005840"/>
          </a:xfrm>
          <a:prstGeom prst="rect">
            <a:avLst/>
          </a:prstGeom>
          <a:noFill/>
        </p:spPr>
        <p:txBody>
          <a:bodyPr wrap="square" anchor="t" lIns="45720" rIns="45720" tIns="27432" bIns="27432">
            <a:spAutoFit/>
          </a:bodyPr>
          <a:lstStyle/>
          <a:p>
            <a:pPr algn="l"/>
            <a:r>
              <a:rPr sz="1350" b="1">
                <a:solidFill>
                  <a:srgbClr val="1E2761"/>
                </a:solidFill>
                <a:latin typeface="Calibri"/>
              </a:rPr>
              <a:t>Remote / origin</a:t>
            </a:r>
          </a:p>
          <a:p>
            <a:pPr algn="l"/>
            <a:r>
              <a:rPr sz="1150" b="0">
                <a:solidFill>
                  <a:srgbClr val="1F1F2E"/>
                </a:solidFill>
                <a:latin typeface="Calibri"/>
              </a:rPr>
              <a:t>The copy of the repo on GitHub. 'origin' is just git's name for it.</a:t>
            </a:r>
          </a:p>
        </p:txBody>
      </p:sp>
      <p:sp>
        <p:nvSpPr>
          <p:cNvPr id="14" name="Rectangle 13"/>
          <p:cNvSpPr/>
          <p:nvPr/>
        </p:nvSpPr>
        <p:spPr>
          <a:xfrm>
            <a:off x="548640" y="2606040"/>
            <a:ext cx="3611880" cy="1115568"/>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48640" y="2606040"/>
            <a:ext cx="73152" cy="1115568"/>
          </a:xfrm>
          <a:prstGeom prst="rect">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31520" y="2679192"/>
            <a:ext cx="3291840" cy="1005840"/>
          </a:xfrm>
          <a:prstGeom prst="rect">
            <a:avLst/>
          </a:prstGeom>
          <a:noFill/>
        </p:spPr>
        <p:txBody>
          <a:bodyPr wrap="square" anchor="t" lIns="45720" rIns="45720" tIns="27432" bIns="27432">
            <a:spAutoFit/>
          </a:bodyPr>
          <a:lstStyle/>
          <a:p>
            <a:pPr algn="l"/>
            <a:r>
              <a:rPr sz="1350" b="1">
                <a:solidFill>
                  <a:srgbClr val="1E2761"/>
                </a:solidFill>
                <a:latin typeface="Calibri"/>
              </a:rPr>
              <a:t>Commit</a:t>
            </a:r>
          </a:p>
          <a:p>
            <a:pPr algn="l"/>
            <a:r>
              <a:rPr sz="1150" b="0">
                <a:solidFill>
                  <a:srgbClr val="1F1F2E"/>
                </a:solidFill>
                <a:latin typeface="Calibri"/>
              </a:rPr>
              <a:t>A saved snapshot of your changes with a one-line message. Local until you push.</a:t>
            </a:r>
          </a:p>
        </p:txBody>
      </p:sp>
      <p:sp>
        <p:nvSpPr>
          <p:cNvPr id="17" name="Rectangle 16"/>
          <p:cNvSpPr/>
          <p:nvPr/>
        </p:nvSpPr>
        <p:spPr>
          <a:xfrm>
            <a:off x="4297679" y="2606040"/>
            <a:ext cx="3611880" cy="1115568"/>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4297679" y="2606040"/>
            <a:ext cx="73152" cy="1115568"/>
          </a:xfrm>
          <a:prstGeom prst="rect">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480559" y="2679192"/>
            <a:ext cx="3291840" cy="1005840"/>
          </a:xfrm>
          <a:prstGeom prst="rect">
            <a:avLst/>
          </a:prstGeom>
          <a:noFill/>
        </p:spPr>
        <p:txBody>
          <a:bodyPr wrap="square" anchor="t" lIns="45720" rIns="45720" tIns="27432" bIns="27432">
            <a:spAutoFit/>
          </a:bodyPr>
          <a:lstStyle/>
          <a:p>
            <a:pPr algn="l"/>
            <a:r>
              <a:rPr sz="1350" b="1">
                <a:solidFill>
                  <a:srgbClr val="1E2761"/>
                </a:solidFill>
                <a:latin typeface="Calibri"/>
              </a:rPr>
              <a:t>Push</a:t>
            </a:r>
          </a:p>
          <a:p>
            <a:pPr algn="l"/>
            <a:r>
              <a:rPr sz="1150" b="0">
                <a:solidFill>
                  <a:srgbClr val="1F1F2E"/>
                </a:solidFill>
                <a:latin typeface="Calibri"/>
              </a:rPr>
              <a:t>Send your commits up to GitHub so others (and other machines) can see them.</a:t>
            </a:r>
          </a:p>
        </p:txBody>
      </p:sp>
      <p:sp>
        <p:nvSpPr>
          <p:cNvPr id="20" name="Rectangle 19"/>
          <p:cNvSpPr/>
          <p:nvPr/>
        </p:nvSpPr>
        <p:spPr>
          <a:xfrm>
            <a:off x="8046719" y="2606040"/>
            <a:ext cx="3611880" cy="1115568"/>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8046719" y="2606040"/>
            <a:ext cx="73152" cy="1115568"/>
          </a:xfrm>
          <a:prstGeom prst="rect">
            <a:avLst/>
          </a:prstGeom>
          <a:solidFill>
            <a:srgbClr val="2E3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229599" y="2679192"/>
            <a:ext cx="3291840" cy="1005840"/>
          </a:xfrm>
          <a:prstGeom prst="rect">
            <a:avLst/>
          </a:prstGeom>
          <a:noFill/>
        </p:spPr>
        <p:txBody>
          <a:bodyPr wrap="square" anchor="t" lIns="45720" rIns="45720" tIns="27432" bIns="27432">
            <a:spAutoFit/>
          </a:bodyPr>
          <a:lstStyle/>
          <a:p>
            <a:pPr algn="l"/>
            <a:r>
              <a:rPr sz="1350" b="1">
                <a:solidFill>
                  <a:srgbClr val="1E2761"/>
                </a:solidFill>
                <a:latin typeface="Calibri"/>
              </a:rPr>
              <a:t>Pull</a:t>
            </a:r>
          </a:p>
          <a:p>
            <a:pPr algn="l"/>
            <a:r>
              <a:rPr sz="1150" b="0">
                <a:solidFill>
                  <a:srgbClr val="1F1F2E"/>
                </a:solidFill>
                <a:latin typeface="Calibri"/>
              </a:rPr>
              <a:t>Fetch other people's commits from GitHub and merge them into your copy.</a:t>
            </a:r>
          </a:p>
        </p:txBody>
      </p:sp>
      <p:sp>
        <p:nvSpPr>
          <p:cNvPr id="23" name="Rectangle 22"/>
          <p:cNvSpPr/>
          <p:nvPr/>
        </p:nvSpPr>
        <p:spPr>
          <a:xfrm>
            <a:off x="548640" y="3840480"/>
            <a:ext cx="3611880" cy="1115568"/>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548640" y="3840480"/>
            <a:ext cx="73152" cy="1115568"/>
          </a:xfrm>
          <a:prstGeom prst="rect">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1520" y="3913632"/>
            <a:ext cx="3291840" cy="1005840"/>
          </a:xfrm>
          <a:prstGeom prst="rect">
            <a:avLst/>
          </a:prstGeom>
          <a:noFill/>
        </p:spPr>
        <p:txBody>
          <a:bodyPr wrap="square" anchor="t" lIns="45720" rIns="45720" tIns="27432" bIns="27432">
            <a:spAutoFit/>
          </a:bodyPr>
          <a:lstStyle/>
          <a:p>
            <a:pPr algn="l"/>
            <a:r>
              <a:rPr sz="1350" b="1">
                <a:solidFill>
                  <a:srgbClr val="1E2761"/>
                </a:solidFill>
                <a:latin typeface="Calibri"/>
              </a:rPr>
              <a:t>Branch</a:t>
            </a:r>
          </a:p>
          <a:p>
            <a:pPr algn="l"/>
            <a:r>
              <a:rPr sz="1150" b="0">
                <a:solidFill>
                  <a:srgbClr val="1F1F2E"/>
                </a:solidFill>
                <a:latin typeface="Calibri"/>
              </a:rPr>
              <a:t>A parallel line of work. 'main' is the trunk; a branch is where a change is drafted.</a:t>
            </a:r>
          </a:p>
        </p:txBody>
      </p:sp>
      <p:sp>
        <p:nvSpPr>
          <p:cNvPr id="26" name="Rectangle 25"/>
          <p:cNvSpPr/>
          <p:nvPr/>
        </p:nvSpPr>
        <p:spPr>
          <a:xfrm>
            <a:off x="4297679" y="3840480"/>
            <a:ext cx="3611880" cy="1115568"/>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4297679" y="3840480"/>
            <a:ext cx="73152" cy="1115568"/>
          </a:xfrm>
          <a:prstGeom prst="rect">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4480559" y="3913632"/>
            <a:ext cx="3291840" cy="1005840"/>
          </a:xfrm>
          <a:prstGeom prst="rect">
            <a:avLst/>
          </a:prstGeom>
          <a:noFill/>
        </p:spPr>
        <p:txBody>
          <a:bodyPr wrap="square" anchor="t" lIns="45720" rIns="45720" tIns="27432" bIns="27432">
            <a:spAutoFit/>
          </a:bodyPr>
          <a:lstStyle/>
          <a:p>
            <a:pPr algn="l"/>
            <a:r>
              <a:rPr sz="1350" b="1">
                <a:solidFill>
                  <a:srgbClr val="1E2761"/>
                </a:solidFill>
                <a:latin typeface="Calibri"/>
              </a:rPr>
              <a:t>Merge</a:t>
            </a:r>
          </a:p>
          <a:p>
            <a:pPr algn="l"/>
            <a:r>
              <a:rPr sz="1150" b="0">
                <a:solidFill>
                  <a:srgbClr val="1F1F2E"/>
                </a:solidFill>
                <a:latin typeface="Calibri"/>
              </a:rPr>
              <a:t>Combine one branch into another. Usually a feature branch into main.</a:t>
            </a:r>
          </a:p>
        </p:txBody>
      </p:sp>
      <p:sp>
        <p:nvSpPr>
          <p:cNvPr id="29" name="Rectangle 28"/>
          <p:cNvSpPr/>
          <p:nvPr/>
        </p:nvSpPr>
        <p:spPr>
          <a:xfrm>
            <a:off x="8046719" y="3840480"/>
            <a:ext cx="3611880" cy="1115568"/>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8046719" y="3840480"/>
            <a:ext cx="73152" cy="1115568"/>
          </a:xfrm>
          <a:prstGeom prst="rect">
            <a:avLst/>
          </a:prstGeom>
          <a:solidFill>
            <a:srgbClr val="2E3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8229599" y="3913632"/>
            <a:ext cx="3291840" cy="1005840"/>
          </a:xfrm>
          <a:prstGeom prst="rect">
            <a:avLst/>
          </a:prstGeom>
          <a:noFill/>
        </p:spPr>
        <p:txBody>
          <a:bodyPr wrap="square" anchor="t" lIns="45720" rIns="45720" tIns="27432" bIns="27432">
            <a:spAutoFit/>
          </a:bodyPr>
          <a:lstStyle/>
          <a:p>
            <a:pPr algn="l"/>
            <a:r>
              <a:rPr sz="1350" b="1">
                <a:solidFill>
                  <a:srgbClr val="1E2761"/>
                </a:solidFill>
                <a:latin typeface="Calibri"/>
              </a:rPr>
              <a:t>Pull request (PR)</a:t>
            </a:r>
          </a:p>
          <a:p>
            <a:pPr algn="l"/>
            <a:r>
              <a:rPr sz="1150" b="0">
                <a:solidFill>
                  <a:srgbClr val="1F1F2E"/>
                </a:solidFill>
                <a:latin typeface="Calibri"/>
              </a:rPr>
              <a:t>A GitHub page proposing a branch be merged, with a diff and comments for review.</a:t>
            </a:r>
          </a:p>
        </p:txBody>
      </p:sp>
      <p:sp>
        <p:nvSpPr>
          <p:cNvPr id="32" name="Rectangle 31"/>
          <p:cNvSpPr/>
          <p:nvPr/>
        </p:nvSpPr>
        <p:spPr>
          <a:xfrm>
            <a:off x="548640" y="5074920"/>
            <a:ext cx="3611880" cy="1115568"/>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548640" y="5074920"/>
            <a:ext cx="73152" cy="1115568"/>
          </a:xfrm>
          <a:prstGeom prst="rect">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731520" y="5148072"/>
            <a:ext cx="3291840" cy="1005840"/>
          </a:xfrm>
          <a:prstGeom prst="rect">
            <a:avLst/>
          </a:prstGeom>
          <a:noFill/>
        </p:spPr>
        <p:txBody>
          <a:bodyPr wrap="square" anchor="t" lIns="45720" rIns="45720" tIns="27432" bIns="27432">
            <a:spAutoFit/>
          </a:bodyPr>
          <a:lstStyle/>
          <a:p>
            <a:pPr algn="l"/>
            <a:r>
              <a:rPr sz="1350" b="1">
                <a:solidFill>
                  <a:srgbClr val="1E2761"/>
                </a:solidFill>
                <a:latin typeface="Calibri"/>
              </a:rPr>
              <a:t>Worktree</a:t>
            </a:r>
          </a:p>
          <a:p>
            <a:pPr algn="l"/>
            <a:r>
              <a:rPr sz="1150" b="0">
                <a:solidFill>
                  <a:srgbClr val="1F1F2E"/>
                </a:solidFill>
                <a:latin typeface="Calibri"/>
              </a:rPr>
              <a:t>A second folder on disk checked out to a different branch of the same repo.</a:t>
            </a:r>
          </a:p>
        </p:txBody>
      </p:sp>
      <p:sp>
        <p:nvSpPr>
          <p:cNvPr id="35" name="Rectangle 34"/>
          <p:cNvSpPr/>
          <p:nvPr/>
        </p:nvSpPr>
        <p:spPr>
          <a:xfrm>
            <a:off x="4297679" y="5074920"/>
            <a:ext cx="3611880" cy="1115568"/>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4297679" y="5074920"/>
            <a:ext cx="73152" cy="1115568"/>
          </a:xfrm>
          <a:prstGeom prst="rect">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4480559" y="5148072"/>
            <a:ext cx="3291840" cy="1005840"/>
          </a:xfrm>
          <a:prstGeom prst="rect">
            <a:avLst/>
          </a:prstGeom>
          <a:noFill/>
        </p:spPr>
        <p:txBody>
          <a:bodyPr wrap="square" anchor="t" lIns="45720" rIns="45720" tIns="27432" bIns="27432">
            <a:spAutoFit/>
          </a:bodyPr>
          <a:lstStyle/>
          <a:p>
            <a:pPr algn="l"/>
            <a:r>
              <a:rPr sz="1350" b="1">
                <a:solidFill>
                  <a:srgbClr val="1E2761"/>
                </a:solidFill>
                <a:latin typeface="Calibri"/>
              </a:rPr>
              <a:t>Conflict</a:t>
            </a:r>
          </a:p>
          <a:p>
            <a:pPr algn="l"/>
            <a:r>
              <a:rPr sz="1150" b="0">
                <a:solidFill>
                  <a:srgbClr val="1F1F2E"/>
                </a:solidFill>
                <a:latin typeface="Calibri"/>
              </a:rPr>
              <a:t>Two people changed the same lines. Git stops and asks a human (or Copilot) to choose.</a:t>
            </a:r>
          </a:p>
        </p:txBody>
      </p:sp>
      <p:sp>
        <p:nvSpPr>
          <p:cNvPr id="38" name="Rectangle 37"/>
          <p:cNvSpPr/>
          <p:nvPr/>
        </p:nvSpPr>
        <p:spPr>
          <a:xfrm>
            <a:off x="8046719" y="5074920"/>
            <a:ext cx="3611880" cy="1115568"/>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8046719" y="5074920"/>
            <a:ext cx="73152" cy="1115568"/>
          </a:xfrm>
          <a:prstGeom prst="rect">
            <a:avLst/>
          </a:prstGeom>
          <a:solidFill>
            <a:srgbClr val="2E3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8229599" y="5148072"/>
            <a:ext cx="3291840" cy="1005840"/>
          </a:xfrm>
          <a:prstGeom prst="rect">
            <a:avLst/>
          </a:prstGeom>
          <a:noFill/>
        </p:spPr>
        <p:txBody>
          <a:bodyPr wrap="square" anchor="t" lIns="45720" rIns="45720" tIns="27432" bIns="27432">
            <a:spAutoFit/>
          </a:bodyPr>
          <a:lstStyle/>
          <a:p>
            <a:pPr algn="l"/>
            <a:r>
              <a:rPr sz="1350" b="1">
                <a:solidFill>
                  <a:srgbClr val="1E2761"/>
                </a:solidFill>
                <a:latin typeface="Calibri"/>
              </a:rPr>
              <a:t>.gitignore</a:t>
            </a:r>
          </a:p>
          <a:p>
            <a:pPr algn="l"/>
            <a:r>
              <a:rPr sz="1150" b="0">
                <a:solidFill>
                  <a:srgbClr val="1F1F2E"/>
                </a:solidFill>
                <a:latin typeface="Calibri"/>
              </a:rPr>
              <a:t>A list of files git should never track: large data, outputs, secrets, temporary files.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7315200" cy="274320"/>
          </a:xfrm>
          <a:prstGeom prst="rect">
            <a:avLst/>
          </a:prstGeom>
          <a:noFill/>
        </p:spPr>
        <p:txBody>
          <a:bodyPr wrap="square" anchor="t" lIns="45720" rIns="45720" tIns="27432" bIns="27432">
            <a:spAutoFit/>
          </a:bodyPr>
          <a:lstStyle/>
          <a:p>
            <a:pPr algn="l"/>
            <a:r>
              <a:rPr sz="1200" b="1">
                <a:solidFill>
                  <a:srgbClr val="0F7B6C"/>
                </a:solidFill>
                <a:latin typeface="Calibri"/>
              </a:rPr>
              <a:t>APPENDIX 2 · GIT BASICS</a:t>
            </a:r>
          </a:p>
        </p:txBody>
      </p:sp>
      <p:sp>
        <p:nvSpPr>
          <p:cNvPr id="3" name="TextBox 2"/>
          <p:cNvSpPr txBox="1"/>
          <p:nvPr/>
        </p:nvSpPr>
        <p:spPr>
          <a:xfrm>
            <a:off x="548640" y="502920"/>
            <a:ext cx="11064240" cy="685800"/>
          </a:xfrm>
          <a:prstGeom prst="rect">
            <a:avLst/>
          </a:prstGeom>
          <a:noFill/>
        </p:spPr>
        <p:txBody>
          <a:bodyPr wrap="square" anchor="t" lIns="45720" rIns="45720" tIns="27432" bIns="27432">
            <a:spAutoFit/>
          </a:bodyPr>
          <a:lstStyle/>
          <a:p>
            <a:pPr algn="l"/>
            <a:r>
              <a:rPr sz="3000" b="0">
                <a:solidFill>
                  <a:srgbClr val="1E2761"/>
                </a:solidFill>
                <a:latin typeface="Cambria"/>
              </a:rPr>
              <a:t>The everyday cycle: pull, work, commit, push</a:t>
            </a:r>
          </a:p>
        </p:txBody>
      </p:sp>
      <p:sp>
        <p:nvSpPr>
          <p:cNvPr id="4" name="TextBox 3"/>
          <p:cNvSpPr txBox="1"/>
          <p:nvPr/>
        </p:nvSpPr>
        <p:spPr>
          <a:xfrm>
            <a:off x="548640" y="6473952"/>
            <a:ext cx="8686800" cy="228600"/>
          </a:xfrm>
          <a:prstGeom prst="rect">
            <a:avLst/>
          </a:prstGeom>
          <a:noFill/>
        </p:spPr>
        <p:txBody>
          <a:bodyPr wrap="square" anchor="t" lIns="45720" rIns="45720" tIns="27432" bIns="27432">
            <a:spAutoFit/>
          </a:bodyPr>
          <a:lstStyle/>
          <a:p>
            <a:pPr algn="l"/>
            <a:r>
              <a:rPr sz="900" b="0">
                <a:solidFill>
                  <a:srgbClr val="5C667A"/>
                </a:solidFill>
                <a:latin typeface="Calibri"/>
              </a:rPr>
              <a:t>Using GitHub Copilot with our repositories: user guide   ·   Screens and model names change over time</a:t>
            </a:r>
          </a:p>
        </p:txBody>
      </p:sp>
      <p:sp>
        <p:nvSpPr>
          <p:cNvPr id="5" name="Rectangle 4"/>
          <p:cNvSpPr/>
          <p:nvPr/>
        </p:nvSpPr>
        <p:spPr>
          <a:xfrm>
            <a:off x="548640" y="1463040"/>
            <a:ext cx="2560320" cy="237744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1463040"/>
            <a:ext cx="2560320" cy="502920"/>
          </a:xfrm>
          <a:prstGeom prst="rect">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1463040"/>
            <a:ext cx="2560320" cy="502920"/>
          </a:xfrm>
          <a:prstGeom prst="rect">
            <a:avLst/>
          </a:prstGeom>
          <a:noFill/>
        </p:spPr>
        <p:txBody>
          <a:bodyPr wrap="square" anchor="ctr" lIns="45720" rIns="45720" tIns="27432" bIns="27432">
            <a:spAutoFit/>
          </a:bodyPr>
          <a:lstStyle/>
          <a:p>
            <a:pPr algn="ctr"/>
            <a:r>
              <a:rPr sz="1600" b="1">
                <a:solidFill>
                  <a:srgbClr val="FFFFFF"/>
                </a:solidFill>
                <a:latin typeface="Calibri"/>
              </a:rPr>
              <a:t>Pull</a:t>
            </a:r>
          </a:p>
        </p:txBody>
      </p:sp>
      <p:sp>
        <p:nvSpPr>
          <p:cNvPr id="8" name="TextBox 7"/>
          <p:cNvSpPr txBox="1"/>
          <p:nvPr/>
        </p:nvSpPr>
        <p:spPr>
          <a:xfrm>
            <a:off x="731520" y="2103120"/>
            <a:ext cx="2194560" cy="731520"/>
          </a:xfrm>
          <a:prstGeom prst="rect">
            <a:avLst/>
          </a:prstGeom>
          <a:noFill/>
        </p:spPr>
        <p:txBody>
          <a:bodyPr wrap="square" anchor="t" lIns="45720" rIns="45720" tIns="27432" bIns="27432">
            <a:spAutoFit/>
          </a:bodyPr>
          <a:lstStyle/>
          <a:p>
            <a:pPr algn="ctr"/>
            <a:r>
              <a:rPr sz="1300" b="0">
                <a:solidFill>
                  <a:srgbClr val="1F1F2E"/>
                </a:solidFill>
                <a:latin typeface="Calibri"/>
              </a:rPr>
              <a:t>Get the latest from GitHub</a:t>
            </a:r>
          </a:p>
        </p:txBody>
      </p:sp>
      <p:sp>
        <p:nvSpPr>
          <p:cNvPr id="9" name="Rectangle 8"/>
          <p:cNvSpPr/>
          <p:nvPr/>
        </p:nvSpPr>
        <p:spPr>
          <a:xfrm>
            <a:off x="777240" y="2880360"/>
            <a:ext cx="2103120" cy="777240"/>
          </a:xfrm>
          <a:prstGeom prst="rect">
            <a:avLst/>
          </a:prstGeom>
          <a:solidFill>
            <a:srgbClr val="2B2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22959" y="2880360"/>
            <a:ext cx="2011680" cy="777240"/>
          </a:xfrm>
          <a:prstGeom prst="rect">
            <a:avLst/>
          </a:prstGeom>
          <a:noFill/>
        </p:spPr>
        <p:txBody>
          <a:bodyPr wrap="square" anchor="ctr" lIns="45720" rIns="45720" tIns="27432" bIns="27432">
            <a:spAutoFit/>
          </a:bodyPr>
          <a:lstStyle/>
          <a:p>
            <a:pPr algn="ctr"/>
            <a:r>
              <a:rPr sz="1150" b="0">
                <a:solidFill>
                  <a:srgbClr val="C8F0C8"/>
                </a:solidFill>
                <a:latin typeface="Consolas"/>
              </a:rPr>
              <a:t>git pull</a:t>
            </a:r>
          </a:p>
        </p:txBody>
      </p:sp>
      <p:cxnSp>
        <p:nvCxnSpPr>
          <p:cNvPr id="11" name="Connector 10"/>
          <p:cNvCxnSpPr/>
          <p:nvPr/>
        </p:nvCxnSpPr>
        <p:spPr>
          <a:xfrm>
            <a:off x="3127248" y="2651760"/>
            <a:ext cx="237744" cy="0"/>
          </a:xfrm>
          <a:prstGeom prst="line">
            <a:avLst/>
          </a:prstGeom>
          <a:ln w="19050">
            <a:solidFill>
              <a:srgbClr val="5C66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3383280" y="1463040"/>
            <a:ext cx="2560320" cy="237744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383280" y="1463040"/>
            <a:ext cx="2560320" cy="502920"/>
          </a:xfrm>
          <a:prstGeom prst="rect">
            <a:avLst/>
          </a:prstGeom>
          <a:solidFill>
            <a:srgbClr val="2E3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383280" y="1463040"/>
            <a:ext cx="2560320" cy="502920"/>
          </a:xfrm>
          <a:prstGeom prst="rect">
            <a:avLst/>
          </a:prstGeom>
          <a:noFill/>
        </p:spPr>
        <p:txBody>
          <a:bodyPr wrap="square" anchor="ctr" lIns="45720" rIns="45720" tIns="27432" bIns="27432">
            <a:spAutoFit/>
          </a:bodyPr>
          <a:lstStyle/>
          <a:p>
            <a:pPr algn="ctr"/>
            <a:r>
              <a:rPr sz="1600" b="1">
                <a:solidFill>
                  <a:srgbClr val="FFFFFF"/>
                </a:solidFill>
                <a:latin typeface="Calibri"/>
              </a:rPr>
              <a:t>Work</a:t>
            </a:r>
          </a:p>
        </p:txBody>
      </p:sp>
      <p:sp>
        <p:nvSpPr>
          <p:cNvPr id="15" name="TextBox 14"/>
          <p:cNvSpPr txBox="1"/>
          <p:nvPr/>
        </p:nvSpPr>
        <p:spPr>
          <a:xfrm>
            <a:off x="3566160" y="2103120"/>
            <a:ext cx="2194560" cy="731520"/>
          </a:xfrm>
          <a:prstGeom prst="rect">
            <a:avLst/>
          </a:prstGeom>
          <a:noFill/>
        </p:spPr>
        <p:txBody>
          <a:bodyPr wrap="square" anchor="t" lIns="45720" rIns="45720" tIns="27432" bIns="27432">
            <a:spAutoFit/>
          </a:bodyPr>
          <a:lstStyle/>
          <a:p>
            <a:pPr algn="ctr"/>
            <a:r>
              <a:rPr sz="1300" b="0">
                <a:solidFill>
                  <a:srgbClr val="1F1F2E"/>
                </a:solidFill>
                <a:latin typeface="Calibri"/>
              </a:rPr>
              <a:t>Edit files, ask Copilot, run things</a:t>
            </a:r>
          </a:p>
        </p:txBody>
      </p:sp>
      <p:sp>
        <p:nvSpPr>
          <p:cNvPr id="16" name="Rectangle 15"/>
          <p:cNvSpPr/>
          <p:nvPr/>
        </p:nvSpPr>
        <p:spPr>
          <a:xfrm>
            <a:off x="3611880" y="2880360"/>
            <a:ext cx="2103120" cy="777240"/>
          </a:xfrm>
          <a:prstGeom prst="rect">
            <a:avLst/>
          </a:prstGeom>
          <a:solidFill>
            <a:srgbClr val="2B2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657600" y="2880360"/>
            <a:ext cx="2011680" cy="777240"/>
          </a:xfrm>
          <a:prstGeom prst="rect">
            <a:avLst/>
          </a:prstGeom>
          <a:noFill/>
        </p:spPr>
        <p:txBody>
          <a:bodyPr wrap="square" anchor="ctr" lIns="45720" rIns="45720" tIns="27432" bIns="27432">
            <a:spAutoFit/>
          </a:bodyPr>
          <a:lstStyle/>
          <a:p>
            <a:pPr algn="ctr"/>
            <a:r>
              <a:rPr sz="1150" b="0">
                <a:solidFill>
                  <a:srgbClr val="C8F0C8"/>
                </a:solidFill>
                <a:latin typeface="Consolas"/>
              </a:rPr>
              <a:t>(you + Copilot)</a:t>
            </a:r>
          </a:p>
        </p:txBody>
      </p:sp>
      <p:cxnSp>
        <p:nvCxnSpPr>
          <p:cNvPr id="18" name="Connector 17"/>
          <p:cNvCxnSpPr/>
          <p:nvPr/>
        </p:nvCxnSpPr>
        <p:spPr>
          <a:xfrm>
            <a:off x="5961888" y="2651760"/>
            <a:ext cx="237744" cy="0"/>
          </a:xfrm>
          <a:prstGeom prst="line">
            <a:avLst/>
          </a:prstGeom>
          <a:ln w="19050">
            <a:solidFill>
              <a:srgbClr val="5C66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6217920" y="1463040"/>
            <a:ext cx="2560320" cy="237744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6217920" y="1463040"/>
            <a:ext cx="2560320" cy="502920"/>
          </a:xfrm>
          <a:prstGeom prst="rect">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217920" y="1463040"/>
            <a:ext cx="2560320" cy="502920"/>
          </a:xfrm>
          <a:prstGeom prst="rect">
            <a:avLst/>
          </a:prstGeom>
          <a:noFill/>
        </p:spPr>
        <p:txBody>
          <a:bodyPr wrap="square" anchor="ctr" lIns="45720" rIns="45720" tIns="27432" bIns="27432">
            <a:spAutoFit/>
          </a:bodyPr>
          <a:lstStyle/>
          <a:p>
            <a:pPr algn="ctr"/>
            <a:r>
              <a:rPr sz="1600" b="1">
                <a:solidFill>
                  <a:srgbClr val="FFFFFF"/>
                </a:solidFill>
                <a:latin typeface="Calibri"/>
              </a:rPr>
              <a:t>Stage + commit</a:t>
            </a:r>
          </a:p>
        </p:txBody>
      </p:sp>
      <p:sp>
        <p:nvSpPr>
          <p:cNvPr id="22" name="TextBox 21"/>
          <p:cNvSpPr txBox="1"/>
          <p:nvPr/>
        </p:nvSpPr>
        <p:spPr>
          <a:xfrm>
            <a:off x="6400800" y="2103120"/>
            <a:ext cx="2194560" cy="731520"/>
          </a:xfrm>
          <a:prstGeom prst="rect">
            <a:avLst/>
          </a:prstGeom>
          <a:noFill/>
        </p:spPr>
        <p:txBody>
          <a:bodyPr wrap="square" anchor="t" lIns="45720" rIns="45720" tIns="27432" bIns="27432">
            <a:spAutoFit/>
          </a:bodyPr>
          <a:lstStyle/>
          <a:p>
            <a:pPr algn="ctr"/>
            <a:r>
              <a:rPr sz="1300" b="0">
                <a:solidFill>
                  <a:srgbClr val="1F1F2E"/>
                </a:solidFill>
                <a:latin typeface="Calibri"/>
              </a:rPr>
              <a:t>Snapshot the changes with a message</a:t>
            </a:r>
          </a:p>
        </p:txBody>
      </p:sp>
      <p:sp>
        <p:nvSpPr>
          <p:cNvPr id="23" name="Rectangle 22"/>
          <p:cNvSpPr/>
          <p:nvPr/>
        </p:nvSpPr>
        <p:spPr>
          <a:xfrm>
            <a:off x="6446520" y="2880360"/>
            <a:ext cx="2103120" cy="777240"/>
          </a:xfrm>
          <a:prstGeom prst="rect">
            <a:avLst/>
          </a:prstGeom>
          <a:solidFill>
            <a:srgbClr val="2B2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92240" y="2880360"/>
            <a:ext cx="2011680" cy="777240"/>
          </a:xfrm>
          <a:prstGeom prst="rect">
            <a:avLst/>
          </a:prstGeom>
          <a:noFill/>
        </p:spPr>
        <p:txBody>
          <a:bodyPr wrap="square" anchor="ctr" lIns="45720" rIns="45720" tIns="27432" bIns="27432">
            <a:spAutoFit/>
          </a:bodyPr>
          <a:lstStyle/>
          <a:p>
            <a:pPr algn="ctr"/>
            <a:r>
              <a:rPr sz="1150" b="0">
                <a:solidFill>
                  <a:srgbClr val="C8F0C8"/>
                </a:solidFill>
                <a:latin typeface="Consolas"/>
              </a:rPr>
              <a:t>git add -A
git commit -m "..."</a:t>
            </a:r>
          </a:p>
        </p:txBody>
      </p:sp>
      <p:cxnSp>
        <p:nvCxnSpPr>
          <p:cNvPr id="25" name="Connector 24"/>
          <p:cNvCxnSpPr/>
          <p:nvPr/>
        </p:nvCxnSpPr>
        <p:spPr>
          <a:xfrm>
            <a:off x="8796528" y="2651760"/>
            <a:ext cx="237744" cy="0"/>
          </a:xfrm>
          <a:prstGeom prst="line">
            <a:avLst/>
          </a:prstGeom>
          <a:ln w="19050">
            <a:solidFill>
              <a:srgbClr val="5C66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9052560" y="1463040"/>
            <a:ext cx="2560320" cy="237744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9052560" y="1463040"/>
            <a:ext cx="2560320" cy="502920"/>
          </a:xfrm>
          <a:prstGeom prst="rect">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052560" y="1463040"/>
            <a:ext cx="2560320" cy="502920"/>
          </a:xfrm>
          <a:prstGeom prst="rect">
            <a:avLst/>
          </a:prstGeom>
          <a:noFill/>
        </p:spPr>
        <p:txBody>
          <a:bodyPr wrap="square" anchor="ctr" lIns="45720" rIns="45720" tIns="27432" bIns="27432">
            <a:spAutoFit/>
          </a:bodyPr>
          <a:lstStyle/>
          <a:p>
            <a:pPr algn="ctr"/>
            <a:r>
              <a:rPr sz="1600" b="1">
                <a:solidFill>
                  <a:srgbClr val="FFFFFF"/>
                </a:solidFill>
                <a:latin typeface="Calibri"/>
              </a:rPr>
              <a:t>Push</a:t>
            </a:r>
          </a:p>
        </p:txBody>
      </p:sp>
      <p:sp>
        <p:nvSpPr>
          <p:cNvPr id="29" name="TextBox 28"/>
          <p:cNvSpPr txBox="1"/>
          <p:nvPr/>
        </p:nvSpPr>
        <p:spPr>
          <a:xfrm>
            <a:off x="9235440" y="2103120"/>
            <a:ext cx="2194560" cy="731520"/>
          </a:xfrm>
          <a:prstGeom prst="rect">
            <a:avLst/>
          </a:prstGeom>
          <a:noFill/>
        </p:spPr>
        <p:txBody>
          <a:bodyPr wrap="square" anchor="t" lIns="45720" rIns="45720" tIns="27432" bIns="27432">
            <a:spAutoFit/>
          </a:bodyPr>
          <a:lstStyle/>
          <a:p>
            <a:pPr algn="ctr"/>
            <a:r>
              <a:rPr sz="1300" b="0">
                <a:solidFill>
                  <a:srgbClr val="1F1F2E"/>
                </a:solidFill>
                <a:latin typeface="Calibri"/>
              </a:rPr>
              <a:t>Send the snapshot to GitHub</a:t>
            </a:r>
          </a:p>
        </p:txBody>
      </p:sp>
      <p:sp>
        <p:nvSpPr>
          <p:cNvPr id="30" name="Rectangle 29"/>
          <p:cNvSpPr/>
          <p:nvPr/>
        </p:nvSpPr>
        <p:spPr>
          <a:xfrm>
            <a:off x="9281160" y="2880360"/>
            <a:ext cx="2103120" cy="777240"/>
          </a:xfrm>
          <a:prstGeom prst="rect">
            <a:avLst/>
          </a:prstGeom>
          <a:solidFill>
            <a:srgbClr val="2B2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326880" y="2880360"/>
            <a:ext cx="2011680" cy="777240"/>
          </a:xfrm>
          <a:prstGeom prst="rect">
            <a:avLst/>
          </a:prstGeom>
          <a:noFill/>
        </p:spPr>
        <p:txBody>
          <a:bodyPr wrap="square" anchor="ctr" lIns="45720" rIns="45720" tIns="27432" bIns="27432">
            <a:spAutoFit/>
          </a:bodyPr>
          <a:lstStyle/>
          <a:p>
            <a:pPr algn="ctr"/>
            <a:r>
              <a:rPr sz="1150" b="0">
                <a:solidFill>
                  <a:srgbClr val="C8F0C8"/>
                </a:solidFill>
                <a:latin typeface="Consolas"/>
              </a:rPr>
              <a:t>git push</a:t>
            </a:r>
          </a:p>
        </p:txBody>
      </p:sp>
      <p:sp>
        <p:nvSpPr>
          <p:cNvPr id="32" name="Rectangle 31"/>
          <p:cNvSpPr/>
          <p:nvPr/>
        </p:nvSpPr>
        <p:spPr>
          <a:xfrm>
            <a:off x="548640" y="4114800"/>
            <a:ext cx="11091672" cy="1737360"/>
          </a:xfrm>
          <a:prstGeom prst="rect">
            <a:avLst/>
          </a:prstGeom>
          <a:solidFill>
            <a:srgbClr val="E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77240" y="4206240"/>
            <a:ext cx="10698480" cy="365760"/>
          </a:xfrm>
          <a:prstGeom prst="rect">
            <a:avLst/>
          </a:prstGeom>
          <a:noFill/>
        </p:spPr>
        <p:txBody>
          <a:bodyPr wrap="square" anchor="t" lIns="45720" rIns="45720" tIns="27432" bIns="27432">
            <a:spAutoFit/>
          </a:bodyPr>
          <a:lstStyle/>
          <a:p>
            <a:pPr algn="l"/>
            <a:r>
              <a:rPr sz="1500" b="1">
                <a:solidFill>
                  <a:srgbClr val="0F7B6C"/>
                </a:solidFill>
                <a:latin typeface="Calibri"/>
              </a:rPr>
              <a:t>You rarely type these. Two ways to run the cycle:</a:t>
            </a:r>
          </a:p>
        </p:txBody>
      </p:sp>
      <p:sp>
        <p:nvSpPr>
          <p:cNvPr id="34" name="TextBox 33"/>
          <p:cNvSpPr txBox="1"/>
          <p:nvPr/>
        </p:nvSpPr>
        <p:spPr>
          <a:xfrm>
            <a:off x="777240" y="4617720"/>
            <a:ext cx="5212080" cy="1188720"/>
          </a:xfrm>
          <a:prstGeom prst="rect">
            <a:avLst/>
          </a:prstGeom>
          <a:noFill/>
        </p:spPr>
        <p:txBody>
          <a:bodyPr wrap="square" anchor="t" lIns="45720" rIns="45720" tIns="27432" bIns="27432">
            <a:spAutoFit/>
          </a:bodyPr>
          <a:lstStyle/>
          <a:p>
            <a:pPr algn="l"/>
            <a:r>
              <a:rPr sz="1350" b="1">
                <a:solidFill>
                  <a:srgbClr val="1E2761"/>
                </a:solidFill>
                <a:latin typeface="Calibri"/>
              </a:rPr>
              <a:t>Double-click SyncRepo.bat</a:t>
            </a:r>
          </a:p>
          <a:p>
            <a:pPr algn="l"/>
            <a:r>
              <a:rPr sz="1250" b="0">
                <a:solidFill>
                  <a:srgbClr val="1F1F2E"/>
                </a:solidFill>
                <a:latin typeface="Calibri"/>
              </a:rPr>
              <a:t>Pulls main, stages everything, asks for a commit message, commits, pushes. Run it when you sit down and when you finish. Details on the sync script slide.</a:t>
            </a:r>
          </a:p>
        </p:txBody>
      </p:sp>
      <p:sp>
        <p:nvSpPr>
          <p:cNvPr id="35" name="TextBox 34"/>
          <p:cNvSpPr txBox="1"/>
          <p:nvPr/>
        </p:nvSpPr>
        <p:spPr>
          <a:xfrm>
            <a:off x="6217920" y="4617720"/>
            <a:ext cx="5212080" cy="1188720"/>
          </a:xfrm>
          <a:prstGeom prst="rect">
            <a:avLst/>
          </a:prstGeom>
          <a:noFill/>
        </p:spPr>
        <p:txBody>
          <a:bodyPr wrap="square" anchor="t" lIns="45720" rIns="45720" tIns="27432" bIns="27432">
            <a:spAutoFit/>
          </a:bodyPr>
          <a:lstStyle/>
          <a:p>
            <a:pPr algn="l"/>
            <a:r>
              <a:rPr sz="1350" b="1">
                <a:solidFill>
                  <a:srgbClr val="1E2761"/>
                </a:solidFill>
                <a:latin typeface="Calibri"/>
              </a:rPr>
              <a:t>Or ask Copilot</a:t>
            </a:r>
          </a:p>
          <a:p>
            <a:pPr algn="l"/>
            <a:r>
              <a:rPr sz="1250" b="0">
                <a:solidFill>
                  <a:srgbClr val="1F1F2E"/>
                </a:solidFill>
                <a:latin typeface="Calibri"/>
              </a:rPr>
              <a:t>"Commit my changes with a sensible message and push" works. Copilot will not push unless you ask, and will stop and explain if there is a conflict.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7315200" cy="274320"/>
          </a:xfrm>
          <a:prstGeom prst="rect">
            <a:avLst/>
          </a:prstGeom>
          <a:noFill/>
        </p:spPr>
        <p:txBody>
          <a:bodyPr wrap="square" anchor="t" lIns="45720" rIns="45720" tIns="27432" bIns="27432">
            <a:spAutoFit/>
          </a:bodyPr>
          <a:lstStyle/>
          <a:p>
            <a:pPr algn="l"/>
            <a:r>
              <a:rPr sz="1200" b="1">
                <a:solidFill>
                  <a:srgbClr val="0F7B6C"/>
                </a:solidFill>
                <a:latin typeface="Calibri"/>
              </a:rPr>
              <a:t>APPENDIX 2 · TOOL 1 · EXCISE DIAGNOSTIC</a:t>
            </a:r>
          </a:p>
        </p:txBody>
      </p:sp>
      <p:sp>
        <p:nvSpPr>
          <p:cNvPr id="3" name="TextBox 2"/>
          <p:cNvSpPr txBox="1"/>
          <p:nvPr/>
        </p:nvSpPr>
        <p:spPr>
          <a:xfrm>
            <a:off x="548640" y="502920"/>
            <a:ext cx="11064240" cy="685800"/>
          </a:xfrm>
          <a:prstGeom prst="rect">
            <a:avLst/>
          </a:prstGeom>
          <a:noFill/>
        </p:spPr>
        <p:txBody>
          <a:bodyPr wrap="square" anchor="t" lIns="45720" rIns="45720" tIns="27432" bIns="27432">
            <a:spAutoFit/>
          </a:bodyPr>
          <a:lstStyle/>
          <a:p>
            <a:pPr algn="l"/>
            <a:r>
              <a:rPr sz="3000" b="0">
                <a:solidFill>
                  <a:srgbClr val="1E2761"/>
                </a:solidFill>
                <a:latin typeface="Cambria"/>
              </a:rPr>
              <a:t>Generative markdown: detailed instructions the AI follows stage by stage</a:t>
            </a:r>
          </a:p>
        </p:txBody>
      </p:sp>
      <p:sp>
        <p:nvSpPr>
          <p:cNvPr id="4" name="TextBox 3"/>
          <p:cNvSpPr txBox="1"/>
          <p:nvPr/>
        </p:nvSpPr>
        <p:spPr>
          <a:xfrm>
            <a:off x="548640" y="6473952"/>
            <a:ext cx="8686800" cy="228600"/>
          </a:xfrm>
          <a:prstGeom prst="rect">
            <a:avLst/>
          </a:prstGeom>
          <a:noFill/>
        </p:spPr>
        <p:txBody>
          <a:bodyPr wrap="square" anchor="t" lIns="45720" rIns="45720" tIns="27432" bIns="27432">
            <a:spAutoFit/>
          </a:bodyPr>
          <a:lstStyle/>
          <a:p>
            <a:pPr algn="l"/>
            <a:r>
              <a:rPr sz="900" b="0">
                <a:solidFill>
                  <a:srgbClr val="5C667A"/>
                </a:solidFill>
                <a:latin typeface="Calibri"/>
              </a:rPr>
              <a:t>Using GitHub Copilot with our repositories: user guide   ·   Screens and model names change over time</a:t>
            </a:r>
          </a:p>
        </p:txBody>
      </p:sp>
      <p:sp>
        <p:nvSpPr>
          <p:cNvPr id="5" name="Rectangle 4"/>
          <p:cNvSpPr/>
          <p:nvPr/>
        </p:nvSpPr>
        <p:spPr>
          <a:xfrm>
            <a:off x="548640" y="1325880"/>
            <a:ext cx="5394960" cy="493776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77240" y="1463040"/>
            <a:ext cx="5029200" cy="365760"/>
          </a:xfrm>
          <a:prstGeom prst="rect">
            <a:avLst/>
          </a:prstGeom>
          <a:noFill/>
        </p:spPr>
        <p:txBody>
          <a:bodyPr wrap="square" anchor="t" lIns="45720" rIns="45720" tIns="27432" bIns="27432">
            <a:spAutoFit/>
          </a:bodyPr>
          <a:lstStyle/>
          <a:p>
            <a:pPr algn="l"/>
            <a:r>
              <a:rPr sz="1600" b="1">
                <a:solidFill>
                  <a:srgbClr val="1E2761"/>
                </a:solidFill>
                <a:latin typeface="Calibri"/>
              </a:rPr>
              <a:t>What 'generative markdown' means</a:t>
            </a:r>
          </a:p>
        </p:txBody>
      </p:sp>
      <p:sp>
        <p:nvSpPr>
          <p:cNvPr id="7" name="TextBox 6"/>
          <p:cNvSpPr txBox="1"/>
          <p:nvPr/>
        </p:nvSpPr>
        <p:spPr>
          <a:xfrm>
            <a:off x="777240" y="1920240"/>
            <a:ext cx="4937760" cy="4206240"/>
          </a:xfrm>
          <a:prstGeom prst="rect">
            <a:avLst/>
          </a:prstGeom>
          <a:noFill/>
        </p:spPr>
        <p:txBody>
          <a:bodyPr wrap="square" anchor="t" lIns="45720" rIns="45720" tIns="27432" bIns="27432">
            <a:spAutoFit/>
          </a:bodyPr>
          <a:lstStyle/>
          <a:p>
            <a:pPr algn="l"/>
            <a:r>
              <a:rPr sz="1250" b="0">
                <a:solidFill>
                  <a:srgbClr val="1F1F2E"/>
                </a:solidFill>
                <a:latin typeface="Calibri"/>
              </a:rPr>
              <a:t>The intelligence is in the instructions, not in code. The process_files folder holds markdown (.md) documents that spell out, in detail, what to research, which sources count, how to score data quality and what the outputs must look like.</a:t>
            </a:r>
          </a:p>
          <a:p>
            <a:pPr algn="l">
              <a:spcBef>
                <a:spcPts val="800"/>
              </a:spcBef>
            </a:pPr>
            <a:r>
              <a:rPr sz="1250" b="0">
                <a:solidFill>
                  <a:srgbClr val="1F1F2E"/>
                </a:solidFill>
                <a:latin typeface="Calibri"/>
              </a:rPr>
              <a:t>You give the AI the master file (plus one part file for a sectoral run) and paste one stage prompt at a time (A1–A6). The AI does the research and writes the outputs; you check each stage before the next.</a:t>
            </a:r>
          </a:p>
          <a:p>
            <a:pPr algn="l">
              <a:spcBef>
                <a:spcPts val="800"/>
              </a:spcBef>
            </a:pPr>
            <a:r>
              <a:rPr sz="1250" b="0">
                <a:solidFill>
                  <a:srgbClr val="1F1F2E"/>
                </a:solidFill>
                <a:latin typeface="Calibri"/>
              </a:rPr>
              <a:t>Because the instructions are plain text, they can be read, improved and version-controlled like anything else in the repo.</a:t>
            </a:r>
          </a:p>
          <a:p>
            <a:pPr algn="l">
              <a:spcBef>
                <a:spcPts val="1000"/>
              </a:spcBef>
            </a:pPr>
            <a:r>
              <a:rPr sz="1250" b="1">
                <a:solidFill>
                  <a:srgbClr val="0F7B6C"/>
                </a:solidFill>
                <a:latin typeface="Calibri"/>
              </a:rPr>
              <a:t>Works with Copilot (Sonnet is enough; Opus/Fable for the final aggregation) or Claude on the web.</a:t>
            </a:r>
          </a:p>
        </p:txBody>
      </p:sp>
      <p:sp>
        <p:nvSpPr>
          <p:cNvPr id="8" name="TextBox 7"/>
          <p:cNvSpPr txBox="1"/>
          <p:nvPr/>
        </p:nvSpPr>
        <p:spPr>
          <a:xfrm>
            <a:off x="6217920" y="1325880"/>
            <a:ext cx="5394960" cy="365760"/>
          </a:xfrm>
          <a:prstGeom prst="rect">
            <a:avLst/>
          </a:prstGeom>
          <a:noFill/>
        </p:spPr>
        <p:txBody>
          <a:bodyPr wrap="square" anchor="t" lIns="45720" rIns="45720" tIns="27432" bIns="27432">
            <a:spAutoFit/>
          </a:bodyPr>
          <a:lstStyle/>
          <a:p>
            <a:pPr algn="l"/>
            <a:r>
              <a:rPr sz="1600" b="1">
                <a:solidFill>
                  <a:srgbClr val="1E2761"/>
                </a:solidFill>
                <a:latin typeface="Calibri"/>
              </a:rPr>
              <a:t>Workflow in brief</a:t>
            </a:r>
          </a:p>
        </p:txBody>
      </p:sp>
      <p:sp>
        <p:nvSpPr>
          <p:cNvPr id="9" name="Oval 8"/>
          <p:cNvSpPr/>
          <p:nvPr/>
        </p:nvSpPr>
        <p:spPr>
          <a:xfrm>
            <a:off x="6217920" y="1801368"/>
            <a:ext cx="365760" cy="365760"/>
          </a:xfrm>
          <a:prstGeom prst="ellipse">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217920" y="1801368"/>
            <a:ext cx="365760" cy="365760"/>
          </a:xfrm>
          <a:prstGeom prst="rect">
            <a:avLst/>
          </a:prstGeom>
          <a:noFill/>
        </p:spPr>
        <p:txBody>
          <a:bodyPr wrap="square" anchor="ctr" lIns="45720" rIns="45720" tIns="27432" bIns="27432">
            <a:spAutoFit/>
          </a:bodyPr>
          <a:lstStyle/>
          <a:p>
            <a:pPr algn="ctr"/>
            <a:r>
              <a:rPr sz="1400" b="1">
                <a:solidFill>
                  <a:srgbClr val="FFFFFF"/>
                </a:solidFill>
                <a:latin typeface="Calibri"/>
              </a:rPr>
              <a:t>1</a:t>
            </a:r>
          </a:p>
        </p:txBody>
      </p:sp>
      <p:sp>
        <p:nvSpPr>
          <p:cNvPr id="11" name="TextBox 10"/>
          <p:cNvSpPr txBox="1"/>
          <p:nvPr/>
        </p:nvSpPr>
        <p:spPr>
          <a:xfrm>
            <a:off x="6720840" y="1783080"/>
            <a:ext cx="4892040" cy="822960"/>
          </a:xfrm>
          <a:prstGeom prst="rect">
            <a:avLst/>
          </a:prstGeom>
          <a:noFill/>
        </p:spPr>
        <p:txBody>
          <a:bodyPr wrap="square" anchor="t" lIns="45720" rIns="45720" tIns="27432" bIns="27432">
            <a:spAutoFit/>
          </a:bodyPr>
          <a:lstStyle/>
          <a:p>
            <a:pPr algn="l"/>
            <a:r>
              <a:rPr sz="1250" b="1">
                <a:solidFill>
                  <a:srgbClr val="1E2761"/>
                </a:solidFill>
                <a:latin typeface="Calibri"/>
              </a:rPr>
              <a:t>Clone the Excise repo into Repos\</a:t>
            </a:r>
          </a:p>
          <a:p>
            <a:pPr algn="l"/>
            <a:r>
              <a:rPr sz="1150" b="0">
                <a:solidFill>
                  <a:srgbClr val="1F1F2E"/>
                </a:solidFill>
                <a:latin typeface="Calibri"/>
              </a:rPr>
              <a:t>Or Download ZIP if you will not push anything back.</a:t>
            </a:r>
          </a:p>
        </p:txBody>
      </p:sp>
      <p:sp>
        <p:nvSpPr>
          <p:cNvPr id="12" name="Oval 11"/>
          <p:cNvSpPr/>
          <p:nvPr/>
        </p:nvSpPr>
        <p:spPr>
          <a:xfrm>
            <a:off x="6217920" y="2624328"/>
            <a:ext cx="365760" cy="365760"/>
          </a:xfrm>
          <a:prstGeom prst="ellipse">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217920" y="2624328"/>
            <a:ext cx="365760" cy="365760"/>
          </a:xfrm>
          <a:prstGeom prst="rect">
            <a:avLst/>
          </a:prstGeom>
          <a:noFill/>
        </p:spPr>
        <p:txBody>
          <a:bodyPr wrap="square" anchor="ctr" lIns="45720" rIns="45720" tIns="27432" bIns="27432">
            <a:spAutoFit/>
          </a:bodyPr>
          <a:lstStyle/>
          <a:p>
            <a:pPr algn="ctr"/>
            <a:r>
              <a:rPr sz="1400" b="1">
                <a:solidFill>
                  <a:srgbClr val="FFFFFF"/>
                </a:solidFill>
                <a:latin typeface="Calibri"/>
              </a:rPr>
              <a:t>2</a:t>
            </a:r>
          </a:p>
        </p:txBody>
      </p:sp>
      <p:sp>
        <p:nvSpPr>
          <p:cNvPr id="14" name="TextBox 13"/>
          <p:cNvSpPr txBox="1"/>
          <p:nvPr/>
        </p:nvSpPr>
        <p:spPr>
          <a:xfrm>
            <a:off x="6720840" y="2606040"/>
            <a:ext cx="4892040" cy="822960"/>
          </a:xfrm>
          <a:prstGeom prst="rect">
            <a:avLst/>
          </a:prstGeom>
          <a:noFill/>
        </p:spPr>
        <p:txBody>
          <a:bodyPr wrap="square" anchor="t" lIns="45720" rIns="45720" tIns="27432" bIns="27432">
            <a:spAutoFit/>
          </a:bodyPr>
          <a:lstStyle/>
          <a:p>
            <a:pPr algn="l"/>
            <a:r>
              <a:rPr sz="1250" b="1">
                <a:solidFill>
                  <a:srgbClr val="1E2761"/>
                </a:solidFill>
                <a:latin typeface="Calibri"/>
              </a:rPr>
              <a:t>Open it as a Copilot session (local mode)</a:t>
            </a:r>
          </a:p>
          <a:p>
            <a:pPr algn="l"/>
            <a:r>
              <a:rPr sz="1150" b="0">
                <a:solidFill>
                  <a:srgbClr val="1F1F2E"/>
                </a:solidFill>
                <a:latin typeface="Calibri"/>
              </a:rPr>
              <a:t>Attach the master .md file; for a sectoral run add Part 1–4.</a:t>
            </a:r>
          </a:p>
        </p:txBody>
      </p:sp>
      <p:sp>
        <p:nvSpPr>
          <p:cNvPr id="15" name="Oval 14"/>
          <p:cNvSpPr/>
          <p:nvPr/>
        </p:nvSpPr>
        <p:spPr>
          <a:xfrm>
            <a:off x="6217920" y="3447288"/>
            <a:ext cx="365760" cy="365760"/>
          </a:xfrm>
          <a:prstGeom prst="ellipse">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217920" y="3447288"/>
            <a:ext cx="365760" cy="365760"/>
          </a:xfrm>
          <a:prstGeom prst="rect">
            <a:avLst/>
          </a:prstGeom>
          <a:noFill/>
        </p:spPr>
        <p:txBody>
          <a:bodyPr wrap="square" anchor="ctr" lIns="45720" rIns="45720" tIns="27432" bIns="27432">
            <a:spAutoFit/>
          </a:bodyPr>
          <a:lstStyle/>
          <a:p>
            <a:pPr algn="ctr"/>
            <a:r>
              <a:rPr sz="1400" b="1">
                <a:solidFill>
                  <a:srgbClr val="FFFFFF"/>
                </a:solidFill>
                <a:latin typeface="Calibri"/>
              </a:rPr>
              <a:t>3</a:t>
            </a:r>
          </a:p>
        </p:txBody>
      </p:sp>
      <p:sp>
        <p:nvSpPr>
          <p:cNvPr id="17" name="TextBox 16"/>
          <p:cNvSpPr txBox="1"/>
          <p:nvPr/>
        </p:nvSpPr>
        <p:spPr>
          <a:xfrm>
            <a:off x="6720840" y="3429000"/>
            <a:ext cx="4892040" cy="822960"/>
          </a:xfrm>
          <a:prstGeom prst="rect">
            <a:avLst/>
          </a:prstGeom>
          <a:noFill/>
        </p:spPr>
        <p:txBody>
          <a:bodyPr wrap="square" anchor="t" lIns="45720" rIns="45720" tIns="27432" bIns="27432">
            <a:spAutoFit/>
          </a:bodyPr>
          <a:lstStyle/>
          <a:p>
            <a:pPr algn="l"/>
            <a:r>
              <a:rPr sz="1250" b="1">
                <a:solidFill>
                  <a:srgbClr val="1E2761"/>
                </a:solidFill>
                <a:latin typeface="Calibri"/>
              </a:rPr>
              <a:t>Run the stages</a:t>
            </a:r>
          </a:p>
          <a:p>
            <a:pPr algn="l"/>
            <a:r>
              <a:rPr sz="1150" b="0">
                <a:solidFill>
                  <a:srgbClr val="1F1F2E"/>
                </a:solidFill>
                <a:latin typeface="Calibri"/>
              </a:rPr>
              <a:t>Paste stage A1, check, then A2 … A6. If sources cannot be fetched, it gives you a links list and a .bat.</a:t>
            </a:r>
          </a:p>
        </p:txBody>
      </p:sp>
      <p:sp>
        <p:nvSpPr>
          <p:cNvPr id="18" name="Oval 17"/>
          <p:cNvSpPr/>
          <p:nvPr/>
        </p:nvSpPr>
        <p:spPr>
          <a:xfrm>
            <a:off x="6217920" y="4270248"/>
            <a:ext cx="365760" cy="365760"/>
          </a:xfrm>
          <a:prstGeom prst="ellipse">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217920" y="4270248"/>
            <a:ext cx="365760" cy="365760"/>
          </a:xfrm>
          <a:prstGeom prst="rect">
            <a:avLst/>
          </a:prstGeom>
          <a:noFill/>
        </p:spPr>
        <p:txBody>
          <a:bodyPr wrap="square" anchor="ctr" lIns="45720" rIns="45720" tIns="27432" bIns="27432">
            <a:spAutoFit/>
          </a:bodyPr>
          <a:lstStyle/>
          <a:p>
            <a:pPr algn="ctr"/>
            <a:r>
              <a:rPr sz="1400" b="1">
                <a:solidFill>
                  <a:srgbClr val="FFFFFF"/>
                </a:solidFill>
                <a:latin typeface="Calibri"/>
              </a:rPr>
              <a:t>4</a:t>
            </a:r>
          </a:p>
        </p:txBody>
      </p:sp>
      <p:sp>
        <p:nvSpPr>
          <p:cNvPr id="20" name="TextBox 19"/>
          <p:cNvSpPr txBox="1"/>
          <p:nvPr/>
        </p:nvSpPr>
        <p:spPr>
          <a:xfrm>
            <a:off x="6720840" y="4251960"/>
            <a:ext cx="4892040" cy="822960"/>
          </a:xfrm>
          <a:prstGeom prst="rect">
            <a:avLst/>
          </a:prstGeom>
          <a:noFill/>
        </p:spPr>
        <p:txBody>
          <a:bodyPr wrap="square" anchor="t" lIns="45720" rIns="45720" tIns="27432" bIns="27432">
            <a:spAutoFit/>
          </a:bodyPr>
          <a:lstStyle/>
          <a:p>
            <a:pPr algn="l"/>
            <a:r>
              <a:rPr sz="1250" b="1">
                <a:solidFill>
                  <a:srgbClr val="1E2761"/>
                </a:solidFill>
                <a:latin typeface="Calibri"/>
              </a:rPr>
              <a:t>Collect outputs</a:t>
            </a:r>
          </a:p>
          <a:p>
            <a:pPr algn="l"/>
            <a:r>
              <a:rPr sz="1150" b="0">
                <a:solidFill>
                  <a:srgbClr val="1F1F2E"/>
                </a:solidFill>
                <a:latin typeface="Calibri"/>
              </a:rPr>
              <a:t>Report (.docx) + workbook (.xlsx), every line traced to a source.</a:t>
            </a:r>
          </a:p>
        </p:txBody>
      </p:sp>
      <p:sp>
        <p:nvSpPr>
          <p:cNvPr id="21" name="Oval 20"/>
          <p:cNvSpPr/>
          <p:nvPr/>
        </p:nvSpPr>
        <p:spPr>
          <a:xfrm>
            <a:off x="6217920" y="5093207"/>
            <a:ext cx="365760" cy="365760"/>
          </a:xfrm>
          <a:prstGeom prst="ellipse">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217920" y="5093207"/>
            <a:ext cx="365760" cy="365760"/>
          </a:xfrm>
          <a:prstGeom prst="rect">
            <a:avLst/>
          </a:prstGeom>
          <a:noFill/>
        </p:spPr>
        <p:txBody>
          <a:bodyPr wrap="square" anchor="ctr" lIns="45720" rIns="45720" tIns="27432" bIns="27432">
            <a:spAutoFit/>
          </a:bodyPr>
          <a:lstStyle/>
          <a:p>
            <a:pPr algn="ctr"/>
            <a:r>
              <a:rPr sz="1400" b="1">
                <a:solidFill>
                  <a:srgbClr val="FFFFFF"/>
                </a:solidFill>
                <a:latin typeface="Calibri"/>
              </a:rPr>
              <a:t>5</a:t>
            </a:r>
          </a:p>
        </p:txBody>
      </p:sp>
      <p:sp>
        <p:nvSpPr>
          <p:cNvPr id="23" name="TextBox 22"/>
          <p:cNvSpPr txBox="1"/>
          <p:nvPr/>
        </p:nvSpPr>
        <p:spPr>
          <a:xfrm>
            <a:off x="6720840" y="5074920"/>
            <a:ext cx="4892040" cy="822960"/>
          </a:xfrm>
          <a:prstGeom prst="rect">
            <a:avLst/>
          </a:prstGeom>
          <a:noFill/>
        </p:spPr>
        <p:txBody>
          <a:bodyPr wrap="square" anchor="t" lIns="45720" rIns="45720" tIns="27432" bIns="27432">
            <a:spAutoFit/>
          </a:bodyPr>
          <a:lstStyle/>
          <a:p>
            <a:pPr algn="l"/>
            <a:r>
              <a:rPr sz="1250" b="1">
                <a:solidFill>
                  <a:srgbClr val="1E2761"/>
                </a:solidFill>
                <a:latin typeface="Calibri"/>
              </a:rPr>
              <a:t>Sync</a:t>
            </a:r>
          </a:p>
          <a:p>
            <a:pPr algn="l"/>
            <a:r>
              <a:rPr sz="1150" b="0">
                <a:solidFill>
                  <a:srgbClr val="1F1F2E"/>
                </a:solidFill>
                <a:latin typeface="Calibri"/>
              </a:rPr>
              <a:t>SyncRepo.bat to push the country results.</a:t>
            </a:r>
          </a:p>
        </p:txBody>
      </p:sp>
      <p:sp>
        <p:nvSpPr>
          <p:cNvPr id="24" name="Rectangle 23"/>
          <p:cNvSpPr/>
          <p:nvPr/>
        </p:nvSpPr>
        <p:spPr>
          <a:xfrm>
            <a:off x="6217920" y="5943600"/>
            <a:ext cx="5422392" cy="347472"/>
          </a:xfrm>
          <a:prstGeom prst="rect">
            <a:avLst/>
          </a:prstGeom>
          <a:solidFill>
            <a:srgbClr val="E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355080" y="5943600"/>
            <a:ext cx="5212080" cy="347472"/>
          </a:xfrm>
          <a:prstGeom prst="rect">
            <a:avLst/>
          </a:prstGeom>
          <a:noFill/>
        </p:spPr>
        <p:txBody>
          <a:bodyPr wrap="square" anchor="ctr" lIns="45720" rIns="45720" tIns="27432" bIns="27432">
            <a:spAutoFit/>
          </a:bodyPr>
          <a:lstStyle/>
          <a:p>
            <a:pPr algn="l"/>
            <a:r>
              <a:rPr sz="1100" b="1">
                <a:solidFill>
                  <a:srgbClr val="0F7B6C"/>
                </a:solidFill>
                <a:latin typeface="Calibri"/>
              </a:rPr>
              <a:t>Full detail, with pictures: Excise_Diagnostic_User_Guide.pptx (21 slides, same folder).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7315200" cy="274320"/>
          </a:xfrm>
          <a:prstGeom prst="rect">
            <a:avLst/>
          </a:prstGeom>
          <a:noFill/>
        </p:spPr>
        <p:txBody>
          <a:bodyPr wrap="square" anchor="t" lIns="45720" rIns="45720" tIns="27432" bIns="27432">
            <a:spAutoFit/>
          </a:bodyPr>
          <a:lstStyle/>
          <a:p>
            <a:pPr algn="l"/>
            <a:r>
              <a:rPr sz="1200" b="1">
                <a:solidFill>
                  <a:srgbClr val="0F7B6C"/>
                </a:solidFill>
                <a:latin typeface="Calibri"/>
              </a:rPr>
              <a:t>APPENDIX 2 · TOOL 2 · TAX AND MACRO-FISCAL DASHBOARD</a:t>
            </a:r>
          </a:p>
        </p:txBody>
      </p:sp>
      <p:sp>
        <p:nvSpPr>
          <p:cNvPr id="3" name="TextBox 2"/>
          <p:cNvSpPr txBox="1"/>
          <p:nvPr/>
        </p:nvSpPr>
        <p:spPr>
          <a:xfrm>
            <a:off x="548640" y="502920"/>
            <a:ext cx="11064240" cy="685800"/>
          </a:xfrm>
          <a:prstGeom prst="rect">
            <a:avLst/>
          </a:prstGeom>
          <a:noFill/>
        </p:spPr>
        <p:txBody>
          <a:bodyPr wrap="square" anchor="t" lIns="45720" rIns="45720" tIns="27432" bIns="27432">
            <a:spAutoFit/>
          </a:bodyPr>
          <a:lstStyle/>
          <a:p>
            <a:pPr algn="l"/>
            <a:r>
              <a:rPr sz="3000" b="0">
                <a:solidFill>
                  <a:srgbClr val="1E2761"/>
                </a:solidFill>
                <a:latin typeface="Cambria"/>
              </a:rPr>
              <a:t>Adding a data source: download, drop in the data folder, ask Copilot</a:t>
            </a:r>
          </a:p>
        </p:txBody>
      </p:sp>
      <p:sp>
        <p:nvSpPr>
          <p:cNvPr id="4" name="TextBox 3"/>
          <p:cNvSpPr txBox="1"/>
          <p:nvPr/>
        </p:nvSpPr>
        <p:spPr>
          <a:xfrm>
            <a:off x="548640" y="6473952"/>
            <a:ext cx="8686800" cy="228600"/>
          </a:xfrm>
          <a:prstGeom prst="rect">
            <a:avLst/>
          </a:prstGeom>
          <a:noFill/>
        </p:spPr>
        <p:txBody>
          <a:bodyPr wrap="square" anchor="t" lIns="45720" rIns="45720" tIns="27432" bIns="27432">
            <a:spAutoFit/>
          </a:bodyPr>
          <a:lstStyle/>
          <a:p>
            <a:pPr algn="l"/>
            <a:r>
              <a:rPr sz="900" b="0">
                <a:solidFill>
                  <a:srgbClr val="5C667A"/>
                </a:solidFill>
                <a:latin typeface="Calibri"/>
              </a:rPr>
              <a:t>Using GitHub Copilot with our repositories: user guide   ·   Screens and model names change over time</a:t>
            </a:r>
          </a:p>
        </p:txBody>
      </p:sp>
      <p:sp>
        <p:nvSpPr>
          <p:cNvPr id="5" name="Rectangle 4"/>
          <p:cNvSpPr/>
          <p:nvPr/>
        </p:nvSpPr>
        <p:spPr>
          <a:xfrm>
            <a:off x="548640" y="1371600"/>
            <a:ext cx="11091672" cy="146304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868680" y="1554480"/>
            <a:ext cx="2194560" cy="1097280"/>
          </a:xfrm>
          <a:prstGeom prst="rect">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68680" y="1554480"/>
            <a:ext cx="2194560" cy="1097280"/>
          </a:xfrm>
          <a:prstGeom prst="rect">
            <a:avLst/>
          </a:prstGeom>
          <a:noFill/>
        </p:spPr>
        <p:txBody>
          <a:bodyPr wrap="square" anchor="ctr" lIns="45720" rIns="45720" tIns="27432" bIns="27432">
            <a:spAutoFit/>
          </a:bodyPr>
          <a:lstStyle/>
          <a:p>
            <a:pPr algn="ctr"/>
            <a:r>
              <a:rPr sz="1400" b="1">
                <a:solidFill>
                  <a:srgbClr val="FFFFFF"/>
                </a:solidFill>
                <a:latin typeface="Calibri"/>
              </a:rPr>
              <a:t>Raw files</a:t>
            </a:r>
          </a:p>
          <a:p>
            <a:pPr algn="ctr"/>
            <a:r>
              <a:rPr sz="1100" b="0">
                <a:solidFill>
                  <a:srgbClr val="FFFFFF"/>
                </a:solidFill>
                <a:latin typeface="Calibri"/>
              </a:rPr>
              <a:t>raw_data\ folder</a:t>
            </a:r>
          </a:p>
        </p:txBody>
      </p:sp>
      <p:cxnSp>
        <p:nvCxnSpPr>
          <p:cNvPr id="8" name="Connector 7"/>
          <p:cNvCxnSpPr/>
          <p:nvPr/>
        </p:nvCxnSpPr>
        <p:spPr>
          <a:xfrm>
            <a:off x="3081528" y="2103120"/>
            <a:ext cx="557783" cy="0"/>
          </a:xfrm>
          <a:prstGeom prst="line">
            <a:avLst/>
          </a:prstGeom>
          <a:ln w="19050">
            <a:solidFill>
              <a:srgbClr val="5C66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3657600" y="1554480"/>
            <a:ext cx="2194560" cy="1097280"/>
          </a:xfrm>
          <a:prstGeom prst="rect">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657600" y="1554480"/>
            <a:ext cx="2194560" cy="1097280"/>
          </a:xfrm>
          <a:prstGeom prst="rect">
            <a:avLst/>
          </a:prstGeom>
          <a:noFill/>
        </p:spPr>
        <p:txBody>
          <a:bodyPr wrap="square" anchor="ctr" lIns="45720" rIns="45720" tIns="27432" bIns="27432">
            <a:spAutoFit/>
          </a:bodyPr>
          <a:lstStyle/>
          <a:p>
            <a:pPr algn="ctr"/>
            <a:r>
              <a:rPr sz="1400" b="1">
                <a:solidFill>
                  <a:srgbClr val="FFFFFF"/>
                </a:solidFill>
                <a:latin typeface="Calibri"/>
              </a:rPr>
              <a:t>Build script</a:t>
            </a:r>
          </a:p>
          <a:p>
            <a:pPr algn="ctr"/>
            <a:r>
              <a:rPr sz="1100" b="0">
                <a:solidFill>
                  <a:srgbClr val="FFFFFF"/>
                </a:solidFill>
                <a:latin typeface="Calibri"/>
              </a:rPr>
              <a:t>Python, one loader per source</a:t>
            </a:r>
          </a:p>
        </p:txBody>
      </p:sp>
      <p:cxnSp>
        <p:nvCxnSpPr>
          <p:cNvPr id="11" name="Connector 10"/>
          <p:cNvCxnSpPr/>
          <p:nvPr/>
        </p:nvCxnSpPr>
        <p:spPr>
          <a:xfrm>
            <a:off x="5870448" y="2103120"/>
            <a:ext cx="557783" cy="0"/>
          </a:xfrm>
          <a:prstGeom prst="line">
            <a:avLst/>
          </a:prstGeom>
          <a:ln w="19050">
            <a:solidFill>
              <a:srgbClr val="5C66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6446520" y="1554480"/>
            <a:ext cx="2194560" cy="1097280"/>
          </a:xfrm>
          <a:prstGeom prst="rect">
            <a:avLst/>
          </a:prstGeom>
          <a:solidFill>
            <a:srgbClr val="2E3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46520" y="1554480"/>
            <a:ext cx="2194560" cy="1097280"/>
          </a:xfrm>
          <a:prstGeom prst="rect">
            <a:avLst/>
          </a:prstGeom>
          <a:noFill/>
        </p:spPr>
        <p:txBody>
          <a:bodyPr wrap="square" anchor="ctr" lIns="45720" rIns="45720" tIns="27432" bIns="27432">
            <a:spAutoFit/>
          </a:bodyPr>
          <a:lstStyle/>
          <a:p>
            <a:pPr algn="ctr"/>
            <a:r>
              <a:rPr sz="1400" b="1">
                <a:solidFill>
                  <a:srgbClr val="FFFFFF"/>
                </a:solidFill>
                <a:latin typeface="Calibri"/>
              </a:rPr>
              <a:t>Database</a:t>
            </a:r>
          </a:p>
          <a:p>
            <a:pPr algn="ctr"/>
            <a:r>
              <a:rPr sz="1100" b="0">
                <a:solidFill>
                  <a:srgbClr val="FFFFFF"/>
                </a:solidFill>
                <a:latin typeface="Calibri"/>
              </a:rPr>
              <a:t>one tidy table</a:t>
            </a:r>
          </a:p>
        </p:txBody>
      </p:sp>
      <p:cxnSp>
        <p:nvCxnSpPr>
          <p:cNvPr id="14" name="Connector 13"/>
          <p:cNvCxnSpPr/>
          <p:nvPr/>
        </p:nvCxnSpPr>
        <p:spPr>
          <a:xfrm>
            <a:off x="8659367" y="2103120"/>
            <a:ext cx="557785" cy="0"/>
          </a:xfrm>
          <a:prstGeom prst="line">
            <a:avLst/>
          </a:prstGeom>
          <a:ln w="19050">
            <a:solidFill>
              <a:srgbClr val="5C66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9235439" y="1554480"/>
            <a:ext cx="2194560" cy="1097280"/>
          </a:xfrm>
          <a:prstGeom prst="rect">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235439" y="1554480"/>
            <a:ext cx="2194560" cy="1097280"/>
          </a:xfrm>
          <a:prstGeom prst="rect">
            <a:avLst/>
          </a:prstGeom>
          <a:noFill/>
        </p:spPr>
        <p:txBody>
          <a:bodyPr wrap="square" anchor="ctr" lIns="45720" rIns="45720" tIns="27432" bIns="27432">
            <a:spAutoFit/>
          </a:bodyPr>
          <a:lstStyle/>
          <a:p>
            <a:pPr algn="ctr"/>
            <a:r>
              <a:rPr sz="1400" b="1">
                <a:solidFill>
                  <a:srgbClr val="FFFFFF"/>
                </a:solidFill>
                <a:latin typeface="Calibri"/>
              </a:rPr>
              <a:t>Dashboard</a:t>
            </a:r>
          </a:p>
          <a:p>
            <a:pPr algn="ctr"/>
            <a:r>
              <a:rPr sz="1100" b="0">
                <a:solidFill>
                  <a:srgbClr val="FFFFFF"/>
                </a:solidFill>
                <a:latin typeface="Calibri"/>
              </a:rPr>
              <a:t>Excel reads the database</a:t>
            </a:r>
          </a:p>
        </p:txBody>
      </p:sp>
      <p:sp>
        <p:nvSpPr>
          <p:cNvPr id="17" name="TextBox 16"/>
          <p:cNvSpPr txBox="1"/>
          <p:nvPr/>
        </p:nvSpPr>
        <p:spPr>
          <a:xfrm>
            <a:off x="548640" y="3017520"/>
            <a:ext cx="5486400" cy="365760"/>
          </a:xfrm>
          <a:prstGeom prst="rect">
            <a:avLst/>
          </a:prstGeom>
          <a:noFill/>
        </p:spPr>
        <p:txBody>
          <a:bodyPr wrap="square" anchor="t" lIns="45720" rIns="45720" tIns="27432" bIns="27432">
            <a:spAutoFit/>
          </a:bodyPr>
          <a:lstStyle/>
          <a:p>
            <a:pPr algn="l"/>
            <a:r>
              <a:rPr sz="1600" b="1">
                <a:solidFill>
                  <a:srgbClr val="1E2761"/>
                </a:solidFill>
                <a:latin typeface="Calibri"/>
              </a:rPr>
              <a:t>Five steps to add a source</a:t>
            </a:r>
          </a:p>
        </p:txBody>
      </p:sp>
      <p:sp>
        <p:nvSpPr>
          <p:cNvPr id="18" name="Oval 17"/>
          <p:cNvSpPr/>
          <p:nvPr/>
        </p:nvSpPr>
        <p:spPr>
          <a:xfrm>
            <a:off x="548640" y="3447288"/>
            <a:ext cx="365760" cy="365760"/>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48640" y="3447288"/>
            <a:ext cx="365760" cy="365760"/>
          </a:xfrm>
          <a:prstGeom prst="rect">
            <a:avLst/>
          </a:prstGeom>
          <a:noFill/>
        </p:spPr>
        <p:txBody>
          <a:bodyPr wrap="square" anchor="ctr" lIns="45720" rIns="45720" tIns="27432" bIns="27432">
            <a:spAutoFit/>
          </a:bodyPr>
          <a:lstStyle/>
          <a:p>
            <a:pPr algn="ctr"/>
            <a:r>
              <a:rPr sz="1400" b="1">
                <a:solidFill>
                  <a:srgbClr val="FFFFFF"/>
                </a:solidFill>
                <a:latin typeface="Calibri"/>
              </a:rPr>
              <a:t>1</a:t>
            </a:r>
          </a:p>
        </p:txBody>
      </p:sp>
      <p:sp>
        <p:nvSpPr>
          <p:cNvPr id="20" name="TextBox 19"/>
          <p:cNvSpPr txBox="1"/>
          <p:nvPr/>
        </p:nvSpPr>
        <p:spPr>
          <a:xfrm>
            <a:off x="1051560" y="3429000"/>
            <a:ext cx="5074920" cy="868680"/>
          </a:xfrm>
          <a:prstGeom prst="rect">
            <a:avLst/>
          </a:prstGeom>
          <a:noFill/>
        </p:spPr>
        <p:txBody>
          <a:bodyPr wrap="square" anchor="t" lIns="45720" rIns="45720" tIns="27432" bIns="27432">
            <a:spAutoFit/>
          </a:bodyPr>
          <a:lstStyle/>
          <a:p>
            <a:pPr algn="l"/>
            <a:r>
              <a:rPr sz="1250" b="1">
                <a:solidFill>
                  <a:srgbClr val="1E2761"/>
                </a:solidFill>
                <a:latin typeface="Calibri"/>
              </a:rPr>
              <a:t>Find and download the data</a:t>
            </a:r>
          </a:p>
          <a:p>
            <a:pPr algn="l"/>
            <a:r>
              <a:rPr sz="1150" b="0">
                <a:solidFill>
                  <a:srgbClr val="1F1F2E"/>
                </a:solidFill>
                <a:latin typeface="Calibri"/>
              </a:rPr>
              <a:t>Ask Copilot to find a source and report its country/year coverage before you commit to it.</a:t>
            </a:r>
          </a:p>
        </p:txBody>
      </p:sp>
      <p:sp>
        <p:nvSpPr>
          <p:cNvPr id="21" name="Oval 20"/>
          <p:cNvSpPr/>
          <p:nvPr/>
        </p:nvSpPr>
        <p:spPr>
          <a:xfrm>
            <a:off x="548640" y="4315968"/>
            <a:ext cx="365760" cy="365760"/>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48640" y="4315968"/>
            <a:ext cx="365760" cy="365760"/>
          </a:xfrm>
          <a:prstGeom prst="rect">
            <a:avLst/>
          </a:prstGeom>
          <a:noFill/>
        </p:spPr>
        <p:txBody>
          <a:bodyPr wrap="square" anchor="ctr" lIns="45720" rIns="45720" tIns="27432" bIns="27432">
            <a:spAutoFit/>
          </a:bodyPr>
          <a:lstStyle/>
          <a:p>
            <a:pPr algn="ctr"/>
            <a:r>
              <a:rPr sz="1400" b="1">
                <a:solidFill>
                  <a:srgbClr val="FFFFFF"/>
                </a:solidFill>
                <a:latin typeface="Calibri"/>
              </a:rPr>
              <a:t>2</a:t>
            </a:r>
          </a:p>
        </p:txBody>
      </p:sp>
      <p:sp>
        <p:nvSpPr>
          <p:cNvPr id="23" name="TextBox 22"/>
          <p:cNvSpPr txBox="1"/>
          <p:nvPr/>
        </p:nvSpPr>
        <p:spPr>
          <a:xfrm>
            <a:off x="1051560" y="4297680"/>
            <a:ext cx="5074920" cy="868680"/>
          </a:xfrm>
          <a:prstGeom prst="rect">
            <a:avLst/>
          </a:prstGeom>
          <a:noFill/>
        </p:spPr>
        <p:txBody>
          <a:bodyPr wrap="square" anchor="t" lIns="45720" rIns="45720" tIns="27432" bIns="27432">
            <a:spAutoFit/>
          </a:bodyPr>
          <a:lstStyle/>
          <a:p>
            <a:pPr algn="l"/>
            <a:r>
              <a:rPr sz="1250" b="1">
                <a:solidFill>
                  <a:srgbClr val="1E2761"/>
                </a:solidFill>
                <a:latin typeface="Calibri"/>
              </a:rPr>
              <a:t>Put the file in the main data folder (raw_data\)</a:t>
            </a:r>
          </a:p>
          <a:p>
            <a:pPr algn="l"/>
            <a:r>
              <a:rPr sz="1150" b="0">
                <a:solidFill>
                  <a:srgbClr val="1F1F2E"/>
                </a:solidFill>
                <a:latin typeface="Calibri"/>
              </a:rPr>
              <a:t>Then show it to Copilot: 'Here is the new file; look at its structure.'</a:t>
            </a:r>
          </a:p>
        </p:txBody>
      </p:sp>
      <p:sp>
        <p:nvSpPr>
          <p:cNvPr id="24" name="Oval 23"/>
          <p:cNvSpPr/>
          <p:nvPr/>
        </p:nvSpPr>
        <p:spPr>
          <a:xfrm>
            <a:off x="548640" y="5184648"/>
            <a:ext cx="365760" cy="365760"/>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48640" y="5184648"/>
            <a:ext cx="365760" cy="365760"/>
          </a:xfrm>
          <a:prstGeom prst="rect">
            <a:avLst/>
          </a:prstGeom>
          <a:noFill/>
        </p:spPr>
        <p:txBody>
          <a:bodyPr wrap="square" anchor="ctr" lIns="45720" rIns="45720" tIns="27432" bIns="27432">
            <a:spAutoFit/>
          </a:bodyPr>
          <a:lstStyle/>
          <a:p>
            <a:pPr algn="ctr"/>
            <a:r>
              <a:rPr sz="1400" b="1">
                <a:solidFill>
                  <a:srgbClr val="FFFFFF"/>
                </a:solidFill>
                <a:latin typeface="Calibri"/>
              </a:rPr>
              <a:t>3</a:t>
            </a:r>
          </a:p>
        </p:txBody>
      </p:sp>
      <p:sp>
        <p:nvSpPr>
          <p:cNvPr id="26" name="TextBox 25"/>
          <p:cNvSpPr txBox="1"/>
          <p:nvPr/>
        </p:nvSpPr>
        <p:spPr>
          <a:xfrm>
            <a:off x="1051560" y="5166360"/>
            <a:ext cx="5074920" cy="868680"/>
          </a:xfrm>
          <a:prstGeom prst="rect">
            <a:avLst/>
          </a:prstGeom>
          <a:noFill/>
        </p:spPr>
        <p:txBody>
          <a:bodyPr wrap="square" anchor="t" lIns="45720" rIns="45720" tIns="27432" bIns="27432">
            <a:spAutoFit/>
          </a:bodyPr>
          <a:lstStyle/>
          <a:p>
            <a:pPr algn="l"/>
            <a:r>
              <a:rPr sz="1250" b="1">
                <a:solidFill>
                  <a:srgbClr val="1E2761"/>
                </a:solidFill>
                <a:latin typeface="Calibri"/>
              </a:rPr>
              <a:t>Ask Copilot to incorporate it into the database</a:t>
            </a:r>
          </a:p>
          <a:p>
            <a:pPr algn="l"/>
            <a:r>
              <a:rPr sz="1150" b="0">
                <a:solidFill>
                  <a:srgbClr val="1F1F2E"/>
                </a:solidFill>
                <a:latin typeface="Calibri"/>
              </a:rPr>
              <a:t>'Add a loader following the existing pattern for X, and rebuild the database.'</a:t>
            </a:r>
          </a:p>
        </p:txBody>
      </p:sp>
      <p:sp>
        <p:nvSpPr>
          <p:cNvPr id="27" name="Oval 26"/>
          <p:cNvSpPr/>
          <p:nvPr/>
        </p:nvSpPr>
        <p:spPr>
          <a:xfrm>
            <a:off x="6309360" y="3447288"/>
            <a:ext cx="365760" cy="365760"/>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309360" y="3447288"/>
            <a:ext cx="365760" cy="365760"/>
          </a:xfrm>
          <a:prstGeom prst="rect">
            <a:avLst/>
          </a:prstGeom>
          <a:noFill/>
        </p:spPr>
        <p:txBody>
          <a:bodyPr wrap="square" anchor="ctr" lIns="45720" rIns="45720" tIns="27432" bIns="27432">
            <a:spAutoFit/>
          </a:bodyPr>
          <a:lstStyle/>
          <a:p>
            <a:pPr algn="ctr"/>
            <a:r>
              <a:rPr sz="1400" b="1">
                <a:solidFill>
                  <a:srgbClr val="FFFFFF"/>
                </a:solidFill>
                <a:latin typeface="Calibri"/>
              </a:rPr>
              <a:t>4</a:t>
            </a:r>
          </a:p>
        </p:txBody>
      </p:sp>
      <p:sp>
        <p:nvSpPr>
          <p:cNvPr id="29" name="TextBox 28"/>
          <p:cNvSpPr txBox="1"/>
          <p:nvPr/>
        </p:nvSpPr>
        <p:spPr>
          <a:xfrm>
            <a:off x="6812280" y="3429000"/>
            <a:ext cx="4800600" cy="868680"/>
          </a:xfrm>
          <a:prstGeom prst="rect">
            <a:avLst/>
          </a:prstGeom>
          <a:noFill/>
        </p:spPr>
        <p:txBody>
          <a:bodyPr wrap="square" anchor="t" lIns="45720" rIns="45720" tIns="27432" bIns="27432">
            <a:spAutoFit/>
          </a:bodyPr>
          <a:lstStyle/>
          <a:p>
            <a:pPr algn="l"/>
            <a:r>
              <a:rPr sz="1250" b="1">
                <a:solidFill>
                  <a:srgbClr val="1E2761"/>
                </a:solidFill>
                <a:latin typeface="Calibri"/>
              </a:rPr>
              <a:t>Declare it</a:t>
            </a:r>
          </a:p>
          <a:p>
            <a:pPr algn="l"/>
            <a:r>
              <a:rPr sz="1150" b="0">
                <a:solidFill>
                  <a:srgbClr val="1F1F2E"/>
                </a:solidFill>
                <a:latin typeface="Calibri"/>
              </a:rPr>
              <a:t>One row in config\indicators.csv decides how it appears in the dashboard.</a:t>
            </a:r>
          </a:p>
        </p:txBody>
      </p:sp>
      <p:sp>
        <p:nvSpPr>
          <p:cNvPr id="30" name="Oval 29"/>
          <p:cNvSpPr/>
          <p:nvPr/>
        </p:nvSpPr>
        <p:spPr>
          <a:xfrm>
            <a:off x="6309360" y="4315968"/>
            <a:ext cx="365760" cy="365760"/>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309360" y="4315968"/>
            <a:ext cx="365760" cy="365760"/>
          </a:xfrm>
          <a:prstGeom prst="rect">
            <a:avLst/>
          </a:prstGeom>
          <a:noFill/>
        </p:spPr>
        <p:txBody>
          <a:bodyPr wrap="square" anchor="ctr" lIns="45720" rIns="45720" tIns="27432" bIns="27432">
            <a:spAutoFit/>
          </a:bodyPr>
          <a:lstStyle/>
          <a:p>
            <a:pPr algn="ctr"/>
            <a:r>
              <a:rPr sz="1400" b="1">
                <a:solidFill>
                  <a:srgbClr val="FFFFFF"/>
                </a:solidFill>
                <a:latin typeface="Calibri"/>
              </a:rPr>
              <a:t>5</a:t>
            </a:r>
          </a:p>
        </p:txBody>
      </p:sp>
      <p:sp>
        <p:nvSpPr>
          <p:cNvPr id="32" name="TextBox 31"/>
          <p:cNvSpPr txBox="1"/>
          <p:nvPr/>
        </p:nvSpPr>
        <p:spPr>
          <a:xfrm>
            <a:off x="6812280" y="4297680"/>
            <a:ext cx="4800600" cy="868680"/>
          </a:xfrm>
          <a:prstGeom prst="rect">
            <a:avLst/>
          </a:prstGeom>
          <a:noFill/>
        </p:spPr>
        <p:txBody>
          <a:bodyPr wrap="square" anchor="t" lIns="45720" rIns="45720" tIns="27432" bIns="27432">
            <a:spAutoFit/>
          </a:bodyPr>
          <a:lstStyle/>
          <a:p>
            <a:pPr algn="l"/>
            <a:r>
              <a:rPr sz="1250" b="1">
                <a:solidFill>
                  <a:srgbClr val="1E2761"/>
                </a:solidFill>
                <a:latin typeface="Calibri"/>
              </a:rPr>
              <a:t>Check and commit</a:t>
            </a:r>
          </a:p>
          <a:p>
            <a:pPr algn="l"/>
            <a:r>
              <a:rPr sz="1150" b="0">
                <a:solidFill>
                  <a:srgbClr val="1F1F2E"/>
                </a:solidFill>
                <a:latin typeface="Calibri"/>
              </a:rPr>
              <a:t>Open the workbook, pick a country, confirm the new indicator fills in. Then SyncRepo.bat.</a:t>
            </a:r>
          </a:p>
        </p:txBody>
      </p:sp>
      <p:sp>
        <p:nvSpPr>
          <p:cNvPr id="33" name="Rectangle 32"/>
          <p:cNvSpPr/>
          <p:nvPr/>
        </p:nvSpPr>
        <p:spPr>
          <a:xfrm>
            <a:off x="6309360" y="5212080"/>
            <a:ext cx="5330952" cy="1051560"/>
          </a:xfrm>
          <a:prstGeom prst="rect">
            <a:avLst/>
          </a:prstGeom>
          <a:solidFill>
            <a:srgbClr val="E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46520" y="5212080"/>
            <a:ext cx="5120640" cy="1051560"/>
          </a:xfrm>
          <a:prstGeom prst="rect">
            <a:avLst/>
          </a:prstGeom>
          <a:noFill/>
        </p:spPr>
        <p:txBody>
          <a:bodyPr wrap="square" anchor="ctr" lIns="45720" rIns="45720" tIns="27432" bIns="27432">
            <a:spAutoFit/>
          </a:bodyPr>
          <a:lstStyle/>
          <a:p>
            <a:pPr algn="l"/>
            <a:r>
              <a:rPr sz="1150" b="1">
                <a:solidFill>
                  <a:srgbClr val="0F7B6C"/>
                </a:solidFill>
                <a:latin typeface="Calibri"/>
              </a:rPr>
              <a:t>Tip: tell Copilot to copy an existing loader rather than invent a new one. Sonnet handles this well.</a:t>
            </a:r>
          </a:p>
          <a:p>
            <a:pPr algn="l">
              <a:spcBef>
                <a:spcPts val="400"/>
              </a:spcBef>
            </a:pPr>
            <a:r>
              <a:rPr sz="1100" b="0">
                <a:solidFill>
                  <a:srgbClr val="0F7B6C"/>
                </a:solidFill>
                <a:latin typeface="Calibri"/>
              </a:rPr>
              <a:t>Full detail: TaxMacroFiscalDashboard-user-guide.pptx (14 slides, same folder).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7315200" cy="274320"/>
          </a:xfrm>
          <a:prstGeom prst="rect">
            <a:avLst/>
          </a:prstGeom>
          <a:noFill/>
        </p:spPr>
        <p:txBody>
          <a:bodyPr wrap="square" anchor="t" lIns="45720" rIns="45720" tIns="27432" bIns="27432">
            <a:spAutoFit/>
          </a:bodyPr>
          <a:lstStyle/>
          <a:p>
            <a:pPr algn="l"/>
            <a:r>
              <a:rPr sz="1200" b="1">
                <a:solidFill>
                  <a:srgbClr val="0F7B6C"/>
                </a:solidFill>
                <a:latin typeface="Calibri"/>
              </a:rPr>
              <a:t>APPENDIX 2 · TOOLS 3 &amp; 4 · CPAT</a:t>
            </a:r>
          </a:p>
        </p:txBody>
      </p:sp>
      <p:sp>
        <p:nvSpPr>
          <p:cNvPr id="3" name="TextBox 2"/>
          <p:cNvSpPr txBox="1"/>
          <p:nvPr/>
        </p:nvSpPr>
        <p:spPr>
          <a:xfrm>
            <a:off x="548640" y="502920"/>
            <a:ext cx="11064240" cy="685800"/>
          </a:xfrm>
          <a:prstGeom prst="rect">
            <a:avLst/>
          </a:prstGeom>
          <a:noFill/>
        </p:spPr>
        <p:txBody>
          <a:bodyPr wrap="square" anchor="t" lIns="45720" rIns="45720" tIns="27432" bIns="27432">
            <a:spAutoFit/>
          </a:bodyPr>
          <a:lstStyle/>
          <a:p>
            <a:pPr algn="l"/>
            <a:r>
              <a:rPr sz="3000" b="0">
                <a:solidFill>
                  <a:srgbClr val="1E2761"/>
                </a:solidFill>
                <a:latin typeface="Cambria"/>
              </a:rPr>
              <a:t>CPAT-Excel-AI (instructions to follow) and CPAT-Python (coding)</a:t>
            </a:r>
          </a:p>
        </p:txBody>
      </p:sp>
      <p:sp>
        <p:nvSpPr>
          <p:cNvPr id="4" name="TextBox 3"/>
          <p:cNvSpPr txBox="1"/>
          <p:nvPr/>
        </p:nvSpPr>
        <p:spPr>
          <a:xfrm>
            <a:off x="548640" y="6473952"/>
            <a:ext cx="8686800" cy="228600"/>
          </a:xfrm>
          <a:prstGeom prst="rect">
            <a:avLst/>
          </a:prstGeom>
          <a:noFill/>
        </p:spPr>
        <p:txBody>
          <a:bodyPr wrap="square" anchor="t" lIns="45720" rIns="45720" tIns="27432" bIns="27432">
            <a:spAutoFit/>
          </a:bodyPr>
          <a:lstStyle/>
          <a:p>
            <a:pPr algn="l"/>
            <a:r>
              <a:rPr sz="900" b="0">
                <a:solidFill>
                  <a:srgbClr val="5C667A"/>
                </a:solidFill>
                <a:latin typeface="Calibri"/>
              </a:rPr>
              <a:t>Using GitHub Copilot with our repositories: user guide   ·   Screens and model names change over time</a:t>
            </a:r>
          </a:p>
        </p:txBody>
      </p:sp>
      <p:sp>
        <p:nvSpPr>
          <p:cNvPr id="5" name="Rectangle 4"/>
          <p:cNvSpPr/>
          <p:nvPr/>
        </p:nvSpPr>
        <p:spPr>
          <a:xfrm>
            <a:off x="548640" y="1371600"/>
            <a:ext cx="5394960" cy="489204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1371600"/>
            <a:ext cx="5394960" cy="91440"/>
          </a:xfrm>
          <a:prstGeom prst="rect">
            <a:avLst/>
          </a:prstGeom>
          <a:solidFill>
            <a:srgbClr val="2E3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600200"/>
            <a:ext cx="5029200" cy="365760"/>
          </a:xfrm>
          <a:prstGeom prst="rect">
            <a:avLst/>
          </a:prstGeom>
          <a:noFill/>
        </p:spPr>
        <p:txBody>
          <a:bodyPr wrap="square" anchor="t" lIns="45720" rIns="45720" tIns="27432" bIns="27432">
            <a:spAutoFit/>
          </a:bodyPr>
          <a:lstStyle/>
          <a:p>
            <a:pPr algn="l"/>
            <a:r>
              <a:rPr sz="1800" b="1">
                <a:solidFill>
                  <a:srgbClr val="1E2761"/>
                </a:solidFill>
                <a:latin typeface="Calibri"/>
              </a:rPr>
              <a:t>CPAT-Excel-AI</a:t>
            </a:r>
          </a:p>
        </p:txBody>
      </p:sp>
      <p:sp>
        <p:nvSpPr>
          <p:cNvPr id="8" name="TextBox 7"/>
          <p:cNvSpPr txBox="1"/>
          <p:nvPr/>
        </p:nvSpPr>
        <p:spPr>
          <a:xfrm>
            <a:off x="777240" y="2057400"/>
            <a:ext cx="4937760" cy="4114800"/>
          </a:xfrm>
          <a:prstGeom prst="rect">
            <a:avLst/>
          </a:prstGeom>
          <a:noFill/>
        </p:spPr>
        <p:txBody>
          <a:bodyPr wrap="square" anchor="t" lIns="45720" rIns="45720" tIns="27432" bIns="27432">
            <a:spAutoFit/>
          </a:bodyPr>
          <a:lstStyle/>
          <a:p>
            <a:pPr algn="l"/>
            <a:r>
              <a:rPr sz="1250" b="0">
                <a:solidFill>
                  <a:srgbClr val="1F1F2E"/>
                </a:solidFill>
                <a:latin typeface="Calibri"/>
              </a:rPr>
              <a:t>Copilot working alongside the CPAT Excel model: reading the workbook structure, tracing formulas, checking consistency, and drafting changes for a human to apply.</a:t>
            </a:r>
          </a:p>
          <a:p>
            <a:pPr algn="l">
              <a:spcBef>
                <a:spcPts val="1000"/>
              </a:spcBef>
            </a:pPr>
            <a:r>
              <a:rPr sz="1250" b="1">
                <a:solidFill>
                  <a:srgbClr val="2E3A7A"/>
                </a:solidFill>
                <a:latin typeface="Calibri"/>
              </a:rPr>
              <a:t>Detailed instructions will be provided later as their own guide in this folder.</a:t>
            </a:r>
          </a:p>
          <a:p>
            <a:pPr algn="l">
              <a:spcBef>
                <a:spcPts val="1000"/>
              </a:spcBef>
            </a:pPr>
            <a:r>
              <a:rPr sz="1250" b="0">
                <a:solidFill>
                  <a:srgbClr val="1F1F2E"/>
                </a:solidFill>
                <a:latin typeface="Calibri"/>
              </a:rPr>
              <a:t>Until then: keep the model in a Repos\ folder (not OneDrive), open it as a Copilot session, and use Opus or Fable for anything touching formulas. Always keep a copy of the workbook before accepting changes.</a:t>
            </a:r>
          </a:p>
        </p:txBody>
      </p:sp>
      <p:sp>
        <p:nvSpPr>
          <p:cNvPr id="9" name="Rectangle 8"/>
          <p:cNvSpPr/>
          <p:nvPr/>
        </p:nvSpPr>
        <p:spPr>
          <a:xfrm>
            <a:off x="6217920" y="1371600"/>
            <a:ext cx="5422392" cy="489204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6217920" y="1371600"/>
            <a:ext cx="5422392" cy="91440"/>
          </a:xfrm>
          <a:prstGeom prst="rect">
            <a:avLst/>
          </a:prstGeom>
          <a:solidFill>
            <a:srgbClr val="5C66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46520" y="1600200"/>
            <a:ext cx="5029200" cy="365760"/>
          </a:xfrm>
          <a:prstGeom prst="rect">
            <a:avLst/>
          </a:prstGeom>
          <a:noFill/>
        </p:spPr>
        <p:txBody>
          <a:bodyPr wrap="square" anchor="t" lIns="45720" rIns="45720" tIns="27432" bIns="27432">
            <a:spAutoFit/>
          </a:bodyPr>
          <a:lstStyle/>
          <a:p>
            <a:pPr algn="l"/>
            <a:r>
              <a:rPr sz="1800" b="1">
                <a:solidFill>
                  <a:srgbClr val="1E2761"/>
                </a:solidFill>
                <a:latin typeface="Calibri"/>
              </a:rPr>
              <a:t>CPAT-Python</a:t>
            </a:r>
          </a:p>
        </p:txBody>
      </p:sp>
      <p:sp>
        <p:nvSpPr>
          <p:cNvPr id="12" name="TextBox 11"/>
          <p:cNvSpPr txBox="1"/>
          <p:nvPr/>
        </p:nvSpPr>
        <p:spPr>
          <a:xfrm>
            <a:off x="6446520" y="2057400"/>
            <a:ext cx="5029200" cy="822960"/>
          </a:xfrm>
          <a:prstGeom prst="rect">
            <a:avLst/>
          </a:prstGeom>
          <a:noFill/>
        </p:spPr>
        <p:txBody>
          <a:bodyPr wrap="square" anchor="t" lIns="45720" rIns="45720" tIns="27432" bIns="27432">
            <a:spAutoFit/>
          </a:bodyPr>
          <a:lstStyle/>
          <a:p>
            <a:pPr algn="l"/>
            <a:r>
              <a:rPr sz="1250" b="0">
                <a:solidFill>
                  <a:srgbClr val="1F1F2E"/>
                </a:solidFill>
                <a:latin typeface="Calibri"/>
              </a:rPr>
              <a:t>A normal software project. Use Copilot the way a developer does:</a:t>
            </a:r>
          </a:p>
        </p:txBody>
      </p:sp>
      <p:sp>
        <p:nvSpPr>
          <p:cNvPr id="13" name="Oval 12"/>
          <p:cNvSpPr/>
          <p:nvPr/>
        </p:nvSpPr>
        <p:spPr>
          <a:xfrm>
            <a:off x="6446520" y="2761488"/>
            <a:ext cx="365760" cy="365760"/>
          </a:xfrm>
          <a:prstGeom prst="ellipse">
            <a:avLst/>
          </a:prstGeom>
          <a:solidFill>
            <a:srgbClr val="5C66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46520" y="2761488"/>
            <a:ext cx="365760" cy="365760"/>
          </a:xfrm>
          <a:prstGeom prst="rect">
            <a:avLst/>
          </a:prstGeom>
          <a:noFill/>
        </p:spPr>
        <p:txBody>
          <a:bodyPr wrap="square" anchor="ctr" lIns="45720" rIns="45720" tIns="27432" bIns="27432">
            <a:spAutoFit/>
          </a:bodyPr>
          <a:lstStyle/>
          <a:p>
            <a:pPr algn="ctr"/>
            <a:r>
              <a:rPr sz="1400" b="1">
                <a:solidFill>
                  <a:srgbClr val="FFFFFF"/>
                </a:solidFill>
                <a:latin typeface="Calibri"/>
              </a:rPr>
              <a:t>1</a:t>
            </a:r>
          </a:p>
        </p:txBody>
      </p:sp>
      <p:sp>
        <p:nvSpPr>
          <p:cNvPr id="15" name="TextBox 14"/>
          <p:cNvSpPr txBox="1"/>
          <p:nvPr/>
        </p:nvSpPr>
        <p:spPr>
          <a:xfrm>
            <a:off x="6949440" y="2743200"/>
            <a:ext cx="4526280" cy="777240"/>
          </a:xfrm>
          <a:prstGeom prst="rect">
            <a:avLst/>
          </a:prstGeom>
          <a:noFill/>
        </p:spPr>
        <p:txBody>
          <a:bodyPr wrap="square" anchor="t" lIns="45720" rIns="45720" tIns="27432" bIns="27432">
            <a:spAutoFit/>
          </a:bodyPr>
          <a:lstStyle/>
          <a:p>
            <a:pPr algn="l"/>
            <a:r>
              <a:rPr sz="1250" b="1">
                <a:solidFill>
                  <a:srgbClr val="1E2761"/>
                </a:solidFill>
                <a:latin typeface="Calibri"/>
              </a:rPr>
              <a:t>Sync, then open the repo as a session</a:t>
            </a:r>
          </a:p>
          <a:p>
            <a:pPr algn="l"/>
            <a:r>
              <a:rPr sz="1150" b="0">
                <a:solidFill>
                  <a:srgbClr val="1F1F2E"/>
                </a:solidFill>
                <a:latin typeface="Calibri"/>
              </a:rPr>
              <a:t>Local mode for small changes; worktree for larger features you want as a pull request.</a:t>
            </a:r>
          </a:p>
        </p:txBody>
      </p:sp>
      <p:sp>
        <p:nvSpPr>
          <p:cNvPr id="16" name="Oval 15"/>
          <p:cNvSpPr/>
          <p:nvPr/>
        </p:nvSpPr>
        <p:spPr>
          <a:xfrm>
            <a:off x="6446520" y="3538728"/>
            <a:ext cx="365760" cy="365760"/>
          </a:xfrm>
          <a:prstGeom prst="ellipse">
            <a:avLst/>
          </a:prstGeom>
          <a:solidFill>
            <a:srgbClr val="5C66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46520" y="3538728"/>
            <a:ext cx="365760" cy="365760"/>
          </a:xfrm>
          <a:prstGeom prst="rect">
            <a:avLst/>
          </a:prstGeom>
          <a:noFill/>
        </p:spPr>
        <p:txBody>
          <a:bodyPr wrap="square" anchor="ctr" lIns="45720" rIns="45720" tIns="27432" bIns="27432">
            <a:spAutoFit/>
          </a:bodyPr>
          <a:lstStyle/>
          <a:p>
            <a:pPr algn="ctr"/>
            <a:r>
              <a:rPr sz="1400" b="1">
                <a:solidFill>
                  <a:srgbClr val="FFFFFF"/>
                </a:solidFill>
                <a:latin typeface="Calibri"/>
              </a:rPr>
              <a:t>2</a:t>
            </a:r>
          </a:p>
        </p:txBody>
      </p:sp>
      <p:sp>
        <p:nvSpPr>
          <p:cNvPr id="18" name="TextBox 17"/>
          <p:cNvSpPr txBox="1"/>
          <p:nvPr/>
        </p:nvSpPr>
        <p:spPr>
          <a:xfrm>
            <a:off x="6949440" y="3520440"/>
            <a:ext cx="4526280" cy="777240"/>
          </a:xfrm>
          <a:prstGeom prst="rect">
            <a:avLst/>
          </a:prstGeom>
          <a:noFill/>
        </p:spPr>
        <p:txBody>
          <a:bodyPr wrap="square" anchor="t" lIns="45720" rIns="45720" tIns="27432" bIns="27432">
            <a:spAutoFit/>
          </a:bodyPr>
          <a:lstStyle/>
          <a:p>
            <a:pPr algn="l"/>
            <a:r>
              <a:rPr sz="1250" b="1">
                <a:solidFill>
                  <a:srgbClr val="1E2761"/>
                </a:solidFill>
                <a:latin typeface="Calibri"/>
              </a:rPr>
              <a:t>Describe the change, ask for a plan first</a:t>
            </a:r>
          </a:p>
          <a:p>
            <a:pPr algn="l"/>
            <a:r>
              <a:rPr sz="1150" b="0">
                <a:solidFill>
                  <a:srgbClr val="1F1F2E"/>
                </a:solidFill>
                <a:latin typeface="Calibri"/>
              </a:rPr>
              <a:t>Plan mode: 'Add X; show me the plan.' Then switch to Interactive and let it edit.</a:t>
            </a:r>
          </a:p>
        </p:txBody>
      </p:sp>
      <p:sp>
        <p:nvSpPr>
          <p:cNvPr id="19" name="Oval 18"/>
          <p:cNvSpPr/>
          <p:nvPr/>
        </p:nvSpPr>
        <p:spPr>
          <a:xfrm>
            <a:off x="6446520" y="4315968"/>
            <a:ext cx="365760" cy="365760"/>
          </a:xfrm>
          <a:prstGeom prst="ellipse">
            <a:avLst/>
          </a:prstGeom>
          <a:solidFill>
            <a:srgbClr val="5C66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46520" y="4315968"/>
            <a:ext cx="365760" cy="365760"/>
          </a:xfrm>
          <a:prstGeom prst="rect">
            <a:avLst/>
          </a:prstGeom>
          <a:noFill/>
        </p:spPr>
        <p:txBody>
          <a:bodyPr wrap="square" anchor="ctr" lIns="45720" rIns="45720" tIns="27432" bIns="27432">
            <a:spAutoFit/>
          </a:bodyPr>
          <a:lstStyle/>
          <a:p>
            <a:pPr algn="ctr"/>
            <a:r>
              <a:rPr sz="1400" b="1">
                <a:solidFill>
                  <a:srgbClr val="FFFFFF"/>
                </a:solidFill>
                <a:latin typeface="Calibri"/>
              </a:rPr>
              <a:t>3</a:t>
            </a:r>
          </a:p>
        </p:txBody>
      </p:sp>
      <p:sp>
        <p:nvSpPr>
          <p:cNvPr id="21" name="TextBox 20"/>
          <p:cNvSpPr txBox="1"/>
          <p:nvPr/>
        </p:nvSpPr>
        <p:spPr>
          <a:xfrm>
            <a:off x="6949440" y="4297680"/>
            <a:ext cx="4526280" cy="777240"/>
          </a:xfrm>
          <a:prstGeom prst="rect">
            <a:avLst/>
          </a:prstGeom>
          <a:noFill/>
        </p:spPr>
        <p:txBody>
          <a:bodyPr wrap="square" anchor="t" lIns="45720" rIns="45720" tIns="27432" bIns="27432">
            <a:spAutoFit/>
          </a:bodyPr>
          <a:lstStyle/>
          <a:p>
            <a:pPr algn="l"/>
            <a:r>
              <a:rPr sz="1250" b="1">
                <a:solidFill>
                  <a:srgbClr val="1E2761"/>
                </a:solidFill>
                <a:latin typeface="Calibri"/>
              </a:rPr>
              <a:t>Review the diff, run the tests</a:t>
            </a:r>
          </a:p>
          <a:p>
            <a:pPr algn="l"/>
            <a:r>
              <a:rPr sz="1150" b="0">
                <a:solidFill>
                  <a:srgbClr val="1F1F2E"/>
                </a:solidFill>
                <a:latin typeface="Calibri"/>
              </a:rPr>
              <a:t>'Run the test suite and fix anything that fails.' Read what changed before accepting.</a:t>
            </a:r>
          </a:p>
        </p:txBody>
      </p:sp>
      <p:sp>
        <p:nvSpPr>
          <p:cNvPr id="22" name="Oval 21"/>
          <p:cNvSpPr/>
          <p:nvPr/>
        </p:nvSpPr>
        <p:spPr>
          <a:xfrm>
            <a:off x="6446520" y="5093207"/>
            <a:ext cx="365760" cy="365760"/>
          </a:xfrm>
          <a:prstGeom prst="ellipse">
            <a:avLst/>
          </a:prstGeom>
          <a:solidFill>
            <a:srgbClr val="5C66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446520" y="5093207"/>
            <a:ext cx="365760" cy="365760"/>
          </a:xfrm>
          <a:prstGeom prst="rect">
            <a:avLst/>
          </a:prstGeom>
          <a:noFill/>
        </p:spPr>
        <p:txBody>
          <a:bodyPr wrap="square" anchor="ctr" lIns="45720" rIns="45720" tIns="27432" bIns="27432">
            <a:spAutoFit/>
          </a:bodyPr>
          <a:lstStyle/>
          <a:p>
            <a:pPr algn="ctr"/>
            <a:r>
              <a:rPr sz="1400" b="1">
                <a:solidFill>
                  <a:srgbClr val="FFFFFF"/>
                </a:solidFill>
                <a:latin typeface="Calibri"/>
              </a:rPr>
              <a:t>4</a:t>
            </a:r>
          </a:p>
        </p:txBody>
      </p:sp>
      <p:sp>
        <p:nvSpPr>
          <p:cNvPr id="24" name="TextBox 23"/>
          <p:cNvSpPr txBox="1"/>
          <p:nvPr/>
        </p:nvSpPr>
        <p:spPr>
          <a:xfrm>
            <a:off x="6949440" y="5074920"/>
            <a:ext cx="4526280" cy="777240"/>
          </a:xfrm>
          <a:prstGeom prst="rect">
            <a:avLst/>
          </a:prstGeom>
          <a:noFill/>
        </p:spPr>
        <p:txBody>
          <a:bodyPr wrap="square" anchor="t" lIns="45720" rIns="45720" tIns="27432" bIns="27432">
            <a:spAutoFit/>
          </a:bodyPr>
          <a:lstStyle/>
          <a:p>
            <a:pPr algn="l"/>
            <a:r>
              <a:rPr sz="1250" b="1">
                <a:solidFill>
                  <a:srgbClr val="1E2761"/>
                </a:solidFill>
                <a:latin typeface="Calibri"/>
              </a:rPr>
              <a:t>Commit and push</a:t>
            </a:r>
          </a:p>
          <a:p>
            <a:pPr algn="l"/>
            <a:r>
              <a:rPr sz="1150" b="0">
                <a:solidFill>
                  <a:srgbClr val="1F1F2E"/>
                </a:solidFill>
                <a:latin typeface="Calibri"/>
              </a:rPr>
              <a:t>Ask Copilot to commit with a clear message, or run SyncRepo.bat.</a:t>
            </a:r>
          </a:p>
        </p:txBody>
      </p:sp>
      <p:sp>
        <p:nvSpPr>
          <p:cNvPr id="25" name="TextBox 24"/>
          <p:cNvSpPr txBox="1"/>
          <p:nvPr/>
        </p:nvSpPr>
        <p:spPr>
          <a:xfrm>
            <a:off x="6446520" y="5897880"/>
            <a:ext cx="5029200" cy="365760"/>
          </a:xfrm>
          <a:prstGeom prst="rect">
            <a:avLst/>
          </a:prstGeom>
          <a:noFill/>
        </p:spPr>
        <p:txBody>
          <a:bodyPr wrap="square" anchor="t" lIns="45720" rIns="45720" tIns="27432" bIns="27432">
            <a:spAutoFit/>
          </a:bodyPr>
          <a:lstStyle/>
          <a:p>
            <a:pPr algn="l"/>
            <a:r>
              <a:rPr sz="1150" b="1">
                <a:solidFill>
                  <a:srgbClr val="5C667A"/>
                </a:solidFill>
                <a:latin typeface="Calibri"/>
              </a:rPr>
              <a:t>Sonnet for routine edits; Opus or Fable for refactors and stubborn bugs.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7315200" cy="274320"/>
          </a:xfrm>
          <a:prstGeom prst="rect">
            <a:avLst/>
          </a:prstGeom>
          <a:noFill/>
        </p:spPr>
        <p:txBody>
          <a:bodyPr wrap="square" anchor="t" lIns="45720" rIns="45720" tIns="27432" bIns="27432">
            <a:spAutoFit/>
          </a:bodyPr>
          <a:lstStyle/>
          <a:p>
            <a:pPr algn="l"/>
            <a:r>
              <a:rPr sz="1200" b="1">
                <a:solidFill>
                  <a:srgbClr val="E08A1E"/>
                </a:solidFill>
                <a:latin typeface="Calibri"/>
              </a:rPr>
              <a:t>APPENDIX 2 · ONBOARDING STEP 1 OF 5</a:t>
            </a:r>
          </a:p>
        </p:txBody>
      </p:sp>
      <p:sp>
        <p:nvSpPr>
          <p:cNvPr id="3" name="TextBox 2"/>
          <p:cNvSpPr txBox="1"/>
          <p:nvPr/>
        </p:nvSpPr>
        <p:spPr>
          <a:xfrm>
            <a:off x="548640" y="502920"/>
            <a:ext cx="11064240" cy="685800"/>
          </a:xfrm>
          <a:prstGeom prst="rect">
            <a:avLst/>
          </a:prstGeom>
          <a:noFill/>
        </p:spPr>
        <p:txBody>
          <a:bodyPr wrap="square" anchor="t" lIns="45720" rIns="45720" tIns="27432" bIns="27432">
            <a:spAutoFit/>
          </a:bodyPr>
          <a:lstStyle/>
          <a:p>
            <a:pPr algn="l"/>
            <a:r>
              <a:rPr sz="3000" b="0">
                <a:solidFill>
                  <a:srgbClr val="1E2761"/>
                </a:solidFill>
                <a:latin typeface="Cambria"/>
              </a:rPr>
              <a:t>Join the World Bank Group GitHub organisation</a:t>
            </a:r>
          </a:p>
        </p:txBody>
      </p:sp>
      <p:sp>
        <p:nvSpPr>
          <p:cNvPr id="4" name="TextBox 3"/>
          <p:cNvSpPr txBox="1"/>
          <p:nvPr/>
        </p:nvSpPr>
        <p:spPr>
          <a:xfrm>
            <a:off x="548640" y="6473952"/>
            <a:ext cx="8686800" cy="228600"/>
          </a:xfrm>
          <a:prstGeom prst="rect">
            <a:avLst/>
          </a:prstGeom>
          <a:noFill/>
        </p:spPr>
        <p:txBody>
          <a:bodyPr wrap="square" anchor="t" lIns="45720" rIns="45720" tIns="27432" bIns="27432">
            <a:spAutoFit/>
          </a:bodyPr>
          <a:lstStyle/>
          <a:p>
            <a:pPr algn="l"/>
            <a:r>
              <a:rPr sz="900" b="0">
                <a:solidFill>
                  <a:srgbClr val="5C667A"/>
                </a:solidFill>
                <a:latin typeface="Calibri"/>
              </a:rPr>
              <a:t>Using GitHub Copilot with our repositories: user guide   ·   Screens and model names change over time</a:t>
            </a:r>
          </a:p>
        </p:txBody>
      </p:sp>
      <p:sp>
        <p:nvSpPr>
          <p:cNvPr id="5" name="TextBox 4"/>
          <p:cNvSpPr txBox="1"/>
          <p:nvPr/>
        </p:nvSpPr>
        <p:spPr>
          <a:xfrm>
            <a:off x="548640" y="1280160"/>
            <a:ext cx="10972800" cy="365760"/>
          </a:xfrm>
          <a:prstGeom prst="rect">
            <a:avLst/>
          </a:prstGeom>
          <a:noFill/>
        </p:spPr>
        <p:txBody>
          <a:bodyPr wrap="square" anchor="t" lIns="45720" rIns="45720" tIns="27432" bIns="27432">
            <a:spAutoFit/>
          </a:bodyPr>
          <a:lstStyle/>
          <a:p>
            <a:pPr algn="l"/>
            <a:r>
              <a:rPr sz="1300" b="0">
                <a:solidFill>
                  <a:srgbClr val="5C667A"/>
                </a:solidFill>
                <a:latin typeface="Calibri"/>
              </a:rPr>
              <a:t>Skip this step if you are already a member of the WBG organisation.</a:t>
            </a:r>
          </a:p>
        </p:txBody>
      </p:sp>
      <p:sp>
        <p:nvSpPr>
          <p:cNvPr id="6" name="Oval 5"/>
          <p:cNvSpPr/>
          <p:nvPr/>
        </p:nvSpPr>
        <p:spPr>
          <a:xfrm>
            <a:off x="548640" y="1801368"/>
            <a:ext cx="365760" cy="365760"/>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1801368"/>
            <a:ext cx="365760" cy="365760"/>
          </a:xfrm>
          <a:prstGeom prst="rect">
            <a:avLst/>
          </a:prstGeom>
          <a:noFill/>
        </p:spPr>
        <p:txBody>
          <a:bodyPr wrap="square" anchor="ctr" lIns="45720" rIns="45720" tIns="27432" bIns="27432">
            <a:spAutoFit/>
          </a:bodyPr>
          <a:lstStyle/>
          <a:p>
            <a:pPr algn="ctr"/>
            <a:r>
              <a:rPr sz="1400" b="1">
                <a:solidFill>
                  <a:srgbClr val="FFFFFF"/>
                </a:solidFill>
                <a:latin typeface="Calibri"/>
              </a:rPr>
              <a:t>1</a:t>
            </a:r>
          </a:p>
        </p:txBody>
      </p:sp>
      <p:sp>
        <p:nvSpPr>
          <p:cNvPr id="8" name="TextBox 7"/>
          <p:cNvSpPr txBox="1"/>
          <p:nvPr/>
        </p:nvSpPr>
        <p:spPr>
          <a:xfrm>
            <a:off x="1051560" y="1783080"/>
            <a:ext cx="6080760" cy="1188720"/>
          </a:xfrm>
          <a:prstGeom prst="rect">
            <a:avLst/>
          </a:prstGeom>
          <a:noFill/>
        </p:spPr>
        <p:txBody>
          <a:bodyPr wrap="square" anchor="t" lIns="45720" rIns="45720" tIns="27432" bIns="27432">
            <a:spAutoFit/>
          </a:bodyPr>
          <a:lstStyle/>
          <a:p>
            <a:pPr algn="l"/>
            <a:r>
              <a:rPr sz="1400" b="1">
                <a:solidFill>
                  <a:srgbClr val="1E2761"/>
                </a:solidFill>
                <a:latin typeface="Calibri"/>
              </a:rPr>
              <a:t>Create a personal account on github.com</a:t>
            </a:r>
          </a:p>
          <a:p>
            <a:pPr algn="l"/>
            <a:r>
              <a:rPr sz="1300" b="0">
                <a:solidFill>
                  <a:srgbClr val="1F1F2E"/>
                </a:solidFill>
                <a:latin typeface="Calibri"/>
              </a:rPr>
              <a:t>If you do not have one yet. Use a username you are happy to share with colleagues.</a:t>
            </a:r>
          </a:p>
        </p:txBody>
      </p:sp>
      <p:sp>
        <p:nvSpPr>
          <p:cNvPr id="9" name="Oval 8"/>
          <p:cNvSpPr/>
          <p:nvPr/>
        </p:nvSpPr>
        <p:spPr>
          <a:xfrm>
            <a:off x="548640" y="2990088"/>
            <a:ext cx="365760" cy="365760"/>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2990088"/>
            <a:ext cx="365760" cy="365760"/>
          </a:xfrm>
          <a:prstGeom prst="rect">
            <a:avLst/>
          </a:prstGeom>
          <a:noFill/>
        </p:spPr>
        <p:txBody>
          <a:bodyPr wrap="square" anchor="ctr" lIns="45720" rIns="45720" tIns="27432" bIns="27432">
            <a:spAutoFit/>
          </a:bodyPr>
          <a:lstStyle/>
          <a:p>
            <a:pPr algn="ctr"/>
            <a:r>
              <a:rPr sz="1400" b="1">
                <a:solidFill>
                  <a:srgbClr val="FFFFFF"/>
                </a:solidFill>
                <a:latin typeface="Calibri"/>
              </a:rPr>
              <a:t>2</a:t>
            </a:r>
          </a:p>
        </p:txBody>
      </p:sp>
      <p:sp>
        <p:nvSpPr>
          <p:cNvPr id="11" name="TextBox 10"/>
          <p:cNvSpPr txBox="1"/>
          <p:nvPr/>
        </p:nvSpPr>
        <p:spPr>
          <a:xfrm>
            <a:off x="1051560" y="2971800"/>
            <a:ext cx="6080760" cy="1188720"/>
          </a:xfrm>
          <a:prstGeom prst="rect">
            <a:avLst/>
          </a:prstGeom>
          <a:noFill/>
        </p:spPr>
        <p:txBody>
          <a:bodyPr wrap="square" anchor="t" lIns="45720" rIns="45720" tIns="27432" bIns="27432">
            <a:spAutoFit/>
          </a:bodyPr>
          <a:lstStyle/>
          <a:p>
            <a:pPr algn="l"/>
            <a:r>
              <a:rPr sz="1400" b="1">
                <a:solidFill>
                  <a:srgbClr val="1E2761"/>
                </a:solidFill>
                <a:latin typeface="Calibri"/>
              </a:rPr>
              <a:t>Email your GitHub username to github@worldbank.org</a:t>
            </a:r>
          </a:p>
          <a:p>
            <a:pPr algn="l"/>
            <a:r>
              <a:rPr sz="1300" b="0">
                <a:solidFill>
                  <a:srgbClr val="1F1F2E"/>
                </a:solidFill>
                <a:latin typeface="Calibri"/>
              </a:rPr>
              <a:t>Ask to join the World Bank Group GitHub organisation.</a:t>
            </a:r>
          </a:p>
        </p:txBody>
      </p:sp>
      <p:sp>
        <p:nvSpPr>
          <p:cNvPr id="12" name="Oval 11"/>
          <p:cNvSpPr/>
          <p:nvPr/>
        </p:nvSpPr>
        <p:spPr>
          <a:xfrm>
            <a:off x="548640" y="4178807"/>
            <a:ext cx="365760" cy="365760"/>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48640" y="4178807"/>
            <a:ext cx="365760" cy="365760"/>
          </a:xfrm>
          <a:prstGeom prst="rect">
            <a:avLst/>
          </a:prstGeom>
          <a:noFill/>
        </p:spPr>
        <p:txBody>
          <a:bodyPr wrap="square" anchor="ctr" lIns="45720" rIns="45720" tIns="27432" bIns="27432">
            <a:spAutoFit/>
          </a:bodyPr>
          <a:lstStyle/>
          <a:p>
            <a:pPr algn="ctr"/>
            <a:r>
              <a:rPr sz="1400" b="1">
                <a:solidFill>
                  <a:srgbClr val="FFFFFF"/>
                </a:solidFill>
                <a:latin typeface="Calibri"/>
              </a:rPr>
              <a:t>3</a:t>
            </a:r>
          </a:p>
        </p:txBody>
      </p:sp>
      <p:sp>
        <p:nvSpPr>
          <p:cNvPr id="14" name="TextBox 13"/>
          <p:cNvSpPr txBox="1"/>
          <p:nvPr/>
        </p:nvSpPr>
        <p:spPr>
          <a:xfrm>
            <a:off x="1051560" y="4160520"/>
            <a:ext cx="6080760" cy="1188720"/>
          </a:xfrm>
          <a:prstGeom prst="rect">
            <a:avLst/>
          </a:prstGeom>
          <a:noFill/>
        </p:spPr>
        <p:txBody>
          <a:bodyPr wrap="square" anchor="t" lIns="45720" rIns="45720" tIns="27432" bIns="27432">
            <a:spAutoFit/>
          </a:bodyPr>
          <a:lstStyle/>
          <a:p>
            <a:pPr algn="l"/>
            <a:r>
              <a:rPr sz="1400" b="1">
                <a:solidFill>
                  <a:srgbClr val="1E2761"/>
                </a:solidFill>
                <a:latin typeface="Calibri"/>
              </a:rPr>
              <a:t>Email GitHub_Enterprise_Admin@worldbankgroup.org</a:t>
            </a:r>
          </a:p>
          <a:p>
            <a:pPr algn="l"/>
            <a:r>
              <a:rPr sz="1300" b="0">
                <a:solidFill>
                  <a:srgbClr val="1F1F2E"/>
                </a:solidFill>
                <a:latin typeface="Calibri"/>
              </a:rPr>
              <a:t>Request an increased individual usage limit and give your GitHub username. The default is $19/month and lasts only a couple of hours of Copilot agent work.</a:t>
            </a:r>
          </a:p>
        </p:txBody>
      </p:sp>
      <p:sp>
        <p:nvSpPr>
          <p:cNvPr id="15" name="Rectangle 14"/>
          <p:cNvSpPr/>
          <p:nvPr/>
        </p:nvSpPr>
        <p:spPr>
          <a:xfrm>
            <a:off x="7498079" y="1783080"/>
            <a:ext cx="4142232" cy="3566160"/>
          </a:xfrm>
          <a:prstGeom prst="rect">
            <a:avLst/>
          </a:prstGeom>
          <a:solidFill>
            <a:srgbClr val="FD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726679" y="1874519"/>
            <a:ext cx="3749039" cy="3383280"/>
          </a:xfrm>
          <a:prstGeom prst="rect">
            <a:avLst/>
          </a:prstGeom>
          <a:noFill/>
        </p:spPr>
        <p:txBody>
          <a:bodyPr wrap="square" anchor="t" lIns="45720" rIns="45720" tIns="27432" bIns="27432">
            <a:spAutoFit/>
          </a:bodyPr>
          <a:lstStyle/>
          <a:p>
            <a:pPr algn="l"/>
            <a:r>
              <a:rPr sz="1500" b="1">
                <a:solidFill>
                  <a:srgbClr val="E08A1E"/>
                </a:solidFill>
                <a:latin typeface="Calibri"/>
              </a:rPr>
              <a:t>Why the limit matters</a:t>
            </a:r>
          </a:p>
          <a:p>
            <a:pPr algn="l">
              <a:spcBef>
                <a:spcPts val="600"/>
              </a:spcBef>
            </a:pPr>
            <a:r>
              <a:rPr sz="1250" b="0">
                <a:solidFill>
                  <a:srgbClr val="1F1F2E"/>
                </a:solidFill>
                <a:latin typeface="Calibri"/>
              </a:rPr>
              <a:t>Copilot bills premium requests against your individual limit. At the default, a single agent session can exhaust the month. Send step 3 the same day you send step 2.</a:t>
            </a:r>
          </a:p>
          <a:p>
            <a:pPr algn="l">
              <a:spcBef>
                <a:spcPts val="1200"/>
              </a:spcBef>
            </a:pPr>
            <a:r>
              <a:rPr sz="1500" b="1">
                <a:solidFill>
                  <a:srgbClr val="E08A1E"/>
                </a:solidFill>
                <a:latin typeface="Calibri"/>
              </a:rPr>
              <a:t>Same mailbox later</a:t>
            </a:r>
          </a:p>
          <a:p>
            <a:pPr algn="l">
              <a:spcBef>
                <a:spcPts val="600"/>
              </a:spcBef>
            </a:pPr>
            <a:r>
              <a:rPr sz="1250" b="0">
                <a:solidFill>
                  <a:srgbClr val="1F1F2E"/>
                </a:solidFill>
                <a:latin typeface="Calibri"/>
              </a:rPr>
              <a:t>If you run out mid-month, email the same address to ask for more (see Appendix 1, Access and credits).</a:t>
            </a:r>
          </a:p>
        </p:txBody>
      </p:sp>
      <p:sp>
        <p:nvSpPr>
          <p:cNvPr id="17" name="Rectangle 16"/>
          <p:cNvSpPr/>
          <p:nvPr/>
        </p:nvSpPr>
        <p:spPr>
          <a:xfrm>
            <a:off x="548640" y="5532120"/>
            <a:ext cx="11091672" cy="731520"/>
          </a:xfrm>
          <a:prstGeom prst="rect">
            <a:avLst/>
          </a:prstGeom>
          <a:solidFill>
            <a:srgbClr val="E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31520" y="5532120"/>
            <a:ext cx="10789920" cy="731520"/>
          </a:xfrm>
          <a:prstGeom prst="rect">
            <a:avLst/>
          </a:prstGeom>
          <a:noFill/>
        </p:spPr>
        <p:txBody>
          <a:bodyPr wrap="square" anchor="ctr" lIns="45720" rIns="45720" tIns="27432" bIns="27432">
            <a:spAutoFit/>
          </a:bodyPr>
          <a:lstStyle/>
          <a:p>
            <a:pPr algn="l"/>
            <a:r>
              <a:rPr sz="1300" b="1">
                <a:solidFill>
                  <a:srgbClr val="0F7B6C"/>
                </a:solidFill>
                <a:latin typeface="Calibri"/>
              </a:rPr>
              <a:t>Addresses:  github@worldbank.org (join)   ·   GitHub_Enterprise_Admin@worldbankgroup.org (usage limit / credits)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7315200" cy="274320"/>
          </a:xfrm>
          <a:prstGeom prst="rect">
            <a:avLst/>
          </a:prstGeom>
          <a:noFill/>
        </p:spPr>
        <p:txBody>
          <a:bodyPr wrap="square" anchor="t" lIns="45720" rIns="45720" tIns="27432" bIns="27432">
            <a:spAutoFit/>
          </a:bodyPr>
          <a:lstStyle/>
          <a:p>
            <a:pPr algn="l"/>
            <a:r>
              <a:rPr sz="1200" b="1">
                <a:solidFill>
                  <a:srgbClr val="E08A1E"/>
                </a:solidFill>
                <a:latin typeface="Calibri"/>
              </a:rPr>
              <a:t>APPENDIX 2 · ONBOARDING STEP 2 OF 5</a:t>
            </a:r>
          </a:p>
        </p:txBody>
      </p:sp>
      <p:sp>
        <p:nvSpPr>
          <p:cNvPr id="3" name="TextBox 2"/>
          <p:cNvSpPr txBox="1"/>
          <p:nvPr/>
        </p:nvSpPr>
        <p:spPr>
          <a:xfrm>
            <a:off x="548640" y="502920"/>
            <a:ext cx="11064240" cy="685800"/>
          </a:xfrm>
          <a:prstGeom prst="rect">
            <a:avLst/>
          </a:prstGeom>
          <a:noFill/>
        </p:spPr>
        <p:txBody>
          <a:bodyPr wrap="square" anchor="t" lIns="45720" rIns="45720" tIns="27432" bIns="27432">
            <a:spAutoFit/>
          </a:bodyPr>
          <a:lstStyle/>
          <a:p>
            <a:pPr algn="l"/>
            <a:r>
              <a:rPr sz="3000" b="0">
                <a:solidFill>
                  <a:srgbClr val="1E2761"/>
                </a:solidFill>
                <a:latin typeface="Cambria"/>
              </a:rPr>
              <a:t>Join the Fiscal Policy Unit team</a:t>
            </a:r>
          </a:p>
        </p:txBody>
      </p:sp>
      <p:sp>
        <p:nvSpPr>
          <p:cNvPr id="4" name="TextBox 3"/>
          <p:cNvSpPr txBox="1"/>
          <p:nvPr/>
        </p:nvSpPr>
        <p:spPr>
          <a:xfrm>
            <a:off x="548640" y="6473952"/>
            <a:ext cx="8686800" cy="228600"/>
          </a:xfrm>
          <a:prstGeom prst="rect">
            <a:avLst/>
          </a:prstGeom>
          <a:noFill/>
        </p:spPr>
        <p:txBody>
          <a:bodyPr wrap="square" anchor="t" lIns="45720" rIns="45720" tIns="27432" bIns="27432">
            <a:spAutoFit/>
          </a:bodyPr>
          <a:lstStyle/>
          <a:p>
            <a:pPr algn="l"/>
            <a:r>
              <a:rPr sz="900" b="0">
                <a:solidFill>
                  <a:srgbClr val="5C667A"/>
                </a:solidFill>
                <a:latin typeface="Calibri"/>
              </a:rPr>
              <a:t>Using GitHub Copilot with our repositories: user guide   ·   Screens and model names change over time</a:t>
            </a:r>
          </a:p>
        </p:txBody>
      </p:sp>
      <p:sp>
        <p:nvSpPr>
          <p:cNvPr id="5" name="Rectangle 4"/>
          <p:cNvSpPr/>
          <p:nvPr/>
        </p:nvSpPr>
        <p:spPr>
          <a:xfrm>
            <a:off x="548640" y="1371600"/>
            <a:ext cx="6675120" cy="292608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77240" y="1463040"/>
            <a:ext cx="6309360" cy="365760"/>
          </a:xfrm>
          <a:prstGeom prst="rect">
            <a:avLst/>
          </a:prstGeom>
          <a:noFill/>
        </p:spPr>
        <p:txBody>
          <a:bodyPr wrap="square" anchor="t" lIns="45720" rIns="45720" tIns="27432" bIns="27432">
            <a:spAutoFit/>
          </a:bodyPr>
          <a:lstStyle/>
          <a:p>
            <a:pPr algn="l"/>
            <a:r>
              <a:rPr sz="1600" b="1">
                <a:solidFill>
                  <a:srgbClr val="1E2761"/>
                </a:solidFill>
                <a:latin typeface="Calibri"/>
              </a:rPr>
              <a:t>Once you are in the WBG organisation</a:t>
            </a:r>
          </a:p>
        </p:txBody>
      </p:sp>
      <p:sp>
        <p:nvSpPr>
          <p:cNvPr id="7" name="TextBox 6"/>
          <p:cNvSpPr txBox="1"/>
          <p:nvPr/>
        </p:nvSpPr>
        <p:spPr>
          <a:xfrm>
            <a:off x="777240" y="1874519"/>
            <a:ext cx="6309360" cy="2377440"/>
          </a:xfrm>
          <a:prstGeom prst="rect">
            <a:avLst/>
          </a:prstGeom>
          <a:noFill/>
        </p:spPr>
        <p:txBody>
          <a:bodyPr wrap="square" anchor="t" lIns="45720" rIns="45720" tIns="27432" bIns="27432">
            <a:spAutoFit/>
          </a:bodyPr>
          <a:lstStyle/>
          <a:p>
            <a:pPr algn="l"/>
            <a:r>
              <a:rPr sz="1350" b="0">
                <a:solidFill>
                  <a:srgbClr val="1F1F2E"/>
                </a:solidFill>
                <a:latin typeface="Calibri"/>
              </a:rPr>
              <a:t>Send your GitHub username to either:</a:t>
            </a:r>
          </a:p>
          <a:p>
            <a:pPr algn="l">
              <a:spcBef>
                <a:spcPts val="800"/>
              </a:spcBef>
            </a:pPr>
            <a:r>
              <a:rPr sz="1350" b="1">
                <a:solidFill>
                  <a:srgbClr val="0F7B6C"/>
                </a:solidFill>
                <a:latin typeface="Calibri"/>
              </a:rPr>
              <a:t>Santiago  ·  safonso@worldbankgroup.org</a:t>
            </a:r>
          </a:p>
          <a:p>
            <a:pPr algn="l">
              <a:spcBef>
                <a:spcPts val="400"/>
              </a:spcBef>
            </a:pPr>
            <a:r>
              <a:rPr sz="1350" b="1">
                <a:solidFill>
                  <a:srgbClr val="0F7B6C"/>
                </a:solidFill>
                <a:latin typeface="Calibri"/>
              </a:rPr>
              <a:t>Paulina  ·  pschulzantipa@worldbankgroup.org</a:t>
            </a:r>
          </a:p>
          <a:p>
            <a:pPr algn="l">
              <a:spcBef>
                <a:spcPts val="1000"/>
              </a:spcBef>
            </a:pPr>
            <a:r>
              <a:rPr sz="1250" b="0">
                <a:solidFill>
                  <a:srgbClr val="1F1F2E"/>
                </a:solidFill>
                <a:latin typeface="Calibri"/>
              </a:rPr>
              <a:t>They will add you to the fiscal-policy-unit team. Team membership gives you access to every repo the team owns, and new repos can be shared with the whole team in one step.</a:t>
            </a:r>
          </a:p>
        </p:txBody>
      </p:sp>
      <p:sp>
        <p:nvSpPr>
          <p:cNvPr id="8" name="Rectangle 7"/>
          <p:cNvSpPr/>
          <p:nvPr/>
        </p:nvSpPr>
        <p:spPr>
          <a:xfrm>
            <a:off x="7406640" y="1371600"/>
            <a:ext cx="4233672" cy="2926080"/>
          </a:xfrm>
          <a:prstGeom prst="rect">
            <a:avLst/>
          </a:prstGeom>
          <a:solidFill>
            <a:srgbClr val="E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635240" y="1463040"/>
            <a:ext cx="3840480" cy="2743200"/>
          </a:xfrm>
          <a:prstGeom prst="rect">
            <a:avLst/>
          </a:prstGeom>
          <a:noFill/>
        </p:spPr>
        <p:txBody>
          <a:bodyPr wrap="square" anchor="t" lIns="45720" rIns="45720" tIns="27432" bIns="27432">
            <a:spAutoFit/>
          </a:bodyPr>
          <a:lstStyle/>
          <a:p>
            <a:pPr algn="l"/>
            <a:r>
              <a:rPr sz="1600" b="1">
                <a:solidFill>
                  <a:srgbClr val="0F7B6C"/>
                </a:solidFill>
                <a:latin typeface="Calibri"/>
              </a:rPr>
              <a:t>Sub-teams</a:t>
            </a:r>
          </a:p>
          <a:p>
            <a:pPr algn="l">
              <a:spcBef>
                <a:spcPts val="600"/>
              </a:spcBef>
            </a:pPr>
            <a:r>
              <a:rPr sz="1250" b="0">
                <a:solidFill>
                  <a:srgbClr val="1F1F2E"/>
                </a:solidFill>
                <a:latin typeface="Calibri"/>
              </a:rPr>
              <a:t>Sub-teams can be created later to organise work into 'folders' — for example tax, expenditures — each with its own set of repos and members.</a:t>
            </a:r>
          </a:p>
        </p:txBody>
      </p:sp>
      <p:sp>
        <p:nvSpPr>
          <p:cNvPr id="10" name="Rectangle 9"/>
          <p:cNvSpPr/>
          <p:nvPr/>
        </p:nvSpPr>
        <p:spPr>
          <a:xfrm>
            <a:off x="548640" y="4526280"/>
            <a:ext cx="11091672" cy="1737360"/>
          </a:xfrm>
          <a:prstGeom prst="rect">
            <a:avLst/>
          </a:prstGeom>
          <a:solidFill>
            <a:srgbClr val="FD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4617720"/>
            <a:ext cx="10698480" cy="365760"/>
          </a:xfrm>
          <a:prstGeom prst="rect">
            <a:avLst/>
          </a:prstGeom>
          <a:noFill/>
        </p:spPr>
        <p:txBody>
          <a:bodyPr wrap="square" anchor="t" lIns="45720" rIns="45720" tIns="27432" bIns="27432">
            <a:spAutoFit/>
          </a:bodyPr>
          <a:lstStyle/>
          <a:p>
            <a:pPr algn="l"/>
            <a:r>
              <a:rPr sz="1600" b="1">
                <a:solidFill>
                  <a:srgbClr val="E08A1E"/>
                </a:solidFill>
                <a:latin typeface="Calibri"/>
              </a:rPr>
              <a:t>And the cpmodel organisation</a:t>
            </a:r>
          </a:p>
        </p:txBody>
      </p:sp>
      <p:sp>
        <p:nvSpPr>
          <p:cNvPr id="12" name="TextBox 11"/>
          <p:cNvSpPr txBox="1"/>
          <p:nvPr/>
        </p:nvSpPr>
        <p:spPr>
          <a:xfrm>
            <a:off x="777240" y="5029200"/>
            <a:ext cx="10698480" cy="1188720"/>
          </a:xfrm>
          <a:prstGeom prst="rect">
            <a:avLst/>
          </a:prstGeom>
          <a:noFill/>
        </p:spPr>
        <p:txBody>
          <a:bodyPr wrap="square" anchor="t" lIns="45720" rIns="45720" tIns="27432" bIns="27432">
            <a:spAutoFit/>
          </a:bodyPr>
          <a:lstStyle/>
          <a:p>
            <a:pPr algn="l"/>
            <a:r>
              <a:rPr sz="1250" b="0">
                <a:solidFill>
                  <a:srgbClr val="1F1F2E"/>
                </a:solidFill>
                <a:latin typeface="Calibri"/>
              </a:rPr>
              <a:t>The analytical tools in this guide (Excise Diagnostic, Dashboard, CPAT) are kept in github.com/cpmodel, a separate organisation, so IMF colleagues and independent contractors (ICs) outside the Bank can be given access. Ask the repo owner to add your GitHub username there as well; your Copilot seat from the WBG organisation works on those repos too.</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7315200" cy="274320"/>
          </a:xfrm>
          <a:prstGeom prst="rect">
            <a:avLst/>
          </a:prstGeom>
          <a:noFill/>
        </p:spPr>
        <p:txBody>
          <a:bodyPr wrap="square" anchor="t" lIns="45720" rIns="45720" tIns="27432" bIns="27432">
            <a:spAutoFit/>
          </a:bodyPr>
          <a:lstStyle/>
          <a:p>
            <a:pPr algn="l"/>
            <a:r>
              <a:rPr sz="1200" b="1">
                <a:solidFill>
                  <a:srgbClr val="E08A1E"/>
                </a:solidFill>
                <a:latin typeface="Calibri"/>
              </a:rPr>
              <a:t>APPENDIX 2 · ONBOARDING STEP 3 OF 5</a:t>
            </a:r>
          </a:p>
        </p:txBody>
      </p:sp>
      <p:sp>
        <p:nvSpPr>
          <p:cNvPr id="3" name="TextBox 2"/>
          <p:cNvSpPr txBox="1"/>
          <p:nvPr/>
        </p:nvSpPr>
        <p:spPr>
          <a:xfrm>
            <a:off x="548640" y="502920"/>
            <a:ext cx="11064240" cy="685800"/>
          </a:xfrm>
          <a:prstGeom prst="rect">
            <a:avLst/>
          </a:prstGeom>
          <a:noFill/>
        </p:spPr>
        <p:txBody>
          <a:bodyPr wrap="square" anchor="t" lIns="45720" rIns="45720" tIns="27432" bIns="27432">
            <a:spAutoFit/>
          </a:bodyPr>
          <a:lstStyle/>
          <a:p>
            <a:pPr algn="l"/>
            <a:r>
              <a:rPr sz="3000" b="0">
                <a:solidFill>
                  <a:srgbClr val="1E2761"/>
                </a:solidFill>
                <a:latin typeface="Cambria"/>
              </a:rPr>
              <a:t>Create a repository and add it to the team</a:t>
            </a:r>
          </a:p>
        </p:txBody>
      </p:sp>
      <p:sp>
        <p:nvSpPr>
          <p:cNvPr id="4" name="TextBox 3"/>
          <p:cNvSpPr txBox="1"/>
          <p:nvPr/>
        </p:nvSpPr>
        <p:spPr>
          <a:xfrm>
            <a:off x="548640" y="6473952"/>
            <a:ext cx="8686800" cy="228600"/>
          </a:xfrm>
          <a:prstGeom prst="rect">
            <a:avLst/>
          </a:prstGeom>
          <a:noFill/>
        </p:spPr>
        <p:txBody>
          <a:bodyPr wrap="square" anchor="t" lIns="45720" rIns="45720" tIns="27432" bIns="27432">
            <a:spAutoFit/>
          </a:bodyPr>
          <a:lstStyle/>
          <a:p>
            <a:pPr algn="l"/>
            <a:r>
              <a:rPr sz="900" b="0">
                <a:solidFill>
                  <a:srgbClr val="5C667A"/>
                </a:solidFill>
                <a:latin typeface="Calibri"/>
              </a:rPr>
              <a:t>Using GitHub Copilot with our repositories: user guide   ·   Screens and model names change over time</a:t>
            </a:r>
          </a:p>
        </p:txBody>
      </p:sp>
      <p:sp>
        <p:nvSpPr>
          <p:cNvPr id="5" name="TextBox 4"/>
          <p:cNvSpPr txBox="1"/>
          <p:nvPr/>
        </p:nvSpPr>
        <p:spPr>
          <a:xfrm>
            <a:off x="548640" y="1280160"/>
            <a:ext cx="10972800" cy="365760"/>
          </a:xfrm>
          <a:prstGeom prst="rect">
            <a:avLst/>
          </a:prstGeom>
          <a:noFill/>
        </p:spPr>
        <p:txBody>
          <a:bodyPr wrap="square" anchor="t" lIns="45720" rIns="45720" tIns="27432" bIns="27432">
            <a:spAutoFit/>
          </a:bodyPr>
          <a:lstStyle/>
          <a:p>
            <a:pPr algn="l"/>
            <a:r>
              <a:rPr sz="1300" b="0">
                <a:solidFill>
                  <a:srgbClr val="5C667A"/>
                </a:solidFill>
                <a:latin typeface="Calibri"/>
              </a:rPr>
              <a:t>For work you want to share with the unit inside the World Bank organisation.</a:t>
            </a:r>
          </a:p>
        </p:txBody>
      </p:sp>
      <p:sp>
        <p:nvSpPr>
          <p:cNvPr id="6" name="Oval 5"/>
          <p:cNvSpPr/>
          <p:nvPr/>
        </p:nvSpPr>
        <p:spPr>
          <a:xfrm>
            <a:off x="548640" y="1801368"/>
            <a:ext cx="365760" cy="365760"/>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1801368"/>
            <a:ext cx="365760" cy="365760"/>
          </a:xfrm>
          <a:prstGeom prst="rect">
            <a:avLst/>
          </a:prstGeom>
          <a:noFill/>
        </p:spPr>
        <p:txBody>
          <a:bodyPr wrap="square" anchor="ctr" lIns="45720" rIns="45720" tIns="27432" bIns="27432">
            <a:spAutoFit/>
          </a:bodyPr>
          <a:lstStyle/>
          <a:p>
            <a:pPr algn="ctr"/>
            <a:r>
              <a:rPr sz="1400" b="1">
                <a:solidFill>
                  <a:srgbClr val="FFFFFF"/>
                </a:solidFill>
                <a:latin typeface="Calibri"/>
              </a:rPr>
              <a:t>1</a:t>
            </a:r>
          </a:p>
        </p:txBody>
      </p:sp>
      <p:sp>
        <p:nvSpPr>
          <p:cNvPr id="8" name="TextBox 7"/>
          <p:cNvSpPr txBox="1"/>
          <p:nvPr/>
        </p:nvSpPr>
        <p:spPr>
          <a:xfrm>
            <a:off x="1051560" y="1783080"/>
            <a:ext cx="6080760" cy="1188720"/>
          </a:xfrm>
          <a:prstGeom prst="rect">
            <a:avLst/>
          </a:prstGeom>
          <a:noFill/>
        </p:spPr>
        <p:txBody>
          <a:bodyPr wrap="square" anchor="t" lIns="45720" rIns="45720" tIns="27432" bIns="27432">
            <a:spAutoFit/>
          </a:bodyPr>
          <a:lstStyle/>
          <a:p>
            <a:pPr algn="l"/>
            <a:r>
              <a:rPr sz="1400" b="1">
                <a:solidFill>
                  <a:srgbClr val="1E2761"/>
                </a:solidFill>
                <a:latin typeface="Calibri"/>
              </a:rPr>
              <a:t>Go to github.com/worldbank</a:t>
            </a:r>
          </a:p>
          <a:p>
            <a:pPr algn="l"/>
            <a:r>
              <a:rPr sz="1300" b="0">
                <a:solidFill>
                  <a:srgbClr val="1F1F2E"/>
                </a:solidFill>
                <a:latin typeface="Calibri"/>
              </a:rPr>
              <a:t>Scroll down and click New. The default options are fine; give the repo a clear name and keep it private.</a:t>
            </a:r>
          </a:p>
        </p:txBody>
      </p:sp>
      <p:sp>
        <p:nvSpPr>
          <p:cNvPr id="9" name="Oval 8"/>
          <p:cNvSpPr/>
          <p:nvPr/>
        </p:nvSpPr>
        <p:spPr>
          <a:xfrm>
            <a:off x="548640" y="2990088"/>
            <a:ext cx="365760" cy="365760"/>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2990088"/>
            <a:ext cx="365760" cy="365760"/>
          </a:xfrm>
          <a:prstGeom prst="rect">
            <a:avLst/>
          </a:prstGeom>
          <a:noFill/>
        </p:spPr>
        <p:txBody>
          <a:bodyPr wrap="square" anchor="ctr" lIns="45720" rIns="45720" tIns="27432" bIns="27432">
            <a:spAutoFit/>
          </a:bodyPr>
          <a:lstStyle/>
          <a:p>
            <a:pPr algn="ctr"/>
            <a:r>
              <a:rPr sz="1400" b="1">
                <a:solidFill>
                  <a:srgbClr val="FFFFFF"/>
                </a:solidFill>
                <a:latin typeface="Calibri"/>
              </a:rPr>
              <a:t>2</a:t>
            </a:r>
          </a:p>
        </p:txBody>
      </p:sp>
      <p:sp>
        <p:nvSpPr>
          <p:cNvPr id="11" name="TextBox 10"/>
          <p:cNvSpPr txBox="1"/>
          <p:nvPr/>
        </p:nvSpPr>
        <p:spPr>
          <a:xfrm>
            <a:off x="1051560" y="2971800"/>
            <a:ext cx="6080760" cy="1188720"/>
          </a:xfrm>
          <a:prstGeom prst="rect">
            <a:avLst/>
          </a:prstGeom>
          <a:noFill/>
        </p:spPr>
        <p:txBody>
          <a:bodyPr wrap="square" anchor="t" lIns="45720" rIns="45720" tIns="27432" bIns="27432">
            <a:spAutoFit/>
          </a:bodyPr>
          <a:lstStyle/>
          <a:p>
            <a:pPr algn="l"/>
            <a:r>
              <a:rPr sz="1400" b="1">
                <a:solidFill>
                  <a:srgbClr val="1E2761"/>
                </a:solidFill>
                <a:latin typeface="Calibri"/>
              </a:rPr>
              <a:t>Open the repo's Settings → Collaborators and teams</a:t>
            </a:r>
          </a:p>
          <a:p>
            <a:pPr algn="l"/>
            <a:r>
              <a:rPr sz="1300" b="0">
                <a:solidFill>
                  <a:srgbClr val="1F1F2E"/>
                </a:solidFill>
                <a:latin typeface="Calibri"/>
              </a:rPr>
              <a:t>Click Add teams and choose fiscal-policy-unit. Pick a role (Write is the usual choice).</a:t>
            </a:r>
          </a:p>
        </p:txBody>
      </p:sp>
      <p:sp>
        <p:nvSpPr>
          <p:cNvPr id="12" name="Oval 11"/>
          <p:cNvSpPr/>
          <p:nvPr/>
        </p:nvSpPr>
        <p:spPr>
          <a:xfrm>
            <a:off x="548640" y="4178807"/>
            <a:ext cx="365760" cy="365760"/>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48640" y="4178807"/>
            <a:ext cx="365760" cy="365760"/>
          </a:xfrm>
          <a:prstGeom prst="rect">
            <a:avLst/>
          </a:prstGeom>
          <a:noFill/>
        </p:spPr>
        <p:txBody>
          <a:bodyPr wrap="square" anchor="ctr" lIns="45720" rIns="45720" tIns="27432" bIns="27432">
            <a:spAutoFit/>
          </a:bodyPr>
          <a:lstStyle/>
          <a:p>
            <a:pPr algn="ctr"/>
            <a:r>
              <a:rPr sz="1400" b="1">
                <a:solidFill>
                  <a:srgbClr val="FFFFFF"/>
                </a:solidFill>
                <a:latin typeface="Calibri"/>
              </a:rPr>
              <a:t>3</a:t>
            </a:r>
          </a:p>
        </p:txBody>
      </p:sp>
      <p:sp>
        <p:nvSpPr>
          <p:cNvPr id="14" name="TextBox 13"/>
          <p:cNvSpPr txBox="1"/>
          <p:nvPr/>
        </p:nvSpPr>
        <p:spPr>
          <a:xfrm>
            <a:off x="1051560" y="4160520"/>
            <a:ext cx="6080760" cy="1188720"/>
          </a:xfrm>
          <a:prstGeom prst="rect">
            <a:avLst/>
          </a:prstGeom>
          <a:noFill/>
        </p:spPr>
        <p:txBody>
          <a:bodyPr wrap="square" anchor="t" lIns="45720" rIns="45720" tIns="27432" bIns="27432">
            <a:spAutoFit/>
          </a:bodyPr>
          <a:lstStyle/>
          <a:p>
            <a:pPr algn="l"/>
            <a:r>
              <a:rPr sz="1400" b="1">
                <a:solidFill>
                  <a:srgbClr val="1E2761"/>
                </a:solidFill>
                <a:latin typeface="Calibri"/>
              </a:rPr>
              <a:t>Check it appears under the team</a:t>
            </a:r>
          </a:p>
          <a:p>
            <a:pPr algn="l"/>
            <a:r>
              <a:rPr sz="1300" b="0">
                <a:solidFill>
                  <a:srgbClr val="1F1F2E"/>
                </a:solidFill>
                <a:latin typeface="Calibri"/>
              </a:rPr>
              <a:t>github.com/orgs/worldbank/teams/fiscal-policy-unit → Repositories lists everything the team can see.</a:t>
            </a:r>
          </a:p>
        </p:txBody>
      </p:sp>
      <p:sp>
        <p:nvSpPr>
          <p:cNvPr id="15" name="Rectangle 14"/>
          <p:cNvSpPr/>
          <p:nvPr/>
        </p:nvSpPr>
        <p:spPr>
          <a:xfrm>
            <a:off x="7498079" y="1783080"/>
            <a:ext cx="4142232" cy="3566160"/>
          </a:xfrm>
          <a:prstGeom prst="rect">
            <a:avLst/>
          </a:prstGeom>
          <a:solidFill>
            <a:srgbClr val="FFFFFF"/>
          </a:solidFill>
          <a:ln w="9525">
            <a:solidFill>
              <a:srgbClr val="D5DA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7498079" y="1783080"/>
            <a:ext cx="4142232" cy="384048"/>
          </a:xfrm>
          <a:prstGeom prst="rect">
            <a:avLst/>
          </a:prstGeom>
          <a:solidFill>
            <a:srgbClr val="242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635240" y="1783080"/>
            <a:ext cx="3840480" cy="384048"/>
          </a:xfrm>
          <a:prstGeom prst="rect">
            <a:avLst/>
          </a:prstGeom>
          <a:noFill/>
        </p:spPr>
        <p:txBody>
          <a:bodyPr wrap="square" anchor="ctr" lIns="45720" rIns="45720" tIns="27432" bIns="27432">
            <a:spAutoFit/>
          </a:bodyPr>
          <a:lstStyle/>
          <a:p>
            <a:pPr algn="l"/>
            <a:r>
              <a:rPr sz="1150" b="0">
                <a:solidFill>
                  <a:srgbClr val="FFFFFF"/>
                </a:solidFill>
                <a:latin typeface="Calibri"/>
              </a:rPr>
              <a:t>Create a new repository</a:t>
            </a:r>
          </a:p>
        </p:txBody>
      </p:sp>
      <p:sp>
        <p:nvSpPr>
          <p:cNvPr id="18" name="TextBox 17"/>
          <p:cNvSpPr txBox="1"/>
          <p:nvPr/>
        </p:nvSpPr>
        <p:spPr>
          <a:xfrm>
            <a:off x="7680960" y="2286000"/>
            <a:ext cx="3840480" cy="274320"/>
          </a:xfrm>
          <a:prstGeom prst="rect">
            <a:avLst/>
          </a:prstGeom>
          <a:noFill/>
        </p:spPr>
        <p:txBody>
          <a:bodyPr wrap="square" anchor="t" lIns="45720" rIns="45720" tIns="27432" bIns="27432">
            <a:spAutoFit/>
          </a:bodyPr>
          <a:lstStyle/>
          <a:p>
            <a:pPr algn="l"/>
            <a:r>
              <a:rPr sz="1050" b="0">
                <a:solidFill>
                  <a:srgbClr val="5C667A"/>
                </a:solidFill>
                <a:latin typeface="Calibri"/>
              </a:rPr>
              <a:t>Owner  ▾   worldbank   /   Repository name</a:t>
            </a:r>
          </a:p>
        </p:txBody>
      </p:sp>
      <p:sp>
        <p:nvSpPr>
          <p:cNvPr id="19" name="Rectangle 18"/>
          <p:cNvSpPr/>
          <p:nvPr/>
        </p:nvSpPr>
        <p:spPr>
          <a:xfrm>
            <a:off x="7680960" y="2560320"/>
            <a:ext cx="3749039" cy="347472"/>
          </a:xfrm>
          <a:prstGeom prst="rect">
            <a:avLst/>
          </a:prstGeom>
          <a:solidFill>
            <a:srgbClr val="F4F6FB"/>
          </a:solidFill>
          <a:ln w="9525">
            <a:solidFill>
              <a:srgbClr val="D5DA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772400" y="2560320"/>
            <a:ext cx="3566160" cy="347472"/>
          </a:xfrm>
          <a:prstGeom prst="rect">
            <a:avLst/>
          </a:prstGeom>
          <a:noFill/>
        </p:spPr>
        <p:txBody>
          <a:bodyPr wrap="square" anchor="ctr" lIns="45720" rIns="45720" tIns="27432" bIns="27432">
            <a:spAutoFit/>
          </a:bodyPr>
          <a:lstStyle/>
          <a:p>
            <a:pPr algn="l"/>
            <a:r>
              <a:rPr sz="1100" b="0">
                <a:solidFill>
                  <a:srgbClr val="1F1F2E"/>
                </a:solidFill>
                <a:latin typeface="Calibri"/>
              </a:rPr>
              <a:t>my-analysis-repo</a:t>
            </a:r>
          </a:p>
        </p:txBody>
      </p:sp>
      <p:sp>
        <p:nvSpPr>
          <p:cNvPr id="21" name="TextBox 20"/>
          <p:cNvSpPr txBox="1"/>
          <p:nvPr/>
        </p:nvSpPr>
        <p:spPr>
          <a:xfrm>
            <a:off x="7680960" y="3017520"/>
            <a:ext cx="3840480" cy="548640"/>
          </a:xfrm>
          <a:prstGeom prst="rect">
            <a:avLst/>
          </a:prstGeom>
          <a:noFill/>
        </p:spPr>
        <p:txBody>
          <a:bodyPr wrap="square" anchor="t" lIns="45720" rIns="45720" tIns="27432" bIns="27432">
            <a:spAutoFit/>
          </a:bodyPr>
          <a:lstStyle/>
          <a:p>
            <a:pPr algn="l"/>
            <a:r>
              <a:rPr sz="1100" b="0">
                <a:solidFill>
                  <a:srgbClr val="1F1F2E"/>
                </a:solidFill>
                <a:latin typeface="Calibri"/>
              </a:rPr>
              <a:t>◉  Private   ○  Public</a:t>
            </a:r>
          </a:p>
          <a:p>
            <a:pPr algn="l"/>
            <a:r>
              <a:rPr sz="1100" b="0">
                <a:solidFill>
                  <a:srgbClr val="1F1F2E"/>
                </a:solidFill>
                <a:latin typeface="Calibri"/>
              </a:rPr>
              <a:t>☐  Add a README file</a:t>
            </a:r>
          </a:p>
        </p:txBody>
      </p:sp>
      <p:sp>
        <p:nvSpPr>
          <p:cNvPr id="22" name="Rounded Rectangle 21"/>
          <p:cNvSpPr/>
          <p:nvPr/>
        </p:nvSpPr>
        <p:spPr>
          <a:xfrm>
            <a:off x="7680960" y="3749039"/>
            <a:ext cx="1280160" cy="329184"/>
          </a:xfrm>
          <a:prstGeom prst="roundRect">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680960" y="3749039"/>
            <a:ext cx="1280160" cy="329184"/>
          </a:xfrm>
          <a:prstGeom prst="rect">
            <a:avLst/>
          </a:prstGeom>
          <a:noFill/>
        </p:spPr>
        <p:txBody>
          <a:bodyPr wrap="square" anchor="ctr" lIns="45720" rIns="45720" tIns="27432" bIns="27432">
            <a:spAutoFit/>
          </a:bodyPr>
          <a:lstStyle/>
          <a:p>
            <a:pPr algn="ctr"/>
            <a:r>
              <a:rPr sz="1100" b="1">
                <a:solidFill>
                  <a:srgbClr val="FFFFFF"/>
                </a:solidFill>
                <a:latin typeface="Calibri"/>
              </a:rPr>
              <a:t>Create</a:t>
            </a:r>
          </a:p>
        </p:txBody>
      </p:sp>
      <p:sp>
        <p:nvSpPr>
          <p:cNvPr id="24" name="TextBox 23"/>
          <p:cNvSpPr txBox="1"/>
          <p:nvPr/>
        </p:nvSpPr>
        <p:spPr>
          <a:xfrm>
            <a:off x="7680960" y="4206240"/>
            <a:ext cx="3840480" cy="1097280"/>
          </a:xfrm>
          <a:prstGeom prst="rect">
            <a:avLst/>
          </a:prstGeom>
          <a:noFill/>
        </p:spPr>
        <p:txBody>
          <a:bodyPr wrap="square" anchor="t" lIns="45720" rIns="45720" tIns="27432" bIns="27432">
            <a:spAutoFit/>
          </a:bodyPr>
          <a:lstStyle/>
          <a:p>
            <a:pPr algn="l"/>
            <a:r>
              <a:rPr sz="1050" b="0">
                <a:solidFill>
                  <a:srgbClr val="5C667A"/>
                </a:solidFill>
                <a:latin typeface="Calibri"/>
              </a:rPr>
              <a:t>Then: Settings → Collaborators and teams → Add teams → fiscal-policy-unit.</a:t>
            </a:r>
          </a:p>
        </p:txBody>
      </p:sp>
      <p:sp>
        <p:nvSpPr>
          <p:cNvPr id="25" name="Rectangle 24"/>
          <p:cNvSpPr/>
          <p:nvPr/>
        </p:nvSpPr>
        <p:spPr>
          <a:xfrm>
            <a:off x="548640" y="5532120"/>
            <a:ext cx="11091672" cy="731520"/>
          </a:xfrm>
          <a:prstGeom prst="rect">
            <a:avLst/>
          </a:prstGeom>
          <a:solidFill>
            <a:srgbClr val="E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31520" y="5532120"/>
            <a:ext cx="10789920" cy="731520"/>
          </a:xfrm>
          <a:prstGeom prst="rect">
            <a:avLst/>
          </a:prstGeom>
          <a:noFill/>
        </p:spPr>
        <p:txBody>
          <a:bodyPr wrap="square" anchor="ctr" lIns="45720" rIns="45720" tIns="27432" bIns="27432">
            <a:spAutoFit/>
          </a:bodyPr>
          <a:lstStyle/>
          <a:p>
            <a:pPr algn="l"/>
            <a:r>
              <a:rPr sz="1250" b="1">
                <a:solidFill>
                  <a:srgbClr val="0F7B6C"/>
                </a:solidFill>
                <a:latin typeface="Calibri"/>
              </a:rPr>
              <a:t>Repos for the shared tools (cpmodel) already exist — you clone them rather than create them. Create WBG repos for your own unit work.</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7315200" cy="274320"/>
          </a:xfrm>
          <a:prstGeom prst="rect">
            <a:avLst/>
          </a:prstGeom>
          <a:noFill/>
        </p:spPr>
        <p:txBody>
          <a:bodyPr wrap="square" anchor="t" lIns="45720" rIns="45720" tIns="27432" bIns="27432">
            <a:spAutoFit/>
          </a:bodyPr>
          <a:lstStyle/>
          <a:p>
            <a:pPr algn="l"/>
            <a:r>
              <a:rPr sz="1200" b="1">
                <a:solidFill>
                  <a:srgbClr val="E08A1E"/>
                </a:solidFill>
                <a:latin typeface="Calibri"/>
              </a:rPr>
              <a:t>APPENDIX 2 · ONBOARDING STEPS 4 AND 5 OF 5</a:t>
            </a:r>
          </a:p>
        </p:txBody>
      </p:sp>
      <p:sp>
        <p:nvSpPr>
          <p:cNvPr id="3" name="TextBox 2"/>
          <p:cNvSpPr txBox="1"/>
          <p:nvPr/>
        </p:nvSpPr>
        <p:spPr>
          <a:xfrm>
            <a:off x="548640" y="502920"/>
            <a:ext cx="11064240" cy="685800"/>
          </a:xfrm>
          <a:prstGeom prst="rect">
            <a:avLst/>
          </a:prstGeom>
          <a:noFill/>
        </p:spPr>
        <p:txBody>
          <a:bodyPr wrap="square" anchor="t" lIns="45720" rIns="45720" tIns="27432" bIns="27432">
            <a:spAutoFit/>
          </a:bodyPr>
          <a:lstStyle/>
          <a:p>
            <a:pPr algn="l"/>
            <a:r>
              <a:rPr sz="3000" b="0">
                <a:solidFill>
                  <a:srgbClr val="1E2761"/>
                </a:solidFill>
                <a:latin typeface="Cambria"/>
              </a:rPr>
              <a:t>Set up Copilot on your computer, then clone a repo</a:t>
            </a:r>
          </a:p>
        </p:txBody>
      </p:sp>
      <p:sp>
        <p:nvSpPr>
          <p:cNvPr id="4" name="TextBox 3"/>
          <p:cNvSpPr txBox="1"/>
          <p:nvPr/>
        </p:nvSpPr>
        <p:spPr>
          <a:xfrm>
            <a:off x="548640" y="6473952"/>
            <a:ext cx="8686800" cy="228600"/>
          </a:xfrm>
          <a:prstGeom prst="rect">
            <a:avLst/>
          </a:prstGeom>
          <a:noFill/>
        </p:spPr>
        <p:txBody>
          <a:bodyPr wrap="square" anchor="t" lIns="45720" rIns="45720" tIns="27432" bIns="27432">
            <a:spAutoFit/>
          </a:bodyPr>
          <a:lstStyle/>
          <a:p>
            <a:pPr algn="l"/>
            <a:r>
              <a:rPr sz="900" b="0">
                <a:solidFill>
                  <a:srgbClr val="5C667A"/>
                </a:solidFill>
                <a:latin typeface="Calibri"/>
              </a:rPr>
              <a:t>Using GitHub Copilot with our repositories: user guide   ·   Screens and model names change over time</a:t>
            </a:r>
          </a:p>
        </p:txBody>
      </p:sp>
      <p:sp>
        <p:nvSpPr>
          <p:cNvPr id="5" name="Rectangle 4"/>
          <p:cNvSpPr/>
          <p:nvPr/>
        </p:nvSpPr>
        <p:spPr>
          <a:xfrm>
            <a:off x="548640" y="1371600"/>
            <a:ext cx="5422392" cy="32004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77240" y="1463040"/>
            <a:ext cx="5029200" cy="365760"/>
          </a:xfrm>
          <a:prstGeom prst="rect">
            <a:avLst/>
          </a:prstGeom>
          <a:noFill/>
        </p:spPr>
        <p:txBody>
          <a:bodyPr wrap="square" anchor="t" lIns="45720" rIns="45720" tIns="27432" bIns="27432">
            <a:spAutoFit/>
          </a:bodyPr>
          <a:lstStyle/>
          <a:p>
            <a:pPr algn="l"/>
            <a:r>
              <a:rPr sz="1600" b="1">
                <a:solidFill>
                  <a:srgbClr val="1E2761"/>
                </a:solidFill>
                <a:latin typeface="Calibri"/>
              </a:rPr>
              <a:t>Option A · VS Code extension</a:t>
            </a:r>
          </a:p>
        </p:txBody>
      </p:sp>
      <p:sp>
        <p:nvSpPr>
          <p:cNvPr id="7" name="TextBox 6"/>
          <p:cNvSpPr txBox="1"/>
          <p:nvPr/>
        </p:nvSpPr>
        <p:spPr>
          <a:xfrm>
            <a:off x="777240" y="1874519"/>
            <a:ext cx="5029200" cy="2651760"/>
          </a:xfrm>
          <a:prstGeom prst="rect">
            <a:avLst/>
          </a:prstGeom>
          <a:noFill/>
        </p:spPr>
        <p:txBody>
          <a:bodyPr wrap="square" anchor="t" lIns="45720" rIns="45720" tIns="27432" bIns="27432">
            <a:spAutoFit/>
          </a:bodyPr>
          <a:lstStyle/>
          <a:p>
            <a:pPr algn="l"/>
            <a:r>
              <a:rPr sz="1250" b="0">
                <a:solidFill>
                  <a:srgbClr val="1F1F2E"/>
                </a:solidFill>
                <a:latin typeface="Calibri"/>
              </a:rPr>
              <a:t>A traditional coding experience, if you already use VS Code.</a:t>
            </a:r>
          </a:p>
          <a:p>
            <a:pPr algn="l">
              <a:spcBef>
                <a:spcPts val="800"/>
              </a:spcBef>
            </a:pPr>
            <a:r>
              <a:rPr sz="1250" b="0">
                <a:solidFill>
                  <a:srgbClr val="1F1F2E"/>
                </a:solidFill>
                <a:latin typeface="Calibri"/>
              </a:rPr>
              <a:t>1.  Install VS Code from the Software Center or the Company Portal.</a:t>
            </a:r>
          </a:p>
          <a:p>
            <a:pPr algn="l">
              <a:spcBef>
                <a:spcPts val="400"/>
              </a:spcBef>
            </a:pPr>
            <a:r>
              <a:rPr sz="1250" b="0">
                <a:solidFill>
                  <a:srgbClr val="1F1F2E"/>
                </a:solidFill>
                <a:latin typeface="Calibri"/>
              </a:rPr>
              <a:t>2.  Open the Extensions panel, install GitHub Copilot and GitHub Copilot Chat.</a:t>
            </a:r>
          </a:p>
          <a:p>
            <a:pPr algn="l">
              <a:spcBef>
                <a:spcPts val="400"/>
              </a:spcBef>
            </a:pPr>
            <a:r>
              <a:rPr sz="1250" b="0">
                <a:solidFill>
                  <a:srgbClr val="1F1F2E"/>
                </a:solidFill>
                <a:latin typeface="Calibri"/>
              </a:rPr>
              <a:t>3.  Sign in with your GitHub account (the one in the WBG organisation) and enable the extension.</a:t>
            </a:r>
          </a:p>
        </p:txBody>
      </p:sp>
      <p:sp>
        <p:nvSpPr>
          <p:cNvPr id="8" name="Rectangle 7"/>
          <p:cNvSpPr/>
          <p:nvPr/>
        </p:nvSpPr>
        <p:spPr>
          <a:xfrm>
            <a:off x="6217920" y="1371600"/>
            <a:ext cx="5422392" cy="3200400"/>
          </a:xfrm>
          <a:prstGeom prst="rect">
            <a:avLst/>
          </a:prstGeom>
          <a:solidFill>
            <a:srgbClr val="E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446520" y="1463040"/>
            <a:ext cx="3566160" cy="365760"/>
          </a:xfrm>
          <a:prstGeom prst="rect">
            <a:avLst/>
          </a:prstGeom>
          <a:noFill/>
        </p:spPr>
        <p:txBody>
          <a:bodyPr wrap="square" anchor="t" lIns="45720" rIns="45720" tIns="27432" bIns="27432">
            <a:spAutoFit/>
          </a:bodyPr>
          <a:lstStyle/>
          <a:p>
            <a:pPr algn="l"/>
            <a:r>
              <a:rPr sz="1600" b="1">
                <a:solidFill>
                  <a:srgbClr val="0F7B6C"/>
                </a:solidFill>
                <a:latin typeface="Calibri"/>
              </a:rPr>
              <a:t>Option B · GitHub Copilot App</a:t>
            </a:r>
          </a:p>
        </p:txBody>
      </p:sp>
      <p:sp>
        <p:nvSpPr>
          <p:cNvPr id="10" name="Rounded Rectangle 9"/>
          <p:cNvSpPr/>
          <p:nvPr/>
        </p:nvSpPr>
        <p:spPr>
          <a:xfrm>
            <a:off x="9966960" y="1481328"/>
            <a:ext cx="1508760" cy="310896"/>
          </a:xfrm>
          <a:prstGeom prst="roundRect">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966960" y="1481328"/>
            <a:ext cx="1508760" cy="310896"/>
          </a:xfrm>
          <a:prstGeom prst="rect">
            <a:avLst/>
          </a:prstGeom>
          <a:noFill/>
        </p:spPr>
        <p:txBody>
          <a:bodyPr wrap="square" anchor="ctr" lIns="45720" rIns="45720" tIns="27432" bIns="27432">
            <a:spAutoFit/>
          </a:bodyPr>
          <a:lstStyle/>
          <a:p>
            <a:pPr algn="ctr"/>
            <a:r>
              <a:rPr sz="1050" b="1">
                <a:solidFill>
                  <a:srgbClr val="FFFFFF"/>
                </a:solidFill>
                <a:latin typeface="Calibri"/>
              </a:rPr>
              <a:t>Used in this guide</a:t>
            </a:r>
          </a:p>
        </p:txBody>
      </p:sp>
      <p:sp>
        <p:nvSpPr>
          <p:cNvPr id="12" name="TextBox 11"/>
          <p:cNvSpPr txBox="1"/>
          <p:nvPr/>
        </p:nvSpPr>
        <p:spPr>
          <a:xfrm>
            <a:off x="6446520" y="1874519"/>
            <a:ext cx="5029200" cy="2651760"/>
          </a:xfrm>
          <a:prstGeom prst="rect">
            <a:avLst/>
          </a:prstGeom>
          <a:noFill/>
        </p:spPr>
        <p:txBody>
          <a:bodyPr wrap="square" anchor="t" lIns="45720" rIns="45720" tIns="27432" bIns="27432">
            <a:spAutoFit/>
          </a:bodyPr>
          <a:lstStyle/>
          <a:p>
            <a:pPr algn="l"/>
            <a:r>
              <a:rPr sz="1250" b="0">
                <a:solidFill>
                  <a:srgbClr val="1F1F2E"/>
                </a:solidFill>
                <a:latin typeface="Calibri"/>
              </a:rPr>
              <a:t>A Claude Code or Codex-like agent experience: you describe the task, it works in the repo.</a:t>
            </a:r>
          </a:p>
          <a:p>
            <a:pPr algn="l">
              <a:spcBef>
                <a:spcPts val="800"/>
              </a:spcBef>
            </a:pPr>
            <a:r>
              <a:rPr sz="1250" b="0">
                <a:solidFill>
                  <a:srgbClr val="1F1F2E"/>
                </a:solidFill>
                <a:latin typeface="Calibri"/>
              </a:rPr>
              <a:t>1.  Install the GitHub Copilot App from the Microsoft Store.</a:t>
            </a:r>
          </a:p>
          <a:p>
            <a:pPr algn="l">
              <a:spcBef>
                <a:spcPts val="400"/>
              </a:spcBef>
            </a:pPr>
            <a:r>
              <a:rPr sz="1250" b="0">
                <a:solidFill>
                  <a:srgbClr val="1F1F2E"/>
                </a:solidFill>
                <a:latin typeface="Calibri"/>
              </a:rPr>
              <a:t>2.  Sign in with the same GitHub account.</a:t>
            </a:r>
          </a:p>
          <a:p>
            <a:pPr algn="l">
              <a:spcBef>
                <a:spcPts val="400"/>
              </a:spcBef>
            </a:pPr>
            <a:r>
              <a:rPr sz="1250" b="0">
                <a:solidFill>
                  <a:srgbClr val="1F1F2E"/>
                </a:solidFill>
                <a:latin typeface="Calibri"/>
              </a:rPr>
              <a:t>3.  Add a project: point it at a repo folder under C:\Users\&lt;you&gt;\Repos\ or clone one from GitHub.</a:t>
            </a:r>
          </a:p>
        </p:txBody>
      </p:sp>
      <p:sp>
        <p:nvSpPr>
          <p:cNvPr id="13" name="Rectangle 12"/>
          <p:cNvSpPr/>
          <p:nvPr/>
        </p:nvSpPr>
        <p:spPr>
          <a:xfrm>
            <a:off x="548640" y="4754880"/>
            <a:ext cx="11091672" cy="1508760"/>
          </a:xfrm>
          <a:prstGeom prst="rect">
            <a:avLst/>
          </a:prstGeom>
          <a:solidFill>
            <a:srgbClr val="FD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77240" y="4846320"/>
            <a:ext cx="10698480" cy="365760"/>
          </a:xfrm>
          <a:prstGeom prst="rect">
            <a:avLst/>
          </a:prstGeom>
          <a:noFill/>
        </p:spPr>
        <p:txBody>
          <a:bodyPr wrap="square" anchor="t" lIns="45720" rIns="45720" tIns="27432" bIns="27432">
            <a:spAutoFit/>
          </a:bodyPr>
          <a:lstStyle/>
          <a:p>
            <a:pPr algn="l"/>
            <a:r>
              <a:rPr sz="1600" b="1">
                <a:solidFill>
                  <a:srgbClr val="E08A1E"/>
                </a:solidFill>
                <a:latin typeface="Calibri"/>
              </a:rPr>
              <a:t>Step 5 · Clone a repo and ask the agent some questions</a:t>
            </a:r>
          </a:p>
        </p:txBody>
      </p:sp>
      <p:sp>
        <p:nvSpPr>
          <p:cNvPr id="15" name="TextBox 14"/>
          <p:cNvSpPr txBox="1"/>
          <p:nvPr/>
        </p:nvSpPr>
        <p:spPr>
          <a:xfrm>
            <a:off x="777240" y="5257800"/>
            <a:ext cx="10698480" cy="960120"/>
          </a:xfrm>
          <a:prstGeom prst="rect">
            <a:avLst/>
          </a:prstGeom>
          <a:noFill/>
        </p:spPr>
        <p:txBody>
          <a:bodyPr wrap="square" anchor="t" lIns="45720" rIns="45720" tIns="27432" bIns="27432">
            <a:spAutoFit/>
          </a:bodyPr>
          <a:lstStyle/>
          <a:p>
            <a:pPr algn="l"/>
            <a:r>
              <a:rPr sz="1250" b="0">
                <a:solidFill>
                  <a:srgbClr val="1F1F2E"/>
                </a:solidFill>
                <a:latin typeface="Calibri"/>
              </a:rPr>
              <a:t>gh repo clone cpmodel/&lt;repo&gt;  (or use the app's Clone button), then open it as a session and try: 'What is in this repo and what does the README say to do first?'  ·  'Explain SyncRepo.bat.'  ·  'Which files would I change to add a new country?'</a:t>
            </a:r>
          </a:p>
          <a:p>
            <a:pPr algn="l">
              <a:spcBef>
                <a:spcPts val="400"/>
              </a:spcBef>
            </a:pPr>
            <a:r>
              <a:rPr sz="1200" b="0">
                <a:solidFill>
                  <a:srgbClr val="1F1F2E"/>
                </a:solidFill>
                <a:latin typeface="Calibri"/>
              </a:rPr>
              <a:t>Nothing is edited until you ask. See Appendix 1 (Ways of working, Which model) for what to do next.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