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one-tab Excel version of the CPAT mitigation chain (policies, prices, fuel use, revenues, CO2), generated and checked by AI. The deck is both a short pitch (slides 2-3) and a user guide (slides 4-6).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purposes: (1) demonstrate AI generation of an Excel model; (2) for the core mitigation equations; (3) make it more readable than the current workbook. Scope and gaps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3-6 of the brief: readability, fixed rows (time series), sector- and fuel-specific quantities, and speed of building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6: scenarios via a simple lookup. Row 5 holds the scenario number; every input row looks up its value in that MTInputs column. Copying a block increments the number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5: equations that need a sector- or fuel-specific quantity read it from the parameter columns of their own row, so the formula is identical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8: direct formulas on the left (2022-2039) and compact LAMBDA formulas on the right (2040). Light beige marks blocks that are copy-pasteable within themselves but not into white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7: store data, graphs and scenario settings with CPAT, then copy outputs for many scenarios into an updated MTOutputs sheet (outputs only for now, not inputs).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CPAT-AI-Mitigation-MVP v1.00  ·  pitch and user guide  ·  screenshots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PITCH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CPAT-AI-Mitigation-MVP v1.00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CPAT's mitigation equations, generated by AI as a tidy Excel workbook that you can copy, drag and extend: one tab, scenarios side by side.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55448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AI-generated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240280" y="4343400"/>
            <a:ext cx="16916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240280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Copy-pasteable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06908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06908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Scenarios left to right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Draft,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6483096" y="1042416"/>
            <a:ext cx="518464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-AI-Local/cpat_excel_new/mitigation_copypaste/presentation/img/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097280"/>
            <a:ext cx="5074920" cy="3547872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6537960" y="47548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everything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SCOPE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workbook is for</a:t>
            </a:r>
            <a:endParaRPr lang="en-US" sz="3000" dirty="0"/>
          </a:p>
        </p:txBody>
      </p:sp>
      <p:sp>
        <p:nvSpPr>
          <p:cNvPr id="4" name="badge-13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4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5"/>
          <p:cNvSpPr txBox="1"/>
          <p:nvPr/>
        </p:nvSpPr>
        <p:spPr>
          <a:xfrm>
            <a:off x="109728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Show that AI can generate a working Excel model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Every formula, label and check was written by AI from plain-language instructions, and every value is re-computed independently to confirm it.</a:t>
            </a:r>
            <a:endParaRPr lang="en-US" sz="1500" dirty="0"/>
          </a:p>
        </p:txBody>
      </p:sp>
      <p:sp>
        <p:nvSpPr>
          <p:cNvPr id="7" name="badge-16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7"/>
          <p:cNvSpPr txBox="1"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8"/>
          <p:cNvSpPr txBox="1"/>
          <p:nvPr/>
        </p:nvSpPr>
        <p:spPr>
          <a:xfrm>
            <a:off x="1097280" y="2834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 it for the main mitigation equations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Policies → retail prices → fuel use → revenues → CO2, following the CPAT documentation and legacy rules.</a:t>
            </a:r>
            <a:endParaRPr lang="en-US" sz="1500" dirty="0"/>
          </a:p>
        </p:txBody>
      </p:sp>
      <p:sp>
        <p:nvSpPr>
          <p:cNvPr id="10" name="badge-19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20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21"/>
          <p:cNvSpPr txBox="1"/>
          <p:nvPr/>
        </p:nvSpPr>
        <p:spPr>
          <a:xfrm>
            <a:off x="1097280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Make it easier to read than today's CPAT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One tab, numbered sections, one row per fuel, everything rolled up on open. Tidier and more compact.</a:t>
            </a:r>
            <a:endParaRPr lang="en-US" sz="1500" dirty="0"/>
          </a:p>
        </p:txBody>
      </p:sp>
      <p:sp>
        <p:nvSpPr>
          <p:cNvPr id="13" name="card-22"/>
          <p:cNvSpPr/>
          <p:nvPr/>
        </p:nvSpPr>
        <p:spPr>
          <a:xfrm>
            <a:off x="7086600" y="1508760"/>
            <a:ext cx="4526280" cy="36118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definition-23"/>
          <p:cNvSpPr txBox="1"/>
          <p:nvPr/>
        </p:nvSpPr>
        <p:spPr>
          <a:xfrm>
            <a:off x="7269480" y="1645920"/>
            <a:ext cx="4160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DEFINITION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1F2E"/>
                </a:solidFill>
              </a:rPr>
              <a:t>A minimum viable product (MVP): the CPAT mitigation module rebuilt as an AI-generated, copy-pasteable Excel file.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SCOPE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Egypt; 16 energy-use sectors × 8 fuels; 2022–2040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Carbon tax, ETS, fuel price reform, feebates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Prices, fuel use, revenues and CO2, in real 2026 USD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YET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Power sector, other gases, local pollutants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Full numerical match with legacy CPAT</a:t>
            </a:r>
            <a:endParaRPr lang="en-US" sz="1100" dirty="0"/>
          </a:p>
        </p:txBody>
      </p:sp>
      <p:sp>
        <p:nvSpPr>
          <p:cNvPr id="15" name="flow-24"/>
          <p:cNvSpPr/>
          <p:nvPr/>
        </p:nvSpPr>
        <p:spPr>
          <a:xfrm>
            <a:off x="548640" y="544068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flowText-25"/>
          <p:cNvSpPr txBox="1"/>
          <p:nvPr/>
        </p:nvSpPr>
        <p:spPr>
          <a:xfrm>
            <a:off x="548640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17" name="flowArrow-26"/>
          <p:cNvSpPr/>
          <p:nvPr/>
        </p:nvSpPr>
        <p:spPr>
          <a:xfrm>
            <a:off x="2395728" y="5577840"/>
            <a:ext cx="338328" cy="274320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8" name="flow-27"/>
          <p:cNvSpPr/>
          <p:nvPr/>
        </p:nvSpPr>
        <p:spPr>
          <a:xfrm>
            <a:off x="2798064" y="544068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flowText-28"/>
          <p:cNvSpPr txBox="1"/>
          <p:nvPr/>
        </p:nvSpPr>
        <p:spPr>
          <a:xfrm>
            <a:off x="2798064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Retail prices</a:t>
            </a:r>
            <a:endParaRPr lang="en-US" sz="1400" dirty="0"/>
          </a:p>
        </p:txBody>
      </p:sp>
      <p:sp>
        <p:nvSpPr>
          <p:cNvPr id="20" name="flowArrow-29"/>
          <p:cNvSpPr/>
          <p:nvPr/>
        </p:nvSpPr>
        <p:spPr>
          <a:xfrm>
            <a:off x="4645152" y="5577840"/>
            <a:ext cx="338328" cy="274320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1" name="flow-30"/>
          <p:cNvSpPr/>
          <p:nvPr/>
        </p:nvSpPr>
        <p:spPr>
          <a:xfrm>
            <a:off x="5047488" y="544068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flowText-31"/>
          <p:cNvSpPr txBox="1"/>
          <p:nvPr/>
        </p:nvSpPr>
        <p:spPr>
          <a:xfrm>
            <a:off x="5047488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23" name="flowArrow-32"/>
          <p:cNvSpPr/>
          <p:nvPr/>
        </p:nvSpPr>
        <p:spPr>
          <a:xfrm>
            <a:off x="6894576" y="5577840"/>
            <a:ext cx="338328" cy="274320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low-33"/>
          <p:cNvSpPr/>
          <p:nvPr/>
        </p:nvSpPr>
        <p:spPr>
          <a:xfrm>
            <a:off x="7296912" y="544068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flowText-34"/>
          <p:cNvSpPr txBox="1"/>
          <p:nvPr/>
        </p:nvSpPr>
        <p:spPr>
          <a:xfrm>
            <a:off x="7296912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12. Revenues</a:t>
            </a:r>
            <a:endParaRPr lang="en-US" sz="1400" dirty="0"/>
          </a:p>
        </p:txBody>
      </p:sp>
      <p:sp>
        <p:nvSpPr>
          <p:cNvPr id="26" name="flowArrow-35"/>
          <p:cNvSpPr/>
          <p:nvPr/>
        </p:nvSpPr>
        <p:spPr>
          <a:xfrm>
            <a:off x="9144000" y="5577840"/>
            <a:ext cx="338328" cy="274320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7" name="flow-36"/>
          <p:cNvSpPr/>
          <p:nvPr/>
        </p:nvSpPr>
        <p:spPr>
          <a:xfrm>
            <a:off x="9546336" y="544068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flowText-37"/>
          <p:cNvSpPr txBox="1"/>
          <p:nvPr/>
        </p:nvSpPr>
        <p:spPr>
          <a:xfrm>
            <a:off x="9546336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13. CO2</a:t>
            </a:r>
            <a:endParaRPr lang="en-US" sz="1400" dirty="0"/>
          </a:p>
        </p:txBody>
      </p:sp>
      <p:sp>
        <p:nvSpPr>
          <p:cNvPr id="29" name="caption-38"/>
          <p:cNvSpPr txBox="1"/>
          <p:nvPr/>
        </p:nvSpPr>
        <p:spPr>
          <a:xfrm>
            <a:off x="54864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chain on the Mitigation tab (legacy CPAT section numbers)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39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40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MVP</a:t>
            </a:r>
            <a:endParaRPr lang="en-US" sz="1100" dirty="0"/>
          </a:p>
        </p:txBody>
      </p:sp>
      <p:sp>
        <p:nvSpPr>
          <p:cNvPr id="6" name="problem-41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42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Messy and hard to read</a:t>
            </a:r>
            <a:endParaRPr lang="en-US" sz="1500" dirty="0"/>
          </a:p>
        </p:txBody>
      </p:sp>
      <p:sp>
        <p:nvSpPr>
          <p:cNvPr id="8" name="arrow-43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44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45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Numbered sections, one row per fuel, rolled up on open; differences with legacy listed on one tab</a:t>
            </a:r>
            <a:endParaRPr lang="en-US" sz="1500" dirty="0"/>
          </a:p>
        </p:txBody>
      </p:sp>
      <p:sp>
        <p:nvSpPr>
          <p:cNvPr id="11" name="problem-46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47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Hard to copy when a formula points to a fixed row, e.g. a time series</a:t>
            </a:r>
            <a:endParaRPr lang="en-US" sz="1500" dirty="0"/>
          </a:p>
        </p:txBody>
      </p:sp>
      <p:sp>
        <p:nvSpPr>
          <p:cNvPr id="13" name="arrow-48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49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50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Years run left to right and scenarios sit side by side, so fixed rows stay fixed: one formula per block</a:t>
            </a:r>
            <a:endParaRPr lang="en-US" sz="1500" dirty="0"/>
          </a:p>
        </p:txBody>
      </p:sp>
      <p:sp>
        <p:nvSpPr>
          <p:cNvPr id="16" name="problem-51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52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Hard to copy when a formula needs a sector- or fuel-specific number</a:t>
            </a:r>
            <a:endParaRPr lang="en-US" sz="1500" dirty="0"/>
          </a:p>
        </p:txBody>
      </p:sp>
      <p:sp>
        <p:nvSpPr>
          <p:cNvPr id="18" name="arrow-53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54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55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Those numbers sit in a left-hand section (columns D:G), so every row uses the same formula</a:t>
            </a:r>
            <a:endParaRPr lang="en-US" sz="1500" dirty="0"/>
          </a:p>
        </p:txBody>
      </p:sp>
      <p:sp>
        <p:nvSpPr>
          <p:cNvPr id="21" name="problem-56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57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New scenarios are slow to build</a:t>
            </a:r>
            <a:endParaRPr lang="en-US" sz="1500" dirty="0"/>
          </a:p>
        </p:txBody>
      </p:sp>
      <p:sp>
        <p:nvSpPr>
          <p:cNvPr id="23" name="arrow-58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59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60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Copy a scenario block; it finds its settings with one lookup on its MTInputs column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 sit side by side: add one in three steps</a:t>
            </a:r>
            <a:endParaRPr lang="en-US" sz="3000" dirty="0"/>
          </a:p>
        </p:txBody>
      </p:sp>
      <p:sp>
        <p:nvSpPr>
          <p:cNvPr id="4" name="frame-61"/>
          <p:cNvSpPr/>
          <p:nvPr/>
        </p:nvSpPr>
        <p:spPr>
          <a:xfrm>
            <a:off x="493776" y="1362456"/>
            <a:ext cx="11173968" cy="1490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62" descr="/home/user/CPAT-AI-Local/cpat_excel_new/mitigation_copypaste/presentation/img/02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1380744"/>
          </a:xfrm>
          <a:prstGeom prst="rect">
            <a:avLst/>
          </a:prstGeom>
        </p:spPr>
      </p:pic>
      <p:sp>
        <p:nvSpPr>
          <p:cNvPr id="6" name="caption-63"/>
          <p:cNvSpPr txBox="1"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years to 2040, and a blank column.</a:t>
            </a:r>
            <a:endParaRPr lang="en-US" sz="1200" dirty="0"/>
          </a:p>
        </p:txBody>
      </p:sp>
      <p:sp>
        <p:nvSpPr>
          <p:cNvPr id="7" name="badge-64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65"/>
          <p:cNvSpPr txBox="1"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66"/>
          <p:cNvSpPr txBox="1"/>
          <p:nvPr/>
        </p:nvSpPr>
        <p:spPr>
          <a:xfrm>
            <a:off x="1097280" y="3429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 a settings column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In MTInputs, copy the last scenario column one to the right and edit it.</a:t>
            </a:r>
            <a:endParaRPr lang="en-US" sz="1500" dirty="0"/>
          </a:p>
        </p:txBody>
      </p:sp>
      <p:sp>
        <p:nvSpPr>
          <p:cNvPr id="10" name="badge-67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68"/>
          <p:cNvSpPr txBox="1"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69"/>
          <p:cNvSpPr txBox="1"/>
          <p:nvPr/>
        </p:nvSpPr>
        <p:spPr>
          <a:xfrm>
            <a:off x="1097280" y="4389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 a scenario block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In Mitigation, copy a whole block and paste it to the right.</a:t>
            </a:r>
            <a:endParaRPr lang="en-US" sz="1500" dirty="0"/>
          </a:p>
        </p:txBody>
      </p:sp>
      <p:sp>
        <p:nvSpPr>
          <p:cNvPr id="13" name="badge-70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71"/>
          <p:cNvSpPr txBox="1"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item-72"/>
          <p:cNvSpPr txBox="1"/>
          <p:nvPr/>
        </p:nvSpPr>
        <p:spPr>
          <a:xfrm>
            <a:off x="109728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The scenario number goes up by one and the block reads its own MTInputs column.</a:t>
            </a:r>
            <a:endParaRPr lang="en-US" sz="1500" dirty="0"/>
          </a:p>
        </p:txBody>
      </p:sp>
      <p:sp>
        <p:nvSpPr>
          <p:cNvPr id="16" name="frame-73"/>
          <p:cNvSpPr/>
          <p:nvPr/>
        </p:nvSpPr>
        <p:spPr>
          <a:xfrm>
            <a:off x="6117336" y="3465576"/>
            <a:ext cx="555040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7" name="screenshot-74" descr="/home/user/CPAT-AI-Local/cpat_excel_new/mitigation_copypaste/presentation/img/05_mtinp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520440"/>
            <a:ext cx="5440680" cy="1655064"/>
          </a:xfrm>
          <a:prstGeom prst="rect">
            <a:avLst/>
          </a:prstGeom>
        </p:spPr>
      </p:pic>
      <p:sp>
        <p:nvSpPr>
          <p:cNvPr id="18" name="caption-75"/>
          <p:cNvSpPr txBox="1"/>
          <p:nvPr/>
        </p:nvSpPr>
        <p:spPr>
          <a:xfrm>
            <a:off x="6172200" y="5303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MTInputs keeps the legacy rows; one column per scenario (red = changed)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ROWS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Sector- and fuel-specific numbers live on the left</a:t>
            </a:r>
            <a:endParaRPr lang="en-US" sz="3000" dirty="0"/>
          </a:p>
        </p:txBody>
      </p:sp>
      <p:sp>
        <p:nvSpPr>
          <p:cNvPr id="4" name="frame-76"/>
          <p:cNvSpPr/>
          <p:nvPr/>
        </p:nvSpPr>
        <p:spPr>
          <a:xfrm>
            <a:off x="493776" y="1362456"/>
            <a:ext cx="73334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7" descr="/home/user/CPAT-AI-Local/cpat_excel_new/mitigation_copypaste/presentation/img/03_left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223760" cy="3867912"/>
          </a:xfrm>
          <a:prstGeom prst="rect">
            <a:avLst/>
          </a:prstGeom>
        </p:spPr>
      </p:pic>
      <p:sp>
        <p:nvSpPr>
          <p:cNvPr id="6" name="badge-78"/>
          <p:cNvSpPr/>
          <p:nvPr/>
        </p:nvSpPr>
        <p:spPr>
          <a:xfrm>
            <a:off x="8229600" y="15087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badgeText-79"/>
          <p:cNvSpPr txBox="1"/>
          <p:nvPr/>
        </p:nvSpPr>
        <p:spPr>
          <a:xfrm>
            <a:off x="82296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item-80"/>
          <p:cNvSpPr txBox="1"/>
          <p:nvPr/>
        </p:nvSpPr>
        <p:spPr>
          <a:xfrm>
            <a:off x="8778240" y="1463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Columns B:C — fuel and sector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Every row is one fuel in one sector (here: road transport).</a:t>
            </a:r>
            <a:endParaRPr lang="en-US" sz="1500" dirty="0"/>
          </a:p>
        </p:txBody>
      </p:sp>
      <p:sp>
        <p:nvSpPr>
          <p:cNvPr id="9" name="badge-81"/>
          <p:cNvSpPr/>
          <p:nvPr/>
        </p:nvSpPr>
        <p:spPr>
          <a:xfrm>
            <a:off x="8229600" y="27889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badgeText-82"/>
          <p:cNvSpPr txBox="1"/>
          <p:nvPr/>
        </p:nvSpPr>
        <p:spPr>
          <a:xfrm>
            <a:off x="82296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item-83"/>
          <p:cNvSpPr txBox="1"/>
          <p:nvPr/>
        </p:nvSpPr>
        <p:spPr>
          <a:xfrm>
            <a:off x="8778240" y="2743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Columns D:G — that row's numbers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Emission factor, elasticities, positions: looked up once from the Inputs sheet.</a:t>
            </a:r>
            <a:endParaRPr lang="en-US" sz="1500" dirty="0"/>
          </a:p>
        </p:txBody>
      </p:sp>
      <p:sp>
        <p:nvSpPr>
          <p:cNvPr id="12" name="badge-84"/>
          <p:cNvSpPr/>
          <p:nvPr/>
        </p:nvSpPr>
        <p:spPr>
          <a:xfrm>
            <a:off x="8229600" y="40690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badgeText-85"/>
          <p:cNvSpPr txBox="1"/>
          <p:nvPr/>
        </p:nvSpPr>
        <p:spPr>
          <a:xfrm>
            <a:off x="82296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item-86"/>
          <p:cNvSpPr txBox="1"/>
          <p:nvPr/>
        </p:nvSpPr>
        <p:spPr>
          <a:xfrm>
            <a:off x="8778240" y="40233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Year columns — one formula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The same formula in every row of a block: copy, drag or paste freely.</a:t>
            </a:r>
            <a:endParaRPr lang="en-US" sz="1500" dirty="0"/>
          </a:p>
        </p:txBody>
      </p:sp>
      <p:sp>
        <p:nvSpPr>
          <p:cNvPr id="15" name="tip-87"/>
          <p:cNvSpPr txBox="1"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Columns B:G and I:K are grouped and rolled up on open: click + above the columns to show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FORMULAS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write the same formula</a:t>
            </a:r>
            <a:endParaRPr lang="en-US" sz="3000" dirty="0"/>
          </a:p>
        </p:txBody>
      </p:sp>
      <p:sp>
        <p:nvSpPr>
          <p:cNvPr id="4" name="frame-88"/>
          <p:cNvSpPr/>
          <p:nvPr/>
        </p:nvSpPr>
        <p:spPr>
          <a:xfrm>
            <a:off x="1030560" y="1316736"/>
            <a:ext cx="101004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89" descr="/home/user/CPAT-AI-Local/cpat_excel_new/mitigation_copypaste/presentation/img/04_formu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424" y="1371600"/>
            <a:ext cx="9990672" cy="3017520"/>
          </a:xfrm>
          <a:prstGeom prst="rect">
            <a:avLst/>
          </a:prstGeom>
        </p:spPr>
      </p:pic>
      <p:sp>
        <p:nvSpPr>
          <p:cNvPr id="6" name="card-90"/>
          <p:cNvSpPr/>
          <p:nvPr/>
        </p:nvSpPr>
        <p:spPr>
          <a:xfrm>
            <a:off x="548640" y="4709160"/>
            <a:ext cx="352044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91"/>
          <p:cNvSpPr txBox="1"/>
          <p:nvPr/>
        </p:nvSpPr>
        <p:spPr>
          <a:xfrm>
            <a:off x="685800" y="4800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Direct formulas (left)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Plain Excel arithmetic, readable cell by cell. Data years and projection years are separate blocks.</a:t>
            </a:r>
            <a:endParaRPr lang="en-US" sz="1500" dirty="0"/>
          </a:p>
        </p:txBody>
      </p:sp>
      <p:sp>
        <p:nvSpPr>
          <p:cNvPr id="8" name="card-92"/>
          <p:cNvSpPr/>
          <p:nvPr/>
        </p:nvSpPr>
        <p:spPr>
          <a:xfrm>
            <a:off x="4315968" y="4709160"/>
            <a:ext cx="3520440" cy="146304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9" name="cardText-93"/>
          <p:cNvSpPr txBox="1"/>
          <p:nvPr/>
        </p:nvSpPr>
        <p:spPr>
          <a:xfrm>
            <a:off x="4453128" y="4800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 formulas (right)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Named functions such as FUELUSE(…), defined once in Name Manager, in the light-beige 2040 column. They may hold IF conditions.</a:t>
            </a:r>
            <a:endParaRPr lang="en-US" sz="1500" dirty="0"/>
          </a:p>
        </p:txBody>
      </p:sp>
      <p:sp>
        <p:nvSpPr>
          <p:cNvPr id="10" name="banner-94"/>
          <p:cNvSpPr/>
          <p:nvPr/>
        </p:nvSpPr>
        <p:spPr>
          <a:xfrm>
            <a:off x="8092440" y="4709160"/>
            <a:ext cx="3520440" cy="146304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1" name="bannerText-95"/>
          <p:cNvSpPr txBox="1"/>
          <p:nvPr/>
        </p:nvSpPr>
        <p:spPr>
          <a:xfrm>
            <a:off x="8229600" y="4800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Both can be dragged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Drag a direct formula right, or copy the LAMBDA left across the whole row: the checks confirm the results are identical.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keep data, charts and scenarios together</a:t>
            </a:r>
            <a:endParaRPr lang="en-US" sz="3000" dirty="0"/>
          </a:p>
        </p:txBody>
      </p:sp>
      <p:sp>
        <p:nvSpPr>
          <p:cNvPr id="4" name="frame-96"/>
          <p:cNvSpPr/>
          <p:nvPr/>
        </p:nvSpPr>
        <p:spPr>
          <a:xfrm>
            <a:off x="493776" y="1362456"/>
            <a:ext cx="6876288" cy="1362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97" descr="/home/user/CPAT-AI-Local/cpat_excel_new/mitigation_copypaste/presentation/img/06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1252728"/>
          </a:xfrm>
          <a:prstGeom prst="rect">
            <a:avLst/>
          </a:prstGeom>
        </p:spPr>
      </p:pic>
      <p:sp>
        <p:nvSpPr>
          <p:cNvPr id="6" name="caption-98"/>
          <p:cNvSpPr txBox="1"/>
          <p:nvPr/>
        </p:nvSpPr>
        <p:spPr>
          <a:xfrm>
            <a:off x="548640" y="2834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Results already carry full CPAT codes per scenario, e.g. egy.mit.co2.all.all.2</a:t>
            </a:r>
            <a:endParaRPr lang="en-US" sz="1200" dirty="0"/>
          </a:p>
        </p:txBody>
      </p:sp>
      <p:sp>
        <p:nvSpPr>
          <p:cNvPr id="7" name="badge-99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0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1"/>
          <p:cNvSpPr txBox="1"/>
          <p:nvPr/>
        </p:nvSpPr>
        <p:spPr>
          <a:xfrm>
            <a:off x="1097280" y="33832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Store data, charts and scenario settings in CPAT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Settings already sit in MTInputs columns; add data and charts next to them.</a:t>
            </a:r>
            <a:endParaRPr lang="en-US" sz="1500" dirty="0"/>
          </a:p>
        </p:txBody>
      </p:sp>
      <p:sp>
        <p:nvSpPr>
          <p:cNvPr id="10" name="badge-102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03"/>
          <p:cNvSpPr txBox="1"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04"/>
          <p:cNvSpPr txBox="1"/>
          <p:nvPr/>
        </p:nvSpPr>
        <p:spPr>
          <a:xfrm>
            <a:off x="1097280" y="43891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Collect outputs for many scenarios in an updated MTOutputs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Copy results across scenarios by their codes. Inputs stay as they are for now.</a:t>
            </a:r>
            <a:endParaRPr lang="en-US" sz="1500" dirty="0"/>
          </a:p>
        </p:txBody>
      </p:sp>
      <p:sp>
        <p:nvSpPr>
          <p:cNvPr id="13" name="badge-105"/>
          <p:cNvSpPr/>
          <p:nvPr/>
        </p:nvSpPr>
        <p:spPr>
          <a:xfrm>
            <a:off x="548640" y="54406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106"/>
          <p:cNvSpPr txBox="1"/>
          <p:nvPr/>
        </p:nvSpPr>
        <p:spPr>
          <a:xfrm>
            <a:off x="54864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item-107"/>
          <p:cNvSpPr txBox="1"/>
          <p:nvPr/>
        </p:nvSpPr>
        <p:spPr>
          <a:xfrm>
            <a:off x="1097280" y="53949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Extend and validate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Power sector, other gases, and a numerical check against legacy CPAT.</a:t>
            </a:r>
            <a:endParaRPr lang="en-US" sz="1500" dirty="0"/>
          </a:p>
        </p:txBody>
      </p:sp>
      <p:sp>
        <p:nvSpPr>
          <p:cNvPr id="16" name="card-108"/>
          <p:cNvSpPr/>
          <p:nvPr/>
        </p:nvSpPr>
        <p:spPr>
          <a:xfrm>
            <a:off x="7772400" y="1371600"/>
            <a:ext cx="384048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tart-109"/>
          <p:cNvSpPr txBox="1"/>
          <p:nvPr/>
        </p:nvSpPr>
        <p:spPr>
          <a:xfrm>
            <a:off x="8001000" y="1600200"/>
            <a:ext cx="3429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GETTING STARTED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Open the file: the Mitigation tab opens rolled up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Buttons 1 / 2 / 3 (top left) open more rows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Change a scenario in its MTInputs column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ReadMe explains assumptions; LegacyDiff lists every difference with legacy CPAT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Formulas: Formulas &gt; Name Manager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CPAT-AI-Mitigation-MVP v1.00: pitch and user guide</dc:title>
  <dc:subject>PptxGenJS Presentation</dc:subject>
  <dc:creator>PptxGenJS</dc:creator>
  <cp:lastModifiedBy>PptxGenJS</cp:lastModifiedBy>
  <cp:revision>1</cp:revision>
  <dcterms:created xsi:type="dcterms:W3CDTF">2026-10-09T14:45:56Z</dcterms:created>
  <dcterms:modified xsi:type="dcterms:W3CDTF">2026-10-09T14:45:56Z</dcterms:modified>
</cp:coreProperties>
</file>