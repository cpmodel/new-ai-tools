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66e9ef-fd03-b1f2-65a2-4c3ad76241e1}">
          <p14:sldIdLst>
            <p14:sldId id="256"/>
            <p14:sldId id="257"/>
          </p14:sldIdLst>
        </p14:section>
        <p14:section name="The toolkit" id="{57eab4a0-7b49-feec-3711-173cf1ef5224}">
          <p14:sldIdLst>
            <p14:sldId id="258"/>
            <p14:sldId id="259"/>
          </p14:sldIdLst>
        </p14:section>
        <p14:section name="Results" id="{2b603449-0366-1d44-112f-af15a024c13f}">
          <p14:sldIdLst>
            <p14:sldId id="260"/>
            <p14:sldId id="261"/>
            <p14:sldId id="262"/>
            <p14:sldId id="263"/>
          </p14:sldIdLst>
        </p14:section>
        <p14:section name="Next steps" id="{83fe87f7-eeb2-6678-57d4-280e562f65a0}">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F4A5A"/>
                </a:solidFill>
                <a:latin typeface="+mn-lt"/>
              </a:defRPr>
            </a:pPr>
            <a:r>
              <a:rPr sz="1200" b="0" i="0" u="none" strike="noStrike">
                <a:solidFill>
                  <a:srgbClr val="3F4A5A"/>
                </a:solidFill>
                <a:latin typeface="+mn-lt"/>
              </a:rPr>
              <a:t>Real GDP, % deviation from no-programme path</a:t>
            </a:r>
          </a:p>
        </c:rich>
      </c:tx>
      <c:layout/>
      <c:overlay val="0"/>
    </c:title>
    <c:autoTitleDeleted val="0"/>
    <c:plotArea>
      <c:layout/>
      <c:lineChart>
        <c:varyColors val="0"/>
        <c:ser>
          <c:idx val="0"/>
          <c:order val="0"/>
          <c:tx>
            <c:strRef>
              <c:f>Sheet1!$B$1</c:f>
              <c:strCache>
                <c:ptCount val="1"/>
                <c:pt idx="0">
                  <c:v>Debt financed</c:v>
                </c:pt>
              </c:strCache>
            </c:strRef>
          </c:tx>
          <c:spPr>
            <a:solidFill>
              <a:srgbClr val="14213D"/>
            </a:solidFill>
            <a:ln w="28575" cap="flat">
              <a:solidFill>
                <a:srgbClr val="1421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213D"/>
              </a:solidFill>
              <a:ln w="9525" cap="flat">
                <a:solidFill>
                  <a:srgbClr val="14213D"/>
                </a:solidFill>
                <a:prstDash val="solid"/>
                <a:round/>
              </a:ln>
              <a:effectLst/>
            </c:spPr>
          </c:marker>
          <c:cat>
            <c:multiLvlStrRef>
              <c:f>Sheet1!$A$2:$A$27</c:f>
              <c:multiLvlStrCache>
                <c:ptCount val="26"/>
                <c:lvl>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lvl>
              </c:multiLvlStrCache>
            </c:multiLvlStrRef>
          </c:cat>
          <c:val>
            <c:numRef>
              <c:f>Sheet1!$B$2:$B$27</c:f>
              <c:numCache>
                <c:formatCode>General</c:formatCode>
                <c:ptCount val="26"/>
                <c:pt idx="0">
                  <c:v>0.03</c:v>
                </c:pt>
                <c:pt idx="1">
                  <c:v>0.18</c:v>
                </c:pt>
                <c:pt idx="2">
                  <c:v>0.39</c:v>
                </c:pt>
                <c:pt idx="3">
                  <c:v>0.62</c:v>
                </c:pt>
                <c:pt idx="4">
                  <c:v>0.88</c:v>
                </c:pt>
                <c:pt idx="5">
                  <c:v>1.16</c:v>
                </c:pt>
                <c:pt idx="6">
                  <c:v>1.38</c:v>
                </c:pt>
                <c:pt idx="7">
                  <c:v>1.61</c:v>
                </c:pt>
                <c:pt idx="8">
                  <c:v>1.9</c:v>
                </c:pt>
                <c:pt idx="9">
                  <c:v>2.19</c:v>
                </c:pt>
                <c:pt idx="10">
                  <c:v>2.49</c:v>
                </c:pt>
                <c:pt idx="11">
                  <c:v>2.79</c:v>
                </c:pt>
                <c:pt idx="12">
                  <c:v>3.1</c:v>
                </c:pt>
                <c:pt idx="13">
                  <c:v>3.4</c:v>
                </c:pt>
                <c:pt idx="14">
                  <c:v>3.71</c:v>
                </c:pt>
                <c:pt idx="15">
                  <c:v>4.01</c:v>
                </c:pt>
                <c:pt idx="16">
                  <c:v>4.3</c:v>
                </c:pt>
                <c:pt idx="17">
                  <c:v>4.57</c:v>
                </c:pt>
                <c:pt idx="18">
                  <c:v>4.83</c:v>
                </c:pt>
                <c:pt idx="19">
                  <c:v>5.07</c:v>
                </c:pt>
                <c:pt idx="20">
                  <c:v>5.3</c:v>
                </c:pt>
                <c:pt idx="21">
                  <c:v>5.52</c:v>
                </c:pt>
                <c:pt idx="22">
                  <c:v>5.72</c:v>
                </c:pt>
                <c:pt idx="23">
                  <c:v>5.91</c:v>
                </c:pt>
                <c:pt idx="24">
                  <c:v>6.08</c:v>
                </c:pt>
                <c:pt idx="25">
                  <c:v>6.24</c:v>
                </c:pt>
              </c:numCache>
            </c:numRef>
          </c:val>
          <c:smooth val="0"/>
        </c:ser>
        <c:ser>
          <c:idx val="1"/>
          <c:order val="1"/>
          <c:tx>
            <c:strRef>
              <c:f>Sheet1!$C$1</c:f>
              <c:strCache>
                <c:ptCount val="1"/>
                <c:pt idx="0">
                  <c:v>Tax financed</c:v>
                </c:pt>
              </c:strCache>
            </c:strRef>
          </c:tx>
          <c:spPr>
            <a:solidFill>
              <a:srgbClr val="A8521A"/>
            </a:solidFill>
            <a:ln w="28575" cap="flat">
              <a:solidFill>
                <a:srgbClr val="A852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521A"/>
              </a:solidFill>
              <a:ln w="9525" cap="flat">
                <a:solidFill>
                  <a:srgbClr val="A8521A"/>
                </a:solidFill>
                <a:prstDash val="solid"/>
                <a:round/>
              </a:ln>
              <a:effectLst/>
            </c:spPr>
          </c:marker>
          <c:cat>
            <c:multiLvlStrRef>
              <c:f>Sheet1!$A$2:$A$27</c:f>
              <c:multiLvlStrCache>
                <c:ptCount val="26"/>
                <c:lvl>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lvl>
              </c:multiLvlStrCache>
            </c:multiLvlStrRef>
          </c:cat>
          <c:val>
            <c:numRef>
              <c:f>Sheet1!$C$2:$C$27</c:f>
              <c:numCache>
                <c:formatCode>General</c:formatCode>
                <c:ptCount val="26"/>
                <c:pt idx="0">
                  <c:v>0.06</c:v>
                </c:pt>
                <c:pt idx="1">
                  <c:v>0.19</c:v>
                </c:pt>
                <c:pt idx="2">
                  <c:v>0.4</c:v>
                </c:pt>
                <c:pt idx="3">
                  <c:v>0.64</c:v>
                </c:pt>
                <c:pt idx="4">
                  <c:v>0.9</c:v>
                </c:pt>
                <c:pt idx="5">
                  <c:v>1.18</c:v>
                </c:pt>
                <c:pt idx="6">
                  <c:v>1.41</c:v>
                </c:pt>
                <c:pt idx="7">
                  <c:v>1.65</c:v>
                </c:pt>
                <c:pt idx="8">
                  <c:v>1.94</c:v>
                </c:pt>
                <c:pt idx="9">
                  <c:v>2.24</c:v>
                </c:pt>
                <c:pt idx="10">
                  <c:v>2.54</c:v>
                </c:pt>
                <c:pt idx="11">
                  <c:v>2.86</c:v>
                </c:pt>
                <c:pt idx="12">
                  <c:v>3.17</c:v>
                </c:pt>
                <c:pt idx="13">
                  <c:v>3.48</c:v>
                </c:pt>
                <c:pt idx="14">
                  <c:v>3.79</c:v>
                </c:pt>
                <c:pt idx="15">
                  <c:v>4.11</c:v>
                </c:pt>
                <c:pt idx="16">
                  <c:v>4.4</c:v>
                </c:pt>
                <c:pt idx="17">
                  <c:v>4.67</c:v>
                </c:pt>
                <c:pt idx="18">
                  <c:v>4.94</c:v>
                </c:pt>
                <c:pt idx="19">
                  <c:v>5.19</c:v>
                </c:pt>
                <c:pt idx="20">
                  <c:v>5.43</c:v>
                </c:pt>
                <c:pt idx="21">
                  <c:v>5.65</c:v>
                </c:pt>
                <c:pt idx="22">
                  <c:v>5.86</c:v>
                </c:pt>
                <c:pt idx="23">
                  <c:v>6.05</c:v>
                </c:pt>
                <c:pt idx="24">
                  <c:v>6.23</c:v>
                </c:pt>
                <c:pt idx="25">
                  <c:v>6.39</c:v>
                </c:pt>
              </c:numCache>
            </c:numRef>
          </c:val>
          <c:smooth val="0"/>
        </c:ser>
        <c:ser>
          <c:idx val="2"/>
          <c:order val="2"/>
          <c:tx>
            <c:strRef>
              <c:f>Sheet1!$D$1</c:f>
              <c:strCache>
                <c:ptCount val="1"/>
                <c:pt idx="0">
                  <c:v>No energy savings</c:v>
                </c:pt>
              </c:strCache>
            </c:strRef>
          </c:tx>
          <c:spPr>
            <a:solidFill>
              <a:srgbClr val="3D7A73"/>
            </a:solidFill>
            <a:ln w="28575" cap="flat">
              <a:solidFill>
                <a:srgbClr val="3D7A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D7A73"/>
              </a:solidFill>
              <a:ln w="9525" cap="flat">
                <a:solidFill>
                  <a:srgbClr val="3D7A73"/>
                </a:solidFill>
                <a:prstDash val="solid"/>
                <a:round/>
              </a:ln>
              <a:effectLst/>
            </c:spPr>
          </c:marker>
          <c:cat>
            <c:multiLvlStrRef>
              <c:f>Sheet1!$A$2:$A$27</c:f>
              <c:multiLvlStrCache>
                <c:ptCount val="26"/>
                <c:lvl>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lvl>
              </c:multiLvlStrCache>
            </c:multiLvlStrRef>
          </c:cat>
          <c:val>
            <c:numRef>
              <c:f>Sheet1!$D$2:$D$27</c:f>
              <c:numCache>
                <c:formatCode>General</c:formatCode>
                <c:ptCount val="26"/>
                <c:pt idx="0">
                  <c:v>-0.24</c:v>
                </c:pt>
                <c:pt idx="1">
                  <c:v>0</c:v>
                </c:pt>
                <c:pt idx="2">
                  <c:v>0.15</c:v>
                </c:pt>
                <c:pt idx="3">
                  <c:v>0.27</c:v>
                </c:pt>
                <c:pt idx="4">
                  <c:v>0.4</c:v>
                </c:pt>
                <c:pt idx="5">
                  <c:v>0.53</c:v>
                </c:pt>
                <c:pt idx="6">
                  <c:v>0.59</c:v>
                </c:pt>
                <c:pt idx="7">
                  <c:v>0.65</c:v>
                </c:pt>
                <c:pt idx="8">
                  <c:v>0.76</c:v>
                </c:pt>
                <c:pt idx="9">
                  <c:v>0.85</c:v>
                </c:pt>
                <c:pt idx="10">
                  <c:v>0.95</c:v>
                </c:pt>
                <c:pt idx="11">
                  <c:v>1.04</c:v>
                </c:pt>
                <c:pt idx="12">
                  <c:v>1.13</c:v>
                </c:pt>
                <c:pt idx="13">
                  <c:v>1.21</c:v>
                </c:pt>
                <c:pt idx="14">
                  <c:v>1.3</c:v>
                </c:pt>
                <c:pt idx="15">
                  <c:v>1.39</c:v>
                </c:pt>
                <c:pt idx="16">
                  <c:v>1.46</c:v>
                </c:pt>
                <c:pt idx="17">
                  <c:v>1.54</c:v>
                </c:pt>
                <c:pt idx="18">
                  <c:v>1.62</c:v>
                </c:pt>
                <c:pt idx="19">
                  <c:v>1.7</c:v>
                </c:pt>
                <c:pt idx="20">
                  <c:v>1.77</c:v>
                </c:pt>
                <c:pt idx="21">
                  <c:v>1.84</c:v>
                </c:pt>
                <c:pt idx="22">
                  <c:v>1.91</c:v>
                </c:pt>
                <c:pt idx="23">
                  <c:v>1.98</c:v>
                </c:pt>
                <c:pt idx="24">
                  <c:v>2.04</c:v>
                </c:pt>
                <c:pt idx="25">
                  <c:v>2.1</c:v>
                </c:pt>
              </c:numCache>
            </c:numRef>
          </c:val>
          <c:smooth val="0"/>
        </c:ser>
        <c:ser>
          <c:idx val="3"/>
          <c:order val="3"/>
          <c:tx>
            <c:strRef>
              <c:f>Sheet1!$E$1</c:f>
              <c:strCache>
                <c:ptCount val="1"/>
                <c:pt idx="0">
                  <c:v>Public part only</c:v>
                </c:pt>
              </c:strCache>
            </c:strRef>
          </c:tx>
          <c:spPr>
            <a:solidFill>
              <a:srgbClr val="7A8494"/>
            </a:solidFill>
            <a:ln w="28575" cap="flat">
              <a:solidFill>
                <a:srgbClr val="7A84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A8494"/>
              </a:solidFill>
              <a:ln w="9525" cap="flat">
                <a:solidFill>
                  <a:srgbClr val="7A8494"/>
                </a:solidFill>
                <a:prstDash val="solid"/>
                <a:round/>
              </a:ln>
              <a:effectLst/>
            </c:spPr>
          </c:marker>
          <c:cat>
            <c:multiLvlStrRef>
              <c:f>Sheet1!$A$2:$A$27</c:f>
              <c:multiLvlStrCache>
                <c:ptCount val="26"/>
                <c:lvl>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lvl>
              </c:multiLvlStrCache>
            </c:multiLvlStrRef>
          </c:cat>
          <c:val>
            <c:numRef>
              <c:f>Sheet1!$E$2:$E$27</c:f>
              <c:numCache>
                <c:formatCode>General</c:formatCode>
                <c:ptCount val="26"/>
                <c:pt idx="0">
                  <c:v>-0.01</c:v>
                </c:pt>
                <c:pt idx="1">
                  <c:v>0.01</c:v>
                </c:pt>
                <c:pt idx="2">
                  <c:v>0.05</c:v>
                </c:pt>
                <c:pt idx="3">
                  <c:v>0.11</c:v>
                </c:pt>
                <c:pt idx="4">
                  <c:v>0.18</c:v>
                </c:pt>
                <c:pt idx="5">
                  <c:v>0.26</c:v>
                </c:pt>
                <c:pt idx="6">
                  <c:v>0.31</c:v>
                </c:pt>
                <c:pt idx="7">
                  <c:v>0.37</c:v>
                </c:pt>
                <c:pt idx="8">
                  <c:v>0.43</c:v>
                </c:pt>
                <c:pt idx="9">
                  <c:v>0.5</c:v>
                </c:pt>
                <c:pt idx="10">
                  <c:v>0.57</c:v>
                </c:pt>
                <c:pt idx="11">
                  <c:v>0.63</c:v>
                </c:pt>
                <c:pt idx="12">
                  <c:v>0.7</c:v>
                </c:pt>
                <c:pt idx="13">
                  <c:v>0.77</c:v>
                </c:pt>
                <c:pt idx="14">
                  <c:v>0.83</c:v>
                </c:pt>
                <c:pt idx="15">
                  <c:v>0.9</c:v>
                </c:pt>
                <c:pt idx="16">
                  <c:v>0.96</c:v>
                </c:pt>
                <c:pt idx="17">
                  <c:v>1.03</c:v>
                </c:pt>
                <c:pt idx="18">
                  <c:v>1.09</c:v>
                </c:pt>
                <c:pt idx="19">
                  <c:v>1.15</c:v>
                </c:pt>
                <c:pt idx="20">
                  <c:v>1.21</c:v>
                </c:pt>
                <c:pt idx="21">
                  <c:v>1.26</c:v>
                </c:pt>
                <c:pt idx="22">
                  <c:v>1.32</c:v>
                </c:pt>
                <c:pt idx="23">
                  <c:v>1.37</c:v>
                </c:pt>
                <c:pt idx="24">
                  <c:v>1.42</c:v>
                </c:pt>
                <c:pt idx="25">
                  <c:v>1.47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5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F4A5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F4A5A"/>
                </a:solidFill>
                <a:latin typeface="+mn-lt"/>
              </a:defRPr>
            </a:pPr>
            <a:r>
              <a:rPr sz="1200" b="0" i="0" u="none" strike="noStrike">
                <a:solidFill>
                  <a:srgbClr val="3F4A5A"/>
                </a:solidFill>
                <a:latin typeface="+mn-lt"/>
              </a:rPr>
              <a:t>Real GDP after a disaster, % deviation (years after the disaster)</a:t>
            </a:r>
          </a:p>
        </c:rich>
      </c:tx>
      <c:layout/>
      <c:overlay val="0"/>
    </c:title>
    <c:autoTitleDeleted val="0"/>
    <c:plotArea>
      <c:layout/>
      <c:lineChart>
        <c:varyColors val="0"/>
        <c:ser>
          <c:idx val="0"/>
          <c:order val="0"/>
          <c:tx>
            <c:strRef>
              <c:f>Sheet1!$B$1</c:f>
              <c:strCache>
                <c:ptCount val="1"/>
                <c:pt idx="0">
                  <c:v>No reconstruction</c:v>
                </c:pt>
              </c:strCache>
            </c:strRef>
          </c:tx>
          <c:spPr>
            <a:solidFill>
              <a:srgbClr val="14213D"/>
            </a:solidFill>
            <a:ln w="28575" cap="flat">
              <a:solidFill>
                <a:srgbClr val="1421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213D"/>
              </a:solidFill>
              <a:ln w="9525" cap="flat">
                <a:solidFill>
                  <a:srgbClr val="14213D"/>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-7.53</c:v>
                </c:pt>
                <c:pt idx="1">
                  <c:v>-6.25</c:v>
                </c:pt>
                <c:pt idx="2">
                  <c:v>-5.39</c:v>
                </c:pt>
                <c:pt idx="3">
                  <c:v>-4.79</c:v>
                </c:pt>
                <c:pt idx="4">
                  <c:v>-4.36</c:v>
                </c:pt>
                <c:pt idx="5">
                  <c:v>-4.03</c:v>
                </c:pt>
                <c:pt idx="6">
                  <c:v>-3.76</c:v>
                </c:pt>
                <c:pt idx="7">
                  <c:v>-3.54</c:v>
                </c:pt>
                <c:pt idx="8">
                  <c:v>-3.35</c:v>
                </c:pt>
                <c:pt idx="9">
                  <c:v>-3.17</c:v>
                </c:pt>
                <c:pt idx="10">
                  <c:v>-3.02</c:v>
                </c:pt>
                <c:pt idx="11">
                  <c:v>-2.87</c:v>
                </c:pt>
                <c:pt idx="12">
                  <c:v>-2.74</c:v>
                </c:pt>
                <c:pt idx="13">
                  <c:v>-2.61</c:v>
                </c:pt>
                <c:pt idx="14">
                  <c:v>-2.49</c:v>
                </c:pt>
                <c:pt idx="15">
                  <c:v>-2.37</c:v>
                </c:pt>
                <c:pt idx="16">
                  <c:v>-2.26</c:v>
                </c:pt>
                <c:pt idx="17">
                  <c:v>-2.16</c:v>
                </c:pt>
                <c:pt idx="18">
                  <c:v>-2.06</c:v>
                </c:pt>
                <c:pt idx="19">
                  <c:v>-1.97</c:v>
                </c:pt>
              </c:numCache>
            </c:numRef>
          </c:val>
          <c:smooth val="0"/>
        </c:ser>
        <c:ser>
          <c:idx val="1"/>
          <c:order val="1"/>
          <c:tx>
            <c:strRef>
              <c:f>Sheet1!$C$1</c:f>
              <c:strCache>
                <c:ptCount val="1"/>
                <c:pt idx="0">
                  <c:v>Reconstruction</c:v>
                </c:pt>
              </c:strCache>
            </c:strRef>
          </c:tx>
          <c:spPr>
            <a:solidFill>
              <a:srgbClr val="A8521A"/>
            </a:solidFill>
            <a:ln w="28575" cap="flat">
              <a:solidFill>
                <a:srgbClr val="A852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521A"/>
              </a:solidFill>
              <a:ln w="9525" cap="flat">
                <a:solidFill>
                  <a:srgbClr val="A8521A"/>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-7.53</c:v>
                </c:pt>
                <c:pt idx="1">
                  <c:v>-5.86</c:v>
                </c:pt>
                <c:pt idx="2">
                  <c:v>-4.74</c:v>
                </c:pt>
                <c:pt idx="3">
                  <c:v>-3.97</c:v>
                </c:pt>
                <c:pt idx="4">
                  <c:v>-3.42</c:v>
                </c:pt>
                <c:pt idx="5">
                  <c:v>-3.03</c:v>
                </c:pt>
                <c:pt idx="6">
                  <c:v>-2.73</c:v>
                </c:pt>
                <c:pt idx="7">
                  <c:v>-2.49</c:v>
                </c:pt>
                <c:pt idx="8">
                  <c:v>-2.3</c:v>
                </c:pt>
                <c:pt idx="9">
                  <c:v>-2.13</c:v>
                </c:pt>
                <c:pt idx="10">
                  <c:v>-1.99</c:v>
                </c:pt>
                <c:pt idx="11">
                  <c:v>-1.86</c:v>
                </c:pt>
                <c:pt idx="12">
                  <c:v>-1.75</c:v>
                </c:pt>
                <c:pt idx="13">
                  <c:v>-1.65</c:v>
                </c:pt>
                <c:pt idx="14">
                  <c:v>-1.55</c:v>
                </c:pt>
                <c:pt idx="15">
                  <c:v>-1.46</c:v>
                </c:pt>
                <c:pt idx="16">
                  <c:v>-1.38</c:v>
                </c:pt>
                <c:pt idx="17">
                  <c:v>-1.31</c:v>
                </c:pt>
                <c:pt idx="18">
                  <c:v>-1.23</c:v>
                </c:pt>
                <c:pt idx="19">
                  <c:v>-1.17</c:v>
                </c:pt>
              </c:numCache>
            </c:numRef>
          </c:val>
          <c:smooth val="0"/>
        </c:ser>
        <c:ser>
          <c:idx val="2"/>
          <c:order val="2"/>
          <c:tx>
            <c:strRef>
              <c:f>Sheet1!$D$1</c:f>
              <c:strCache>
                <c:ptCount val="1"/>
                <c:pt idx="0">
                  <c:v>Build back better</c:v>
                </c:pt>
              </c:strCache>
            </c:strRef>
          </c:tx>
          <c:spPr>
            <a:solidFill>
              <a:srgbClr val="3D7A73"/>
            </a:solidFill>
            <a:ln w="28575" cap="flat">
              <a:solidFill>
                <a:srgbClr val="3D7A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D7A73"/>
              </a:solidFill>
              <a:ln w="9525" cap="flat">
                <a:solidFill>
                  <a:srgbClr val="3D7A73"/>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Sheet1!$D$2:$D$21</c:f>
              <c:numCache>
                <c:formatCode>General</c:formatCode>
                <c:ptCount val="20"/>
                <c:pt idx="0">
                  <c:v>-7.53</c:v>
                </c:pt>
                <c:pt idx="1">
                  <c:v>-5.94</c:v>
                </c:pt>
                <c:pt idx="2">
                  <c:v>-4.87</c:v>
                </c:pt>
                <c:pt idx="3">
                  <c:v>-4.13</c:v>
                </c:pt>
                <c:pt idx="4">
                  <c:v>-3.61</c:v>
                </c:pt>
                <c:pt idx="5">
                  <c:v>-3.22</c:v>
                </c:pt>
                <c:pt idx="6">
                  <c:v>-2.93</c:v>
                </c:pt>
                <c:pt idx="7">
                  <c:v>-2.69</c:v>
                </c:pt>
                <c:pt idx="8">
                  <c:v>-2.5</c:v>
                </c:pt>
                <c:pt idx="9">
                  <c:v>-2.33</c:v>
                </c:pt>
                <c:pt idx="10">
                  <c:v>-2.19</c:v>
                </c:pt>
                <c:pt idx="11">
                  <c:v>-2.06</c:v>
                </c:pt>
                <c:pt idx="12">
                  <c:v>-1.94</c:v>
                </c:pt>
                <c:pt idx="13">
                  <c:v>-1.83</c:v>
                </c:pt>
                <c:pt idx="14">
                  <c:v>-1.73</c:v>
                </c:pt>
                <c:pt idx="15">
                  <c:v>-1.64</c:v>
                </c:pt>
                <c:pt idx="16">
                  <c:v>-1.55</c:v>
                </c:pt>
                <c:pt idx="17">
                  <c:v>-1.47</c:v>
                </c:pt>
                <c:pt idx="18">
                  <c:v>-1.4</c:v>
                </c:pt>
                <c:pt idx="19">
                  <c:v>-1.32</c:v>
                </c:pt>
              </c:numCache>
            </c:numRef>
          </c:val>
          <c:smooth val="0"/>
        </c:ser>
        <c:ser>
          <c:idx val="3"/>
          <c:order val="3"/>
          <c:tx>
            <c:strRef>
              <c:f>Sheet1!$E$1</c:f>
              <c:strCache>
                <c:ptCount val="1"/>
                <c:pt idx="0">
                  <c:v>Adaptation first + BBB</c:v>
                </c:pt>
              </c:strCache>
            </c:strRef>
          </c:tx>
          <c:spPr>
            <a:solidFill>
              <a:srgbClr val="7A8494"/>
            </a:solidFill>
            <a:ln w="28575" cap="flat">
              <a:solidFill>
                <a:srgbClr val="7A84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A8494"/>
              </a:solidFill>
              <a:ln w="9525" cap="flat">
                <a:solidFill>
                  <a:srgbClr val="7A8494"/>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Sheet1!$E$2:$E$21</c:f>
              <c:numCache>
                <c:formatCode>General</c:formatCode>
                <c:ptCount val="20"/>
                <c:pt idx="0">
                  <c:v>-6.31</c:v>
                </c:pt>
                <c:pt idx="1">
                  <c:v>-4.88</c:v>
                </c:pt>
                <c:pt idx="2">
                  <c:v>-3.93</c:v>
                </c:pt>
                <c:pt idx="3">
                  <c:v>-3.28</c:v>
                </c:pt>
                <c:pt idx="4">
                  <c:v>-2.82</c:v>
                </c:pt>
                <c:pt idx="5">
                  <c:v>-2.49</c:v>
                </c:pt>
                <c:pt idx="6">
                  <c:v>-2.23</c:v>
                </c:pt>
                <c:pt idx="7">
                  <c:v>-2.03</c:v>
                </c:pt>
                <c:pt idx="8">
                  <c:v>-1.87</c:v>
                </c:pt>
                <c:pt idx="9">
                  <c:v>-1.73</c:v>
                </c:pt>
                <c:pt idx="10">
                  <c:v>-1.62</c:v>
                </c:pt>
                <c:pt idx="11">
                  <c:v>-1.51</c:v>
                </c:pt>
                <c:pt idx="12">
                  <c:v>-1.42</c:v>
                </c:pt>
                <c:pt idx="13">
                  <c:v>-1.33</c:v>
                </c:pt>
                <c:pt idx="14">
                  <c:v>-1.25</c:v>
                </c:pt>
                <c:pt idx="15">
                  <c:v>-1.18</c:v>
                </c:pt>
                <c:pt idx="16">
                  <c:v>-1.11</c:v>
                </c:pt>
                <c:pt idx="17">
                  <c:v>-1.05</c:v>
                </c:pt>
                <c:pt idx="18">
                  <c:v>-0.99</c:v>
                </c:pt>
                <c:pt idx="19">
                  <c:v>-0.93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5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F4A5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simplified, open-source versions of IMF and World Bank tools, built so that a country's net zero investment programme from NMIM can be run through a macro model and a debt sustainability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NMIM tells us the size and composition of investment. Ministries also ask what it does to growth and debt and whether it changes the risk of debt distress. The toolkit answers those three questions in one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keeps the mechanism that matters for the question and drops the rest. All calibrations are illustrative until a country is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runs the NMIM engine for one country and passes three paths to the macro models. The macro models' GDP and primary deficit paths then shift a LIC-DSF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household budget, which the model does not impose, holds to 1e-15, a check that the accounting is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financing choice moves debt more than GDP: tax financing keeps debt falling with almost the same growth. Without energy savings the gain is about a third as large, so the savings assumption is the one to test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DIGNAD-lite has a single surprise disaster, so the benefit of building back better shows only in the pre-disaster adaptation scenario. Recurrent disasters are the next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mechanics, not a DSA: the rating depends on the baseline, which must come from the country's own DSA.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sought: which pilot countries, and who on the country teams provides the DSA and macro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731520" y="2148840"/>
            <a:ext cx="1051560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3840480"/>
            <a:ext cx="100584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61264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Stephen Stretton · World Bank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AEE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rtlCol="0"/>
          <a:lstStyle>
            <a:lvl1pPr indent="0" marL="0">
              <a:buNone/>
              <a:defRPr lang="en-US" sz="1100" b="1" spc="2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chemeClr val="accent4"/>
                </a:solidFill>
              </a:rPr>
              <a:t>Macro-fiscal models for climate investment</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nchor="t"/>
          <a:lstStyle/>
          <a:p>
            <a:pPr indent="0" marL="0">
              <a:buNone/>
            </a:pPr>
            <a:r>
              <a:rPr lang="en-US" sz="1200" b="1" spc="200" kern="0" dirty="0">
                <a:solidFill>
                  <a:schemeClr val="accent6"/>
                </a:solidFill>
              </a:rPr>
              <a:t>FOR DISCUSSION · OCTOBER 2026</a:t>
            </a:r>
            <a:endParaRPr lang="en-US" sz="1200" dirty="0"/>
          </a:p>
        </p:txBody>
      </p:sp>
      <p:sp>
        <p:nvSpPr>
          <p:cNvPr id="3" name="Text 0"/>
          <p:cNvSpPr/>
          <p:nvPr>
            <p:ph idx="101" type="title" hasCustomPrompt="1"/>
          </p:nvPr>
        </p:nvSpPr>
        <p:spPr>
          <a:xfrm>
            <a:off x="731520" y="2148840"/>
            <a:ext cx="105156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Macro-fiscal models for climate investment</a:t>
            </a:r>
            <a:endParaRPr lang="en-US" sz="4000" dirty="0"/>
          </a:p>
        </p:txBody>
      </p:sp>
      <p:sp>
        <p:nvSpPr>
          <p:cNvPr id="4" name="Text 0"/>
          <p:cNvSpPr/>
          <p:nvPr>
            <p:ph idx="102" type="body" hasCustomPrompt="1"/>
          </p:nvPr>
        </p:nvSpPr>
        <p:spPr>
          <a:xfrm>
            <a:off x="731520" y="3840480"/>
            <a:ext cx="10058400" cy="1097280"/>
          </a:xfrm>
          <a:prstGeom prst="rect">
            <a:avLst/>
          </a:prstGeom>
          <a:noFill/>
          <a:ln/>
        </p:spPr>
        <p:txBody>
          <a:bodyPr wrap="square" lIns="0" tIns="0" rIns="0" bIns="0" rtlCol="0" anchor="t"/>
          <a:lstStyle/>
          <a:p>
            <a:pPr indent="0" marL="0">
              <a:buNone/>
            </a:pPr>
            <a:r>
              <a:rPr lang="en-US" sz="1800" dirty="0">
                <a:solidFill>
                  <a:schemeClr val="bg2"/>
                </a:solidFill>
              </a:rPr>
              <a:t>GIMF-lite, DIGNAD-lite and LIC-DSF-lite, linked to the national investment needs model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QUESTION</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needs tell us how much, not what it does</a:t>
            </a:r>
            <a:endParaRPr lang="en-US" sz="3000" dirty="0"/>
          </a:p>
        </p:txBody>
      </p:sp>
      <p:sp>
        <p:nvSpPr>
          <p:cNvPr id="4" name="step1"/>
          <p:cNvSpPr/>
          <p:nvPr/>
        </p:nvSpPr>
        <p:spPr>
          <a:xfrm>
            <a:off x="548640" y="1691640"/>
            <a:ext cx="3429000" cy="352044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5" name="step1_circle"/>
          <p:cNvSpPr/>
          <p:nvPr/>
        </p:nvSpPr>
        <p:spPr>
          <a:xfrm>
            <a:off x="868680" y="1965960"/>
            <a:ext cx="731520" cy="731520"/>
          </a:xfrm>
          <a:prstGeom prst="ellipse">
            <a:avLst/>
          </a:prstGeom>
          <a:solidFill>
            <a:schemeClr val="accent1"/>
          </a:solidFill>
          <a:ln w="12700">
            <a:solidFill>
              <a:schemeClr val="bg1"/>
            </a:solidFill>
            <a:prstDash val="solid"/>
          </a:ln>
        </p:spPr>
      </p:sp>
      <p:pic>
        <p:nvPicPr>
          <p:cNvPr id="6" name="Image 0" descr="1 · How much?">    </p:cNvPr>
          <p:cNvPicPr>
            <a:picLocks noChangeAspect="1"/>
          </p:cNvPicPr>
          <p:nvPr/>
        </p:nvPicPr>
        <p:blipFill>
          <a:blip r:embed="rId1"/>
          <a:stretch>
            <a:fillRect/>
          </a:stretch>
        </p:blipFill>
        <p:spPr>
          <a:xfrm>
            <a:off x="1051560" y="2148840"/>
            <a:ext cx="365760" cy="365760"/>
          </a:xfrm>
          <a:prstGeom prst="rect">
            <a:avLst/>
          </a:prstGeom>
        </p:spPr>
      </p:pic>
      <p:sp>
        <p:nvSpPr>
          <p:cNvPr id="7" name="Text 4"/>
          <p:cNvSpPr txBox="1"/>
          <p:nvPr/>
        </p:nvSpPr>
        <p:spPr>
          <a:xfrm>
            <a:off x="868680" y="2880360"/>
            <a:ext cx="28346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1 · How much?</a:t>
            </a:r>
            <a:endParaRPr lang="en-US" sz="2000" dirty="0"/>
          </a:p>
        </p:txBody>
      </p:sp>
      <p:sp>
        <p:nvSpPr>
          <p:cNvPr id="8" name="Text 5"/>
          <p:cNvSpPr txBox="1"/>
          <p:nvPr/>
        </p:nvSpPr>
        <p:spPr>
          <a:xfrm>
            <a:off x="868680" y="3337560"/>
            <a:ext cx="2834640" cy="320040"/>
          </a:xfrm>
          <a:prstGeom prst="rect">
            <a:avLst/>
          </a:prstGeom>
          <a:noFill/>
          <a:ln/>
        </p:spPr>
        <p:txBody>
          <a:bodyPr wrap="square" lIns="0" tIns="0" rIns="0" bIns="0" rtlCol="0" anchor="t"/>
          <a:lstStyle/>
          <a:p>
            <a:pPr indent="0" marL="0">
              <a:buNone/>
            </a:pPr>
            <a:r>
              <a:rPr lang="en-US" sz="1400" b="1" dirty="0">
                <a:solidFill>
                  <a:schemeClr val="accent2"/>
                </a:solidFill>
              </a:rPr>
              <a:t>NMIM</a:t>
            </a:r>
            <a:endParaRPr lang="en-US" sz="1400" dirty="0"/>
          </a:p>
        </p:txBody>
      </p:sp>
      <p:sp>
        <p:nvSpPr>
          <p:cNvPr id="9" name="Text 6"/>
          <p:cNvSpPr txBox="1"/>
          <p:nvPr/>
        </p:nvSpPr>
        <p:spPr>
          <a:xfrm>
            <a:off x="868680" y="3749040"/>
            <a:ext cx="2834640" cy="1371600"/>
          </a:xfrm>
          <a:prstGeom prst="rect">
            <a:avLst/>
          </a:prstGeom>
          <a:noFill/>
          <a:ln/>
        </p:spPr>
        <p:txBody>
          <a:bodyPr wrap="square" lIns="0" tIns="0" rIns="0" bIns="0" rtlCol="0" anchor="t"/>
          <a:lstStyle/>
          <a:p>
            <a:pPr indent="0" marL="0">
              <a:buNone/>
            </a:pPr>
            <a:r>
              <a:rPr lang="en-US" sz="1400" dirty="0">
                <a:solidFill>
                  <a:schemeClr val="tx2"/>
                </a:solidFill>
              </a:rPr>
              <a:t>USD bn a year by sector, 2025-2050, split by who pays: the budget, regulated utilities, private investors.</a:t>
            </a:r>
            <a:endParaRPr lang="en-US" sz="1400" dirty="0"/>
          </a:p>
        </p:txBody>
      </p:sp>
      <p:sp>
        <p:nvSpPr>
          <p:cNvPr id="10" name="arrow1"/>
          <p:cNvSpPr/>
          <p:nvPr/>
        </p:nvSpPr>
        <p:spPr>
          <a:xfrm>
            <a:off x="4023360" y="3246120"/>
            <a:ext cx="274320" cy="365760"/>
          </a:xfrm>
          <a:prstGeom prst="rightArrow">
            <a:avLst/>
          </a:prstGeom>
          <a:solidFill>
            <a:schemeClr val="accent4"/>
          </a:solidFill>
          <a:ln w="12700">
            <a:solidFill>
              <a:schemeClr val="accent4"/>
            </a:solidFill>
            <a:prstDash val="solid"/>
          </a:ln>
        </p:spPr>
      </p:sp>
      <p:sp>
        <p:nvSpPr>
          <p:cNvPr id="11" name="step2"/>
          <p:cNvSpPr/>
          <p:nvPr/>
        </p:nvSpPr>
        <p:spPr>
          <a:xfrm>
            <a:off x="4343400" y="1691640"/>
            <a:ext cx="3429000" cy="352044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12" name="step2_circle"/>
          <p:cNvSpPr/>
          <p:nvPr/>
        </p:nvSpPr>
        <p:spPr>
          <a:xfrm>
            <a:off x="4663440" y="1965960"/>
            <a:ext cx="731520" cy="731520"/>
          </a:xfrm>
          <a:prstGeom prst="ellipse">
            <a:avLst/>
          </a:prstGeom>
          <a:solidFill>
            <a:schemeClr val="accent1"/>
          </a:solidFill>
          <a:ln w="12700">
            <a:solidFill>
              <a:schemeClr val="bg1"/>
            </a:solidFill>
            <a:prstDash val="solid"/>
          </a:ln>
        </p:spPr>
      </p:sp>
      <p:pic>
        <p:nvPicPr>
          <p:cNvPr id="13" name="Image 1" descr="2 · What does it do?">    </p:cNvPr>
          <p:cNvPicPr>
            <a:picLocks noChangeAspect="1"/>
          </p:cNvPicPr>
          <p:nvPr/>
        </p:nvPicPr>
        <p:blipFill>
          <a:blip r:embed="rId2"/>
          <a:stretch>
            <a:fillRect/>
          </a:stretch>
        </p:blipFill>
        <p:spPr>
          <a:xfrm>
            <a:off x="4846320" y="2148840"/>
            <a:ext cx="365760" cy="365760"/>
          </a:xfrm>
          <a:prstGeom prst="rect">
            <a:avLst/>
          </a:prstGeom>
        </p:spPr>
      </p:pic>
      <p:sp>
        <p:nvSpPr>
          <p:cNvPr id="14" name="Text 10"/>
          <p:cNvSpPr txBox="1"/>
          <p:nvPr/>
        </p:nvSpPr>
        <p:spPr>
          <a:xfrm>
            <a:off x="4663440" y="2880360"/>
            <a:ext cx="28346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2 · What does it do?</a:t>
            </a:r>
            <a:endParaRPr lang="en-US" sz="2000" dirty="0"/>
          </a:p>
        </p:txBody>
      </p:sp>
      <p:sp>
        <p:nvSpPr>
          <p:cNvPr id="15" name="Text 11"/>
          <p:cNvSpPr txBox="1"/>
          <p:nvPr/>
        </p:nvSpPr>
        <p:spPr>
          <a:xfrm>
            <a:off x="4663440" y="3337560"/>
            <a:ext cx="2834640" cy="320040"/>
          </a:xfrm>
          <a:prstGeom prst="rect">
            <a:avLst/>
          </a:prstGeom>
          <a:noFill/>
          <a:ln/>
        </p:spPr>
        <p:txBody>
          <a:bodyPr wrap="square" lIns="0" tIns="0" rIns="0" bIns="0" rtlCol="0" anchor="t"/>
          <a:lstStyle/>
          <a:p>
            <a:pPr indent="0" marL="0">
              <a:buNone/>
            </a:pPr>
            <a:r>
              <a:rPr lang="en-US" sz="1400" b="1" dirty="0">
                <a:solidFill>
                  <a:schemeClr val="accent2"/>
                </a:solidFill>
              </a:rPr>
              <a:t>GIMF-lite · DIGNAD-lite</a:t>
            </a:r>
            <a:endParaRPr lang="en-US" sz="1400" dirty="0"/>
          </a:p>
        </p:txBody>
      </p:sp>
      <p:sp>
        <p:nvSpPr>
          <p:cNvPr id="16" name="Text 12"/>
          <p:cNvSpPr txBox="1"/>
          <p:nvPr/>
        </p:nvSpPr>
        <p:spPr>
          <a:xfrm>
            <a:off x="4663440" y="3749040"/>
            <a:ext cx="2834640" cy="1371600"/>
          </a:xfrm>
          <a:prstGeom prst="rect">
            <a:avLst/>
          </a:prstGeom>
          <a:noFill/>
          <a:ln/>
        </p:spPr>
        <p:txBody>
          <a:bodyPr wrap="square" lIns="0" tIns="0" rIns="0" bIns="0" rtlCol="0" anchor="t"/>
          <a:lstStyle/>
          <a:p>
            <a:pPr indent="0" marL="0">
              <a:buNone/>
            </a:pPr>
            <a:r>
              <a:rPr lang="en-US" sz="1400" dirty="0">
                <a:solidFill>
                  <a:schemeClr val="tx2"/>
                </a:solidFill>
              </a:rPr>
              <a:t>Growth, consumption, inflation, the exchange rate, crowding out, and how the financing choice changes them.</a:t>
            </a:r>
            <a:endParaRPr lang="en-US" sz="1400" dirty="0"/>
          </a:p>
        </p:txBody>
      </p:sp>
      <p:sp>
        <p:nvSpPr>
          <p:cNvPr id="17" name="arrow2"/>
          <p:cNvSpPr/>
          <p:nvPr/>
        </p:nvSpPr>
        <p:spPr>
          <a:xfrm>
            <a:off x="7818120" y="3246120"/>
            <a:ext cx="274320" cy="365760"/>
          </a:xfrm>
          <a:prstGeom prst="rightArrow">
            <a:avLst/>
          </a:prstGeom>
          <a:solidFill>
            <a:schemeClr val="accent4"/>
          </a:solidFill>
          <a:ln w="12700">
            <a:solidFill>
              <a:schemeClr val="accent4"/>
            </a:solidFill>
            <a:prstDash val="solid"/>
          </a:ln>
        </p:spPr>
      </p:sp>
      <p:sp>
        <p:nvSpPr>
          <p:cNvPr id="18" name="step3"/>
          <p:cNvSpPr/>
          <p:nvPr/>
        </p:nvSpPr>
        <p:spPr>
          <a:xfrm>
            <a:off x="8138160" y="1691640"/>
            <a:ext cx="3429000" cy="352044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19" name="step3_circle"/>
          <p:cNvSpPr/>
          <p:nvPr/>
        </p:nvSpPr>
        <p:spPr>
          <a:xfrm>
            <a:off x="8458200" y="1965960"/>
            <a:ext cx="731520" cy="731520"/>
          </a:xfrm>
          <a:prstGeom prst="ellipse">
            <a:avLst/>
          </a:prstGeom>
          <a:solidFill>
            <a:schemeClr val="accent2"/>
          </a:solidFill>
          <a:ln w="12700">
            <a:solidFill>
              <a:schemeClr val="bg1"/>
            </a:solidFill>
            <a:prstDash val="solid"/>
          </a:ln>
        </p:spPr>
      </p:sp>
      <p:pic>
        <p:nvPicPr>
          <p:cNvPr id="20" name="Image 2" descr="3 · Is it affordable?">    </p:cNvPr>
          <p:cNvPicPr>
            <a:picLocks noChangeAspect="1"/>
          </p:cNvPicPr>
          <p:nvPr/>
        </p:nvPicPr>
        <p:blipFill>
          <a:blip r:embed="rId3"/>
          <a:stretch>
            <a:fillRect/>
          </a:stretch>
        </p:blipFill>
        <p:spPr>
          <a:xfrm>
            <a:off x="8641080" y="2148840"/>
            <a:ext cx="365760" cy="365760"/>
          </a:xfrm>
          <a:prstGeom prst="rect">
            <a:avLst/>
          </a:prstGeom>
        </p:spPr>
      </p:pic>
      <p:sp>
        <p:nvSpPr>
          <p:cNvPr id="21" name="Text 16"/>
          <p:cNvSpPr txBox="1"/>
          <p:nvPr/>
        </p:nvSpPr>
        <p:spPr>
          <a:xfrm>
            <a:off x="8458200" y="2880360"/>
            <a:ext cx="28346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3 · Is it affordable?</a:t>
            </a:r>
            <a:endParaRPr lang="en-US" sz="2000" dirty="0"/>
          </a:p>
        </p:txBody>
      </p:sp>
      <p:sp>
        <p:nvSpPr>
          <p:cNvPr id="22" name="Text 17"/>
          <p:cNvSpPr txBox="1"/>
          <p:nvPr/>
        </p:nvSpPr>
        <p:spPr>
          <a:xfrm>
            <a:off x="8458200" y="3337560"/>
            <a:ext cx="2834640" cy="320040"/>
          </a:xfrm>
          <a:prstGeom prst="rect">
            <a:avLst/>
          </a:prstGeom>
          <a:noFill/>
          <a:ln/>
        </p:spPr>
        <p:txBody>
          <a:bodyPr wrap="square" lIns="0" tIns="0" rIns="0" bIns="0" rtlCol="0" anchor="t"/>
          <a:lstStyle/>
          <a:p>
            <a:pPr indent="0" marL="0">
              <a:buNone/>
            </a:pPr>
            <a:r>
              <a:rPr lang="en-US" sz="1400" b="1" dirty="0">
                <a:solidFill>
                  <a:schemeClr val="accent2"/>
                </a:solidFill>
              </a:rPr>
              <a:t>LIC-DSF-lite</a:t>
            </a:r>
            <a:endParaRPr lang="en-US" sz="1400" dirty="0"/>
          </a:p>
        </p:txBody>
      </p:sp>
      <p:sp>
        <p:nvSpPr>
          <p:cNvPr id="23" name="Text 18"/>
          <p:cNvSpPr txBox="1"/>
          <p:nvPr/>
        </p:nvSpPr>
        <p:spPr>
          <a:xfrm>
            <a:off x="8458200" y="3749040"/>
            <a:ext cx="2834640" cy="1371600"/>
          </a:xfrm>
          <a:prstGeom prst="rect">
            <a:avLst/>
          </a:prstGeom>
          <a:noFill/>
          <a:ln/>
        </p:spPr>
        <p:txBody>
          <a:bodyPr wrap="square" lIns="0" tIns="0" rIns="0" bIns="0" rtlCol="0" anchor="t"/>
          <a:lstStyle/>
          <a:p>
            <a:pPr indent="0" marL="0">
              <a:buNone/>
            </a:pPr>
            <a:r>
              <a:rPr lang="en-US" sz="1400" dirty="0">
                <a:solidFill>
                  <a:schemeClr val="tx2"/>
                </a:solidFill>
              </a:rPr>
              <a:t>Debt indicators against thresholds, stress tests and the risk of debt distress.</a:t>
            </a:r>
            <a:endParaRPr lang="en-US" sz="1400" dirty="0"/>
          </a:p>
        </p:txBody>
      </p:sp>
      <p:sp>
        <p:nvSpPr>
          <p:cNvPr id="24" name="so_box"/>
          <p:cNvSpPr/>
          <p:nvPr/>
        </p:nvSpPr>
        <p:spPr>
          <a:xfrm>
            <a:off x="548640" y="5486400"/>
            <a:ext cx="11064240" cy="548640"/>
          </a:xfrm>
          <a:prstGeom prst="rect">
            <a:avLst/>
          </a:prstGeom>
          <a:solidFill>
            <a:schemeClr val="tx1"/>
          </a:solidFill>
          <a:ln w="12700">
            <a:solidFill>
              <a:schemeClr val="tx1"/>
            </a:solidFill>
            <a:prstDash val="solid"/>
          </a:ln>
        </p:spPr>
      </p:sp>
      <p:sp>
        <p:nvSpPr>
          <p:cNvPr id="25" name="Text 20"/>
          <p:cNvSpPr txBox="1"/>
          <p:nvPr/>
        </p:nvSpPr>
        <p:spPr>
          <a:xfrm>
            <a:off x="777240" y="5486400"/>
            <a:ext cx="10698480" cy="548640"/>
          </a:xfrm>
          <a:prstGeom prst="rect">
            <a:avLst/>
          </a:prstGeom>
          <a:noFill/>
          <a:ln/>
        </p:spPr>
        <p:txBody>
          <a:bodyPr wrap="square" lIns="0" tIns="0" rIns="0" bIns="0" rtlCol="0" anchor="ctr"/>
          <a:lstStyle/>
          <a:p>
            <a:pPr indent="0" marL="0">
              <a:buNone/>
            </a:pPr>
            <a:r>
              <a:rPr lang="en-US" sz="1500" b="1" dirty="0">
                <a:solidFill>
                  <a:schemeClr val="bg1"/>
                </a:solidFill>
              </a:rPr>
              <a:t>So: </a:t>
            </a:r>
            <a:pPr indent="0" marL="0">
              <a:buNone/>
            </a:pPr>
            <a:r>
              <a:rPr lang="en-US" sz="1500" dirty="0">
                <a:solidFill>
                  <a:schemeClr val="bg1"/>
                </a:solidFill>
              </a:rPr>
              <a:t>one pipeline from investment needs to debt risk, country by country, in open code.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TOOLKIT</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Three open-source versions of IMF and World Bank tools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371600"/>
                <a:gridCol w="2377440"/>
                <a:gridCol w="2468880"/>
                <a:gridCol w="3017520"/>
                <a:gridCol w="1828800"/>
              </a:tblGrid>
              <a:tr h="411480">
                <a:tc>
                  <a:txBody>
                    <a:bodyPr/>
                    <a:lstStyle/>
                    <a:p>
                      <a:pPr indent="0" marL="0">
                        <a:buNone/>
                      </a:pPr>
                      <a:r>
                        <a:rPr lang="en-US" sz="1300" b="1" dirty="0">
                          <a:solidFill>
                            <a:schemeClr val="bg1"/>
                          </a:solidFill>
                        </a:rPr>
                        <a:t>Model</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Original</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Question here</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Kept</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Simplified</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r>
              <a:tr h="1143000">
                <a:tc>
                  <a:txBody>
                    <a:bodyPr/>
                    <a:lstStyle/>
                    <a:p>
                      <a:pPr indent="0" marL="0">
                        <a:buNone/>
                      </a:pPr>
                      <a:r>
                        <a:rPr lang="en-US" sz="1300" b="1" dirty="0">
                          <a:solidFill>
                            <a:schemeClr val="tx2"/>
                          </a:solidFill>
                        </a:rPr>
                        <a:t>GIMF-lite</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IMF Global Integrated Monetary and Fiscal Model (Kumhof et al. 2010)</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What does a net zero investment push do to the economy and public debt?</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Non-Ricardian OLG and liquidity-constrained households; sticky prices and wages; Taylor rule; UIP; fiscal rule</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One country, one good; no oil block or financial accelerator</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r h="1143000">
                <a:tc>
                  <a:txBody>
                    <a:bodyPr/>
                    <a:lstStyle/>
                    <a:p>
                      <a:pPr indent="0" marL="0">
                        <a:buNone/>
                      </a:pPr>
                      <a:r>
                        <a:rPr lang="en-US" sz="1300" b="1" dirty="0">
                          <a:solidFill>
                            <a:schemeClr val="tx2"/>
                          </a:solidFill>
                        </a:rPr>
                        <a:t>DIGNAD-lite</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IMF Debt-Investment-Growth and Natural Disasters (Marto et al. 2018)</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Public investment scale-ups and disasters in LICs: efficiency, financing, adaptation</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Savers and hand-to-mouth; standard and adaptation capital; PIMA efficiency; grant / concessional / commercial debt</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One good, fixed labour, no domestic debt</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r h="1005840">
                <a:tc>
                  <a:txBody>
                    <a:bodyPr/>
                    <a:lstStyle/>
                    <a:p>
                      <a:pPr indent="0" marL="0">
                        <a:buNone/>
                      </a:pPr>
                      <a:r>
                        <a:rPr lang="en-US" sz="1300" b="1" dirty="0">
                          <a:solidFill>
                            <a:schemeClr val="tx2"/>
                          </a:solidFill>
                        </a:rPr>
                        <a:t>LIC-DSF-lite</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World Bank-IMF LIC Debt Sustainability Framework (2018)</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Does the debt path change the risk of debt distress?</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Composite indicator, thresholds, PV by loan cohort, five indicators, stress tests, rating</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USD only; no realism tools or judgement</a:t>
                      </a:r>
                      <a:endParaRPr lang="en-US" sz="1300" dirty="0"/>
                    </a:p>
                  </a:txBody>
                  <a:tcPr marL="73152" marR="73152" marT="73152" marB="73152"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715000"/>
            <a:ext cx="10972800" cy="365760"/>
          </a:xfrm>
          <a:prstGeom prst="rect">
            <a:avLst/>
          </a:prstGeom>
          <a:noFill/>
          <a:ln/>
        </p:spPr>
        <p:txBody>
          <a:bodyPr wrap="square" lIns="0" tIns="0" rIns="0" bIns="0" rtlCol="0" anchor="t"/>
          <a:lstStyle/>
          <a:p>
            <a:pPr indent="0" marL="0">
              <a:buNone/>
            </a:pPr>
            <a:r>
              <a:rPr lang="en-US" sz="1300" i="1" dirty="0">
                <a:solidFill>
                  <a:schemeClr val="accent4"/>
                </a:solidFill>
              </a:rPr>
              <a:t>Python, about 1,000 lines; a shared perfect-foresight solver; each model also runs on its own.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HOW IT FITS TOGETHER</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One bridge feeds every model from the investment needs model</a:t>
            </a:r>
            <a:endParaRPr lang="en-US" sz="3000" dirty="0"/>
          </a:p>
        </p:txBody>
      </p:sp>
      <p:sp>
        <p:nvSpPr>
          <p:cNvPr id="4" name="nmim"/>
          <p:cNvSpPr/>
          <p:nvPr/>
        </p:nvSpPr>
        <p:spPr>
          <a:xfrm>
            <a:off x="548640" y="2377440"/>
            <a:ext cx="2194560" cy="1920240"/>
          </a:xfrm>
          <a:prstGeom prst="rect">
            <a:avLst/>
          </a:prstGeom>
          <a:solidFill>
            <a:schemeClr val="tx1"/>
          </a:solidFill>
          <a:ln w="12700">
            <a:solidFill>
              <a:schemeClr val="tx1"/>
            </a:solidFill>
            <a:prstDash val="solid"/>
          </a:ln>
        </p:spPr>
      </p:sp>
      <p:sp>
        <p:nvSpPr>
          <p:cNvPr id="5" name="Text 3"/>
          <p:cNvSpPr txBox="1"/>
          <p:nvPr/>
        </p:nvSpPr>
        <p:spPr>
          <a:xfrm>
            <a:off x="731520" y="2514600"/>
            <a:ext cx="182880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NMIM v0.2</a:t>
            </a:r>
            <a:endParaRPr lang="en-US" sz="1600" dirty="0"/>
          </a:p>
        </p:txBody>
      </p:sp>
      <p:sp>
        <p:nvSpPr>
          <p:cNvPr id="6" name="Text 4"/>
          <p:cNvSpPr txBox="1"/>
          <p:nvPr/>
        </p:nvSpPr>
        <p:spPr>
          <a:xfrm>
            <a:off x="731520" y="2926080"/>
            <a:ext cx="1828800" cy="1280160"/>
          </a:xfrm>
          <a:prstGeom prst="rect">
            <a:avLst/>
          </a:prstGeom>
          <a:noFill/>
          <a:ln/>
        </p:spPr>
        <p:txBody>
          <a:bodyPr wrap="square" lIns="0" tIns="0" rIns="0" bIns="0" rtlCol="0" anchor="t"/>
          <a:lstStyle/>
          <a:p>
            <a:pPr indent="0" marL="0">
              <a:buNone/>
            </a:pPr>
            <a:r>
              <a:rPr lang="en-US" sz="1300" dirty="0">
                <a:solidFill>
                  <a:schemeClr val="bg1"/>
                </a:solidFill>
              </a:rPr>
              <a:t>186 countries, 2025-2050; investment by sector and by who pays</a:t>
            </a:r>
            <a:endParaRPr lang="en-US" sz="1300" dirty="0"/>
          </a:p>
        </p:txBody>
      </p:sp>
      <p:sp>
        <p:nvSpPr>
          <p:cNvPr id="7" name="bridge"/>
          <p:cNvSpPr/>
          <p:nvPr/>
        </p:nvSpPr>
        <p:spPr>
          <a:xfrm>
            <a:off x="3291840" y="1691640"/>
            <a:ext cx="2468880" cy="329184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8" name="Text 6"/>
          <p:cNvSpPr txBox="1"/>
          <p:nvPr/>
        </p:nvSpPr>
        <p:spPr>
          <a:xfrm>
            <a:off x="3474720" y="1828800"/>
            <a:ext cx="21945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nmim_bridge.py</a:t>
            </a:r>
            <a:endParaRPr lang="en-US" sz="1600" dirty="0"/>
          </a:p>
        </p:txBody>
      </p:sp>
      <p:sp>
        <p:nvSpPr>
          <p:cNvPr id="9" name="Text 7"/>
          <p:cNvSpPr txBox="1"/>
          <p:nvPr/>
        </p:nvSpPr>
        <p:spPr>
          <a:xfrm>
            <a:off x="3474720" y="2240280"/>
            <a:ext cx="2194560" cy="274320"/>
          </a:xfrm>
          <a:prstGeom prst="rect">
            <a:avLst/>
          </a:prstGeom>
          <a:noFill/>
          <a:ln/>
        </p:spPr>
        <p:txBody>
          <a:bodyPr wrap="square" lIns="0" tIns="0" rIns="0" bIns="0" rtlCol="0" anchor="t"/>
          <a:lstStyle/>
          <a:p>
            <a:pPr indent="0" marL="0">
              <a:buNone/>
            </a:pPr>
            <a:r>
              <a:rPr lang="en-US" sz="1300" dirty="0">
                <a:solidFill>
                  <a:schemeClr val="accent4"/>
                </a:solidFill>
              </a:rPr>
              <a:t>% of GDP, each year:</a:t>
            </a:r>
            <a:endParaRPr lang="en-US" sz="1300" dirty="0"/>
          </a:p>
        </p:txBody>
      </p:sp>
      <p:sp>
        <p:nvSpPr>
          <p:cNvPr id="10" name="Text 8"/>
          <p:cNvSpPr txBox="1"/>
          <p:nvPr/>
        </p:nvSpPr>
        <p:spPr>
          <a:xfrm>
            <a:off x="3474720" y="2606040"/>
            <a:ext cx="214884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Public budget need (P1 + public gap of P4)</a:t>
            </a:r>
            <a:endParaRPr lang="en-US" sz="1400" dirty="0"/>
          </a:p>
          <a:p>
            <a:pPr marL="177800" indent="-177800">
              <a:spcAft>
                <a:spcPts val="600"/>
              </a:spcAft>
              <a:buSzPct val="100000"/>
              <a:buChar char="•"/>
            </a:pPr>
            <a:r>
              <a:rPr lang="en-US" sz="1400" dirty="0">
                <a:solidFill>
                  <a:schemeClr val="tx2"/>
                </a:solidFill>
              </a:rPr>
              <a:t>Private incremental investment</a:t>
            </a:r>
            <a:endParaRPr lang="en-US" sz="1400" dirty="0"/>
          </a:p>
          <a:p>
            <a:pPr marL="177800" indent="-177800">
              <a:spcAft>
                <a:spcPts val="600"/>
              </a:spcAft>
              <a:buSzPct val="100000"/>
              <a:buChar char="•"/>
            </a:pPr>
            <a:r>
              <a:rPr lang="en-US" sz="1400" dirty="0">
                <a:solidFill>
                  <a:schemeClr val="tx2"/>
                </a:solidFill>
              </a:rPr>
              <a:t>Net energy savings</a:t>
            </a:r>
            <a:endParaRPr lang="en-US" sz="1400" dirty="0"/>
          </a:p>
        </p:txBody>
      </p:sp>
      <p:sp>
        <p:nvSpPr>
          <p:cNvPr id="11" name="gimf"/>
          <p:cNvSpPr/>
          <p:nvPr/>
        </p:nvSpPr>
        <p:spPr>
          <a:xfrm>
            <a:off x="6309360" y="1691640"/>
            <a:ext cx="2468880" cy="1463040"/>
          </a:xfrm>
          <a:prstGeom prst="rect">
            <a:avLst/>
          </a:prstGeom>
          <a:solidFill>
            <a:schemeClr val="accent1"/>
          </a:solidFill>
          <a:ln w="12700">
            <a:solidFill>
              <a:schemeClr val="accent1"/>
            </a:solidFill>
            <a:prstDash val="solid"/>
          </a:ln>
        </p:spPr>
      </p:sp>
      <p:sp>
        <p:nvSpPr>
          <p:cNvPr id="12" name="Text 10"/>
          <p:cNvSpPr txBox="1"/>
          <p:nvPr/>
        </p:nvSpPr>
        <p:spPr>
          <a:xfrm>
            <a:off x="6492240" y="1828800"/>
            <a:ext cx="210312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GIMF-lite</a:t>
            </a:r>
            <a:endParaRPr lang="en-US" sz="1600" dirty="0"/>
          </a:p>
        </p:txBody>
      </p:sp>
      <p:sp>
        <p:nvSpPr>
          <p:cNvPr id="13" name="Text 11"/>
          <p:cNvSpPr txBox="1"/>
          <p:nvPr/>
        </p:nvSpPr>
        <p:spPr>
          <a:xfrm>
            <a:off x="6492240" y="2240280"/>
            <a:ext cx="2103120" cy="822960"/>
          </a:xfrm>
          <a:prstGeom prst="rect">
            <a:avLst/>
          </a:prstGeom>
          <a:noFill/>
          <a:ln/>
        </p:spPr>
        <p:txBody>
          <a:bodyPr wrap="square" lIns="0" tIns="0" rIns="0" bIns="0" rtlCol="0" anchor="t"/>
          <a:lstStyle/>
          <a:p>
            <a:pPr indent="0" marL="0">
              <a:buNone/>
            </a:pPr>
            <a:r>
              <a:rPr lang="en-US" sz="1300" dirty="0">
                <a:solidFill>
                  <a:schemeClr val="bg1"/>
                </a:solidFill>
              </a:rPr>
              <a:t>All three paths; economy-wide effects</a:t>
            </a:r>
            <a:endParaRPr lang="en-US" sz="1300" dirty="0"/>
          </a:p>
        </p:txBody>
      </p:sp>
      <p:sp>
        <p:nvSpPr>
          <p:cNvPr id="14" name="dignad"/>
          <p:cNvSpPr/>
          <p:nvPr/>
        </p:nvSpPr>
        <p:spPr>
          <a:xfrm>
            <a:off x="6309360" y="3520440"/>
            <a:ext cx="2468880" cy="1463040"/>
          </a:xfrm>
          <a:prstGeom prst="rect">
            <a:avLst/>
          </a:prstGeom>
          <a:solidFill>
            <a:schemeClr val="accent1"/>
          </a:solidFill>
          <a:ln w="12700">
            <a:solidFill>
              <a:schemeClr val="accent1"/>
            </a:solidFill>
            <a:prstDash val="solid"/>
          </a:ln>
        </p:spPr>
      </p:sp>
      <p:sp>
        <p:nvSpPr>
          <p:cNvPr id="15" name="Text 13"/>
          <p:cNvSpPr txBox="1"/>
          <p:nvPr/>
        </p:nvSpPr>
        <p:spPr>
          <a:xfrm>
            <a:off x="6492240" y="3657600"/>
            <a:ext cx="210312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DIGNAD-lite</a:t>
            </a:r>
            <a:endParaRPr lang="en-US" sz="1600" dirty="0"/>
          </a:p>
        </p:txBody>
      </p:sp>
      <p:sp>
        <p:nvSpPr>
          <p:cNvPr id="16" name="Text 14"/>
          <p:cNvSpPr txBox="1"/>
          <p:nvPr/>
        </p:nvSpPr>
        <p:spPr>
          <a:xfrm>
            <a:off x="6492240" y="4069080"/>
            <a:ext cx="2103120" cy="822960"/>
          </a:xfrm>
          <a:prstGeom prst="rect">
            <a:avLst/>
          </a:prstGeom>
          <a:noFill/>
          <a:ln/>
        </p:spPr>
        <p:txBody>
          <a:bodyPr wrap="square" lIns="0" tIns="0" rIns="0" bIns="0" rtlCol="0" anchor="t"/>
          <a:lstStyle/>
          <a:p>
            <a:pPr indent="0" marL="0">
              <a:buNone/>
            </a:pPr>
            <a:r>
              <a:rPr lang="en-US" sz="1300" dirty="0">
                <a:solidFill>
                  <a:schemeClr val="bg1"/>
                </a:solidFill>
              </a:rPr>
              <a:t>Public part; LIC financing and efficiency</a:t>
            </a:r>
            <a:endParaRPr lang="en-US" sz="1300" dirty="0"/>
          </a:p>
        </p:txBody>
      </p:sp>
      <p:sp>
        <p:nvSpPr>
          <p:cNvPr id="17" name="dsf"/>
          <p:cNvSpPr/>
          <p:nvPr/>
        </p:nvSpPr>
        <p:spPr>
          <a:xfrm>
            <a:off x="9326880" y="2377440"/>
            <a:ext cx="2286000" cy="1920240"/>
          </a:xfrm>
          <a:prstGeom prst="rect">
            <a:avLst/>
          </a:prstGeom>
          <a:solidFill>
            <a:schemeClr val="accent2"/>
          </a:solidFill>
          <a:ln w="12700">
            <a:solidFill>
              <a:schemeClr val="accent2"/>
            </a:solidFill>
            <a:prstDash val="solid"/>
          </a:ln>
        </p:spPr>
      </p:sp>
      <p:sp>
        <p:nvSpPr>
          <p:cNvPr id="18" name="Text 16"/>
          <p:cNvSpPr txBox="1"/>
          <p:nvPr/>
        </p:nvSpPr>
        <p:spPr>
          <a:xfrm>
            <a:off x="9509760" y="2514600"/>
            <a:ext cx="19202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LIC-DSF-lite</a:t>
            </a:r>
            <a:endParaRPr lang="en-US" sz="1600" dirty="0"/>
          </a:p>
        </p:txBody>
      </p:sp>
      <p:sp>
        <p:nvSpPr>
          <p:cNvPr id="19" name="Text 17"/>
          <p:cNvSpPr txBox="1"/>
          <p:nvPr/>
        </p:nvSpPr>
        <p:spPr>
          <a:xfrm>
            <a:off x="9509760" y="2926080"/>
            <a:ext cx="1920240" cy="1280160"/>
          </a:xfrm>
          <a:prstGeom prst="rect">
            <a:avLst/>
          </a:prstGeom>
          <a:noFill/>
          <a:ln/>
        </p:spPr>
        <p:txBody>
          <a:bodyPr wrap="square" lIns="0" tIns="0" rIns="0" bIns="0" rtlCol="0" anchor="t"/>
          <a:lstStyle/>
          <a:p>
            <a:pPr indent="0" marL="0">
              <a:buNone/>
            </a:pPr>
            <a:r>
              <a:rPr lang="en-US" sz="1300" dirty="0">
                <a:solidFill>
                  <a:schemeClr val="bg1"/>
                </a:solidFill>
              </a:rPr>
              <a:t>Growth and primary deficit shift the DSA baseline → rating</a:t>
            </a:r>
            <a:endParaRPr lang="en-US" sz="1300" dirty="0"/>
          </a:p>
        </p:txBody>
      </p:sp>
      <p:sp>
        <p:nvSpPr>
          <p:cNvPr id="20" name="a1"/>
          <p:cNvSpPr/>
          <p:nvPr/>
        </p:nvSpPr>
        <p:spPr>
          <a:xfrm>
            <a:off x="2743200" y="3337560"/>
            <a:ext cx="548640" cy="0"/>
          </a:xfrm>
          <a:prstGeom prst="line">
            <a:avLst/>
          </a:prstGeom>
          <a:noFill/>
          <a:ln w="25400">
            <a:solidFill>
              <a:schemeClr val="accent4"/>
            </a:solidFill>
            <a:prstDash val="solid"/>
            <a:tailEnd type="triangle"/>
          </a:ln>
        </p:spPr>
      </p:sp>
      <p:sp>
        <p:nvSpPr>
          <p:cNvPr id="21" name="a2"/>
          <p:cNvSpPr/>
          <p:nvPr/>
        </p:nvSpPr>
        <p:spPr>
          <a:xfrm>
            <a:off x="5760720" y="3017520"/>
            <a:ext cx="548640" cy="-594360"/>
          </a:xfrm>
          <a:prstGeom prst="line">
            <a:avLst/>
          </a:prstGeom>
          <a:noFill/>
          <a:ln w="25400">
            <a:solidFill>
              <a:schemeClr val="accent4"/>
            </a:solidFill>
            <a:prstDash val="solid"/>
            <a:tailEnd type="triangle"/>
          </a:ln>
        </p:spPr>
      </p:sp>
      <p:sp>
        <p:nvSpPr>
          <p:cNvPr id="22" name="a3"/>
          <p:cNvSpPr/>
          <p:nvPr/>
        </p:nvSpPr>
        <p:spPr>
          <a:xfrm>
            <a:off x="5760720" y="3657600"/>
            <a:ext cx="548640" cy="594360"/>
          </a:xfrm>
          <a:prstGeom prst="line">
            <a:avLst/>
          </a:prstGeom>
          <a:noFill/>
          <a:ln w="25400">
            <a:solidFill>
              <a:schemeClr val="accent4"/>
            </a:solidFill>
            <a:prstDash val="solid"/>
            <a:tailEnd type="triangle"/>
          </a:ln>
        </p:spPr>
      </p:sp>
      <p:sp>
        <p:nvSpPr>
          <p:cNvPr id="23" name="a4"/>
          <p:cNvSpPr/>
          <p:nvPr/>
        </p:nvSpPr>
        <p:spPr>
          <a:xfrm>
            <a:off x="8778240" y="2423160"/>
            <a:ext cx="548640" cy="594360"/>
          </a:xfrm>
          <a:prstGeom prst="line">
            <a:avLst/>
          </a:prstGeom>
          <a:noFill/>
          <a:ln w="25400">
            <a:solidFill>
              <a:schemeClr val="accent4"/>
            </a:solidFill>
            <a:prstDash val="solid"/>
            <a:tailEnd type="triangle"/>
          </a:ln>
        </p:spPr>
      </p:sp>
      <p:sp>
        <p:nvSpPr>
          <p:cNvPr id="24" name="a5"/>
          <p:cNvSpPr/>
          <p:nvPr/>
        </p:nvSpPr>
        <p:spPr>
          <a:xfrm>
            <a:off x="8778240" y="4251960"/>
            <a:ext cx="548640" cy="-594360"/>
          </a:xfrm>
          <a:prstGeom prst="line">
            <a:avLst/>
          </a:prstGeom>
          <a:noFill/>
          <a:ln w="25400">
            <a:solidFill>
              <a:schemeClr val="accent4"/>
            </a:solidFill>
            <a:prstDash val="solid"/>
            <a:tailEnd type="triangle"/>
          </a:ln>
        </p:spPr>
      </p:sp>
      <p:sp>
        <p:nvSpPr>
          <p:cNvPr id="25" name="Text 23"/>
          <p:cNvSpPr txBox="1"/>
          <p:nvPr/>
        </p:nvSpPr>
        <p:spPr>
          <a:xfrm>
            <a:off x="548640" y="5486400"/>
            <a:ext cx="10972800" cy="3657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python3 run_demo.py KEN  — any NMIM country, about 15 seconds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GIMF-LITE</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Financing matters because households are not Ricardian</a:t>
            </a:r>
            <a:endParaRPr lang="en-US" sz="3000" dirty="0"/>
          </a:p>
        </p:txBody>
      </p:sp>
      <p:sp>
        <p:nvSpPr>
          <p:cNvPr id="4" name="mech0"/>
          <p:cNvSpPr/>
          <p:nvPr/>
        </p:nvSpPr>
        <p:spPr>
          <a:xfrm>
            <a:off x="548640" y="1691640"/>
            <a:ext cx="685800" cy="685800"/>
          </a:xfrm>
          <a:prstGeom prst="ellipse">
            <a:avLst/>
          </a:prstGeom>
          <a:solidFill>
            <a:schemeClr val="accent1"/>
          </a:solidFill>
          <a:ln w="12700">
            <a:solidFill>
              <a:schemeClr val="accent1"/>
            </a:solidFill>
            <a:prstDash val="solid"/>
          </a:ln>
        </p:spPr>
      </p:sp>
      <p:pic>
        <p:nvPicPr>
          <p:cNvPr id="5" name="Image 0" descr="20-year planning horizon">    </p:cNvPr>
          <p:cNvPicPr>
            <a:picLocks noChangeAspect="1"/>
          </p:cNvPicPr>
          <p:nvPr/>
        </p:nvPicPr>
        <p:blipFill>
          <a:blip r:embed="rId1"/>
          <a:stretch>
            <a:fillRect/>
          </a:stretch>
        </p:blipFill>
        <p:spPr>
          <a:xfrm>
            <a:off x="722376" y="1865376"/>
            <a:ext cx="338328" cy="338328"/>
          </a:xfrm>
          <a:prstGeom prst="rect">
            <a:avLst/>
          </a:prstGeom>
        </p:spPr>
      </p:pic>
      <p:sp>
        <p:nvSpPr>
          <p:cNvPr id="6" name="Text 3"/>
          <p:cNvSpPr txBox="1"/>
          <p:nvPr/>
        </p:nvSpPr>
        <p:spPr>
          <a:xfrm>
            <a:off x="1463040" y="1691640"/>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20-year planning horizon</a:t>
            </a:r>
            <a:endParaRPr lang="en-US" sz="1800" dirty="0"/>
          </a:p>
        </p:txBody>
      </p:sp>
      <p:sp>
        <p:nvSpPr>
          <p:cNvPr id="7" name="Text 4"/>
          <p:cNvSpPr txBox="1"/>
          <p:nvPr/>
        </p:nvSpPr>
        <p:spPr>
          <a:xfrm>
            <a:off x="1463040" y="2103120"/>
            <a:ext cx="5120640" cy="777240"/>
          </a:xfrm>
          <a:prstGeom prst="rect">
            <a:avLst/>
          </a:prstGeom>
          <a:noFill/>
          <a:ln/>
        </p:spPr>
        <p:txBody>
          <a:bodyPr wrap="square" lIns="0" tIns="0" rIns="0" bIns="0" rtlCol="0" anchor="t"/>
          <a:lstStyle/>
          <a:p>
            <a:pPr indent="0" marL="0">
              <a:buNone/>
            </a:pPr>
            <a:r>
              <a:rPr lang="en-US" sz="1400" dirty="0">
                <a:solidFill>
                  <a:schemeClr val="tx2"/>
                </a:solidFill>
              </a:rPr>
              <a:t>Households discount future taxes at about (1 + r)/(θχ), above the government's rate, so debt feels like wealth.</a:t>
            </a:r>
            <a:endParaRPr lang="en-US" sz="1400" dirty="0"/>
          </a:p>
        </p:txBody>
      </p:sp>
      <p:sp>
        <p:nvSpPr>
          <p:cNvPr id="8" name="mech1"/>
          <p:cNvSpPr/>
          <p:nvPr/>
        </p:nvSpPr>
        <p:spPr>
          <a:xfrm>
            <a:off x="548640" y="3017520"/>
            <a:ext cx="685800" cy="685800"/>
          </a:xfrm>
          <a:prstGeom prst="ellipse">
            <a:avLst/>
          </a:prstGeom>
          <a:solidFill>
            <a:schemeClr val="accent1"/>
          </a:solidFill>
          <a:ln w="12700">
            <a:solidFill>
              <a:schemeClr val="accent1"/>
            </a:solidFill>
            <a:prstDash val="solid"/>
          </a:ln>
        </p:spPr>
      </p:sp>
      <p:pic>
        <p:nvPicPr>
          <p:cNvPr id="9" name="Image 1" descr="A quarter spend current income">    </p:cNvPr>
          <p:cNvPicPr>
            <a:picLocks noChangeAspect="1"/>
          </p:cNvPicPr>
          <p:nvPr/>
        </p:nvPicPr>
        <p:blipFill>
          <a:blip r:embed="rId2"/>
          <a:stretch>
            <a:fillRect/>
          </a:stretch>
        </p:blipFill>
        <p:spPr>
          <a:xfrm>
            <a:off x="722376" y="3191256"/>
            <a:ext cx="338328" cy="338328"/>
          </a:xfrm>
          <a:prstGeom prst="rect">
            <a:avLst/>
          </a:prstGeom>
        </p:spPr>
      </p:pic>
      <p:sp>
        <p:nvSpPr>
          <p:cNvPr id="10" name="Text 6"/>
          <p:cNvSpPr txBox="1"/>
          <p:nvPr/>
        </p:nvSpPr>
        <p:spPr>
          <a:xfrm>
            <a:off x="1463040" y="3017520"/>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 quarter spend current income</a:t>
            </a:r>
            <a:endParaRPr lang="en-US" sz="1800" dirty="0"/>
          </a:p>
        </p:txBody>
      </p:sp>
      <p:sp>
        <p:nvSpPr>
          <p:cNvPr id="11" name="Text 7"/>
          <p:cNvSpPr txBox="1"/>
          <p:nvPr/>
        </p:nvSpPr>
        <p:spPr>
          <a:xfrm>
            <a:off x="1463040" y="3429000"/>
            <a:ext cx="5120640" cy="777240"/>
          </a:xfrm>
          <a:prstGeom prst="rect">
            <a:avLst/>
          </a:prstGeom>
          <a:noFill/>
          <a:ln/>
        </p:spPr>
        <p:txBody>
          <a:bodyPr wrap="square" lIns="0" tIns="0" rIns="0" bIns="0" rtlCol="0" anchor="t"/>
          <a:lstStyle/>
          <a:p>
            <a:pPr indent="0" marL="0">
              <a:buNone/>
            </a:pPr>
            <a:r>
              <a:rPr lang="en-US" sz="1400" dirty="0">
                <a:solidFill>
                  <a:schemeClr val="tx2"/>
                </a:solidFill>
              </a:rPr>
              <a:t>Liquidity-constrained households make transfers and temporary measures stronger.</a:t>
            </a:r>
            <a:endParaRPr lang="en-US" sz="1400" dirty="0"/>
          </a:p>
        </p:txBody>
      </p:sp>
      <p:sp>
        <p:nvSpPr>
          <p:cNvPr id="12" name="mech2"/>
          <p:cNvSpPr/>
          <p:nvPr/>
        </p:nvSpPr>
        <p:spPr>
          <a:xfrm>
            <a:off x="548640" y="4343400"/>
            <a:ext cx="685800" cy="685800"/>
          </a:xfrm>
          <a:prstGeom prst="ellipse">
            <a:avLst/>
          </a:prstGeom>
          <a:solidFill>
            <a:schemeClr val="accent1"/>
          </a:solidFill>
          <a:ln w="12700">
            <a:solidFill>
              <a:schemeClr val="accent1"/>
            </a:solidFill>
            <a:prstDash val="solid"/>
          </a:ln>
        </p:spPr>
      </p:sp>
      <p:pic>
        <p:nvPicPr>
          <p:cNvPr id="13" name="Image 2" descr="Sticky prices and wages, Taylor rule">    </p:cNvPr>
          <p:cNvPicPr>
            <a:picLocks noChangeAspect="1"/>
          </p:cNvPicPr>
          <p:nvPr/>
        </p:nvPicPr>
        <p:blipFill>
          <a:blip r:embed="rId3"/>
          <a:stretch>
            <a:fillRect/>
          </a:stretch>
        </p:blipFill>
        <p:spPr>
          <a:xfrm>
            <a:off x="722376" y="4517136"/>
            <a:ext cx="338328" cy="338328"/>
          </a:xfrm>
          <a:prstGeom prst="rect">
            <a:avLst/>
          </a:prstGeom>
        </p:spPr>
      </p:pic>
      <p:sp>
        <p:nvSpPr>
          <p:cNvPr id="14" name="Text 9"/>
          <p:cNvSpPr txBox="1"/>
          <p:nvPr/>
        </p:nvSpPr>
        <p:spPr>
          <a:xfrm>
            <a:off x="1463040" y="4343400"/>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Sticky prices and wages, Taylor rule</a:t>
            </a:r>
            <a:endParaRPr lang="en-US" sz="1800" dirty="0"/>
          </a:p>
        </p:txBody>
      </p:sp>
      <p:sp>
        <p:nvSpPr>
          <p:cNvPr id="15" name="Text 10"/>
          <p:cNvSpPr txBox="1"/>
          <p:nvPr/>
        </p:nvSpPr>
        <p:spPr>
          <a:xfrm>
            <a:off x="1463040" y="4754880"/>
            <a:ext cx="5120640" cy="777240"/>
          </a:xfrm>
          <a:prstGeom prst="rect">
            <a:avLst/>
          </a:prstGeom>
          <a:noFill/>
          <a:ln/>
        </p:spPr>
        <p:txBody>
          <a:bodyPr wrap="square" lIns="0" tIns="0" rIns="0" bIns="0" rtlCol="0" anchor="t"/>
          <a:lstStyle/>
          <a:p>
            <a:pPr indent="0" marL="0">
              <a:buNone/>
            </a:pPr>
            <a:r>
              <a:rPr lang="en-US" sz="1400" dirty="0">
                <a:solidFill>
                  <a:schemeClr val="tx2"/>
                </a:solidFill>
              </a:rPr>
              <a:t>Output is demand-led in the short run; the exchange rate and current account adjust.</a:t>
            </a:r>
            <a:endParaRPr lang="en-US" sz="1400" dirty="0"/>
          </a:p>
        </p:txBody>
      </p:sp>
      <p:sp>
        <p:nvSpPr>
          <p:cNvPr id="16" name="validation"/>
          <p:cNvSpPr/>
          <p:nvPr/>
        </p:nvSpPr>
        <p:spPr>
          <a:xfrm>
            <a:off x="7040880" y="1691640"/>
            <a:ext cx="4572000" cy="402336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17" name="Text 12"/>
          <p:cNvSpPr txBox="1"/>
          <p:nvPr/>
        </p:nvSpPr>
        <p:spPr>
          <a:xfrm>
            <a:off x="7315200" y="1920240"/>
            <a:ext cx="402336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VALIDATION</a:t>
            </a:r>
            <a:endParaRPr lang="en-US" sz="1100" dirty="0"/>
          </a:p>
        </p:txBody>
      </p:sp>
      <p:sp>
        <p:nvSpPr>
          <p:cNvPr id="18" name="Text 13"/>
          <p:cNvSpPr txBox="1"/>
          <p:nvPr/>
        </p:nvSpPr>
        <p:spPr>
          <a:xfrm>
            <a:off x="7315200" y="2286000"/>
            <a:ext cx="4023360" cy="822960"/>
          </a:xfrm>
          <a:prstGeom prst="rect">
            <a:avLst/>
          </a:prstGeom>
          <a:noFill/>
          <a:ln/>
        </p:spPr>
        <p:txBody>
          <a:bodyPr wrap="square" lIns="0" tIns="0" rIns="0" bIns="0" rtlCol="0" anchor="t"/>
          <a:lstStyle/>
          <a:p>
            <a:pPr indent="0" marL="0">
              <a:buNone/>
            </a:pPr>
            <a:r>
              <a:rPr lang="en-US" sz="5400" b="1" dirty="0">
                <a:solidFill>
                  <a:schemeClr val="tx1"/>
                </a:solidFill>
                <a:latin typeface="Cambria" pitchFamily="34" charset="0"/>
                <a:ea typeface="Cambria" pitchFamily="34" charset="-122"/>
                <a:cs typeface="Cambria" pitchFamily="34" charset="-120"/>
              </a:rPr>
              <a:t>0.3 pp</a:t>
            </a:r>
            <a:endParaRPr lang="en-US" sz="5400" dirty="0"/>
          </a:p>
        </p:txBody>
      </p:sp>
      <p:sp>
        <p:nvSpPr>
          <p:cNvPr id="19" name="Text 14"/>
          <p:cNvSpPr txBox="1"/>
          <p:nvPr/>
        </p:nvSpPr>
        <p:spPr>
          <a:xfrm>
            <a:off x="7315200" y="3154680"/>
            <a:ext cx="4023360" cy="731520"/>
          </a:xfrm>
          <a:prstGeom prst="rect">
            <a:avLst/>
          </a:prstGeom>
          <a:noFill/>
          <a:ln/>
        </p:spPr>
        <p:txBody>
          <a:bodyPr wrap="square" lIns="0" tIns="0" rIns="0" bIns="0" rtlCol="0" anchor="t"/>
          <a:lstStyle/>
          <a:p>
            <a:pPr indent="0" marL="0">
              <a:buNone/>
            </a:pPr>
            <a:r>
              <a:rPr lang="en-US" sz="1400" dirty="0">
                <a:solidFill>
                  <a:schemeClr val="tx2"/>
                </a:solidFill>
              </a:rPr>
              <a:t>gap in first-year consumption between debt- and tax-financed public investment (default calibration)</a:t>
            </a:r>
            <a:endParaRPr lang="en-US" sz="1400" dirty="0"/>
          </a:p>
        </p:txBody>
      </p:sp>
      <p:sp>
        <p:nvSpPr>
          <p:cNvPr id="20" name="Text 15"/>
          <p:cNvSpPr txBox="1"/>
          <p:nvPr/>
        </p:nvSpPr>
        <p:spPr>
          <a:xfrm>
            <a:off x="7315200" y="3977640"/>
            <a:ext cx="4023360" cy="82296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0.00 pp</a:t>
            </a:r>
            <a:endParaRPr lang="en-US" sz="5400" dirty="0"/>
          </a:p>
        </p:txBody>
      </p:sp>
      <p:sp>
        <p:nvSpPr>
          <p:cNvPr id="21" name="Text 16"/>
          <p:cNvSpPr txBox="1"/>
          <p:nvPr/>
        </p:nvSpPr>
        <p:spPr>
          <a:xfrm>
            <a:off x="7315200" y="4846320"/>
            <a:ext cx="4023360" cy="731520"/>
          </a:xfrm>
          <a:prstGeom prst="rect">
            <a:avLst/>
          </a:prstGeom>
          <a:noFill/>
          <a:ln/>
        </p:spPr>
        <p:txBody>
          <a:bodyPr wrap="square" lIns="0" tIns="0" rIns="0" bIns="0" rtlCol="0" anchor="t"/>
          <a:lstStyle/>
          <a:p>
            <a:pPr indent="0" marL="0">
              <a:buNone/>
            </a:pPr>
            <a:r>
              <a:rPr lang="en-US" sz="1400" dirty="0">
                <a:solidFill>
                  <a:schemeClr val="tx2"/>
                </a:solidFill>
              </a:rPr>
              <a:t>gap in the Ricardian limit (infinite horizon, no constrained households), as theory requires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KENYA EXAMPLE · GIMF-LITE</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Kenya's net zero programme could lift GDP about 6% by 2050</a:t>
            </a:r>
            <a:endParaRPr lang="en-US" sz="3000" dirty="0"/>
          </a:p>
        </p:txBody>
      </p:sp>
      <p:graphicFrame>
        <p:nvGraphicFramePr>
          <p:cNvPr id="4" name="Chart 0" descr=""/>
          <p:cNvGraphicFramePr/>
          <p:nvPr/>
        </p:nvGraphicFramePr>
        <p:xfrm>
          <a:off x="548640" y="155448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stat0"/>
          <p:cNvSpPr/>
          <p:nvPr/>
        </p:nvSpPr>
        <p:spPr>
          <a:xfrm>
            <a:off x="8229600" y="1554480"/>
            <a:ext cx="3383280" cy="132588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6" name="Text 3"/>
          <p:cNvSpPr txBox="1"/>
          <p:nvPr/>
        </p:nvSpPr>
        <p:spPr>
          <a:xfrm>
            <a:off x="8458200" y="1645920"/>
            <a:ext cx="301752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+6.2%</a:t>
            </a:r>
            <a:endParaRPr lang="en-US" sz="3600" dirty="0"/>
          </a:p>
        </p:txBody>
      </p:sp>
      <p:sp>
        <p:nvSpPr>
          <p:cNvPr id="7" name="Text 4"/>
          <p:cNvSpPr txBox="1"/>
          <p:nvPr/>
        </p:nvSpPr>
        <p:spPr>
          <a:xfrm>
            <a:off x="8458200" y="2286000"/>
            <a:ext cx="3017520" cy="502920"/>
          </a:xfrm>
          <a:prstGeom prst="rect">
            <a:avLst/>
          </a:prstGeom>
          <a:noFill/>
          <a:ln/>
        </p:spPr>
        <p:txBody>
          <a:bodyPr wrap="square" lIns="0" tIns="0" rIns="0" bIns="0" rtlCol="0" anchor="t"/>
          <a:lstStyle/>
          <a:p>
            <a:pPr indent="0" marL="0">
              <a:buNone/>
            </a:pPr>
            <a:r>
              <a:rPr lang="en-US" sz="1300" dirty="0">
                <a:solidFill>
                  <a:schemeClr val="tx2"/>
                </a:solidFill>
              </a:rPr>
              <a:t>GDP in 2050, debt-financed public part</a:t>
            </a:r>
            <a:endParaRPr lang="en-US" sz="1300" dirty="0"/>
          </a:p>
        </p:txBody>
      </p:sp>
      <p:sp>
        <p:nvSpPr>
          <p:cNvPr id="8" name="stat1"/>
          <p:cNvSpPr/>
          <p:nvPr/>
        </p:nvSpPr>
        <p:spPr>
          <a:xfrm>
            <a:off x="8229600" y="3063240"/>
            <a:ext cx="3383280" cy="132588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9" name="Text 6"/>
          <p:cNvSpPr txBox="1"/>
          <p:nvPr/>
        </p:nvSpPr>
        <p:spPr>
          <a:xfrm>
            <a:off x="8458200" y="3154680"/>
            <a:ext cx="301752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66%</a:t>
            </a:r>
            <a:endParaRPr lang="en-US" sz="3600" dirty="0"/>
          </a:p>
        </p:txBody>
      </p:sp>
      <p:sp>
        <p:nvSpPr>
          <p:cNvPr id="10" name="Text 7"/>
          <p:cNvSpPr txBox="1"/>
          <p:nvPr/>
        </p:nvSpPr>
        <p:spPr>
          <a:xfrm>
            <a:off x="8458200" y="3794760"/>
            <a:ext cx="3017520" cy="502920"/>
          </a:xfrm>
          <a:prstGeom prst="rect">
            <a:avLst/>
          </a:prstGeom>
          <a:noFill/>
          <a:ln/>
        </p:spPr>
        <p:txBody>
          <a:bodyPr wrap="square" lIns="0" tIns="0" rIns="0" bIns="0" rtlCol="0" anchor="t"/>
          <a:lstStyle/>
          <a:p>
            <a:pPr indent="0" marL="0">
              <a:buNone/>
            </a:pPr>
            <a:r>
              <a:rPr lang="en-US" sz="1300" dirty="0">
                <a:solidFill>
                  <a:schemeClr val="tx2"/>
                </a:solidFill>
              </a:rPr>
              <a:t>of that gain comes from energy savings</a:t>
            </a:r>
            <a:endParaRPr lang="en-US" sz="1300" dirty="0"/>
          </a:p>
        </p:txBody>
      </p:sp>
      <p:sp>
        <p:nvSpPr>
          <p:cNvPr id="11" name="stat2"/>
          <p:cNvSpPr/>
          <p:nvPr/>
        </p:nvSpPr>
        <p:spPr>
          <a:xfrm>
            <a:off x="8229600" y="4572000"/>
            <a:ext cx="3383280" cy="132588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12" name="Text 9"/>
          <p:cNvSpPr txBox="1"/>
          <p:nvPr/>
        </p:nvSpPr>
        <p:spPr>
          <a:xfrm>
            <a:off x="8458200" y="4663440"/>
            <a:ext cx="301752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53%</a:t>
            </a:r>
            <a:endParaRPr lang="en-US" sz="3600" dirty="0"/>
          </a:p>
        </p:txBody>
      </p:sp>
      <p:sp>
        <p:nvSpPr>
          <p:cNvPr id="13" name="Text 10"/>
          <p:cNvSpPr txBox="1"/>
          <p:nvPr/>
        </p:nvSpPr>
        <p:spPr>
          <a:xfrm>
            <a:off x="8458200" y="5303520"/>
            <a:ext cx="3017520" cy="502920"/>
          </a:xfrm>
          <a:prstGeom prst="rect">
            <a:avLst/>
          </a:prstGeom>
          <a:noFill/>
          <a:ln/>
        </p:spPr>
        <p:txBody>
          <a:bodyPr wrap="square" lIns="0" tIns="0" rIns="0" bIns="0" rtlCol="0" anchor="t"/>
          <a:lstStyle/>
          <a:p>
            <a:pPr indent="0" marL="0">
              <a:buNone/>
            </a:pPr>
            <a:r>
              <a:rPr lang="en-US" sz="1300" dirty="0">
                <a:solidFill>
                  <a:schemeClr val="tx2"/>
                </a:solidFill>
              </a:rPr>
              <a:t>public debt / GDP in 2050 (50% today)</a:t>
            </a:r>
            <a:endParaRPr lang="en-US" sz="1300" dirty="0"/>
          </a:p>
        </p:txBody>
      </p:sp>
      <p:sp>
        <p:nvSpPr>
          <p:cNvPr id="14" name="Text 11"/>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000" dirty="0">
                <a:solidFill>
                  <a:schemeClr val="accent4"/>
                </a:solidFill>
              </a:rPr>
              <a:t>Programme: NMIM v0.2 (Kenya): public 0.49%, private 1.16% of GDP in 2030. Macro calibration illustrative.</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DIGNAD-LITE · DISASTERS AND ADAPTATION</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Adapting before a disaster cuts the first-year loss by a sixth</a:t>
            </a:r>
            <a:endParaRPr lang="en-US" sz="3000" dirty="0"/>
          </a:p>
        </p:txBody>
      </p:sp>
      <p:graphicFrame>
        <p:nvGraphicFramePr>
          <p:cNvPr id="4" name="Chart 0" descr=""/>
          <p:cNvGraphicFramePr/>
          <p:nvPr/>
        </p:nvGraphicFramePr>
        <p:xfrm>
          <a:off x="548640" y="155448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dignad_notes"/>
          <p:cNvSpPr/>
          <p:nvPr/>
        </p:nvSpPr>
        <p:spPr>
          <a:xfrm>
            <a:off x="8229600" y="1554480"/>
            <a:ext cx="3383280" cy="448056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6" name="Text 3"/>
          <p:cNvSpPr txBox="1"/>
          <p:nvPr/>
        </p:nvSpPr>
        <p:spPr>
          <a:xfrm>
            <a:off x="8458200" y="1737360"/>
            <a:ext cx="301752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the scenarios show</a:t>
            </a:r>
            <a:endParaRPr lang="en-US" sz="1600" dirty="0"/>
          </a:p>
        </p:txBody>
      </p:sp>
      <p:sp>
        <p:nvSpPr>
          <p:cNvPr id="7" name="Text 4"/>
          <p:cNvSpPr txBox="1"/>
          <p:nvPr/>
        </p:nvSpPr>
        <p:spPr>
          <a:xfrm>
            <a:off x="8458200" y="2194560"/>
            <a:ext cx="3017520" cy="36576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Shock: 10% of capital destroyed, 3% TFP loss; GDP falls 7.5%</a:t>
            </a:r>
            <a:endParaRPr lang="en-US" sz="1400" dirty="0"/>
          </a:p>
          <a:p>
            <a:pPr marL="177800" indent="-177800">
              <a:spcAft>
                <a:spcPts val="600"/>
              </a:spcAft>
              <a:buSzPct val="100000"/>
              <a:buChar char="•"/>
            </a:pPr>
            <a:r>
              <a:rPr lang="en-US" sz="1400" dirty="0">
                <a:solidFill>
                  <a:schemeClr val="tx2"/>
                </a:solidFill>
              </a:rPr>
              <a:t>Adaptation capital in place: -6.3% instead</a:t>
            </a:r>
            <a:endParaRPr lang="en-US" sz="1400" dirty="0"/>
          </a:p>
          <a:p>
            <a:pPr marL="177800" indent="-177800">
              <a:spcAft>
                <a:spcPts val="600"/>
              </a:spcAft>
              <a:buSzPct val="100000"/>
              <a:buChar char="•"/>
            </a:pPr>
            <a:r>
              <a:rPr lang="en-US" sz="1400" dirty="0">
                <a:solidFill>
                  <a:schemeClr val="tx2"/>
                </a:solidFill>
              </a:rPr>
              <a:t>Reconstruction speeds recovery but raises debt</a:t>
            </a:r>
            <a:endParaRPr lang="en-US" sz="1400" dirty="0"/>
          </a:p>
          <a:p>
            <a:pPr marL="177800" indent="-177800">
              <a:spcAft>
                <a:spcPts val="600"/>
              </a:spcAft>
              <a:buSzPct val="100000"/>
              <a:buChar char="•"/>
            </a:pPr>
            <a:r>
              <a:rPr lang="en-US" sz="1400" dirty="0">
                <a:solidFill>
                  <a:schemeClr val="tx2"/>
                </a:solidFill>
              </a:rPr>
              <a:t>Building back better pays off only when the next disaster comes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LIC-DSF-LITE</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Kenya's programme barely moves debt risk (illustrative)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863840" cy="914400"/>
        </p:xfrm>
        <a:graphic>
          <a:graphicData uri="http://schemas.openxmlformats.org/drawingml/2006/table">
            <a:tbl>
              <a:tblPr/>
              <a:tblGrid>
                <a:gridCol w="2377440"/>
                <a:gridCol w="1005840"/>
                <a:gridCol w="1005840"/>
                <a:gridCol w="1234440"/>
                <a:gridCol w="1051560"/>
                <a:gridCol w="1188720"/>
              </a:tblGrid>
              <a:tr h="457200">
                <a:tc>
                  <a:txBody>
                    <a:bodyPr/>
                    <a:lstStyle/>
                    <a:p>
                      <a:pPr algn="ctr" indent="0" marL="0">
                        <a:buNone/>
                      </a:pPr>
                      <a:r>
                        <a:rPr lang="en-US" sz="1300" b="1" dirty="0">
                          <a:solidFill>
                            <a:schemeClr val="bg1"/>
                          </a:solidFill>
                        </a:rPr>
                        <a:t>Indicator (max over 10 years)</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Threshold</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Baseline</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With programme</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Worst stress</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Worst test</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tx1"/>
                    </a:solidFill>
                  </a:tcPr>
                </a:tc>
              </a:tr>
              <a:tr h="457200">
                <a:tc>
                  <a:txBody>
                    <a:bodyPr/>
                    <a:lstStyle/>
                    <a:p>
                      <a:pPr algn="l" indent="0" marL="0">
                        <a:buNone/>
                      </a:pPr>
                      <a:r>
                        <a:rPr lang="en-US" sz="1300" b="1" dirty="0">
                          <a:solidFill>
                            <a:schemeClr val="tx2"/>
                          </a:solidFill>
                        </a:rPr>
                        <a:t>PV ext debt / GDP</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40</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29.7</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30.2</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37.3</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Depreciation (30%)</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tx2"/>
                          </a:solidFill>
                        </a:rPr>
                        <a:t>PV ext debt / exports</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180</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149.7</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152.5</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185.6</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Exports</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tx2"/>
                          </a:solidFill>
                        </a:rPr>
                        <a:t>Ext debt service / exports</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15</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14.1</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14.3</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17.4</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Exports</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tx2"/>
                          </a:solidFill>
                        </a:rPr>
                        <a:t>Ext debt service / revenue</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18</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17.5</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17.7</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22.1</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Depreciation (30%)</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tx2"/>
                          </a:solidFill>
                        </a:rPr>
                        <a:t>PV public debt / GDP</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55</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52.5</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53.4</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61.3</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Depreciation (30%)</a:t>
                      </a:r>
                      <a:endParaRPr lang="en-US" sz="1300" dirty="0"/>
                    </a:p>
                  </a:txBody>
                  <a:tcPr marL="54864" marR="54864" marT="54864" marB="54864" anchor="ctr">
                    <a:lnL w="9525" cap="flat" cmpd="sng" algn="ctr">
                      <a:solidFill>
                        <a:srgbClr val="E1E5EA"/>
                      </a:solidFill>
                      <a:prstDash val="solid"/>
                      <a:round/>
                      <a:headEnd type="none" w="med" len="med"/>
                      <a:tailEnd type="none" w="med" len="med"/>
                    </a:lnL>
                    <a:lnR w="9525" cap="flat" cmpd="sng" algn="ctr">
                      <a:solidFill>
                        <a:srgbClr val="E1E5EA"/>
                      </a:solidFill>
                      <a:prstDash val="solid"/>
                      <a:round/>
                      <a:headEnd type="none" w="med" len="med"/>
                      <a:tailEnd type="none" w="med" len="med"/>
                    </a:lnR>
                    <a:lnT w="9525" cap="flat" cmpd="sng" algn="ctr">
                      <a:solidFill>
                        <a:srgbClr val="E1E5EA"/>
                      </a:solidFill>
                      <a:prstDash val="solid"/>
                      <a:round/>
                      <a:headEnd type="none" w="med" len="med"/>
                      <a:tailEnd type="none" w="med" len="med"/>
                    </a:lnT>
                    <a:lnB w="9525" cap="flat" cmpd="sng" algn="ctr">
                      <a:solidFill>
                        <a:srgbClr val="E1E5EA"/>
                      </a:solidFill>
                      <a:prstDash val="solid"/>
                      <a:round/>
                      <a:headEnd type="none" w="med" len="med"/>
                      <a:tailEnd type="none" w="med" len="med"/>
                    </a:lnB>
                    <a:solidFill>
                      <a:schemeClr val="bg1"/>
                    </a:solidFill>
                  </a:tcPr>
                </a:tc>
              </a:tr>
            </a:tbl>
          </a:graphicData>
        </a:graphic>
      </p:graphicFrame>
      <p:sp>
        <p:nvSpPr>
          <p:cNvPr id="5" name="rating"/>
          <p:cNvSpPr/>
          <p:nvPr/>
        </p:nvSpPr>
        <p:spPr>
          <a:xfrm>
            <a:off x="8778240" y="1600200"/>
            <a:ext cx="2834640" cy="274320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6" name="Text 3"/>
          <p:cNvSpPr txBox="1"/>
          <p:nvPr/>
        </p:nvSpPr>
        <p:spPr>
          <a:xfrm>
            <a:off x="9006840" y="1783080"/>
            <a:ext cx="237744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RISK RATING</a:t>
            </a:r>
            <a:endParaRPr lang="en-US" sz="1100" dirty="0"/>
          </a:p>
        </p:txBody>
      </p:sp>
      <p:sp>
        <p:nvSpPr>
          <p:cNvPr id="7" name="Text 4"/>
          <p:cNvSpPr txBox="1"/>
          <p:nvPr/>
        </p:nvSpPr>
        <p:spPr>
          <a:xfrm>
            <a:off x="9006840" y="2148840"/>
            <a:ext cx="2377440" cy="73152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Moderate</a:t>
            </a:r>
            <a:endParaRPr lang="en-US" sz="3600" dirty="0"/>
          </a:p>
        </p:txBody>
      </p:sp>
      <p:sp>
        <p:nvSpPr>
          <p:cNvPr id="8" name="Text 5"/>
          <p:cNvSpPr txBox="1"/>
          <p:nvPr/>
        </p:nvSpPr>
        <p:spPr>
          <a:xfrm>
            <a:off x="9006840" y="2926080"/>
            <a:ext cx="2377440" cy="1280160"/>
          </a:xfrm>
          <a:prstGeom prst="rect">
            <a:avLst/>
          </a:prstGeom>
          <a:noFill/>
          <a:ln/>
        </p:spPr>
        <p:txBody>
          <a:bodyPr wrap="square" lIns="0" tIns="0" rIns="0" bIns="0" rtlCol="0" anchor="t"/>
          <a:lstStyle/>
          <a:p>
            <a:pPr indent="0" marL="0">
              <a:buNone/>
            </a:pPr>
            <a:r>
              <a:rPr lang="en-US" sz="1300" dirty="0">
                <a:solidFill>
                  <a:schemeClr val="tx2"/>
                </a:solidFill>
              </a:rPr>
              <a:t>unchanged from the baseline (Moderate); breaches only under stress. Capacity medium (CI 2.79).</a:t>
            </a:r>
            <a:endParaRPr lang="en-US" sz="1300" dirty="0"/>
          </a:p>
        </p:txBody>
      </p:sp>
      <p:sp>
        <p:nvSpPr>
          <p:cNvPr id="9" name="Text 6"/>
          <p:cNvSpPr txBox="1"/>
          <p:nvPr/>
        </p:nvSpPr>
        <p:spPr>
          <a:xfrm>
            <a:off x="548640" y="4937760"/>
            <a:ext cx="7863840" cy="731520"/>
          </a:xfrm>
          <a:prstGeom prst="rect">
            <a:avLst/>
          </a:prstGeom>
          <a:noFill/>
          <a:ln/>
        </p:spPr>
        <p:txBody>
          <a:bodyPr wrap="square" lIns="0" tIns="0" rIns="0" bIns="0" rtlCol="0" anchor="t"/>
          <a:lstStyle/>
          <a:p>
            <a:pPr indent="0" marL="0">
              <a:buNone/>
            </a:pPr>
            <a:r>
              <a:rPr lang="en-US" sz="1100" i="1" dirty="0">
                <a:solidFill>
                  <a:schemeClr val="accent4"/>
                </a:solidFill>
              </a:rPr>
              <a:t>Orange: stress value above the threshold. The baseline ratios are placeholders scaled to NMIM GDP, not Kenya's DSA; coefficients and thresholds as recalled from the 2018 Guidance Note, to be checked.</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WHAT IT NEEDS</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country calibration needs data most teams already hold</a:t>
            </a:r>
            <a:endParaRPr lang="en-US" sz="3000" dirty="0"/>
          </a:p>
        </p:txBody>
      </p:sp>
      <p:sp>
        <p:nvSpPr>
          <p:cNvPr id="4" name="data0"/>
          <p:cNvSpPr/>
          <p:nvPr/>
        </p:nvSpPr>
        <p:spPr>
          <a:xfrm>
            <a:off x="548640" y="1600200"/>
            <a:ext cx="3429000" cy="338328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5" name="Text 3"/>
          <p:cNvSpPr txBox="1"/>
          <p:nvPr/>
        </p:nvSpPr>
        <p:spPr>
          <a:xfrm>
            <a:off x="822960" y="1783080"/>
            <a:ext cx="292608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GIMF-lite</a:t>
            </a:r>
            <a:endParaRPr lang="en-US" sz="1800" dirty="0"/>
          </a:p>
        </p:txBody>
      </p:sp>
      <p:sp>
        <p:nvSpPr>
          <p:cNvPr id="6" name="Text 4"/>
          <p:cNvSpPr txBox="1"/>
          <p:nvPr/>
        </p:nvSpPr>
        <p:spPr>
          <a:xfrm>
            <a:off x="822960" y="2331720"/>
            <a:ext cx="29260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National accounts shares</a:t>
            </a:r>
            <a:endParaRPr lang="en-US" sz="1400" dirty="0"/>
          </a:p>
          <a:p>
            <a:pPr marL="177800" indent="-177800">
              <a:spcAft>
                <a:spcPts val="600"/>
              </a:spcAft>
              <a:buSzPct val="100000"/>
              <a:buChar char="•"/>
            </a:pPr>
            <a:r>
              <a:rPr lang="en-US" sz="1400" dirty="0">
                <a:solidFill>
                  <a:schemeClr val="tx2"/>
                </a:solidFill>
              </a:rPr>
              <a:t>Revenue by tax, spending by type</a:t>
            </a:r>
            <a:endParaRPr lang="en-US" sz="1400" dirty="0"/>
          </a:p>
          <a:p>
            <a:pPr marL="177800" indent="-177800">
              <a:spcAft>
                <a:spcPts val="600"/>
              </a:spcAft>
              <a:buSzPct val="100000"/>
              <a:buChar char="•"/>
            </a:pPr>
            <a:r>
              <a:rPr lang="en-US" sz="1400" dirty="0">
                <a:solidFill>
                  <a:schemeClr val="tx2"/>
                </a:solidFill>
              </a:rPr>
              <a:t>Public debt, net foreign assets</a:t>
            </a:r>
            <a:endParaRPr lang="en-US" sz="1400" dirty="0"/>
          </a:p>
          <a:p>
            <a:pPr marL="177800" indent="-177800">
              <a:spcAft>
                <a:spcPts val="600"/>
              </a:spcAft>
              <a:buSzPct val="100000"/>
              <a:buChar char="•"/>
            </a:pPr>
            <a:r>
              <a:rPr lang="en-US" sz="1400" dirty="0">
                <a:solidFill>
                  <a:schemeClr val="tx2"/>
                </a:solidFill>
              </a:rPr>
              <a:t>Rates, inflation, monetary rule</a:t>
            </a:r>
            <a:endParaRPr lang="en-US" sz="1400" dirty="0"/>
          </a:p>
          <a:p>
            <a:pPr marL="177800" indent="-177800">
              <a:spcAft>
                <a:spcPts val="600"/>
              </a:spcAft>
              <a:buSzPct val="100000"/>
              <a:buChar char="•"/>
            </a:pPr>
            <a:r>
              <a:rPr lang="en-US" sz="1400" dirty="0">
                <a:solidFill>
                  <a:schemeClr val="tx2"/>
                </a:solidFill>
              </a:rPr>
              <a:t>Constrained households (Findex)</a:t>
            </a:r>
            <a:endParaRPr lang="en-US" sz="1400" dirty="0"/>
          </a:p>
          <a:p>
            <a:pPr marL="177800" indent="-177800">
              <a:spcAft>
                <a:spcPts val="600"/>
              </a:spcAft>
              <a:buSzPct val="100000"/>
              <a:buChar char="•"/>
            </a:pPr>
            <a:r>
              <a:rPr lang="en-US" sz="1400" dirty="0">
                <a:solidFill>
                  <a:schemeClr val="tx2"/>
                </a:solidFill>
              </a:rPr>
              <a:t>Return on public capital</a:t>
            </a:r>
            <a:endParaRPr lang="en-US" sz="1400" dirty="0"/>
          </a:p>
        </p:txBody>
      </p:sp>
      <p:sp>
        <p:nvSpPr>
          <p:cNvPr id="7" name="data1"/>
          <p:cNvSpPr/>
          <p:nvPr/>
        </p:nvSpPr>
        <p:spPr>
          <a:xfrm>
            <a:off x="4343400" y="1600200"/>
            <a:ext cx="3429000" cy="338328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8" name="Text 6"/>
          <p:cNvSpPr txBox="1"/>
          <p:nvPr/>
        </p:nvSpPr>
        <p:spPr>
          <a:xfrm>
            <a:off x="4617720" y="1783080"/>
            <a:ext cx="292608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DIGNAD-lite</a:t>
            </a:r>
            <a:endParaRPr lang="en-US" sz="1800" dirty="0"/>
          </a:p>
        </p:txBody>
      </p:sp>
      <p:sp>
        <p:nvSpPr>
          <p:cNvPr id="9" name="Text 7"/>
          <p:cNvSpPr txBox="1"/>
          <p:nvPr/>
        </p:nvSpPr>
        <p:spPr>
          <a:xfrm>
            <a:off x="4617720" y="2331720"/>
            <a:ext cx="29260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Debt: concessional, domestic, commercial</a:t>
            </a:r>
            <a:endParaRPr lang="en-US" sz="1400" dirty="0"/>
          </a:p>
          <a:p>
            <a:pPr marL="177800" indent="-177800">
              <a:spcAft>
                <a:spcPts val="600"/>
              </a:spcAft>
              <a:buSzPct val="100000"/>
              <a:buChar char="•"/>
            </a:pPr>
            <a:r>
              <a:rPr lang="en-US" sz="1400" dirty="0">
                <a:solidFill>
                  <a:schemeClr val="tx2"/>
                </a:solidFill>
              </a:rPr>
              <a:t>PIMA / PIE-X efficiency</a:t>
            </a:r>
            <a:endParaRPr lang="en-US" sz="1400" dirty="0"/>
          </a:p>
          <a:p>
            <a:pPr marL="177800" indent="-177800">
              <a:spcAft>
                <a:spcPts val="600"/>
              </a:spcAft>
              <a:buSzPct val="100000"/>
              <a:buChar char="•"/>
            </a:pPr>
            <a:r>
              <a:rPr lang="en-US" sz="1400" dirty="0">
                <a:solidFill>
                  <a:schemeClr val="tx2"/>
                </a:solidFill>
              </a:rPr>
              <a:t>Grants and financing package</a:t>
            </a:r>
            <a:endParaRPr lang="en-US" sz="1400" dirty="0"/>
          </a:p>
          <a:p>
            <a:pPr marL="177800" indent="-177800">
              <a:spcAft>
                <a:spcPts val="600"/>
              </a:spcAft>
              <a:buSzPct val="100000"/>
              <a:buChar char="•"/>
            </a:pPr>
            <a:r>
              <a:rPr lang="en-US" sz="1400" dirty="0">
                <a:solidFill>
                  <a:schemeClr val="tx2"/>
                </a:solidFill>
              </a:rPr>
              <a:t>Disaster damage (EM-DAT, PDNA)</a:t>
            </a:r>
            <a:endParaRPr lang="en-US" sz="1400" dirty="0"/>
          </a:p>
          <a:p>
            <a:pPr marL="177800" indent="-177800">
              <a:spcAft>
                <a:spcPts val="600"/>
              </a:spcAft>
              <a:buSzPct val="100000"/>
              <a:buChar char="•"/>
            </a:pPr>
            <a:r>
              <a:rPr lang="en-US" sz="1400" dirty="0">
                <a:solidFill>
                  <a:schemeClr val="tx2"/>
                </a:solidFill>
              </a:rPr>
              <a:t>Adaptation cost and damage avoided</a:t>
            </a:r>
            <a:endParaRPr lang="en-US" sz="1400" dirty="0"/>
          </a:p>
          <a:p>
            <a:pPr marL="177800" indent="-177800">
              <a:spcAft>
                <a:spcPts val="600"/>
              </a:spcAft>
              <a:buSzPct val="100000"/>
              <a:buChar char="•"/>
            </a:pPr>
            <a:r>
              <a:rPr lang="en-US" sz="1400" dirty="0">
                <a:solidFill>
                  <a:schemeClr val="tx2"/>
                </a:solidFill>
              </a:rPr>
              <a:t>Hand-to-mouth share</a:t>
            </a:r>
            <a:endParaRPr lang="en-US" sz="1400" dirty="0"/>
          </a:p>
        </p:txBody>
      </p:sp>
      <p:sp>
        <p:nvSpPr>
          <p:cNvPr id="10" name="data2"/>
          <p:cNvSpPr/>
          <p:nvPr/>
        </p:nvSpPr>
        <p:spPr>
          <a:xfrm>
            <a:off x="8138160" y="1600200"/>
            <a:ext cx="3429000" cy="338328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11" name="Text 9"/>
          <p:cNvSpPr txBox="1"/>
          <p:nvPr/>
        </p:nvSpPr>
        <p:spPr>
          <a:xfrm>
            <a:off x="8412480" y="1783080"/>
            <a:ext cx="2926080" cy="41148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LIC-DSF-lite</a:t>
            </a:r>
            <a:endParaRPr lang="en-US" sz="1800" dirty="0"/>
          </a:p>
        </p:txBody>
      </p:sp>
      <p:sp>
        <p:nvSpPr>
          <p:cNvPr id="12" name="Text 10"/>
          <p:cNvSpPr txBox="1"/>
          <p:nvPr/>
        </p:nvSpPr>
        <p:spPr>
          <a:xfrm>
            <a:off x="8412480" y="2331720"/>
            <a:ext cx="29260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10-20 year macro projections</a:t>
            </a:r>
            <a:endParaRPr lang="en-US" sz="1400" dirty="0"/>
          </a:p>
          <a:p>
            <a:pPr marL="177800" indent="-177800">
              <a:spcAft>
                <a:spcPts val="600"/>
              </a:spcAft>
              <a:buSzPct val="100000"/>
              <a:buChar char="•"/>
            </a:pPr>
            <a:r>
              <a:rPr lang="en-US" sz="1400" dirty="0">
                <a:solidFill>
                  <a:schemeClr val="tx2"/>
                </a:solidFill>
              </a:rPr>
              <a:t>Loan-by-loan external debt service</a:t>
            </a:r>
            <a:endParaRPr lang="en-US" sz="1400" dirty="0"/>
          </a:p>
          <a:p>
            <a:pPr marL="177800" indent="-177800">
              <a:spcAft>
                <a:spcPts val="600"/>
              </a:spcAft>
              <a:buSzPct val="100000"/>
              <a:buChar char="•"/>
            </a:pPr>
            <a:r>
              <a:rPr lang="en-US" sz="1400" dirty="0">
                <a:solidFill>
                  <a:schemeClr val="tx2"/>
                </a:solidFill>
              </a:rPr>
              <a:t>Terms of new borrowing</a:t>
            </a:r>
            <a:endParaRPr lang="en-US" sz="1400" dirty="0"/>
          </a:p>
          <a:p>
            <a:pPr marL="177800" indent="-177800">
              <a:spcAft>
                <a:spcPts val="600"/>
              </a:spcAft>
              <a:buSzPct val="100000"/>
              <a:buChar char="•"/>
            </a:pPr>
            <a:r>
              <a:rPr lang="en-US" sz="1400" dirty="0">
                <a:solidFill>
                  <a:schemeClr val="tx2"/>
                </a:solidFill>
              </a:rPr>
              <a:t>CPIA, reserves, remittances</a:t>
            </a:r>
            <a:endParaRPr lang="en-US" sz="1400" dirty="0"/>
          </a:p>
          <a:p>
            <a:pPr marL="177800" indent="-177800">
              <a:spcAft>
                <a:spcPts val="600"/>
              </a:spcAft>
              <a:buSzPct val="100000"/>
              <a:buChar char="•"/>
            </a:pPr>
            <a:r>
              <a:rPr lang="en-US" sz="1400" dirty="0">
                <a:solidFill>
                  <a:schemeClr val="tx2"/>
                </a:solidFill>
              </a:rPr>
              <a:t>Historical standard deviations</a:t>
            </a:r>
            <a:endParaRPr lang="en-US" sz="1400" dirty="0"/>
          </a:p>
          <a:p>
            <a:pPr marL="177800" indent="-177800">
              <a:spcAft>
                <a:spcPts val="600"/>
              </a:spcAft>
              <a:buSzPct val="100000"/>
              <a:buChar char="•"/>
            </a:pPr>
            <a:r>
              <a:rPr lang="en-US" sz="1400" dirty="0">
                <a:solidFill>
                  <a:schemeClr val="tx2"/>
                </a:solidFill>
              </a:rPr>
              <a:t>Domestic debt</a:t>
            </a:r>
            <a:endParaRPr lang="en-US" sz="1400" dirty="0"/>
          </a:p>
        </p:txBody>
      </p:sp>
      <p:sp>
        <p:nvSpPr>
          <p:cNvPr id="13" name="Text 11"/>
          <p:cNvSpPr txBox="1"/>
          <p:nvPr/>
        </p:nvSpPr>
        <p:spPr>
          <a:xfrm>
            <a:off x="548640" y="5257800"/>
            <a:ext cx="10972800" cy="320040"/>
          </a:xfrm>
          <a:prstGeom prst="rect">
            <a:avLst/>
          </a:prstGeom>
          <a:noFill/>
          <a:ln/>
        </p:spPr>
        <p:txBody>
          <a:bodyPr wrap="square" lIns="0" tIns="0" rIns="0" bIns="0" rtlCol="0" anchor="t"/>
          <a:lstStyle/>
          <a:p>
            <a:pPr indent="0" marL="0">
              <a:buNone/>
            </a:pPr>
            <a:r>
              <a:rPr lang="en-US" sz="1300" i="1" dirty="0">
                <a:solidFill>
                  <a:schemeClr val="accent4"/>
                </a:solidFill>
              </a:rPr>
              <a:t>The investment programme itself already comes from NMIM for 186 countries.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STATUS</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v0.1 runs end to end; calibration is the next step</a:t>
            </a:r>
            <a:endParaRPr lang="en-US" sz="3000" dirty="0"/>
          </a:p>
        </p:txBody>
      </p:sp>
      <p:sp>
        <p:nvSpPr>
          <p:cNvPr id="4" name="done"/>
          <p:cNvSpPr/>
          <p:nvPr/>
        </p:nvSpPr>
        <p:spPr>
          <a:xfrm>
            <a:off x="548640" y="1600200"/>
            <a:ext cx="5394960" cy="310896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sp>
        <p:nvSpPr>
          <p:cNvPr id="5" name="notyet"/>
          <p:cNvSpPr/>
          <p:nvPr/>
        </p:nvSpPr>
        <p:spPr>
          <a:xfrm>
            <a:off x="6217920" y="1600200"/>
            <a:ext cx="5394960" cy="3108960"/>
          </a:xfrm>
          <a:prstGeom prst="rect">
            <a:avLst/>
          </a:prstGeom>
          <a:solidFill>
            <a:schemeClr val="bg1"/>
          </a:solidFill>
          <a:ln w="12700">
            <a:solidFill>
              <a:schemeClr val="bg1"/>
            </a:solidFill>
            <a:prstDash val="solid"/>
          </a:ln>
          <a:effectLst>
            <a:outerShdw sx="100000" sy="100000" kx="0" ky="0" algn="bl" rotWithShape="0" blurRad="50800" dist="12700" dir="5400000">
              <a:srgbClr val="9AA3AE">
                <a:alpha val="25000"/>
              </a:srgbClr>
            </a:outerShdw>
          </a:effectLst>
        </p:spPr>
      </p:sp>
      <p:pic>
        <p:nvPicPr>
          <p:cNvPr id="6" name="Image 0" descr="Done">    </p:cNvPr>
          <p:cNvPicPr>
            <a:picLocks noChangeAspect="1"/>
          </p:cNvPicPr>
          <p:nvPr/>
        </p:nvPicPr>
        <p:blipFill>
          <a:blip r:embed="rId1"/>
          <a:stretch>
            <a:fillRect/>
          </a:stretch>
        </p:blipFill>
        <p:spPr>
          <a:xfrm>
            <a:off x="822960" y="1828800"/>
            <a:ext cx="365760" cy="365760"/>
          </a:xfrm>
          <a:prstGeom prst="rect">
            <a:avLst/>
          </a:prstGeom>
        </p:spPr>
      </p:pic>
      <p:sp>
        <p:nvSpPr>
          <p:cNvPr id="7" name="Text 4"/>
          <p:cNvSpPr txBox="1"/>
          <p:nvPr/>
        </p:nvSpPr>
        <p:spPr>
          <a:xfrm>
            <a:off x="1325880" y="1828800"/>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Done</a:t>
            </a:r>
            <a:endParaRPr lang="en-US" sz="1800" dirty="0"/>
          </a:p>
        </p:txBody>
      </p:sp>
      <p:sp>
        <p:nvSpPr>
          <p:cNvPr id="8" name="Text 5"/>
          <p:cNvSpPr txBox="1"/>
          <p:nvPr/>
        </p:nvSpPr>
        <p:spPr>
          <a:xfrm>
            <a:off x="822960" y="2377440"/>
            <a:ext cx="484632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Three models, solved in seconds, on main in new-ai-tools</a:t>
            </a:r>
            <a:endParaRPr lang="en-US" sz="1400" dirty="0"/>
          </a:p>
          <a:p>
            <a:pPr marL="177800" indent="-177800">
              <a:spcAft>
                <a:spcPts val="600"/>
              </a:spcAft>
              <a:buSzPct val="100000"/>
              <a:buChar char="•"/>
            </a:pPr>
            <a:r>
              <a:rPr lang="en-US" sz="1400" dirty="0">
                <a:solidFill>
                  <a:schemeClr val="tx2"/>
                </a:solidFill>
              </a:rPr>
              <a:t>Bridge to NMIM for any of its 186 countries</a:t>
            </a:r>
            <a:endParaRPr lang="en-US" sz="1400" dirty="0"/>
          </a:p>
          <a:p>
            <a:pPr marL="177800" indent="-177800">
              <a:spcAft>
                <a:spcPts val="600"/>
              </a:spcAft>
              <a:buSzPct val="100000"/>
              <a:buChar char="•"/>
            </a:pPr>
            <a:r>
              <a:rPr lang="en-US" sz="1400" dirty="0">
                <a:solidFill>
                  <a:schemeClr val="tx2"/>
                </a:solidFill>
              </a:rPr>
              <a:t>Method note: equations and data needs</a:t>
            </a:r>
            <a:endParaRPr lang="en-US" sz="1400" dirty="0"/>
          </a:p>
          <a:p>
            <a:pPr marL="177800" indent="-177800">
              <a:spcAft>
                <a:spcPts val="600"/>
              </a:spcAft>
              <a:buSzPct val="100000"/>
              <a:buChar char="•"/>
            </a:pPr>
            <a:r>
              <a:rPr lang="en-US" sz="1400" dirty="0">
                <a:solidFill>
                  <a:schemeClr val="tx2"/>
                </a:solidFill>
              </a:rPr>
              <a:t>Checks: Ricardian limit, Walras's law, horizon</a:t>
            </a:r>
            <a:endParaRPr lang="en-US" sz="1400" dirty="0"/>
          </a:p>
          <a:p>
            <a:pPr marL="177800" indent="-177800">
              <a:spcAft>
                <a:spcPts val="600"/>
              </a:spcAft>
              <a:buSzPct val="100000"/>
              <a:buChar char="•"/>
            </a:pPr>
            <a:r>
              <a:rPr lang="en-US" sz="1400" dirty="0">
                <a:solidFill>
                  <a:schemeClr val="tx2"/>
                </a:solidFill>
              </a:rPr>
              <a:t>User guides for each model</a:t>
            </a:r>
            <a:endParaRPr lang="en-US" sz="1400" dirty="0"/>
          </a:p>
        </p:txBody>
      </p:sp>
      <p:pic>
        <p:nvPicPr>
          <p:cNvPr id="9" name="Image 1" descr="Not yet">    </p:cNvPr>
          <p:cNvPicPr>
            <a:picLocks noChangeAspect="1"/>
          </p:cNvPicPr>
          <p:nvPr/>
        </p:nvPicPr>
        <p:blipFill>
          <a:blip r:embed="rId2"/>
          <a:stretch>
            <a:fillRect/>
          </a:stretch>
        </p:blipFill>
        <p:spPr>
          <a:xfrm>
            <a:off x="6492240" y="1828800"/>
            <a:ext cx="365760" cy="365760"/>
          </a:xfrm>
          <a:prstGeom prst="rect">
            <a:avLst/>
          </a:prstGeom>
        </p:spPr>
      </p:pic>
      <p:sp>
        <p:nvSpPr>
          <p:cNvPr id="10" name="Text 6"/>
          <p:cNvSpPr txBox="1"/>
          <p:nvPr/>
        </p:nvSpPr>
        <p:spPr>
          <a:xfrm>
            <a:off x="6995160" y="1828800"/>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Not yet</a:t>
            </a:r>
            <a:endParaRPr lang="en-US" sz="1800" dirty="0"/>
          </a:p>
        </p:txBody>
      </p:sp>
      <p:sp>
        <p:nvSpPr>
          <p:cNvPr id="11" name="Text 7"/>
          <p:cNvSpPr txBox="1"/>
          <p:nvPr/>
        </p:nvSpPr>
        <p:spPr>
          <a:xfrm>
            <a:off x="6492240" y="2377440"/>
            <a:ext cx="484632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Country calibrations (all illustrative today)</a:t>
            </a:r>
            <a:endParaRPr lang="en-US" sz="1400" dirty="0"/>
          </a:p>
          <a:p>
            <a:pPr marL="177800" indent="-177800">
              <a:spcAft>
                <a:spcPts val="600"/>
              </a:spcAft>
              <a:buSzPct val="100000"/>
              <a:buChar char="•"/>
            </a:pPr>
            <a:r>
              <a:rPr lang="en-US" sz="1400" dirty="0">
                <a:solidFill>
                  <a:schemeClr val="tx2"/>
                </a:solidFill>
              </a:rPr>
              <a:t>DSF coefficients checked against the Guidance Note</a:t>
            </a:r>
            <a:endParaRPr lang="en-US" sz="1400" dirty="0"/>
          </a:p>
          <a:p>
            <a:pPr marL="177800" indent="-177800">
              <a:spcAft>
                <a:spcPts val="600"/>
              </a:spcAft>
              <a:buSzPct val="100000"/>
              <a:buChar char="•"/>
            </a:pPr>
            <a:r>
              <a:rPr lang="en-US" sz="1400" dirty="0">
                <a:solidFill>
                  <a:schemeClr val="tx2"/>
                </a:solidFill>
              </a:rPr>
              <a:t>Energy savings treated as a value-added gain</a:t>
            </a:r>
            <a:endParaRPr lang="en-US" sz="1400" dirty="0"/>
          </a:p>
          <a:p>
            <a:pPr marL="177800" indent="-177800">
              <a:spcAft>
                <a:spcPts val="600"/>
              </a:spcAft>
              <a:buSzPct val="100000"/>
              <a:buChar char="•"/>
            </a:pPr>
            <a:r>
              <a:rPr lang="en-US" sz="1400" dirty="0">
                <a:solidFill>
                  <a:schemeClr val="tx2"/>
                </a:solidFill>
              </a:rPr>
              <a:t>No carbon pricing, oil block or multi-country spillovers</a:t>
            </a:r>
            <a:endParaRPr lang="en-US" sz="1400" dirty="0"/>
          </a:p>
          <a:p>
            <a:pPr marL="177800" indent="-177800">
              <a:spcAft>
                <a:spcPts val="600"/>
              </a:spcAft>
              <a:buSzPct val="100000"/>
              <a:buChar char="•"/>
            </a:pPr>
            <a:r>
              <a:rPr lang="en-US" sz="1400" dirty="0">
                <a:solidFill>
                  <a:schemeClr val="tx2"/>
                </a:solidFill>
              </a:rPr>
              <a:t>Recurrent disasters in DIGNAD-lite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49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nchor="t"/>
          <a:lstStyle/>
          <a:p>
            <a:pPr indent="0" marL="0">
              <a:buNone/>
            </a:pPr>
            <a:r>
              <a:rPr lang="en-US" sz="1200" b="1" spc="200" kern="0" dirty="0">
                <a:solidFill>
                  <a:schemeClr val="accent6"/>
                </a:solidFill>
              </a:rPr>
              <a:t>NEXT STEPS</a:t>
            </a:r>
            <a:endParaRPr lang="en-US" sz="1200" dirty="0"/>
          </a:p>
        </p:txBody>
      </p:sp>
      <p:sp>
        <p:nvSpPr>
          <p:cNvPr id="3" name="Text 0"/>
          <p:cNvSpPr/>
          <p:nvPr>
            <p:ph idx="101" type="title" hasCustomPrompt="1"/>
          </p:nvPr>
        </p:nvSpPr>
        <p:spPr>
          <a:xfrm>
            <a:off x="731520" y="2148840"/>
            <a:ext cx="105156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Pilot two or three countries, then build the front end</a:t>
            </a:r>
            <a:endParaRPr lang="en-US" sz="4000" dirty="0"/>
          </a:p>
        </p:txBody>
      </p:sp>
      <p:sp>
        <p:nvSpPr>
          <p:cNvPr id="4" name="Text 0"/>
          <p:cNvSpPr/>
          <p:nvPr>
            <p:ph idx="102" type="body" hasCustomPrompt="1"/>
          </p:nvPr>
        </p:nvSpPr>
        <p:spPr>
          <a:xfrm>
            <a:off x="731520" y="3840480"/>
            <a:ext cx="10058400" cy="1097280"/>
          </a:xfrm>
          <a:prstGeom prst="rect">
            <a:avLst/>
          </a:prstGeom>
          <a:noFill/>
          <a:ln/>
        </p:spPr>
        <p:txBody>
          <a:bodyPr wrap="square" lIns="0" tIns="0" rIns="0" bIns="0" rtlCol="0" anchor="t"/>
          <a:lstStyle/>
          <a:p>
            <a:pPr indent="0" marL="0">
              <a:buNone/>
            </a:pPr>
            <a:r>
              <a:rPr lang="en-US" sz="1800" dirty="0">
                <a:solidFill>
                  <a:schemeClr val="bg2"/>
                </a:solidFill>
              </a:rPr>
              <a:t>1  Calibrate pilots with country teams' DSA and macro framework</a:t>
            </a:r>
            <a:endParaRPr lang="en-US" sz="1800" dirty="0"/>
          </a:p>
          <a:p>
            <a:pPr indent="0" marL="0">
              <a:buNone/>
            </a:pPr>
            <a:r>
              <a:rPr lang="en-US" sz="1800" dirty="0">
                <a:solidFill>
                  <a:schemeClr val="bg2"/>
                </a:solidFill>
              </a:rPr>
              <a:t>2  Check the DSF against the current Guidance Note and template</a:t>
            </a:r>
            <a:endParaRPr lang="en-US" sz="1800" dirty="0"/>
          </a:p>
          <a:p>
            <a:pPr indent="0" marL="0">
              <a:buNone/>
            </a:pPr>
            <a:r>
              <a:rPr lang="en-US" sz="1800" dirty="0">
                <a:solidFill>
                  <a:schemeClr val="bg2"/>
                </a:solidFill>
              </a:rPr>
              <a:t>3  Add carbon pricing revenue from CPAT</a:t>
            </a:r>
            <a:endParaRPr lang="en-US" sz="1800" dirty="0"/>
          </a:p>
          <a:p>
            <a:pPr indent="0" marL="0">
              <a:buNone/>
            </a:pPr>
            <a:r>
              <a:rPr lang="en-US" sz="1800" dirty="0">
                <a:solidFill>
                  <a:schemeClr val="bg2"/>
                </a:solidFill>
              </a:rPr>
              <a:t>4  Excel or dashboard view next to NMIM</a:t>
            </a:r>
            <a:endParaRPr lang="en-US" sz="1800" dirty="0"/>
          </a:p>
        </p:txBody>
      </p:sp>
    </p:spTree>
  </p:cSld>
  <p:clrMapOvr>
    <a:masterClrMapping/>
  </p:clrMapOvr>
</p:sld>
</file>

<file path=ppt/theme/theme1.xml><?xml version="1.0" encoding="utf-8"?>
<a:theme xmlns:a="http://schemas.openxmlformats.org/drawingml/2006/main" name="MacroFiscal">
  <a:themeElements>
    <a:clrScheme name="MacroFiscal">
      <a:dk1>
        <a:srgbClr val="14213D"/>
      </a:dk1>
      <a:lt1>
        <a:srgbClr val="FFFFFF"/>
      </a:lt1>
      <a:dk2>
        <a:srgbClr val="3F4A5A"/>
      </a:dk2>
      <a:lt2>
        <a:srgbClr val="EAEEF2"/>
      </a:lt2>
      <a:accent1>
        <a:srgbClr val="3D7A73"/>
      </a:accent1>
      <a:accent2>
        <a:srgbClr val="A8521A"/>
      </a:accent2>
      <a:accent3>
        <a:srgbClr val="14213D"/>
      </a:accent3>
      <a:accent4>
        <a:srgbClr val="7A8494"/>
      </a:accent4>
      <a:accent5>
        <a:srgbClr val="6FA8A0"/>
      </a:accent5>
      <a:accent6>
        <a:srgbClr val="E0A46E"/>
      </a:accent6>
      <a:hlink>
        <a:srgbClr val="3D7A73"/>
      </a:hlink>
      <a:folHlink>
        <a:srgbClr val="3F4A5A"/>
      </a:folHlink>
    </a:clrScheme>
    <a:fontScheme name="MacroFis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Macro-fiscal models for climate investment</dc:title>
  <dc:subject>PptxGenJS Presentation</dc:subject>
  <dc:creator>Stephen Stretton</dc:creator>
  <cp:lastModifiedBy>Stephen Stretton</cp:lastModifiedBy>
  <cp:revision>1</cp:revision>
  <dcterms:created xsi:type="dcterms:W3CDTF">2026-10-20T12:57:33Z</dcterms:created>
  <dcterms:modified xsi:type="dcterms:W3CDTF">2026-10-20T12:57:33Z</dcterms:modified>
</cp:coreProperties>
</file>