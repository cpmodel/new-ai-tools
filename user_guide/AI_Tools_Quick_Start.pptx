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058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C9A227"/>
                </a:solidFill>
                <a:latin typeface="Arial"/>
              </a:rPr>
              <a:t>USER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AI Tools Quick Start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48840"/>
            <a:ext cx="105156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D9E2F3"/>
                </a:solidFill>
                <a:latin typeface="Arial"/>
              </a:rPr>
              <a:t>Two short guides. Pick the one you need.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108960"/>
            <a:ext cx="5120640" cy="2743200"/>
          </a:xfrm>
          <a:prstGeom prst="rect">
            <a:avLst/>
          </a:prstGeom>
          <a:solidFill>
            <a:srgbClr val="2B4A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3108960"/>
            <a:ext cx="5120640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3337560"/>
            <a:ext cx="45720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C9A227"/>
                </a:solidFill>
                <a:latin typeface="Arial"/>
              </a:rPr>
              <a:t>PART 1  ·  slides 2-5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703320"/>
            <a:ext cx="45720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Excise diagnostic for Indonesia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526280"/>
            <a:ext cx="45720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D9E2F3"/>
                </a:solidFill>
                <a:latin typeface="Arial"/>
              </a:rPr>
              <a:t>with Claude (deep research)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937760"/>
            <a:ext cx="457200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D9E2F3"/>
                </a:solidFill>
                <a:latin typeface="Arial"/>
              </a:rPr>
              <a:t>Claude researches Indonesia's excise laws and writes the diagnostic: a Word report and an Excel workbook.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3108960"/>
            <a:ext cx="5120640" cy="2743200"/>
          </a:xfrm>
          <a:prstGeom prst="rect">
            <a:avLst/>
          </a:prstGeom>
          <a:solidFill>
            <a:srgbClr val="2B4A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3108960"/>
            <a:ext cx="5120640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3337560"/>
            <a:ext cx="45720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C9A227"/>
                </a:solidFill>
                <a:latin typeface="Arial"/>
              </a:rPr>
              <a:t>PART 2  ·  slides 6-9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703320"/>
            <a:ext cx="45720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Add tax indicators to the dashboard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4526280"/>
            <a:ext cx="45720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D9E2F3"/>
                </a:solidFill>
                <a:latin typeface="Arial"/>
              </a:rPr>
              <a:t>with GitHub Copilot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4937760"/>
            <a:ext cx="457200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D9E2F3"/>
                </a:solidFill>
                <a:latin typeface="Arial"/>
              </a:rPr>
              <a:t>Copilot adds four rows under Tax revenue in the Global Fiscal Indicators dashboard: personal income tax, corporate income tax, VAT and excises (% of GDP). The data are already in the repo.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217920"/>
            <a:ext cx="10058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D9E2F3"/>
                </a:solidFill>
                <a:latin typeface="Arial"/>
              </a:rPr>
              <a:t>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754880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38404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C9A227"/>
                </a:solidFill>
                <a:latin typeface="Arial"/>
              </a:rPr>
              <a:t>PART 1  ·  QUICK START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3840480" cy="2011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Arial"/>
              </a:rPr>
              <a:t>Excise diagnostic for Indonesia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566160"/>
            <a:ext cx="38404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D9E2F3"/>
                </a:solidFill>
                <a:latin typeface="Arial"/>
              </a:rPr>
              <a:t>with Claude (deep research)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97680"/>
            <a:ext cx="3840480" cy="1828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D9E2F3"/>
                </a:solidFill>
                <a:latin typeface="Arial"/>
              </a:rPr>
              <a:t>Claude researches Indonesia's excise laws and writes the diagnostic: a Word report and an Excel workbook.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0" y="731520"/>
            <a:ext cx="6400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F3864"/>
                </a:solidFill>
                <a:latin typeface="Arial"/>
              </a:rPr>
              <a:t>What you need (we assume you have this)</a:t>
            </a:r>
          </a:p>
        </p:txBody>
      </p:sp>
      <p:sp>
        <p:nvSpPr>
          <p:cNvPr id="8" name="Oval 7"/>
          <p:cNvSpPr/>
          <p:nvPr/>
        </p:nvSpPr>
        <p:spPr>
          <a:xfrm>
            <a:off x="5303520" y="1371600"/>
            <a:ext cx="411480" cy="411480"/>
          </a:xfrm>
          <a:prstGeom prst="ellipse">
            <a:avLst/>
          </a:prstGeom>
          <a:solidFill>
            <a:srgbClr val="3A7D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97880" y="1389888"/>
            <a:ext cx="576072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404040"/>
                </a:solidFill>
                <a:latin typeface="Arial"/>
              </a:rPr>
              <a:t>The new-ai-tools repo is downloaded on your laptop and up to date.</a:t>
            </a:r>
          </a:p>
        </p:txBody>
      </p:sp>
      <p:sp>
        <p:nvSpPr>
          <p:cNvPr id="10" name="Oval 9"/>
          <p:cNvSpPr/>
          <p:nvPr/>
        </p:nvSpPr>
        <p:spPr>
          <a:xfrm>
            <a:off x="5303520" y="2240280"/>
            <a:ext cx="411480" cy="411480"/>
          </a:xfrm>
          <a:prstGeom prst="ellipse">
            <a:avLst/>
          </a:prstGeom>
          <a:solidFill>
            <a:srgbClr val="3A7D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97880" y="2258568"/>
            <a:ext cx="576072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404040"/>
                </a:solidFill>
                <a:latin typeface="Arial"/>
              </a:rPr>
              <a:t>You have a Claude account with Projects and Research (deep research) switched 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03520" y="3291840"/>
            <a:ext cx="6309360" cy="1828800"/>
          </a:xfrm>
          <a:prstGeom prst="rect">
            <a:avLst/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303520" y="3291840"/>
            <a:ext cx="91440" cy="18288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77840" y="3429000"/>
            <a:ext cx="59436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C0392B"/>
                </a:solidFill>
                <a:latin typeface="Arial"/>
              </a:rPr>
              <a:t>⚠  Deep research uses a lot of credits.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77840" y="3931920"/>
            <a:ext cx="5943600" cy="11887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404040"/>
                </a:solidFill>
                <a:latin typeface="Arial"/>
              </a:rPr>
              <a:t>Go one prompt at a time. Read each answer before you send the next. If an answer goes wrong, stop and fix it before going on. Never ask for the whole report in one go.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C9A227"/>
                </a:solidFill>
                <a:latin typeface="Arial"/>
              </a:rPr>
              <a:t>PART 1  ·  EXCISE DIAGNOSTIC FOR INDONESIA  · 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F3864"/>
                </a:solidFill>
                <a:latin typeface="Arial"/>
              </a:rPr>
              <a:t>5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10972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808080"/>
                </a:solidFill>
                <a:latin typeface="Arial"/>
              </a:rPr>
              <a:t>AI Tools Quick Start  ·  Part 1: Excise diagnostic for Indonesia with Claude (deep research)  ·  October 2026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1645920"/>
            <a:ext cx="457200" cy="457200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627632"/>
            <a:ext cx="10058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F3864"/>
                </a:solidFill>
                <a:latin typeface="Arial"/>
              </a:rPr>
              <a:t>Make a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993392"/>
            <a:ext cx="1024128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404040"/>
                </a:solidFill>
                <a:latin typeface="Arial"/>
              </a:rPr>
              <a:t>In Claude: Projects &gt; New project. Call it "Excise - Indonesia".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2542032"/>
            <a:ext cx="457200" cy="457200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523744"/>
            <a:ext cx="10058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F3864"/>
                </a:solidFill>
                <a:latin typeface="Arial"/>
              </a:rPr>
              <a:t>Add two files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889504"/>
            <a:ext cx="1024128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404040"/>
                </a:solidFill>
                <a:latin typeface="Arial"/>
              </a:rPr>
              <a:t>excise_diagnostic_process.md (in the repo: ExciseDiagnostic/process_files/) and INDONESIA_INPUTS.md (user_guide/1_Excise_Diagnostic_Claude/).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3438144"/>
            <a:ext cx="457200" cy="457200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419856"/>
            <a:ext cx="10058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F3864"/>
                </a:solidFill>
                <a:latin typeface="Arial"/>
              </a:rPr>
              <a:t>Start a chat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785615"/>
            <a:ext cx="1024128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404040"/>
                </a:solidFill>
                <a:latin typeface="Arial"/>
              </a:rPr>
              <a:t>New chat inside the Project. Switch on Research.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4334256"/>
            <a:ext cx="457200" cy="457200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4315968"/>
            <a:ext cx="10058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F3864"/>
                </a:solidFill>
                <a:latin typeface="Arial"/>
              </a:rPr>
              <a:t>Paste Prompt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4681728"/>
            <a:ext cx="1024128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404040"/>
                </a:solidFill>
                <a:latin typeface="Arial"/>
              </a:rPr>
              <a:t>Read the answer. Is every rate quoted, with its date and a link? Then paste Prompt 2, and so on to Prompt 6.</a:t>
            </a:r>
          </a:p>
        </p:txBody>
      </p:sp>
      <p:sp>
        <p:nvSpPr>
          <p:cNvPr id="18" name="Oval 17"/>
          <p:cNvSpPr/>
          <p:nvPr/>
        </p:nvSpPr>
        <p:spPr>
          <a:xfrm>
            <a:off x="640080" y="5230368"/>
            <a:ext cx="457200" cy="457200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5212080"/>
            <a:ext cx="10058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F3864"/>
                </a:solidFill>
                <a:latin typeface="Arial"/>
              </a:rPr>
              <a:t>Save the results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5577840"/>
            <a:ext cx="1024128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404040"/>
                </a:solidFill>
                <a:latin typeface="Arial"/>
              </a:rPr>
              <a:t>Put the Word report and the Excel file in ExciseDiagnostic/country_results/Indonesia/.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C9A227"/>
                </a:solidFill>
                <a:latin typeface="Arial"/>
              </a:rPr>
              <a:t>PART 1  ·  EXCISE DIAGNOSTIC FOR INDONESIA  ·  PROMPTS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F3864"/>
                </a:solidFill>
                <a:latin typeface="Arial"/>
              </a:rPr>
              <a:t>Copy and paste, one at a 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10972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808080"/>
                </a:solidFill>
                <a:latin typeface="Arial"/>
              </a:rPr>
              <a:t>AI Tools Quick Start  ·  Part 1: Excise diagnostic for Indonesia with Claude (deep research)  · 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2743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E75B6"/>
                </a:solidFill>
                <a:latin typeface="Arial"/>
              </a:rPr>
              <a:t>Prompt 1 - the laws</a:t>
            </a:r>
          </a:p>
        </p:txBody>
      </p:sp>
      <p:sp>
        <p:nvSpPr>
          <p:cNvPr id="7" name="Rectangle 6"/>
          <p:cNvSpPr/>
          <p:nvPr/>
        </p:nvSpPr>
        <p:spPr>
          <a:xfrm>
            <a:off x="3383280" y="1554480"/>
            <a:ext cx="8229600" cy="1143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0" y="1600200"/>
            <a:ext cx="8046720" cy="1143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262626"/>
                </a:solidFill>
                <a:latin typeface="Consolas"/>
              </a:rPr>
              <a:t>Use the excise diagnostic process file and INDONESIA_INPUTS.md. Run stage A1 for Indonesia, 2020-01-01 to 2026-09-30: find the excise laws and regulations and list every rate as printed, with its article, date and a link. If you cannot get a source, give me a list of links to download. Stop after A1.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926080"/>
            <a:ext cx="2743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E75B6"/>
                </a:solidFill>
                <a:latin typeface="Arial"/>
              </a:rPr>
              <a:t>Prompt 2 - the schedule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2880360"/>
            <a:ext cx="8229600" cy="38404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2926080"/>
            <a:ext cx="8046720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262626"/>
                </a:solidFill>
                <a:latin typeface="Consolas"/>
              </a:rPr>
              <a:t>Run stage A2. Stop after A2.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493008"/>
            <a:ext cx="2743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E75B6"/>
                </a:solidFill>
                <a:latin typeface="Arial"/>
              </a:rPr>
              <a:t>Prompt 3 - the numbers and workbook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83280" y="3447288"/>
            <a:ext cx="8229600" cy="38404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0" y="3493008"/>
            <a:ext cx="8046720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262626"/>
                </a:solidFill>
                <a:latin typeface="Consolas"/>
              </a:rPr>
              <a:t>Run stage A3. No comparator. Stop after A3.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059936"/>
            <a:ext cx="2743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E75B6"/>
                </a:solidFill>
                <a:latin typeface="Arial"/>
              </a:rPr>
              <a:t>Prompt 4 - the findings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83280" y="4014216"/>
            <a:ext cx="8229600" cy="38404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74720" y="4059936"/>
            <a:ext cx="8046720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262626"/>
                </a:solidFill>
                <a:latin typeface="Consolas"/>
              </a:rPr>
              <a:t>Run stage A4. Stop after A4.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626864"/>
            <a:ext cx="2743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E75B6"/>
                </a:solidFill>
                <a:latin typeface="Arial"/>
              </a:rPr>
              <a:t>Prompt 5 - the review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83280" y="4581144"/>
            <a:ext cx="8229600" cy="38404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74720" y="4626864"/>
            <a:ext cx="8046720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262626"/>
                </a:solidFill>
                <a:latin typeface="Consolas"/>
              </a:rPr>
              <a:t>Run stage A5. Stop after A5.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193792"/>
            <a:ext cx="2743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E75B6"/>
                </a:solidFill>
                <a:latin typeface="Arial"/>
              </a:rPr>
              <a:t>Prompt 6 - the final files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83280" y="5148072"/>
            <a:ext cx="8229600" cy="38404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74720" y="5193792"/>
            <a:ext cx="8046720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262626"/>
                </a:solidFill>
                <a:latin typeface="Consolas"/>
              </a:rPr>
              <a:t>Run stage A6. Give me the report as a Word file and the workbook as an Excel file.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C9A227"/>
                </a:solidFill>
                <a:latin typeface="Arial"/>
              </a:rPr>
              <a:t>PART 1  ·  EXCISE DIAGNOSTIC FOR INDONESIA  · 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F3864"/>
                </a:solidFill>
                <a:latin typeface="Arial"/>
              </a:rPr>
              <a:t>What good looks like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10972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808080"/>
                </a:solidFill>
                <a:latin typeface="Arial"/>
              </a:rPr>
              <a:t>AI Tools Quick Start  ·  Part 1: Excise diagnostic for Indonesia with Claude (deep research)  ·  October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45920"/>
            <a:ext cx="6766560" cy="566928"/>
          </a:xfrm>
          <a:prstGeom prst="rect">
            <a:avLst/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301752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F3864"/>
                </a:solidFill>
                <a:latin typeface="Arial"/>
              </a:rPr>
              <a:t>Rates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1737360"/>
            <a:ext cx="338328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404040"/>
                </a:solidFill>
                <a:latin typeface="Arial"/>
              </a:rPr>
              <a:t>quoted as printed, with date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331720"/>
            <a:ext cx="6766560" cy="566928"/>
          </a:xfrm>
          <a:prstGeom prst="rect">
            <a:avLst/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423160"/>
            <a:ext cx="301752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F3864"/>
                </a:solidFill>
                <a:latin typeface="Arial"/>
              </a:rPr>
              <a:t>Sources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2423160"/>
            <a:ext cx="338328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404040"/>
                </a:solidFill>
                <a:latin typeface="Arial"/>
              </a:rPr>
              <a:t>a working link for each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017520"/>
            <a:ext cx="6766560" cy="566928"/>
          </a:xfrm>
          <a:prstGeom prst="rect">
            <a:avLst/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108960"/>
            <a:ext cx="301752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F3864"/>
                </a:solidFill>
                <a:latin typeface="Arial"/>
              </a:rPr>
              <a:t>Gaps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3108960"/>
            <a:ext cx="338328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404040"/>
                </a:solidFill>
                <a:latin typeface="Arial"/>
              </a:rPr>
              <a:t>marked data_gap, never guessed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703320"/>
            <a:ext cx="6766560" cy="566928"/>
          </a:xfrm>
          <a:prstGeom prst="rect">
            <a:avLst/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794759"/>
            <a:ext cx="301752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F3864"/>
                </a:solidFill>
                <a:latin typeface="Arial"/>
              </a:rPr>
              <a:t>Bills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3794759"/>
            <a:ext cx="338328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404040"/>
                </a:solidFill>
                <a:latin typeface="Arial"/>
              </a:rPr>
              <a:t>pending ones listed, not applied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863840" y="1645920"/>
            <a:ext cx="3749039" cy="2743200"/>
          </a:xfrm>
          <a:prstGeom prst="rect">
            <a:avLst/>
          </a:prstGeom>
          <a:solidFill>
            <a:srgbClr val="FFF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0" y="1783080"/>
            <a:ext cx="34747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F3864"/>
                </a:solidFill>
                <a:latin typeface="Arial"/>
              </a:rPr>
              <a:t>Subsidy diagnostic instead?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2331720"/>
            <a:ext cx="3474720" cy="2011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404040"/>
                </a:solidFill>
                <a:latin typeface="Arial"/>
              </a:rPr>
              <a:t>Use the subsidy prompt at the end of PROMPTS.md in place of Prompt 1. There is no subsidy process file yet, so treat the result as a first draft.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754880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38404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C9A227"/>
                </a:solidFill>
                <a:latin typeface="Arial"/>
              </a:rPr>
              <a:t>PART 2  ·  QUICK START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3840480" cy="2011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Arial"/>
              </a:rPr>
              <a:t>Add tax indicators to the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566160"/>
            <a:ext cx="38404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D9E2F3"/>
                </a:solidFill>
                <a:latin typeface="Arial"/>
              </a:rPr>
              <a:t>with GitHub Copilot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97680"/>
            <a:ext cx="3840480" cy="1828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D9E2F3"/>
                </a:solidFill>
                <a:latin typeface="Arial"/>
              </a:rPr>
              <a:t>Copilot adds four rows under Tax revenue in the Global Fiscal Indicators dashboard: personal income tax, corporate income tax, VAT and excises (% of GDP). The data are already in the repo.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0" y="731520"/>
            <a:ext cx="6400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F3864"/>
                </a:solidFill>
                <a:latin typeface="Arial"/>
              </a:rPr>
              <a:t>What you need (we assume you have this)</a:t>
            </a:r>
          </a:p>
        </p:txBody>
      </p:sp>
      <p:sp>
        <p:nvSpPr>
          <p:cNvPr id="8" name="Oval 7"/>
          <p:cNvSpPr/>
          <p:nvPr/>
        </p:nvSpPr>
        <p:spPr>
          <a:xfrm>
            <a:off x="5303520" y="1371600"/>
            <a:ext cx="411480" cy="411480"/>
          </a:xfrm>
          <a:prstGeom prst="ellipse">
            <a:avLst/>
          </a:prstGeom>
          <a:solidFill>
            <a:srgbClr val="3A7D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97880" y="1389888"/>
            <a:ext cx="576072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404040"/>
                </a:solidFill>
                <a:latin typeface="Arial"/>
              </a:rPr>
              <a:t>The new-ai-tools repo is downloaded on your laptop and up to date.</a:t>
            </a:r>
          </a:p>
        </p:txBody>
      </p:sp>
      <p:sp>
        <p:nvSpPr>
          <p:cNvPr id="10" name="Oval 9"/>
          <p:cNvSpPr/>
          <p:nvPr/>
        </p:nvSpPr>
        <p:spPr>
          <a:xfrm>
            <a:off x="5303520" y="2240280"/>
            <a:ext cx="411480" cy="411480"/>
          </a:xfrm>
          <a:prstGeom prst="ellipse">
            <a:avLst/>
          </a:prstGeom>
          <a:solidFill>
            <a:srgbClr val="3A7D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97880" y="2258568"/>
            <a:ext cx="576072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404040"/>
                </a:solidFill>
                <a:latin typeface="Arial"/>
              </a:rPr>
              <a:t>GitHub Copilot is installed and signed in (if not: Presentations/GitHub_Copilot_AI_User_Guide.pptx).</a:t>
            </a:r>
          </a:p>
        </p:txBody>
      </p:sp>
      <p:sp>
        <p:nvSpPr>
          <p:cNvPr id="12" name="Oval 11"/>
          <p:cNvSpPr/>
          <p:nvPr/>
        </p:nvSpPr>
        <p:spPr>
          <a:xfrm>
            <a:off x="5303520" y="3108960"/>
            <a:ext cx="411480" cy="411480"/>
          </a:xfrm>
          <a:prstGeom prst="ellipse">
            <a:avLst/>
          </a:prstGeom>
          <a:solidFill>
            <a:srgbClr val="3A7D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7880" y="3127248"/>
            <a:ext cx="576072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404040"/>
                </a:solidFill>
                <a:latin typeface="Arial"/>
              </a:rPr>
              <a:t>Python is set up for the dashboard (TaxMacroFiscalDashboard/build/0_setup.bat, run once).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C9A227"/>
                </a:solidFill>
                <a:latin typeface="Arial"/>
              </a:rPr>
              <a:t>PART 2  ·  ADD TAX INDICATORS TO THE DASHBOARD  · 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F3864"/>
                </a:solidFill>
                <a:latin typeface="Arial"/>
              </a:rPr>
              <a:t>5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10972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808080"/>
                </a:solidFill>
                <a:latin typeface="Arial"/>
              </a:rPr>
              <a:t>AI Tools Quick Start  ·  Part 2: Add tax indicators to the dashboard with GitHub Copilot  ·  October 2026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1645920"/>
            <a:ext cx="457200" cy="457200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627632"/>
            <a:ext cx="10058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F3864"/>
                </a:solidFill>
                <a:latin typeface="Arial"/>
              </a:rPr>
              <a:t>Open the repo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993392"/>
            <a:ext cx="1024128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404040"/>
                </a:solidFill>
                <a:latin typeface="Arial"/>
              </a:rPr>
              <a:t>Open the new-ai-tools folder in VS Code. Click Sync to get the latest.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2542032"/>
            <a:ext cx="457200" cy="457200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523744"/>
            <a:ext cx="10058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F3864"/>
                </a:solidFill>
                <a:latin typeface="Arial"/>
              </a:rPr>
              <a:t>Open Copilot Chat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889504"/>
            <a:ext cx="1024128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404040"/>
                </a:solidFill>
                <a:latin typeface="Arial"/>
              </a:rPr>
              <a:t>Pick Agent mode and the model Claude Sonnet.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3438144"/>
            <a:ext cx="457200" cy="457200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419856"/>
            <a:ext cx="10058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F3864"/>
                </a:solidFill>
                <a:latin typeface="Arial"/>
              </a:rPr>
              <a:t>Paste Prompt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785615"/>
            <a:ext cx="1024128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404040"/>
                </a:solidFill>
                <a:latin typeface="Arial"/>
              </a:rPr>
              <a:t>Copilot reads the files and tells you its plan. Nothing changes yet.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4334256"/>
            <a:ext cx="457200" cy="457200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4315968"/>
            <a:ext cx="10058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F3864"/>
                </a:solidFill>
                <a:latin typeface="Arial"/>
              </a:rPr>
              <a:t>Paste Prompt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4681728"/>
            <a:ext cx="1024128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404040"/>
                </a:solidFill>
                <a:latin typeface="Arial"/>
              </a:rPr>
              <a:t>Copilot makes the change and rebuilds. Click Keep. Check the numbers (last page).</a:t>
            </a:r>
          </a:p>
        </p:txBody>
      </p:sp>
      <p:sp>
        <p:nvSpPr>
          <p:cNvPr id="18" name="Oval 17"/>
          <p:cNvSpPr/>
          <p:nvPr/>
        </p:nvSpPr>
        <p:spPr>
          <a:xfrm>
            <a:off x="640080" y="5230368"/>
            <a:ext cx="457200" cy="457200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5212080"/>
            <a:ext cx="10058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F3864"/>
                </a:solidFill>
                <a:latin typeface="Arial"/>
              </a:rPr>
              <a:t>Paste Prompt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5577840"/>
            <a:ext cx="1024128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404040"/>
                </a:solidFill>
                <a:latin typeface="Arial"/>
              </a:rPr>
              <a:t>Copilot saves version 1.4 and pushes it to GitHub. Done.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C9A227"/>
                </a:solidFill>
                <a:latin typeface="Arial"/>
              </a:rPr>
              <a:t>PART 2  ·  ADD TAX INDICATORS TO THE DASHBOARD  ·  PROMPTS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F3864"/>
                </a:solidFill>
                <a:latin typeface="Arial"/>
              </a:rPr>
              <a:t>Copy and paste, one at a 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10972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808080"/>
                </a:solidFill>
                <a:latin typeface="Arial"/>
              </a:rPr>
              <a:t>AI Tools Quick Start  ·  Part 2: Add tax indicators to the dashboard with GitHub Copilot  · 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2743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E75B6"/>
                </a:solidFill>
                <a:latin typeface="Arial"/>
              </a:rPr>
              <a:t>Prompt 1 - plan</a:t>
            </a:r>
          </a:p>
        </p:txBody>
      </p:sp>
      <p:sp>
        <p:nvSpPr>
          <p:cNvPr id="7" name="Rectangle 6"/>
          <p:cNvSpPr/>
          <p:nvPr/>
        </p:nvSpPr>
        <p:spPr>
          <a:xfrm>
            <a:off x="3383280" y="1554480"/>
            <a:ext cx="8229600" cy="1371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0" y="1600200"/>
            <a:ext cx="8046720" cy="1371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262626"/>
                </a:solidFill>
                <a:latin typeface="Consolas"/>
              </a:rPr>
              <a:t>Read TaxMacroFiscalDashboard/build/README.md. I want four new indicators in the Fiscal block, indented under tax_revenue_pct_gdp, from the IMF WoRLD file already in raw_data (world-imf2026.xlsx, already % of GDP): pit_revenue_pct_gdp = TaxIncI, cit_revenue_pct_gdp = TaxIncC, vat_revenue_pct_gdp = TaxSalG, excise_revenue_pct_gdp = TaxSalExc. Labels start "of which:". Tell me your plan in a short list. Do not edit yet.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154680"/>
            <a:ext cx="2743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E75B6"/>
                </a:solidFill>
                <a:latin typeface="Arial"/>
              </a:rPr>
              <a:t>Prompt 2 - do it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3108960"/>
            <a:ext cx="8229600" cy="9144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3154680"/>
            <a:ext cx="804672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262626"/>
                </a:solidFill>
                <a:latin typeface="Consolas"/>
              </a:rPr>
              <a:t>Go ahead: change the Python script, the R script and config/indicators.csv as planned. Then rebuild (build_global_indicators.py, then build_dashboard.py) and show me Indonesia's five tax rows.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251960"/>
            <a:ext cx="2743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E75B6"/>
                </a:solidFill>
                <a:latin typeface="Arial"/>
              </a:rPr>
              <a:t>Prompt 3 - save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83280" y="4206240"/>
            <a:ext cx="8229600" cy="4572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0" y="4251960"/>
            <a:ext cx="80467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262626"/>
                </a:solidFill>
                <a:latin typeface="Consolas"/>
              </a:rPr>
              <a:t>Save this as version 1.4 following VersionNotes.md. Then commit and push.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C9A227"/>
                </a:solidFill>
                <a:latin typeface="Arial"/>
              </a:rPr>
              <a:t>PART 2  ·  ADD TAX INDICATORS TO THE DASHBOARD  · 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F3864"/>
                </a:solidFill>
                <a:latin typeface="Arial"/>
              </a:rPr>
              <a:t>Check: Indonesia, % of GDP (2024)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10972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808080"/>
                </a:solidFill>
                <a:latin typeface="Arial"/>
              </a:rPr>
              <a:t>AI Tools Quick Start  ·  Part 2: Add tax indicators to the dashboard with GitHub Copilot  ·  October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45920"/>
            <a:ext cx="6766560" cy="566928"/>
          </a:xfrm>
          <a:prstGeom prst="rect">
            <a:avLst/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301752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F3864"/>
                </a:solidFill>
                <a:latin typeface="Arial"/>
              </a:rPr>
              <a:t>Tax 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1737360"/>
            <a:ext cx="338328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404040"/>
                </a:solidFill>
                <a:latin typeface="Arial"/>
              </a:rPr>
              <a:t>10.08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331720"/>
            <a:ext cx="6766560" cy="566928"/>
          </a:xfrm>
          <a:prstGeom prst="rect">
            <a:avLst/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423160"/>
            <a:ext cx="301752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F3864"/>
                </a:solidFill>
                <a:latin typeface="Arial"/>
              </a:rPr>
              <a:t>Personal income tax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2423160"/>
            <a:ext cx="338328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404040"/>
                </a:solidFill>
                <a:latin typeface="Arial"/>
              </a:rPr>
              <a:t>1.79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017520"/>
            <a:ext cx="6766560" cy="566928"/>
          </a:xfrm>
          <a:prstGeom prst="rect">
            <a:avLst/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108960"/>
            <a:ext cx="301752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F3864"/>
                </a:solidFill>
                <a:latin typeface="Arial"/>
              </a:rPr>
              <a:t>Corporate income tax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3108960"/>
            <a:ext cx="338328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404040"/>
                </a:solidFill>
                <a:latin typeface="Arial"/>
              </a:rPr>
              <a:t>2.65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703320"/>
            <a:ext cx="6766560" cy="566928"/>
          </a:xfrm>
          <a:prstGeom prst="rect">
            <a:avLst/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794759"/>
            <a:ext cx="301752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F3864"/>
                </a:solidFill>
                <a:latin typeface="Arial"/>
              </a:rPr>
              <a:t>VAT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3794759"/>
            <a:ext cx="338328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404040"/>
                </a:solidFill>
                <a:latin typeface="Arial"/>
              </a:rPr>
              <a:t>3.52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389120"/>
            <a:ext cx="6766560" cy="566928"/>
          </a:xfrm>
          <a:prstGeom prst="rect">
            <a:avLst/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480559"/>
            <a:ext cx="301752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F3864"/>
                </a:solidFill>
                <a:latin typeface="Arial"/>
              </a:rPr>
              <a:t>Excises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31920" y="4480559"/>
            <a:ext cx="338328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404040"/>
                </a:solidFill>
                <a:latin typeface="Arial"/>
              </a:rPr>
              <a:t>1.11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