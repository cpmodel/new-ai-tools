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1F2E"/>
                </a:solidFill>
                <a:latin typeface="+mn-lt"/>
              </a:defRPr>
            </a:pPr>
            <a:r>
              <a:rPr sz="1300" b="0" i="0" u="none" strike="noStrike">
                <a:solidFill>
                  <a:srgbClr val="1F1F2E"/>
                </a:solidFill>
                <a:latin typeface="+mn-lt"/>
              </a:rPr>
              <a:t>Package B: ETS price after goal seek ($/tCO2)</a:t>
            </a:r>
          </a:p>
        </c:rich>
      </c:tx>
      <c:layout/>
      <c:overlay val="0"/>
    </c:title>
    <c:autoTitleDeleted val="0"/>
    <c:plotArea>
      <c:layout/>
      <c:lineChart>
        <c:varyColors val="0"/>
        <c:ser>
          <c:idx val="0"/>
          <c:order val="0"/>
          <c:tx>
            <c:strRef>
              <c:f>Sheet1!$B$1</c:f>
              <c:strCache>
                <c:ptCount val="1"/>
                <c:pt idx="0">
                  <c:v>ETS price</c:v>
                </c:pt>
              </c:strCache>
            </c:strRef>
          </c:tx>
          <c:spPr>
            <a:solidFill>
              <a:srgbClr val="0F7B6C"/>
            </a:solidFill>
            <a:ln w="31750" cap="flat">
              <a:solidFill>
                <a:srgbClr val="0F7B6C"/>
              </a:solidFill>
              <a:prstDash val="solid"/>
              <a:round/>
            </a:ln>
            <a:effectLst/>
          </c:spPr>
          <c:invertIfNegative val="0"/>
          <c:dLbls>
            <c:numFmt formatCode="#,##0" sourceLinked="0"/>
            <c:txPr>
              <a:bodyPr/>
              <a:lstStyle/>
              <a:p>
                <a:pPr>
                  <a:defRPr b="0" i="0" strike="noStrike" sz="1100" u="none">
                    <a:solidFill>
                      <a:srgbClr val="1F1F2E"/>
                    </a:solidFill>
                    <a:latin typeface="+mn-lt"/>
                  </a:defRPr>
                </a:pPr>
              </a:p>
            </c:txPr>
            <c:showLegendKey val="0"/>
            <c:showVal val="0"/>
            <c:showCatName val="0"/>
            <c:showSerName val="0"/>
            <c:showPercent val="0"/>
            <c:showBubbleSize val="0"/>
            <c:showLeaderLines val="0"/>
          </c:dLbls>
          <c:marker>
            <c:symbol val="circle"/>
            <c:size val="6"/>
            <c:spPr>
              <a:solidFill>
                <a:srgbClr val="0F7B6C"/>
              </a:solidFill>
              <a:ln w="9525" cap="flat">
                <a:solidFill>
                  <a:srgbClr val="0F7B6C"/>
                </a:solidFill>
                <a:prstDash val="solid"/>
                <a:round/>
              </a:ln>
              <a:effectLst/>
            </c:spPr>
          </c:marker>
          <c:cat>
            <c:multiLvlStrRef>
              <c:f>Sheet1!$A$2:$A$15</c:f>
              <c:multiLvlStrCache>
                <c:ptCount val="14"/>
                <c:lvl>
                  <c:pt idx="0">
                    <c:v>2027</c:v>
                  </c:pt>
                  <c:pt idx="1">
                    <c:v/>
                  </c:pt>
                  <c:pt idx="2">
                    <c:v/>
                  </c:pt>
                  <c:pt idx="3">
                    <c:v>2030</c:v>
                  </c:pt>
                  <c:pt idx="4">
                    <c:v/>
                  </c:pt>
                  <c:pt idx="5">
                    <c:v/>
                  </c:pt>
                  <c:pt idx="6">
                    <c:v/>
                  </c:pt>
                  <c:pt idx="7">
                    <c:v/>
                  </c:pt>
                  <c:pt idx="8">
                    <c:v>2035</c:v>
                  </c:pt>
                  <c:pt idx="9">
                    <c:v/>
                  </c:pt>
                  <c:pt idx="10">
                    <c:v/>
                  </c:pt>
                  <c:pt idx="11">
                    <c:v/>
                  </c:pt>
                  <c:pt idx="12">
                    <c:v/>
                  </c:pt>
                  <c:pt idx="13">
                    <c:v>2040</c:v>
                  </c:pt>
                </c:lvl>
              </c:multiLvlStrCache>
            </c:multiLvlStrRef>
          </c:cat>
          <c:val>
            <c:numRef>
              <c:f>Sheet1!$B$2:$B$15</c:f>
              <c:numCache>
                <c:formatCode>General</c:formatCode>
                <c:ptCount val="14"/>
                <c:pt idx="0">
                  <c:v>18.8</c:v>
                </c:pt>
                <c:pt idx="1">
                  <c:v>26.7</c:v>
                </c:pt>
                <c:pt idx="2">
                  <c:v>34</c:v>
                </c:pt>
                <c:pt idx="3">
                  <c:v>41.2</c:v>
                </c:pt>
                <c:pt idx="4">
                  <c:v>48.3</c:v>
                </c:pt>
                <c:pt idx="5">
                  <c:v>55.4</c:v>
                </c:pt>
                <c:pt idx="6">
                  <c:v>62.5</c:v>
                </c:pt>
                <c:pt idx="7">
                  <c:v>69.5</c:v>
                </c:pt>
                <c:pt idx="8">
                  <c:v>76.9</c:v>
                </c:pt>
                <c:pt idx="9">
                  <c:v>89.7</c:v>
                </c:pt>
                <c:pt idx="10">
                  <c:v>103.5</c:v>
                </c:pt>
                <c:pt idx="11">
                  <c:v>117.9</c:v>
                </c:pt>
                <c:pt idx="12">
                  <c:v>132.8</c:v>
                </c:pt>
                <c:pt idx="13">
                  <c:v>147.1</c:v>
                </c:pt>
              </c:numCache>
            </c:numRef>
          </c:val>
          <c:smooth val="0"/>
        </c:ser>
        <c:dLbls>
          <c:numFmt formatCode="#,##0" sourceLinked="0"/>
          <c:txPr>
            <a:bodyPr/>
            <a:lstStyle/>
            <a:p>
              <a:pPr>
                <a:defRPr b="0" i="0" strike="noStrike" sz="1100" u="none">
                  <a:solidFill>
                    <a:srgbClr val="1F1F2E"/>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C667A"/>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6E9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67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1F2E"/>
                </a:solidFill>
                <a:latin typeface="+mn-lt"/>
              </a:defRPr>
            </a:pPr>
            <a:r>
              <a:rPr sz="1300" b="0" i="0" u="none" strike="noStrike">
                <a:solidFill>
                  <a:srgbClr val="1F1F2E"/>
                </a:solidFill>
                <a:latin typeface="+mn-lt"/>
              </a:rPr>
              <a:t>CO2 from fuel combustion, 2030 (Mt)</a:t>
            </a:r>
          </a:p>
        </c:rich>
      </c:tx>
      <c:layout/>
      <c:overlay val="0"/>
    </c:title>
    <c:autoTitleDeleted val="0"/>
    <c:plotArea>
      <c:layout/>
      <c:barChart>
        <c:barDir val="bar"/>
        <c:grouping val="clustered"/>
        <c:varyColors val="0"/>
        <c:ser>
          <c:idx val="0"/>
          <c:order val="0"/>
          <c:tx>
            <c:strRef>
              <c:f>Sheet1!$B$1</c:f>
              <c:strCache>
                <c:ptCount val="1"/>
                <c:pt idx="0">
                  <c:v>CO2 2030</c:v>
                </c:pt>
              </c:strCache>
            </c:strRef>
          </c:tx>
          <c:spPr>
            <a:solidFill>
              <a:srgbClr val="1E2761"/>
            </a:solidFill>
            <a:effectLst/>
          </c:spPr>
          <c:invertIfNegative val="0"/>
          <c:dLbls>
            <c:numFmt formatCode="0.0" sourceLinked="0"/>
            <c:txPr>
              <a:bodyPr/>
              <a:lstStyle/>
              <a:p>
                <a:pPr>
                  <a:defRPr b="0" i="0" strike="noStrike" sz="1100" u="none">
                    <a:solidFill>
                      <a:srgbClr val="1F1F2E"/>
                    </a:solidFill>
                    <a:latin typeface="+mn-lt"/>
                  </a:defRPr>
                </a:pPr>
              </a:p>
            </c:txPr>
            <c:showLegendKey val="0"/>
            <c:showVal val="1"/>
            <c:showCatName val="0"/>
            <c:showSerName val="0"/>
            <c:showPercent val="0"/>
            <c:showBubbleSize val="0"/>
            <c:showLeaderLines val="0"/>
          </c:dLbls>
          <c:cat>
            <c:multiLvlStrRef>
              <c:f>Sheet1!$A$2:$A$5</c:f>
              <c:multiLvlStrCache>
                <c:ptCount val="4"/>
                <c:lvl>
                  <c:pt idx="0">
                    <c:v>Baseline</c:v>
                  </c:pt>
                  <c:pt idx="1">
                    <c:v>$20 carbon price</c:v>
                  </c:pt>
                  <c:pt idx="2">
                    <c:v>Package A</c:v>
                  </c:pt>
                  <c:pt idx="3">
                    <c:v>Package B</c:v>
                  </c:pt>
                </c:lvl>
              </c:multiLvlStrCache>
            </c:multiLvlStrRef>
          </c:cat>
          <c:val>
            <c:numRef>
              <c:f>Sheet1!$B$2:$B$5</c:f>
              <c:numCache>
                <c:formatCode>General</c:formatCode>
                <c:ptCount val="4"/>
                <c:pt idx="0">
                  <c:v>220.7</c:v>
                </c:pt>
                <c:pt idx="1">
                  <c:v>190</c:v>
                </c:pt>
                <c:pt idx="2">
                  <c:v>152.8</c:v>
                </c:pt>
                <c:pt idx="3">
                  <c:v>185.2</c:v>
                </c:pt>
              </c:numCache>
            </c:numRef>
          </c:val>
        </c:ser>
        <c:dLbls>
          <c:numFmt formatCode="0.0" sourceLinked="0"/>
          <c:txPr>
            <a:bodyPr/>
            <a:lstStyle/>
            <a:p>
              <a:pPr>
                <a:defRPr b="0" i="0" strike="noStrike" sz="1100" u="none">
                  <a:solidFill>
                    <a:srgbClr val="1F1F2E"/>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C667A"/>
                </a:solidFill>
                <a:latin typeface="+mn-lt"/>
              </a:defRPr>
            </a:pPr>
            <a:endParaRPr lang="en-US"/>
          </a:p>
        </c:txPr>
        <c:crossAx val="2094734552"/>
        <c:crosses val="autoZero"/>
        <c:auto val="1"/>
        <c:lblAlgn val="ctr"/>
        <c:noMultiLvlLbl val="1"/>
      </c:catAx>
      <c:valAx>
        <c:axId val="2094734552"/>
        <c:scaling>
          <c:orientation val="minMax"/>
        </c:scaling>
        <c:delete val="1"/>
        <c:axPos val="b"/>
        <c:majorGridlines>
          <c:spPr>
            <a:ln w="9525" cap="flat">
              <a:solidFill>
                <a:srgbClr val="E6E9E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C667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releases since the v1.00 overview deck: results collected by code (v1.01), an ETS that finds its own price from a cap (v1.02), and multiple scenarios with a macro, stored results and a comparison tab (v1.03).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cap is set against baseline covered emissions, which are stored as data from scenario 1 to avoid a circular reference. A fast closed-form estimate gives the starting price; the goal seek (legacy's damped log-space iteration) then meets the cap. The permit price splits by the benchmarks: the auctioned part acts like a carbon tax, the free part like a feebate. Package B prices: about $19 in 2027, $41 in 2030, $77 in 2035.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definitions follow legacy CPAT: one MTInputs column per scenario. The macro copies each one marked Yes into the live column, recalculates, runs the ETS goal seek where needed and stores the MTOutputs block as values. To add a scenario, copy the last definition column to the right and edit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ScenarioCompare reads only the stored values, so results from earlier runs or other files can be compared too. AI wrote the VBA project from the file-format specification, without Excel; LibreOffice runs it and reproduces the Python emulation exactly. Its first run in Excel is one click: the macro CheckBatchRun checks the lookups, compares Excel's recalculation with the stored results and reports PASS on sheet MacroCheck.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E276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5669280" cy="146304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rtlCol="0"/>
          <a:lstStyle>
            <a:lvl1pPr indent="0" marL="0">
              <a:buNone/>
              <a:defRPr lang="en-US" sz="1100" b="1" spc="200" kern="0" dirty="0">
                <a:solidFill>
                  <a:srgbClr val="0F7B6C"/>
                </a:solidFill>
                <a:latin typeface="Calibri" pitchFamily="34" charset="0"/>
                <a:ea typeface="Calibri" pitchFamily="34" charset="-122"/>
                <a:cs typeface="Calibri" pitchFamily="34" charset="-120"/>
              </a:defRPr>
            </a:lvl1pPr>
          </a:lstStyle>
          <a:p>
            <a:pPr indent="0" marL="0">
              <a:buNone/>
            </a:pP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rtlCol="0"/>
          <a:lstStyle>
            <a:lvl1pPr algn="l" indent="0" marL="0">
              <a:buNone/>
              <a:defRPr lang="en-US" sz="3000" b="1" dirty="0">
                <a:solidFill>
                  <a:srgbClr val="1E276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4" name="Text 0"/>
          <p:cNvSpPr/>
          <p:nvPr/>
        </p:nvSpPr>
        <p:spPr>
          <a:xfrm>
            <a:off x="548640" y="6446520"/>
            <a:ext cx="8686800" cy="228600"/>
          </a:xfrm>
          <a:prstGeom prst="rect">
            <a:avLst/>
          </a:prstGeom>
          <a:noFill/>
          <a:ln/>
        </p:spPr>
        <p:txBody>
          <a:bodyPr wrap="square" lIns="0" tIns="0" rIns="0" bIns="0" rtlCol="0" anchor="ctr"/>
          <a:lstStyle/>
          <a:p>
            <a:pPr indent="0" marL="0">
              <a:buNone/>
            </a:pPr>
            <a:r>
              <a:rPr lang="en-US" sz="900" dirty="0">
                <a:solidFill>
                  <a:srgbClr val="5C667A"/>
                </a:solidFill>
              </a:rPr>
              <a:t>CPAT-AI-Mitigation-MVP v1.03-v1.04  ·  advanced features  ·  screenshots and numbers from the workbook</a:t>
            </a:r>
            <a:endParaRPr lang="en-US" sz="9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4-1.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1"/>
          <p:cNvSpPr txBox="1"/>
          <p:nvPr/>
        </p:nvSpPr>
        <p:spPr>
          <a:xfrm>
            <a:off x="548640" y="960120"/>
            <a:ext cx="5486400" cy="320040"/>
          </a:xfrm>
          <a:prstGeom prst="rect">
            <a:avLst/>
          </a:prstGeom>
          <a:noFill/>
          <a:ln/>
        </p:spPr>
        <p:txBody>
          <a:bodyPr wrap="square" lIns="0" tIns="0" rIns="0" bIns="0" rtlCol="0" anchor="ctr"/>
          <a:lstStyle/>
          <a:p>
            <a:pPr indent="0" marL="0">
              <a:buNone/>
            </a:pPr>
            <a:r>
              <a:rPr lang="en-US" sz="1200" b="1" spc="300" kern="0" dirty="0">
                <a:solidFill>
                  <a:srgbClr val="D4A24C"/>
                </a:solidFill>
              </a:rPr>
              <a:t>ADVANCED FEATURES  ·  v1.01 TO v1.03</a:t>
            </a:r>
            <a:endParaRPr lang="en-US" sz="1200" dirty="0"/>
          </a:p>
        </p:txBody>
      </p:sp>
      <p:sp>
        <p:nvSpPr>
          <p:cNvPr id="3" name="Text 0"/>
          <p:cNvSpPr/>
          <p:nvPr>
            <p:ph idx="100" type="title" hasCustomPrompt="1"/>
          </p:nvPr>
        </p:nvSpPr>
        <p:spPr>
          <a:xfrm>
            <a:off x="548640" y="1417320"/>
            <a:ext cx="5669280" cy="146304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CPAT-AI-Mitigation-MVP v1.03</a:t>
            </a:r>
            <a:endParaRPr lang="en-US" sz="4000" dirty="0"/>
          </a:p>
        </p:txBody>
      </p:sp>
      <p:sp>
        <p:nvSpPr>
          <p:cNvPr id="4" name="subtitle-2"/>
          <p:cNvSpPr txBox="1"/>
          <p:nvPr/>
        </p:nvSpPr>
        <p:spPr>
          <a:xfrm>
            <a:off x="548640" y="2971800"/>
            <a:ext cx="5394960" cy="1188720"/>
          </a:xfrm>
          <a:prstGeom prst="rect">
            <a:avLst/>
          </a:prstGeom>
          <a:noFill/>
          <a:ln/>
        </p:spPr>
        <p:txBody>
          <a:bodyPr wrap="square" lIns="0" tIns="0" rIns="0" bIns="0" rtlCol="0" anchor="t"/>
          <a:lstStyle/>
          <a:p>
            <a:pPr indent="0" marL="0">
              <a:buNone/>
            </a:pPr>
            <a:r>
              <a:rPr lang="en-US" sz="1800" dirty="0">
                <a:solidFill>
                  <a:srgbClr val="CADCFC"/>
                </a:solidFill>
              </a:rPr>
              <a:t>Since v1.00 the MVP prices an ETS from its cap, runs many scenarios in one go, and stores and compares their results. AI wrote all of it, including the Excel macro.</a:t>
            </a:r>
            <a:endParaRPr lang="en-US" sz="1800" dirty="0"/>
          </a:p>
        </p:txBody>
      </p:sp>
      <p:sp>
        <p:nvSpPr>
          <p:cNvPr id="5" name="chip-3"/>
          <p:cNvSpPr/>
          <p:nvPr/>
        </p:nvSpPr>
        <p:spPr>
          <a:xfrm>
            <a:off x="548640" y="4434840"/>
            <a:ext cx="1783080" cy="411480"/>
          </a:xfrm>
          <a:prstGeom prst="roundRect">
            <a:avLst>
              <a:gd name="adj" fmla="val 26667"/>
            </a:avLst>
          </a:prstGeom>
          <a:solidFill>
            <a:srgbClr val="2E3A7A"/>
          </a:solidFill>
          <a:ln w="12700">
            <a:solidFill>
              <a:srgbClr val="3A4A8A"/>
            </a:solidFill>
            <a:prstDash val="solid"/>
          </a:ln>
        </p:spPr>
      </p:sp>
      <p:sp>
        <p:nvSpPr>
          <p:cNvPr id="6" name="chipText-4"/>
          <p:cNvSpPr txBox="1"/>
          <p:nvPr/>
        </p:nvSpPr>
        <p:spPr>
          <a:xfrm>
            <a:off x="548640" y="4434840"/>
            <a:ext cx="1783080" cy="411480"/>
          </a:xfrm>
          <a:prstGeom prst="rect">
            <a:avLst/>
          </a:prstGeom>
          <a:noFill/>
          <a:ln/>
        </p:spPr>
        <p:txBody>
          <a:bodyPr wrap="square" lIns="0" tIns="0" rIns="0" bIns="0" rtlCol="0" anchor="ctr"/>
          <a:lstStyle/>
          <a:p>
            <a:pPr algn="ctr" indent="0" marL="0">
              <a:buNone/>
            </a:pPr>
            <a:r>
              <a:rPr lang="en-US" sz="1300" dirty="0">
                <a:solidFill>
                  <a:srgbClr val="FFFFFF"/>
                </a:solidFill>
              </a:rPr>
              <a:t>Cap-based ETS</a:t>
            </a:r>
            <a:endParaRPr lang="en-US" sz="1300" dirty="0"/>
          </a:p>
        </p:txBody>
      </p:sp>
      <p:sp>
        <p:nvSpPr>
          <p:cNvPr id="7" name="chip-5"/>
          <p:cNvSpPr/>
          <p:nvPr/>
        </p:nvSpPr>
        <p:spPr>
          <a:xfrm>
            <a:off x="2468880" y="4434840"/>
            <a:ext cx="1828800" cy="411480"/>
          </a:xfrm>
          <a:prstGeom prst="roundRect">
            <a:avLst>
              <a:gd name="adj" fmla="val 26667"/>
            </a:avLst>
          </a:prstGeom>
          <a:solidFill>
            <a:srgbClr val="2E3A7A"/>
          </a:solidFill>
          <a:ln w="12700">
            <a:solidFill>
              <a:srgbClr val="3A4A8A"/>
            </a:solidFill>
            <a:prstDash val="solid"/>
          </a:ln>
        </p:spPr>
      </p:sp>
      <p:sp>
        <p:nvSpPr>
          <p:cNvPr id="8" name="chipText-6"/>
          <p:cNvSpPr txBox="1"/>
          <p:nvPr/>
        </p:nvSpPr>
        <p:spPr>
          <a:xfrm>
            <a:off x="2468880" y="4434840"/>
            <a:ext cx="1828800" cy="411480"/>
          </a:xfrm>
          <a:prstGeom prst="rect">
            <a:avLst/>
          </a:prstGeom>
          <a:noFill/>
          <a:ln/>
        </p:spPr>
        <p:txBody>
          <a:bodyPr wrap="square" lIns="0" tIns="0" rIns="0" bIns="0" rtlCol="0" anchor="ctr"/>
          <a:lstStyle/>
          <a:p>
            <a:pPr algn="ctr" indent="0" marL="0">
              <a:buNone/>
            </a:pPr>
            <a:r>
              <a:rPr lang="en-US" sz="1300" dirty="0">
                <a:solidFill>
                  <a:srgbClr val="FFFFFF"/>
                </a:solidFill>
              </a:rPr>
              <a:t>Batch scenarios</a:t>
            </a:r>
            <a:endParaRPr lang="en-US" sz="1300" dirty="0"/>
          </a:p>
        </p:txBody>
      </p:sp>
      <p:sp>
        <p:nvSpPr>
          <p:cNvPr id="9" name="chip-7"/>
          <p:cNvSpPr/>
          <p:nvPr/>
        </p:nvSpPr>
        <p:spPr>
          <a:xfrm>
            <a:off x="4434840" y="4434840"/>
            <a:ext cx="1691640" cy="411480"/>
          </a:xfrm>
          <a:prstGeom prst="roundRect">
            <a:avLst>
              <a:gd name="adj" fmla="val 26667"/>
            </a:avLst>
          </a:prstGeom>
          <a:solidFill>
            <a:srgbClr val="2E3A7A"/>
          </a:solidFill>
          <a:ln w="12700">
            <a:solidFill>
              <a:srgbClr val="3A4A8A"/>
            </a:solidFill>
            <a:prstDash val="solid"/>
          </a:ln>
        </p:spPr>
      </p:sp>
      <p:sp>
        <p:nvSpPr>
          <p:cNvPr id="10" name="chipText-8"/>
          <p:cNvSpPr txBox="1"/>
          <p:nvPr/>
        </p:nvSpPr>
        <p:spPr>
          <a:xfrm>
            <a:off x="4434840" y="4434840"/>
            <a:ext cx="1691640" cy="411480"/>
          </a:xfrm>
          <a:prstGeom prst="rect">
            <a:avLst/>
          </a:prstGeom>
          <a:noFill/>
          <a:ln/>
        </p:spPr>
        <p:txBody>
          <a:bodyPr wrap="square" lIns="0" tIns="0" rIns="0" bIns="0" rtlCol="0" anchor="ctr"/>
          <a:lstStyle/>
          <a:p>
            <a:pPr algn="ctr" indent="0" marL="0">
              <a:buNone/>
            </a:pPr>
            <a:r>
              <a:rPr lang="en-US" sz="1300" dirty="0">
                <a:solidFill>
                  <a:srgbClr val="FFFFFF"/>
                </a:solidFill>
              </a:rPr>
              <a:t>Stored results</a:t>
            </a:r>
            <a:endParaRPr lang="en-US" sz="1300" dirty="0"/>
          </a:p>
        </p:txBody>
      </p:sp>
      <p:sp>
        <p:nvSpPr>
          <p:cNvPr id="11" name="footnote-9"/>
          <p:cNvSpPr txBox="1"/>
          <p:nvPr/>
        </p:nvSpPr>
        <p:spPr>
          <a:xfrm>
            <a:off x="548640" y="6217920"/>
            <a:ext cx="5486400" cy="274320"/>
          </a:xfrm>
          <a:prstGeom prst="rect">
            <a:avLst/>
          </a:prstGeom>
          <a:noFill/>
          <a:ln/>
        </p:spPr>
        <p:txBody>
          <a:bodyPr wrap="square" lIns="0" tIns="0" rIns="0" bIns="0" rtlCol="0" anchor="ctr"/>
          <a:lstStyle/>
          <a:p>
            <a:pPr indent="0" marL="0">
              <a:buNone/>
            </a:pPr>
            <a:r>
              <a:rPr lang="en-US" sz="1000" dirty="0">
                <a:solidFill>
                  <a:srgbClr val="CADCFC"/>
                </a:solidFill>
              </a:rPr>
              <a:t>Draft, October 2026  ·  Egypt data  ·  for the team</a:t>
            </a:r>
            <a:endParaRPr lang="en-US" sz="1000" dirty="0"/>
          </a:p>
        </p:txBody>
      </p:sp>
      <p:sp>
        <p:nvSpPr>
          <p:cNvPr id="12" name="release-10"/>
          <p:cNvSpPr/>
          <p:nvPr/>
        </p:nvSpPr>
        <p:spPr>
          <a:xfrm>
            <a:off x="6675120" y="1097280"/>
            <a:ext cx="4937760" cy="1371600"/>
          </a:xfrm>
          <a:prstGeom prst="roundRect">
            <a:avLst>
              <a:gd name="adj" fmla="val 6667"/>
            </a:avLst>
          </a:prstGeom>
          <a:solidFill>
            <a:srgbClr val="FFFFFF"/>
          </a:solidFill>
          <a:ln w="12700">
            <a:solidFill>
              <a:srgbClr val="FFFFFF"/>
            </a:solidFill>
            <a:prstDash val="solid"/>
          </a:ln>
        </p:spPr>
      </p:sp>
      <p:sp>
        <p:nvSpPr>
          <p:cNvPr id="13" name="releaseBadge-11"/>
          <p:cNvSpPr/>
          <p:nvPr/>
        </p:nvSpPr>
        <p:spPr>
          <a:xfrm>
            <a:off x="6903720" y="1371600"/>
            <a:ext cx="822960" cy="822960"/>
          </a:xfrm>
          <a:prstGeom prst="ellipse">
            <a:avLst/>
          </a:prstGeom>
          <a:solidFill>
            <a:srgbClr val="0F7B6C"/>
          </a:solidFill>
          <a:ln w="12700">
            <a:solidFill>
              <a:srgbClr val="0F7B6C"/>
            </a:solidFill>
            <a:prstDash val="solid"/>
          </a:ln>
        </p:spPr>
      </p:sp>
      <p:sp>
        <p:nvSpPr>
          <p:cNvPr id="14" name="releaseNo-12"/>
          <p:cNvSpPr txBox="1"/>
          <p:nvPr/>
        </p:nvSpPr>
        <p:spPr>
          <a:xfrm>
            <a:off x="6903720" y="1371600"/>
            <a:ext cx="822960" cy="822960"/>
          </a:xfrm>
          <a:prstGeom prst="rect">
            <a:avLst/>
          </a:prstGeom>
          <a:noFill/>
          <a:ln/>
        </p:spPr>
        <p:txBody>
          <a:bodyPr wrap="square" lIns="0" tIns="0" rIns="0" bIns="0" rtlCol="0" anchor="ctr"/>
          <a:lstStyle/>
          <a:p>
            <a:pPr algn="ctr" indent="0" marL="0">
              <a:buNone/>
            </a:pPr>
            <a:r>
              <a:rPr lang="en-US" sz="1400" b="1" dirty="0">
                <a:solidFill>
                  <a:srgbClr val="FFFFFF"/>
                </a:solidFill>
              </a:rPr>
              <a:t>v1.01</a:t>
            </a:r>
            <a:endParaRPr lang="en-US" sz="1400" dirty="0"/>
          </a:p>
        </p:txBody>
      </p:sp>
      <p:sp>
        <p:nvSpPr>
          <p:cNvPr id="15" name="releaseText-13"/>
          <p:cNvSpPr txBox="1"/>
          <p:nvPr/>
        </p:nvSpPr>
        <p:spPr>
          <a:xfrm>
            <a:off x="7909560" y="1234440"/>
            <a:ext cx="3520440" cy="1097280"/>
          </a:xfrm>
          <a:prstGeom prst="rect">
            <a:avLst/>
          </a:prstGeom>
          <a:noFill/>
          <a:ln/>
        </p:spPr>
        <p:txBody>
          <a:bodyPr wrap="square" lIns="0" tIns="0" rIns="0" bIns="0" rtlCol="0" anchor="ctr"/>
          <a:lstStyle/>
          <a:p>
            <a:pPr indent="0" marL="0">
              <a:buNone/>
            </a:pPr>
            <a:r>
              <a:rPr lang="en-US" sz="1600" b="1" dirty="0">
                <a:solidFill>
                  <a:srgbClr val="1E2761"/>
                </a:solidFill>
              </a:rPr>
              <a:t>Results in one place</a:t>
            </a:r>
            <a:endParaRPr lang="en-US" sz="1600" dirty="0"/>
          </a:p>
          <a:p>
            <a:pPr indent="0" marL="0">
              <a:buNone/>
            </a:pPr>
            <a:r>
              <a:rPr lang="en-US" sz="1300" dirty="0">
                <a:solidFill>
                  <a:srgbClr val="1F1F2E"/>
                </a:solidFill>
              </a:rPr>
              <a:t>MTOutputs collects 25 key results per scenario by output code; Charts plots them.</a:t>
            </a:r>
            <a:endParaRPr lang="en-US" sz="1600" dirty="0"/>
          </a:p>
        </p:txBody>
      </p:sp>
      <p:sp>
        <p:nvSpPr>
          <p:cNvPr id="16" name="release-14"/>
          <p:cNvSpPr/>
          <p:nvPr/>
        </p:nvSpPr>
        <p:spPr>
          <a:xfrm>
            <a:off x="6675120" y="2697480"/>
            <a:ext cx="4937760" cy="1371600"/>
          </a:xfrm>
          <a:prstGeom prst="roundRect">
            <a:avLst>
              <a:gd name="adj" fmla="val 6667"/>
            </a:avLst>
          </a:prstGeom>
          <a:solidFill>
            <a:srgbClr val="FFFFFF"/>
          </a:solidFill>
          <a:ln w="12700">
            <a:solidFill>
              <a:srgbClr val="FFFFFF"/>
            </a:solidFill>
            <a:prstDash val="solid"/>
          </a:ln>
        </p:spPr>
      </p:sp>
      <p:sp>
        <p:nvSpPr>
          <p:cNvPr id="17" name="releaseBadge-15"/>
          <p:cNvSpPr/>
          <p:nvPr/>
        </p:nvSpPr>
        <p:spPr>
          <a:xfrm>
            <a:off x="6903720" y="2971800"/>
            <a:ext cx="822960" cy="822960"/>
          </a:xfrm>
          <a:prstGeom prst="ellipse">
            <a:avLst/>
          </a:prstGeom>
          <a:solidFill>
            <a:srgbClr val="E08A1E"/>
          </a:solidFill>
          <a:ln w="12700">
            <a:solidFill>
              <a:srgbClr val="E08A1E"/>
            </a:solidFill>
            <a:prstDash val="solid"/>
          </a:ln>
        </p:spPr>
      </p:sp>
      <p:sp>
        <p:nvSpPr>
          <p:cNvPr id="18" name="releaseNo-16"/>
          <p:cNvSpPr txBox="1"/>
          <p:nvPr/>
        </p:nvSpPr>
        <p:spPr>
          <a:xfrm>
            <a:off x="6903720" y="2971800"/>
            <a:ext cx="822960" cy="822960"/>
          </a:xfrm>
          <a:prstGeom prst="rect">
            <a:avLst/>
          </a:prstGeom>
          <a:noFill/>
          <a:ln/>
        </p:spPr>
        <p:txBody>
          <a:bodyPr wrap="square" lIns="0" tIns="0" rIns="0" bIns="0" rtlCol="0" anchor="ctr"/>
          <a:lstStyle/>
          <a:p>
            <a:pPr algn="ctr" indent="0" marL="0">
              <a:buNone/>
            </a:pPr>
            <a:r>
              <a:rPr lang="en-US" sz="1400" b="1" dirty="0">
                <a:solidFill>
                  <a:srgbClr val="FFFFFF"/>
                </a:solidFill>
              </a:rPr>
              <a:t>v1.02</a:t>
            </a:r>
            <a:endParaRPr lang="en-US" sz="1400" dirty="0"/>
          </a:p>
        </p:txBody>
      </p:sp>
      <p:sp>
        <p:nvSpPr>
          <p:cNvPr id="19" name="releaseText-17"/>
          <p:cNvSpPr txBox="1"/>
          <p:nvPr/>
        </p:nvSpPr>
        <p:spPr>
          <a:xfrm>
            <a:off x="7909560" y="2834640"/>
            <a:ext cx="3520440" cy="1097280"/>
          </a:xfrm>
          <a:prstGeom prst="rect">
            <a:avLst/>
          </a:prstGeom>
          <a:noFill/>
          <a:ln/>
        </p:spPr>
        <p:txBody>
          <a:bodyPr wrap="square" lIns="0" tIns="0" rIns="0" bIns="0" rtlCol="0" anchor="ctr"/>
          <a:lstStyle/>
          <a:p>
            <a:pPr indent="0" marL="0">
              <a:buNone/>
            </a:pPr>
            <a:r>
              <a:rPr lang="en-US" sz="1600" b="1" dirty="0">
                <a:solidFill>
                  <a:srgbClr val="1E2761"/>
                </a:solidFill>
              </a:rPr>
              <a:t>A real ETS</a:t>
            </a:r>
            <a:endParaRPr lang="en-US" sz="1600" dirty="0"/>
          </a:p>
          <a:p>
            <a:pPr indent="0" marL="0">
              <a:buNone/>
            </a:pPr>
            <a:r>
              <a:rPr lang="en-US" sz="1300" dirty="0">
                <a:solidFill>
                  <a:srgbClr val="1F1F2E"/>
                </a:solidFill>
              </a:rPr>
              <a:t>Cap against baseline emissions, fast price estimate, goal seek, benchmarks and a volatility adjustment.</a:t>
            </a:r>
            <a:endParaRPr lang="en-US" sz="1600" dirty="0"/>
          </a:p>
        </p:txBody>
      </p:sp>
      <p:sp>
        <p:nvSpPr>
          <p:cNvPr id="20" name="release-18"/>
          <p:cNvSpPr/>
          <p:nvPr/>
        </p:nvSpPr>
        <p:spPr>
          <a:xfrm>
            <a:off x="6675120" y="4297680"/>
            <a:ext cx="4937760" cy="1371600"/>
          </a:xfrm>
          <a:prstGeom prst="roundRect">
            <a:avLst>
              <a:gd name="adj" fmla="val 6667"/>
            </a:avLst>
          </a:prstGeom>
          <a:solidFill>
            <a:srgbClr val="FFFFFF"/>
          </a:solidFill>
          <a:ln w="12700">
            <a:solidFill>
              <a:srgbClr val="FFFFFF"/>
            </a:solidFill>
            <a:prstDash val="solid"/>
          </a:ln>
        </p:spPr>
      </p:sp>
      <p:sp>
        <p:nvSpPr>
          <p:cNvPr id="21" name="releaseBadge-19"/>
          <p:cNvSpPr/>
          <p:nvPr/>
        </p:nvSpPr>
        <p:spPr>
          <a:xfrm>
            <a:off x="6903720" y="4572000"/>
            <a:ext cx="822960" cy="822960"/>
          </a:xfrm>
          <a:prstGeom prst="ellipse">
            <a:avLst/>
          </a:prstGeom>
          <a:solidFill>
            <a:srgbClr val="1E2761"/>
          </a:solidFill>
          <a:ln w="12700">
            <a:solidFill>
              <a:srgbClr val="1E2761"/>
            </a:solidFill>
            <a:prstDash val="solid"/>
          </a:ln>
        </p:spPr>
      </p:sp>
      <p:sp>
        <p:nvSpPr>
          <p:cNvPr id="22" name="releaseNo-20"/>
          <p:cNvSpPr txBox="1"/>
          <p:nvPr/>
        </p:nvSpPr>
        <p:spPr>
          <a:xfrm>
            <a:off x="6903720" y="4572000"/>
            <a:ext cx="822960" cy="822960"/>
          </a:xfrm>
          <a:prstGeom prst="rect">
            <a:avLst/>
          </a:prstGeom>
          <a:noFill/>
          <a:ln/>
        </p:spPr>
        <p:txBody>
          <a:bodyPr wrap="square" lIns="0" tIns="0" rIns="0" bIns="0" rtlCol="0" anchor="ctr"/>
          <a:lstStyle/>
          <a:p>
            <a:pPr algn="ctr" indent="0" marL="0">
              <a:buNone/>
            </a:pPr>
            <a:r>
              <a:rPr lang="en-US" sz="1400" b="1" dirty="0">
                <a:solidFill>
                  <a:srgbClr val="FFFFFF"/>
                </a:solidFill>
              </a:rPr>
              <a:t>v1.03</a:t>
            </a:r>
            <a:endParaRPr lang="en-US" sz="1400" dirty="0"/>
          </a:p>
        </p:txBody>
      </p:sp>
      <p:sp>
        <p:nvSpPr>
          <p:cNvPr id="23" name="releaseText-21"/>
          <p:cNvSpPr txBox="1"/>
          <p:nvPr/>
        </p:nvSpPr>
        <p:spPr>
          <a:xfrm>
            <a:off x="7909560" y="4434840"/>
            <a:ext cx="3520440" cy="1097280"/>
          </a:xfrm>
          <a:prstGeom prst="rect">
            <a:avLst/>
          </a:prstGeom>
          <a:noFill/>
          <a:ln/>
        </p:spPr>
        <p:txBody>
          <a:bodyPr wrap="square" lIns="0" tIns="0" rIns="0" bIns="0" rtlCol="0" anchor="ctr"/>
          <a:lstStyle/>
          <a:p>
            <a:pPr indent="0" marL="0">
              <a:buNone/>
            </a:pPr>
            <a:r>
              <a:rPr lang="en-US" sz="1600" b="1" dirty="0">
                <a:solidFill>
                  <a:srgbClr val="1E2761"/>
                </a:solidFill>
              </a:rPr>
              <a:t>Many scenarios</a:t>
            </a:r>
            <a:endParaRPr lang="en-US" sz="1600" dirty="0"/>
          </a:p>
          <a:p>
            <a:pPr indent="0" marL="0">
              <a:buNone/>
            </a:pPr>
            <a:r>
              <a:rPr lang="en-US" sz="1300" dirty="0">
                <a:solidFill>
                  <a:srgbClr val="1F1F2E"/>
                </a:solidFill>
              </a:rPr>
              <a:t>Scenario table in MTInputs, a macro that runs it, results stored as values, and a comparison tab.</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NEW ETS</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The ETS now finds its own price from a cap</a:t>
            </a:r>
            <a:endParaRPr lang="en-US" sz="3000" dirty="0"/>
          </a:p>
        </p:txBody>
      </p:sp>
      <p:sp>
        <p:nvSpPr>
          <p:cNvPr id="4" name="stepCard-22"/>
          <p:cNvSpPr/>
          <p:nvPr/>
        </p:nvSpPr>
        <p:spPr>
          <a:xfrm>
            <a:off x="548640" y="1371600"/>
            <a:ext cx="3429000" cy="1143000"/>
          </a:xfrm>
          <a:prstGeom prst="rect">
            <a:avLst/>
          </a:prstGeom>
          <a:solidFill>
            <a:srgbClr val="F4F6FB"/>
          </a:solidFill>
          <a:ln w="12700">
            <a:solidFill>
              <a:srgbClr val="D5DAE3"/>
            </a:solidFill>
            <a:prstDash val="solid"/>
          </a:ln>
        </p:spPr>
      </p:sp>
      <p:sp>
        <p:nvSpPr>
          <p:cNvPr id="5" name="badge-23"/>
          <p:cNvSpPr/>
          <p:nvPr/>
        </p:nvSpPr>
        <p:spPr>
          <a:xfrm>
            <a:off x="685800" y="1508760"/>
            <a:ext cx="384048" cy="384048"/>
          </a:xfrm>
          <a:prstGeom prst="ellipse">
            <a:avLst/>
          </a:prstGeom>
          <a:solidFill>
            <a:srgbClr val="0F7B6C"/>
          </a:solidFill>
          <a:ln w="12700">
            <a:solidFill>
              <a:srgbClr val="0F7B6C"/>
            </a:solidFill>
            <a:prstDash val="solid"/>
          </a:ln>
        </p:spPr>
      </p:sp>
      <p:sp>
        <p:nvSpPr>
          <p:cNvPr id="6" name="badgeText-24"/>
          <p:cNvSpPr txBox="1"/>
          <p:nvPr/>
        </p:nvSpPr>
        <p:spPr>
          <a:xfrm>
            <a:off x="685800" y="15087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item-25"/>
          <p:cNvSpPr txBox="1"/>
          <p:nvPr/>
        </p:nvSpPr>
        <p:spPr>
          <a:xfrm>
            <a:off x="1234440" y="1463040"/>
            <a:ext cx="2651760" cy="960120"/>
          </a:xfrm>
          <a:prstGeom prst="rect">
            <a:avLst/>
          </a:prstGeom>
          <a:noFill/>
          <a:ln/>
        </p:spPr>
        <p:txBody>
          <a:bodyPr wrap="square" lIns="0" tIns="0" rIns="0" bIns="0" rtlCol="0" anchor="t"/>
          <a:lstStyle/>
          <a:p>
            <a:pPr indent="0" marL="0">
              <a:buNone/>
            </a:pPr>
            <a:r>
              <a:rPr lang="en-US" sz="1500" b="1" dirty="0">
                <a:solidFill>
                  <a:srgbClr val="1F1F2E"/>
                </a:solidFill>
              </a:rPr>
              <a:t>Set a cap</a:t>
            </a:r>
            <a:endParaRPr lang="en-US" sz="1500" dirty="0"/>
          </a:p>
          <a:p>
            <a:pPr indent="0" marL="0">
              <a:buNone/>
            </a:pPr>
            <a:r>
              <a:rPr lang="en-US" sz="1300" dirty="0">
                <a:solidFill>
                  <a:srgbClr val="5C667A"/>
                </a:solidFill>
              </a:rPr>
              <a:t>A change against baseline covered emissions, stored as data from scenario 1 (no circular reference).</a:t>
            </a:r>
            <a:endParaRPr lang="en-US" sz="1500" dirty="0"/>
          </a:p>
        </p:txBody>
      </p:sp>
      <p:sp>
        <p:nvSpPr>
          <p:cNvPr id="8" name="stepArrow-26"/>
          <p:cNvSpPr/>
          <p:nvPr/>
        </p:nvSpPr>
        <p:spPr>
          <a:xfrm>
            <a:off x="4023360" y="1810512"/>
            <a:ext cx="274320" cy="274320"/>
          </a:xfrm>
          <a:prstGeom prst="rightArrow">
            <a:avLst/>
          </a:prstGeom>
          <a:solidFill>
            <a:srgbClr val="D4A24C"/>
          </a:solidFill>
          <a:ln w="12700">
            <a:solidFill>
              <a:srgbClr val="D4A24C"/>
            </a:solidFill>
            <a:prstDash val="solid"/>
          </a:ln>
        </p:spPr>
      </p:sp>
      <p:sp>
        <p:nvSpPr>
          <p:cNvPr id="9" name="stepCard-27"/>
          <p:cNvSpPr/>
          <p:nvPr/>
        </p:nvSpPr>
        <p:spPr>
          <a:xfrm>
            <a:off x="4343400" y="1371600"/>
            <a:ext cx="3429000" cy="1143000"/>
          </a:xfrm>
          <a:prstGeom prst="rect">
            <a:avLst/>
          </a:prstGeom>
          <a:solidFill>
            <a:srgbClr val="F4F6FB"/>
          </a:solidFill>
          <a:ln w="12700">
            <a:solidFill>
              <a:srgbClr val="D5DAE3"/>
            </a:solidFill>
            <a:prstDash val="solid"/>
          </a:ln>
        </p:spPr>
      </p:sp>
      <p:sp>
        <p:nvSpPr>
          <p:cNvPr id="10" name="badge-28"/>
          <p:cNvSpPr/>
          <p:nvPr/>
        </p:nvSpPr>
        <p:spPr>
          <a:xfrm>
            <a:off x="4480560" y="1508760"/>
            <a:ext cx="384048" cy="384048"/>
          </a:xfrm>
          <a:prstGeom prst="ellipse">
            <a:avLst/>
          </a:prstGeom>
          <a:solidFill>
            <a:srgbClr val="0F7B6C"/>
          </a:solidFill>
          <a:ln w="12700">
            <a:solidFill>
              <a:srgbClr val="0F7B6C"/>
            </a:solidFill>
            <a:prstDash val="solid"/>
          </a:ln>
        </p:spPr>
      </p:sp>
      <p:sp>
        <p:nvSpPr>
          <p:cNvPr id="11" name="badgeText-29"/>
          <p:cNvSpPr txBox="1"/>
          <p:nvPr/>
        </p:nvSpPr>
        <p:spPr>
          <a:xfrm>
            <a:off x="4480560" y="15087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2" name="item-30"/>
          <p:cNvSpPr txBox="1"/>
          <p:nvPr/>
        </p:nvSpPr>
        <p:spPr>
          <a:xfrm>
            <a:off x="5029200" y="1463040"/>
            <a:ext cx="2651760" cy="960120"/>
          </a:xfrm>
          <a:prstGeom prst="rect">
            <a:avLst/>
          </a:prstGeom>
          <a:noFill/>
          <a:ln/>
        </p:spPr>
        <p:txBody>
          <a:bodyPr wrap="square" lIns="0" tIns="0" rIns="0" bIns="0" rtlCol="0" anchor="t"/>
          <a:lstStyle/>
          <a:p>
            <a:pPr indent="0" marL="0">
              <a:buNone/>
            </a:pPr>
            <a:r>
              <a:rPr lang="en-US" sz="1500" b="1" dirty="0">
                <a:solidFill>
                  <a:srgbClr val="1F1F2E"/>
                </a:solidFill>
              </a:rPr>
              <a:t>Estimate the price</a:t>
            </a:r>
            <a:endParaRPr lang="en-US" sz="1500" dirty="0"/>
          </a:p>
          <a:p>
            <a:pPr indent="0" marL="0">
              <a:buNone/>
            </a:pPr>
            <a:r>
              <a:rPr lang="en-US" sz="1300" dirty="0">
                <a:solidFill>
                  <a:srgbClr val="5C667A"/>
                </a:solidFill>
              </a:rPr>
              <a:t>LN(cap ÷ baseline) ÷ (semi-elasticity × effectiveness × volatility adjustment).</a:t>
            </a:r>
            <a:endParaRPr lang="en-US" sz="1500" dirty="0"/>
          </a:p>
        </p:txBody>
      </p:sp>
      <p:sp>
        <p:nvSpPr>
          <p:cNvPr id="13" name="stepArrow-31"/>
          <p:cNvSpPr/>
          <p:nvPr/>
        </p:nvSpPr>
        <p:spPr>
          <a:xfrm>
            <a:off x="7818120" y="1810512"/>
            <a:ext cx="274320" cy="274320"/>
          </a:xfrm>
          <a:prstGeom prst="rightArrow">
            <a:avLst/>
          </a:prstGeom>
          <a:solidFill>
            <a:srgbClr val="D4A24C"/>
          </a:solidFill>
          <a:ln w="12700">
            <a:solidFill>
              <a:srgbClr val="D4A24C"/>
            </a:solidFill>
            <a:prstDash val="solid"/>
          </a:ln>
        </p:spPr>
      </p:sp>
      <p:sp>
        <p:nvSpPr>
          <p:cNvPr id="14" name="stepCard-32"/>
          <p:cNvSpPr/>
          <p:nvPr/>
        </p:nvSpPr>
        <p:spPr>
          <a:xfrm>
            <a:off x="8138160" y="1371600"/>
            <a:ext cx="3429000" cy="1143000"/>
          </a:xfrm>
          <a:prstGeom prst="rect">
            <a:avLst/>
          </a:prstGeom>
          <a:solidFill>
            <a:srgbClr val="F4F6FB"/>
          </a:solidFill>
          <a:ln w="12700">
            <a:solidFill>
              <a:srgbClr val="D5DAE3"/>
            </a:solidFill>
            <a:prstDash val="solid"/>
          </a:ln>
        </p:spPr>
      </p:sp>
      <p:sp>
        <p:nvSpPr>
          <p:cNvPr id="15" name="badge-33"/>
          <p:cNvSpPr/>
          <p:nvPr/>
        </p:nvSpPr>
        <p:spPr>
          <a:xfrm>
            <a:off x="8275320" y="1508760"/>
            <a:ext cx="384048" cy="384048"/>
          </a:xfrm>
          <a:prstGeom prst="ellipse">
            <a:avLst/>
          </a:prstGeom>
          <a:solidFill>
            <a:srgbClr val="0F7B6C"/>
          </a:solidFill>
          <a:ln w="12700">
            <a:solidFill>
              <a:srgbClr val="0F7B6C"/>
            </a:solidFill>
            <a:prstDash val="solid"/>
          </a:ln>
        </p:spPr>
      </p:sp>
      <p:sp>
        <p:nvSpPr>
          <p:cNvPr id="16" name="badgeText-34"/>
          <p:cNvSpPr txBox="1"/>
          <p:nvPr/>
        </p:nvSpPr>
        <p:spPr>
          <a:xfrm>
            <a:off x="8275320" y="15087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7" name="item-35"/>
          <p:cNvSpPr txBox="1"/>
          <p:nvPr/>
        </p:nvSpPr>
        <p:spPr>
          <a:xfrm>
            <a:off x="8823960" y="1463040"/>
            <a:ext cx="2651760" cy="960120"/>
          </a:xfrm>
          <a:prstGeom prst="rect">
            <a:avLst/>
          </a:prstGeom>
          <a:noFill/>
          <a:ln/>
        </p:spPr>
        <p:txBody>
          <a:bodyPr wrap="square" lIns="0" tIns="0" rIns="0" bIns="0" rtlCol="0" anchor="t"/>
          <a:lstStyle/>
          <a:p>
            <a:pPr indent="0" marL="0">
              <a:buNone/>
            </a:pPr>
            <a:r>
              <a:rPr lang="en-US" sz="1500" b="1" dirty="0">
                <a:solidFill>
                  <a:srgbClr val="1F1F2E"/>
                </a:solidFill>
              </a:rPr>
              <a:t>Goal seek</a:t>
            </a:r>
            <a:endParaRPr lang="en-US" sz="1500" dirty="0"/>
          </a:p>
          <a:p>
            <a:pPr indent="0" marL="0">
              <a:buNone/>
            </a:pPr>
            <a:r>
              <a:rPr lang="en-US" sz="1300" dirty="0">
                <a:solidFill>
                  <a:srgbClr val="5C667A"/>
                </a:solidFill>
              </a:rPr>
              <a:t>Legacy's damped iteration until covered emissions are within 0.5% of the cap, as a macro or in Python.</a:t>
            </a:r>
            <a:endParaRPr lang="en-US" sz="1500" dirty="0"/>
          </a:p>
        </p:txBody>
      </p:sp>
      <p:sp>
        <p:nvSpPr>
          <p:cNvPr id="18" name="splitHead-36"/>
          <p:cNvSpPr txBox="1"/>
          <p:nvPr/>
        </p:nvSpPr>
        <p:spPr>
          <a:xfrm>
            <a:off x="548640" y="2926080"/>
            <a:ext cx="5943600" cy="274320"/>
          </a:xfrm>
          <a:prstGeom prst="rect">
            <a:avLst/>
          </a:prstGeom>
          <a:noFill/>
          <a:ln/>
        </p:spPr>
        <p:txBody>
          <a:bodyPr wrap="square" lIns="0" tIns="0" rIns="0" bIns="0" rtlCol="0" anchor="ctr"/>
          <a:lstStyle/>
          <a:p>
            <a:pPr indent="0" marL="0">
              <a:buNone/>
            </a:pPr>
            <a:r>
              <a:rPr lang="en-US" sz="1100" b="1" spc="200" kern="0" dirty="0">
                <a:solidFill>
                  <a:srgbClr val="0F7B6C"/>
                </a:solidFill>
              </a:rPr>
              <a:t>THE PRICE SPLITS IN TWO</a:t>
            </a:r>
            <a:endParaRPr lang="en-US" sz="1100" dirty="0"/>
          </a:p>
        </p:txBody>
      </p:sp>
      <p:sp>
        <p:nvSpPr>
          <p:cNvPr id="19" name="priceBox-37"/>
          <p:cNvSpPr/>
          <p:nvPr/>
        </p:nvSpPr>
        <p:spPr>
          <a:xfrm>
            <a:off x="548640" y="3931920"/>
            <a:ext cx="1600200" cy="1097280"/>
          </a:xfrm>
          <a:prstGeom prst="roundRect">
            <a:avLst>
              <a:gd name="adj" fmla="val 8333"/>
            </a:avLst>
          </a:prstGeom>
          <a:solidFill>
            <a:srgbClr val="1E2761"/>
          </a:solidFill>
          <a:ln w="12700">
            <a:solidFill>
              <a:srgbClr val="1E2761"/>
            </a:solidFill>
            <a:prstDash val="solid"/>
          </a:ln>
        </p:spPr>
      </p:sp>
      <p:sp>
        <p:nvSpPr>
          <p:cNvPr id="20" name="priceText-38"/>
          <p:cNvSpPr txBox="1"/>
          <p:nvPr/>
        </p:nvSpPr>
        <p:spPr>
          <a:xfrm>
            <a:off x="594360" y="3931920"/>
            <a:ext cx="1508760" cy="1097280"/>
          </a:xfrm>
          <a:prstGeom prst="rect">
            <a:avLst/>
          </a:prstGeom>
          <a:noFill/>
          <a:ln/>
        </p:spPr>
        <p:txBody>
          <a:bodyPr wrap="square" lIns="0" tIns="0" rIns="0" bIns="0" rtlCol="0" anchor="ctr"/>
          <a:lstStyle/>
          <a:p>
            <a:pPr algn="ctr" indent="0" marL="0">
              <a:buNone/>
            </a:pPr>
            <a:r>
              <a:rPr lang="en-US" sz="1500" b="1" dirty="0">
                <a:solidFill>
                  <a:srgbClr val="FFFFFF"/>
                </a:solidFill>
              </a:rPr>
              <a:t>Permit price</a:t>
            </a:r>
            <a:endParaRPr lang="en-US" sz="1500" dirty="0"/>
          </a:p>
          <a:p>
            <a:pPr algn="ctr" indent="0" marL="0">
              <a:buNone/>
            </a:pPr>
            <a:r>
              <a:rPr lang="en-US" sz="1200" dirty="0">
                <a:solidFill>
                  <a:srgbClr val="FFFFFF"/>
                </a:solidFill>
              </a:rPr>
              <a:t>× volatility adjustment</a:t>
            </a:r>
            <a:endParaRPr lang="en-US" sz="1500" dirty="0"/>
          </a:p>
        </p:txBody>
      </p:sp>
      <p:sp>
        <p:nvSpPr>
          <p:cNvPr id="21" name="splitArrow-39"/>
          <p:cNvSpPr/>
          <p:nvPr/>
        </p:nvSpPr>
        <p:spPr>
          <a:xfrm>
            <a:off x="2286000" y="3721608"/>
            <a:ext cx="411480" cy="292608"/>
          </a:xfrm>
          <a:prstGeom prst="rightArrow">
            <a:avLst/>
          </a:prstGeom>
          <a:solidFill>
            <a:srgbClr val="D4A24C"/>
          </a:solidFill>
          <a:ln w="12700">
            <a:solidFill>
              <a:srgbClr val="D4A24C"/>
            </a:solidFill>
            <a:prstDash val="solid"/>
          </a:ln>
        </p:spPr>
      </p:sp>
      <p:sp>
        <p:nvSpPr>
          <p:cNvPr id="22" name="partCard-40"/>
          <p:cNvSpPr/>
          <p:nvPr/>
        </p:nvSpPr>
        <p:spPr>
          <a:xfrm>
            <a:off x="2834640" y="3337560"/>
            <a:ext cx="3657600" cy="1051560"/>
          </a:xfrm>
          <a:prstGeom prst="rect">
            <a:avLst/>
          </a:prstGeom>
          <a:solidFill>
            <a:srgbClr val="EAF4F2"/>
          </a:solidFill>
          <a:ln w="12700">
            <a:solidFill>
              <a:srgbClr val="C7E3DE"/>
            </a:solidFill>
            <a:prstDash val="solid"/>
          </a:ln>
        </p:spPr>
      </p:sp>
      <p:sp>
        <p:nvSpPr>
          <p:cNvPr id="23" name="partText-41"/>
          <p:cNvSpPr txBox="1"/>
          <p:nvPr/>
        </p:nvSpPr>
        <p:spPr>
          <a:xfrm>
            <a:off x="2971800" y="3429000"/>
            <a:ext cx="3429000" cy="914400"/>
          </a:xfrm>
          <a:prstGeom prst="rect">
            <a:avLst/>
          </a:prstGeom>
          <a:noFill/>
          <a:ln/>
        </p:spPr>
        <p:txBody>
          <a:bodyPr wrap="square" lIns="0" tIns="0" rIns="0" bIns="0" rtlCol="0" anchor="t"/>
          <a:lstStyle/>
          <a:p>
            <a:pPr indent="0" marL="0">
              <a:buNone/>
            </a:pPr>
            <a:r>
              <a:rPr lang="en-US" sz="1400" b="1" dirty="0">
                <a:solidFill>
                  <a:srgbClr val="0F7B6C"/>
                </a:solidFill>
              </a:rPr>
              <a:t>Auctioned share  × (1 − benchmark)</a:t>
            </a:r>
            <a:endParaRPr lang="en-US" sz="1400" dirty="0"/>
          </a:p>
          <a:p>
            <a:pPr indent="0" marL="0">
              <a:buNone/>
            </a:pPr>
            <a:r>
              <a:rPr lang="en-US" sz="1300" dirty="0">
                <a:solidFill>
                  <a:srgbClr val="1F1F2E"/>
                </a:solidFill>
              </a:rPr>
              <a:t>Enters fuel prices like a carbon tax: usage and efficiency respond; raises revenue.</a:t>
            </a:r>
            <a:endParaRPr lang="en-US" sz="1400" dirty="0"/>
          </a:p>
        </p:txBody>
      </p:sp>
      <p:sp>
        <p:nvSpPr>
          <p:cNvPr id="24" name="splitArrow-42"/>
          <p:cNvSpPr/>
          <p:nvPr/>
        </p:nvSpPr>
        <p:spPr>
          <a:xfrm>
            <a:off x="2286000" y="5001768"/>
            <a:ext cx="411480" cy="292608"/>
          </a:xfrm>
          <a:prstGeom prst="rightArrow">
            <a:avLst/>
          </a:prstGeom>
          <a:solidFill>
            <a:srgbClr val="D4A24C"/>
          </a:solidFill>
          <a:ln w="12700">
            <a:solidFill>
              <a:srgbClr val="D4A24C"/>
            </a:solidFill>
            <a:prstDash val="solid"/>
          </a:ln>
        </p:spPr>
      </p:sp>
      <p:sp>
        <p:nvSpPr>
          <p:cNvPr id="25" name="partCard-43"/>
          <p:cNvSpPr/>
          <p:nvPr/>
        </p:nvSpPr>
        <p:spPr>
          <a:xfrm>
            <a:off x="2834640" y="4617720"/>
            <a:ext cx="3657600" cy="1051560"/>
          </a:xfrm>
          <a:prstGeom prst="rect">
            <a:avLst/>
          </a:prstGeom>
          <a:solidFill>
            <a:srgbClr val="FDF3E6"/>
          </a:solidFill>
          <a:ln w="12700">
            <a:solidFill>
              <a:srgbClr val="F2D9B6"/>
            </a:solidFill>
            <a:prstDash val="solid"/>
          </a:ln>
        </p:spPr>
      </p:sp>
      <p:sp>
        <p:nvSpPr>
          <p:cNvPr id="26" name="partText-44"/>
          <p:cNvSpPr txBox="1"/>
          <p:nvPr/>
        </p:nvSpPr>
        <p:spPr>
          <a:xfrm>
            <a:off x="2971800" y="4709160"/>
            <a:ext cx="3429000" cy="914400"/>
          </a:xfrm>
          <a:prstGeom prst="rect">
            <a:avLst/>
          </a:prstGeom>
          <a:noFill/>
          <a:ln/>
        </p:spPr>
        <p:txBody>
          <a:bodyPr wrap="square" lIns="0" tIns="0" rIns="0" bIns="0" rtlCol="0" anchor="t"/>
          <a:lstStyle/>
          <a:p>
            <a:pPr indent="0" marL="0">
              <a:buNone/>
            </a:pPr>
            <a:r>
              <a:rPr lang="en-US" sz="1400" b="1" dirty="0">
                <a:solidFill>
                  <a:srgbClr val="E08A1E"/>
                </a:solidFill>
              </a:rPr>
              <a:t>Free allocation  × benchmark</a:t>
            </a:r>
            <a:endParaRPr lang="en-US" sz="1400" dirty="0"/>
          </a:p>
          <a:p>
            <a:pPr indent="0" marL="0">
              <a:buNone/>
            </a:pPr>
            <a:r>
              <a:rPr lang="en-US" sz="1300" dirty="0">
                <a:solidFill>
                  <a:srgbClr val="1F1F2E"/>
                </a:solidFill>
              </a:rPr>
              <a:t>A shadow price on efficiency only, like feebates; no change in prices or revenue.</a:t>
            </a:r>
            <a:endParaRPr lang="en-US" sz="1400" dirty="0"/>
          </a:p>
        </p:txBody>
      </p:sp>
      <p:sp>
        <p:nvSpPr>
          <p:cNvPr id="27" name="splitNote-45"/>
          <p:cNvSpPr txBox="1"/>
          <p:nvPr/>
        </p:nvSpPr>
        <p:spPr>
          <a:xfrm>
            <a:off x="548640" y="5943600"/>
            <a:ext cx="5943600" cy="365760"/>
          </a:xfrm>
          <a:prstGeom prst="rect">
            <a:avLst/>
          </a:prstGeom>
          <a:noFill/>
          <a:ln/>
        </p:spPr>
        <p:txBody>
          <a:bodyPr wrap="square" lIns="0" tIns="0" rIns="0" bIns="0" rtlCol="0" anchor="ctr"/>
          <a:lstStyle/>
          <a:p>
            <a:pPr indent="0" marL="0">
              <a:buNone/>
            </a:pPr>
            <a:r>
              <a:rPr lang="en-US" sz="1200" i="1" dirty="0">
                <a:solidFill>
                  <a:srgbClr val="5C667A"/>
                </a:solidFill>
              </a:rPr>
              <a:t>Benchmarks by sector group replace the single auction share. Volatility adjustment = 1/1.1 at Medium, as legacy.</a:t>
            </a:r>
            <a:endParaRPr lang="en-US" sz="1200" dirty="0"/>
          </a:p>
        </p:txBody>
      </p:sp>
      <p:graphicFrame>
        <p:nvGraphicFramePr>
          <p:cNvPr id="28" name="etsChart-46" descr=""/>
          <p:cNvGraphicFramePr/>
          <p:nvPr/>
        </p:nvGraphicFramePr>
        <p:xfrm>
          <a:off x="6903720" y="2880360"/>
          <a:ext cx="4709160" cy="3017520"/>
        </p:xfrm>
        <a:graphic xmlns:a="http://schemas.openxmlformats.org/drawingml/2006/main">
          <a:graphicData uri="http://schemas.openxmlformats.org/drawingml/2006/chart">
            <c:chart xmlns:c="http://schemas.openxmlformats.org/drawingml/2006/chart" r:id="rId1"/>
          </a:graphicData>
        </a:graphic>
      </p:graphicFrame>
      <p:sp>
        <p:nvSpPr>
          <p:cNvPr id="29" name="chartNote-47"/>
          <p:cNvSpPr txBox="1"/>
          <p:nvPr/>
        </p:nvSpPr>
        <p:spPr>
          <a:xfrm>
            <a:off x="6903720" y="5943600"/>
            <a:ext cx="4709160" cy="365760"/>
          </a:xfrm>
          <a:prstGeom prst="rect">
            <a:avLst/>
          </a:prstGeom>
          <a:noFill/>
          <a:ln/>
        </p:spPr>
        <p:txBody>
          <a:bodyPr wrap="square" lIns="0" tIns="0" rIns="0" bIns="0" rtlCol="0" anchor="ctr"/>
          <a:lstStyle/>
          <a:p>
            <a:pPr indent="0" marL="0">
              <a:buNone/>
            </a:pPr>
            <a:r>
              <a:rPr lang="en-US" sz="1200" i="1" dirty="0">
                <a:solidFill>
                  <a:srgbClr val="5C667A"/>
                </a:solidFill>
              </a:rPr>
              <a:t>Covered emissions stay within 0.5% of the cap (−5% in 2027 to −20% by 2035) in every year.</a:t>
            </a:r>
            <a:endParaRPr lang="en-US" sz="12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MULTIPLE SCENARIOS · SET UP AND RUN</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One table of scenarios, one macro to run them</a:t>
            </a:r>
            <a:endParaRPr lang="en-US" sz="3000" dirty="0"/>
          </a:p>
        </p:txBody>
      </p:sp>
      <p:sp>
        <p:nvSpPr>
          <p:cNvPr id="4" name="frame-48"/>
          <p:cNvSpPr/>
          <p:nvPr/>
        </p:nvSpPr>
        <p:spPr>
          <a:xfrm>
            <a:off x="493776" y="1362456"/>
            <a:ext cx="6784848" cy="2894583"/>
          </a:xfrm>
          <a:prstGeom prst="rect">
            <a:avLst/>
          </a:prstGeom>
          <a:solidFill>
            <a:srgbClr val="FFFFFF"/>
          </a:solidFill>
          <a:ln w="12700">
            <a:solidFill>
              <a:srgbClr val="D5DAE3"/>
            </a:solidFill>
            <a:prstDash val="solid"/>
          </a:ln>
          <a:effectLst>
            <a:outerShdw sx="100000" sy="100000" kx="0" ky="0" algn="bl" rotWithShape="0" blurRad="76200" dist="25400" dir="5400000">
              <a:srgbClr val="1E2761">
                <a:alpha val="18000"/>
              </a:srgbClr>
            </a:outerShdw>
          </a:effectLst>
        </p:spPr>
      </p:sp>
      <p:pic>
        <p:nvPicPr>
          <p:cNvPr id="5" name="screenshot-49" descr="/home/user/CPAT-AI-Local/cpat_excel_new/mitigation_copypaste/presentation/img/12_definitions.png">    </p:cNvPr>
          <p:cNvPicPr>
            <a:picLocks noChangeAspect="1"/>
          </p:cNvPicPr>
          <p:nvPr/>
        </p:nvPicPr>
        <p:blipFill>
          <a:blip r:embed="rId1"/>
          <a:stretch>
            <a:fillRect/>
          </a:stretch>
        </p:blipFill>
        <p:spPr>
          <a:xfrm>
            <a:off x="548640" y="1417320"/>
            <a:ext cx="6675120" cy="2784855"/>
          </a:xfrm>
          <a:prstGeom prst="rect">
            <a:avLst/>
          </a:prstGeom>
        </p:spPr>
      </p:pic>
      <p:sp>
        <p:nvSpPr>
          <p:cNvPr id="6" name="caption-50"/>
          <p:cNvSpPr txBox="1"/>
          <p:nvPr/>
        </p:nvSpPr>
        <p:spPr>
          <a:xfrm>
            <a:off x="548640" y="4339335"/>
            <a:ext cx="6675120" cy="274320"/>
          </a:xfrm>
          <a:prstGeom prst="rect">
            <a:avLst/>
          </a:prstGeom>
          <a:noFill/>
          <a:ln/>
        </p:spPr>
        <p:txBody>
          <a:bodyPr wrap="square" lIns="0" tIns="0" rIns="0" bIns="0" rtlCol="0" anchor="ctr"/>
          <a:lstStyle/>
          <a:p>
            <a:pPr indent="0" marL="0">
              <a:buNone/>
            </a:pPr>
            <a:r>
              <a:rPr lang="en-US" sz="1200" i="1" dirty="0">
                <a:solidFill>
                  <a:srgbClr val="5C667A"/>
                </a:solidFill>
              </a:rPr>
              <a:t>MTInputs: J baseline, K live scenario, L onwards one column per scenario (row 4: Run? = Yes)</a:t>
            </a:r>
            <a:endParaRPr lang="en-US" sz="1200" dirty="0"/>
          </a:p>
        </p:txBody>
      </p:sp>
      <p:sp>
        <p:nvSpPr>
          <p:cNvPr id="7" name="macroHead-51"/>
          <p:cNvSpPr txBox="1"/>
          <p:nvPr/>
        </p:nvSpPr>
        <p:spPr>
          <a:xfrm>
            <a:off x="7635240" y="1371600"/>
            <a:ext cx="3977640" cy="320040"/>
          </a:xfrm>
          <a:prstGeom prst="rect">
            <a:avLst/>
          </a:prstGeom>
          <a:noFill/>
          <a:ln/>
        </p:spPr>
        <p:txBody>
          <a:bodyPr wrap="square" lIns="0" tIns="0" rIns="0" bIns="0" rtlCol="0" anchor="ctr"/>
          <a:lstStyle/>
          <a:p>
            <a:pPr indent="0" marL="0">
              <a:buNone/>
            </a:pPr>
            <a:r>
              <a:rPr lang="en-US" sz="1500" b="1" dirty="0">
                <a:solidFill>
                  <a:srgbClr val="1E2761"/>
                </a:solidFill>
              </a:rPr>
              <a:t>RunAllScenarios  (Alt+F8)</a:t>
            </a:r>
            <a:endParaRPr lang="en-US" sz="1500" dirty="0"/>
          </a:p>
        </p:txBody>
      </p:sp>
      <p:sp>
        <p:nvSpPr>
          <p:cNvPr id="8" name="badge-52"/>
          <p:cNvSpPr/>
          <p:nvPr/>
        </p:nvSpPr>
        <p:spPr>
          <a:xfrm>
            <a:off x="7635240" y="1874520"/>
            <a:ext cx="384048" cy="384048"/>
          </a:xfrm>
          <a:prstGeom prst="ellipse">
            <a:avLst/>
          </a:prstGeom>
          <a:solidFill>
            <a:srgbClr val="0F7B6C"/>
          </a:solidFill>
          <a:ln w="12700">
            <a:solidFill>
              <a:srgbClr val="0F7B6C"/>
            </a:solidFill>
            <a:prstDash val="solid"/>
          </a:ln>
        </p:spPr>
      </p:sp>
      <p:sp>
        <p:nvSpPr>
          <p:cNvPr id="9" name="badgeText-53"/>
          <p:cNvSpPr txBox="1"/>
          <p:nvPr/>
        </p:nvSpPr>
        <p:spPr>
          <a:xfrm>
            <a:off x="7635240" y="1874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0" name="item-54"/>
          <p:cNvSpPr txBox="1"/>
          <p:nvPr/>
        </p:nvSpPr>
        <p:spPr>
          <a:xfrm>
            <a:off x="8183880" y="1828800"/>
            <a:ext cx="3429000" cy="777240"/>
          </a:xfrm>
          <a:prstGeom prst="rect">
            <a:avLst/>
          </a:prstGeom>
          <a:noFill/>
          <a:ln/>
        </p:spPr>
        <p:txBody>
          <a:bodyPr wrap="square" lIns="0" tIns="0" rIns="0" bIns="0" rtlCol="0" anchor="t"/>
          <a:lstStyle/>
          <a:p>
            <a:pPr indent="0" marL="0">
              <a:buNone/>
            </a:pPr>
            <a:r>
              <a:rPr lang="en-US" sz="1500" b="1" dirty="0">
                <a:solidFill>
                  <a:srgbClr val="1F1F2E"/>
                </a:solidFill>
              </a:rPr>
              <a:t>Stores the baseline once</a:t>
            </a:r>
            <a:endParaRPr lang="en-US" sz="1500" dirty="0"/>
          </a:p>
          <a:p>
            <a:pPr indent="0" marL="0">
              <a:buNone/>
            </a:pPr>
            <a:r>
              <a:rPr lang="en-US" sz="1300" dirty="0">
                <a:solidFill>
                  <a:srgbClr val="5C667A"/>
                </a:solidFill>
              </a:rPr>
              <a:t>It does not change unless you ask.</a:t>
            </a:r>
            <a:endParaRPr lang="en-US" sz="1500" dirty="0"/>
          </a:p>
        </p:txBody>
      </p:sp>
      <p:sp>
        <p:nvSpPr>
          <p:cNvPr id="11" name="badge-55"/>
          <p:cNvSpPr/>
          <p:nvPr/>
        </p:nvSpPr>
        <p:spPr>
          <a:xfrm>
            <a:off x="7635240" y="2743200"/>
            <a:ext cx="384048" cy="384048"/>
          </a:xfrm>
          <a:prstGeom prst="ellipse">
            <a:avLst/>
          </a:prstGeom>
          <a:solidFill>
            <a:srgbClr val="0F7B6C"/>
          </a:solidFill>
          <a:ln w="12700">
            <a:solidFill>
              <a:srgbClr val="0F7B6C"/>
            </a:solidFill>
            <a:prstDash val="solid"/>
          </a:ln>
        </p:spPr>
      </p:sp>
      <p:sp>
        <p:nvSpPr>
          <p:cNvPr id="12" name="badgeText-56"/>
          <p:cNvSpPr txBox="1"/>
          <p:nvPr/>
        </p:nvSpPr>
        <p:spPr>
          <a:xfrm>
            <a:off x="7635240" y="27432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3" name="item-57"/>
          <p:cNvSpPr txBox="1"/>
          <p:nvPr/>
        </p:nvSpPr>
        <p:spPr>
          <a:xfrm>
            <a:off x="8183880" y="2697480"/>
            <a:ext cx="3429000" cy="777240"/>
          </a:xfrm>
          <a:prstGeom prst="rect">
            <a:avLst/>
          </a:prstGeom>
          <a:noFill/>
          <a:ln/>
        </p:spPr>
        <p:txBody>
          <a:bodyPr wrap="square" lIns="0" tIns="0" rIns="0" bIns="0" rtlCol="0" anchor="t"/>
          <a:lstStyle/>
          <a:p>
            <a:pPr indent="0" marL="0">
              <a:buNone/>
            </a:pPr>
            <a:r>
              <a:rPr lang="en-US" sz="1500" b="1" dirty="0">
                <a:solidFill>
                  <a:srgbClr val="1F1F2E"/>
                </a:solidFill>
              </a:rPr>
              <a:t>Copies each scenario into K</a:t>
            </a:r>
            <a:endParaRPr lang="en-US" sz="1500" dirty="0"/>
          </a:p>
          <a:p>
            <a:pPr indent="0" marL="0">
              <a:buNone/>
            </a:pPr>
            <a:r>
              <a:rPr lang="en-US" sz="1300" dirty="0">
                <a:solidFill>
                  <a:srgbClr val="5C667A"/>
                </a:solidFill>
              </a:rPr>
              <a:t>Every column marked Run? = Yes, one at a time.</a:t>
            </a:r>
            <a:endParaRPr lang="en-US" sz="1500" dirty="0"/>
          </a:p>
        </p:txBody>
      </p:sp>
      <p:sp>
        <p:nvSpPr>
          <p:cNvPr id="14" name="badge-58"/>
          <p:cNvSpPr/>
          <p:nvPr/>
        </p:nvSpPr>
        <p:spPr>
          <a:xfrm>
            <a:off x="7635240" y="3611880"/>
            <a:ext cx="384048" cy="384048"/>
          </a:xfrm>
          <a:prstGeom prst="ellipse">
            <a:avLst/>
          </a:prstGeom>
          <a:solidFill>
            <a:srgbClr val="0F7B6C"/>
          </a:solidFill>
          <a:ln w="12700">
            <a:solidFill>
              <a:srgbClr val="0F7B6C"/>
            </a:solidFill>
            <a:prstDash val="solid"/>
          </a:ln>
        </p:spPr>
      </p:sp>
      <p:sp>
        <p:nvSpPr>
          <p:cNvPr id="15" name="badgeText-59"/>
          <p:cNvSpPr txBox="1"/>
          <p:nvPr/>
        </p:nvSpPr>
        <p:spPr>
          <a:xfrm>
            <a:off x="7635240" y="36118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item-60"/>
          <p:cNvSpPr txBox="1"/>
          <p:nvPr/>
        </p:nvSpPr>
        <p:spPr>
          <a:xfrm>
            <a:off x="8183880" y="3566160"/>
            <a:ext cx="3429000" cy="777240"/>
          </a:xfrm>
          <a:prstGeom prst="rect">
            <a:avLst/>
          </a:prstGeom>
          <a:noFill/>
          <a:ln/>
        </p:spPr>
        <p:txBody>
          <a:bodyPr wrap="square" lIns="0" tIns="0" rIns="0" bIns="0" rtlCol="0" anchor="t"/>
          <a:lstStyle/>
          <a:p>
            <a:pPr indent="0" marL="0">
              <a:buNone/>
            </a:pPr>
            <a:r>
              <a:rPr lang="en-US" sz="1500" b="1" dirty="0">
                <a:solidFill>
                  <a:srgbClr val="1F1F2E"/>
                </a:solidFill>
              </a:rPr>
              <a:t>Recalculates</a:t>
            </a:r>
            <a:endParaRPr lang="en-US" sz="1500" dirty="0"/>
          </a:p>
          <a:p>
            <a:pPr indent="0" marL="0">
              <a:buNone/>
            </a:pPr>
            <a:r>
              <a:rPr lang="en-US" sz="1300" dirty="0">
                <a:solidFill>
                  <a:srgbClr val="5C667A"/>
                </a:solidFill>
              </a:rPr>
              <a:t>And runs the ETS goal seek when the scenario has an ETS.</a:t>
            </a:r>
            <a:endParaRPr lang="en-US" sz="1500" dirty="0"/>
          </a:p>
        </p:txBody>
      </p:sp>
      <p:sp>
        <p:nvSpPr>
          <p:cNvPr id="17" name="badge-61"/>
          <p:cNvSpPr/>
          <p:nvPr/>
        </p:nvSpPr>
        <p:spPr>
          <a:xfrm>
            <a:off x="7635240" y="4480560"/>
            <a:ext cx="384048" cy="384048"/>
          </a:xfrm>
          <a:prstGeom prst="ellipse">
            <a:avLst/>
          </a:prstGeom>
          <a:solidFill>
            <a:srgbClr val="0F7B6C"/>
          </a:solidFill>
          <a:ln w="12700">
            <a:solidFill>
              <a:srgbClr val="0F7B6C"/>
            </a:solidFill>
            <a:prstDash val="solid"/>
          </a:ln>
        </p:spPr>
      </p:sp>
      <p:sp>
        <p:nvSpPr>
          <p:cNvPr id="18" name="badgeText-62"/>
          <p:cNvSpPr txBox="1"/>
          <p:nvPr/>
        </p:nvSpPr>
        <p:spPr>
          <a:xfrm>
            <a:off x="7635240" y="44805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9" name="item-63"/>
          <p:cNvSpPr txBox="1"/>
          <p:nvPr/>
        </p:nvSpPr>
        <p:spPr>
          <a:xfrm>
            <a:off x="8183880" y="4434840"/>
            <a:ext cx="3429000" cy="777240"/>
          </a:xfrm>
          <a:prstGeom prst="rect">
            <a:avLst/>
          </a:prstGeom>
          <a:noFill/>
          <a:ln/>
        </p:spPr>
        <p:txBody>
          <a:bodyPr wrap="square" lIns="0" tIns="0" rIns="0" bIns="0" rtlCol="0" anchor="t"/>
          <a:lstStyle/>
          <a:p>
            <a:pPr indent="0" marL="0">
              <a:buNone/>
            </a:pPr>
            <a:r>
              <a:rPr lang="en-US" sz="1500" b="1" dirty="0">
                <a:solidFill>
                  <a:srgbClr val="1F1F2E"/>
                </a:solidFill>
              </a:rPr>
              <a:t>Pastes results as values</a:t>
            </a:r>
            <a:endParaRPr lang="en-US" sz="1500" dirty="0"/>
          </a:p>
          <a:p>
            <a:pPr indent="0" marL="0">
              <a:buNone/>
            </a:pPr>
            <a:r>
              <a:rPr lang="en-US" sz="1300" dirty="0">
                <a:solidFill>
                  <a:srgbClr val="5C667A"/>
                </a:solidFill>
              </a:rPr>
              <a:t>Into StoredResults, under the scenario's number.</a:t>
            </a:r>
            <a:endParaRPr lang="en-US" sz="1500" dirty="0"/>
          </a:p>
        </p:txBody>
      </p:sp>
      <p:sp>
        <p:nvSpPr>
          <p:cNvPr id="20" name="badge-64"/>
          <p:cNvSpPr/>
          <p:nvPr/>
        </p:nvSpPr>
        <p:spPr>
          <a:xfrm>
            <a:off x="7635240" y="5349240"/>
            <a:ext cx="384048" cy="384048"/>
          </a:xfrm>
          <a:prstGeom prst="ellipse">
            <a:avLst/>
          </a:prstGeom>
          <a:solidFill>
            <a:srgbClr val="0F7B6C"/>
          </a:solidFill>
          <a:ln w="12700">
            <a:solidFill>
              <a:srgbClr val="0F7B6C"/>
            </a:solidFill>
            <a:prstDash val="solid"/>
          </a:ln>
        </p:spPr>
      </p:sp>
      <p:sp>
        <p:nvSpPr>
          <p:cNvPr id="21" name="badgeText-65"/>
          <p:cNvSpPr txBox="1"/>
          <p:nvPr/>
        </p:nvSpPr>
        <p:spPr>
          <a:xfrm>
            <a:off x="7635240" y="53492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2" name="item-66"/>
          <p:cNvSpPr txBox="1"/>
          <p:nvPr/>
        </p:nvSpPr>
        <p:spPr>
          <a:xfrm>
            <a:off x="8183880" y="5303520"/>
            <a:ext cx="3429000" cy="777240"/>
          </a:xfrm>
          <a:prstGeom prst="rect">
            <a:avLst/>
          </a:prstGeom>
          <a:noFill/>
          <a:ln/>
        </p:spPr>
        <p:txBody>
          <a:bodyPr wrap="square" lIns="0" tIns="0" rIns="0" bIns="0" rtlCol="0" anchor="t"/>
          <a:lstStyle/>
          <a:p>
            <a:pPr indent="0" marL="0">
              <a:buNone/>
            </a:pPr>
            <a:r>
              <a:rPr lang="en-US" sz="1500" b="1" dirty="0">
                <a:solidFill>
                  <a:srgbClr val="1F1F2E"/>
                </a:solidFill>
              </a:rPr>
              <a:t>Puts K back</a:t>
            </a:r>
            <a:endParaRPr lang="en-US" sz="1500" dirty="0"/>
          </a:p>
          <a:p>
            <a:pPr indent="0" marL="0">
              <a:buNone/>
            </a:pPr>
            <a:r>
              <a:rPr lang="en-US" sz="1300" dirty="0">
                <a:solidFill>
                  <a:srgbClr val="5C667A"/>
                </a:solidFill>
              </a:rPr>
              <a:t>The live scenario is as you left it.</a:t>
            </a:r>
            <a:endParaRPr lang="en-US" sz="1500" dirty="0"/>
          </a:p>
        </p:txBody>
      </p:sp>
      <p:sp>
        <p:nvSpPr>
          <p:cNvPr id="23" name="card-67"/>
          <p:cNvSpPr/>
          <p:nvPr/>
        </p:nvSpPr>
        <p:spPr>
          <a:xfrm>
            <a:off x="548640" y="4983480"/>
            <a:ext cx="6675120" cy="914400"/>
          </a:xfrm>
          <a:prstGeom prst="rect">
            <a:avLst/>
          </a:prstGeom>
          <a:solidFill>
            <a:srgbClr val="F4F6FB"/>
          </a:solidFill>
          <a:ln w="12700">
            <a:solidFill>
              <a:srgbClr val="D5DAE3"/>
            </a:solidFill>
            <a:prstDash val="solid"/>
          </a:ln>
        </p:spPr>
      </p:sp>
      <p:sp>
        <p:nvSpPr>
          <p:cNvPr id="24" name="cardText-68"/>
          <p:cNvSpPr txBox="1"/>
          <p:nvPr/>
        </p:nvSpPr>
        <p:spPr>
          <a:xfrm>
            <a:off x="685800" y="5029200"/>
            <a:ext cx="6400800" cy="822960"/>
          </a:xfrm>
          <a:prstGeom prst="rect">
            <a:avLst/>
          </a:prstGeom>
          <a:noFill/>
          <a:ln/>
        </p:spPr>
        <p:txBody>
          <a:bodyPr wrap="square" lIns="0" tIns="0" rIns="0" bIns="0" rtlCol="0" anchor="ctr"/>
          <a:lstStyle/>
          <a:p>
            <a:pPr indent="0" marL="0">
              <a:buNone/>
            </a:pPr>
            <a:r>
              <a:rPr lang="en-US" sz="1300" b="1" dirty="0">
                <a:solidFill>
                  <a:srgbClr val="1E2761"/>
                </a:solidFill>
              </a:rPr>
              <a:t>Shipped packages:  </a:t>
            </a:r>
            <a:pPr indent="0" marL="0">
              <a:buNone/>
            </a:pPr>
            <a:r>
              <a:rPr lang="en-US" sz="1300" dirty="0">
                <a:solidFill>
                  <a:srgbClr val="1F1F2E"/>
                </a:solidFill>
              </a:rPr>
              <a:t>A  carbon tax to $50 by 2030 + feebates;  B  ETS on power and industry + $25 carbon tax elsewhere.</a:t>
            </a:r>
            <a:endParaRPr lang="en-US" sz="1300" dirty="0"/>
          </a:p>
          <a:p>
            <a:pPr indent="0" marL="0">
              <a:buNone/>
            </a:pPr>
            <a:r>
              <a:rPr lang="en-US" sz="1300" b="1" dirty="0">
                <a:solidFill>
                  <a:srgbClr val="1E2761"/>
                </a:solidFill>
              </a:rPr>
              <a:t>Other macros:  </a:t>
            </a:r>
            <a:pPr indent="0" marL="0">
              <a:buNone/>
            </a:pPr>
            <a:r>
              <a:rPr lang="en-US" sz="1300" dirty="0">
                <a:solidFill>
                  <a:srgbClr val="1F1F2E"/>
                </a:solidFill>
              </a:rPr>
              <a:t>StoreBaseline, StoreLiveScenario, SolveETSLive, ClearStoredScenarios.</a:t>
            </a:r>
            <a:endParaRPr lang="en-US" sz="13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MULTIPLE SCENARIOS · COMPARE</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Stored results, compared in one view</a:t>
            </a:r>
            <a:endParaRPr lang="en-US" sz="3000" dirty="0"/>
          </a:p>
        </p:txBody>
      </p:sp>
      <p:sp>
        <p:nvSpPr>
          <p:cNvPr id="4" name="frame-69"/>
          <p:cNvSpPr/>
          <p:nvPr/>
        </p:nvSpPr>
        <p:spPr>
          <a:xfrm>
            <a:off x="493776" y="1362456"/>
            <a:ext cx="6784848" cy="2603452"/>
          </a:xfrm>
          <a:prstGeom prst="rect">
            <a:avLst/>
          </a:prstGeom>
          <a:solidFill>
            <a:srgbClr val="FFFFFF"/>
          </a:solidFill>
          <a:ln w="12700">
            <a:solidFill>
              <a:srgbClr val="D5DAE3"/>
            </a:solidFill>
            <a:prstDash val="solid"/>
          </a:ln>
          <a:effectLst>
            <a:outerShdw sx="100000" sy="100000" kx="0" ky="0" algn="bl" rotWithShape="0" blurRad="76200" dist="25400" dir="5400000">
              <a:srgbClr val="1E2761">
                <a:alpha val="18000"/>
              </a:srgbClr>
            </a:outerShdw>
          </a:effectLst>
        </p:spPr>
      </p:sp>
      <p:pic>
        <p:nvPicPr>
          <p:cNvPr id="5" name="screenshot-70" descr="/home/user/CPAT-AI-Local/cpat_excel_new/mitigation_copypaste/presentation/img/11_compare.png">    </p:cNvPr>
          <p:cNvPicPr>
            <a:picLocks noChangeAspect="1"/>
          </p:cNvPicPr>
          <p:nvPr/>
        </p:nvPicPr>
        <p:blipFill>
          <a:blip r:embed="rId1"/>
          <a:stretch>
            <a:fillRect/>
          </a:stretch>
        </p:blipFill>
        <p:spPr>
          <a:xfrm>
            <a:off x="548640" y="1417320"/>
            <a:ext cx="6675120" cy="2493724"/>
          </a:xfrm>
          <a:prstGeom prst="rect">
            <a:avLst/>
          </a:prstGeom>
        </p:spPr>
      </p:pic>
      <p:sp>
        <p:nvSpPr>
          <p:cNvPr id="6" name="caption-71"/>
          <p:cNvSpPr txBox="1"/>
          <p:nvPr/>
        </p:nvSpPr>
        <p:spPr>
          <a:xfrm>
            <a:off x="548640" y="4048204"/>
            <a:ext cx="6675120" cy="274320"/>
          </a:xfrm>
          <a:prstGeom prst="rect">
            <a:avLst/>
          </a:prstGeom>
          <a:noFill/>
          <a:ln/>
        </p:spPr>
        <p:txBody>
          <a:bodyPr wrap="square" lIns="0" tIns="0" rIns="0" bIns="0" rtlCol="0" anchor="ctr"/>
          <a:lstStyle/>
          <a:p>
            <a:pPr indent="0" marL="0">
              <a:buNone/>
            </a:pPr>
            <a:r>
              <a:rPr lang="en-US" sz="1200" i="1" dirty="0">
                <a:solidFill>
                  <a:srgbClr val="5C667A"/>
                </a:solidFill>
              </a:rPr>
              <a:t>ScenarioCompare: choose a year and the scenario IDs; levels, differences and % vs the baseline</a:t>
            </a:r>
            <a:endParaRPr lang="en-US" sz="1200" dirty="0"/>
          </a:p>
        </p:txBody>
      </p:sp>
      <p:graphicFrame>
        <p:nvGraphicFramePr>
          <p:cNvPr id="7" name="co2Chart-72" descr=""/>
          <p:cNvGraphicFramePr/>
          <p:nvPr/>
        </p:nvGraphicFramePr>
        <p:xfrm>
          <a:off x="7589520" y="1325880"/>
          <a:ext cx="4023360" cy="3063240"/>
        </p:xfrm>
        <a:graphic xmlns:a="http://schemas.openxmlformats.org/drawingml/2006/main">
          <a:graphicData uri="http://schemas.openxmlformats.org/drawingml/2006/chart">
            <c:chart xmlns:c="http://schemas.openxmlformats.org/drawingml/2006/chart" r:id="rId2"/>
          </a:graphicData>
        </a:graphic>
      </p:graphicFrame>
      <p:sp>
        <p:nvSpPr>
          <p:cNvPr id="8" name="stat-73"/>
          <p:cNvSpPr txBox="1"/>
          <p:nvPr/>
        </p:nvSpPr>
        <p:spPr>
          <a:xfrm>
            <a:off x="548640" y="4846320"/>
            <a:ext cx="2103120" cy="594360"/>
          </a:xfrm>
          <a:prstGeom prst="rect">
            <a:avLst/>
          </a:prstGeom>
          <a:noFill/>
          <a:ln/>
        </p:spPr>
        <p:txBody>
          <a:bodyPr wrap="square" lIns="0" tIns="0" rIns="0" bIns="0" rtlCol="0" anchor="ctr"/>
          <a:lstStyle/>
          <a:p>
            <a:pPr indent="0" marL="0">
              <a:buNone/>
            </a:pPr>
            <a:r>
              <a:rPr lang="en-US" sz="3400" b="1" dirty="0">
                <a:solidFill>
                  <a:srgbClr val="0F7B6C"/>
                </a:solidFill>
                <a:latin typeface="Cambria" pitchFamily="34" charset="0"/>
                <a:ea typeface="Cambria" pitchFamily="34" charset="-122"/>
                <a:cs typeface="Cambria" pitchFamily="34" charset="-120"/>
              </a:rPr>
              <a:t>8e-15</a:t>
            </a:r>
            <a:endParaRPr lang="en-US" sz="3400" dirty="0"/>
          </a:p>
        </p:txBody>
      </p:sp>
      <p:sp>
        <p:nvSpPr>
          <p:cNvPr id="9" name="statText-74"/>
          <p:cNvSpPr txBox="1"/>
          <p:nvPr/>
        </p:nvSpPr>
        <p:spPr>
          <a:xfrm>
            <a:off x="548640" y="5440680"/>
            <a:ext cx="2103120" cy="777240"/>
          </a:xfrm>
          <a:prstGeom prst="rect">
            <a:avLst/>
          </a:prstGeom>
          <a:noFill/>
          <a:ln/>
        </p:spPr>
        <p:txBody>
          <a:bodyPr wrap="square" lIns="0" tIns="0" rIns="0" bIns="0" rtlCol="0" anchor="t"/>
          <a:lstStyle/>
          <a:p>
            <a:pPr indent="0" marL="0">
              <a:buNone/>
            </a:pPr>
            <a:r>
              <a:rPr lang="en-US" sz="1200" dirty="0">
                <a:solidFill>
                  <a:srgbClr val="5C667A"/>
                </a:solidFill>
              </a:rPr>
              <a:t>Largest relative difference between the macro run in LibreOffice and the Python emulation</a:t>
            </a:r>
            <a:endParaRPr lang="en-US" sz="1200" dirty="0"/>
          </a:p>
        </p:txBody>
      </p:sp>
      <p:sp>
        <p:nvSpPr>
          <p:cNvPr id="10" name="stat-75"/>
          <p:cNvSpPr txBox="1"/>
          <p:nvPr/>
        </p:nvSpPr>
        <p:spPr>
          <a:xfrm>
            <a:off x="2834640" y="4846320"/>
            <a:ext cx="2103120" cy="594360"/>
          </a:xfrm>
          <a:prstGeom prst="rect">
            <a:avLst/>
          </a:prstGeom>
          <a:noFill/>
          <a:ln/>
        </p:spPr>
        <p:txBody>
          <a:bodyPr wrap="square" lIns="0" tIns="0" rIns="0" bIns="0" rtlCol="0" anchor="ctr"/>
          <a:lstStyle/>
          <a:p>
            <a:pPr indent="0" marL="0">
              <a:buNone/>
            </a:pPr>
            <a:r>
              <a:rPr lang="en-US" sz="3400" b="1" dirty="0">
                <a:solidFill>
                  <a:srgbClr val="0F7B6C"/>
                </a:solidFill>
                <a:latin typeface="Cambria" pitchFamily="34" charset="0"/>
                <a:ea typeface="Cambria" pitchFamily="34" charset="-122"/>
                <a:cs typeface="Cambria" pitchFamily="34" charset="-120"/>
              </a:rPr>
              <a:t>0.5%</a:t>
            </a:r>
            <a:endParaRPr lang="en-US" sz="3400" dirty="0"/>
          </a:p>
        </p:txBody>
      </p:sp>
      <p:sp>
        <p:nvSpPr>
          <p:cNvPr id="11" name="statText-76"/>
          <p:cNvSpPr txBox="1"/>
          <p:nvPr/>
        </p:nvSpPr>
        <p:spPr>
          <a:xfrm>
            <a:off x="2834640" y="5440680"/>
            <a:ext cx="2103120" cy="777240"/>
          </a:xfrm>
          <a:prstGeom prst="rect">
            <a:avLst/>
          </a:prstGeom>
          <a:noFill/>
          <a:ln/>
        </p:spPr>
        <p:txBody>
          <a:bodyPr wrap="square" lIns="0" tIns="0" rIns="0" bIns="0" rtlCol="0" anchor="t"/>
          <a:lstStyle/>
          <a:p>
            <a:pPr indent="0" marL="0">
              <a:buNone/>
            </a:pPr>
            <a:r>
              <a:rPr lang="en-US" sz="1200" dirty="0">
                <a:solidFill>
                  <a:srgbClr val="5C667A"/>
                </a:solidFill>
              </a:rPr>
              <a:t>Largest gap between the ETS package's covered emissions and its cap</a:t>
            </a:r>
            <a:endParaRPr lang="en-US" sz="1200" dirty="0"/>
          </a:p>
        </p:txBody>
      </p:sp>
      <p:sp>
        <p:nvSpPr>
          <p:cNvPr id="12" name="stat-77"/>
          <p:cNvSpPr txBox="1"/>
          <p:nvPr/>
        </p:nvSpPr>
        <p:spPr>
          <a:xfrm>
            <a:off x="5120640" y="4846320"/>
            <a:ext cx="2103120" cy="594360"/>
          </a:xfrm>
          <a:prstGeom prst="rect">
            <a:avLst/>
          </a:prstGeom>
          <a:noFill/>
          <a:ln/>
        </p:spPr>
        <p:txBody>
          <a:bodyPr wrap="square" lIns="0" tIns="0" rIns="0" bIns="0" rtlCol="0" anchor="ctr"/>
          <a:lstStyle/>
          <a:p>
            <a:pPr indent="0" marL="0">
              <a:buNone/>
            </a:pPr>
            <a:r>
              <a:rPr lang="en-US" sz="3400" b="1" dirty="0">
                <a:solidFill>
                  <a:srgbClr val="0F7B6C"/>
                </a:solidFill>
                <a:latin typeface="Cambria" pitchFamily="34" charset="0"/>
                <a:ea typeface="Cambria" pitchFamily="34" charset="-122"/>
                <a:cs typeface="Cambria" pitchFamily="34" charset="-120"/>
              </a:rPr>
              <a:t>0</a:t>
            </a:r>
            <a:endParaRPr lang="en-US" sz="3400" dirty="0"/>
          </a:p>
        </p:txBody>
      </p:sp>
      <p:sp>
        <p:nvSpPr>
          <p:cNvPr id="13" name="statText-78"/>
          <p:cNvSpPr txBox="1"/>
          <p:nvPr/>
        </p:nvSpPr>
        <p:spPr>
          <a:xfrm>
            <a:off x="5120640" y="5440680"/>
            <a:ext cx="2103120" cy="777240"/>
          </a:xfrm>
          <a:prstGeom prst="rect">
            <a:avLst/>
          </a:prstGeom>
          <a:noFill/>
          <a:ln/>
        </p:spPr>
        <p:txBody>
          <a:bodyPr wrap="square" lIns="0" tIns="0" rIns="0" bIns="0" rtlCol="0" anchor="t"/>
          <a:lstStyle/>
          <a:p>
            <a:pPr indent="0" marL="0">
              <a:buNone/>
            </a:pPr>
            <a:r>
              <a:rPr lang="en-US" sz="1200" dirty="0">
                <a:solidFill>
                  <a:srgbClr val="5C667A"/>
                </a:solidFill>
              </a:rPr>
              <a:t>Change in the 3,642 output codes shared with v1.02</a:t>
            </a:r>
            <a:endParaRPr lang="en-US" sz="1200" dirty="0"/>
          </a:p>
        </p:txBody>
      </p:sp>
      <p:sp>
        <p:nvSpPr>
          <p:cNvPr id="14" name="nextCard-79"/>
          <p:cNvSpPr/>
          <p:nvPr/>
        </p:nvSpPr>
        <p:spPr>
          <a:xfrm>
            <a:off x="7589520" y="4617720"/>
            <a:ext cx="4023360" cy="1600200"/>
          </a:xfrm>
          <a:prstGeom prst="rect">
            <a:avLst/>
          </a:prstGeom>
          <a:solidFill>
            <a:srgbClr val="1E2761"/>
          </a:solidFill>
          <a:ln w="12700">
            <a:solidFill>
              <a:srgbClr val="1E2761"/>
            </a:solidFill>
            <a:prstDash val="solid"/>
          </a:ln>
        </p:spPr>
      </p:sp>
      <p:sp>
        <p:nvSpPr>
          <p:cNvPr id="15" name="nextText-80"/>
          <p:cNvSpPr txBox="1"/>
          <p:nvPr/>
        </p:nvSpPr>
        <p:spPr>
          <a:xfrm>
            <a:off x="7772400" y="4709160"/>
            <a:ext cx="3703320" cy="1417320"/>
          </a:xfrm>
          <a:prstGeom prst="rect">
            <a:avLst/>
          </a:prstGeom>
          <a:noFill/>
          <a:ln/>
        </p:spPr>
        <p:txBody>
          <a:bodyPr wrap="square" lIns="0" tIns="0" rIns="0" bIns="0" rtlCol="0" anchor="t"/>
          <a:lstStyle/>
          <a:p>
            <a:pPr indent="0" marL="0">
              <a:spcAft>
                <a:spcPts val="400"/>
              </a:spcAft>
              <a:buNone/>
            </a:pPr>
            <a:r>
              <a:rPr lang="en-US" sz="1100" b="1" spc="200" kern="0" dirty="0">
                <a:solidFill>
                  <a:srgbClr val="D4A24C"/>
                </a:solidFill>
              </a:rPr>
              <a:t>NEXT</a:t>
            </a:r>
            <a:endParaRPr lang="en-US" sz="1300" dirty="0"/>
          </a:p>
          <a:p>
            <a:pPr marL="342900" indent="-342900">
              <a:spcAft>
                <a:spcPts val="400"/>
              </a:spcAft>
              <a:buSzPct val="100000"/>
              <a:buChar char="•"/>
            </a:pPr>
            <a:r>
              <a:rPr lang="en-US" sz="1300" dirty="0">
                <a:solidFill>
                  <a:srgbClr val="FFFFFF"/>
                </a:solidFill>
              </a:rPr>
              <a:t>Run CheckBatchRun once in Excel (one-click test)</a:t>
            </a:r>
            <a:endParaRPr lang="en-US" sz="1300" dirty="0"/>
          </a:p>
          <a:p>
            <a:pPr marL="342900" indent="-342900">
              <a:spcAft>
                <a:spcPts val="400"/>
              </a:spcAft>
              <a:buSzPct val="100000"/>
              <a:buChar char="•"/>
            </a:pPr>
            <a:r>
              <a:rPr lang="en-US" sz="1300" dirty="0">
                <a:solidFill>
                  <a:srgbClr val="FFFFFF"/>
                </a:solidFill>
              </a:rPr>
              <a:t>Power sector, CH4 and N2O</a:t>
            </a:r>
            <a:endParaRPr lang="en-US" sz="1300" dirty="0"/>
          </a:p>
          <a:p>
            <a:pPr marL="342900" indent="-342900">
              <a:spcAft>
                <a:spcPts val="400"/>
              </a:spcAft>
              <a:buSzPct val="100000"/>
              <a:buChar char="•"/>
            </a:pPr>
            <a:r>
              <a:rPr lang="en-US" sz="1300" dirty="0">
                <a:solidFill>
                  <a:srgbClr val="FFFFFF"/>
                </a:solidFill>
              </a:rPr>
              <a:t>Partial adjustment of fuel use; review benchmarks</a:t>
            </a:r>
            <a:endParaRPr lang="en-US" sz="13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4</a:t>
            </a:fld>
            <a:endParaRPr lang="en-US"/>
          </a:p>
        </p:txBody>
      </p:sp>
    </p:spTree>
  </p:cSld>
  <p:clrMapOvr>
    <a:masterClrMapping/>
  </p:clrMapOvr>
</p:sld>
</file>

<file path=ppt/theme/theme1.xml><?xml version="1.0" encoding="utf-8"?>
<a:theme xmlns:a="http://schemas.openxmlformats.org/drawingml/2006/main" name="CPAT AI Mitigation">
  <a:themeElements>
    <a:clrScheme name="CPAT AI Mitigation">
      <a:dk1>
        <a:srgbClr val="1F1F2E"/>
      </a:dk1>
      <a:lt1>
        <a:srgbClr val="FFFFFF"/>
      </a:lt1>
      <a:dk2>
        <a:srgbClr val="1E2761"/>
      </a:dk2>
      <a:lt2>
        <a:srgbClr val="F4F6FB"/>
      </a:lt2>
      <a:accent1>
        <a:srgbClr val="1E2761"/>
      </a:accent1>
      <a:accent2>
        <a:srgbClr val="0F7B6C"/>
      </a:accent2>
      <a:accent3>
        <a:srgbClr val="E08A1E"/>
      </a:accent3>
      <a:accent4>
        <a:srgbClr val="D4A24C"/>
      </a:accent4>
      <a:accent5>
        <a:srgbClr val="5C667A"/>
      </a:accent5>
      <a:accent6>
        <a:srgbClr val="D5DAE3"/>
      </a:accent6>
      <a:hlink>
        <a:srgbClr val="0F7B6C"/>
      </a:hlink>
      <a:folHlink>
        <a:srgbClr val="5C667A"/>
      </a:folHlink>
    </a:clrScheme>
    <a:fontScheme name="CPAT AI Mitig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CPAT-AI-Mitigation-MVP v1.03: advanced features</dc:title>
  <dc:subject>PptxGenJS Presentation</dc:subject>
  <dc:creator>PptxGenJS</dc:creator>
  <cp:lastModifiedBy>PptxGenJS</cp:lastModifiedBy>
  <cp:revision>1</cp:revision>
  <dcterms:created xsi:type="dcterms:W3CDTF">2026-10-10T01:19:19Z</dcterms:created>
  <dcterms:modified xsi:type="dcterms:W3CDTF">2026-10-10T01:19:19Z</dcterms:modified>
</cp:coreProperties>
</file>