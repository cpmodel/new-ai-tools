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90d0998-e54f-1415-c4c2-a35805c2fba8}">
          <p14:sldIdLst>
            <p14:sldId id="256"/>
            <p14:sldId id="257"/>
            <p14:sldId id="258"/>
          </p14:sldIdLst>
        </p14:section>
        <p14:section name="Using the workbook" id="{bbec56c0-5d72-9272-8e24-863b4b43cc18}">
          <p14:sldIdLst>
            <p14:sldId id="259"/>
            <p14:sldId id="260"/>
            <p14:sldId id="261"/>
            <p14:sldId id="262"/>
          </p14:sldIdLst>
        </p14:section>
        <p14:section name="Model and results" id="{ab498601-2d7c-a3b1-eebf-76df02903cb1}">
          <p14:sldIdLst>
            <p14:sldId id="263"/>
            <p14:sldId id="264"/>
            <p14:sldId id="265"/>
          </p14:sldIdLst>
        </p14:section>
        <p14:section name="Next steps" id="{6cb19b81-70f5-46df-723e-a357a15ed81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CO2 from fuel combustion incl. power (MtCO2)</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224.854684204376</c:v>
                </c:pt>
                <c:pt idx="1">
                  <c:v>280.54533028971</c:v>
                </c:pt>
                <c:pt idx="2">
                  <c:v>297.215248939468</c:v>
                </c:pt>
                <c:pt idx="3">
                  <c:v>310.198219144961</c:v>
                </c:pt>
                <c:pt idx="4">
                  <c:v>306.802740753792</c:v>
                </c:pt>
                <c:pt idx="5">
                  <c:v>312.796044938084</c:v>
                </c:pt>
                <c:pt idx="6">
                  <c:v>318.009876402706</c:v>
                </c:pt>
                <c:pt idx="7">
                  <c:v>329.095127632506</c:v>
                </c:pt>
                <c:pt idx="8">
                  <c:v>336.845037519104</c:v>
                </c:pt>
                <c:pt idx="9">
                  <c:v>346.249420617282</c:v>
                </c:pt>
                <c:pt idx="10">
                  <c:v>354.689317115908</c:v>
                </c:pt>
                <c:pt idx="11">
                  <c:v>363.928073450641</c:v>
                </c:pt>
                <c:pt idx="12">
                  <c:v>372.991241993872</c:v>
                </c:pt>
                <c:pt idx="13">
                  <c:v>382.454844590863</c:v>
                </c:pt>
                <c:pt idx="14">
                  <c:v>391.96955892039</c:v>
                </c:pt>
                <c:pt idx="15">
                  <c:v>401.732225022439</c:v>
                </c:pt>
                <c:pt idx="16">
                  <c:v>411.614208767619</c:v>
                </c:pt>
                <c:pt idx="17">
                  <c:v>421.676126854035</c:v>
                </c:pt>
                <c:pt idx="18">
                  <c:v>431.822789661896</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224.854684204376</c:v>
                </c:pt>
                <c:pt idx="1">
                  <c:v>280.413086614831</c:v>
                </c:pt>
                <c:pt idx="2">
                  <c:v>297.086656755463</c:v>
                </c:pt>
                <c:pt idx="3">
                  <c:v>310.07309358575</c:v>
                </c:pt>
                <c:pt idx="4">
                  <c:v>306.681968538979</c:v>
                </c:pt>
                <c:pt idx="5">
                  <c:v>284.131447219024</c:v>
                </c:pt>
                <c:pt idx="6">
                  <c:v>278.86377681527</c:v>
                </c:pt>
                <c:pt idx="7">
                  <c:v>290.859848298119</c:v>
                </c:pt>
                <c:pt idx="8">
                  <c:v>297.021275911535</c:v>
                </c:pt>
                <c:pt idx="9">
                  <c:v>305.876028398142</c:v>
                </c:pt>
                <c:pt idx="10">
                  <c:v>312.306226126185</c:v>
                </c:pt>
                <c:pt idx="11">
                  <c:v>319.93119647448</c:v>
                </c:pt>
                <c:pt idx="12">
                  <c:v>326.895400697218</c:v>
                </c:pt>
                <c:pt idx="13">
                  <c:v>334.525489457058</c:v>
                </c:pt>
                <c:pt idx="14">
                  <c:v>342.024829699039</c:v>
                </c:pt>
                <c:pt idx="15">
                  <c:v>349.884161968347</c:v>
                </c:pt>
                <c:pt idx="16">
                  <c:v>357.777005744963</c:v>
                </c:pt>
                <c:pt idx="17">
                  <c:v>365.888557348838</c:v>
                </c:pt>
                <c:pt idx="18">
                  <c:v>374.05145680377</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224.854684204376</c:v>
                </c:pt>
                <c:pt idx="1">
                  <c:v>280.115759679291</c:v>
                </c:pt>
                <c:pt idx="2">
                  <c:v>296.797287571961</c:v>
                </c:pt>
                <c:pt idx="3">
                  <c:v>309.791255688282</c:v>
                </c:pt>
                <c:pt idx="4">
                  <c:v>306.410229372996</c:v>
                </c:pt>
                <c:pt idx="5">
                  <c:v>293.01394068377</c:v>
                </c:pt>
                <c:pt idx="6">
                  <c:v>272.399119248091</c:v>
                </c:pt>
                <c:pt idx="7">
                  <c:v>263.244828600972</c:v>
                </c:pt>
                <c:pt idx="8">
                  <c:v>251.846674684647</c:v>
                </c:pt>
                <c:pt idx="9">
                  <c:v>245.215919831367</c:v>
                </c:pt>
                <c:pt idx="10">
                  <c:v>237.655896939176</c:v>
                </c:pt>
                <c:pt idx="11">
                  <c:v>232.517110038753</c:v>
                </c:pt>
                <c:pt idx="12">
                  <c:v>227.091275589599</c:v>
                </c:pt>
                <c:pt idx="13">
                  <c:v>223.031151708495</c:v>
                </c:pt>
                <c:pt idx="14">
                  <c:v>218.913282802275</c:v>
                </c:pt>
                <c:pt idx="15">
                  <c:v>215.636906316946</c:v>
                </c:pt>
                <c:pt idx="16">
                  <c:v>212.377287953879</c:v>
                </c:pt>
                <c:pt idx="17">
                  <c:v>209.678505659969</c:v>
                </c:pt>
                <c:pt idx="18">
                  <c:v>207.005083399787</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224.854684204376</c:v>
                </c:pt>
                <c:pt idx="1">
                  <c:v>280.049884492854</c:v>
                </c:pt>
                <c:pt idx="2">
                  <c:v>296.734268309823</c:v>
                </c:pt>
                <c:pt idx="3">
                  <c:v>309.731056201341</c:v>
                </c:pt>
                <c:pt idx="4">
                  <c:v>306.348968471819</c:v>
                </c:pt>
                <c:pt idx="5">
                  <c:v>276.376043757206</c:v>
                </c:pt>
                <c:pt idx="6">
                  <c:v>278.177663945838</c:v>
                </c:pt>
                <c:pt idx="7">
                  <c:v>285.073422808674</c:v>
                </c:pt>
                <c:pt idx="8">
                  <c:v>289.140152680773</c:v>
                </c:pt>
                <c:pt idx="9">
                  <c:v>294.389203448512</c:v>
                </c:pt>
                <c:pt idx="10">
                  <c:v>298.897622538591</c:v>
                </c:pt>
                <c:pt idx="11">
                  <c:v>303.906528693573</c:v>
                </c:pt>
                <c:pt idx="12">
                  <c:v>308.35320854163</c:v>
                </c:pt>
                <c:pt idx="13">
                  <c:v>313.160537642634</c:v>
                </c:pt>
                <c:pt idx="14">
                  <c:v>317.704855169956</c:v>
                </c:pt>
                <c:pt idx="15">
                  <c:v>322.924098409833</c:v>
                </c:pt>
                <c:pt idx="16">
                  <c:v>327.502975938256</c:v>
                </c:pt>
                <c:pt idx="17">
                  <c:v>332.707603409805</c:v>
                </c:pt>
                <c:pt idx="18">
                  <c:v>337.675403618201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Package B: covered CO2 and cap (MtCO2)</a:t>
            </a:r>
          </a:p>
        </c:rich>
      </c:tx>
      <c:layout/>
      <c:overlay val="0"/>
    </c:title>
    <c:autoTitleDeleted val="0"/>
    <c:plotArea>
      <c:layout/>
      <c:lineChart>
        <c:varyColors val="0"/>
        <c:ser>
          <c:idx val="0"/>
          <c:order val="0"/>
          <c:tx>
            <c:strRef>
              <c:f>Sheet1!$B$1</c:f>
              <c:strCache>
                <c:ptCount val="1"/>
                <c:pt idx="0">
                  <c:v>Covered CO2</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c:v>
                </c:pt>
                <c:pt idx="1">
                  <c:v>0</c:v>
                </c:pt>
                <c:pt idx="2">
                  <c:v>0</c:v>
                </c:pt>
                <c:pt idx="3">
                  <c:v>0</c:v>
                </c:pt>
                <c:pt idx="4">
                  <c:v>0</c:v>
                </c:pt>
                <c:pt idx="5">
                  <c:v>124.417808494828</c:v>
                </c:pt>
                <c:pt idx="6">
                  <c:v>121.432328299322</c:v>
                </c:pt>
                <c:pt idx="7">
                  <c:v>123.691803560311</c:v>
                </c:pt>
                <c:pt idx="8">
                  <c:v>123.378585045844</c:v>
                </c:pt>
                <c:pt idx="9">
                  <c:v>124.174914368099</c:v>
                </c:pt>
                <c:pt idx="10">
                  <c:v>124.158700413305</c:v>
                </c:pt>
                <c:pt idx="11">
                  <c:v>124.572001386729</c:v>
                </c:pt>
                <c:pt idx="12">
                  <c:v>124.353171209361</c:v>
                </c:pt>
                <c:pt idx="13">
                  <c:v>124.42626722333</c:v>
                </c:pt>
                <c:pt idx="14">
                  <c:v>124.168927195291</c:v>
                </c:pt>
                <c:pt idx="15">
                  <c:v>124.520505990408</c:v>
                </c:pt>
                <c:pt idx="16">
                  <c:v>124.167250765364</c:v>
                </c:pt>
                <c:pt idx="17">
                  <c:v>124.376938603359</c:v>
                </c:pt>
                <c:pt idx="18">
                  <c:v>124.28877823937</c:v>
                </c:pt>
              </c:numCache>
            </c:numRef>
          </c:val>
          <c:smooth val="0"/>
        </c:ser>
        <c:ser>
          <c:idx val="1"/>
          <c:order val="1"/>
          <c:tx>
            <c:strRef>
              <c:f>Sheet1!$C$1</c:f>
              <c:strCache>
                <c:ptCount val="1"/>
                <c:pt idx="0">
                  <c:v>Cap</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c:v>
                </c:pt>
                <c:pt idx="1">
                  <c:v>0</c:v>
                </c:pt>
                <c:pt idx="2">
                  <c:v>0</c:v>
                </c:pt>
                <c:pt idx="3">
                  <c:v>0</c:v>
                </c:pt>
                <c:pt idx="4">
                  <c:v>0</c:v>
                </c:pt>
                <c:pt idx="5">
                  <c:v>123.812414696804</c:v>
                </c:pt>
                <c:pt idx="6">
                  <c:v>120.880958606231</c:v>
                </c:pt>
                <c:pt idx="7">
                  <c:v>123.490601217621</c:v>
                </c:pt>
                <c:pt idx="8">
                  <c:v>123.185216953768</c:v>
                </c:pt>
                <c:pt idx="9">
                  <c:v>124.156986064172</c:v>
                </c:pt>
                <c:pt idx="10">
                  <c:v>124.076159827468</c:v>
                </c:pt>
                <c:pt idx="11">
                  <c:v>124.479593082908</c:v>
                </c:pt>
                <c:pt idx="12">
                  <c:v>124.530365852828</c:v>
                </c:pt>
                <c:pt idx="13">
                  <c:v>124.705033639441</c:v>
                </c:pt>
                <c:pt idx="14">
                  <c:v>124.705033639441</c:v>
                </c:pt>
                <c:pt idx="15">
                  <c:v>124.705033639441</c:v>
                </c:pt>
                <c:pt idx="16">
                  <c:v>124.705033639441</c:v>
                </c:pt>
                <c:pt idx="17">
                  <c:v>124.705033639441</c:v>
                </c:pt>
                <c:pt idx="18">
                  <c:v>124.705033639441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Variable renewable share of generation</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0.0523422150659333</c:v>
                </c:pt>
                <c:pt idx="1">
                  <c:v>0.0493054976328918</c:v>
                </c:pt>
                <c:pt idx="2">
                  <c:v>0.0759321127146706</c:v>
                </c:pt>
                <c:pt idx="3">
                  <c:v>0.0958882617659539</c:v>
                </c:pt>
                <c:pt idx="4">
                  <c:v>0.127043056753353</c:v>
                </c:pt>
                <c:pt idx="5">
                  <c:v>0.133465977520873</c:v>
                </c:pt>
                <c:pt idx="6">
                  <c:v>0.143663270872561</c:v>
                </c:pt>
                <c:pt idx="7">
                  <c:v>0.144345674313997</c:v>
                </c:pt>
                <c:pt idx="8">
                  <c:v>0.159538476795822</c:v>
                </c:pt>
                <c:pt idx="9">
                  <c:v>0.171048746894119</c:v>
                </c:pt>
                <c:pt idx="10">
                  <c:v>0.185146727454637</c:v>
                </c:pt>
                <c:pt idx="11">
                  <c:v>0.196389664824516</c:v>
                </c:pt>
                <c:pt idx="12">
                  <c:v>0.207808561248974</c:v>
                </c:pt>
                <c:pt idx="13">
                  <c:v>0.217886136797275</c:v>
                </c:pt>
                <c:pt idx="14">
                  <c:v>0.227720303445128</c:v>
                </c:pt>
                <c:pt idx="15">
                  <c:v>0.236820714657752</c:v>
                </c:pt>
                <c:pt idx="16">
                  <c:v>0.245605456123645</c:v>
                </c:pt>
                <c:pt idx="17">
                  <c:v>0.253941106631359</c:v>
                </c:pt>
                <c:pt idx="18">
                  <c:v>0.262229481461142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0.0523422150659333</c:v>
                </c:pt>
                <c:pt idx="1">
                  <c:v>0.0502118108101954</c:v>
                </c:pt>
                <c:pt idx="2">
                  <c:v>0.0767594829899312</c:v>
                </c:pt>
                <c:pt idx="3">
                  <c:v>0.0965961345283498</c:v>
                </c:pt>
                <c:pt idx="4">
                  <c:v>0.127723129960774</c:v>
                </c:pt>
                <c:pt idx="5">
                  <c:v>0.136455911182876</c:v>
                </c:pt>
                <c:pt idx="6">
                  <c:v>0.159965405428861</c:v>
                </c:pt>
                <c:pt idx="7">
                  <c:v>0.147181284073275</c:v>
                </c:pt>
                <c:pt idx="8">
                  <c:v>0.156302917069912</c:v>
                </c:pt>
                <c:pt idx="9">
                  <c:v>0.166319459011868</c:v>
                </c:pt>
                <c:pt idx="10">
                  <c:v>0.185787947528212</c:v>
                </c:pt>
                <c:pt idx="11">
                  <c:v>0.200808309856148</c:v>
                </c:pt>
                <c:pt idx="12">
                  <c:v>0.216923657652969</c:v>
                </c:pt>
                <c:pt idx="13">
                  <c:v>0.230140992033703</c:v>
                </c:pt>
                <c:pt idx="14">
                  <c:v>0.243234750436369</c:v>
                </c:pt>
                <c:pt idx="15">
                  <c:v>0.254864644786172</c:v>
                </c:pt>
                <c:pt idx="16">
                  <c:v>0.266131417787999</c:v>
                </c:pt>
                <c:pt idx="17">
                  <c:v>0.276555803101257</c:v>
                </c:pt>
                <c:pt idx="18">
                  <c:v>0.286788474854264</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0.0523422150659333</c:v>
                </c:pt>
                <c:pt idx="1">
                  <c:v>0.0521683609351516</c:v>
                </c:pt>
                <c:pt idx="2">
                  <c:v>0.0785450253287226</c:v>
                </c:pt>
                <c:pt idx="3">
                  <c:v>0.0981233841187293</c:v>
                </c:pt>
                <c:pt idx="4">
                  <c:v>0.129189435768139</c:v>
                </c:pt>
                <c:pt idx="5">
                  <c:v>0.142040030929997</c:v>
                </c:pt>
                <c:pt idx="6">
                  <c:v>0.165650960418965</c:v>
                </c:pt>
                <c:pt idx="7">
                  <c:v>0.159518357600831</c:v>
                </c:pt>
                <c:pt idx="8">
                  <c:v>0.172706039190601</c:v>
                </c:pt>
                <c:pt idx="9">
                  <c:v>0.177173802642555</c:v>
                </c:pt>
                <c:pt idx="10">
                  <c:v>0.192084990760676</c:v>
                </c:pt>
                <c:pt idx="11">
                  <c:v>0.202659698383934</c:v>
                </c:pt>
                <c:pt idx="12">
                  <c:v>0.218297857598727</c:v>
                </c:pt>
                <c:pt idx="13">
                  <c:v>0.231716349175579</c:v>
                </c:pt>
                <c:pt idx="14">
                  <c:v>0.247845825278738</c:v>
                </c:pt>
                <c:pt idx="15">
                  <c:v>0.262693429707829</c:v>
                </c:pt>
                <c:pt idx="16">
                  <c:v>0.27905929455651</c:v>
                </c:pt>
                <c:pt idx="17">
                  <c:v>0.294532217588045</c:v>
                </c:pt>
                <c:pt idx="18">
                  <c:v>0.310972045275143</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0.0523422150659333</c:v>
                </c:pt>
                <c:pt idx="1">
                  <c:v>0.0528821675574647</c:v>
                </c:pt>
                <c:pt idx="2">
                  <c:v>0.0791993878708502</c:v>
                </c:pt>
                <c:pt idx="3">
                  <c:v>0.0986851666992323</c:v>
                </c:pt>
                <c:pt idx="4">
                  <c:v>0.129734996138023</c:v>
                </c:pt>
                <c:pt idx="5">
                  <c:v>0.145426664573973</c:v>
                </c:pt>
                <c:pt idx="6">
                  <c:v>0.167502812849844</c:v>
                </c:pt>
                <c:pt idx="7">
                  <c:v>0.177512461259647</c:v>
                </c:pt>
                <c:pt idx="8">
                  <c:v>0.198633816970058</c:v>
                </c:pt>
                <c:pt idx="9">
                  <c:v>0.217292122156214</c:v>
                </c:pt>
                <c:pt idx="10">
                  <c:v>0.237134206738988</c:v>
                </c:pt>
                <c:pt idx="11">
                  <c:v>0.254930330957924</c:v>
                </c:pt>
                <c:pt idx="12">
                  <c:v>0.275442803320502</c:v>
                </c:pt>
                <c:pt idx="13">
                  <c:v>0.293969546453018</c:v>
                </c:pt>
                <c:pt idx="14">
                  <c:v>0.312419522671852</c:v>
                </c:pt>
                <c:pt idx="15">
                  <c:v>0.328259842878254</c:v>
                </c:pt>
                <c:pt idx="16">
                  <c:v>0.344642939920568</c:v>
                </c:pt>
                <c:pt idx="17">
                  <c:v>0.359185379177635</c:v>
                </c:pt>
                <c:pt idx="18">
                  <c:v>0.373782062813926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workbook for the CPAT mitigation chain: policies, prices, power, fuel use, revenues and CO2. Generated and checked by AI; every value is recomputed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numbers follow legacy CPAT. Power demand has its own elasticities; sector policies act on fuels only (electricity appears as memo lines in the sector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copy-pasteable formulas, fast scenarios, and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5 holds the scenario number; every input row looks up its value in that MTInputs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B:G and I:K are grouped and rolled up on open: click + above the columns to show them. The italic memo line under each sector heading is its electricity demand from the power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text of the road gasoline rows, 2040 column: the same formula as every other year. Lookups use defined names for the data tables (e.g. WEOVal, PDomVal).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copies each definition into the live column, recalculates, runs the ETS goal seek where needed, and stores the results as values. CheckBatchRun tests the macros on first use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scenario results (StoredResults). Baseline = no carbon price; Package A = carbon tax to $50 + feebates; Package B = ETS on power and industry + carbon tax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responds to last year's price; dispatch fills demand from capacity; investment follows a logit on levelised cost within scale-up limits. A carbon price raises the VRE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report check_report_v1.08.md: Overall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CPAT-AI-Mitigation-MVP-v1.08.xlsm, CPAT-AI-Mitigation-MVP_Documentation_v1.08.docx, PowerModel_BugsAndImprovements_v1_0.docx (working_version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v1.08  ·  overview and user guide  ·  screenshots and charts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OVERVIEW + USER GUIDE</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a:t>
            </a:r>
            <a:endParaRPr lang="en-US" sz="4000" dirty="0"/>
          </a:p>
        </p:txBody>
      </p:sp>
      <p:sp>
        <p:nvSpPr>
          <p:cNvPr id="4" name="subtitle-2"/>
          <p:cNvSpPr txBox="1"/>
          <p:nvPr/>
        </p:nvSpPr>
        <p:spPr>
          <a:xfrm>
            <a:off x="548640" y="2971800"/>
            <a:ext cx="5394960" cy="1097280"/>
          </a:xfrm>
          <a:prstGeom prst="rect">
            <a:avLst/>
          </a:prstGeom>
          <a:noFill/>
          <a:ln/>
        </p:spPr>
        <p:txBody>
          <a:bodyPr wrap="square" lIns="0" tIns="0" rIns="0" bIns="0" rtlCol="0" anchor="t"/>
          <a:lstStyle/>
          <a:p>
            <a:pPr indent="0" marL="0">
              <a:buNone/>
            </a:pPr>
            <a:r>
              <a:rPr lang="en-US" sz="1800" dirty="0">
                <a:solidFill>
                  <a:srgbClr val="CADCFC"/>
                </a:solidFill>
              </a:rPr>
              <a:t>The CPAT mitigation module as a short, readable Excel workbook, generated and checked by AI.</a:t>
            </a:r>
            <a:endParaRPr lang="en-US" sz="1800" dirty="0"/>
          </a:p>
        </p:txBody>
      </p:sp>
      <p:sp>
        <p:nvSpPr>
          <p:cNvPr id="5" name="chip-3"/>
          <p:cNvSpPr/>
          <p:nvPr/>
        </p:nvSpPr>
        <p:spPr>
          <a:xfrm>
            <a:off x="548640" y="4343400"/>
            <a:ext cx="173736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343400"/>
            <a:ext cx="1737360" cy="411480"/>
          </a:xfrm>
          <a:prstGeom prst="rect">
            <a:avLst/>
          </a:prstGeom>
          <a:noFill/>
          <a:ln/>
        </p:spPr>
        <p:txBody>
          <a:bodyPr wrap="square" lIns="0" tIns="0" rIns="0" bIns="0" rtlCol="0" anchor="ctr"/>
          <a:lstStyle/>
          <a:p>
            <a:pPr algn="ctr" indent="0" marL="0">
              <a:buNone/>
            </a:pPr>
            <a:r>
              <a:rPr lang="en-US" sz="1300" dirty="0">
                <a:solidFill>
                  <a:srgbClr val="FFFFFF"/>
                </a:solidFill>
              </a:rPr>
              <a:t>Plain formulas</a:t>
            </a:r>
            <a:endParaRPr lang="en-US" sz="1300" dirty="0"/>
          </a:p>
        </p:txBody>
      </p:sp>
      <p:sp>
        <p:nvSpPr>
          <p:cNvPr id="7" name="chip-5"/>
          <p:cNvSpPr/>
          <p:nvPr/>
        </p:nvSpPr>
        <p:spPr>
          <a:xfrm>
            <a:off x="2423160" y="4343400"/>
            <a:ext cx="233172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23160" y="4343400"/>
            <a:ext cx="2331720" cy="411480"/>
          </a:xfrm>
          <a:prstGeom prst="rect">
            <a:avLst/>
          </a:prstGeom>
          <a:noFill/>
          <a:ln/>
        </p:spPr>
        <p:txBody>
          <a:bodyPr wrap="square" lIns="0" tIns="0" rIns="0" bIns="0" rtlCol="0" anchor="ctr"/>
          <a:lstStyle/>
          <a:p>
            <a:pPr algn="ctr" indent="0" marL="0">
              <a:buNone/>
            </a:pPr>
            <a:r>
              <a:rPr lang="en-US" sz="1300" dirty="0">
                <a:solidFill>
                  <a:srgbClr val="FFFFFF"/>
                </a:solidFill>
              </a:rPr>
              <a:t>Scenarios side by side</a:t>
            </a:r>
            <a:endParaRPr lang="en-US" sz="1300" dirty="0"/>
          </a:p>
        </p:txBody>
      </p:sp>
      <p:sp>
        <p:nvSpPr>
          <p:cNvPr id="9" name="chip-7"/>
          <p:cNvSpPr/>
          <p:nvPr/>
        </p:nvSpPr>
        <p:spPr>
          <a:xfrm>
            <a:off x="4892040" y="4343400"/>
            <a:ext cx="196596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892040" y="4343400"/>
            <a:ext cx="1965960" cy="411480"/>
          </a:xfrm>
          <a:prstGeom prst="rect">
            <a:avLst/>
          </a:prstGeom>
          <a:noFill/>
          <a:ln/>
        </p:spPr>
        <p:txBody>
          <a:bodyPr wrap="square" lIns="0" tIns="0" rIns="0" bIns="0" rtlCol="0" anchor="ctr"/>
          <a:lstStyle/>
          <a:p>
            <a:pPr algn="ctr" indent="0" marL="0">
              <a:buNone/>
            </a:pPr>
            <a:r>
              <a:rPr lang="en-US" sz="1300" dirty="0">
                <a:solidFill>
                  <a:srgbClr val="FFFFFF"/>
                </a:solidFill>
              </a:rPr>
              <a:t>Checked by Python</a:t>
            </a:r>
            <a:endParaRPr lang="en-US" sz="1300" dirty="0"/>
          </a:p>
        </p:txBody>
      </p:sp>
      <p:sp>
        <p:nvSpPr>
          <p:cNvPr id="11" name="footnote-9"/>
          <p:cNvSpPr txBox="1"/>
          <p:nvPr/>
        </p:nvSpPr>
        <p:spPr>
          <a:xfrm>
            <a:off x="548640" y="6217920"/>
            <a:ext cx="5943600" cy="274320"/>
          </a:xfrm>
          <a:prstGeom prst="rect">
            <a:avLst/>
          </a:prstGeom>
          <a:noFill/>
          <a:ln/>
        </p:spPr>
        <p:txBody>
          <a:bodyPr wrap="square" lIns="0" tIns="0" rIns="0" bIns="0" rtlCol="0" anchor="ctr"/>
          <a:lstStyle/>
          <a:p>
            <a:pPr indent="0" marL="0">
              <a:buNone/>
            </a:pPr>
            <a:r>
              <a:rPr lang="en-US" sz="1000" dirty="0">
                <a:solidFill>
                  <a:srgbClr val="CADCFC"/>
                </a:solidFill>
              </a:rPr>
              <a:t>Version 1.08, October 2026  ·  Egypt data  ·  prototype for discussion</a:t>
            </a:r>
            <a:endParaRPr lang="en-US" sz="1000" dirty="0"/>
          </a:p>
        </p:txBody>
      </p:sp>
      <p:sp>
        <p:nvSpPr>
          <p:cNvPr id="12" name="frame-10"/>
          <p:cNvSpPr/>
          <p:nvPr/>
        </p:nvSpPr>
        <p:spPr>
          <a:xfrm>
            <a:off x="7168896" y="1042416"/>
            <a:ext cx="4498848" cy="3363060"/>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3" name="screenshot-11" descr="/home/user/CPAT-AI-Local/cpat_excel_new/mitigation_copypaste/presentation/img/v2_01_overview.png">    </p:cNvPr>
          <p:cNvPicPr>
            <a:picLocks noChangeAspect="1"/>
          </p:cNvPicPr>
          <p:nvPr/>
        </p:nvPicPr>
        <p:blipFill>
          <a:blip r:embed="rId1"/>
          <a:stretch>
            <a:fillRect/>
          </a:stretch>
        </p:blipFill>
        <p:spPr>
          <a:xfrm>
            <a:off x="7223760" y="1097280"/>
            <a:ext cx="4389120" cy="3253332"/>
          </a:xfrm>
          <a:prstGeom prst="rect">
            <a:avLst/>
          </a:prstGeom>
        </p:spPr>
      </p:pic>
      <p:sp>
        <p:nvSpPr>
          <p:cNvPr id="14" name="caption-12"/>
          <p:cNvSpPr txBox="1"/>
          <p:nvPr/>
        </p:nvSpPr>
        <p:spPr>
          <a:xfrm>
            <a:off x="7223760" y="4487772"/>
            <a:ext cx="4389120" cy="274320"/>
          </a:xfrm>
          <a:prstGeom prst="rect">
            <a:avLst/>
          </a:prstGeom>
          <a:noFill/>
          <a:ln/>
        </p:spPr>
        <p:txBody>
          <a:bodyPr wrap="square" lIns="0" tIns="0" rIns="0" bIns="0" rtlCol="0" anchor="ctr"/>
          <a:lstStyle/>
          <a:p>
            <a:pPr indent="0" marL="0">
              <a:buNone/>
            </a:pPr>
            <a:r>
              <a:rPr lang="en-US" sz="1100" i="1" dirty="0">
                <a:solidFill>
                  <a:srgbClr val="CADCFC"/>
                </a:solidFill>
              </a:rPr>
              <a:t>The Mitigation tab as it opens: everything rolled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IT IS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 follows the CPAT mitigation chain</a:t>
            </a:r>
            <a:endParaRPr lang="en-US" sz="3000" dirty="0"/>
          </a:p>
        </p:txBody>
      </p:sp>
      <p:sp>
        <p:nvSpPr>
          <p:cNvPr id="4" name="flow-13"/>
          <p:cNvSpPr/>
          <p:nvPr/>
        </p:nvSpPr>
        <p:spPr>
          <a:xfrm>
            <a:off x="548640" y="1508760"/>
            <a:ext cx="1539240" cy="566928"/>
          </a:xfrm>
          <a:prstGeom prst="roundRect">
            <a:avLst>
              <a:gd name="adj" fmla="val 16129"/>
            </a:avLst>
          </a:prstGeom>
          <a:solidFill>
            <a:srgbClr val="1E2761"/>
          </a:solidFill>
          <a:ln w="12700">
            <a:solidFill>
              <a:srgbClr val="1E2761"/>
            </a:solidFill>
            <a:prstDash val="solid"/>
          </a:ln>
        </p:spPr>
      </p:sp>
      <p:sp>
        <p:nvSpPr>
          <p:cNvPr id="5" name="flowText-14"/>
          <p:cNvSpPr txBox="1"/>
          <p:nvPr/>
        </p:nvSpPr>
        <p:spPr>
          <a:xfrm>
            <a:off x="54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 Policies</a:t>
            </a:r>
            <a:endParaRPr lang="en-US" sz="1400" dirty="0"/>
          </a:p>
        </p:txBody>
      </p:sp>
      <p:sp>
        <p:nvSpPr>
          <p:cNvPr id="6" name="flowArrow-15"/>
          <p:cNvSpPr/>
          <p:nvPr/>
        </p:nvSpPr>
        <p:spPr>
          <a:xfrm>
            <a:off x="2151888" y="1664208"/>
            <a:ext cx="237744" cy="256032"/>
          </a:xfrm>
          <a:prstGeom prst="rightArrow">
            <a:avLst/>
          </a:prstGeom>
          <a:solidFill>
            <a:srgbClr val="D4A24C"/>
          </a:solidFill>
          <a:ln w="12700">
            <a:solidFill>
              <a:srgbClr val="D4A24C"/>
            </a:solidFill>
            <a:prstDash val="solid"/>
          </a:ln>
        </p:spPr>
      </p:sp>
      <p:sp>
        <p:nvSpPr>
          <p:cNvPr id="7" name="flow-16"/>
          <p:cNvSpPr/>
          <p:nvPr/>
        </p:nvSpPr>
        <p:spPr>
          <a:xfrm>
            <a:off x="2453640" y="1508760"/>
            <a:ext cx="1539240" cy="566928"/>
          </a:xfrm>
          <a:prstGeom prst="roundRect">
            <a:avLst>
              <a:gd name="adj" fmla="val 16129"/>
            </a:avLst>
          </a:prstGeom>
          <a:solidFill>
            <a:srgbClr val="1E2761"/>
          </a:solidFill>
          <a:ln w="12700">
            <a:solidFill>
              <a:srgbClr val="1E2761"/>
            </a:solidFill>
            <a:prstDash val="solid"/>
          </a:ln>
        </p:spPr>
      </p:sp>
      <p:sp>
        <p:nvSpPr>
          <p:cNvPr id="8" name="flowText-17"/>
          <p:cNvSpPr txBox="1"/>
          <p:nvPr/>
        </p:nvSpPr>
        <p:spPr>
          <a:xfrm>
            <a:off x="245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2. Prices</a:t>
            </a:r>
            <a:endParaRPr lang="en-US" sz="1400" dirty="0"/>
          </a:p>
        </p:txBody>
      </p:sp>
      <p:sp>
        <p:nvSpPr>
          <p:cNvPr id="9" name="flowArrow-18"/>
          <p:cNvSpPr/>
          <p:nvPr/>
        </p:nvSpPr>
        <p:spPr>
          <a:xfrm>
            <a:off x="4056888" y="1664208"/>
            <a:ext cx="237744" cy="256032"/>
          </a:xfrm>
          <a:prstGeom prst="rightArrow">
            <a:avLst/>
          </a:prstGeom>
          <a:solidFill>
            <a:srgbClr val="D4A24C"/>
          </a:solidFill>
          <a:ln w="12700">
            <a:solidFill>
              <a:srgbClr val="D4A24C"/>
            </a:solidFill>
            <a:prstDash val="solid"/>
          </a:ln>
        </p:spPr>
      </p:sp>
      <p:sp>
        <p:nvSpPr>
          <p:cNvPr id="10" name="flow-19"/>
          <p:cNvSpPr/>
          <p:nvPr/>
        </p:nvSpPr>
        <p:spPr>
          <a:xfrm>
            <a:off x="4358640" y="1508760"/>
            <a:ext cx="1539240" cy="566928"/>
          </a:xfrm>
          <a:prstGeom prst="roundRect">
            <a:avLst>
              <a:gd name="adj" fmla="val 16129"/>
            </a:avLst>
          </a:prstGeom>
          <a:solidFill>
            <a:srgbClr val="1E2761"/>
          </a:solidFill>
          <a:ln w="12700">
            <a:solidFill>
              <a:srgbClr val="1E2761"/>
            </a:solidFill>
            <a:prstDash val="solid"/>
          </a:ln>
        </p:spPr>
      </p:sp>
      <p:sp>
        <p:nvSpPr>
          <p:cNvPr id="11" name="flowText-20"/>
          <p:cNvSpPr txBox="1"/>
          <p:nvPr/>
        </p:nvSpPr>
        <p:spPr>
          <a:xfrm>
            <a:off x="435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3. Power</a:t>
            </a:r>
            <a:endParaRPr lang="en-US" sz="1400" dirty="0"/>
          </a:p>
        </p:txBody>
      </p:sp>
      <p:sp>
        <p:nvSpPr>
          <p:cNvPr id="12" name="flowArrow-21"/>
          <p:cNvSpPr/>
          <p:nvPr/>
        </p:nvSpPr>
        <p:spPr>
          <a:xfrm>
            <a:off x="5961888" y="1664208"/>
            <a:ext cx="237744" cy="256032"/>
          </a:xfrm>
          <a:prstGeom prst="rightArrow">
            <a:avLst/>
          </a:prstGeom>
          <a:solidFill>
            <a:srgbClr val="D4A24C"/>
          </a:solidFill>
          <a:ln w="12700">
            <a:solidFill>
              <a:srgbClr val="D4A24C"/>
            </a:solidFill>
            <a:prstDash val="solid"/>
          </a:ln>
        </p:spPr>
      </p:sp>
      <p:sp>
        <p:nvSpPr>
          <p:cNvPr id="13" name="flow-22"/>
          <p:cNvSpPr/>
          <p:nvPr/>
        </p:nvSpPr>
        <p:spPr>
          <a:xfrm>
            <a:off x="6263640" y="1508760"/>
            <a:ext cx="1539240" cy="566928"/>
          </a:xfrm>
          <a:prstGeom prst="roundRect">
            <a:avLst>
              <a:gd name="adj" fmla="val 16129"/>
            </a:avLst>
          </a:prstGeom>
          <a:solidFill>
            <a:srgbClr val="1E2761"/>
          </a:solidFill>
          <a:ln w="12700">
            <a:solidFill>
              <a:srgbClr val="1E2761"/>
            </a:solidFill>
            <a:prstDash val="solid"/>
          </a:ln>
        </p:spPr>
      </p:sp>
      <p:sp>
        <p:nvSpPr>
          <p:cNvPr id="14" name="flowText-23"/>
          <p:cNvSpPr txBox="1"/>
          <p:nvPr/>
        </p:nvSpPr>
        <p:spPr>
          <a:xfrm>
            <a:off x="626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5-8. Fuel use</a:t>
            </a:r>
            <a:endParaRPr lang="en-US" sz="1400" dirty="0"/>
          </a:p>
        </p:txBody>
      </p:sp>
      <p:sp>
        <p:nvSpPr>
          <p:cNvPr id="15" name="flowArrow-24"/>
          <p:cNvSpPr/>
          <p:nvPr/>
        </p:nvSpPr>
        <p:spPr>
          <a:xfrm>
            <a:off x="7866888" y="1664208"/>
            <a:ext cx="237744" cy="256032"/>
          </a:xfrm>
          <a:prstGeom prst="rightArrow">
            <a:avLst/>
          </a:prstGeom>
          <a:solidFill>
            <a:srgbClr val="D4A24C"/>
          </a:solidFill>
          <a:ln w="12700">
            <a:solidFill>
              <a:srgbClr val="D4A24C"/>
            </a:solidFill>
            <a:prstDash val="solid"/>
          </a:ln>
        </p:spPr>
      </p:sp>
      <p:sp>
        <p:nvSpPr>
          <p:cNvPr id="16" name="flow-25"/>
          <p:cNvSpPr/>
          <p:nvPr/>
        </p:nvSpPr>
        <p:spPr>
          <a:xfrm>
            <a:off x="8168640" y="1508760"/>
            <a:ext cx="1539240" cy="566928"/>
          </a:xfrm>
          <a:prstGeom prst="roundRect">
            <a:avLst>
              <a:gd name="adj" fmla="val 16129"/>
            </a:avLst>
          </a:prstGeom>
          <a:solidFill>
            <a:srgbClr val="1E2761"/>
          </a:solidFill>
          <a:ln w="12700">
            <a:solidFill>
              <a:srgbClr val="1E2761"/>
            </a:solidFill>
            <a:prstDash val="solid"/>
          </a:ln>
        </p:spPr>
      </p:sp>
      <p:sp>
        <p:nvSpPr>
          <p:cNvPr id="17" name="flowText-26"/>
          <p:cNvSpPr txBox="1"/>
          <p:nvPr/>
        </p:nvSpPr>
        <p:spPr>
          <a:xfrm>
            <a:off x="816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11-12. Energy, revenue</a:t>
            </a:r>
            <a:endParaRPr lang="en-US" sz="1400" dirty="0"/>
          </a:p>
        </p:txBody>
      </p:sp>
      <p:sp>
        <p:nvSpPr>
          <p:cNvPr id="18" name="flowArrow-27"/>
          <p:cNvSpPr/>
          <p:nvPr/>
        </p:nvSpPr>
        <p:spPr>
          <a:xfrm>
            <a:off x="9771888" y="1664208"/>
            <a:ext cx="237744" cy="256032"/>
          </a:xfrm>
          <a:prstGeom prst="rightArrow">
            <a:avLst/>
          </a:prstGeom>
          <a:solidFill>
            <a:srgbClr val="D4A24C"/>
          </a:solidFill>
          <a:ln w="12700">
            <a:solidFill>
              <a:srgbClr val="D4A24C"/>
            </a:solidFill>
            <a:prstDash val="solid"/>
          </a:ln>
        </p:spPr>
      </p:sp>
      <p:sp>
        <p:nvSpPr>
          <p:cNvPr id="19" name="flow-28"/>
          <p:cNvSpPr/>
          <p:nvPr/>
        </p:nvSpPr>
        <p:spPr>
          <a:xfrm>
            <a:off x="10073640" y="1508760"/>
            <a:ext cx="1539240" cy="566928"/>
          </a:xfrm>
          <a:prstGeom prst="roundRect">
            <a:avLst>
              <a:gd name="adj" fmla="val 16129"/>
            </a:avLst>
          </a:prstGeom>
          <a:solidFill>
            <a:srgbClr val="1E2761"/>
          </a:solidFill>
          <a:ln w="12700">
            <a:solidFill>
              <a:srgbClr val="1E2761"/>
            </a:solidFill>
            <a:prstDash val="solid"/>
          </a:ln>
        </p:spPr>
      </p:sp>
      <p:sp>
        <p:nvSpPr>
          <p:cNvPr id="20" name="flowText-29"/>
          <p:cNvSpPr txBox="1"/>
          <p:nvPr/>
        </p:nvSpPr>
        <p:spPr>
          <a:xfrm>
            <a:off x="1007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13. CO2</a:t>
            </a:r>
            <a:endParaRPr lang="en-US" sz="1400" dirty="0"/>
          </a:p>
        </p:txBody>
      </p:sp>
      <p:sp>
        <p:nvSpPr>
          <p:cNvPr id="21" name="badge-30"/>
          <p:cNvSpPr/>
          <p:nvPr/>
        </p:nvSpPr>
        <p:spPr>
          <a:xfrm>
            <a:off x="548640" y="2514600"/>
            <a:ext cx="384048" cy="384048"/>
          </a:xfrm>
          <a:prstGeom prst="ellipse">
            <a:avLst/>
          </a:prstGeom>
          <a:solidFill>
            <a:srgbClr val="0F7B6C"/>
          </a:solidFill>
          <a:ln w="12700">
            <a:solidFill>
              <a:srgbClr val="0F7B6C"/>
            </a:solidFill>
            <a:prstDash val="solid"/>
          </a:ln>
        </p:spPr>
      </p:sp>
      <p:sp>
        <p:nvSpPr>
          <p:cNvPr id="22" name="badgeText-31"/>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item-32"/>
          <p:cNvSpPr txBox="1"/>
          <p:nvPr/>
        </p:nvSpPr>
        <p:spPr>
          <a:xfrm>
            <a:off x="1097280" y="246888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Policies</a:t>
            </a:r>
            <a:endParaRPr lang="en-US" sz="1500" dirty="0"/>
          </a:p>
          <a:p>
            <a:pPr indent="0" marL="0">
              <a:buNone/>
            </a:pPr>
            <a:r>
              <a:rPr lang="en-US" sz="1400" dirty="0">
                <a:solidFill>
                  <a:srgbClr val="5C667A"/>
                </a:solidFill>
              </a:rPr>
              <a:t>Carbon tax, ETS with a cap, feebates and fuel price reform, read from MTInputs.</a:t>
            </a:r>
            <a:endParaRPr lang="en-US" sz="1500" dirty="0"/>
          </a:p>
        </p:txBody>
      </p:sp>
      <p:sp>
        <p:nvSpPr>
          <p:cNvPr id="24" name="badge-33"/>
          <p:cNvSpPr/>
          <p:nvPr/>
        </p:nvSpPr>
        <p:spPr>
          <a:xfrm>
            <a:off x="548640" y="3520440"/>
            <a:ext cx="384048" cy="384048"/>
          </a:xfrm>
          <a:prstGeom prst="ellipse">
            <a:avLst/>
          </a:prstGeom>
          <a:solidFill>
            <a:srgbClr val="0F7B6C"/>
          </a:solidFill>
          <a:ln w="12700">
            <a:solidFill>
              <a:srgbClr val="0F7B6C"/>
            </a:solidFill>
            <a:prstDash val="solid"/>
          </a:ln>
        </p:spPr>
      </p:sp>
      <p:sp>
        <p:nvSpPr>
          <p:cNvPr id="25" name="badgeText-34"/>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item-35"/>
          <p:cNvSpPr txBox="1"/>
          <p:nvPr/>
        </p:nvSpPr>
        <p:spPr>
          <a:xfrm>
            <a:off x="1097280" y="347472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Prices and power</a:t>
            </a:r>
            <a:endParaRPr lang="en-US" sz="1500" dirty="0"/>
          </a:p>
          <a:p>
            <a:pPr indent="0" marL="0">
              <a:buNone/>
            </a:pPr>
            <a:r>
              <a:rPr lang="en-US" sz="1400" dirty="0">
                <a:solidFill>
                  <a:srgbClr val="5C667A"/>
                </a:solidFill>
              </a:rPr>
              <a:t>Retail prices by fuel; a power model with demand, dispatch, retirement and investment.</a:t>
            </a:r>
            <a:endParaRPr lang="en-US" sz="1500" dirty="0"/>
          </a:p>
        </p:txBody>
      </p:sp>
      <p:sp>
        <p:nvSpPr>
          <p:cNvPr id="27" name="badge-36"/>
          <p:cNvSpPr/>
          <p:nvPr/>
        </p:nvSpPr>
        <p:spPr>
          <a:xfrm>
            <a:off x="548640" y="4526280"/>
            <a:ext cx="384048" cy="384048"/>
          </a:xfrm>
          <a:prstGeom prst="ellipse">
            <a:avLst/>
          </a:prstGeom>
          <a:solidFill>
            <a:srgbClr val="0F7B6C"/>
          </a:solidFill>
          <a:ln w="12700">
            <a:solidFill>
              <a:srgbClr val="0F7B6C"/>
            </a:solidFill>
            <a:prstDash val="solid"/>
          </a:ln>
        </p:spPr>
      </p:sp>
      <p:sp>
        <p:nvSpPr>
          <p:cNvPr id="28" name="badgeText-37"/>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item-38"/>
          <p:cNvSpPr txBox="1"/>
          <p:nvPr/>
        </p:nvSpPr>
        <p:spPr>
          <a:xfrm>
            <a:off x="1097280" y="448056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Fuel use and results</a:t>
            </a:r>
            <a:endParaRPr lang="en-US" sz="1500" dirty="0"/>
          </a:p>
          <a:p>
            <a:pPr indent="0" marL="0">
              <a:buNone/>
            </a:pPr>
            <a:r>
              <a:rPr lang="en-US" sz="1400" dirty="0">
                <a:solidFill>
                  <a:srgbClr val="5C667A"/>
                </a:solidFill>
              </a:rPr>
              <a:t>16 sectors × 8 fuels; fuel use, revenues and CO2 to 2040, in real 2026 USD.</a:t>
            </a:r>
            <a:endParaRPr lang="en-US" sz="1500" dirty="0"/>
          </a:p>
        </p:txBody>
      </p:sp>
      <p:sp>
        <p:nvSpPr>
          <p:cNvPr id="30" name="card-39"/>
          <p:cNvSpPr/>
          <p:nvPr/>
        </p:nvSpPr>
        <p:spPr>
          <a:xfrm>
            <a:off x="6492240" y="2468880"/>
            <a:ext cx="5120640" cy="2514600"/>
          </a:xfrm>
          <a:prstGeom prst="rect">
            <a:avLst/>
          </a:prstGeom>
          <a:solidFill>
            <a:srgbClr val="F4F6FB"/>
          </a:solidFill>
          <a:ln w="12700">
            <a:solidFill>
              <a:srgbClr val="D5DAE3"/>
            </a:solidFill>
            <a:prstDash val="solid"/>
          </a:ln>
        </p:spPr>
      </p:sp>
      <p:sp>
        <p:nvSpPr>
          <p:cNvPr id="31" name="cardText-40"/>
          <p:cNvSpPr txBox="1"/>
          <p:nvPr/>
        </p:nvSpPr>
        <p:spPr>
          <a:xfrm>
            <a:off x="6656832" y="2578608"/>
            <a:ext cx="4791456" cy="229514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Egypt data, 2022-2040</a:t>
            </a:r>
            <a:endParaRPr lang="en-US" sz="1100" dirty="0"/>
          </a:p>
          <a:p>
            <a:pPr marL="342900" indent="-342900">
              <a:buSzPct val="100000"/>
              <a:buChar char="•"/>
            </a:pPr>
            <a:r>
              <a:rPr lang="en-US" sz="1500" dirty="0">
                <a:solidFill>
                  <a:srgbClr val="1F1F2E"/>
                </a:solidFill>
              </a:rPr>
              <a:t>Any number of scenarios, run by one macro</a:t>
            </a:r>
            <a:endParaRPr lang="en-US" sz="1100" dirty="0"/>
          </a:p>
          <a:p>
            <a:pPr marL="342900" indent="-342900">
              <a:buSzPct val="100000"/>
              <a:buChar char="•"/>
            </a:pPr>
            <a:r>
              <a:rPr lang="en-US" sz="1500" dirty="0">
                <a:solidFill>
                  <a:srgbClr val="1F1F2E"/>
                </a:solidFill>
              </a:rPr>
              <a:t>Results and charts by output code</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E08A1E"/>
                </a:solidFill>
              </a:rPr>
              <a:t>NOT YET</a:t>
            </a:r>
            <a:endParaRPr lang="en-US" sz="1100" dirty="0"/>
          </a:p>
          <a:p>
            <a:pPr marL="342900" indent="-342900">
              <a:buSzPct val="100000"/>
              <a:buChar char="•"/>
            </a:pPr>
            <a:r>
              <a:rPr lang="en-US" sz="1500" dirty="0">
                <a:solidFill>
                  <a:srgbClr val="1F1F2E"/>
                </a:solidFill>
              </a:rPr>
              <a:t>Other gases and local pollutants</a:t>
            </a:r>
            <a:endParaRPr lang="en-US" sz="1100" dirty="0"/>
          </a:p>
          <a:p>
            <a:pPr marL="342900" indent="-342900">
              <a:buSzPct val="100000"/>
              <a:buChar char="•"/>
            </a:pPr>
            <a:r>
              <a:rPr lang="en-US" sz="1500" dirty="0">
                <a:solidFill>
                  <a:srgbClr val="1F1F2E"/>
                </a:solidFill>
              </a:rPr>
              <a:t>Full numerical match with legacy CPAT</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CHANGES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Four problems with today's Excel, four fixes</a:t>
            </a:r>
            <a:endParaRPr lang="en-US" sz="3000" dirty="0"/>
          </a:p>
        </p:txBody>
      </p:sp>
      <p:sp>
        <p:nvSpPr>
          <p:cNvPr id="4" name="colhead-41"/>
          <p:cNvSpPr txBox="1"/>
          <p:nvPr/>
        </p:nvSpPr>
        <p:spPr>
          <a:xfrm>
            <a:off x="548640" y="1371600"/>
            <a:ext cx="4754880" cy="274320"/>
          </a:xfrm>
          <a:prstGeom prst="rect">
            <a:avLst/>
          </a:prstGeom>
          <a:noFill/>
          <a:ln/>
        </p:spPr>
        <p:txBody>
          <a:bodyPr wrap="square" lIns="0" tIns="0" rIns="0" bIns="0" rtlCol="0" anchor="ctr"/>
          <a:lstStyle/>
          <a:p>
            <a:pPr indent="0" marL="0">
              <a:buNone/>
            </a:pPr>
            <a:r>
              <a:rPr lang="en-US" sz="1100" b="1" spc="200" kern="0" dirty="0">
                <a:solidFill>
                  <a:srgbClr val="E08A1E"/>
                </a:solidFill>
              </a:rPr>
              <a:t>TODAY IN CPAT</a:t>
            </a:r>
            <a:endParaRPr lang="en-US" sz="1100" dirty="0"/>
          </a:p>
        </p:txBody>
      </p:sp>
      <p:sp>
        <p:nvSpPr>
          <p:cNvPr id="5" name="colhead-42"/>
          <p:cNvSpPr txBox="1"/>
          <p:nvPr/>
        </p:nvSpPr>
        <p:spPr>
          <a:xfrm>
            <a:off x="6126480" y="1371600"/>
            <a:ext cx="54864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IN THE MVP</a:t>
            </a:r>
            <a:endParaRPr lang="en-US" sz="1100" dirty="0"/>
          </a:p>
        </p:txBody>
      </p:sp>
      <p:sp>
        <p:nvSpPr>
          <p:cNvPr id="6" name="problem-43"/>
          <p:cNvSpPr/>
          <p:nvPr/>
        </p:nvSpPr>
        <p:spPr>
          <a:xfrm>
            <a:off x="548640" y="1737360"/>
            <a:ext cx="4754880" cy="932688"/>
          </a:xfrm>
          <a:prstGeom prst="rect">
            <a:avLst/>
          </a:prstGeom>
          <a:solidFill>
            <a:srgbClr val="FDF3E6"/>
          </a:solidFill>
          <a:ln w="12700">
            <a:solidFill>
              <a:srgbClr val="F2D9B6"/>
            </a:solidFill>
            <a:prstDash val="solid"/>
          </a:ln>
        </p:spPr>
      </p:sp>
      <p:sp>
        <p:nvSpPr>
          <p:cNvPr id="7" name="problemText-44"/>
          <p:cNvSpPr txBox="1"/>
          <p:nvPr/>
        </p:nvSpPr>
        <p:spPr>
          <a:xfrm>
            <a:off x="731520" y="1737360"/>
            <a:ext cx="4434840" cy="932688"/>
          </a:xfrm>
          <a:prstGeom prst="rect">
            <a:avLst/>
          </a:prstGeom>
          <a:noFill/>
          <a:ln/>
        </p:spPr>
        <p:txBody>
          <a:bodyPr wrap="square" lIns="0" tIns="0" rIns="0" bIns="0" rtlCol="0" anchor="ctr"/>
          <a:lstStyle/>
          <a:p>
            <a:pPr indent="0" marL="0">
              <a:buNone/>
            </a:pPr>
            <a:r>
              <a:rPr lang="en-US" sz="1600" dirty="0">
                <a:solidFill>
                  <a:srgbClr val="1F1F2E"/>
                </a:solidFill>
              </a:rPr>
              <a:t>Hard to read: long formulas, many tabs</a:t>
            </a:r>
            <a:endParaRPr lang="en-US" sz="1600" dirty="0"/>
          </a:p>
        </p:txBody>
      </p:sp>
      <p:sp>
        <p:nvSpPr>
          <p:cNvPr id="8" name="arrow-45"/>
          <p:cNvSpPr/>
          <p:nvPr/>
        </p:nvSpPr>
        <p:spPr>
          <a:xfrm>
            <a:off x="5440680" y="2039112"/>
            <a:ext cx="548640" cy="329184"/>
          </a:xfrm>
          <a:prstGeom prst="rightArrow">
            <a:avLst/>
          </a:prstGeom>
          <a:solidFill>
            <a:srgbClr val="D4A24C"/>
          </a:solidFill>
          <a:ln w="12700">
            <a:solidFill>
              <a:srgbClr val="D4A24C"/>
            </a:solidFill>
            <a:prstDash val="solid"/>
          </a:ln>
        </p:spPr>
      </p:sp>
      <p:sp>
        <p:nvSpPr>
          <p:cNvPr id="9" name="fix-46"/>
          <p:cNvSpPr/>
          <p:nvPr/>
        </p:nvSpPr>
        <p:spPr>
          <a:xfrm>
            <a:off x="6126480" y="1737360"/>
            <a:ext cx="5486400" cy="932688"/>
          </a:xfrm>
          <a:prstGeom prst="rect">
            <a:avLst/>
          </a:prstGeom>
          <a:solidFill>
            <a:srgbClr val="EAF4F2"/>
          </a:solidFill>
          <a:ln w="12700">
            <a:solidFill>
              <a:srgbClr val="C7E3DE"/>
            </a:solidFill>
            <a:prstDash val="solid"/>
          </a:ln>
        </p:spPr>
      </p:sp>
      <p:sp>
        <p:nvSpPr>
          <p:cNvPr id="10" name="fixText-47"/>
          <p:cNvSpPr txBox="1"/>
          <p:nvPr/>
        </p:nvSpPr>
        <p:spPr>
          <a:xfrm>
            <a:off x="6309360" y="1737360"/>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tab, numbered sections; every formula at most 100 characters</a:t>
            </a:r>
            <a:endParaRPr lang="en-US" sz="1600" dirty="0"/>
          </a:p>
        </p:txBody>
      </p:sp>
      <p:sp>
        <p:nvSpPr>
          <p:cNvPr id="11" name="problem-48"/>
          <p:cNvSpPr/>
          <p:nvPr/>
        </p:nvSpPr>
        <p:spPr>
          <a:xfrm>
            <a:off x="548640" y="2852928"/>
            <a:ext cx="4754880" cy="932688"/>
          </a:xfrm>
          <a:prstGeom prst="rect">
            <a:avLst/>
          </a:prstGeom>
          <a:solidFill>
            <a:srgbClr val="FDF3E6"/>
          </a:solidFill>
          <a:ln w="12700">
            <a:solidFill>
              <a:srgbClr val="F2D9B6"/>
            </a:solidFill>
            <a:prstDash val="solid"/>
          </a:ln>
        </p:spPr>
      </p:sp>
      <p:sp>
        <p:nvSpPr>
          <p:cNvPr id="12" name="problemText-49"/>
          <p:cNvSpPr txBox="1"/>
          <p:nvPr/>
        </p:nvSpPr>
        <p:spPr>
          <a:xfrm>
            <a:off x="731520" y="2852928"/>
            <a:ext cx="4434840" cy="932688"/>
          </a:xfrm>
          <a:prstGeom prst="rect">
            <a:avLst/>
          </a:prstGeom>
          <a:noFill/>
          <a:ln/>
        </p:spPr>
        <p:txBody>
          <a:bodyPr wrap="square" lIns="0" tIns="0" rIns="0" bIns="0" rtlCol="0" anchor="ctr"/>
          <a:lstStyle/>
          <a:p>
            <a:pPr indent="0" marL="0">
              <a:buNone/>
            </a:pPr>
            <a:r>
              <a:rPr lang="en-US" sz="1600" dirty="0">
                <a:solidFill>
                  <a:srgbClr val="1F1F2E"/>
                </a:solidFill>
              </a:rPr>
              <a:t>Formulas differ from row to row</a:t>
            </a:r>
            <a:endParaRPr lang="en-US" sz="1600" dirty="0"/>
          </a:p>
        </p:txBody>
      </p:sp>
      <p:sp>
        <p:nvSpPr>
          <p:cNvPr id="13" name="arrow-50"/>
          <p:cNvSpPr/>
          <p:nvPr/>
        </p:nvSpPr>
        <p:spPr>
          <a:xfrm>
            <a:off x="5440680" y="3154680"/>
            <a:ext cx="548640" cy="329184"/>
          </a:xfrm>
          <a:prstGeom prst="rightArrow">
            <a:avLst/>
          </a:prstGeom>
          <a:solidFill>
            <a:srgbClr val="D4A24C"/>
          </a:solidFill>
          <a:ln w="12700">
            <a:solidFill>
              <a:srgbClr val="D4A24C"/>
            </a:solidFill>
            <a:prstDash val="solid"/>
          </a:ln>
        </p:spPr>
      </p:sp>
      <p:sp>
        <p:nvSpPr>
          <p:cNvPr id="14" name="fix-51"/>
          <p:cNvSpPr/>
          <p:nvPr/>
        </p:nvSpPr>
        <p:spPr>
          <a:xfrm>
            <a:off x="6126480" y="2852928"/>
            <a:ext cx="5486400" cy="932688"/>
          </a:xfrm>
          <a:prstGeom prst="rect">
            <a:avLst/>
          </a:prstGeom>
          <a:solidFill>
            <a:srgbClr val="EAF4F2"/>
          </a:solidFill>
          <a:ln w="12700">
            <a:solidFill>
              <a:srgbClr val="C7E3DE"/>
            </a:solidFill>
            <a:prstDash val="solid"/>
          </a:ln>
        </p:spPr>
      </p:sp>
      <p:sp>
        <p:nvSpPr>
          <p:cNvPr id="15" name="fixText-52"/>
          <p:cNvSpPr txBox="1"/>
          <p:nvPr/>
        </p:nvSpPr>
        <p:spPr>
          <a:xfrm>
            <a:off x="6309360" y="2852928"/>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formula per block: copy, drag or paste it anywhere in the block</a:t>
            </a:r>
            <a:endParaRPr lang="en-US" sz="1600" dirty="0"/>
          </a:p>
        </p:txBody>
      </p:sp>
      <p:sp>
        <p:nvSpPr>
          <p:cNvPr id="16" name="problem-53"/>
          <p:cNvSpPr/>
          <p:nvPr/>
        </p:nvSpPr>
        <p:spPr>
          <a:xfrm>
            <a:off x="548640" y="3968496"/>
            <a:ext cx="4754880" cy="932688"/>
          </a:xfrm>
          <a:prstGeom prst="rect">
            <a:avLst/>
          </a:prstGeom>
          <a:solidFill>
            <a:srgbClr val="FDF3E6"/>
          </a:solidFill>
          <a:ln w="12700">
            <a:solidFill>
              <a:srgbClr val="F2D9B6"/>
            </a:solidFill>
            <a:prstDash val="solid"/>
          </a:ln>
        </p:spPr>
      </p:sp>
      <p:sp>
        <p:nvSpPr>
          <p:cNvPr id="17" name="problemText-54"/>
          <p:cNvSpPr txBox="1"/>
          <p:nvPr/>
        </p:nvSpPr>
        <p:spPr>
          <a:xfrm>
            <a:off x="731520" y="3968496"/>
            <a:ext cx="4434840" cy="932688"/>
          </a:xfrm>
          <a:prstGeom prst="rect">
            <a:avLst/>
          </a:prstGeom>
          <a:noFill/>
          <a:ln/>
        </p:spPr>
        <p:txBody>
          <a:bodyPr wrap="square" lIns="0" tIns="0" rIns="0" bIns="0" rtlCol="0" anchor="ctr"/>
          <a:lstStyle/>
          <a:p>
            <a:pPr indent="0" marL="0">
              <a:buNone/>
            </a:pPr>
            <a:r>
              <a:rPr lang="en-US" sz="1600" dirty="0">
                <a:solidFill>
                  <a:srgbClr val="1F1F2E"/>
                </a:solidFill>
              </a:rPr>
              <a:t>New scenarios are slow to build</a:t>
            </a:r>
            <a:endParaRPr lang="en-US" sz="1600" dirty="0"/>
          </a:p>
        </p:txBody>
      </p:sp>
      <p:sp>
        <p:nvSpPr>
          <p:cNvPr id="18" name="arrow-55"/>
          <p:cNvSpPr/>
          <p:nvPr/>
        </p:nvSpPr>
        <p:spPr>
          <a:xfrm>
            <a:off x="5440680" y="4270248"/>
            <a:ext cx="548640" cy="329184"/>
          </a:xfrm>
          <a:prstGeom prst="rightArrow">
            <a:avLst/>
          </a:prstGeom>
          <a:solidFill>
            <a:srgbClr val="D4A24C"/>
          </a:solidFill>
          <a:ln w="12700">
            <a:solidFill>
              <a:srgbClr val="D4A24C"/>
            </a:solidFill>
            <a:prstDash val="solid"/>
          </a:ln>
        </p:spPr>
      </p:sp>
      <p:sp>
        <p:nvSpPr>
          <p:cNvPr id="19" name="fix-56"/>
          <p:cNvSpPr/>
          <p:nvPr/>
        </p:nvSpPr>
        <p:spPr>
          <a:xfrm>
            <a:off x="6126480" y="3968496"/>
            <a:ext cx="5486400" cy="932688"/>
          </a:xfrm>
          <a:prstGeom prst="rect">
            <a:avLst/>
          </a:prstGeom>
          <a:solidFill>
            <a:srgbClr val="EAF4F2"/>
          </a:solidFill>
          <a:ln w="12700">
            <a:solidFill>
              <a:srgbClr val="C7E3DE"/>
            </a:solidFill>
            <a:prstDash val="solid"/>
          </a:ln>
        </p:spPr>
      </p:sp>
      <p:sp>
        <p:nvSpPr>
          <p:cNvPr id="20" name="fixText-57"/>
          <p:cNvSpPr txBox="1"/>
          <p:nvPr/>
        </p:nvSpPr>
        <p:spPr>
          <a:xfrm>
            <a:off x="6309360" y="3968496"/>
            <a:ext cx="5166360" cy="932688"/>
          </a:xfrm>
          <a:prstGeom prst="rect">
            <a:avLst/>
          </a:prstGeom>
          <a:noFill/>
          <a:ln/>
        </p:spPr>
        <p:txBody>
          <a:bodyPr wrap="square" lIns="0" tIns="0" rIns="0" bIns="0" rtlCol="0" anchor="ctr"/>
          <a:lstStyle/>
          <a:p>
            <a:pPr indent="0" marL="0">
              <a:buNone/>
            </a:pPr>
            <a:r>
              <a:rPr lang="en-US" sz="1600" dirty="0">
                <a:solidFill>
                  <a:srgbClr val="1F1F2E"/>
                </a:solidFill>
              </a:rPr>
              <a:t>Copy a scenario block, or list scenarios in MTInputs and run one macro</a:t>
            </a:r>
            <a:endParaRPr lang="en-US" sz="1600" dirty="0"/>
          </a:p>
        </p:txBody>
      </p:sp>
      <p:sp>
        <p:nvSpPr>
          <p:cNvPr id="21" name="problem-58"/>
          <p:cNvSpPr/>
          <p:nvPr/>
        </p:nvSpPr>
        <p:spPr>
          <a:xfrm>
            <a:off x="548640" y="5084064"/>
            <a:ext cx="4754880" cy="932688"/>
          </a:xfrm>
          <a:prstGeom prst="rect">
            <a:avLst/>
          </a:prstGeom>
          <a:solidFill>
            <a:srgbClr val="FDF3E6"/>
          </a:solidFill>
          <a:ln w="12700">
            <a:solidFill>
              <a:srgbClr val="F2D9B6"/>
            </a:solidFill>
            <a:prstDash val="solid"/>
          </a:ln>
        </p:spPr>
      </p:sp>
      <p:sp>
        <p:nvSpPr>
          <p:cNvPr id="22" name="problemText-59"/>
          <p:cNvSpPr txBox="1"/>
          <p:nvPr/>
        </p:nvSpPr>
        <p:spPr>
          <a:xfrm>
            <a:off x="731520" y="5084064"/>
            <a:ext cx="4434840" cy="932688"/>
          </a:xfrm>
          <a:prstGeom prst="rect">
            <a:avLst/>
          </a:prstGeom>
          <a:noFill/>
          <a:ln/>
        </p:spPr>
        <p:txBody>
          <a:bodyPr wrap="square" lIns="0" tIns="0" rIns="0" bIns="0" rtlCol="0" anchor="ctr"/>
          <a:lstStyle/>
          <a:p>
            <a:pPr indent="0" marL="0">
              <a:buNone/>
            </a:pPr>
            <a:r>
              <a:rPr lang="en-US" sz="1600" dirty="0">
                <a:solidFill>
                  <a:srgbClr val="1F1F2E"/>
                </a:solidFill>
              </a:rPr>
              <a:t>Results are hard to verify</a:t>
            </a:r>
            <a:endParaRPr lang="en-US" sz="1600" dirty="0"/>
          </a:p>
        </p:txBody>
      </p:sp>
      <p:sp>
        <p:nvSpPr>
          <p:cNvPr id="23" name="arrow-60"/>
          <p:cNvSpPr/>
          <p:nvPr/>
        </p:nvSpPr>
        <p:spPr>
          <a:xfrm>
            <a:off x="5440680" y="5385816"/>
            <a:ext cx="548640" cy="329184"/>
          </a:xfrm>
          <a:prstGeom prst="rightArrow">
            <a:avLst/>
          </a:prstGeom>
          <a:solidFill>
            <a:srgbClr val="D4A24C"/>
          </a:solidFill>
          <a:ln w="12700">
            <a:solidFill>
              <a:srgbClr val="D4A24C"/>
            </a:solidFill>
            <a:prstDash val="solid"/>
          </a:ln>
        </p:spPr>
      </p:sp>
      <p:sp>
        <p:nvSpPr>
          <p:cNvPr id="24" name="fix-61"/>
          <p:cNvSpPr/>
          <p:nvPr/>
        </p:nvSpPr>
        <p:spPr>
          <a:xfrm>
            <a:off x="6126480" y="5084064"/>
            <a:ext cx="5486400" cy="932688"/>
          </a:xfrm>
          <a:prstGeom prst="rect">
            <a:avLst/>
          </a:prstGeom>
          <a:solidFill>
            <a:srgbClr val="EAF4F2"/>
          </a:solidFill>
          <a:ln w="12700">
            <a:solidFill>
              <a:srgbClr val="C7E3DE"/>
            </a:solidFill>
            <a:prstDash val="solid"/>
          </a:ln>
        </p:spPr>
      </p:sp>
      <p:sp>
        <p:nvSpPr>
          <p:cNvPr id="25" name="fixText-62"/>
          <p:cNvSpPr txBox="1"/>
          <p:nvPr/>
        </p:nvSpPr>
        <p:spPr>
          <a:xfrm>
            <a:off x="6309360" y="5084064"/>
            <a:ext cx="5166360" cy="932688"/>
          </a:xfrm>
          <a:prstGeom prst="rect">
            <a:avLst/>
          </a:prstGeom>
          <a:noFill/>
          <a:ln/>
        </p:spPr>
        <p:txBody>
          <a:bodyPr wrap="square" lIns="0" tIns="0" rIns="0" bIns="0" rtlCol="0" anchor="ctr"/>
          <a:lstStyle/>
          <a:p>
            <a:pPr indent="0" marL="0">
              <a:buNone/>
            </a:pPr>
            <a:r>
              <a:rPr lang="en-US" sz="1600" dirty="0">
                <a:solidFill>
                  <a:srgbClr val="1F1F2E"/>
                </a:solidFill>
              </a:rPr>
              <a:t>Every value recomputed in Python; legacy bugs found and listed</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LAYOUT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Years run across, scenarios sit side by side</a:t>
            </a:r>
            <a:endParaRPr lang="en-US" sz="3000" dirty="0"/>
          </a:p>
        </p:txBody>
      </p:sp>
      <p:sp>
        <p:nvSpPr>
          <p:cNvPr id="4" name="frame-63"/>
          <p:cNvSpPr/>
          <p:nvPr/>
        </p:nvSpPr>
        <p:spPr>
          <a:xfrm>
            <a:off x="493776" y="1362456"/>
            <a:ext cx="11173968" cy="1489714"/>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64" descr="/home/user/CPAT-AI-Local/cpat_excel_new/mitigation_copypaste/presentation/img/v2_01b_scenarios.png">    </p:cNvPr>
          <p:cNvPicPr>
            <a:picLocks noChangeAspect="1"/>
          </p:cNvPicPr>
          <p:nvPr/>
        </p:nvPicPr>
        <p:blipFill>
          <a:blip r:embed="rId1"/>
          <a:stretch>
            <a:fillRect/>
          </a:stretch>
        </p:blipFill>
        <p:spPr>
          <a:xfrm>
            <a:off x="548640" y="1417320"/>
            <a:ext cx="11064240" cy="1379986"/>
          </a:xfrm>
          <a:prstGeom prst="rect">
            <a:avLst/>
          </a:prstGeom>
        </p:spPr>
      </p:pic>
      <p:sp>
        <p:nvSpPr>
          <p:cNvPr id="6" name="caption-65"/>
          <p:cNvSpPr txBox="1"/>
          <p:nvPr/>
        </p:nvSpPr>
        <p:spPr>
          <a:xfrm>
            <a:off x="548640" y="2934466"/>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Each scenario is a block of columns: output codes, 2022 (beige), the years to 2040, a blank column.</a:t>
            </a:r>
            <a:endParaRPr lang="en-US" sz="1200" dirty="0"/>
          </a:p>
        </p:txBody>
      </p:sp>
      <p:sp>
        <p:nvSpPr>
          <p:cNvPr id="7" name="badge-66"/>
          <p:cNvSpPr/>
          <p:nvPr/>
        </p:nvSpPr>
        <p:spPr>
          <a:xfrm>
            <a:off x="548640" y="3528826"/>
            <a:ext cx="384048" cy="384048"/>
          </a:xfrm>
          <a:prstGeom prst="ellipse">
            <a:avLst/>
          </a:prstGeom>
          <a:solidFill>
            <a:srgbClr val="0F7B6C"/>
          </a:solidFill>
          <a:ln w="12700">
            <a:solidFill>
              <a:srgbClr val="0F7B6C"/>
            </a:solidFill>
            <a:prstDash val="solid"/>
          </a:ln>
        </p:spPr>
      </p:sp>
      <p:sp>
        <p:nvSpPr>
          <p:cNvPr id="8" name="badgeText-67"/>
          <p:cNvSpPr txBox="1"/>
          <p:nvPr/>
        </p:nvSpPr>
        <p:spPr>
          <a:xfrm>
            <a:off x="54864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item-68"/>
          <p:cNvSpPr txBox="1"/>
          <p:nvPr/>
        </p:nvSpPr>
        <p:spPr>
          <a:xfrm>
            <a:off x="109728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settings column</a:t>
            </a:r>
            <a:endParaRPr lang="en-US" sz="1500" dirty="0"/>
          </a:p>
          <a:p>
            <a:pPr indent="0" marL="0">
              <a:buNone/>
            </a:pPr>
            <a:r>
              <a:rPr lang="en-US" sz="1400" dirty="0">
                <a:solidFill>
                  <a:srgbClr val="5C667A"/>
                </a:solidFill>
              </a:rPr>
              <a:t>In MTInputs, copy the last scenario column one to the right and edit it.</a:t>
            </a:r>
            <a:endParaRPr lang="en-US" sz="1500" dirty="0"/>
          </a:p>
        </p:txBody>
      </p:sp>
      <p:sp>
        <p:nvSpPr>
          <p:cNvPr id="10" name="badge-69"/>
          <p:cNvSpPr/>
          <p:nvPr/>
        </p:nvSpPr>
        <p:spPr>
          <a:xfrm>
            <a:off x="4251960" y="3528826"/>
            <a:ext cx="384048" cy="384048"/>
          </a:xfrm>
          <a:prstGeom prst="ellipse">
            <a:avLst/>
          </a:prstGeom>
          <a:solidFill>
            <a:srgbClr val="0F7B6C"/>
          </a:solidFill>
          <a:ln w="12700">
            <a:solidFill>
              <a:srgbClr val="0F7B6C"/>
            </a:solidFill>
            <a:prstDash val="solid"/>
          </a:ln>
        </p:spPr>
      </p:sp>
      <p:sp>
        <p:nvSpPr>
          <p:cNvPr id="11" name="badgeText-70"/>
          <p:cNvSpPr txBox="1"/>
          <p:nvPr/>
        </p:nvSpPr>
        <p:spPr>
          <a:xfrm>
            <a:off x="425196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71"/>
          <p:cNvSpPr txBox="1"/>
          <p:nvPr/>
        </p:nvSpPr>
        <p:spPr>
          <a:xfrm>
            <a:off x="480060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scenario block</a:t>
            </a:r>
            <a:endParaRPr lang="en-US" sz="1500" dirty="0"/>
          </a:p>
          <a:p>
            <a:pPr indent="0" marL="0">
              <a:buNone/>
            </a:pPr>
            <a:r>
              <a:rPr lang="en-US" sz="1400" dirty="0">
                <a:solidFill>
                  <a:srgbClr val="5C667A"/>
                </a:solidFill>
              </a:rPr>
              <a:t>In Mitigation, copy a whole block and paste it to the right.</a:t>
            </a:r>
            <a:endParaRPr lang="en-US" sz="1500" dirty="0"/>
          </a:p>
        </p:txBody>
      </p:sp>
      <p:sp>
        <p:nvSpPr>
          <p:cNvPr id="13" name="badge-72"/>
          <p:cNvSpPr/>
          <p:nvPr/>
        </p:nvSpPr>
        <p:spPr>
          <a:xfrm>
            <a:off x="7955280" y="3528826"/>
            <a:ext cx="384048" cy="384048"/>
          </a:xfrm>
          <a:prstGeom prst="ellipse">
            <a:avLst/>
          </a:prstGeom>
          <a:solidFill>
            <a:srgbClr val="0F7B6C"/>
          </a:solidFill>
          <a:ln w="12700">
            <a:solidFill>
              <a:srgbClr val="0F7B6C"/>
            </a:solidFill>
            <a:prstDash val="solid"/>
          </a:ln>
        </p:spPr>
      </p:sp>
      <p:sp>
        <p:nvSpPr>
          <p:cNvPr id="14" name="badgeText-73"/>
          <p:cNvSpPr txBox="1"/>
          <p:nvPr/>
        </p:nvSpPr>
        <p:spPr>
          <a:xfrm>
            <a:off x="795528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item-74"/>
          <p:cNvSpPr txBox="1"/>
          <p:nvPr/>
        </p:nvSpPr>
        <p:spPr>
          <a:xfrm>
            <a:off x="850392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Done</a:t>
            </a:r>
            <a:endParaRPr lang="en-US" sz="1500" dirty="0"/>
          </a:p>
          <a:p>
            <a:pPr indent="0" marL="0">
              <a:buNone/>
            </a:pPr>
            <a:r>
              <a:rPr lang="en-US" sz="1400" dirty="0">
                <a:solidFill>
                  <a:srgbClr val="5C667A"/>
                </a:solidFill>
              </a:rPr>
              <a:t>The scenario number goes up by one; the block reads its own MTInputs column.</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ROWS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Row-specific numbers live on the left</a:t>
            </a:r>
            <a:endParaRPr lang="en-US" sz="3000" dirty="0"/>
          </a:p>
        </p:txBody>
      </p:sp>
      <p:sp>
        <p:nvSpPr>
          <p:cNvPr id="4" name="frame-75"/>
          <p:cNvSpPr/>
          <p:nvPr/>
        </p:nvSpPr>
        <p:spPr>
          <a:xfrm>
            <a:off x="493776" y="1362456"/>
            <a:ext cx="7333488" cy="408836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6" descr="/home/user/CPAT-AI-Local/cpat_excel_new/mitigation_copypaste/presentation/img/v2_01c_left.png">    </p:cNvPr>
          <p:cNvPicPr>
            <a:picLocks noChangeAspect="1"/>
          </p:cNvPicPr>
          <p:nvPr/>
        </p:nvPicPr>
        <p:blipFill>
          <a:blip r:embed="rId1"/>
          <a:stretch>
            <a:fillRect/>
          </a:stretch>
        </p:blipFill>
        <p:spPr>
          <a:xfrm>
            <a:off x="548640" y="1417320"/>
            <a:ext cx="7223760" cy="3978635"/>
          </a:xfrm>
          <a:prstGeom prst="rect">
            <a:avLst/>
          </a:prstGeom>
        </p:spPr>
      </p:pic>
      <p:sp>
        <p:nvSpPr>
          <p:cNvPr id="6" name="badge-77"/>
          <p:cNvSpPr/>
          <p:nvPr/>
        </p:nvSpPr>
        <p:spPr>
          <a:xfrm>
            <a:off x="8229600" y="1508760"/>
            <a:ext cx="384048" cy="384048"/>
          </a:xfrm>
          <a:prstGeom prst="ellipse">
            <a:avLst/>
          </a:prstGeom>
          <a:solidFill>
            <a:srgbClr val="1E2761"/>
          </a:solidFill>
          <a:ln w="12700">
            <a:solidFill>
              <a:srgbClr val="1E2761"/>
            </a:solidFill>
            <a:prstDash val="solid"/>
          </a:ln>
        </p:spPr>
      </p:sp>
      <p:sp>
        <p:nvSpPr>
          <p:cNvPr id="7" name="badgeText-78"/>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8" name="item-79"/>
          <p:cNvSpPr txBox="1"/>
          <p:nvPr/>
        </p:nvSpPr>
        <p:spPr>
          <a:xfrm>
            <a:off x="8778240" y="146304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B:C: fuel and sector</a:t>
            </a:r>
            <a:endParaRPr lang="en-US" sz="1500" dirty="0"/>
          </a:p>
          <a:p>
            <a:pPr indent="0" marL="0">
              <a:buNone/>
            </a:pPr>
            <a:r>
              <a:rPr lang="en-US" sz="1400" dirty="0">
                <a:solidFill>
                  <a:srgbClr val="5C667A"/>
                </a:solidFill>
              </a:rPr>
              <a:t>Every row is one fuel in one sector (here: road transport).</a:t>
            </a:r>
            <a:endParaRPr lang="en-US" sz="1500" dirty="0"/>
          </a:p>
        </p:txBody>
      </p:sp>
      <p:sp>
        <p:nvSpPr>
          <p:cNvPr id="9" name="badge-80"/>
          <p:cNvSpPr/>
          <p:nvPr/>
        </p:nvSpPr>
        <p:spPr>
          <a:xfrm>
            <a:off x="8229600" y="2788920"/>
            <a:ext cx="384048" cy="384048"/>
          </a:xfrm>
          <a:prstGeom prst="ellipse">
            <a:avLst/>
          </a:prstGeom>
          <a:solidFill>
            <a:srgbClr val="1E2761"/>
          </a:solidFill>
          <a:ln w="12700">
            <a:solidFill>
              <a:srgbClr val="1E2761"/>
            </a:solidFill>
            <a:prstDash val="solid"/>
          </a:ln>
        </p:spPr>
      </p:sp>
      <p:sp>
        <p:nvSpPr>
          <p:cNvPr id="10" name="badgeText-81"/>
          <p:cNvSpPr txBox="1"/>
          <p:nvPr/>
        </p:nvSpPr>
        <p:spPr>
          <a:xfrm>
            <a:off x="822960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item-82"/>
          <p:cNvSpPr txBox="1"/>
          <p:nvPr/>
        </p:nvSpPr>
        <p:spPr>
          <a:xfrm>
            <a:off x="8778240" y="274320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D:G: that row's numbers</a:t>
            </a:r>
            <a:endParaRPr lang="en-US" sz="1500" dirty="0"/>
          </a:p>
          <a:p>
            <a:pPr indent="0" marL="0">
              <a:buNone/>
            </a:pPr>
            <a:r>
              <a:rPr lang="en-US" sz="1400" dirty="0">
                <a:solidFill>
                  <a:srgbClr val="5C667A"/>
                </a:solidFill>
              </a:rPr>
              <a:t>Emission factor, elasticities, positions: looked up once.</a:t>
            </a:r>
            <a:endParaRPr lang="en-US" sz="1500" dirty="0"/>
          </a:p>
        </p:txBody>
      </p:sp>
      <p:sp>
        <p:nvSpPr>
          <p:cNvPr id="12" name="badge-83"/>
          <p:cNvSpPr/>
          <p:nvPr/>
        </p:nvSpPr>
        <p:spPr>
          <a:xfrm>
            <a:off x="8229600" y="4069080"/>
            <a:ext cx="384048" cy="384048"/>
          </a:xfrm>
          <a:prstGeom prst="ellipse">
            <a:avLst/>
          </a:prstGeom>
          <a:solidFill>
            <a:srgbClr val="1E2761"/>
          </a:solidFill>
          <a:ln w="12700">
            <a:solidFill>
              <a:srgbClr val="1E2761"/>
            </a:solidFill>
            <a:prstDash val="solid"/>
          </a:ln>
        </p:spPr>
      </p:sp>
      <p:sp>
        <p:nvSpPr>
          <p:cNvPr id="13" name="badgeText-84"/>
          <p:cNvSpPr txBox="1"/>
          <p:nvPr/>
        </p:nvSpPr>
        <p:spPr>
          <a:xfrm>
            <a:off x="822960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4" name="item-85"/>
          <p:cNvSpPr txBox="1"/>
          <p:nvPr/>
        </p:nvSpPr>
        <p:spPr>
          <a:xfrm>
            <a:off x="8778240" y="402336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Year columns: one formula</a:t>
            </a:r>
            <a:endParaRPr lang="en-US" sz="1500" dirty="0"/>
          </a:p>
          <a:p>
            <a:pPr indent="0" marL="0">
              <a:buNone/>
            </a:pPr>
            <a:r>
              <a:rPr lang="en-US" sz="1400" dirty="0">
                <a:solidFill>
                  <a:srgbClr val="5C667A"/>
                </a:solidFill>
              </a:rPr>
              <a:t>The same formula in every row of a block.</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FORMULAS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Short, plain formulas that work in any Excel</a:t>
            </a:r>
            <a:endParaRPr lang="en-US" sz="3000" dirty="0"/>
          </a:p>
        </p:txBody>
      </p:sp>
      <p:sp>
        <p:nvSpPr>
          <p:cNvPr id="4" name="frame-86"/>
          <p:cNvSpPr/>
          <p:nvPr/>
        </p:nvSpPr>
        <p:spPr>
          <a:xfrm>
            <a:off x="1367340" y="1316736"/>
            <a:ext cx="9426841" cy="2487168"/>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87" descr="/home/user/CPAT-AI-Local/cpat_excel_new/mitigation_copypaste/presentation/img/v2_02_formulas.png">    </p:cNvPr>
          <p:cNvPicPr>
            <a:picLocks noChangeAspect="1"/>
          </p:cNvPicPr>
          <p:nvPr/>
        </p:nvPicPr>
        <p:blipFill>
          <a:blip r:embed="rId1"/>
          <a:stretch>
            <a:fillRect/>
          </a:stretch>
        </p:blipFill>
        <p:spPr>
          <a:xfrm>
            <a:off x="1422204" y="1371600"/>
            <a:ext cx="9317113" cy="2377440"/>
          </a:xfrm>
          <a:prstGeom prst="rect">
            <a:avLst/>
          </a:prstGeom>
        </p:spPr>
      </p:pic>
      <p:sp>
        <p:nvSpPr>
          <p:cNvPr id="6" name="card-88"/>
          <p:cNvSpPr/>
          <p:nvPr/>
        </p:nvSpPr>
        <p:spPr>
          <a:xfrm>
            <a:off x="548640" y="4160520"/>
            <a:ext cx="3520440" cy="1234440"/>
          </a:xfrm>
          <a:prstGeom prst="rect">
            <a:avLst/>
          </a:prstGeom>
          <a:solidFill>
            <a:srgbClr val="F4F6FB"/>
          </a:solidFill>
          <a:ln w="12700">
            <a:solidFill>
              <a:srgbClr val="D5DAE3"/>
            </a:solidFill>
            <a:prstDash val="solid"/>
          </a:ln>
        </p:spPr>
      </p:sp>
      <p:sp>
        <p:nvSpPr>
          <p:cNvPr id="7" name="cardText-89"/>
          <p:cNvSpPr txBox="1"/>
          <p:nvPr/>
        </p:nvSpPr>
        <p:spPr>
          <a:xfrm>
            <a:off x="713232" y="4270248"/>
            <a:ext cx="3191256" cy="1014984"/>
          </a:xfrm>
          <a:prstGeom prst="rect">
            <a:avLst/>
          </a:prstGeom>
          <a:noFill/>
          <a:ln/>
        </p:spPr>
        <p:txBody>
          <a:bodyPr wrap="square" lIns="0" tIns="0" rIns="0" bIns="0" rtlCol="0" anchor="t"/>
          <a:lstStyle/>
          <a:p>
            <a:pPr indent="0" marL="0">
              <a:buNone/>
            </a:pPr>
            <a:r>
              <a:rPr lang="en-US" sz="1500" b="1" dirty="0">
                <a:solidFill>
                  <a:srgbClr val="1E2761"/>
                </a:solidFill>
              </a:rPr>
              <a:t>At most 100 characters</a:t>
            </a:r>
            <a:endParaRPr lang="en-US" sz="1500" dirty="0"/>
          </a:p>
          <a:p>
            <a:pPr indent="0" marL="0">
              <a:buNone/>
            </a:pPr>
            <a:r>
              <a:rPr lang="en-US" sz="1400" dirty="0">
                <a:solidFill>
                  <a:srgbClr val="1F1F2E"/>
                </a:solidFill>
              </a:rPr>
              <a:t>All 111,245 formulas. Long ones are split into visible steps.</a:t>
            </a:r>
            <a:endParaRPr lang="en-US" sz="1500" dirty="0"/>
          </a:p>
        </p:txBody>
      </p:sp>
      <p:sp>
        <p:nvSpPr>
          <p:cNvPr id="8" name="card-90"/>
          <p:cNvSpPr/>
          <p:nvPr/>
        </p:nvSpPr>
        <p:spPr>
          <a:xfrm>
            <a:off x="4315968" y="4160520"/>
            <a:ext cx="3520440" cy="1234440"/>
          </a:xfrm>
          <a:prstGeom prst="rect">
            <a:avLst/>
          </a:prstGeom>
          <a:solidFill>
            <a:srgbClr val="EAF4F2"/>
          </a:solidFill>
          <a:ln w="12700">
            <a:solidFill>
              <a:srgbClr val="C7E3DE"/>
            </a:solidFill>
            <a:prstDash val="solid"/>
          </a:ln>
        </p:spPr>
      </p:sp>
      <p:sp>
        <p:nvSpPr>
          <p:cNvPr id="9" name="cardText-91"/>
          <p:cNvSpPr txBox="1"/>
          <p:nvPr/>
        </p:nvSpPr>
        <p:spPr>
          <a:xfrm>
            <a:off x="4480560" y="4270248"/>
            <a:ext cx="3191256" cy="1014984"/>
          </a:xfrm>
          <a:prstGeom prst="rect">
            <a:avLst/>
          </a:prstGeom>
          <a:noFill/>
          <a:ln/>
        </p:spPr>
        <p:txBody>
          <a:bodyPr wrap="square" lIns="0" tIns="0" rIns="0" bIns="0" rtlCol="0" anchor="t"/>
          <a:lstStyle/>
          <a:p>
            <a:pPr indent="0" marL="0">
              <a:buNone/>
            </a:pPr>
            <a:r>
              <a:rPr lang="en-US" sz="1500" b="1" dirty="0">
                <a:solidFill>
                  <a:srgbClr val="0F7B6C"/>
                </a:solidFill>
              </a:rPr>
              <a:t>No LAMBDA needed</a:t>
            </a:r>
            <a:endParaRPr lang="en-US" sz="1500" dirty="0"/>
          </a:p>
          <a:p>
            <a:pPr indent="0" marL="0">
              <a:buNone/>
            </a:pPr>
            <a:r>
              <a:rPr lang="en-US" sz="1400" dirty="0">
                <a:solidFill>
                  <a:srgbClr val="1F1F2E"/>
                </a:solidFill>
              </a:rPr>
              <a:t>Every cell is plain Excel; LibreOffice recalculates it with zero errors.</a:t>
            </a:r>
            <a:endParaRPr lang="en-US" sz="1500" dirty="0"/>
          </a:p>
        </p:txBody>
      </p:sp>
      <p:sp>
        <p:nvSpPr>
          <p:cNvPr id="10" name="card-92"/>
          <p:cNvSpPr/>
          <p:nvPr/>
        </p:nvSpPr>
        <p:spPr>
          <a:xfrm>
            <a:off x="8092440" y="4160520"/>
            <a:ext cx="3520440" cy="1234440"/>
          </a:xfrm>
          <a:prstGeom prst="rect">
            <a:avLst/>
          </a:prstGeom>
          <a:solidFill>
            <a:srgbClr val="EEECE1"/>
          </a:solidFill>
          <a:ln w="12700">
            <a:solidFill>
              <a:srgbClr val="D9D4BC"/>
            </a:solidFill>
            <a:prstDash val="solid"/>
          </a:ln>
        </p:spPr>
      </p:sp>
      <p:sp>
        <p:nvSpPr>
          <p:cNvPr id="11" name="cardText-93"/>
          <p:cNvSpPr txBox="1"/>
          <p:nvPr/>
        </p:nvSpPr>
        <p:spPr>
          <a:xfrm>
            <a:off x="8257032" y="4270248"/>
            <a:ext cx="3191256" cy="1014984"/>
          </a:xfrm>
          <a:prstGeom prst="rect">
            <a:avLst/>
          </a:prstGeom>
          <a:noFill/>
          <a:ln/>
        </p:spPr>
        <p:txBody>
          <a:bodyPr wrap="square" lIns="0" tIns="0" rIns="0" bIns="0" rtlCol="0" anchor="t"/>
          <a:lstStyle/>
          <a:p>
            <a:pPr indent="0" marL="0">
              <a:buNone/>
            </a:pPr>
            <a:r>
              <a:rPr lang="en-US" sz="1500" b="1" dirty="0">
                <a:solidFill>
                  <a:srgbClr val="9C0006"/>
                </a:solidFill>
              </a:rPr>
              <a:t>LAMBDAs optional</a:t>
            </a:r>
            <a:endParaRPr lang="en-US" sz="1500" dirty="0"/>
          </a:p>
          <a:p>
            <a:pPr indent="0" marL="0">
              <a:buNone/>
            </a:pPr>
            <a:r>
              <a:rPr lang="en-US" sz="1400" dirty="0">
                <a:solidFill>
                  <a:srgbClr val="1F1F2E"/>
                </a:solidFill>
              </a:rPr>
              <a:t>Sheet Lambdas gives a named-function version of each row; same results.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MANY SCENARIOS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List scenarios, run one macro, compare</a:t>
            </a:r>
            <a:endParaRPr lang="en-US" sz="3000" dirty="0"/>
          </a:p>
        </p:txBody>
      </p:sp>
      <p:sp>
        <p:nvSpPr>
          <p:cNvPr id="4" name="flow-94"/>
          <p:cNvSpPr/>
          <p:nvPr/>
        </p:nvSpPr>
        <p:spPr>
          <a:xfrm>
            <a:off x="548640" y="1463040"/>
            <a:ext cx="2491740" cy="566928"/>
          </a:xfrm>
          <a:prstGeom prst="roundRect">
            <a:avLst>
              <a:gd name="adj" fmla="val 16129"/>
            </a:avLst>
          </a:prstGeom>
          <a:solidFill>
            <a:srgbClr val="0F7B6C"/>
          </a:solidFill>
          <a:ln w="12700">
            <a:solidFill>
              <a:srgbClr val="0F7B6C"/>
            </a:solidFill>
            <a:prstDash val="solid"/>
          </a:ln>
        </p:spPr>
      </p:sp>
      <p:sp>
        <p:nvSpPr>
          <p:cNvPr id="5" name="flowText-95"/>
          <p:cNvSpPr txBox="1"/>
          <p:nvPr/>
        </p:nvSpPr>
        <p:spPr>
          <a:xfrm>
            <a:off x="548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Define in MTInputs</a:t>
            </a:r>
            <a:endParaRPr lang="en-US" sz="1400" dirty="0"/>
          </a:p>
        </p:txBody>
      </p:sp>
      <p:sp>
        <p:nvSpPr>
          <p:cNvPr id="6" name="flowArrow-96"/>
          <p:cNvSpPr/>
          <p:nvPr/>
        </p:nvSpPr>
        <p:spPr>
          <a:xfrm>
            <a:off x="3104388" y="1618488"/>
            <a:ext cx="237744" cy="256032"/>
          </a:xfrm>
          <a:prstGeom prst="rightArrow">
            <a:avLst/>
          </a:prstGeom>
          <a:solidFill>
            <a:srgbClr val="D4A24C"/>
          </a:solidFill>
          <a:ln w="12700">
            <a:solidFill>
              <a:srgbClr val="D4A24C"/>
            </a:solidFill>
            <a:prstDash val="solid"/>
          </a:ln>
        </p:spPr>
      </p:sp>
      <p:sp>
        <p:nvSpPr>
          <p:cNvPr id="7" name="flow-97"/>
          <p:cNvSpPr/>
          <p:nvPr/>
        </p:nvSpPr>
        <p:spPr>
          <a:xfrm>
            <a:off x="3406140" y="1463040"/>
            <a:ext cx="2491740" cy="566928"/>
          </a:xfrm>
          <a:prstGeom prst="roundRect">
            <a:avLst>
              <a:gd name="adj" fmla="val 16129"/>
            </a:avLst>
          </a:prstGeom>
          <a:solidFill>
            <a:srgbClr val="0F7B6C"/>
          </a:solidFill>
          <a:ln w="12700">
            <a:solidFill>
              <a:srgbClr val="0F7B6C"/>
            </a:solidFill>
            <a:prstDash val="solid"/>
          </a:ln>
        </p:spPr>
      </p:sp>
      <p:sp>
        <p:nvSpPr>
          <p:cNvPr id="8" name="flowText-98"/>
          <p:cNvSpPr txBox="1"/>
          <p:nvPr/>
        </p:nvSpPr>
        <p:spPr>
          <a:xfrm>
            <a:off x="3406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RunAllScenarios</a:t>
            </a:r>
            <a:endParaRPr lang="en-US" sz="1400" dirty="0"/>
          </a:p>
        </p:txBody>
      </p:sp>
      <p:sp>
        <p:nvSpPr>
          <p:cNvPr id="9" name="flowArrow-99"/>
          <p:cNvSpPr/>
          <p:nvPr/>
        </p:nvSpPr>
        <p:spPr>
          <a:xfrm>
            <a:off x="5961888" y="1618488"/>
            <a:ext cx="237744" cy="256032"/>
          </a:xfrm>
          <a:prstGeom prst="rightArrow">
            <a:avLst/>
          </a:prstGeom>
          <a:solidFill>
            <a:srgbClr val="D4A24C"/>
          </a:solidFill>
          <a:ln w="12700">
            <a:solidFill>
              <a:srgbClr val="D4A24C"/>
            </a:solidFill>
            <a:prstDash val="solid"/>
          </a:ln>
        </p:spPr>
      </p:sp>
      <p:sp>
        <p:nvSpPr>
          <p:cNvPr id="10" name="flow-100"/>
          <p:cNvSpPr/>
          <p:nvPr/>
        </p:nvSpPr>
        <p:spPr>
          <a:xfrm>
            <a:off x="6263640" y="1463040"/>
            <a:ext cx="2491740" cy="566928"/>
          </a:xfrm>
          <a:prstGeom prst="roundRect">
            <a:avLst>
              <a:gd name="adj" fmla="val 16129"/>
            </a:avLst>
          </a:prstGeom>
          <a:solidFill>
            <a:srgbClr val="0F7B6C"/>
          </a:solidFill>
          <a:ln w="12700">
            <a:solidFill>
              <a:srgbClr val="0F7B6C"/>
            </a:solidFill>
            <a:prstDash val="solid"/>
          </a:ln>
        </p:spPr>
      </p:sp>
      <p:sp>
        <p:nvSpPr>
          <p:cNvPr id="11" name="flowText-101"/>
          <p:cNvSpPr txBox="1"/>
          <p:nvPr/>
        </p:nvSpPr>
        <p:spPr>
          <a:xfrm>
            <a:off x="6263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StoredResults</a:t>
            </a:r>
            <a:endParaRPr lang="en-US" sz="1400" dirty="0"/>
          </a:p>
        </p:txBody>
      </p:sp>
      <p:sp>
        <p:nvSpPr>
          <p:cNvPr id="12" name="flowArrow-102"/>
          <p:cNvSpPr/>
          <p:nvPr/>
        </p:nvSpPr>
        <p:spPr>
          <a:xfrm>
            <a:off x="8819388" y="1618488"/>
            <a:ext cx="237744" cy="256032"/>
          </a:xfrm>
          <a:prstGeom prst="rightArrow">
            <a:avLst/>
          </a:prstGeom>
          <a:solidFill>
            <a:srgbClr val="D4A24C"/>
          </a:solidFill>
          <a:ln w="12700">
            <a:solidFill>
              <a:srgbClr val="D4A24C"/>
            </a:solidFill>
            <a:prstDash val="solid"/>
          </a:ln>
        </p:spPr>
      </p:sp>
      <p:sp>
        <p:nvSpPr>
          <p:cNvPr id="13" name="flow-103"/>
          <p:cNvSpPr/>
          <p:nvPr/>
        </p:nvSpPr>
        <p:spPr>
          <a:xfrm>
            <a:off x="9121140" y="1463040"/>
            <a:ext cx="2491740" cy="566928"/>
          </a:xfrm>
          <a:prstGeom prst="roundRect">
            <a:avLst>
              <a:gd name="adj" fmla="val 16129"/>
            </a:avLst>
          </a:prstGeom>
          <a:solidFill>
            <a:srgbClr val="0F7B6C"/>
          </a:solidFill>
          <a:ln w="12700">
            <a:solidFill>
              <a:srgbClr val="0F7B6C"/>
            </a:solidFill>
            <a:prstDash val="solid"/>
          </a:ln>
        </p:spPr>
      </p:sp>
      <p:sp>
        <p:nvSpPr>
          <p:cNvPr id="14" name="flowText-104"/>
          <p:cNvSpPr txBox="1"/>
          <p:nvPr/>
        </p:nvSpPr>
        <p:spPr>
          <a:xfrm>
            <a:off x="9121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ScenarioCompare</a:t>
            </a:r>
            <a:endParaRPr lang="en-US" sz="1400" dirty="0"/>
          </a:p>
        </p:txBody>
      </p:sp>
      <p:sp>
        <p:nvSpPr>
          <p:cNvPr id="15" name="frame-105"/>
          <p:cNvSpPr/>
          <p:nvPr/>
        </p:nvSpPr>
        <p:spPr>
          <a:xfrm>
            <a:off x="493776" y="2322576"/>
            <a:ext cx="5596128" cy="2398650"/>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6" name="screenshot-106" descr="/home/user/CPAT-AI-Local/cpat_excel_new/mitigation_copypaste/presentation/img/v2_06_definitions.png">    </p:cNvPr>
          <p:cNvPicPr>
            <a:picLocks noChangeAspect="1"/>
          </p:cNvPicPr>
          <p:nvPr/>
        </p:nvPicPr>
        <p:blipFill>
          <a:blip r:embed="rId1"/>
          <a:stretch>
            <a:fillRect/>
          </a:stretch>
        </p:blipFill>
        <p:spPr>
          <a:xfrm>
            <a:off x="548640" y="2377440"/>
            <a:ext cx="5486400" cy="2288922"/>
          </a:xfrm>
          <a:prstGeom prst="rect">
            <a:avLst/>
          </a:prstGeom>
        </p:spPr>
      </p:pic>
      <p:sp>
        <p:nvSpPr>
          <p:cNvPr id="17" name="caption-107"/>
          <p:cNvSpPr txBox="1"/>
          <p:nvPr/>
        </p:nvSpPr>
        <p:spPr>
          <a:xfrm>
            <a:off x="548640" y="4776090"/>
            <a:ext cx="5486400" cy="274320"/>
          </a:xfrm>
          <a:prstGeom prst="rect">
            <a:avLst/>
          </a:prstGeom>
          <a:noFill/>
          <a:ln/>
        </p:spPr>
        <p:txBody>
          <a:bodyPr wrap="square" lIns="0" tIns="0" rIns="0" bIns="0" rtlCol="0" anchor="ctr"/>
          <a:lstStyle/>
          <a:p>
            <a:pPr indent="0" marL="0">
              <a:buNone/>
            </a:pPr>
            <a:r>
              <a:rPr lang="en-US" sz="1200" i="1" dirty="0">
                <a:solidFill>
                  <a:srgbClr val="5C667A"/>
                </a:solidFill>
              </a:rPr>
              <a:t>MTInputs: one column per scenario, Run? = Yes</a:t>
            </a:r>
            <a:endParaRPr lang="en-US" sz="1200" dirty="0"/>
          </a:p>
        </p:txBody>
      </p:sp>
      <p:sp>
        <p:nvSpPr>
          <p:cNvPr id="18" name="frame-108"/>
          <p:cNvSpPr/>
          <p:nvPr/>
        </p:nvSpPr>
        <p:spPr>
          <a:xfrm>
            <a:off x="6254496" y="2322576"/>
            <a:ext cx="5413248" cy="209104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9" name="screenshot-109" descr="/home/user/CPAT-AI-Local/cpat_excel_new/mitigation_copypaste/presentation/img/v2_05_compare.png">    </p:cNvPr>
          <p:cNvPicPr>
            <a:picLocks noChangeAspect="1"/>
          </p:cNvPicPr>
          <p:nvPr/>
        </p:nvPicPr>
        <p:blipFill>
          <a:blip r:embed="rId2"/>
          <a:stretch>
            <a:fillRect/>
          </a:stretch>
        </p:blipFill>
        <p:spPr>
          <a:xfrm>
            <a:off x="6309360" y="2377440"/>
            <a:ext cx="5303520" cy="1981315"/>
          </a:xfrm>
          <a:prstGeom prst="rect">
            <a:avLst/>
          </a:prstGeom>
        </p:spPr>
      </p:pic>
      <p:sp>
        <p:nvSpPr>
          <p:cNvPr id="20" name="caption-110"/>
          <p:cNvSpPr txBox="1"/>
          <p:nvPr/>
        </p:nvSpPr>
        <p:spPr>
          <a:xfrm>
            <a:off x="6309360" y="4468483"/>
            <a:ext cx="53035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levels in one year vs the baseline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Policies cut CO2; the ETS price meets its cap</a:t>
            </a:r>
            <a:endParaRPr lang="en-US" sz="3000" dirty="0"/>
          </a:p>
        </p:txBody>
      </p:sp>
      <p:graphicFrame>
        <p:nvGraphicFramePr>
          <p:cNvPr id="4" name="chart-111"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112" descr=""/>
          <p:cNvGraphicFramePr/>
          <p:nvPr/>
        </p:nvGraphicFramePr>
        <p:xfrm>
          <a:off x="6858000" y="1371600"/>
          <a:ext cx="4754880" cy="4480560"/>
        </p:xfrm>
        <a:graphic xmlns:a="http://schemas.openxmlformats.org/drawingml/2006/main">
          <a:graphicData uri="http://schemas.openxmlformats.org/drawingml/2006/chart">
            <c:chart xmlns:c="http://schemas.openxmlformats.org/drawingml/2006/chart" r:id="rId2"/>
          </a:graphicData>
        </a:graphic>
      </p:graphicFrame>
      <p:sp>
        <p:nvSpPr>
          <p:cNvPr id="6" name="caption-113"/>
          <p:cNvSpPr txBox="1"/>
          <p:nvPr/>
        </p:nvSpPr>
        <p:spPr>
          <a:xfrm>
            <a:off x="6858000" y="5943600"/>
            <a:ext cx="4754880" cy="274320"/>
          </a:xfrm>
          <a:prstGeom prst="rect">
            <a:avLst/>
          </a:prstGeom>
          <a:noFill/>
          <a:ln/>
        </p:spPr>
        <p:txBody>
          <a:bodyPr wrap="square" lIns="0" tIns="0" rIns="0" bIns="0" rtlCol="0" anchor="ctr"/>
          <a:lstStyle/>
          <a:p>
            <a:pPr indent="0" marL="0">
              <a:buNone/>
            </a:pPr>
            <a:r>
              <a:rPr lang="en-US" sz="1200" i="1" dirty="0">
                <a:solidFill>
                  <a:srgbClr val="5C667A"/>
                </a:solidFill>
              </a:rPr>
              <a:t>Package B ETS price: 115 $/tCO2 in 2030 (goal seek, 17 iterations)</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A full power model, with ten legacy bugs fixed</a:t>
            </a:r>
            <a:endParaRPr lang="en-US" sz="3000" dirty="0"/>
          </a:p>
        </p:txBody>
      </p:sp>
      <p:sp>
        <p:nvSpPr>
          <p:cNvPr id="4" name="flow-114"/>
          <p:cNvSpPr/>
          <p:nvPr/>
        </p:nvSpPr>
        <p:spPr>
          <a:xfrm>
            <a:off x="548640" y="1463040"/>
            <a:ext cx="1920240" cy="566928"/>
          </a:xfrm>
          <a:prstGeom prst="roundRect">
            <a:avLst>
              <a:gd name="adj" fmla="val 16129"/>
            </a:avLst>
          </a:prstGeom>
          <a:solidFill>
            <a:srgbClr val="1E2761"/>
          </a:solidFill>
          <a:ln w="12700">
            <a:solidFill>
              <a:srgbClr val="1E2761"/>
            </a:solidFill>
            <a:prstDash val="solid"/>
          </a:ln>
        </p:spPr>
      </p:sp>
      <p:sp>
        <p:nvSpPr>
          <p:cNvPr id="5" name="flowText-115"/>
          <p:cNvSpPr txBox="1"/>
          <p:nvPr/>
        </p:nvSpPr>
        <p:spPr>
          <a:xfrm>
            <a:off x="548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H. Demand</a:t>
            </a:r>
            <a:endParaRPr lang="en-US" sz="1400" dirty="0"/>
          </a:p>
        </p:txBody>
      </p:sp>
      <p:sp>
        <p:nvSpPr>
          <p:cNvPr id="6" name="flowArrow-116"/>
          <p:cNvSpPr/>
          <p:nvPr/>
        </p:nvSpPr>
        <p:spPr>
          <a:xfrm>
            <a:off x="2532888" y="1618488"/>
            <a:ext cx="237744" cy="256032"/>
          </a:xfrm>
          <a:prstGeom prst="rightArrow">
            <a:avLst/>
          </a:prstGeom>
          <a:solidFill>
            <a:srgbClr val="D4A24C"/>
          </a:solidFill>
          <a:ln w="12700">
            <a:solidFill>
              <a:srgbClr val="D4A24C"/>
            </a:solidFill>
            <a:prstDash val="solid"/>
          </a:ln>
        </p:spPr>
      </p:sp>
      <p:sp>
        <p:nvSpPr>
          <p:cNvPr id="7" name="flow-117"/>
          <p:cNvSpPr/>
          <p:nvPr/>
        </p:nvSpPr>
        <p:spPr>
          <a:xfrm>
            <a:off x="2834640" y="1463040"/>
            <a:ext cx="1920240" cy="566928"/>
          </a:xfrm>
          <a:prstGeom prst="roundRect">
            <a:avLst>
              <a:gd name="adj" fmla="val 16129"/>
            </a:avLst>
          </a:prstGeom>
          <a:solidFill>
            <a:srgbClr val="1E2761"/>
          </a:solidFill>
          <a:ln w="12700">
            <a:solidFill>
              <a:srgbClr val="1E2761"/>
            </a:solidFill>
            <a:prstDash val="solid"/>
          </a:ln>
        </p:spPr>
      </p:sp>
      <p:sp>
        <p:nvSpPr>
          <p:cNvPr id="8" name="flowText-118"/>
          <p:cNvSpPr txBox="1"/>
          <p:nvPr/>
        </p:nvSpPr>
        <p:spPr>
          <a:xfrm>
            <a:off x="2834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I. Dispatch</a:t>
            </a:r>
            <a:endParaRPr lang="en-US" sz="1400" dirty="0"/>
          </a:p>
        </p:txBody>
      </p:sp>
      <p:sp>
        <p:nvSpPr>
          <p:cNvPr id="9" name="flowArrow-119"/>
          <p:cNvSpPr/>
          <p:nvPr/>
        </p:nvSpPr>
        <p:spPr>
          <a:xfrm>
            <a:off x="4818888" y="1618488"/>
            <a:ext cx="237744" cy="256032"/>
          </a:xfrm>
          <a:prstGeom prst="rightArrow">
            <a:avLst/>
          </a:prstGeom>
          <a:solidFill>
            <a:srgbClr val="D4A24C"/>
          </a:solidFill>
          <a:ln w="12700">
            <a:solidFill>
              <a:srgbClr val="D4A24C"/>
            </a:solidFill>
            <a:prstDash val="solid"/>
          </a:ln>
        </p:spPr>
      </p:sp>
      <p:sp>
        <p:nvSpPr>
          <p:cNvPr id="10" name="flow-120"/>
          <p:cNvSpPr/>
          <p:nvPr/>
        </p:nvSpPr>
        <p:spPr>
          <a:xfrm>
            <a:off x="5120640" y="1463040"/>
            <a:ext cx="1920240" cy="566928"/>
          </a:xfrm>
          <a:prstGeom prst="roundRect">
            <a:avLst>
              <a:gd name="adj" fmla="val 16129"/>
            </a:avLst>
          </a:prstGeom>
          <a:solidFill>
            <a:srgbClr val="1E2761"/>
          </a:solidFill>
          <a:ln w="12700">
            <a:solidFill>
              <a:srgbClr val="1E2761"/>
            </a:solidFill>
            <a:prstDash val="solid"/>
          </a:ln>
        </p:spPr>
      </p:sp>
      <p:sp>
        <p:nvSpPr>
          <p:cNvPr id="11" name="flowText-121"/>
          <p:cNvSpPr txBox="1"/>
          <p:nvPr/>
        </p:nvSpPr>
        <p:spPr>
          <a:xfrm>
            <a:off x="5120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K. Capacity, retirement</a:t>
            </a:r>
            <a:endParaRPr lang="en-US" sz="1400" dirty="0"/>
          </a:p>
        </p:txBody>
      </p:sp>
      <p:sp>
        <p:nvSpPr>
          <p:cNvPr id="12" name="flowArrow-122"/>
          <p:cNvSpPr/>
          <p:nvPr/>
        </p:nvSpPr>
        <p:spPr>
          <a:xfrm>
            <a:off x="7104888" y="1618488"/>
            <a:ext cx="237744" cy="256032"/>
          </a:xfrm>
          <a:prstGeom prst="rightArrow">
            <a:avLst/>
          </a:prstGeom>
          <a:solidFill>
            <a:srgbClr val="D4A24C"/>
          </a:solidFill>
          <a:ln w="12700">
            <a:solidFill>
              <a:srgbClr val="D4A24C"/>
            </a:solidFill>
            <a:prstDash val="solid"/>
          </a:ln>
        </p:spPr>
      </p:sp>
      <p:sp>
        <p:nvSpPr>
          <p:cNvPr id="13" name="flow-123"/>
          <p:cNvSpPr/>
          <p:nvPr/>
        </p:nvSpPr>
        <p:spPr>
          <a:xfrm>
            <a:off x="7406640" y="1463040"/>
            <a:ext cx="1920240" cy="566928"/>
          </a:xfrm>
          <a:prstGeom prst="roundRect">
            <a:avLst>
              <a:gd name="adj" fmla="val 16129"/>
            </a:avLst>
          </a:prstGeom>
          <a:solidFill>
            <a:srgbClr val="1E2761"/>
          </a:solidFill>
          <a:ln w="12700">
            <a:solidFill>
              <a:srgbClr val="1E2761"/>
            </a:solidFill>
            <a:prstDash val="solid"/>
          </a:ln>
        </p:spPr>
      </p:sp>
      <p:sp>
        <p:nvSpPr>
          <p:cNvPr id="14" name="flowText-124"/>
          <p:cNvSpPr txBox="1"/>
          <p:nvPr/>
        </p:nvSpPr>
        <p:spPr>
          <a:xfrm>
            <a:off x="7406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L. Investment</a:t>
            </a:r>
            <a:endParaRPr lang="en-US" sz="1400" dirty="0"/>
          </a:p>
        </p:txBody>
      </p:sp>
      <p:sp>
        <p:nvSpPr>
          <p:cNvPr id="15" name="flowArrow-125"/>
          <p:cNvSpPr/>
          <p:nvPr/>
        </p:nvSpPr>
        <p:spPr>
          <a:xfrm>
            <a:off x="9390888" y="1618488"/>
            <a:ext cx="237744" cy="256032"/>
          </a:xfrm>
          <a:prstGeom prst="rightArrow">
            <a:avLst/>
          </a:prstGeom>
          <a:solidFill>
            <a:srgbClr val="D4A24C"/>
          </a:solidFill>
          <a:ln w="12700">
            <a:solidFill>
              <a:srgbClr val="D4A24C"/>
            </a:solidFill>
            <a:prstDash val="solid"/>
          </a:ln>
        </p:spPr>
      </p:sp>
      <p:sp>
        <p:nvSpPr>
          <p:cNvPr id="16" name="flow-126"/>
          <p:cNvSpPr/>
          <p:nvPr/>
        </p:nvSpPr>
        <p:spPr>
          <a:xfrm>
            <a:off x="9692640" y="1463040"/>
            <a:ext cx="1920240" cy="566928"/>
          </a:xfrm>
          <a:prstGeom prst="roundRect">
            <a:avLst>
              <a:gd name="adj" fmla="val 16129"/>
            </a:avLst>
          </a:prstGeom>
          <a:solidFill>
            <a:srgbClr val="1E2761"/>
          </a:solidFill>
          <a:ln w="12700">
            <a:solidFill>
              <a:srgbClr val="1E2761"/>
            </a:solidFill>
            <a:prstDash val="solid"/>
          </a:ln>
        </p:spPr>
      </p:sp>
      <p:sp>
        <p:nvSpPr>
          <p:cNvPr id="17" name="flowText-127"/>
          <p:cNvSpPr txBox="1"/>
          <p:nvPr/>
        </p:nvSpPr>
        <p:spPr>
          <a:xfrm>
            <a:off x="9692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G. Prices</a:t>
            </a:r>
            <a:endParaRPr lang="en-US" sz="1400" dirty="0"/>
          </a:p>
        </p:txBody>
      </p:sp>
      <p:graphicFrame>
        <p:nvGraphicFramePr>
          <p:cNvPr id="18" name="chart-128"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19" name="card-129"/>
          <p:cNvSpPr/>
          <p:nvPr/>
        </p:nvSpPr>
        <p:spPr>
          <a:xfrm>
            <a:off x="6583680" y="2377440"/>
            <a:ext cx="5029200" cy="2514600"/>
          </a:xfrm>
          <a:prstGeom prst="rect">
            <a:avLst/>
          </a:prstGeom>
          <a:solidFill>
            <a:srgbClr val="F4F6FB"/>
          </a:solidFill>
          <a:ln w="12700">
            <a:solidFill>
              <a:srgbClr val="D5DAE3"/>
            </a:solidFill>
            <a:prstDash val="solid"/>
          </a:ln>
        </p:spPr>
      </p:sp>
      <p:sp>
        <p:nvSpPr>
          <p:cNvPr id="20" name="cardText-130"/>
          <p:cNvSpPr txBox="1"/>
          <p:nvPr/>
        </p:nvSpPr>
        <p:spPr>
          <a:xfrm>
            <a:off x="6748272" y="2487168"/>
            <a:ext cx="4700016" cy="229514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Reproduces 208 legacy rows of two runs (to 1e-13)</a:t>
            </a:r>
            <a:endParaRPr lang="en-US" sz="1100" dirty="0"/>
          </a:p>
          <a:p>
            <a:pPr marL="342900" indent="-342900">
              <a:buSzPct val="100000"/>
              <a:buChar char="•"/>
            </a:pPr>
            <a:r>
              <a:rPr lang="en-US" sz="1500" dirty="0">
                <a:solidFill>
                  <a:srgbClr val="1F1F2E"/>
                </a:solidFill>
              </a:rPr>
              <a:t>Ten bugs fixed; report in Word</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Planned retirement by type (switch per type)</a:t>
            </a:r>
            <a:endParaRPr lang="en-US" sz="1100" dirty="0"/>
          </a:p>
          <a:p>
            <a:pPr marL="342900" indent="-342900">
              <a:buSzPct val="100000"/>
              <a:buChar char="•"/>
            </a:pPr>
            <a:r>
              <a:rPr lang="en-US" sz="1500" dirty="0">
                <a:solidFill>
                  <a:srgbClr val="1F1F2E"/>
                </a:solidFill>
              </a:rPr>
              <a:t>Electricity demand as memo lines by sector</a:t>
            </a:r>
            <a:endParaRPr lang="en-US" sz="1100" dirty="0"/>
          </a:p>
          <a:p>
            <a:pPr marL="342900" indent="-342900">
              <a:buSzPct val="100000"/>
              <a:buChar char="•"/>
            </a:pPr>
            <a:r>
              <a:rPr lang="en-US" sz="1500" dirty="0">
                <a:solidFill>
                  <a:srgbClr val="1F1F2E"/>
                </a:solidFill>
              </a:rPr>
              <a:t>Power CO2 counted in totals and the ETS</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QUALITY</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number is checked independently</a:t>
            </a:r>
            <a:endParaRPr lang="en-US" sz="3000" dirty="0"/>
          </a:p>
        </p:txBody>
      </p:sp>
      <p:sp>
        <p:nvSpPr>
          <p:cNvPr id="4" name="stat-131"/>
          <p:cNvSpPr txBox="1"/>
          <p:nvPr/>
        </p:nvSpPr>
        <p:spPr>
          <a:xfrm>
            <a:off x="548640" y="1554480"/>
            <a:ext cx="256032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0</a:t>
            </a:r>
            <a:endParaRPr lang="en-US" sz="4000" dirty="0"/>
          </a:p>
          <a:p>
            <a:pPr indent="0" marL="0">
              <a:buNone/>
            </a:pPr>
            <a:r>
              <a:rPr lang="en-US" sz="1300" dirty="0">
                <a:solidFill>
                  <a:srgbClr val="5C667A"/>
                </a:solidFill>
              </a:rPr>
              <a:t>error values when LibreOffice recalculates the shipped file</a:t>
            </a:r>
            <a:endParaRPr lang="en-US" sz="4000" dirty="0"/>
          </a:p>
        </p:txBody>
      </p:sp>
      <p:sp>
        <p:nvSpPr>
          <p:cNvPr id="5" name="stat-132"/>
          <p:cNvSpPr txBox="1"/>
          <p:nvPr/>
        </p:nvSpPr>
        <p:spPr>
          <a:xfrm>
            <a:off x="338328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111,245</a:t>
            </a:r>
            <a:endParaRPr lang="en-US" sz="4000" dirty="0"/>
          </a:p>
          <a:p>
            <a:pPr indent="0" marL="0">
              <a:buNone/>
            </a:pPr>
            <a:r>
              <a:rPr lang="en-US" sz="1300" dirty="0">
                <a:solidFill>
                  <a:srgbClr val="5C667A"/>
                </a:solidFill>
              </a:rPr>
              <a:t>formulas, none longer than 100 characters</a:t>
            </a:r>
            <a:endParaRPr lang="en-US" sz="4000" dirty="0"/>
          </a:p>
        </p:txBody>
      </p:sp>
      <p:sp>
        <p:nvSpPr>
          <p:cNvPr id="6" name="stat-133"/>
          <p:cNvSpPr txBox="1"/>
          <p:nvPr/>
        </p:nvSpPr>
        <p:spPr>
          <a:xfrm>
            <a:off x="621792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4,630</a:t>
            </a:r>
            <a:endParaRPr lang="en-US" sz="4000" dirty="0"/>
          </a:p>
          <a:p>
            <a:pPr indent="0" marL="0">
              <a:buNone/>
            </a:pPr>
            <a:r>
              <a:rPr lang="en-US" sz="1300" dirty="0">
                <a:solidFill>
                  <a:srgbClr val="5C667A"/>
                </a:solidFill>
              </a:rPr>
              <a:t>output codes unchanged against the previous version</a:t>
            </a:r>
            <a:endParaRPr lang="en-US" sz="4000" dirty="0"/>
          </a:p>
        </p:txBody>
      </p:sp>
      <p:sp>
        <p:nvSpPr>
          <p:cNvPr id="7" name="stat-134"/>
          <p:cNvSpPr txBox="1"/>
          <p:nvPr/>
        </p:nvSpPr>
        <p:spPr>
          <a:xfrm>
            <a:off x="9052560" y="1554480"/>
            <a:ext cx="256032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12</a:t>
            </a:r>
            <a:endParaRPr lang="en-US" sz="4000" dirty="0"/>
          </a:p>
          <a:p>
            <a:pPr indent="0" marL="0">
              <a:buNone/>
            </a:pPr>
            <a:r>
              <a:rPr lang="en-US" sz="1300" dirty="0">
                <a:solidFill>
                  <a:srgbClr val="5C667A"/>
                </a:solidFill>
              </a:rPr>
              <a:t>scenario tests recomputed in Python</a:t>
            </a:r>
            <a:endParaRPr lang="en-US" sz="4000" dirty="0"/>
          </a:p>
        </p:txBody>
      </p:sp>
      <p:sp>
        <p:nvSpPr>
          <p:cNvPr id="8" name="badge-135"/>
          <p:cNvSpPr/>
          <p:nvPr/>
        </p:nvSpPr>
        <p:spPr>
          <a:xfrm>
            <a:off x="548640" y="3566160"/>
            <a:ext cx="384048" cy="384048"/>
          </a:xfrm>
          <a:prstGeom prst="ellipse">
            <a:avLst/>
          </a:prstGeom>
          <a:solidFill>
            <a:srgbClr val="0F7B6C"/>
          </a:solidFill>
          <a:ln w="12700">
            <a:solidFill>
              <a:srgbClr val="0F7B6C"/>
            </a:solidFill>
            <a:prstDash val="solid"/>
          </a:ln>
        </p:spPr>
      </p:sp>
      <p:sp>
        <p:nvSpPr>
          <p:cNvPr id="9" name="badgeText-136"/>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137"/>
          <p:cNvSpPr txBox="1"/>
          <p:nvPr/>
        </p:nvSpPr>
        <p:spPr>
          <a:xfrm>
            <a:off x="109728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Independent recomputation</a:t>
            </a:r>
            <a:endParaRPr lang="en-US" sz="1500" dirty="0"/>
          </a:p>
          <a:p>
            <a:pPr indent="0" marL="0">
              <a:buNone/>
            </a:pPr>
            <a:r>
              <a:rPr lang="en-US" sz="1400" dirty="0">
                <a:solidFill>
                  <a:srgbClr val="5C667A"/>
                </a:solidFill>
              </a:rPr>
              <a:t>A Python script recomputes prices, fuel use, power, revenue and CO2 from the source data for every test scenario.</a:t>
            </a:r>
            <a:endParaRPr lang="en-US" sz="1500" dirty="0"/>
          </a:p>
        </p:txBody>
      </p:sp>
      <p:sp>
        <p:nvSpPr>
          <p:cNvPr id="11" name="badge-138"/>
          <p:cNvSpPr/>
          <p:nvPr/>
        </p:nvSpPr>
        <p:spPr>
          <a:xfrm>
            <a:off x="6126480" y="3566160"/>
            <a:ext cx="384048" cy="384048"/>
          </a:xfrm>
          <a:prstGeom prst="ellipse">
            <a:avLst/>
          </a:prstGeom>
          <a:solidFill>
            <a:srgbClr val="0F7B6C"/>
          </a:solidFill>
          <a:ln w="12700">
            <a:solidFill>
              <a:srgbClr val="0F7B6C"/>
            </a:solidFill>
            <a:prstDash val="solid"/>
          </a:ln>
        </p:spPr>
      </p:sp>
      <p:sp>
        <p:nvSpPr>
          <p:cNvPr id="12" name="badgeText-139"/>
          <p:cNvSpPr txBox="1"/>
          <p:nvPr/>
        </p:nvSpPr>
        <p:spPr>
          <a:xfrm>
            <a:off x="61264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140"/>
          <p:cNvSpPr txBox="1"/>
          <p:nvPr/>
        </p:nvSpPr>
        <p:spPr>
          <a:xfrm>
            <a:off x="667512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Macros tested</a:t>
            </a:r>
            <a:endParaRPr lang="en-US" sz="1500" dirty="0"/>
          </a:p>
          <a:p>
            <a:pPr indent="0" marL="0">
              <a:buNone/>
            </a:pPr>
            <a:r>
              <a:rPr lang="en-US" sz="1400" dirty="0">
                <a:solidFill>
                  <a:srgbClr val="5C667A"/>
                </a:solidFill>
              </a:rPr>
              <a:t>The batch macro runs in LibreOffice and matches the stored results; CheckBatchRun repeats the test in Excel.</a:t>
            </a:r>
            <a:endParaRPr lang="en-US" sz="1500" dirty="0"/>
          </a:p>
        </p:txBody>
      </p:sp>
      <p:sp>
        <p:nvSpPr>
          <p:cNvPr id="14" name="badge-141"/>
          <p:cNvSpPr/>
          <p:nvPr/>
        </p:nvSpPr>
        <p:spPr>
          <a:xfrm>
            <a:off x="548640" y="4846320"/>
            <a:ext cx="384048" cy="384048"/>
          </a:xfrm>
          <a:prstGeom prst="ellipse">
            <a:avLst/>
          </a:prstGeom>
          <a:solidFill>
            <a:srgbClr val="0F7B6C"/>
          </a:solidFill>
          <a:ln w="12700">
            <a:solidFill>
              <a:srgbClr val="0F7B6C"/>
            </a:solidFill>
            <a:prstDash val="solid"/>
          </a:ln>
        </p:spPr>
      </p:sp>
      <p:sp>
        <p:nvSpPr>
          <p:cNvPr id="15" name="badgeText-142"/>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143"/>
          <p:cNvSpPr txBox="1"/>
          <p:nvPr/>
        </p:nvSpPr>
        <p:spPr>
          <a:xfrm>
            <a:off x="109728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Differences listed</a:t>
            </a:r>
            <a:endParaRPr lang="en-US" sz="1500" dirty="0"/>
          </a:p>
          <a:p>
            <a:pPr indent="0" marL="0">
              <a:buNone/>
            </a:pPr>
            <a:r>
              <a:rPr lang="en-US" sz="1400" dirty="0">
                <a:solidFill>
                  <a:srgbClr val="5C667A"/>
                </a:solidFill>
              </a:rPr>
              <a:t>Sheet LegacyDiff lists every difference with legacy CPAT and why.</a:t>
            </a:r>
            <a:endParaRPr lang="en-US" sz="1500" dirty="0"/>
          </a:p>
        </p:txBody>
      </p:sp>
      <p:sp>
        <p:nvSpPr>
          <p:cNvPr id="17" name="badge-144"/>
          <p:cNvSpPr/>
          <p:nvPr/>
        </p:nvSpPr>
        <p:spPr>
          <a:xfrm>
            <a:off x="6126480" y="4846320"/>
            <a:ext cx="384048" cy="384048"/>
          </a:xfrm>
          <a:prstGeom prst="ellipse">
            <a:avLst/>
          </a:prstGeom>
          <a:solidFill>
            <a:srgbClr val="0F7B6C"/>
          </a:solidFill>
          <a:ln w="12700">
            <a:solidFill>
              <a:srgbClr val="0F7B6C"/>
            </a:solidFill>
            <a:prstDash val="solid"/>
          </a:ln>
        </p:spPr>
      </p:sp>
      <p:sp>
        <p:nvSpPr>
          <p:cNvPr id="18" name="badgeText-145"/>
          <p:cNvSpPr txBox="1"/>
          <p:nvPr/>
        </p:nvSpPr>
        <p:spPr>
          <a:xfrm>
            <a:off x="612648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146"/>
          <p:cNvSpPr txBox="1"/>
          <p:nvPr/>
        </p:nvSpPr>
        <p:spPr>
          <a:xfrm>
            <a:off x="667512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Documented</a:t>
            </a:r>
            <a:endParaRPr lang="en-US" sz="1500" dirty="0"/>
          </a:p>
          <a:p>
            <a:pPr indent="0" marL="0">
              <a:buNone/>
            </a:pPr>
            <a:r>
              <a:rPr lang="en-US" sz="1400" dirty="0">
                <a:solidFill>
                  <a:srgbClr val="5C667A"/>
                </a:solidFill>
              </a:rPr>
              <a:t>Method notes, a Word documentation and a bug report for the power model.</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GETTING STARTED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Open, run the check, then explore</a:t>
            </a:r>
            <a:endParaRPr lang="en-US" sz="3000" dirty="0"/>
          </a:p>
        </p:txBody>
      </p:sp>
      <p:sp>
        <p:nvSpPr>
          <p:cNvPr id="4" name="badge-147"/>
          <p:cNvSpPr/>
          <p:nvPr/>
        </p:nvSpPr>
        <p:spPr>
          <a:xfrm>
            <a:off x="548640" y="1554480"/>
            <a:ext cx="384048" cy="384048"/>
          </a:xfrm>
          <a:prstGeom prst="ellipse">
            <a:avLst/>
          </a:prstGeom>
          <a:solidFill>
            <a:srgbClr val="0F7B6C"/>
          </a:solidFill>
          <a:ln w="12700">
            <a:solidFill>
              <a:srgbClr val="0F7B6C"/>
            </a:solidFill>
            <a:prstDash val="solid"/>
          </a:ln>
        </p:spPr>
      </p:sp>
      <p:sp>
        <p:nvSpPr>
          <p:cNvPr id="5" name="badgeText-148"/>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item-149"/>
          <p:cNvSpPr txBox="1"/>
          <p:nvPr/>
        </p:nvSpPr>
        <p:spPr>
          <a:xfrm>
            <a:off x="1097280" y="150876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Open the .xlsm and enable macros</a:t>
            </a:r>
            <a:endParaRPr lang="en-US" sz="1500" dirty="0"/>
          </a:p>
          <a:p>
            <a:pPr indent="0" marL="0">
              <a:buNone/>
            </a:pPr>
            <a:r>
              <a:rPr lang="en-US" sz="1400" dirty="0">
                <a:solidFill>
                  <a:srgbClr val="5C667A"/>
                </a:solidFill>
              </a:rPr>
              <a:t>Run CheckBatchRun once (Alt+F8): sheet MacroCheck should say PASS.</a:t>
            </a:r>
            <a:endParaRPr lang="en-US" sz="1500" dirty="0"/>
          </a:p>
        </p:txBody>
      </p:sp>
      <p:sp>
        <p:nvSpPr>
          <p:cNvPr id="7" name="badge-150"/>
          <p:cNvSpPr/>
          <p:nvPr/>
        </p:nvSpPr>
        <p:spPr>
          <a:xfrm>
            <a:off x="548640" y="2651760"/>
            <a:ext cx="384048" cy="384048"/>
          </a:xfrm>
          <a:prstGeom prst="ellipse">
            <a:avLst/>
          </a:prstGeom>
          <a:solidFill>
            <a:srgbClr val="0F7B6C"/>
          </a:solidFill>
          <a:ln w="12700">
            <a:solidFill>
              <a:srgbClr val="0F7B6C"/>
            </a:solidFill>
            <a:prstDash val="solid"/>
          </a:ln>
        </p:spPr>
      </p:sp>
      <p:sp>
        <p:nvSpPr>
          <p:cNvPr id="8" name="badgeText-151"/>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item-152"/>
          <p:cNvSpPr txBox="1"/>
          <p:nvPr/>
        </p:nvSpPr>
        <p:spPr>
          <a:xfrm>
            <a:off x="1097280" y="260604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Change a scenario</a:t>
            </a:r>
            <a:endParaRPr lang="en-US" sz="1500" dirty="0"/>
          </a:p>
          <a:p>
            <a:pPr indent="0" marL="0">
              <a:buNone/>
            </a:pPr>
            <a:r>
              <a:rPr lang="en-US" sz="1400" dirty="0">
                <a:solidFill>
                  <a:srgbClr val="5C667A"/>
                </a:solidFill>
              </a:rPr>
              <a:t>Edit its MTInputs column; results update on Mitigation, MTOutputs and Charts.</a:t>
            </a:r>
            <a:endParaRPr lang="en-US" sz="1500" dirty="0"/>
          </a:p>
        </p:txBody>
      </p:sp>
      <p:sp>
        <p:nvSpPr>
          <p:cNvPr id="10" name="badge-153"/>
          <p:cNvSpPr/>
          <p:nvPr/>
        </p:nvSpPr>
        <p:spPr>
          <a:xfrm>
            <a:off x="548640" y="3749040"/>
            <a:ext cx="384048" cy="384048"/>
          </a:xfrm>
          <a:prstGeom prst="ellipse">
            <a:avLst/>
          </a:prstGeom>
          <a:solidFill>
            <a:srgbClr val="0F7B6C"/>
          </a:solidFill>
          <a:ln w="12700">
            <a:solidFill>
              <a:srgbClr val="0F7B6C"/>
            </a:solidFill>
            <a:prstDash val="solid"/>
          </a:ln>
        </p:spPr>
      </p:sp>
      <p:sp>
        <p:nvSpPr>
          <p:cNvPr id="11" name="badgeText-154"/>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item-155"/>
          <p:cNvSpPr txBox="1"/>
          <p:nvPr/>
        </p:nvSpPr>
        <p:spPr>
          <a:xfrm>
            <a:off x="1097280" y="370332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Run many scenarios</a:t>
            </a:r>
            <a:endParaRPr lang="en-US" sz="1500" dirty="0"/>
          </a:p>
          <a:p>
            <a:pPr indent="0" marL="0">
              <a:buNone/>
            </a:pPr>
            <a:r>
              <a:rPr lang="en-US" sz="1400" dirty="0">
                <a:solidFill>
                  <a:srgbClr val="5C667A"/>
                </a:solidFill>
              </a:rPr>
              <a:t>Set Run? = Yes on the definitions and run RunAllScenarios; compare them.</a:t>
            </a:r>
            <a:endParaRPr lang="en-US" sz="1500" dirty="0"/>
          </a:p>
        </p:txBody>
      </p:sp>
      <p:sp>
        <p:nvSpPr>
          <p:cNvPr id="13" name="badge-156"/>
          <p:cNvSpPr/>
          <p:nvPr/>
        </p:nvSpPr>
        <p:spPr>
          <a:xfrm>
            <a:off x="548640" y="4846320"/>
            <a:ext cx="384048" cy="384048"/>
          </a:xfrm>
          <a:prstGeom prst="ellipse">
            <a:avLst/>
          </a:prstGeom>
          <a:solidFill>
            <a:srgbClr val="0F7B6C"/>
          </a:solidFill>
          <a:ln w="12700">
            <a:solidFill>
              <a:srgbClr val="0F7B6C"/>
            </a:solidFill>
            <a:prstDash val="solid"/>
          </a:ln>
        </p:spPr>
      </p:sp>
      <p:sp>
        <p:nvSpPr>
          <p:cNvPr id="14" name="badgeText-157"/>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item-158"/>
          <p:cNvSpPr txBox="1"/>
          <p:nvPr/>
        </p:nvSpPr>
        <p:spPr>
          <a:xfrm>
            <a:off x="1097280" y="480060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Read more</a:t>
            </a:r>
            <a:endParaRPr lang="en-US" sz="1500" dirty="0"/>
          </a:p>
          <a:p>
            <a:pPr indent="0" marL="0">
              <a:buNone/>
            </a:pPr>
            <a:r>
              <a:rPr lang="en-US" sz="1400" dirty="0">
                <a:solidFill>
                  <a:srgbClr val="5C667A"/>
                </a:solidFill>
              </a:rPr>
              <a:t>ReadMe and LegacyDiff tabs; the Word documentation and method notes.</a:t>
            </a:r>
            <a:endParaRPr lang="en-US" sz="1500" dirty="0"/>
          </a:p>
        </p:txBody>
      </p:sp>
      <p:sp>
        <p:nvSpPr>
          <p:cNvPr id="16" name="card-159"/>
          <p:cNvSpPr/>
          <p:nvPr/>
        </p:nvSpPr>
        <p:spPr>
          <a:xfrm>
            <a:off x="7406640" y="1371600"/>
            <a:ext cx="4206240" cy="4572000"/>
          </a:xfrm>
          <a:prstGeom prst="rect">
            <a:avLst/>
          </a:prstGeom>
          <a:solidFill>
            <a:srgbClr val="1E2761"/>
          </a:solidFill>
          <a:ln w="12700">
            <a:solidFill>
              <a:srgbClr val="1E2761"/>
            </a:solidFill>
            <a:prstDash val="solid"/>
          </a:ln>
        </p:spPr>
      </p:sp>
      <p:sp>
        <p:nvSpPr>
          <p:cNvPr id="17" name="next-160"/>
          <p:cNvSpPr txBox="1"/>
          <p:nvPr/>
        </p:nvSpPr>
        <p:spPr>
          <a:xfrm>
            <a:off x="7635240" y="1600200"/>
            <a:ext cx="3749040" cy="4206240"/>
          </a:xfrm>
          <a:prstGeom prst="rect">
            <a:avLst/>
          </a:prstGeom>
          <a:noFill/>
          <a:ln/>
        </p:spPr>
        <p:txBody>
          <a:bodyPr wrap="square" lIns="0" tIns="0" rIns="0" bIns="0" rtlCol="0" anchor="t"/>
          <a:lstStyle/>
          <a:p>
            <a:pPr indent="0" marL="0">
              <a:spcAft>
                <a:spcPts val="1400"/>
              </a:spcAft>
              <a:buNone/>
            </a:pPr>
            <a:r>
              <a:rPr lang="en-US" sz="1100" b="1" spc="200" kern="0" dirty="0">
                <a:solidFill>
                  <a:srgbClr val="D4A24C"/>
                </a:solidFill>
              </a:rPr>
              <a:t>NEXT</a:t>
            </a:r>
            <a:endParaRPr lang="en-US" sz="1600" dirty="0"/>
          </a:p>
          <a:p>
            <a:pPr marL="342900" indent="-342900">
              <a:spcAft>
                <a:spcPts val="1400"/>
              </a:spcAft>
              <a:buSzPct val="100000"/>
              <a:buChar char="•"/>
            </a:pPr>
            <a:r>
              <a:rPr lang="en-US" sz="1600" dirty="0">
                <a:solidFill>
                  <a:srgbClr val="FFFFFF"/>
                </a:solidFill>
              </a:rPr>
              <a:t>Review in Excel</a:t>
            </a:r>
            <a:endParaRPr lang="en-US" sz="1600" dirty="0"/>
          </a:p>
          <a:p>
            <a:pPr marL="342900" indent="-342900">
              <a:spcAft>
                <a:spcPts val="1400"/>
              </a:spcAft>
              <a:buSzPct val="100000"/>
              <a:buChar char="•"/>
            </a:pPr>
            <a:r>
              <a:rPr lang="en-US" sz="1600" dirty="0">
                <a:solidFill>
                  <a:srgbClr val="FFFFFF"/>
                </a:solidFill>
              </a:rPr>
              <a:t>Numerical check against legacy CPAT</a:t>
            </a:r>
            <a:endParaRPr lang="en-US" sz="1600" dirty="0"/>
          </a:p>
          <a:p>
            <a:pPr marL="342900" indent="-342900">
              <a:spcAft>
                <a:spcPts val="1400"/>
              </a:spcAft>
              <a:buSzPct val="100000"/>
              <a:buChar char="•"/>
            </a:pPr>
            <a:r>
              <a:rPr lang="en-US" sz="1600" dirty="0">
                <a:solidFill>
                  <a:srgbClr val="FFFFFF"/>
                </a:solidFill>
              </a:rPr>
              <a:t>Other gases and local pollutants</a:t>
            </a:r>
            <a:endParaRPr lang="en-US" sz="1600" dirty="0"/>
          </a:p>
          <a:p>
            <a:pPr marL="342900" indent="-342900">
              <a:spcAft>
                <a:spcPts val="1400"/>
              </a:spcAft>
              <a:buSzPct val="100000"/>
              <a:buChar char="•"/>
            </a:pPr>
            <a:r>
              <a:rPr lang="en-US" sz="1600" dirty="0">
                <a:solidFill>
                  <a:srgbClr val="FFFFFF"/>
                </a:solidFill>
              </a:rPr>
              <a:t>Planned-retirement data for Egypt</a:t>
            </a:r>
            <a:endParaRPr lang="en-US" sz="1600" dirty="0"/>
          </a:p>
          <a:p>
            <a:pPr marL="342900" indent="-342900">
              <a:spcAft>
                <a:spcPts val="1400"/>
              </a:spcAft>
              <a:buSzPct val="100000"/>
              <a:buChar char="•"/>
            </a:pPr>
            <a:r>
              <a:rPr lang="en-US" sz="1600" dirty="0">
                <a:solidFill>
                  <a:srgbClr val="FFFFFF"/>
                </a:solidFill>
              </a:rPr>
              <a:t>Stress test: add a fuel, a sector, a scenario</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overview and user guide</dc:title>
  <dc:subject>PptxGenJS Presentation</dc:subject>
  <dc:creator>PptxGenJS</dc:creator>
  <cp:lastModifiedBy>PptxGenJS</cp:lastModifiedBy>
  <cp:revision>1</cp:revision>
  <dcterms:created xsi:type="dcterms:W3CDTF">2026-10-11T14:08:28Z</dcterms:created>
  <dcterms:modified xsi:type="dcterms:W3CDTF">2026-10-11T14:08:28Z</dcterms:modified>
</cp:coreProperties>
</file>