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6ab5669-9e02-9a05-0b6d-391bea4e6fde}">
          <p14:sldIdLst>
            <p14:sldId id="256"/>
            <p14:sldId id="257"/>
            <p14:sldId id="258"/>
          </p14:sldIdLst>
        </p14:section>
        <p14:section name="Using the workbook" id="{fb6243cd-64cb-76b0-dd90-5446d84e545f}">
          <p14:sldIdLst>
            <p14:sldId id="259"/>
            <p14:sldId id="260"/>
            <p14:sldId id="261"/>
            <p14:sldId id="262"/>
          </p14:sldIdLst>
        </p14:section>
        <p14:section name="Model and results" id="{ba490c45-0b9f-825e-7d34-6bb95253ad3f}">
          <p14:sldIdLst>
            <p14:sldId id="263"/>
            <p14:sldId id="264"/>
            <p14:sldId id="265"/>
          </p14:sldIdLst>
        </p14:section>
        <p14:section name="Next steps" id="{3094f19a-98df-1a5e-d65d-a63c4e71db4c}">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CO2 from fuel combustion incl. power (MtCO2)</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224.854684204376</c:v>
                </c:pt>
                <c:pt idx="1">
                  <c:v>280.546724196191</c:v>
                </c:pt>
                <c:pt idx="2">
                  <c:v>297.2166037113</c:v>
                </c:pt>
                <c:pt idx="3">
                  <c:v>310.19953651693</c:v>
                </c:pt>
                <c:pt idx="4">
                  <c:v>306.727191181382</c:v>
                </c:pt>
                <c:pt idx="5">
                  <c:v>313.2980199024</c:v>
                </c:pt>
                <c:pt idx="6">
                  <c:v>318.3083805489</c:v>
                </c:pt>
                <c:pt idx="7">
                  <c:v>329.526627441901</c:v>
                </c:pt>
                <c:pt idx="8">
                  <c:v>337.19396613959</c:v>
                </c:pt>
                <c:pt idx="9">
                  <c:v>346.668735663779</c:v>
                </c:pt>
                <c:pt idx="10">
                  <c:v>355.094412274911</c:v>
                </c:pt>
                <c:pt idx="11">
                  <c:v>364.373957059978</c:v>
                </c:pt>
                <c:pt idx="12">
                  <c:v>373.444751010637</c:v>
                </c:pt>
                <c:pt idx="13">
                  <c:v>382.935898991882</c:v>
                </c:pt>
                <c:pt idx="14">
                  <c:v>392.466086959845</c:v>
                </c:pt>
                <c:pt idx="15">
                  <c:v>402.251644749212</c:v>
                </c:pt>
                <c:pt idx="16">
                  <c:v>412.152356740844</c:v>
                </c:pt>
                <c:pt idx="17">
                  <c:v>422.23573699733</c:v>
                </c:pt>
                <c:pt idx="18">
                  <c:v>432.402319652436</c:v>
                </c:pt>
                <c:pt idx="19">
                  <c:v>442.67168400012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224.854684204376</c:v>
                </c:pt>
                <c:pt idx="1">
                  <c:v>280.412761073261</c:v>
                </c:pt>
                <c:pt idx="2">
                  <c:v>297.086339652599</c:v>
                </c:pt>
                <c:pt idx="3">
                  <c:v>310.07278425057</c:v>
                </c:pt>
                <c:pt idx="4">
                  <c:v>306.604233545601</c:v>
                </c:pt>
                <c:pt idx="5">
                  <c:v>284.636064051815</c:v>
                </c:pt>
                <c:pt idx="6">
                  <c:v>279.019199735466</c:v>
                </c:pt>
                <c:pt idx="7">
                  <c:v>291.161528685581</c:v>
                </c:pt>
                <c:pt idx="8">
                  <c:v>297.222349434226</c:v>
                </c:pt>
                <c:pt idx="9">
                  <c:v>306.171643243255</c:v>
                </c:pt>
                <c:pt idx="10">
                  <c:v>312.581418083826</c:v>
                </c:pt>
                <c:pt idx="11">
                  <c:v>320.25228777204</c:v>
                </c:pt>
                <c:pt idx="12">
                  <c:v>327.21164287259</c:v>
                </c:pt>
                <c:pt idx="13">
                  <c:v>334.867729881526</c:v>
                </c:pt>
                <c:pt idx="14">
                  <c:v>342.372564775695</c:v>
                </c:pt>
                <c:pt idx="15">
                  <c:v>350.251131103747</c:v>
                </c:pt>
                <c:pt idx="16">
                  <c:v>358.154662094941</c:v>
                </c:pt>
                <c:pt idx="17">
                  <c:v>366.282724925882</c:v>
                </c:pt>
                <c:pt idx="18">
                  <c:v>374.458452650124</c:v>
                </c:pt>
                <c:pt idx="19">
                  <c:v>382.76129317346</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Sheet1!$D$2:$D$21</c:f>
              <c:numCache>
                <c:formatCode>General</c:formatCode>
                <c:ptCount val="20"/>
                <c:pt idx="0">
                  <c:v>224.854684204376</c:v>
                </c:pt>
                <c:pt idx="1">
                  <c:v>280.096117557223</c:v>
                </c:pt>
                <c:pt idx="2">
                  <c:v>296.778156582131</c:v>
                </c:pt>
                <c:pt idx="3">
                  <c:v>309.772606838782</c:v>
                </c:pt>
                <c:pt idx="4">
                  <c:v>306.313386849595</c:v>
                </c:pt>
                <c:pt idx="5">
                  <c:v>293.474139642598</c:v>
                </c:pt>
                <c:pt idx="6">
                  <c:v>272.424807803185</c:v>
                </c:pt>
                <c:pt idx="7">
                  <c:v>263.382517121319</c:v>
                </c:pt>
                <c:pt idx="8">
                  <c:v>251.779454040167</c:v>
                </c:pt>
                <c:pt idx="9">
                  <c:v>245.24827399137</c:v>
                </c:pt>
                <c:pt idx="10">
                  <c:v>237.584852663871</c:v>
                </c:pt>
                <c:pt idx="11">
                  <c:v>232.488122371818</c:v>
                </c:pt>
                <c:pt idx="12">
                  <c:v>226.98835692948</c:v>
                </c:pt>
                <c:pt idx="13">
                  <c:v>222.93899565502</c:v>
                </c:pt>
                <c:pt idx="14">
                  <c:v>218.762828534669</c:v>
                </c:pt>
                <c:pt idx="15">
                  <c:v>215.482011908463</c:v>
                </c:pt>
                <c:pt idx="16">
                  <c:v>212.172198476134</c:v>
                </c:pt>
                <c:pt idx="17">
                  <c:v>209.460754374658</c:v>
                </c:pt>
                <c:pt idx="18">
                  <c:v>206.741341309567</c:v>
                </c:pt>
                <c:pt idx="19">
                  <c:v>204.451115229022</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Sheet1!$E$2:$E$21</c:f>
              <c:numCache>
                <c:formatCode>General</c:formatCode>
                <c:ptCount val="20"/>
                <c:pt idx="0">
                  <c:v>224.854684204376</c:v>
                </c:pt>
                <c:pt idx="1">
                  <c:v>280.039212317024</c:v>
                </c:pt>
                <c:pt idx="2">
                  <c:v>296.723902684162</c:v>
                </c:pt>
                <c:pt idx="3">
                  <c:v>309.72098283705</c:v>
                </c:pt>
                <c:pt idx="4">
                  <c:v>306.260634200129</c:v>
                </c:pt>
                <c:pt idx="5">
                  <c:v>276.815827826117</c:v>
                </c:pt>
                <c:pt idx="6">
                  <c:v>278.476136184573</c:v>
                </c:pt>
                <c:pt idx="7">
                  <c:v>285.464289331542</c:v>
                </c:pt>
                <c:pt idx="8">
                  <c:v>289.480602437305</c:v>
                </c:pt>
                <c:pt idx="9">
                  <c:v>294.774924984996</c:v>
                </c:pt>
                <c:pt idx="10">
                  <c:v>299.302372898779</c:v>
                </c:pt>
                <c:pt idx="11">
                  <c:v>304.386806828186</c:v>
                </c:pt>
                <c:pt idx="12">
                  <c:v>308.856709301855</c:v>
                </c:pt>
                <c:pt idx="13">
                  <c:v>313.622453591842</c:v>
                </c:pt>
                <c:pt idx="14">
                  <c:v>318.228830465664</c:v>
                </c:pt>
                <c:pt idx="15">
                  <c:v>323.407614055341</c:v>
                </c:pt>
                <c:pt idx="16">
                  <c:v>328.00956053758</c:v>
                </c:pt>
                <c:pt idx="17">
                  <c:v>333.192863515512</c:v>
                </c:pt>
                <c:pt idx="18">
                  <c:v>338.064966836106</c:v>
                </c:pt>
                <c:pt idx="19">
                  <c:v>343.453305380994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Package B: covered CO2 and cap (MtCO2)</a:t>
            </a:r>
          </a:p>
        </c:rich>
      </c:tx>
      <c:layout/>
      <c:overlay val="0"/>
    </c:title>
    <c:autoTitleDeleted val="0"/>
    <c:plotArea>
      <c:layout/>
      <c:lineChart>
        <c:varyColors val="0"/>
        <c:ser>
          <c:idx val="0"/>
          <c:order val="0"/>
          <c:tx>
            <c:strRef>
              <c:f>Sheet1!$B$1</c:f>
              <c:strCache>
                <c:ptCount val="1"/>
                <c:pt idx="0">
                  <c:v>Covered CO2</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0</c:v>
                </c:pt>
                <c:pt idx="1">
                  <c:v>0</c:v>
                </c:pt>
                <c:pt idx="2">
                  <c:v>0</c:v>
                </c:pt>
                <c:pt idx="3">
                  <c:v>0</c:v>
                </c:pt>
                <c:pt idx="4">
                  <c:v>0</c:v>
                </c:pt>
                <c:pt idx="5">
                  <c:v>124.857592563738</c:v>
                </c:pt>
                <c:pt idx="6">
                  <c:v>121.730800538058</c:v>
                </c:pt>
                <c:pt idx="7">
                  <c:v>124.08267008318</c:v>
                </c:pt>
                <c:pt idx="8">
                  <c:v>123.719034802376</c:v>
                </c:pt>
                <c:pt idx="9">
                  <c:v>124.560635904583</c:v>
                </c:pt>
                <c:pt idx="10">
                  <c:v>124.563450773494</c:v>
                </c:pt>
                <c:pt idx="11">
                  <c:v>125.052279521342</c:v>
                </c:pt>
                <c:pt idx="12">
                  <c:v>124.856671969586</c:v>
                </c:pt>
                <c:pt idx="13">
                  <c:v>124.888183172537</c:v>
                </c:pt>
                <c:pt idx="14">
                  <c:v>124.692902490999</c:v>
                </c:pt>
                <c:pt idx="15">
                  <c:v>125.004021635916</c:v>
                </c:pt>
                <c:pt idx="16">
                  <c:v>124.673835364689</c:v>
                </c:pt>
                <c:pt idx="17">
                  <c:v>124.862198709066</c:v>
                </c:pt>
                <c:pt idx="18">
                  <c:v>124.678341457275</c:v>
                </c:pt>
                <c:pt idx="19">
                  <c:v>124.95161041675</c:v>
                </c:pt>
              </c:numCache>
            </c:numRef>
          </c:val>
          <c:smooth val="0"/>
        </c:ser>
        <c:ser>
          <c:idx val="1"/>
          <c:order val="1"/>
          <c:tx>
            <c:strRef>
              <c:f>Sheet1!$C$1</c:f>
              <c:strCache>
                <c:ptCount val="1"/>
                <c:pt idx="0">
                  <c:v>Cap</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0</c:v>
                </c:pt>
                <c:pt idx="1">
                  <c:v>0</c:v>
                </c:pt>
                <c:pt idx="2">
                  <c:v>0</c:v>
                </c:pt>
                <c:pt idx="3">
                  <c:v>0</c:v>
                </c:pt>
                <c:pt idx="4">
                  <c:v>0</c:v>
                </c:pt>
                <c:pt idx="5">
                  <c:v>124.289290912905</c:v>
                </c:pt>
                <c:pt idx="6">
                  <c:v>121.158940592375</c:v>
                </c:pt>
                <c:pt idx="7">
                  <c:v>123.884344793694</c:v>
                </c:pt>
                <c:pt idx="8">
                  <c:v>123.497071908328</c:v>
                </c:pt>
                <c:pt idx="9">
                  <c:v>124.523886729857</c:v>
                </c:pt>
                <c:pt idx="10">
                  <c:v>124.423022557364</c:v>
                </c:pt>
                <c:pt idx="11">
                  <c:v>124.853020605729</c:v>
                </c:pt>
                <c:pt idx="12">
                  <c:v>124.901676360304</c:v>
                </c:pt>
                <c:pt idx="13">
                  <c:v>125.089877160256</c:v>
                </c:pt>
                <c:pt idx="14">
                  <c:v>125.089877160256</c:v>
                </c:pt>
                <c:pt idx="15">
                  <c:v>125.089877160256</c:v>
                </c:pt>
                <c:pt idx="16">
                  <c:v>125.089877160256</c:v>
                </c:pt>
                <c:pt idx="17">
                  <c:v>125.089877160256</c:v>
                </c:pt>
                <c:pt idx="18">
                  <c:v>125.089877160256</c:v>
                </c:pt>
                <c:pt idx="19">
                  <c:v>125.089877160256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Variable renewable share of generation</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Sheet1!$B$2:$B$21</c:f>
              <c:numCache>
                <c:formatCode>General</c:formatCode>
                <c:ptCount val="20"/>
                <c:pt idx="0">
                  <c:v>0.0523422150659333</c:v>
                </c:pt>
                <c:pt idx="1">
                  <c:v>0.049297278744178</c:v>
                </c:pt>
                <c:pt idx="2">
                  <c:v>0.0759246086143588</c:v>
                </c:pt>
                <c:pt idx="3">
                  <c:v>0.0958818410024293</c:v>
                </c:pt>
                <c:pt idx="4">
                  <c:v>0.127108654281947</c:v>
                </c:pt>
                <c:pt idx="5">
                  <c:v>0.132818719689987</c:v>
                </c:pt>
                <c:pt idx="6">
                  <c:v>0.144361819671548</c:v>
                </c:pt>
                <c:pt idx="7">
                  <c:v>0.144902628667365</c:v>
                </c:pt>
                <c:pt idx="8">
                  <c:v>0.160365826705157</c:v>
                </c:pt>
                <c:pt idx="9">
                  <c:v>0.171650413346955</c:v>
                </c:pt>
                <c:pt idx="10">
                  <c:v>0.185776731532757</c:v>
                </c:pt>
                <c:pt idx="11">
                  <c:v>0.196906983509081</c:v>
                </c:pt>
                <c:pt idx="12">
                  <c:v>0.208314587628442</c:v>
                </c:pt>
                <c:pt idx="13">
                  <c:v>0.218333163733962</c:v>
                </c:pt>
                <c:pt idx="14">
                  <c:v>0.22814477086156</c:v>
                </c:pt>
                <c:pt idx="15">
                  <c:v>0.237207412719024</c:v>
                </c:pt>
                <c:pt idx="16">
                  <c:v>0.245968485136132</c:v>
                </c:pt>
                <c:pt idx="17">
                  <c:v>0.254276940938956</c:v>
                </c:pt>
                <c:pt idx="18">
                  <c:v>0.262544358115205</c:v>
                </c:pt>
                <c:pt idx="19">
                  <c:v>0.270710317482495</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Sheet1!$C$2:$C$21</c:f>
              <c:numCache>
                <c:formatCode>General</c:formatCode>
                <c:ptCount val="20"/>
                <c:pt idx="0">
                  <c:v>0.0523422150659333</c:v>
                </c:pt>
                <c:pt idx="1">
                  <c:v>0.050215459880866</c:v>
                </c:pt>
                <c:pt idx="2">
                  <c:v>0.0767628133598676</c:v>
                </c:pt>
                <c:pt idx="3">
                  <c:v>0.0965989835915507</c:v>
                </c:pt>
                <c:pt idx="4">
                  <c:v>0.127798600532861</c:v>
                </c:pt>
                <c:pt idx="5">
                  <c:v>0.135779598880546</c:v>
                </c:pt>
                <c:pt idx="6">
                  <c:v>0.161034724800719</c:v>
                </c:pt>
                <c:pt idx="7">
                  <c:v>0.148035727464086</c:v>
                </c:pt>
                <c:pt idx="8">
                  <c:v>0.157386075643449</c:v>
                </c:pt>
                <c:pt idx="9">
                  <c:v>0.167028348602894</c:v>
                </c:pt>
                <c:pt idx="10">
                  <c:v>0.186502089429954</c:v>
                </c:pt>
                <c:pt idx="11">
                  <c:v>0.201370947765033</c:v>
                </c:pt>
                <c:pt idx="12">
                  <c:v>0.217497791552405</c:v>
                </c:pt>
                <c:pt idx="13">
                  <c:v>0.230638486945989</c:v>
                </c:pt>
                <c:pt idx="14">
                  <c:v>0.243717652359188</c:v>
                </c:pt>
                <c:pt idx="15">
                  <c:v>0.255297728572293</c:v>
                </c:pt>
                <c:pt idx="16">
                  <c:v>0.266542164851981</c:v>
                </c:pt>
                <c:pt idx="17">
                  <c:v>0.27693202123383</c:v>
                </c:pt>
                <c:pt idx="18">
                  <c:v>0.287142847167842</c:v>
                </c:pt>
                <c:pt idx="19">
                  <c:v>0.296972423355786</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Sheet1!$D$2:$D$21</c:f>
              <c:numCache>
                <c:formatCode>General</c:formatCode>
                <c:ptCount val="20"/>
                <c:pt idx="0">
                  <c:v>0.0523422150659333</c:v>
                </c:pt>
                <c:pt idx="1">
                  <c:v>0.0522945854792178</c:v>
                </c:pt>
                <c:pt idx="2">
                  <c:v>0.078660184171792</c:v>
                </c:pt>
                <c:pt idx="3">
                  <c:v>0.0982218616746779</c:v>
                </c:pt>
                <c:pt idx="4">
                  <c:v>0.129358919496901</c:v>
                </c:pt>
                <c:pt idx="5">
                  <c:v>0.141554260195427</c:v>
                </c:pt>
                <c:pt idx="6">
                  <c:v>0.167507447357872</c:v>
                </c:pt>
                <c:pt idx="7">
                  <c:v>0.161117101033584</c:v>
                </c:pt>
                <c:pt idx="8">
                  <c:v>0.174918333970758</c:v>
                </c:pt>
                <c:pt idx="9">
                  <c:v>0.17884186033787</c:v>
                </c:pt>
                <c:pt idx="10">
                  <c:v>0.194046787479911</c:v>
                </c:pt>
                <c:pt idx="11">
                  <c:v>0.204396958256204</c:v>
                </c:pt>
                <c:pt idx="12">
                  <c:v>0.220283243458063</c:v>
                </c:pt>
                <c:pt idx="13">
                  <c:v>0.233635060213052</c:v>
                </c:pt>
                <c:pt idx="14">
                  <c:v>0.249972235999363</c:v>
                </c:pt>
                <c:pt idx="15">
                  <c:v>0.264826012632594</c:v>
                </c:pt>
                <c:pt idx="16">
                  <c:v>0.281375633563599</c:v>
                </c:pt>
                <c:pt idx="17">
                  <c:v>0.296891810439025</c:v>
                </c:pt>
                <c:pt idx="18">
                  <c:v>0.313499519541483</c:v>
                </c:pt>
                <c:pt idx="19">
                  <c:v>0.329334084315167</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Sheet1!$A$2:$A$21</c:f>
              <c:multiLvlStrCache>
                <c:ptCount val="20"/>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pt idx="19">
                    <c:v>2041</c:v>
                  </c:pt>
                </c:lvl>
              </c:multiLvlStrCache>
            </c:multiLvlStrRef>
          </c:cat>
          <c:val>
            <c:numRef>
              <c:f>Sheet1!$E$2:$E$21</c:f>
              <c:numCache>
                <c:formatCode>General</c:formatCode>
                <c:ptCount val="20"/>
                <c:pt idx="0">
                  <c:v>0.0523422150659333</c:v>
                </c:pt>
                <c:pt idx="1">
                  <c:v>0.0529586588798598</c:v>
                </c:pt>
                <c:pt idx="2">
                  <c:v>0.079269251783818</c:v>
                </c:pt>
                <c:pt idx="3">
                  <c:v>0.0987449656227519</c:v>
                </c:pt>
                <c:pt idx="4">
                  <c:v>0.129867513513872</c:v>
                </c:pt>
                <c:pt idx="5">
                  <c:v>0.144797163926529</c:v>
                </c:pt>
                <c:pt idx="6">
                  <c:v>0.167560044786998</c:v>
                </c:pt>
                <c:pt idx="7">
                  <c:v>0.177635222908714</c:v>
                </c:pt>
                <c:pt idx="8">
                  <c:v>0.198928599960138</c:v>
                </c:pt>
                <c:pt idx="9">
                  <c:v>0.217517752019861</c:v>
                </c:pt>
                <c:pt idx="10">
                  <c:v>0.237407319211847</c:v>
                </c:pt>
                <c:pt idx="11">
                  <c:v>0.255161881723716</c:v>
                </c:pt>
                <c:pt idx="12">
                  <c:v>0.275771309912998</c:v>
                </c:pt>
                <c:pt idx="13">
                  <c:v>0.294734706855886</c:v>
                </c:pt>
                <c:pt idx="14">
                  <c:v>0.31301104822462</c:v>
                </c:pt>
                <c:pt idx="15">
                  <c:v>0.328885794145586</c:v>
                </c:pt>
                <c:pt idx="16">
                  <c:v>0.345211397830509</c:v>
                </c:pt>
                <c:pt idx="17">
                  <c:v>0.359759716033754</c:v>
                </c:pt>
                <c:pt idx="18">
                  <c:v>0.374374530731996</c:v>
                </c:pt>
                <c:pt idx="19">
                  <c:v>0.387673400301992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workbook for the CPAT mitigation chain: policies, prices, power, fuel use, revenues and CO2. Generated and checked by AI; every value is recomputed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numbers follow legacy CPAT. Power demand has its own elasticities; sector policies act on fuels only (electricity appears as memo lines in the sector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copy-pasteable formulas, fast scenarios, and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5 holds the scenario number; every input row looks up its value in that MTInputs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B:G and I:K are grouped and rolled up on open: click + above the columns to show them. The italic memo line under each sector heading is its electricity demand from the power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text of the road gasoline rows, 2040 column: the same formula as every year to 2040; 2041 calls the named LAMBDAs. Lookups use defined names for the data tables (e.g. WEOVal, PDomVal).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copies each definition into the live column, recalculates, runs the ETS goal seek where needed, and stores the results as values. CheckBatchRun tests the macros on first use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scenario results (StoredResults). Baseline = no carbon price; Package A = carbon tax to $50 + feebates; Package B = ETS on power and industry + carbon tax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responds to last year's price; dispatch fills demand from capacity; investment follows a logit on levelised cost within scale-up limits. A carbon price raises the VRE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report check_report_v2.3.md: Overall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CPAT-AI-Mitigation-MVP-v2.3.xlsm, CPAT-AI-Mitigation-MVP_Documentation_v2.3.docx, CPAT-AI-Mitigation-MVP_BugsIssuesUpgrades_v2.3.docx (working_version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v2.3  ·  overview and user guide  ·  screenshots and charts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OVERVIEW + USER GUIDE</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a:t>
            </a:r>
            <a:endParaRPr lang="en-US" sz="4000" dirty="0"/>
          </a:p>
        </p:txBody>
      </p:sp>
      <p:sp>
        <p:nvSpPr>
          <p:cNvPr id="4" name="subtitle-2"/>
          <p:cNvSpPr txBox="1"/>
          <p:nvPr/>
        </p:nvSpPr>
        <p:spPr>
          <a:xfrm>
            <a:off x="548640" y="2971800"/>
            <a:ext cx="5394960" cy="1097280"/>
          </a:xfrm>
          <a:prstGeom prst="rect">
            <a:avLst/>
          </a:prstGeom>
          <a:noFill/>
          <a:ln/>
        </p:spPr>
        <p:txBody>
          <a:bodyPr wrap="square" lIns="0" tIns="0" rIns="0" bIns="0" rtlCol="0" anchor="t"/>
          <a:lstStyle/>
          <a:p>
            <a:pPr indent="0" marL="0">
              <a:buNone/>
            </a:pPr>
            <a:r>
              <a:rPr lang="en-US" sz="1800" dirty="0">
                <a:solidFill>
                  <a:srgbClr val="CADCFC"/>
                </a:solidFill>
              </a:rPr>
              <a:t>The CPAT mitigation module as a short, readable Excel workbook, generated and checked by AI.</a:t>
            </a:r>
            <a:endParaRPr lang="en-US" sz="1800" dirty="0"/>
          </a:p>
        </p:txBody>
      </p:sp>
      <p:sp>
        <p:nvSpPr>
          <p:cNvPr id="5" name="chip-3"/>
          <p:cNvSpPr/>
          <p:nvPr/>
        </p:nvSpPr>
        <p:spPr>
          <a:xfrm>
            <a:off x="548640" y="4343400"/>
            <a:ext cx="173736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343400"/>
            <a:ext cx="1737360" cy="411480"/>
          </a:xfrm>
          <a:prstGeom prst="rect">
            <a:avLst/>
          </a:prstGeom>
          <a:noFill/>
          <a:ln/>
        </p:spPr>
        <p:txBody>
          <a:bodyPr wrap="square" lIns="0" tIns="0" rIns="0" bIns="0" rtlCol="0" anchor="ctr"/>
          <a:lstStyle/>
          <a:p>
            <a:pPr algn="ctr" indent="0" marL="0">
              <a:buNone/>
            </a:pPr>
            <a:r>
              <a:rPr lang="en-US" sz="1300" dirty="0">
                <a:solidFill>
                  <a:srgbClr val="FFFFFF"/>
                </a:solidFill>
              </a:rPr>
              <a:t>Plain formulas</a:t>
            </a:r>
            <a:endParaRPr lang="en-US" sz="1300" dirty="0"/>
          </a:p>
        </p:txBody>
      </p:sp>
      <p:sp>
        <p:nvSpPr>
          <p:cNvPr id="7" name="chip-5"/>
          <p:cNvSpPr/>
          <p:nvPr/>
        </p:nvSpPr>
        <p:spPr>
          <a:xfrm>
            <a:off x="2423160" y="4343400"/>
            <a:ext cx="233172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23160" y="4343400"/>
            <a:ext cx="2331720" cy="411480"/>
          </a:xfrm>
          <a:prstGeom prst="rect">
            <a:avLst/>
          </a:prstGeom>
          <a:noFill/>
          <a:ln/>
        </p:spPr>
        <p:txBody>
          <a:bodyPr wrap="square" lIns="0" tIns="0" rIns="0" bIns="0" rtlCol="0" anchor="ctr"/>
          <a:lstStyle/>
          <a:p>
            <a:pPr algn="ctr" indent="0" marL="0">
              <a:buNone/>
            </a:pPr>
            <a:r>
              <a:rPr lang="en-US" sz="1300" dirty="0">
                <a:solidFill>
                  <a:srgbClr val="FFFFFF"/>
                </a:solidFill>
              </a:rPr>
              <a:t>Scenarios side by side</a:t>
            </a:r>
            <a:endParaRPr lang="en-US" sz="1300" dirty="0"/>
          </a:p>
        </p:txBody>
      </p:sp>
      <p:sp>
        <p:nvSpPr>
          <p:cNvPr id="9" name="chip-7"/>
          <p:cNvSpPr/>
          <p:nvPr/>
        </p:nvSpPr>
        <p:spPr>
          <a:xfrm>
            <a:off x="4892040" y="4343400"/>
            <a:ext cx="196596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892040" y="4343400"/>
            <a:ext cx="1965960" cy="411480"/>
          </a:xfrm>
          <a:prstGeom prst="rect">
            <a:avLst/>
          </a:prstGeom>
          <a:noFill/>
          <a:ln/>
        </p:spPr>
        <p:txBody>
          <a:bodyPr wrap="square" lIns="0" tIns="0" rIns="0" bIns="0" rtlCol="0" anchor="ctr"/>
          <a:lstStyle/>
          <a:p>
            <a:pPr algn="ctr" indent="0" marL="0">
              <a:buNone/>
            </a:pPr>
            <a:r>
              <a:rPr lang="en-US" sz="1300" dirty="0">
                <a:solidFill>
                  <a:srgbClr val="FFFFFF"/>
                </a:solidFill>
              </a:rPr>
              <a:t>Checked by Python</a:t>
            </a:r>
            <a:endParaRPr lang="en-US" sz="1300" dirty="0"/>
          </a:p>
        </p:txBody>
      </p:sp>
      <p:sp>
        <p:nvSpPr>
          <p:cNvPr id="11" name="footnote-9"/>
          <p:cNvSpPr txBox="1"/>
          <p:nvPr/>
        </p:nvSpPr>
        <p:spPr>
          <a:xfrm>
            <a:off x="548640" y="6217920"/>
            <a:ext cx="5943600" cy="274320"/>
          </a:xfrm>
          <a:prstGeom prst="rect">
            <a:avLst/>
          </a:prstGeom>
          <a:noFill/>
          <a:ln/>
        </p:spPr>
        <p:txBody>
          <a:bodyPr wrap="square" lIns="0" tIns="0" rIns="0" bIns="0" rtlCol="0" anchor="ctr"/>
          <a:lstStyle/>
          <a:p>
            <a:pPr indent="0" marL="0">
              <a:buNone/>
            </a:pPr>
            <a:r>
              <a:rPr lang="en-US" sz="1000" dirty="0">
                <a:solidFill>
                  <a:srgbClr val="CADCFC"/>
                </a:solidFill>
              </a:rPr>
              <a:t>Version 2.3, October 2026  ·  Egypt data  ·  prototype for discussion</a:t>
            </a:r>
            <a:endParaRPr lang="en-US" sz="1000" dirty="0"/>
          </a:p>
        </p:txBody>
      </p:sp>
      <p:sp>
        <p:nvSpPr>
          <p:cNvPr id="12" name="frame-10"/>
          <p:cNvSpPr/>
          <p:nvPr/>
        </p:nvSpPr>
        <p:spPr>
          <a:xfrm>
            <a:off x="7168896" y="1042416"/>
            <a:ext cx="4498848" cy="323531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3" name="screenshot-11" descr="/home/user/CPAT-AI-Local/cpat_excel_new/mitigation_copypaste/presentation/img/v23_01_overview.png">    </p:cNvPr>
          <p:cNvPicPr>
            <a:picLocks noChangeAspect="1"/>
          </p:cNvPicPr>
          <p:nvPr/>
        </p:nvPicPr>
        <p:blipFill>
          <a:blip r:embed="rId1"/>
          <a:stretch>
            <a:fillRect/>
          </a:stretch>
        </p:blipFill>
        <p:spPr>
          <a:xfrm>
            <a:off x="7223760" y="1097280"/>
            <a:ext cx="4389120" cy="3125585"/>
          </a:xfrm>
          <a:prstGeom prst="rect">
            <a:avLst/>
          </a:prstGeom>
        </p:spPr>
      </p:pic>
      <p:sp>
        <p:nvSpPr>
          <p:cNvPr id="14" name="caption-12"/>
          <p:cNvSpPr txBox="1"/>
          <p:nvPr/>
        </p:nvSpPr>
        <p:spPr>
          <a:xfrm>
            <a:off x="7223760" y="4360025"/>
            <a:ext cx="4389120" cy="274320"/>
          </a:xfrm>
          <a:prstGeom prst="rect">
            <a:avLst/>
          </a:prstGeom>
          <a:noFill/>
          <a:ln/>
        </p:spPr>
        <p:txBody>
          <a:bodyPr wrap="square" lIns="0" tIns="0" rIns="0" bIns="0" rtlCol="0" anchor="ctr"/>
          <a:lstStyle/>
          <a:p>
            <a:pPr indent="0" marL="0">
              <a:buNone/>
            </a:pPr>
            <a:r>
              <a:rPr lang="en-US" sz="1100" i="1" dirty="0">
                <a:solidFill>
                  <a:srgbClr val="CADCFC"/>
                </a:solidFill>
              </a:rPr>
              <a:t>The Mitigation tab as it opens: everything rolled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IT IS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 follows the CPAT mitigation chain</a:t>
            </a:r>
            <a:endParaRPr lang="en-US" sz="3000" dirty="0"/>
          </a:p>
        </p:txBody>
      </p:sp>
      <p:sp>
        <p:nvSpPr>
          <p:cNvPr id="4" name="flow-13"/>
          <p:cNvSpPr/>
          <p:nvPr/>
        </p:nvSpPr>
        <p:spPr>
          <a:xfrm>
            <a:off x="548640" y="1508760"/>
            <a:ext cx="1539240" cy="566928"/>
          </a:xfrm>
          <a:prstGeom prst="roundRect">
            <a:avLst>
              <a:gd name="adj" fmla="val 16129"/>
            </a:avLst>
          </a:prstGeom>
          <a:solidFill>
            <a:srgbClr val="1E2761"/>
          </a:solidFill>
          <a:ln w="12700">
            <a:solidFill>
              <a:srgbClr val="1E2761"/>
            </a:solidFill>
            <a:prstDash val="solid"/>
          </a:ln>
        </p:spPr>
      </p:sp>
      <p:sp>
        <p:nvSpPr>
          <p:cNvPr id="5" name="flowText-14"/>
          <p:cNvSpPr txBox="1"/>
          <p:nvPr/>
        </p:nvSpPr>
        <p:spPr>
          <a:xfrm>
            <a:off x="54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 Policies</a:t>
            </a:r>
            <a:endParaRPr lang="en-US" sz="1400" dirty="0"/>
          </a:p>
        </p:txBody>
      </p:sp>
      <p:sp>
        <p:nvSpPr>
          <p:cNvPr id="6" name="flowArrow-15"/>
          <p:cNvSpPr/>
          <p:nvPr/>
        </p:nvSpPr>
        <p:spPr>
          <a:xfrm>
            <a:off x="2151888" y="1664208"/>
            <a:ext cx="237744" cy="256032"/>
          </a:xfrm>
          <a:prstGeom prst="rightArrow">
            <a:avLst/>
          </a:prstGeom>
          <a:solidFill>
            <a:srgbClr val="D4A24C"/>
          </a:solidFill>
          <a:ln w="12700">
            <a:solidFill>
              <a:srgbClr val="D4A24C"/>
            </a:solidFill>
            <a:prstDash val="solid"/>
          </a:ln>
        </p:spPr>
      </p:sp>
      <p:sp>
        <p:nvSpPr>
          <p:cNvPr id="7" name="flow-16"/>
          <p:cNvSpPr/>
          <p:nvPr/>
        </p:nvSpPr>
        <p:spPr>
          <a:xfrm>
            <a:off x="2453640" y="1508760"/>
            <a:ext cx="1539240" cy="566928"/>
          </a:xfrm>
          <a:prstGeom prst="roundRect">
            <a:avLst>
              <a:gd name="adj" fmla="val 16129"/>
            </a:avLst>
          </a:prstGeom>
          <a:solidFill>
            <a:srgbClr val="1E2761"/>
          </a:solidFill>
          <a:ln w="12700">
            <a:solidFill>
              <a:srgbClr val="1E2761"/>
            </a:solidFill>
            <a:prstDash val="solid"/>
          </a:ln>
        </p:spPr>
      </p:sp>
      <p:sp>
        <p:nvSpPr>
          <p:cNvPr id="8" name="flowText-17"/>
          <p:cNvSpPr txBox="1"/>
          <p:nvPr/>
        </p:nvSpPr>
        <p:spPr>
          <a:xfrm>
            <a:off x="245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2. Prices</a:t>
            </a:r>
            <a:endParaRPr lang="en-US" sz="1400" dirty="0"/>
          </a:p>
        </p:txBody>
      </p:sp>
      <p:sp>
        <p:nvSpPr>
          <p:cNvPr id="9" name="flowArrow-18"/>
          <p:cNvSpPr/>
          <p:nvPr/>
        </p:nvSpPr>
        <p:spPr>
          <a:xfrm>
            <a:off x="4056888" y="1664208"/>
            <a:ext cx="237744" cy="256032"/>
          </a:xfrm>
          <a:prstGeom prst="rightArrow">
            <a:avLst/>
          </a:prstGeom>
          <a:solidFill>
            <a:srgbClr val="D4A24C"/>
          </a:solidFill>
          <a:ln w="12700">
            <a:solidFill>
              <a:srgbClr val="D4A24C"/>
            </a:solidFill>
            <a:prstDash val="solid"/>
          </a:ln>
        </p:spPr>
      </p:sp>
      <p:sp>
        <p:nvSpPr>
          <p:cNvPr id="10" name="flow-19"/>
          <p:cNvSpPr/>
          <p:nvPr/>
        </p:nvSpPr>
        <p:spPr>
          <a:xfrm>
            <a:off x="4358640" y="1508760"/>
            <a:ext cx="1539240" cy="566928"/>
          </a:xfrm>
          <a:prstGeom prst="roundRect">
            <a:avLst>
              <a:gd name="adj" fmla="val 16129"/>
            </a:avLst>
          </a:prstGeom>
          <a:solidFill>
            <a:srgbClr val="1E2761"/>
          </a:solidFill>
          <a:ln w="12700">
            <a:solidFill>
              <a:srgbClr val="1E2761"/>
            </a:solidFill>
            <a:prstDash val="solid"/>
          </a:ln>
        </p:spPr>
      </p:sp>
      <p:sp>
        <p:nvSpPr>
          <p:cNvPr id="11" name="flowText-20"/>
          <p:cNvSpPr txBox="1"/>
          <p:nvPr/>
        </p:nvSpPr>
        <p:spPr>
          <a:xfrm>
            <a:off x="435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3. Power</a:t>
            </a:r>
            <a:endParaRPr lang="en-US" sz="1400" dirty="0"/>
          </a:p>
        </p:txBody>
      </p:sp>
      <p:sp>
        <p:nvSpPr>
          <p:cNvPr id="12" name="flowArrow-21"/>
          <p:cNvSpPr/>
          <p:nvPr/>
        </p:nvSpPr>
        <p:spPr>
          <a:xfrm>
            <a:off x="5961888" y="1664208"/>
            <a:ext cx="237744" cy="256032"/>
          </a:xfrm>
          <a:prstGeom prst="rightArrow">
            <a:avLst/>
          </a:prstGeom>
          <a:solidFill>
            <a:srgbClr val="D4A24C"/>
          </a:solidFill>
          <a:ln w="12700">
            <a:solidFill>
              <a:srgbClr val="D4A24C"/>
            </a:solidFill>
            <a:prstDash val="solid"/>
          </a:ln>
        </p:spPr>
      </p:sp>
      <p:sp>
        <p:nvSpPr>
          <p:cNvPr id="13" name="flow-22"/>
          <p:cNvSpPr/>
          <p:nvPr/>
        </p:nvSpPr>
        <p:spPr>
          <a:xfrm>
            <a:off x="6263640" y="1508760"/>
            <a:ext cx="1539240" cy="566928"/>
          </a:xfrm>
          <a:prstGeom prst="roundRect">
            <a:avLst>
              <a:gd name="adj" fmla="val 16129"/>
            </a:avLst>
          </a:prstGeom>
          <a:solidFill>
            <a:srgbClr val="1E2761"/>
          </a:solidFill>
          <a:ln w="12700">
            <a:solidFill>
              <a:srgbClr val="1E2761"/>
            </a:solidFill>
            <a:prstDash val="solid"/>
          </a:ln>
        </p:spPr>
      </p:sp>
      <p:sp>
        <p:nvSpPr>
          <p:cNvPr id="14" name="flowText-23"/>
          <p:cNvSpPr txBox="1"/>
          <p:nvPr/>
        </p:nvSpPr>
        <p:spPr>
          <a:xfrm>
            <a:off x="626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5-8. Fuel use</a:t>
            </a:r>
            <a:endParaRPr lang="en-US" sz="1400" dirty="0"/>
          </a:p>
        </p:txBody>
      </p:sp>
      <p:sp>
        <p:nvSpPr>
          <p:cNvPr id="15" name="flowArrow-24"/>
          <p:cNvSpPr/>
          <p:nvPr/>
        </p:nvSpPr>
        <p:spPr>
          <a:xfrm>
            <a:off x="7866888" y="1664208"/>
            <a:ext cx="237744" cy="256032"/>
          </a:xfrm>
          <a:prstGeom prst="rightArrow">
            <a:avLst/>
          </a:prstGeom>
          <a:solidFill>
            <a:srgbClr val="D4A24C"/>
          </a:solidFill>
          <a:ln w="12700">
            <a:solidFill>
              <a:srgbClr val="D4A24C"/>
            </a:solidFill>
            <a:prstDash val="solid"/>
          </a:ln>
        </p:spPr>
      </p:sp>
      <p:sp>
        <p:nvSpPr>
          <p:cNvPr id="16" name="flow-25"/>
          <p:cNvSpPr/>
          <p:nvPr/>
        </p:nvSpPr>
        <p:spPr>
          <a:xfrm>
            <a:off x="8168640" y="1508760"/>
            <a:ext cx="1539240" cy="566928"/>
          </a:xfrm>
          <a:prstGeom prst="roundRect">
            <a:avLst>
              <a:gd name="adj" fmla="val 16129"/>
            </a:avLst>
          </a:prstGeom>
          <a:solidFill>
            <a:srgbClr val="1E2761"/>
          </a:solidFill>
          <a:ln w="12700">
            <a:solidFill>
              <a:srgbClr val="1E2761"/>
            </a:solidFill>
            <a:prstDash val="solid"/>
          </a:ln>
        </p:spPr>
      </p:sp>
      <p:sp>
        <p:nvSpPr>
          <p:cNvPr id="17" name="flowText-26"/>
          <p:cNvSpPr txBox="1"/>
          <p:nvPr/>
        </p:nvSpPr>
        <p:spPr>
          <a:xfrm>
            <a:off x="816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11-12. Energy, revenue</a:t>
            </a:r>
            <a:endParaRPr lang="en-US" sz="1400" dirty="0"/>
          </a:p>
        </p:txBody>
      </p:sp>
      <p:sp>
        <p:nvSpPr>
          <p:cNvPr id="18" name="flowArrow-27"/>
          <p:cNvSpPr/>
          <p:nvPr/>
        </p:nvSpPr>
        <p:spPr>
          <a:xfrm>
            <a:off x="9771888" y="1664208"/>
            <a:ext cx="237744" cy="256032"/>
          </a:xfrm>
          <a:prstGeom prst="rightArrow">
            <a:avLst/>
          </a:prstGeom>
          <a:solidFill>
            <a:srgbClr val="D4A24C"/>
          </a:solidFill>
          <a:ln w="12700">
            <a:solidFill>
              <a:srgbClr val="D4A24C"/>
            </a:solidFill>
            <a:prstDash val="solid"/>
          </a:ln>
        </p:spPr>
      </p:sp>
      <p:sp>
        <p:nvSpPr>
          <p:cNvPr id="19" name="flow-28"/>
          <p:cNvSpPr/>
          <p:nvPr/>
        </p:nvSpPr>
        <p:spPr>
          <a:xfrm>
            <a:off x="10073640" y="1508760"/>
            <a:ext cx="1539240" cy="566928"/>
          </a:xfrm>
          <a:prstGeom prst="roundRect">
            <a:avLst>
              <a:gd name="adj" fmla="val 16129"/>
            </a:avLst>
          </a:prstGeom>
          <a:solidFill>
            <a:srgbClr val="1E2761"/>
          </a:solidFill>
          <a:ln w="12700">
            <a:solidFill>
              <a:srgbClr val="1E2761"/>
            </a:solidFill>
            <a:prstDash val="solid"/>
          </a:ln>
        </p:spPr>
      </p:sp>
      <p:sp>
        <p:nvSpPr>
          <p:cNvPr id="20" name="flowText-29"/>
          <p:cNvSpPr txBox="1"/>
          <p:nvPr/>
        </p:nvSpPr>
        <p:spPr>
          <a:xfrm>
            <a:off x="1007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13. CO2</a:t>
            </a:r>
            <a:endParaRPr lang="en-US" sz="1400" dirty="0"/>
          </a:p>
        </p:txBody>
      </p:sp>
      <p:sp>
        <p:nvSpPr>
          <p:cNvPr id="21" name="badge-30"/>
          <p:cNvSpPr/>
          <p:nvPr/>
        </p:nvSpPr>
        <p:spPr>
          <a:xfrm>
            <a:off x="548640" y="2514600"/>
            <a:ext cx="384048" cy="384048"/>
          </a:xfrm>
          <a:prstGeom prst="ellipse">
            <a:avLst/>
          </a:prstGeom>
          <a:solidFill>
            <a:srgbClr val="0F7B6C"/>
          </a:solidFill>
          <a:ln w="12700">
            <a:solidFill>
              <a:srgbClr val="0F7B6C"/>
            </a:solidFill>
            <a:prstDash val="solid"/>
          </a:ln>
        </p:spPr>
      </p:sp>
      <p:sp>
        <p:nvSpPr>
          <p:cNvPr id="22" name="badgeText-31"/>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item-32"/>
          <p:cNvSpPr txBox="1"/>
          <p:nvPr/>
        </p:nvSpPr>
        <p:spPr>
          <a:xfrm>
            <a:off x="1097280" y="246888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Policies</a:t>
            </a:r>
            <a:endParaRPr lang="en-US" sz="1500" dirty="0"/>
          </a:p>
          <a:p>
            <a:pPr indent="0" marL="0">
              <a:buNone/>
            </a:pPr>
            <a:r>
              <a:rPr lang="en-US" sz="1400" dirty="0">
                <a:solidFill>
                  <a:srgbClr val="5C667A"/>
                </a:solidFill>
              </a:rPr>
              <a:t>Carbon tax, ETS with a cap, feebates, fuel price reform; existing carbon pricing.</a:t>
            </a:r>
            <a:endParaRPr lang="en-US" sz="1500" dirty="0"/>
          </a:p>
        </p:txBody>
      </p:sp>
      <p:sp>
        <p:nvSpPr>
          <p:cNvPr id="24" name="badge-33"/>
          <p:cNvSpPr/>
          <p:nvPr/>
        </p:nvSpPr>
        <p:spPr>
          <a:xfrm>
            <a:off x="548640" y="3520440"/>
            <a:ext cx="384048" cy="384048"/>
          </a:xfrm>
          <a:prstGeom prst="ellipse">
            <a:avLst/>
          </a:prstGeom>
          <a:solidFill>
            <a:srgbClr val="0F7B6C"/>
          </a:solidFill>
          <a:ln w="12700">
            <a:solidFill>
              <a:srgbClr val="0F7B6C"/>
            </a:solidFill>
            <a:prstDash val="solid"/>
          </a:ln>
        </p:spPr>
      </p:sp>
      <p:sp>
        <p:nvSpPr>
          <p:cNvPr id="25" name="badgeText-34"/>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item-35"/>
          <p:cNvSpPr txBox="1"/>
          <p:nvPr/>
        </p:nvSpPr>
        <p:spPr>
          <a:xfrm>
            <a:off x="1097280" y="347472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Prices and power</a:t>
            </a:r>
            <a:endParaRPr lang="en-US" sz="1500" dirty="0"/>
          </a:p>
          <a:p>
            <a:pPr indent="0" marL="0">
              <a:buNone/>
            </a:pPr>
            <a:r>
              <a:rPr lang="en-US" sz="1400" dirty="0">
                <a:solidFill>
                  <a:srgbClr val="5C667A"/>
                </a:solidFill>
              </a:rPr>
              <a:t>Retail prices by fuel; a power model with demand, dispatch, retirement and investment.</a:t>
            </a:r>
            <a:endParaRPr lang="en-US" sz="1500" dirty="0"/>
          </a:p>
        </p:txBody>
      </p:sp>
      <p:sp>
        <p:nvSpPr>
          <p:cNvPr id="27" name="badge-36"/>
          <p:cNvSpPr/>
          <p:nvPr/>
        </p:nvSpPr>
        <p:spPr>
          <a:xfrm>
            <a:off x="548640" y="4526280"/>
            <a:ext cx="384048" cy="384048"/>
          </a:xfrm>
          <a:prstGeom prst="ellipse">
            <a:avLst/>
          </a:prstGeom>
          <a:solidFill>
            <a:srgbClr val="0F7B6C"/>
          </a:solidFill>
          <a:ln w="12700">
            <a:solidFill>
              <a:srgbClr val="0F7B6C"/>
            </a:solidFill>
            <a:prstDash val="solid"/>
          </a:ln>
        </p:spPr>
      </p:sp>
      <p:sp>
        <p:nvSpPr>
          <p:cNvPr id="28" name="badgeText-37"/>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item-38"/>
          <p:cNvSpPr txBox="1"/>
          <p:nvPr/>
        </p:nvSpPr>
        <p:spPr>
          <a:xfrm>
            <a:off x="1097280" y="448056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Fuel use and results</a:t>
            </a:r>
            <a:endParaRPr lang="en-US" sz="1500" dirty="0"/>
          </a:p>
          <a:p>
            <a:pPr indent="0" marL="0">
              <a:buNone/>
            </a:pPr>
            <a:r>
              <a:rPr lang="en-US" sz="1400" dirty="0">
                <a:solidFill>
                  <a:srgbClr val="5C667A"/>
                </a:solidFill>
              </a:rPr>
              <a:t>16 sectors × 8 fuels plus power; fuel use, revenues, CO2 to 2041, real 2026 USD.</a:t>
            </a:r>
            <a:endParaRPr lang="en-US" sz="1500" dirty="0"/>
          </a:p>
        </p:txBody>
      </p:sp>
      <p:sp>
        <p:nvSpPr>
          <p:cNvPr id="30" name="card-39"/>
          <p:cNvSpPr/>
          <p:nvPr/>
        </p:nvSpPr>
        <p:spPr>
          <a:xfrm>
            <a:off x="6492240" y="2468880"/>
            <a:ext cx="5120640" cy="2514600"/>
          </a:xfrm>
          <a:prstGeom prst="rect">
            <a:avLst/>
          </a:prstGeom>
          <a:solidFill>
            <a:srgbClr val="F4F6FB"/>
          </a:solidFill>
          <a:ln w="12700">
            <a:solidFill>
              <a:srgbClr val="D5DAE3"/>
            </a:solidFill>
            <a:prstDash val="solid"/>
          </a:ln>
        </p:spPr>
      </p:sp>
      <p:sp>
        <p:nvSpPr>
          <p:cNvPr id="31" name="cardText-40"/>
          <p:cNvSpPr txBox="1"/>
          <p:nvPr/>
        </p:nvSpPr>
        <p:spPr>
          <a:xfrm>
            <a:off x="6656832" y="2578608"/>
            <a:ext cx="4791456" cy="229514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Egypt data, 2022-2041</a:t>
            </a:r>
            <a:endParaRPr lang="en-US" sz="1100" dirty="0"/>
          </a:p>
          <a:p>
            <a:pPr marL="342900" indent="-342900">
              <a:buSzPct val="100000"/>
              <a:buChar char="•"/>
            </a:pPr>
            <a:r>
              <a:rPr lang="en-US" sz="1500" dirty="0">
                <a:solidFill>
                  <a:srgbClr val="1F1F2E"/>
                </a:solidFill>
              </a:rPr>
              <a:t>Any number of scenarios, run by one macro</a:t>
            </a:r>
            <a:endParaRPr lang="en-US" sz="1100" dirty="0"/>
          </a:p>
          <a:p>
            <a:pPr marL="342900" indent="-342900">
              <a:buSzPct val="100000"/>
              <a:buChar char="•"/>
            </a:pPr>
            <a:r>
              <a:rPr lang="en-US" sz="1500" dirty="0">
                <a:solidFill>
                  <a:srgbClr val="1F1F2E"/>
                </a:solidFill>
              </a:rPr>
              <a:t>Results and charts by output code</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E08A1E"/>
                </a:solidFill>
              </a:rPr>
              <a:t>NOT YET</a:t>
            </a:r>
            <a:endParaRPr lang="en-US" sz="1100" dirty="0"/>
          </a:p>
          <a:p>
            <a:pPr marL="342900" indent="-342900">
              <a:buSzPct val="100000"/>
              <a:buChar char="•"/>
            </a:pPr>
            <a:r>
              <a:rPr lang="en-US" sz="1500" dirty="0">
                <a:solidFill>
                  <a:srgbClr val="1F1F2E"/>
                </a:solidFill>
              </a:rPr>
              <a:t>Other gases and local pollutants</a:t>
            </a:r>
            <a:endParaRPr lang="en-US" sz="1100" dirty="0"/>
          </a:p>
          <a:p>
            <a:pPr marL="342900" indent="-342900">
              <a:buSzPct val="100000"/>
              <a:buChar char="•"/>
            </a:pPr>
            <a:r>
              <a:rPr lang="en-US" sz="1500" dirty="0">
                <a:solidFill>
                  <a:srgbClr val="1F1F2E"/>
                </a:solidFill>
              </a:rPr>
              <a:t>Full numerical match with legacy CPAT</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CHANGES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Four problems with today's Excel, four fixes</a:t>
            </a:r>
            <a:endParaRPr lang="en-US" sz="3000" dirty="0"/>
          </a:p>
        </p:txBody>
      </p:sp>
      <p:sp>
        <p:nvSpPr>
          <p:cNvPr id="4" name="colhead-41"/>
          <p:cNvSpPr txBox="1"/>
          <p:nvPr/>
        </p:nvSpPr>
        <p:spPr>
          <a:xfrm>
            <a:off x="548640" y="1371600"/>
            <a:ext cx="4754880" cy="274320"/>
          </a:xfrm>
          <a:prstGeom prst="rect">
            <a:avLst/>
          </a:prstGeom>
          <a:noFill/>
          <a:ln/>
        </p:spPr>
        <p:txBody>
          <a:bodyPr wrap="square" lIns="0" tIns="0" rIns="0" bIns="0" rtlCol="0" anchor="ctr"/>
          <a:lstStyle/>
          <a:p>
            <a:pPr indent="0" marL="0">
              <a:buNone/>
            </a:pPr>
            <a:r>
              <a:rPr lang="en-US" sz="1100" b="1" spc="200" kern="0" dirty="0">
                <a:solidFill>
                  <a:srgbClr val="E08A1E"/>
                </a:solidFill>
              </a:rPr>
              <a:t>TODAY IN CPAT</a:t>
            </a:r>
            <a:endParaRPr lang="en-US" sz="1100" dirty="0"/>
          </a:p>
        </p:txBody>
      </p:sp>
      <p:sp>
        <p:nvSpPr>
          <p:cNvPr id="5" name="colhead-42"/>
          <p:cNvSpPr txBox="1"/>
          <p:nvPr/>
        </p:nvSpPr>
        <p:spPr>
          <a:xfrm>
            <a:off x="6126480" y="1371600"/>
            <a:ext cx="54864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IN THE MVP</a:t>
            </a:r>
            <a:endParaRPr lang="en-US" sz="1100" dirty="0"/>
          </a:p>
        </p:txBody>
      </p:sp>
      <p:sp>
        <p:nvSpPr>
          <p:cNvPr id="6" name="problem-43"/>
          <p:cNvSpPr/>
          <p:nvPr/>
        </p:nvSpPr>
        <p:spPr>
          <a:xfrm>
            <a:off x="548640" y="1737360"/>
            <a:ext cx="4754880" cy="932688"/>
          </a:xfrm>
          <a:prstGeom prst="rect">
            <a:avLst/>
          </a:prstGeom>
          <a:solidFill>
            <a:srgbClr val="FDF3E6"/>
          </a:solidFill>
          <a:ln w="12700">
            <a:solidFill>
              <a:srgbClr val="F2D9B6"/>
            </a:solidFill>
            <a:prstDash val="solid"/>
          </a:ln>
        </p:spPr>
      </p:sp>
      <p:sp>
        <p:nvSpPr>
          <p:cNvPr id="7" name="problemText-44"/>
          <p:cNvSpPr txBox="1"/>
          <p:nvPr/>
        </p:nvSpPr>
        <p:spPr>
          <a:xfrm>
            <a:off x="731520" y="1737360"/>
            <a:ext cx="4434840" cy="932688"/>
          </a:xfrm>
          <a:prstGeom prst="rect">
            <a:avLst/>
          </a:prstGeom>
          <a:noFill/>
          <a:ln/>
        </p:spPr>
        <p:txBody>
          <a:bodyPr wrap="square" lIns="0" tIns="0" rIns="0" bIns="0" rtlCol="0" anchor="ctr"/>
          <a:lstStyle/>
          <a:p>
            <a:pPr indent="0" marL="0">
              <a:buNone/>
            </a:pPr>
            <a:r>
              <a:rPr lang="en-US" sz="1600" dirty="0">
                <a:solidFill>
                  <a:srgbClr val="1F1F2E"/>
                </a:solidFill>
              </a:rPr>
              <a:t>Hard to read: long formulas, many tabs</a:t>
            </a:r>
            <a:endParaRPr lang="en-US" sz="1600" dirty="0"/>
          </a:p>
        </p:txBody>
      </p:sp>
      <p:sp>
        <p:nvSpPr>
          <p:cNvPr id="8" name="arrow-45"/>
          <p:cNvSpPr/>
          <p:nvPr/>
        </p:nvSpPr>
        <p:spPr>
          <a:xfrm>
            <a:off x="5440680" y="2039112"/>
            <a:ext cx="548640" cy="329184"/>
          </a:xfrm>
          <a:prstGeom prst="rightArrow">
            <a:avLst/>
          </a:prstGeom>
          <a:solidFill>
            <a:srgbClr val="D4A24C"/>
          </a:solidFill>
          <a:ln w="12700">
            <a:solidFill>
              <a:srgbClr val="D4A24C"/>
            </a:solidFill>
            <a:prstDash val="solid"/>
          </a:ln>
        </p:spPr>
      </p:sp>
      <p:sp>
        <p:nvSpPr>
          <p:cNvPr id="9" name="fix-46"/>
          <p:cNvSpPr/>
          <p:nvPr/>
        </p:nvSpPr>
        <p:spPr>
          <a:xfrm>
            <a:off x="6126480" y="1737360"/>
            <a:ext cx="5486400" cy="932688"/>
          </a:xfrm>
          <a:prstGeom prst="rect">
            <a:avLst/>
          </a:prstGeom>
          <a:solidFill>
            <a:srgbClr val="EAF4F2"/>
          </a:solidFill>
          <a:ln w="12700">
            <a:solidFill>
              <a:srgbClr val="C7E3DE"/>
            </a:solidFill>
            <a:prstDash val="solid"/>
          </a:ln>
        </p:spPr>
      </p:sp>
      <p:sp>
        <p:nvSpPr>
          <p:cNvPr id="10" name="fixText-47"/>
          <p:cNvSpPr txBox="1"/>
          <p:nvPr/>
        </p:nvSpPr>
        <p:spPr>
          <a:xfrm>
            <a:off x="6309360" y="1737360"/>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tab, numbered sections; every formula at most 100 characters</a:t>
            </a:r>
            <a:endParaRPr lang="en-US" sz="1600" dirty="0"/>
          </a:p>
        </p:txBody>
      </p:sp>
      <p:sp>
        <p:nvSpPr>
          <p:cNvPr id="11" name="problem-48"/>
          <p:cNvSpPr/>
          <p:nvPr/>
        </p:nvSpPr>
        <p:spPr>
          <a:xfrm>
            <a:off x="548640" y="2852928"/>
            <a:ext cx="4754880" cy="932688"/>
          </a:xfrm>
          <a:prstGeom prst="rect">
            <a:avLst/>
          </a:prstGeom>
          <a:solidFill>
            <a:srgbClr val="FDF3E6"/>
          </a:solidFill>
          <a:ln w="12700">
            <a:solidFill>
              <a:srgbClr val="F2D9B6"/>
            </a:solidFill>
            <a:prstDash val="solid"/>
          </a:ln>
        </p:spPr>
      </p:sp>
      <p:sp>
        <p:nvSpPr>
          <p:cNvPr id="12" name="problemText-49"/>
          <p:cNvSpPr txBox="1"/>
          <p:nvPr/>
        </p:nvSpPr>
        <p:spPr>
          <a:xfrm>
            <a:off x="731520" y="2852928"/>
            <a:ext cx="4434840" cy="932688"/>
          </a:xfrm>
          <a:prstGeom prst="rect">
            <a:avLst/>
          </a:prstGeom>
          <a:noFill/>
          <a:ln/>
        </p:spPr>
        <p:txBody>
          <a:bodyPr wrap="square" lIns="0" tIns="0" rIns="0" bIns="0" rtlCol="0" anchor="ctr"/>
          <a:lstStyle/>
          <a:p>
            <a:pPr indent="0" marL="0">
              <a:buNone/>
            </a:pPr>
            <a:r>
              <a:rPr lang="en-US" sz="1600" dirty="0">
                <a:solidFill>
                  <a:srgbClr val="1F1F2E"/>
                </a:solidFill>
              </a:rPr>
              <a:t>Formulas differ from row to row</a:t>
            </a:r>
            <a:endParaRPr lang="en-US" sz="1600" dirty="0"/>
          </a:p>
        </p:txBody>
      </p:sp>
      <p:sp>
        <p:nvSpPr>
          <p:cNvPr id="13" name="arrow-50"/>
          <p:cNvSpPr/>
          <p:nvPr/>
        </p:nvSpPr>
        <p:spPr>
          <a:xfrm>
            <a:off x="5440680" y="3154680"/>
            <a:ext cx="548640" cy="329184"/>
          </a:xfrm>
          <a:prstGeom prst="rightArrow">
            <a:avLst/>
          </a:prstGeom>
          <a:solidFill>
            <a:srgbClr val="D4A24C"/>
          </a:solidFill>
          <a:ln w="12700">
            <a:solidFill>
              <a:srgbClr val="D4A24C"/>
            </a:solidFill>
            <a:prstDash val="solid"/>
          </a:ln>
        </p:spPr>
      </p:sp>
      <p:sp>
        <p:nvSpPr>
          <p:cNvPr id="14" name="fix-51"/>
          <p:cNvSpPr/>
          <p:nvPr/>
        </p:nvSpPr>
        <p:spPr>
          <a:xfrm>
            <a:off x="6126480" y="2852928"/>
            <a:ext cx="5486400" cy="932688"/>
          </a:xfrm>
          <a:prstGeom prst="rect">
            <a:avLst/>
          </a:prstGeom>
          <a:solidFill>
            <a:srgbClr val="EAF4F2"/>
          </a:solidFill>
          <a:ln w="12700">
            <a:solidFill>
              <a:srgbClr val="C7E3DE"/>
            </a:solidFill>
            <a:prstDash val="solid"/>
          </a:ln>
        </p:spPr>
      </p:sp>
      <p:sp>
        <p:nvSpPr>
          <p:cNvPr id="15" name="fixText-52"/>
          <p:cNvSpPr txBox="1"/>
          <p:nvPr/>
        </p:nvSpPr>
        <p:spPr>
          <a:xfrm>
            <a:off x="6309360" y="2852928"/>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formula per block: copy, drag or paste it anywhere in the block</a:t>
            </a:r>
            <a:endParaRPr lang="en-US" sz="1600" dirty="0"/>
          </a:p>
        </p:txBody>
      </p:sp>
      <p:sp>
        <p:nvSpPr>
          <p:cNvPr id="16" name="problem-53"/>
          <p:cNvSpPr/>
          <p:nvPr/>
        </p:nvSpPr>
        <p:spPr>
          <a:xfrm>
            <a:off x="548640" y="3968496"/>
            <a:ext cx="4754880" cy="932688"/>
          </a:xfrm>
          <a:prstGeom prst="rect">
            <a:avLst/>
          </a:prstGeom>
          <a:solidFill>
            <a:srgbClr val="FDF3E6"/>
          </a:solidFill>
          <a:ln w="12700">
            <a:solidFill>
              <a:srgbClr val="F2D9B6"/>
            </a:solidFill>
            <a:prstDash val="solid"/>
          </a:ln>
        </p:spPr>
      </p:sp>
      <p:sp>
        <p:nvSpPr>
          <p:cNvPr id="17" name="problemText-54"/>
          <p:cNvSpPr txBox="1"/>
          <p:nvPr/>
        </p:nvSpPr>
        <p:spPr>
          <a:xfrm>
            <a:off x="731520" y="3968496"/>
            <a:ext cx="4434840" cy="932688"/>
          </a:xfrm>
          <a:prstGeom prst="rect">
            <a:avLst/>
          </a:prstGeom>
          <a:noFill/>
          <a:ln/>
        </p:spPr>
        <p:txBody>
          <a:bodyPr wrap="square" lIns="0" tIns="0" rIns="0" bIns="0" rtlCol="0" anchor="ctr"/>
          <a:lstStyle/>
          <a:p>
            <a:pPr indent="0" marL="0">
              <a:buNone/>
            </a:pPr>
            <a:r>
              <a:rPr lang="en-US" sz="1600" dirty="0">
                <a:solidFill>
                  <a:srgbClr val="1F1F2E"/>
                </a:solidFill>
              </a:rPr>
              <a:t>New scenarios are slow to build</a:t>
            </a:r>
            <a:endParaRPr lang="en-US" sz="1600" dirty="0"/>
          </a:p>
        </p:txBody>
      </p:sp>
      <p:sp>
        <p:nvSpPr>
          <p:cNvPr id="18" name="arrow-55"/>
          <p:cNvSpPr/>
          <p:nvPr/>
        </p:nvSpPr>
        <p:spPr>
          <a:xfrm>
            <a:off x="5440680" y="4270248"/>
            <a:ext cx="548640" cy="329184"/>
          </a:xfrm>
          <a:prstGeom prst="rightArrow">
            <a:avLst/>
          </a:prstGeom>
          <a:solidFill>
            <a:srgbClr val="D4A24C"/>
          </a:solidFill>
          <a:ln w="12700">
            <a:solidFill>
              <a:srgbClr val="D4A24C"/>
            </a:solidFill>
            <a:prstDash val="solid"/>
          </a:ln>
        </p:spPr>
      </p:sp>
      <p:sp>
        <p:nvSpPr>
          <p:cNvPr id="19" name="fix-56"/>
          <p:cNvSpPr/>
          <p:nvPr/>
        </p:nvSpPr>
        <p:spPr>
          <a:xfrm>
            <a:off x="6126480" y="3968496"/>
            <a:ext cx="5486400" cy="932688"/>
          </a:xfrm>
          <a:prstGeom prst="rect">
            <a:avLst/>
          </a:prstGeom>
          <a:solidFill>
            <a:srgbClr val="EAF4F2"/>
          </a:solidFill>
          <a:ln w="12700">
            <a:solidFill>
              <a:srgbClr val="C7E3DE"/>
            </a:solidFill>
            <a:prstDash val="solid"/>
          </a:ln>
        </p:spPr>
      </p:sp>
      <p:sp>
        <p:nvSpPr>
          <p:cNvPr id="20" name="fixText-57"/>
          <p:cNvSpPr txBox="1"/>
          <p:nvPr/>
        </p:nvSpPr>
        <p:spPr>
          <a:xfrm>
            <a:off x="6309360" y="3968496"/>
            <a:ext cx="5166360" cy="932688"/>
          </a:xfrm>
          <a:prstGeom prst="rect">
            <a:avLst/>
          </a:prstGeom>
          <a:noFill/>
          <a:ln/>
        </p:spPr>
        <p:txBody>
          <a:bodyPr wrap="square" lIns="0" tIns="0" rIns="0" bIns="0" rtlCol="0" anchor="ctr"/>
          <a:lstStyle/>
          <a:p>
            <a:pPr indent="0" marL="0">
              <a:buNone/>
            </a:pPr>
            <a:r>
              <a:rPr lang="en-US" sz="1600" dirty="0">
                <a:solidFill>
                  <a:srgbClr val="1F1F2E"/>
                </a:solidFill>
              </a:rPr>
              <a:t>Copy a scenario block, or list scenarios in MTInputs and run one macro</a:t>
            </a:r>
            <a:endParaRPr lang="en-US" sz="1600" dirty="0"/>
          </a:p>
        </p:txBody>
      </p:sp>
      <p:sp>
        <p:nvSpPr>
          <p:cNvPr id="21" name="problem-58"/>
          <p:cNvSpPr/>
          <p:nvPr/>
        </p:nvSpPr>
        <p:spPr>
          <a:xfrm>
            <a:off x="548640" y="5084064"/>
            <a:ext cx="4754880" cy="932688"/>
          </a:xfrm>
          <a:prstGeom prst="rect">
            <a:avLst/>
          </a:prstGeom>
          <a:solidFill>
            <a:srgbClr val="FDF3E6"/>
          </a:solidFill>
          <a:ln w="12700">
            <a:solidFill>
              <a:srgbClr val="F2D9B6"/>
            </a:solidFill>
            <a:prstDash val="solid"/>
          </a:ln>
        </p:spPr>
      </p:sp>
      <p:sp>
        <p:nvSpPr>
          <p:cNvPr id="22" name="problemText-59"/>
          <p:cNvSpPr txBox="1"/>
          <p:nvPr/>
        </p:nvSpPr>
        <p:spPr>
          <a:xfrm>
            <a:off x="731520" y="5084064"/>
            <a:ext cx="4434840" cy="932688"/>
          </a:xfrm>
          <a:prstGeom prst="rect">
            <a:avLst/>
          </a:prstGeom>
          <a:noFill/>
          <a:ln/>
        </p:spPr>
        <p:txBody>
          <a:bodyPr wrap="square" lIns="0" tIns="0" rIns="0" bIns="0" rtlCol="0" anchor="ctr"/>
          <a:lstStyle/>
          <a:p>
            <a:pPr indent="0" marL="0">
              <a:buNone/>
            </a:pPr>
            <a:r>
              <a:rPr lang="en-US" sz="1600" dirty="0">
                <a:solidFill>
                  <a:srgbClr val="1F1F2E"/>
                </a:solidFill>
              </a:rPr>
              <a:t>Results are hard to verify</a:t>
            </a:r>
            <a:endParaRPr lang="en-US" sz="1600" dirty="0"/>
          </a:p>
        </p:txBody>
      </p:sp>
      <p:sp>
        <p:nvSpPr>
          <p:cNvPr id="23" name="arrow-60"/>
          <p:cNvSpPr/>
          <p:nvPr/>
        </p:nvSpPr>
        <p:spPr>
          <a:xfrm>
            <a:off x="5440680" y="5385816"/>
            <a:ext cx="548640" cy="329184"/>
          </a:xfrm>
          <a:prstGeom prst="rightArrow">
            <a:avLst/>
          </a:prstGeom>
          <a:solidFill>
            <a:srgbClr val="D4A24C"/>
          </a:solidFill>
          <a:ln w="12700">
            <a:solidFill>
              <a:srgbClr val="D4A24C"/>
            </a:solidFill>
            <a:prstDash val="solid"/>
          </a:ln>
        </p:spPr>
      </p:sp>
      <p:sp>
        <p:nvSpPr>
          <p:cNvPr id="24" name="fix-61"/>
          <p:cNvSpPr/>
          <p:nvPr/>
        </p:nvSpPr>
        <p:spPr>
          <a:xfrm>
            <a:off x="6126480" y="5084064"/>
            <a:ext cx="5486400" cy="932688"/>
          </a:xfrm>
          <a:prstGeom prst="rect">
            <a:avLst/>
          </a:prstGeom>
          <a:solidFill>
            <a:srgbClr val="EAF4F2"/>
          </a:solidFill>
          <a:ln w="12700">
            <a:solidFill>
              <a:srgbClr val="C7E3DE"/>
            </a:solidFill>
            <a:prstDash val="solid"/>
          </a:ln>
        </p:spPr>
      </p:sp>
      <p:sp>
        <p:nvSpPr>
          <p:cNvPr id="25" name="fixText-62"/>
          <p:cNvSpPr txBox="1"/>
          <p:nvPr/>
        </p:nvSpPr>
        <p:spPr>
          <a:xfrm>
            <a:off x="6309360" y="5084064"/>
            <a:ext cx="5166360" cy="932688"/>
          </a:xfrm>
          <a:prstGeom prst="rect">
            <a:avLst/>
          </a:prstGeom>
          <a:noFill/>
          <a:ln/>
        </p:spPr>
        <p:txBody>
          <a:bodyPr wrap="square" lIns="0" tIns="0" rIns="0" bIns="0" rtlCol="0" anchor="ctr"/>
          <a:lstStyle/>
          <a:p>
            <a:pPr indent="0" marL="0">
              <a:buNone/>
            </a:pPr>
            <a:r>
              <a:rPr lang="en-US" sz="1600" dirty="0">
                <a:solidFill>
                  <a:srgbClr val="1F1F2E"/>
                </a:solidFill>
              </a:rPr>
              <a:t>Every value recomputed in Python; legacy bugs found and listed</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LAYOUT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Years run across, scenarios sit side by side</a:t>
            </a:r>
            <a:endParaRPr lang="en-US" sz="3000" dirty="0"/>
          </a:p>
        </p:txBody>
      </p:sp>
      <p:sp>
        <p:nvSpPr>
          <p:cNvPr id="4" name="frame-63"/>
          <p:cNvSpPr/>
          <p:nvPr/>
        </p:nvSpPr>
        <p:spPr>
          <a:xfrm>
            <a:off x="493776" y="1362456"/>
            <a:ext cx="11173968" cy="1407386"/>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64" descr="/home/user/CPAT-AI-Local/cpat_excel_new/mitigation_copypaste/presentation/img/v23_01b_scenarios.png">    </p:cNvPr>
          <p:cNvPicPr>
            <a:picLocks noChangeAspect="1"/>
          </p:cNvPicPr>
          <p:nvPr/>
        </p:nvPicPr>
        <p:blipFill>
          <a:blip r:embed="rId1"/>
          <a:stretch>
            <a:fillRect/>
          </a:stretch>
        </p:blipFill>
        <p:spPr>
          <a:xfrm>
            <a:off x="548640" y="1417320"/>
            <a:ext cx="11064240" cy="1297658"/>
          </a:xfrm>
          <a:prstGeom prst="rect">
            <a:avLst/>
          </a:prstGeom>
        </p:spPr>
      </p:pic>
      <p:sp>
        <p:nvSpPr>
          <p:cNvPr id="6" name="caption-65"/>
          <p:cNvSpPr txBox="1"/>
          <p:nvPr/>
        </p:nvSpPr>
        <p:spPr>
          <a:xfrm>
            <a:off x="548640" y="2852138"/>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Each scenario is a block of columns: output codes, 2022 (beige), the years to 2041, a blank column.</a:t>
            </a:r>
            <a:endParaRPr lang="en-US" sz="1200" dirty="0"/>
          </a:p>
        </p:txBody>
      </p:sp>
      <p:sp>
        <p:nvSpPr>
          <p:cNvPr id="7" name="badge-66"/>
          <p:cNvSpPr/>
          <p:nvPr/>
        </p:nvSpPr>
        <p:spPr>
          <a:xfrm>
            <a:off x="548640" y="3446498"/>
            <a:ext cx="384048" cy="384048"/>
          </a:xfrm>
          <a:prstGeom prst="ellipse">
            <a:avLst/>
          </a:prstGeom>
          <a:solidFill>
            <a:srgbClr val="0F7B6C"/>
          </a:solidFill>
          <a:ln w="12700">
            <a:solidFill>
              <a:srgbClr val="0F7B6C"/>
            </a:solidFill>
            <a:prstDash val="solid"/>
          </a:ln>
        </p:spPr>
      </p:sp>
      <p:sp>
        <p:nvSpPr>
          <p:cNvPr id="8" name="badgeText-67"/>
          <p:cNvSpPr txBox="1"/>
          <p:nvPr/>
        </p:nvSpPr>
        <p:spPr>
          <a:xfrm>
            <a:off x="548640" y="344649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item-68"/>
          <p:cNvSpPr txBox="1"/>
          <p:nvPr/>
        </p:nvSpPr>
        <p:spPr>
          <a:xfrm>
            <a:off x="1097280" y="3400778"/>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settings column</a:t>
            </a:r>
            <a:endParaRPr lang="en-US" sz="1500" dirty="0"/>
          </a:p>
          <a:p>
            <a:pPr indent="0" marL="0">
              <a:buNone/>
            </a:pPr>
            <a:r>
              <a:rPr lang="en-US" sz="1400" dirty="0">
                <a:solidFill>
                  <a:srgbClr val="5C667A"/>
                </a:solidFill>
              </a:rPr>
              <a:t>In MTInputs, copy the last scenario column one to the right and edit it.</a:t>
            </a:r>
            <a:endParaRPr lang="en-US" sz="1500" dirty="0"/>
          </a:p>
        </p:txBody>
      </p:sp>
      <p:sp>
        <p:nvSpPr>
          <p:cNvPr id="10" name="badge-69"/>
          <p:cNvSpPr/>
          <p:nvPr/>
        </p:nvSpPr>
        <p:spPr>
          <a:xfrm>
            <a:off x="4251960" y="3446498"/>
            <a:ext cx="384048" cy="384048"/>
          </a:xfrm>
          <a:prstGeom prst="ellipse">
            <a:avLst/>
          </a:prstGeom>
          <a:solidFill>
            <a:srgbClr val="0F7B6C"/>
          </a:solidFill>
          <a:ln w="12700">
            <a:solidFill>
              <a:srgbClr val="0F7B6C"/>
            </a:solidFill>
            <a:prstDash val="solid"/>
          </a:ln>
        </p:spPr>
      </p:sp>
      <p:sp>
        <p:nvSpPr>
          <p:cNvPr id="11" name="badgeText-70"/>
          <p:cNvSpPr txBox="1"/>
          <p:nvPr/>
        </p:nvSpPr>
        <p:spPr>
          <a:xfrm>
            <a:off x="4251960" y="344649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71"/>
          <p:cNvSpPr txBox="1"/>
          <p:nvPr/>
        </p:nvSpPr>
        <p:spPr>
          <a:xfrm>
            <a:off x="4800600" y="3400778"/>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scenario block</a:t>
            </a:r>
            <a:endParaRPr lang="en-US" sz="1500" dirty="0"/>
          </a:p>
          <a:p>
            <a:pPr indent="0" marL="0">
              <a:buNone/>
            </a:pPr>
            <a:r>
              <a:rPr lang="en-US" sz="1400" dirty="0">
                <a:solidFill>
                  <a:srgbClr val="5C667A"/>
                </a:solidFill>
              </a:rPr>
              <a:t>In Mitigation, copy a whole block and paste it to the right.</a:t>
            </a:r>
            <a:endParaRPr lang="en-US" sz="1500" dirty="0"/>
          </a:p>
        </p:txBody>
      </p:sp>
      <p:sp>
        <p:nvSpPr>
          <p:cNvPr id="13" name="badge-72"/>
          <p:cNvSpPr/>
          <p:nvPr/>
        </p:nvSpPr>
        <p:spPr>
          <a:xfrm>
            <a:off x="7955280" y="3446498"/>
            <a:ext cx="384048" cy="384048"/>
          </a:xfrm>
          <a:prstGeom prst="ellipse">
            <a:avLst/>
          </a:prstGeom>
          <a:solidFill>
            <a:srgbClr val="0F7B6C"/>
          </a:solidFill>
          <a:ln w="12700">
            <a:solidFill>
              <a:srgbClr val="0F7B6C"/>
            </a:solidFill>
            <a:prstDash val="solid"/>
          </a:ln>
        </p:spPr>
      </p:sp>
      <p:sp>
        <p:nvSpPr>
          <p:cNvPr id="14" name="badgeText-73"/>
          <p:cNvSpPr txBox="1"/>
          <p:nvPr/>
        </p:nvSpPr>
        <p:spPr>
          <a:xfrm>
            <a:off x="7955280" y="344649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item-74"/>
          <p:cNvSpPr txBox="1"/>
          <p:nvPr/>
        </p:nvSpPr>
        <p:spPr>
          <a:xfrm>
            <a:off x="8503920" y="3400778"/>
            <a:ext cx="3108960" cy="914400"/>
          </a:xfrm>
          <a:prstGeom prst="rect">
            <a:avLst/>
          </a:prstGeom>
          <a:noFill/>
          <a:ln/>
        </p:spPr>
        <p:txBody>
          <a:bodyPr wrap="square" lIns="0" tIns="0" rIns="0" bIns="0" rtlCol="0" anchor="t"/>
          <a:lstStyle/>
          <a:p>
            <a:pPr indent="0" marL="0">
              <a:buNone/>
            </a:pPr>
            <a:r>
              <a:rPr lang="en-US" sz="1500" b="1" dirty="0">
                <a:solidFill>
                  <a:srgbClr val="1F1F2E"/>
                </a:solidFill>
              </a:rPr>
              <a:t>Done</a:t>
            </a:r>
            <a:endParaRPr lang="en-US" sz="1500" dirty="0"/>
          </a:p>
          <a:p>
            <a:pPr indent="0" marL="0">
              <a:buNone/>
            </a:pPr>
            <a:r>
              <a:rPr lang="en-US" sz="1400" dirty="0">
                <a:solidFill>
                  <a:srgbClr val="5C667A"/>
                </a:solidFill>
              </a:rPr>
              <a:t>The scenario number goes up by one; the block reads its own MTInputs column.</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ROWS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Row-specific numbers live on the left</a:t>
            </a:r>
            <a:endParaRPr lang="en-US" sz="3000" dirty="0"/>
          </a:p>
        </p:txBody>
      </p:sp>
      <p:sp>
        <p:nvSpPr>
          <p:cNvPr id="4" name="frame-75"/>
          <p:cNvSpPr/>
          <p:nvPr/>
        </p:nvSpPr>
        <p:spPr>
          <a:xfrm>
            <a:off x="493776" y="1362456"/>
            <a:ext cx="7333488" cy="408836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6" descr="/home/user/CPAT-AI-Local/cpat_excel_new/mitigation_copypaste/presentation/img/v23_01c_left.png">    </p:cNvPr>
          <p:cNvPicPr>
            <a:picLocks noChangeAspect="1"/>
          </p:cNvPicPr>
          <p:nvPr/>
        </p:nvPicPr>
        <p:blipFill>
          <a:blip r:embed="rId1"/>
          <a:stretch>
            <a:fillRect/>
          </a:stretch>
        </p:blipFill>
        <p:spPr>
          <a:xfrm>
            <a:off x="548640" y="1417320"/>
            <a:ext cx="7223760" cy="3978635"/>
          </a:xfrm>
          <a:prstGeom prst="rect">
            <a:avLst/>
          </a:prstGeom>
        </p:spPr>
      </p:pic>
      <p:sp>
        <p:nvSpPr>
          <p:cNvPr id="6" name="badge-77"/>
          <p:cNvSpPr/>
          <p:nvPr/>
        </p:nvSpPr>
        <p:spPr>
          <a:xfrm>
            <a:off x="8229600" y="1508760"/>
            <a:ext cx="384048" cy="384048"/>
          </a:xfrm>
          <a:prstGeom prst="ellipse">
            <a:avLst/>
          </a:prstGeom>
          <a:solidFill>
            <a:srgbClr val="1E2761"/>
          </a:solidFill>
          <a:ln w="12700">
            <a:solidFill>
              <a:srgbClr val="1E2761"/>
            </a:solidFill>
            <a:prstDash val="solid"/>
          </a:ln>
        </p:spPr>
      </p:sp>
      <p:sp>
        <p:nvSpPr>
          <p:cNvPr id="7" name="badgeText-78"/>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8" name="item-79"/>
          <p:cNvSpPr txBox="1"/>
          <p:nvPr/>
        </p:nvSpPr>
        <p:spPr>
          <a:xfrm>
            <a:off x="8778240" y="146304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B:C: fuel and sector</a:t>
            </a:r>
            <a:endParaRPr lang="en-US" sz="1500" dirty="0"/>
          </a:p>
          <a:p>
            <a:pPr indent="0" marL="0">
              <a:buNone/>
            </a:pPr>
            <a:r>
              <a:rPr lang="en-US" sz="1400" dirty="0">
                <a:solidFill>
                  <a:srgbClr val="5C667A"/>
                </a:solidFill>
              </a:rPr>
              <a:t>Every row is one fuel in one sector (here: road transport).</a:t>
            </a:r>
            <a:endParaRPr lang="en-US" sz="1500" dirty="0"/>
          </a:p>
        </p:txBody>
      </p:sp>
      <p:sp>
        <p:nvSpPr>
          <p:cNvPr id="9" name="badge-80"/>
          <p:cNvSpPr/>
          <p:nvPr/>
        </p:nvSpPr>
        <p:spPr>
          <a:xfrm>
            <a:off x="8229600" y="2788920"/>
            <a:ext cx="384048" cy="384048"/>
          </a:xfrm>
          <a:prstGeom prst="ellipse">
            <a:avLst/>
          </a:prstGeom>
          <a:solidFill>
            <a:srgbClr val="1E2761"/>
          </a:solidFill>
          <a:ln w="12700">
            <a:solidFill>
              <a:srgbClr val="1E2761"/>
            </a:solidFill>
            <a:prstDash val="solid"/>
          </a:ln>
        </p:spPr>
      </p:sp>
      <p:sp>
        <p:nvSpPr>
          <p:cNvPr id="10" name="badgeText-81"/>
          <p:cNvSpPr txBox="1"/>
          <p:nvPr/>
        </p:nvSpPr>
        <p:spPr>
          <a:xfrm>
            <a:off x="822960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item-82"/>
          <p:cNvSpPr txBox="1"/>
          <p:nvPr/>
        </p:nvSpPr>
        <p:spPr>
          <a:xfrm>
            <a:off x="8778240" y="274320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D:G: that row's numbers</a:t>
            </a:r>
            <a:endParaRPr lang="en-US" sz="1500" dirty="0"/>
          </a:p>
          <a:p>
            <a:pPr indent="0" marL="0">
              <a:buNone/>
            </a:pPr>
            <a:r>
              <a:rPr lang="en-US" sz="1400" dirty="0">
                <a:solidFill>
                  <a:srgbClr val="5C667A"/>
                </a:solidFill>
              </a:rPr>
              <a:t>Emission factor, elasticities, positions: looked up once.</a:t>
            </a:r>
            <a:endParaRPr lang="en-US" sz="1500" dirty="0"/>
          </a:p>
        </p:txBody>
      </p:sp>
      <p:sp>
        <p:nvSpPr>
          <p:cNvPr id="12" name="badge-83"/>
          <p:cNvSpPr/>
          <p:nvPr/>
        </p:nvSpPr>
        <p:spPr>
          <a:xfrm>
            <a:off x="8229600" y="4069080"/>
            <a:ext cx="384048" cy="384048"/>
          </a:xfrm>
          <a:prstGeom prst="ellipse">
            <a:avLst/>
          </a:prstGeom>
          <a:solidFill>
            <a:srgbClr val="1E2761"/>
          </a:solidFill>
          <a:ln w="12700">
            <a:solidFill>
              <a:srgbClr val="1E2761"/>
            </a:solidFill>
            <a:prstDash val="solid"/>
          </a:ln>
        </p:spPr>
      </p:sp>
      <p:sp>
        <p:nvSpPr>
          <p:cNvPr id="13" name="badgeText-84"/>
          <p:cNvSpPr txBox="1"/>
          <p:nvPr/>
        </p:nvSpPr>
        <p:spPr>
          <a:xfrm>
            <a:off x="822960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4" name="item-85"/>
          <p:cNvSpPr txBox="1"/>
          <p:nvPr/>
        </p:nvSpPr>
        <p:spPr>
          <a:xfrm>
            <a:off x="8778240" y="402336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Year columns: one formula</a:t>
            </a:r>
            <a:endParaRPr lang="en-US" sz="1500" dirty="0"/>
          </a:p>
          <a:p>
            <a:pPr indent="0" marL="0">
              <a:buNone/>
            </a:pPr>
            <a:r>
              <a:rPr lang="en-US" sz="1400" dirty="0">
                <a:solidFill>
                  <a:srgbClr val="5C667A"/>
                </a:solidFill>
              </a:rPr>
              <a:t>The same formula in every row of a block.</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FORMULAS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Short, plain formulas; the last year runs on named LAMBDAs</a:t>
            </a:r>
            <a:endParaRPr lang="en-US" sz="3000" dirty="0"/>
          </a:p>
        </p:txBody>
      </p:sp>
      <p:sp>
        <p:nvSpPr>
          <p:cNvPr id="4" name="frame-86"/>
          <p:cNvSpPr/>
          <p:nvPr/>
        </p:nvSpPr>
        <p:spPr>
          <a:xfrm>
            <a:off x="1367340" y="1316736"/>
            <a:ext cx="9426841" cy="2487168"/>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87" descr="/home/user/CPAT-AI-Local/cpat_excel_new/mitigation_copypaste/presentation/img/v23_02_formulas.png">    </p:cNvPr>
          <p:cNvPicPr>
            <a:picLocks noChangeAspect="1"/>
          </p:cNvPicPr>
          <p:nvPr/>
        </p:nvPicPr>
        <p:blipFill>
          <a:blip r:embed="rId1"/>
          <a:stretch>
            <a:fillRect/>
          </a:stretch>
        </p:blipFill>
        <p:spPr>
          <a:xfrm>
            <a:off x="1422204" y="1371600"/>
            <a:ext cx="9317113" cy="2377440"/>
          </a:xfrm>
          <a:prstGeom prst="rect">
            <a:avLst/>
          </a:prstGeom>
        </p:spPr>
      </p:pic>
      <p:sp>
        <p:nvSpPr>
          <p:cNvPr id="6" name="card-88"/>
          <p:cNvSpPr/>
          <p:nvPr/>
        </p:nvSpPr>
        <p:spPr>
          <a:xfrm>
            <a:off x="548640" y="4160520"/>
            <a:ext cx="3520440" cy="1234440"/>
          </a:xfrm>
          <a:prstGeom prst="rect">
            <a:avLst/>
          </a:prstGeom>
          <a:solidFill>
            <a:srgbClr val="F4F6FB"/>
          </a:solidFill>
          <a:ln w="12700">
            <a:solidFill>
              <a:srgbClr val="D5DAE3"/>
            </a:solidFill>
            <a:prstDash val="solid"/>
          </a:ln>
        </p:spPr>
      </p:sp>
      <p:sp>
        <p:nvSpPr>
          <p:cNvPr id="7" name="cardText-89"/>
          <p:cNvSpPr txBox="1"/>
          <p:nvPr/>
        </p:nvSpPr>
        <p:spPr>
          <a:xfrm>
            <a:off x="713232" y="4270248"/>
            <a:ext cx="3191256" cy="1014984"/>
          </a:xfrm>
          <a:prstGeom prst="rect">
            <a:avLst/>
          </a:prstGeom>
          <a:noFill/>
          <a:ln/>
        </p:spPr>
        <p:txBody>
          <a:bodyPr wrap="square" lIns="0" tIns="0" rIns="0" bIns="0" rtlCol="0" anchor="t"/>
          <a:lstStyle/>
          <a:p>
            <a:pPr indent="0" marL="0">
              <a:buNone/>
            </a:pPr>
            <a:r>
              <a:rPr lang="en-US" sz="1500" b="1" dirty="0">
                <a:solidFill>
                  <a:srgbClr val="1E2761"/>
                </a:solidFill>
              </a:rPr>
              <a:t>At most 100 characters</a:t>
            </a:r>
            <a:endParaRPr lang="en-US" sz="1500" dirty="0"/>
          </a:p>
          <a:p>
            <a:pPr indent="0" marL="0">
              <a:buNone/>
            </a:pPr>
            <a:r>
              <a:rPr lang="en-US" sz="1400" dirty="0">
                <a:solidFill>
                  <a:srgbClr val="1F1F2E"/>
                </a:solidFill>
              </a:rPr>
              <a:t>All 139,801 formulas. Long ones are split into visible steps.</a:t>
            </a:r>
            <a:endParaRPr lang="en-US" sz="1500" dirty="0"/>
          </a:p>
        </p:txBody>
      </p:sp>
      <p:sp>
        <p:nvSpPr>
          <p:cNvPr id="8" name="card-90"/>
          <p:cNvSpPr/>
          <p:nvPr/>
        </p:nvSpPr>
        <p:spPr>
          <a:xfrm>
            <a:off x="4315968" y="4160520"/>
            <a:ext cx="3520440" cy="1234440"/>
          </a:xfrm>
          <a:prstGeom prst="rect">
            <a:avLst/>
          </a:prstGeom>
          <a:solidFill>
            <a:srgbClr val="EAF4F2"/>
          </a:solidFill>
          <a:ln w="12700">
            <a:solidFill>
              <a:srgbClr val="C7E3DE"/>
            </a:solidFill>
            <a:prstDash val="solid"/>
          </a:ln>
        </p:spPr>
      </p:sp>
      <p:sp>
        <p:nvSpPr>
          <p:cNvPr id="9" name="cardText-91"/>
          <p:cNvSpPr txBox="1"/>
          <p:nvPr/>
        </p:nvSpPr>
        <p:spPr>
          <a:xfrm>
            <a:off x="4480560" y="4270248"/>
            <a:ext cx="3191256" cy="1014984"/>
          </a:xfrm>
          <a:prstGeom prst="rect">
            <a:avLst/>
          </a:prstGeom>
          <a:noFill/>
          <a:ln/>
        </p:spPr>
        <p:txBody>
          <a:bodyPr wrap="square" lIns="0" tIns="0" rIns="0" bIns="0" rtlCol="0" anchor="t"/>
          <a:lstStyle/>
          <a:p>
            <a:pPr indent="0" marL="0">
              <a:buNone/>
            </a:pPr>
            <a:r>
              <a:rPr lang="en-US" sz="1500" b="1" dirty="0">
                <a:solidFill>
                  <a:srgbClr val="0F7B6C"/>
                </a:solidFill>
              </a:rPr>
              <a:t>2022-2040: no LAMBDA needed</a:t>
            </a:r>
            <a:endParaRPr lang="en-US" sz="1500" dirty="0"/>
          </a:p>
          <a:p>
            <a:pPr indent="0" marL="0">
              <a:buNone/>
            </a:pPr>
            <a:r>
              <a:rPr lang="en-US" sz="1400" dirty="0">
                <a:solidFill>
                  <a:srgbClr val="1F1F2E"/>
                </a:solidFill>
              </a:rPr>
              <a:t>Plain Excel from 2019; LibreOffice recalculates these years without errors.</a:t>
            </a:r>
            <a:endParaRPr lang="en-US" sz="1500" dirty="0"/>
          </a:p>
        </p:txBody>
      </p:sp>
      <p:sp>
        <p:nvSpPr>
          <p:cNvPr id="10" name="card-92"/>
          <p:cNvSpPr/>
          <p:nvPr/>
        </p:nvSpPr>
        <p:spPr>
          <a:xfrm>
            <a:off x="8092440" y="4160520"/>
            <a:ext cx="3520440" cy="1234440"/>
          </a:xfrm>
          <a:prstGeom prst="rect">
            <a:avLst/>
          </a:prstGeom>
          <a:solidFill>
            <a:srgbClr val="EEECE1"/>
          </a:solidFill>
          <a:ln w="12700">
            <a:solidFill>
              <a:srgbClr val="D9D4BC"/>
            </a:solidFill>
            <a:prstDash val="solid"/>
          </a:ln>
        </p:spPr>
      </p:sp>
      <p:sp>
        <p:nvSpPr>
          <p:cNvPr id="11" name="cardText-93"/>
          <p:cNvSpPr txBox="1"/>
          <p:nvPr/>
        </p:nvSpPr>
        <p:spPr>
          <a:xfrm>
            <a:off x="8257032" y="4270248"/>
            <a:ext cx="3191256" cy="1014984"/>
          </a:xfrm>
          <a:prstGeom prst="rect">
            <a:avLst/>
          </a:prstGeom>
          <a:noFill/>
          <a:ln/>
        </p:spPr>
        <p:txBody>
          <a:bodyPr wrap="square" lIns="0" tIns="0" rIns="0" bIns="0" rtlCol="0" anchor="t"/>
          <a:lstStyle/>
          <a:p>
            <a:pPr indent="0" marL="0">
              <a:buNone/>
            </a:pPr>
            <a:r>
              <a:rPr lang="en-US" sz="1500" b="1" dirty="0">
                <a:solidFill>
                  <a:srgbClr val="9C0006"/>
                </a:solidFill>
              </a:rPr>
              <a:t>2041: the LAMBDA year</a:t>
            </a:r>
            <a:endParaRPr lang="en-US" sz="1500" dirty="0"/>
          </a:p>
          <a:p>
            <a:pPr indent="0" marL="0">
              <a:buNone/>
            </a:pPr>
            <a:r>
              <a:rPr lang="en-US" sz="1400" dirty="0">
                <a:solidFill>
                  <a:srgbClr val="1F1F2E"/>
                </a:solidFill>
              </a:rPr>
              <a:t>Every cell of 2041 calls a named LAMBDA (Excel 365); sheet Lambdas lists them.</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MANY SCENARIOS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List scenarios, run one macro, compare</a:t>
            </a:r>
            <a:endParaRPr lang="en-US" sz="3000" dirty="0"/>
          </a:p>
        </p:txBody>
      </p:sp>
      <p:sp>
        <p:nvSpPr>
          <p:cNvPr id="4" name="flow-94"/>
          <p:cNvSpPr/>
          <p:nvPr/>
        </p:nvSpPr>
        <p:spPr>
          <a:xfrm>
            <a:off x="548640" y="1463040"/>
            <a:ext cx="2491740" cy="566928"/>
          </a:xfrm>
          <a:prstGeom prst="roundRect">
            <a:avLst>
              <a:gd name="adj" fmla="val 16129"/>
            </a:avLst>
          </a:prstGeom>
          <a:solidFill>
            <a:srgbClr val="0F7B6C"/>
          </a:solidFill>
          <a:ln w="12700">
            <a:solidFill>
              <a:srgbClr val="0F7B6C"/>
            </a:solidFill>
            <a:prstDash val="solid"/>
          </a:ln>
        </p:spPr>
      </p:sp>
      <p:sp>
        <p:nvSpPr>
          <p:cNvPr id="5" name="flowText-95"/>
          <p:cNvSpPr txBox="1"/>
          <p:nvPr/>
        </p:nvSpPr>
        <p:spPr>
          <a:xfrm>
            <a:off x="548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Define in MTInputs</a:t>
            </a:r>
            <a:endParaRPr lang="en-US" sz="1400" dirty="0"/>
          </a:p>
        </p:txBody>
      </p:sp>
      <p:sp>
        <p:nvSpPr>
          <p:cNvPr id="6" name="flowArrow-96"/>
          <p:cNvSpPr/>
          <p:nvPr/>
        </p:nvSpPr>
        <p:spPr>
          <a:xfrm>
            <a:off x="3104388" y="1618488"/>
            <a:ext cx="237744" cy="256032"/>
          </a:xfrm>
          <a:prstGeom prst="rightArrow">
            <a:avLst/>
          </a:prstGeom>
          <a:solidFill>
            <a:srgbClr val="D4A24C"/>
          </a:solidFill>
          <a:ln w="12700">
            <a:solidFill>
              <a:srgbClr val="D4A24C"/>
            </a:solidFill>
            <a:prstDash val="solid"/>
          </a:ln>
        </p:spPr>
      </p:sp>
      <p:sp>
        <p:nvSpPr>
          <p:cNvPr id="7" name="flow-97"/>
          <p:cNvSpPr/>
          <p:nvPr/>
        </p:nvSpPr>
        <p:spPr>
          <a:xfrm>
            <a:off x="3406140" y="1463040"/>
            <a:ext cx="2491740" cy="566928"/>
          </a:xfrm>
          <a:prstGeom prst="roundRect">
            <a:avLst>
              <a:gd name="adj" fmla="val 16129"/>
            </a:avLst>
          </a:prstGeom>
          <a:solidFill>
            <a:srgbClr val="0F7B6C"/>
          </a:solidFill>
          <a:ln w="12700">
            <a:solidFill>
              <a:srgbClr val="0F7B6C"/>
            </a:solidFill>
            <a:prstDash val="solid"/>
          </a:ln>
        </p:spPr>
      </p:sp>
      <p:sp>
        <p:nvSpPr>
          <p:cNvPr id="8" name="flowText-98"/>
          <p:cNvSpPr txBox="1"/>
          <p:nvPr/>
        </p:nvSpPr>
        <p:spPr>
          <a:xfrm>
            <a:off x="3406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RunAllScenarios</a:t>
            </a:r>
            <a:endParaRPr lang="en-US" sz="1400" dirty="0"/>
          </a:p>
        </p:txBody>
      </p:sp>
      <p:sp>
        <p:nvSpPr>
          <p:cNvPr id="9" name="flowArrow-99"/>
          <p:cNvSpPr/>
          <p:nvPr/>
        </p:nvSpPr>
        <p:spPr>
          <a:xfrm>
            <a:off x="5961888" y="1618488"/>
            <a:ext cx="237744" cy="256032"/>
          </a:xfrm>
          <a:prstGeom prst="rightArrow">
            <a:avLst/>
          </a:prstGeom>
          <a:solidFill>
            <a:srgbClr val="D4A24C"/>
          </a:solidFill>
          <a:ln w="12700">
            <a:solidFill>
              <a:srgbClr val="D4A24C"/>
            </a:solidFill>
            <a:prstDash val="solid"/>
          </a:ln>
        </p:spPr>
      </p:sp>
      <p:sp>
        <p:nvSpPr>
          <p:cNvPr id="10" name="flow-100"/>
          <p:cNvSpPr/>
          <p:nvPr/>
        </p:nvSpPr>
        <p:spPr>
          <a:xfrm>
            <a:off x="6263640" y="1463040"/>
            <a:ext cx="2491740" cy="566928"/>
          </a:xfrm>
          <a:prstGeom prst="roundRect">
            <a:avLst>
              <a:gd name="adj" fmla="val 16129"/>
            </a:avLst>
          </a:prstGeom>
          <a:solidFill>
            <a:srgbClr val="0F7B6C"/>
          </a:solidFill>
          <a:ln w="12700">
            <a:solidFill>
              <a:srgbClr val="0F7B6C"/>
            </a:solidFill>
            <a:prstDash val="solid"/>
          </a:ln>
        </p:spPr>
      </p:sp>
      <p:sp>
        <p:nvSpPr>
          <p:cNvPr id="11" name="flowText-101"/>
          <p:cNvSpPr txBox="1"/>
          <p:nvPr/>
        </p:nvSpPr>
        <p:spPr>
          <a:xfrm>
            <a:off x="6263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StoredResults</a:t>
            </a:r>
            <a:endParaRPr lang="en-US" sz="1400" dirty="0"/>
          </a:p>
        </p:txBody>
      </p:sp>
      <p:sp>
        <p:nvSpPr>
          <p:cNvPr id="12" name="flowArrow-102"/>
          <p:cNvSpPr/>
          <p:nvPr/>
        </p:nvSpPr>
        <p:spPr>
          <a:xfrm>
            <a:off x="8819388" y="1618488"/>
            <a:ext cx="237744" cy="256032"/>
          </a:xfrm>
          <a:prstGeom prst="rightArrow">
            <a:avLst/>
          </a:prstGeom>
          <a:solidFill>
            <a:srgbClr val="D4A24C"/>
          </a:solidFill>
          <a:ln w="12700">
            <a:solidFill>
              <a:srgbClr val="D4A24C"/>
            </a:solidFill>
            <a:prstDash val="solid"/>
          </a:ln>
        </p:spPr>
      </p:sp>
      <p:sp>
        <p:nvSpPr>
          <p:cNvPr id="13" name="flow-103"/>
          <p:cNvSpPr/>
          <p:nvPr/>
        </p:nvSpPr>
        <p:spPr>
          <a:xfrm>
            <a:off x="9121140" y="1463040"/>
            <a:ext cx="2491740" cy="566928"/>
          </a:xfrm>
          <a:prstGeom prst="roundRect">
            <a:avLst>
              <a:gd name="adj" fmla="val 16129"/>
            </a:avLst>
          </a:prstGeom>
          <a:solidFill>
            <a:srgbClr val="0F7B6C"/>
          </a:solidFill>
          <a:ln w="12700">
            <a:solidFill>
              <a:srgbClr val="0F7B6C"/>
            </a:solidFill>
            <a:prstDash val="solid"/>
          </a:ln>
        </p:spPr>
      </p:sp>
      <p:sp>
        <p:nvSpPr>
          <p:cNvPr id="14" name="flowText-104"/>
          <p:cNvSpPr txBox="1"/>
          <p:nvPr/>
        </p:nvSpPr>
        <p:spPr>
          <a:xfrm>
            <a:off x="9121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ScenarioCompare</a:t>
            </a:r>
            <a:endParaRPr lang="en-US" sz="1400" dirty="0"/>
          </a:p>
        </p:txBody>
      </p:sp>
      <p:sp>
        <p:nvSpPr>
          <p:cNvPr id="15" name="frame-105"/>
          <p:cNvSpPr/>
          <p:nvPr/>
        </p:nvSpPr>
        <p:spPr>
          <a:xfrm>
            <a:off x="493776" y="2322576"/>
            <a:ext cx="5596128" cy="2398650"/>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6" name="screenshot-106" descr="/home/user/CPAT-AI-Local/cpat_excel_new/mitigation_copypaste/presentation/img/v23_06_definitions.png">    </p:cNvPr>
          <p:cNvPicPr>
            <a:picLocks noChangeAspect="1"/>
          </p:cNvPicPr>
          <p:nvPr/>
        </p:nvPicPr>
        <p:blipFill>
          <a:blip r:embed="rId1"/>
          <a:stretch>
            <a:fillRect/>
          </a:stretch>
        </p:blipFill>
        <p:spPr>
          <a:xfrm>
            <a:off x="548640" y="2377440"/>
            <a:ext cx="5486400" cy="2288922"/>
          </a:xfrm>
          <a:prstGeom prst="rect">
            <a:avLst/>
          </a:prstGeom>
        </p:spPr>
      </p:pic>
      <p:sp>
        <p:nvSpPr>
          <p:cNvPr id="17" name="caption-107"/>
          <p:cNvSpPr txBox="1"/>
          <p:nvPr/>
        </p:nvSpPr>
        <p:spPr>
          <a:xfrm>
            <a:off x="548640" y="4776090"/>
            <a:ext cx="5486400" cy="274320"/>
          </a:xfrm>
          <a:prstGeom prst="rect">
            <a:avLst/>
          </a:prstGeom>
          <a:noFill/>
          <a:ln/>
        </p:spPr>
        <p:txBody>
          <a:bodyPr wrap="square" lIns="0" tIns="0" rIns="0" bIns="0" rtlCol="0" anchor="ctr"/>
          <a:lstStyle/>
          <a:p>
            <a:pPr indent="0" marL="0">
              <a:buNone/>
            </a:pPr>
            <a:r>
              <a:rPr lang="en-US" sz="1200" i="1" dirty="0">
                <a:solidFill>
                  <a:srgbClr val="5C667A"/>
                </a:solidFill>
              </a:rPr>
              <a:t>MTInputs: one column per scenario, Run? = Yes</a:t>
            </a:r>
            <a:endParaRPr lang="en-US" sz="1200" dirty="0"/>
          </a:p>
        </p:txBody>
      </p:sp>
      <p:sp>
        <p:nvSpPr>
          <p:cNvPr id="18" name="frame-108"/>
          <p:cNvSpPr/>
          <p:nvPr/>
        </p:nvSpPr>
        <p:spPr>
          <a:xfrm>
            <a:off x="6254496" y="2322576"/>
            <a:ext cx="5413248" cy="209104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9" name="screenshot-109" descr="/home/user/CPAT-AI-Local/cpat_excel_new/mitigation_copypaste/presentation/img/v23_05_compare.png">    </p:cNvPr>
          <p:cNvPicPr>
            <a:picLocks noChangeAspect="1"/>
          </p:cNvPicPr>
          <p:nvPr/>
        </p:nvPicPr>
        <p:blipFill>
          <a:blip r:embed="rId2"/>
          <a:stretch>
            <a:fillRect/>
          </a:stretch>
        </p:blipFill>
        <p:spPr>
          <a:xfrm>
            <a:off x="6309360" y="2377440"/>
            <a:ext cx="5303520" cy="1981315"/>
          </a:xfrm>
          <a:prstGeom prst="rect">
            <a:avLst/>
          </a:prstGeom>
        </p:spPr>
      </p:pic>
      <p:sp>
        <p:nvSpPr>
          <p:cNvPr id="20" name="caption-110"/>
          <p:cNvSpPr txBox="1"/>
          <p:nvPr/>
        </p:nvSpPr>
        <p:spPr>
          <a:xfrm>
            <a:off x="6309360" y="4468483"/>
            <a:ext cx="53035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levels in one year vs the baseline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Policies cut CO2; the ETS price meets its cap</a:t>
            </a:r>
            <a:endParaRPr lang="en-US" sz="3000" dirty="0"/>
          </a:p>
        </p:txBody>
      </p:sp>
      <p:graphicFrame>
        <p:nvGraphicFramePr>
          <p:cNvPr id="4" name="chart-111"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112" descr=""/>
          <p:cNvGraphicFramePr/>
          <p:nvPr/>
        </p:nvGraphicFramePr>
        <p:xfrm>
          <a:off x="6858000" y="1371600"/>
          <a:ext cx="4754880" cy="4480560"/>
        </p:xfrm>
        <a:graphic xmlns:a="http://schemas.openxmlformats.org/drawingml/2006/main">
          <a:graphicData uri="http://schemas.openxmlformats.org/drawingml/2006/chart">
            <c:chart xmlns:c="http://schemas.openxmlformats.org/drawingml/2006/chart" r:id="rId2"/>
          </a:graphicData>
        </a:graphic>
      </p:graphicFrame>
      <p:sp>
        <p:nvSpPr>
          <p:cNvPr id="6" name="caption-113"/>
          <p:cNvSpPr txBox="1"/>
          <p:nvPr/>
        </p:nvSpPr>
        <p:spPr>
          <a:xfrm>
            <a:off x="6858000" y="5943600"/>
            <a:ext cx="4754880" cy="274320"/>
          </a:xfrm>
          <a:prstGeom prst="rect">
            <a:avLst/>
          </a:prstGeom>
          <a:noFill/>
          <a:ln/>
        </p:spPr>
        <p:txBody>
          <a:bodyPr wrap="square" lIns="0" tIns="0" rIns="0" bIns="0" rtlCol="0" anchor="ctr"/>
          <a:lstStyle/>
          <a:p>
            <a:pPr indent="0" marL="0">
              <a:buNone/>
            </a:pPr>
            <a:r>
              <a:rPr lang="en-US" sz="1200" i="1" dirty="0">
                <a:solidFill>
                  <a:srgbClr val="5C667A"/>
                </a:solidFill>
              </a:rPr>
              <a:t>Package B ETS price: 115 $/tCO2 in 2030 (goal seek, 18 iterations)</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A full power model, with ten legacy bugs fixed</a:t>
            </a:r>
            <a:endParaRPr lang="en-US" sz="3000" dirty="0"/>
          </a:p>
        </p:txBody>
      </p:sp>
      <p:sp>
        <p:nvSpPr>
          <p:cNvPr id="4" name="flow-114"/>
          <p:cNvSpPr/>
          <p:nvPr/>
        </p:nvSpPr>
        <p:spPr>
          <a:xfrm>
            <a:off x="548640" y="1463040"/>
            <a:ext cx="1920240" cy="566928"/>
          </a:xfrm>
          <a:prstGeom prst="roundRect">
            <a:avLst>
              <a:gd name="adj" fmla="val 16129"/>
            </a:avLst>
          </a:prstGeom>
          <a:solidFill>
            <a:srgbClr val="1E2761"/>
          </a:solidFill>
          <a:ln w="12700">
            <a:solidFill>
              <a:srgbClr val="1E2761"/>
            </a:solidFill>
            <a:prstDash val="solid"/>
          </a:ln>
        </p:spPr>
      </p:sp>
      <p:sp>
        <p:nvSpPr>
          <p:cNvPr id="5" name="flowText-115"/>
          <p:cNvSpPr txBox="1"/>
          <p:nvPr/>
        </p:nvSpPr>
        <p:spPr>
          <a:xfrm>
            <a:off x="548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H. Demand</a:t>
            </a:r>
            <a:endParaRPr lang="en-US" sz="1400" dirty="0"/>
          </a:p>
        </p:txBody>
      </p:sp>
      <p:sp>
        <p:nvSpPr>
          <p:cNvPr id="6" name="flowArrow-116"/>
          <p:cNvSpPr/>
          <p:nvPr/>
        </p:nvSpPr>
        <p:spPr>
          <a:xfrm>
            <a:off x="2532888" y="1618488"/>
            <a:ext cx="237744" cy="256032"/>
          </a:xfrm>
          <a:prstGeom prst="rightArrow">
            <a:avLst/>
          </a:prstGeom>
          <a:solidFill>
            <a:srgbClr val="D4A24C"/>
          </a:solidFill>
          <a:ln w="12700">
            <a:solidFill>
              <a:srgbClr val="D4A24C"/>
            </a:solidFill>
            <a:prstDash val="solid"/>
          </a:ln>
        </p:spPr>
      </p:sp>
      <p:sp>
        <p:nvSpPr>
          <p:cNvPr id="7" name="flow-117"/>
          <p:cNvSpPr/>
          <p:nvPr/>
        </p:nvSpPr>
        <p:spPr>
          <a:xfrm>
            <a:off x="2834640" y="1463040"/>
            <a:ext cx="1920240" cy="566928"/>
          </a:xfrm>
          <a:prstGeom prst="roundRect">
            <a:avLst>
              <a:gd name="adj" fmla="val 16129"/>
            </a:avLst>
          </a:prstGeom>
          <a:solidFill>
            <a:srgbClr val="1E2761"/>
          </a:solidFill>
          <a:ln w="12700">
            <a:solidFill>
              <a:srgbClr val="1E2761"/>
            </a:solidFill>
            <a:prstDash val="solid"/>
          </a:ln>
        </p:spPr>
      </p:sp>
      <p:sp>
        <p:nvSpPr>
          <p:cNvPr id="8" name="flowText-118"/>
          <p:cNvSpPr txBox="1"/>
          <p:nvPr/>
        </p:nvSpPr>
        <p:spPr>
          <a:xfrm>
            <a:off x="2834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I. Dispatch</a:t>
            </a:r>
            <a:endParaRPr lang="en-US" sz="1400" dirty="0"/>
          </a:p>
        </p:txBody>
      </p:sp>
      <p:sp>
        <p:nvSpPr>
          <p:cNvPr id="9" name="flowArrow-119"/>
          <p:cNvSpPr/>
          <p:nvPr/>
        </p:nvSpPr>
        <p:spPr>
          <a:xfrm>
            <a:off x="4818888" y="1618488"/>
            <a:ext cx="237744" cy="256032"/>
          </a:xfrm>
          <a:prstGeom prst="rightArrow">
            <a:avLst/>
          </a:prstGeom>
          <a:solidFill>
            <a:srgbClr val="D4A24C"/>
          </a:solidFill>
          <a:ln w="12700">
            <a:solidFill>
              <a:srgbClr val="D4A24C"/>
            </a:solidFill>
            <a:prstDash val="solid"/>
          </a:ln>
        </p:spPr>
      </p:sp>
      <p:sp>
        <p:nvSpPr>
          <p:cNvPr id="10" name="flow-120"/>
          <p:cNvSpPr/>
          <p:nvPr/>
        </p:nvSpPr>
        <p:spPr>
          <a:xfrm>
            <a:off x="5120640" y="1463040"/>
            <a:ext cx="1920240" cy="566928"/>
          </a:xfrm>
          <a:prstGeom prst="roundRect">
            <a:avLst>
              <a:gd name="adj" fmla="val 16129"/>
            </a:avLst>
          </a:prstGeom>
          <a:solidFill>
            <a:srgbClr val="1E2761"/>
          </a:solidFill>
          <a:ln w="12700">
            <a:solidFill>
              <a:srgbClr val="1E2761"/>
            </a:solidFill>
            <a:prstDash val="solid"/>
          </a:ln>
        </p:spPr>
      </p:sp>
      <p:sp>
        <p:nvSpPr>
          <p:cNvPr id="11" name="flowText-121"/>
          <p:cNvSpPr txBox="1"/>
          <p:nvPr/>
        </p:nvSpPr>
        <p:spPr>
          <a:xfrm>
            <a:off x="5120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K. Capacity, retirement</a:t>
            </a:r>
            <a:endParaRPr lang="en-US" sz="1400" dirty="0"/>
          </a:p>
        </p:txBody>
      </p:sp>
      <p:sp>
        <p:nvSpPr>
          <p:cNvPr id="12" name="flowArrow-122"/>
          <p:cNvSpPr/>
          <p:nvPr/>
        </p:nvSpPr>
        <p:spPr>
          <a:xfrm>
            <a:off x="7104888" y="1618488"/>
            <a:ext cx="237744" cy="256032"/>
          </a:xfrm>
          <a:prstGeom prst="rightArrow">
            <a:avLst/>
          </a:prstGeom>
          <a:solidFill>
            <a:srgbClr val="D4A24C"/>
          </a:solidFill>
          <a:ln w="12700">
            <a:solidFill>
              <a:srgbClr val="D4A24C"/>
            </a:solidFill>
            <a:prstDash val="solid"/>
          </a:ln>
        </p:spPr>
      </p:sp>
      <p:sp>
        <p:nvSpPr>
          <p:cNvPr id="13" name="flow-123"/>
          <p:cNvSpPr/>
          <p:nvPr/>
        </p:nvSpPr>
        <p:spPr>
          <a:xfrm>
            <a:off x="7406640" y="1463040"/>
            <a:ext cx="1920240" cy="566928"/>
          </a:xfrm>
          <a:prstGeom prst="roundRect">
            <a:avLst>
              <a:gd name="adj" fmla="val 16129"/>
            </a:avLst>
          </a:prstGeom>
          <a:solidFill>
            <a:srgbClr val="1E2761"/>
          </a:solidFill>
          <a:ln w="12700">
            <a:solidFill>
              <a:srgbClr val="1E2761"/>
            </a:solidFill>
            <a:prstDash val="solid"/>
          </a:ln>
        </p:spPr>
      </p:sp>
      <p:sp>
        <p:nvSpPr>
          <p:cNvPr id="14" name="flowText-124"/>
          <p:cNvSpPr txBox="1"/>
          <p:nvPr/>
        </p:nvSpPr>
        <p:spPr>
          <a:xfrm>
            <a:off x="7406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L. Investment</a:t>
            </a:r>
            <a:endParaRPr lang="en-US" sz="1400" dirty="0"/>
          </a:p>
        </p:txBody>
      </p:sp>
      <p:sp>
        <p:nvSpPr>
          <p:cNvPr id="15" name="flowArrow-125"/>
          <p:cNvSpPr/>
          <p:nvPr/>
        </p:nvSpPr>
        <p:spPr>
          <a:xfrm>
            <a:off x="9390888" y="1618488"/>
            <a:ext cx="237744" cy="256032"/>
          </a:xfrm>
          <a:prstGeom prst="rightArrow">
            <a:avLst/>
          </a:prstGeom>
          <a:solidFill>
            <a:srgbClr val="D4A24C"/>
          </a:solidFill>
          <a:ln w="12700">
            <a:solidFill>
              <a:srgbClr val="D4A24C"/>
            </a:solidFill>
            <a:prstDash val="solid"/>
          </a:ln>
        </p:spPr>
      </p:sp>
      <p:sp>
        <p:nvSpPr>
          <p:cNvPr id="16" name="flow-126"/>
          <p:cNvSpPr/>
          <p:nvPr/>
        </p:nvSpPr>
        <p:spPr>
          <a:xfrm>
            <a:off x="9692640" y="1463040"/>
            <a:ext cx="1920240" cy="566928"/>
          </a:xfrm>
          <a:prstGeom prst="roundRect">
            <a:avLst>
              <a:gd name="adj" fmla="val 16129"/>
            </a:avLst>
          </a:prstGeom>
          <a:solidFill>
            <a:srgbClr val="1E2761"/>
          </a:solidFill>
          <a:ln w="12700">
            <a:solidFill>
              <a:srgbClr val="1E2761"/>
            </a:solidFill>
            <a:prstDash val="solid"/>
          </a:ln>
        </p:spPr>
      </p:sp>
      <p:sp>
        <p:nvSpPr>
          <p:cNvPr id="17" name="flowText-127"/>
          <p:cNvSpPr txBox="1"/>
          <p:nvPr/>
        </p:nvSpPr>
        <p:spPr>
          <a:xfrm>
            <a:off x="9692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G. Prices</a:t>
            </a:r>
            <a:endParaRPr lang="en-US" sz="1400" dirty="0"/>
          </a:p>
        </p:txBody>
      </p:sp>
      <p:graphicFrame>
        <p:nvGraphicFramePr>
          <p:cNvPr id="18" name="chart-128"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19" name="card-129"/>
          <p:cNvSpPr/>
          <p:nvPr/>
        </p:nvSpPr>
        <p:spPr>
          <a:xfrm>
            <a:off x="6583680" y="2377440"/>
            <a:ext cx="5029200" cy="2514600"/>
          </a:xfrm>
          <a:prstGeom prst="rect">
            <a:avLst/>
          </a:prstGeom>
          <a:solidFill>
            <a:srgbClr val="F4F6FB"/>
          </a:solidFill>
          <a:ln w="12700">
            <a:solidFill>
              <a:srgbClr val="D5DAE3"/>
            </a:solidFill>
            <a:prstDash val="solid"/>
          </a:ln>
        </p:spPr>
      </p:sp>
      <p:sp>
        <p:nvSpPr>
          <p:cNvPr id="20" name="cardText-130"/>
          <p:cNvSpPr txBox="1"/>
          <p:nvPr/>
        </p:nvSpPr>
        <p:spPr>
          <a:xfrm>
            <a:off x="6748272" y="2487168"/>
            <a:ext cx="4700016" cy="229514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Reproduces 208 legacy rows of two runs (to 1e-13)</a:t>
            </a:r>
            <a:endParaRPr lang="en-US" sz="1100" dirty="0"/>
          </a:p>
          <a:p>
            <a:pPr marL="342900" indent="-342900">
              <a:buSzPct val="100000"/>
              <a:buChar char="•"/>
            </a:pPr>
            <a:r>
              <a:rPr lang="en-US" sz="1500" dirty="0">
                <a:solidFill>
                  <a:srgbClr val="1F1F2E"/>
                </a:solidFill>
              </a:rPr>
              <a:t>Ten bugs fixed; report in Word</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Planned retirement by type (switch per type)</a:t>
            </a:r>
            <a:endParaRPr lang="en-US" sz="1100" dirty="0"/>
          </a:p>
          <a:p>
            <a:pPr marL="342900" indent="-342900">
              <a:buSzPct val="100000"/>
              <a:buChar char="•"/>
            </a:pPr>
            <a:r>
              <a:rPr lang="en-US" sz="1500" dirty="0">
                <a:solidFill>
                  <a:srgbClr val="1F1F2E"/>
                </a:solidFill>
              </a:rPr>
              <a:t>Electricity demand as memo lines by sector</a:t>
            </a:r>
            <a:endParaRPr lang="en-US" sz="1100" dirty="0"/>
          </a:p>
          <a:p>
            <a:pPr marL="342900" indent="-342900">
              <a:buSzPct val="100000"/>
              <a:buChar char="•"/>
            </a:pPr>
            <a:r>
              <a:rPr lang="en-US" sz="1500" dirty="0">
                <a:solidFill>
                  <a:srgbClr val="1F1F2E"/>
                </a:solidFill>
              </a:rPr>
              <a:t>Power fuel use, revenue and CO2 in the totals</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QUALITY</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number is checked independently</a:t>
            </a:r>
            <a:endParaRPr lang="en-US" sz="3000" dirty="0"/>
          </a:p>
        </p:txBody>
      </p:sp>
      <p:sp>
        <p:nvSpPr>
          <p:cNvPr id="4" name="stat-131"/>
          <p:cNvSpPr txBox="1"/>
          <p:nvPr/>
        </p:nvSpPr>
        <p:spPr>
          <a:xfrm>
            <a:off x="548640" y="1554480"/>
            <a:ext cx="256032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0</a:t>
            </a:r>
            <a:endParaRPr lang="en-US" sz="4000" dirty="0"/>
          </a:p>
          <a:p>
            <a:pPr indent="0" marL="0">
              <a:buNone/>
            </a:pPr>
            <a:r>
              <a:rPr lang="en-US" sz="1300" dirty="0">
                <a:solidFill>
                  <a:srgbClr val="5C667A"/>
                </a:solidFill>
              </a:rPr>
              <a:t>error values when LibreOffice recalculates the shipped file</a:t>
            </a:r>
            <a:endParaRPr lang="en-US" sz="4000" dirty="0"/>
          </a:p>
        </p:txBody>
      </p:sp>
      <p:sp>
        <p:nvSpPr>
          <p:cNvPr id="5" name="stat-132"/>
          <p:cNvSpPr txBox="1"/>
          <p:nvPr/>
        </p:nvSpPr>
        <p:spPr>
          <a:xfrm>
            <a:off x="338328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139,801</a:t>
            </a:r>
            <a:endParaRPr lang="en-US" sz="4000" dirty="0"/>
          </a:p>
          <a:p>
            <a:pPr indent="0" marL="0">
              <a:buNone/>
            </a:pPr>
            <a:r>
              <a:rPr lang="en-US" sz="1300" dirty="0">
                <a:solidFill>
                  <a:srgbClr val="5C667A"/>
                </a:solidFill>
              </a:rPr>
              <a:t>formulas, none longer than 100 characters</a:t>
            </a:r>
            <a:endParaRPr lang="en-US" sz="4000" dirty="0"/>
          </a:p>
        </p:txBody>
      </p:sp>
      <p:sp>
        <p:nvSpPr>
          <p:cNvPr id="6" name="stat-133"/>
          <p:cNvSpPr txBox="1"/>
          <p:nvPr/>
        </p:nvSpPr>
        <p:spPr>
          <a:xfrm>
            <a:off x="621792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3,854</a:t>
            </a:r>
            <a:endParaRPr lang="en-US" sz="4000" dirty="0"/>
          </a:p>
          <a:p>
            <a:pPr indent="0" marL="0">
              <a:buNone/>
            </a:pPr>
            <a:r>
              <a:rPr lang="en-US" sz="1300" dirty="0">
                <a:solidFill>
                  <a:srgbClr val="5C667A"/>
                </a:solidFill>
              </a:rPr>
              <a:t>output codes unchanged against the previous version</a:t>
            </a:r>
            <a:endParaRPr lang="en-US" sz="4000" dirty="0"/>
          </a:p>
        </p:txBody>
      </p:sp>
      <p:sp>
        <p:nvSpPr>
          <p:cNvPr id="7" name="stat-134"/>
          <p:cNvSpPr txBox="1"/>
          <p:nvPr/>
        </p:nvSpPr>
        <p:spPr>
          <a:xfrm>
            <a:off x="9052560" y="1554480"/>
            <a:ext cx="256032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17</a:t>
            </a:r>
            <a:endParaRPr lang="en-US" sz="4000" dirty="0"/>
          </a:p>
          <a:p>
            <a:pPr indent="0" marL="0">
              <a:buNone/>
            </a:pPr>
            <a:r>
              <a:rPr lang="en-US" sz="1300" dirty="0">
                <a:solidFill>
                  <a:srgbClr val="5C667A"/>
                </a:solidFill>
              </a:rPr>
              <a:t>scenario tests recomputed in Python</a:t>
            </a:r>
            <a:endParaRPr lang="en-US" sz="4000" dirty="0"/>
          </a:p>
        </p:txBody>
      </p:sp>
      <p:sp>
        <p:nvSpPr>
          <p:cNvPr id="8" name="badge-135"/>
          <p:cNvSpPr/>
          <p:nvPr/>
        </p:nvSpPr>
        <p:spPr>
          <a:xfrm>
            <a:off x="548640" y="3566160"/>
            <a:ext cx="384048" cy="384048"/>
          </a:xfrm>
          <a:prstGeom prst="ellipse">
            <a:avLst/>
          </a:prstGeom>
          <a:solidFill>
            <a:srgbClr val="0F7B6C"/>
          </a:solidFill>
          <a:ln w="12700">
            <a:solidFill>
              <a:srgbClr val="0F7B6C"/>
            </a:solidFill>
            <a:prstDash val="solid"/>
          </a:ln>
        </p:spPr>
      </p:sp>
      <p:sp>
        <p:nvSpPr>
          <p:cNvPr id="9" name="badgeText-136"/>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137"/>
          <p:cNvSpPr txBox="1"/>
          <p:nvPr/>
        </p:nvSpPr>
        <p:spPr>
          <a:xfrm>
            <a:off x="109728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Independent recomputation</a:t>
            </a:r>
            <a:endParaRPr lang="en-US" sz="1500" dirty="0"/>
          </a:p>
          <a:p>
            <a:pPr indent="0" marL="0">
              <a:buNone/>
            </a:pPr>
            <a:r>
              <a:rPr lang="en-US" sz="1400" dirty="0">
                <a:solidFill>
                  <a:srgbClr val="5C667A"/>
                </a:solidFill>
              </a:rPr>
              <a:t>A Python script recomputes prices, fuel use, power, revenue and CO2 from the source data for every test scenario.</a:t>
            </a:r>
            <a:endParaRPr lang="en-US" sz="1500" dirty="0"/>
          </a:p>
        </p:txBody>
      </p:sp>
      <p:sp>
        <p:nvSpPr>
          <p:cNvPr id="11" name="badge-138"/>
          <p:cNvSpPr/>
          <p:nvPr/>
        </p:nvSpPr>
        <p:spPr>
          <a:xfrm>
            <a:off x="6126480" y="3566160"/>
            <a:ext cx="384048" cy="384048"/>
          </a:xfrm>
          <a:prstGeom prst="ellipse">
            <a:avLst/>
          </a:prstGeom>
          <a:solidFill>
            <a:srgbClr val="0F7B6C"/>
          </a:solidFill>
          <a:ln w="12700">
            <a:solidFill>
              <a:srgbClr val="0F7B6C"/>
            </a:solidFill>
            <a:prstDash val="solid"/>
          </a:ln>
        </p:spPr>
      </p:sp>
      <p:sp>
        <p:nvSpPr>
          <p:cNvPr id="12" name="badgeText-139"/>
          <p:cNvSpPr txBox="1"/>
          <p:nvPr/>
        </p:nvSpPr>
        <p:spPr>
          <a:xfrm>
            <a:off x="61264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140"/>
          <p:cNvSpPr txBox="1"/>
          <p:nvPr/>
        </p:nvSpPr>
        <p:spPr>
          <a:xfrm>
            <a:off x="667512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Macros tested</a:t>
            </a:r>
            <a:endParaRPr lang="en-US" sz="1500" dirty="0"/>
          </a:p>
          <a:p>
            <a:pPr indent="0" marL="0">
              <a:buNone/>
            </a:pPr>
            <a:r>
              <a:rPr lang="en-US" sz="1400" dirty="0">
                <a:solidFill>
                  <a:srgbClr val="5C667A"/>
                </a:solidFill>
              </a:rPr>
              <a:t>The batch macro runs in LibreOffice and matches the stored results; CheckBatchRun repeats the test in Excel.</a:t>
            </a:r>
            <a:endParaRPr lang="en-US" sz="1500" dirty="0"/>
          </a:p>
        </p:txBody>
      </p:sp>
      <p:sp>
        <p:nvSpPr>
          <p:cNvPr id="14" name="badge-141"/>
          <p:cNvSpPr/>
          <p:nvPr/>
        </p:nvSpPr>
        <p:spPr>
          <a:xfrm>
            <a:off x="548640" y="4846320"/>
            <a:ext cx="384048" cy="384048"/>
          </a:xfrm>
          <a:prstGeom prst="ellipse">
            <a:avLst/>
          </a:prstGeom>
          <a:solidFill>
            <a:srgbClr val="0F7B6C"/>
          </a:solidFill>
          <a:ln w="12700">
            <a:solidFill>
              <a:srgbClr val="0F7B6C"/>
            </a:solidFill>
            <a:prstDash val="solid"/>
          </a:ln>
        </p:spPr>
      </p:sp>
      <p:sp>
        <p:nvSpPr>
          <p:cNvPr id="15" name="badgeText-142"/>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143"/>
          <p:cNvSpPr txBox="1"/>
          <p:nvPr/>
        </p:nvSpPr>
        <p:spPr>
          <a:xfrm>
            <a:off x="109728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Differences listed</a:t>
            </a:r>
            <a:endParaRPr lang="en-US" sz="1500" dirty="0"/>
          </a:p>
          <a:p>
            <a:pPr indent="0" marL="0">
              <a:buNone/>
            </a:pPr>
            <a:r>
              <a:rPr lang="en-US" sz="1400" dirty="0">
                <a:solidFill>
                  <a:srgbClr val="5C667A"/>
                </a:solidFill>
              </a:rPr>
              <a:t>Sheet LegacyDiff lists every difference with legacy CPAT and why.</a:t>
            </a:r>
            <a:endParaRPr lang="en-US" sz="1500" dirty="0"/>
          </a:p>
        </p:txBody>
      </p:sp>
      <p:sp>
        <p:nvSpPr>
          <p:cNvPr id="17" name="badge-144"/>
          <p:cNvSpPr/>
          <p:nvPr/>
        </p:nvSpPr>
        <p:spPr>
          <a:xfrm>
            <a:off x="6126480" y="4846320"/>
            <a:ext cx="384048" cy="384048"/>
          </a:xfrm>
          <a:prstGeom prst="ellipse">
            <a:avLst/>
          </a:prstGeom>
          <a:solidFill>
            <a:srgbClr val="0F7B6C"/>
          </a:solidFill>
          <a:ln w="12700">
            <a:solidFill>
              <a:srgbClr val="0F7B6C"/>
            </a:solidFill>
            <a:prstDash val="solid"/>
          </a:ln>
        </p:spPr>
      </p:sp>
      <p:sp>
        <p:nvSpPr>
          <p:cNvPr id="18" name="badgeText-145"/>
          <p:cNvSpPr txBox="1"/>
          <p:nvPr/>
        </p:nvSpPr>
        <p:spPr>
          <a:xfrm>
            <a:off x="612648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146"/>
          <p:cNvSpPr txBox="1"/>
          <p:nvPr/>
        </p:nvSpPr>
        <p:spPr>
          <a:xfrm>
            <a:off x="667512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Documented</a:t>
            </a:r>
            <a:endParaRPr lang="en-US" sz="1500" dirty="0"/>
          </a:p>
          <a:p>
            <a:pPr indent="0" marL="0">
              <a:buNone/>
            </a:pPr>
            <a:r>
              <a:rPr lang="en-US" sz="1400" dirty="0">
                <a:solidFill>
                  <a:srgbClr val="5C667A"/>
                </a:solidFill>
              </a:rPr>
              <a:t>Method notes, a Word documentation, and one register of bugs, issues and upgrades.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GETTING STARTED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Open, run the check, then explore</a:t>
            </a:r>
            <a:endParaRPr lang="en-US" sz="3000" dirty="0"/>
          </a:p>
        </p:txBody>
      </p:sp>
      <p:sp>
        <p:nvSpPr>
          <p:cNvPr id="4" name="badge-147"/>
          <p:cNvSpPr/>
          <p:nvPr/>
        </p:nvSpPr>
        <p:spPr>
          <a:xfrm>
            <a:off x="548640" y="1554480"/>
            <a:ext cx="384048" cy="384048"/>
          </a:xfrm>
          <a:prstGeom prst="ellipse">
            <a:avLst/>
          </a:prstGeom>
          <a:solidFill>
            <a:srgbClr val="0F7B6C"/>
          </a:solidFill>
          <a:ln w="12700">
            <a:solidFill>
              <a:srgbClr val="0F7B6C"/>
            </a:solidFill>
            <a:prstDash val="solid"/>
          </a:ln>
        </p:spPr>
      </p:sp>
      <p:sp>
        <p:nvSpPr>
          <p:cNvPr id="5" name="badgeText-148"/>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item-149"/>
          <p:cNvSpPr txBox="1"/>
          <p:nvPr/>
        </p:nvSpPr>
        <p:spPr>
          <a:xfrm>
            <a:off x="1097280" y="150876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Open the .xlsm and enable macros</a:t>
            </a:r>
            <a:endParaRPr lang="en-US" sz="1500" dirty="0"/>
          </a:p>
          <a:p>
            <a:pPr indent="0" marL="0">
              <a:buNone/>
            </a:pPr>
            <a:r>
              <a:rPr lang="en-US" sz="1400" dirty="0">
                <a:solidFill>
                  <a:srgbClr val="5C667A"/>
                </a:solidFill>
              </a:rPr>
              <a:t>Run CheckBatchRun once (Alt+F8): sheet MacroCheck should say PASS.</a:t>
            </a:r>
            <a:endParaRPr lang="en-US" sz="1500" dirty="0"/>
          </a:p>
        </p:txBody>
      </p:sp>
      <p:sp>
        <p:nvSpPr>
          <p:cNvPr id="7" name="badge-150"/>
          <p:cNvSpPr/>
          <p:nvPr/>
        </p:nvSpPr>
        <p:spPr>
          <a:xfrm>
            <a:off x="548640" y="2651760"/>
            <a:ext cx="384048" cy="384048"/>
          </a:xfrm>
          <a:prstGeom prst="ellipse">
            <a:avLst/>
          </a:prstGeom>
          <a:solidFill>
            <a:srgbClr val="0F7B6C"/>
          </a:solidFill>
          <a:ln w="12700">
            <a:solidFill>
              <a:srgbClr val="0F7B6C"/>
            </a:solidFill>
            <a:prstDash val="solid"/>
          </a:ln>
        </p:spPr>
      </p:sp>
      <p:sp>
        <p:nvSpPr>
          <p:cNvPr id="8" name="badgeText-151"/>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item-152"/>
          <p:cNvSpPr txBox="1"/>
          <p:nvPr/>
        </p:nvSpPr>
        <p:spPr>
          <a:xfrm>
            <a:off x="1097280" y="260604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Change a scenario</a:t>
            </a:r>
            <a:endParaRPr lang="en-US" sz="1500" dirty="0"/>
          </a:p>
          <a:p>
            <a:pPr indent="0" marL="0">
              <a:buNone/>
            </a:pPr>
            <a:r>
              <a:rPr lang="en-US" sz="1400" dirty="0">
                <a:solidFill>
                  <a:srgbClr val="5C667A"/>
                </a:solidFill>
              </a:rPr>
              <a:t>Edit its MTInputs column; results update on Mitigation, MTOutputs and Charts.</a:t>
            </a:r>
            <a:endParaRPr lang="en-US" sz="1500" dirty="0"/>
          </a:p>
        </p:txBody>
      </p:sp>
      <p:sp>
        <p:nvSpPr>
          <p:cNvPr id="10" name="badge-153"/>
          <p:cNvSpPr/>
          <p:nvPr/>
        </p:nvSpPr>
        <p:spPr>
          <a:xfrm>
            <a:off x="548640" y="3749040"/>
            <a:ext cx="384048" cy="384048"/>
          </a:xfrm>
          <a:prstGeom prst="ellipse">
            <a:avLst/>
          </a:prstGeom>
          <a:solidFill>
            <a:srgbClr val="0F7B6C"/>
          </a:solidFill>
          <a:ln w="12700">
            <a:solidFill>
              <a:srgbClr val="0F7B6C"/>
            </a:solidFill>
            <a:prstDash val="solid"/>
          </a:ln>
        </p:spPr>
      </p:sp>
      <p:sp>
        <p:nvSpPr>
          <p:cNvPr id="11" name="badgeText-154"/>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item-155"/>
          <p:cNvSpPr txBox="1"/>
          <p:nvPr/>
        </p:nvSpPr>
        <p:spPr>
          <a:xfrm>
            <a:off x="1097280" y="370332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Run many scenarios</a:t>
            </a:r>
            <a:endParaRPr lang="en-US" sz="1500" dirty="0"/>
          </a:p>
          <a:p>
            <a:pPr indent="0" marL="0">
              <a:buNone/>
            </a:pPr>
            <a:r>
              <a:rPr lang="en-US" sz="1400" dirty="0">
                <a:solidFill>
                  <a:srgbClr val="5C667A"/>
                </a:solidFill>
              </a:rPr>
              <a:t>Set Run? = Yes on the definitions and run RunAllScenarios; compare them.</a:t>
            </a:r>
            <a:endParaRPr lang="en-US" sz="1500" dirty="0"/>
          </a:p>
        </p:txBody>
      </p:sp>
      <p:sp>
        <p:nvSpPr>
          <p:cNvPr id="13" name="badge-156"/>
          <p:cNvSpPr/>
          <p:nvPr/>
        </p:nvSpPr>
        <p:spPr>
          <a:xfrm>
            <a:off x="548640" y="4846320"/>
            <a:ext cx="384048" cy="384048"/>
          </a:xfrm>
          <a:prstGeom prst="ellipse">
            <a:avLst/>
          </a:prstGeom>
          <a:solidFill>
            <a:srgbClr val="0F7B6C"/>
          </a:solidFill>
          <a:ln w="12700">
            <a:solidFill>
              <a:srgbClr val="0F7B6C"/>
            </a:solidFill>
            <a:prstDash val="solid"/>
          </a:ln>
        </p:spPr>
      </p:sp>
      <p:sp>
        <p:nvSpPr>
          <p:cNvPr id="14" name="badgeText-157"/>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item-158"/>
          <p:cNvSpPr txBox="1"/>
          <p:nvPr/>
        </p:nvSpPr>
        <p:spPr>
          <a:xfrm>
            <a:off x="1097280" y="480060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Read more</a:t>
            </a:r>
            <a:endParaRPr lang="en-US" sz="1500" dirty="0"/>
          </a:p>
          <a:p>
            <a:pPr indent="0" marL="0">
              <a:buNone/>
            </a:pPr>
            <a:r>
              <a:rPr lang="en-US" sz="1400" dirty="0">
                <a:solidFill>
                  <a:srgbClr val="5C667A"/>
                </a:solidFill>
              </a:rPr>
              <a:t>Quick start in the Word documentation; ReadMe and LegacyDiff tabs.</a:t>
            </a:r>
            <a:endParaRPr lang="en-US" sz="1500" dirty="0"/>
          </a:p>
        </p:txBody>
      </p:sp>
      <p:sp>
        <p:nvSpPr>
          <p:cNvPr id="16" name="card-159"/>
          <p:cNvSpPr/>
          <p:nvPr/>
        </p:nvSpPr>
        <p:spPr>
          <a:xfrm>
            <a:off x="7406640" y="1371600"/>
            <a:ext cx="4206240" cy="4572000"/>
          </a:xfrm>
          <a:prstGeom prst="rect">
            <a:avLst/>
          </a:prstGeom>
          <a:solidFill>
            <a:srgbClr val="1E2761"/>
          </a:solidFill>
          <a:ln w="12700">
            <a:solidFill>
              <a:srgbClr val="1E2761"/>
            </a:solidFill>
            <a:prstDash val="solid"/>
          </a:ln>
        </p:spPr>
      </p:sp>
      <p:sp>
        <p:nvSpPr>
          <p:cNvPr id="17" name="next-160"/>
          <p:cNvSpPr txBox="1"/>
          <p:nvPr/>
        </p:nvSpPr>
        <p:spPr>
          <a:xfrm>
            <a:off x="7635240" y="1600200"/>
            <a:ext cx="3749040" cy="4206240"/>
          </a:xfrm>
          <a:prstGeom prst="rect">
            <a:avLst/>
          </a:prstGeom>
          <a:noFill/>
          <a:ln/>
        </p:spPr>
        <p:txBody>
          <a:bodyPr wrap="square" lIns="0" tIns="0" rIns="0" bIns="0" rtlCol="0" anchor="t"/>
          <a:lstStyle/>
          <a:p>
            <a:pPr indent="0" marL="0">
              <a:spcAft>
                <a:spcPts val="1400"/>
              </a:spcAft>
              <a:buNone/>
            </a:pPr>
            <a:r>
              <a:rPr lang="en-US" sz="1100" b="1" spc="200" kern="0" dirty="0">
                <a:solidFill>
                  <a:srgbClr val="D4A24C"/>
                </a:solidFill>
              </a:rPr>
              <a:t>NEXT</a:t>
            </a:r>
            <a:endParaRPr lang="en-US" sz="1600" dirty="0"/>
          </a:p>
          <a:p>
            <a:pPr marL="342900" indent="-342900">
              <a:spcAft>
                <a:spcPts val="1400"/>
              </a:spcAft>
              <a:buSzPct val="100000"/>
              <a:buChar char="•"/>
            </a:pPr>
            <a:r>
              <a:rPr lang="en-US" sz="1600" dirty="0">
                <a:solidFill>
                  <a:srgbClr val="FFFFFF"/>
                </a:solidFill>
              </a:rPr>
              <a:t>Review in Excel</a:t>
            </a:r>
            <a:endParaRPr lang="en-US" sz="1600" dirty="0"/>
          </a:p>
          <a:p>
            <a:pPr marL="342900" indent="-342900">
              <a:spcAft>
                <a:spcPts val="1400"/>
              </a:spcAft>
              <a:buSzPct val="100000"/>
              <a:buChar char="•"/>
            </a:pPr>
            <a:r>
              <a:rPr lang="en-US" sz="1600" dirty="0">
                <a:solidFill>
                  <a:srgbClr val="FFFFFF"/>
                </a:solidFill>
              </a:rPr>
              <a:t>Numerical check against legacy CPAT</a:t>
            </a:r>
            <a:endParaRPr lang="en-US" sz="1600" dirty="0"/>
          </a:p>
          <a:p>
            <a:pPr marL="342900" indent="-342900">
              <a:spcAft>
                <a:spcPts val="1400"/>
              </a:spcAft>
              <a:buSzPct val="100000"/>
              <a:buChar char="•"/>
            </a:pPr>
            <a:r>
              <a:rPr lang="en-US" sz="1600" dirty="0">
                <a:solidFill>
                  <a:srgbClr val="FFFFFF"/>
                </a:solidFill>
              </a:rPr>
              <a:t>Other gases and local pollutants</a:t>
            </a:r>
            <a:endParaRPr lang="en-US" sz="1600" dirty="0"/>
          </a:p>
          <a:p>
            <a:pPr marL="342900" indent="-342900">
              <a:spcAft>
                <a:spcPts val="1400"/>
              </a:spcAft>
              <a:buSzPct val="100000"/>
              <a:buChar char="•"/>
            </a:pPr>
            <a:r>
              <a:rPr lang="en-US" sz="1600" dirty="0">
                <a:solidFill>
                  <a:srgbClr val="FFFFFF"/>
                </a:solidFill>
              </a:rPr>
              <a:t>Planned-retirement data for Egypt</a:t>
            </a:r>
            <a:endParaRPr lang="en-US" sz="1600" dirty="0"/>
          </a:p>
          <a:p>
            <a:pPr marL="342900" indent="-342900">
              <a:spcAft>
                <a:spcPts val="1400"/>
              </a:spcAft>
              <a:buSzPct val="100000"/>
              <a:buChar char="•"/>
            </a:pPr>
            <a:r>
              <a:rPr lang="en-US" sz="1600" dirty="0">
                <a:solidFill>
                  <a:srgbClr val="FFFFFF"/>
                </a:solidFill>
              </a:rPr>
              <a:t>Stress test: add a fuel, a sector, a scenario</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overview and user guide</dc:title>
  <dc:subject>PptxGenJS Presentation</dc:subject>
  <dc:creator>PptxGenJS</dc:creator>
  <cp:lastModifiedBy>PptxGenJS</cp:lastModifiedBy>
  <cp:revision>1</cp:revision>
  <dcterms:created xsi:type="dcterms:W3CDTF">2026-10-12T13:45:41Z</dcterms:created>
  <dcterms:modified xsi:type="dcterms:W3CDTF">2026-10-12T13:45:41Z</dcterms:modified>
</cp:coreProperties>
</file>