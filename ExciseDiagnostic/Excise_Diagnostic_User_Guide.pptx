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assumes no prior experience with AI tools. It covers getting the files, setting up Claude or GitHub Copilot, running the diagnostic in one go or in five parts, and how the report and Excel workbook are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full run for a first diagnostic or a small schedule. Use the sectoral run when different people own different sectors, the schedule is large, or you want the fuel and vehicle parts for a joint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and 2 are done once. Steps 3 to 5 repeat for each country, and for each part in a sectoral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is public. You only need the ExciseDiagnostic folder. The master process file and the part files are plain text (Markdown), so they open in any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Download ZIP is enough for most users. Choose Git if you will update the files often or contribute changes back. The address will change when the repository moves; always use the current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routes use the same process files and produce the same outputs. Copilot can run Claude models, so the reasoning engine can be the same. The Bank's MAI platform can also run Claude, with limits. Prices change; check the vendors' plan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organization provides Claude (Team or Enterprise, or the Bank's MAI platform), use that login instead of creating a personal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this setting Claude can still write the analysis, but cannot hand you finished Excel and Word files. Files up to 30 MB each can be uploaded and downloaded.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files are shared by every chat in the project. After each stage, upload the newest workbook to the project so the next chat starts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skip the checking: the peer-review stage (A5 or P5) is mandatory, and every legal line must carry a source reference before the report is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Plans and model availability change often. At the time of writing, GitHub lists Copilot Free, Pro and Pro+ for individuals, and Business and Enterprise for organizations.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installing Python, run this once in the VS Code terminal: pip install openpyxl python-docx. Copilot can also do this for you when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create .github/copilot-instructions.md in the repository with the same instructions used for the Claude project. Copilot then applies them to every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one stage per message and check each answer before sending the next. The peer review (A5) is where earlier drafts caught their errors, so do not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 to 4 can run in parallel with different people. Part 5 stops if the four common headers differ, and asks which to keep. Gambling and plastics sit in Part 4; sugar sits in Part 3 with sugary drinks.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happens when a government site blocks automated access, a link loops, or a PDF table cannot be read. The .bat uses curl, which is built into Windows 10 and later, and skips files already downloaded. On Mac or Linux, ask for a .sh script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exchange rate on the Parameters sheet and every US-dollar column updates. The data-quality score comes from the peer-review status: 5 = checked against the law, 1 =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minister reads Level 1. Each level can be checked against the one below it. Numbers are computed from the workbook, never typed into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never adds up numbers typed in the part reports. It stacks the part rows and recomputes totals by formula. To add the country to the cross-country workbook, append its Parameters row and schedule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mirrors the quality rules in section 7 of the master process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open while running the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822960"/>
            <a:ext cx="5486400" cy="320040"/>
          </a:xfrm>
          <a:prstGeom prst="rect">
            <a:avLst/>
          </a:prstGeom>
          <a:noFill/>
          <a:ln/>
        </p:spPr>
        <p:txBody>
          <a:bodyPr wrap="square" lIns="0" tIns="0" rIns="0" bIns="0" rtlCol="0" anchor="ctr"/>
          <a:lstStyle/>
          <a:p>
            <a:pPr indent="0" marL="0">
              <a:buNone/>
            </a:pPr>
            <a:r>
              <a:rPr lang="en-US" sz="1400" b="1" spc="400" kern="0" dirty="0">
                <a:solidFill>
                  <a:srgbClr val="CADCFC"/>
                </a:solidFill>
                <a:latin typeface="Calibri" pitchFamily="34" charset="0"/>
                <a:ea typeface="Calibri" pitchFamily="34" charset="-122"/>
                <a:cs typeface="Calibri" pitchFamily="34" charset="-120"/>
              </a:rPr>
              <a:t>USER GUIDE</a:t>
            </a:r>
            <a:endParaRPr lang="en-US" sz="1400" dirty="0"/>
          </a:p>
        </p:txBody>
      </p:sp>
      <p:sp>
        <p:nvSpPr>
          <p:cNvPr id="3" name="Text 1"/>
          <p:cNvSpPr txBox="1"/>
          <p:nvPr/>
        </p:nvSpPr>
        <p:spPr>
          <a:xfrm>
            <a:off x="640080" y="1234440"/>
            <a:ext cx="576072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Running an Excise Diagnostic with AI</a:t>
            </a:r>
            <a:endParaRPr lang="en-US" sz="4000" dirty="0"/>
          </a:p>
        </p:txBody>
      </p:sp>
      <p:sp>
        <p:nvSpPr>
          <p:cNvPr id="4" name="Text 2"/>
          <p:cNvSpPr txBox="1"/>
          <p:nvPr/>
        </p:nvSpPr>
        <p:spPr>
          <a:xfrm>
            <a:off x="640080" y="2834640"/>
            <a:ext cx="5577840" cy="91440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A beginner’s guide: (a) a full diagnostic, or (b) four sub-diagnostics plus aggregation, with Claude or GitHub Copilot</a:t>
            </a:r>
            <a:endParaRPr lang="en-US" sz="1700" dirty="0"/>
          </a:p>
        </p:txBody>
      </p:sp>
      <p:sp>
        <p:nvSpPr>
          <p:cNvPr id="5" name="Shape 3"/>
          <p:cNvSpPr/>
          <p:nvPr/>
        </p:nvSpPr>
        <p:spPr>
          <a:xfrm>
            <a:off x="640080" y="4069080"/>
            <a:ext cx="1737360" cy="384048"/>
          </a:xfrm>
          <a:prstGeom prst="roundRect">
            <a:avLst>
              <a:gd name="adj" fmla="val 47619"/>
            </a:avLst>
          </a:prstGeom>
          <a:solidFill>
            <a:srgbClr val="2E3A7A"/>
          </a:solidFill>
          <a:ln w="12700">
            <a:solidFill>
              <a:srgbClr val="2E3A7A"/>
            </a:solidFill>
            <a:prstDash val="solid"/>
          </a:ln>
        </p:spPr>
      </p:sp>
      <p:sp>
        <p:nvSpPr>
          <p:cNvPr id="6" name="Text 4"/>
          <p:cNvSpPr txBox="1"/>
          <p:nvPr/>
        </p:nvSpPr>
        <p:spPr>
          <a:xfrm>
            <a:off x="640080" y="4069080"/>
            <a:ext cx="17373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No coding needed</a:t>
            </a:r>
            <a:endParaRPr lang="en-US" sz="1200" dirty="0"/>
          </a:p>
        </p:txBody>
      </p:sp>
      <p:sp>
        <p:nvSpPr>
          <p:cNvPr id="7" name="Shape 5"/>
          <p:cNvSpPr/>
          <p:nvPr/>
        </p:nvSpPr>
        <p:spPr>
          <a:xfrm>
            <a:off x="2514600" y="4069080"/>
            <a:ext cx="1737360" cy="384048"/>
          </a:xfrm>
          <a:prstGeom prst="roundRect">
            <a:avLst>
              <a:gd name="adj" fmla="val 47619"/>
            </a:avLst>
          </a:prstGeom>
          <a:solidFill>
            <a:srgbClr val="2E3A7A"/>
          </a:solidFill>
          <a:ln w="12700">
            <a:solidFill>
              <a:srgbClr val="2E3A7A"/>
            </a:solidFill>
            <a:prstDash val="solid"/>
          </a:ln>
        </p:spPr>
      </p:sp>
      <p:sp>
        <p:nvSpPr>
          <p:cNvPr id="8" name="Text 6"/>
          <p:cNvSpPr txBox="1"/>
          <p:nvPr/>
        </p:nvSpPr>
        <p:spPr>
          <a:xfrm>
            <a:off x="2514600" y="4069080"/>
            <a:ext cx="17373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Step-by-step pictures</a:t>
            </a:r>
            <a:endParaRPr lang="en-US" sz="1200" dirty="0"/>
          </a:p>
        </p:txBody>
      </p:sp>
      <p:sp>
        <p:nvSpPr>
          <p:cNvPr id="9" name="Shape 7"/>
          <p:cNvSpPr/>
          <p:nvPr/>
        </p:nvSpPr>
        <p:spPr>
          <a:xfrm>
            <a:off x="4389120" y="4069080"/>
            <a:ext cx="1737360" cy="384048"/>
          </a:xfrm>
          <a:prstGeom prst="roundRect">
            <a:avLst>
              <a:gd name="adj" fmla="val 47619"/>
            </a:avLst>
          </a:prstGeom>
          <a:solidFill>
            <a:srgbClr val="2E3A7A"/>
          </a:solidFill>
          <a:ln w="12700">
            <a:solidFill>
              <a:srgbClr val="2E3A7A"/>
            </a:solidFill>
            <a:prstDash val="solid"/>
          </a:ln>
        </p:spPr>
      </p:sp>
      <p:sp>
        <p:nvSpPr>
          <p:cNvPr id="10" name="Text 8"/>
          <p:cNvSpPr txBox="1"/>
          <p:nvPr/>
        </p:nvSpPr>
        <p:spPr>
          <a:xfrm>
            <a:off x="4389120" y="4069080"/>
            <a:ext cx="17373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Report + Excel workbook</a:t>
            </a:r>
            <a:endParaRPr lang="en-US" sz="1200" dirty="0"/>
          </a:p>
        </p:txBody>
      </p:sp>
      <p:sp>
        <p:nvSpPr>
          <p:cNvPr id="11" name="Text 9"/>
          <p:cNvSpPr txBox="1"/>
          <p:nvPr/>
        </p:nvSpPr>
        <p:spPr>
          <a:xfrm>
            <a:off x="640080" y="6035040"/>
            <a:ext cx="5669280" cy="3200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Draft, September 2026. Repository location used here is an example and will change.</a:t>
            </a:r>
            <a:endParaRPr lang="en-US" sz="1100" dirty="0"/>
          </a:p>
        </p:txBody>
      </p:sp>
      <p:pic>
        <p:nvPicPr>
          <p:cNvPr id="12" name="Image 0" descr="/home/claude/guide/img/claude_project.png">    </p:cNvPr>
          <p:cNvPicPr>
            <a:picLocks noChangeAspect="1"/>
          </p:cNvPicPr>
          <p:nvPr/>
        </p:nvPicPr>
        <p:blipFill>
          <a:blip r:embed="rId1"/>
          <a:stretch>
            <a:fillRect/>
          </a:stretch>
        </p:blipFill>
        <p:spPr>
          <a:xfrm>
            <a:off x="6720840" y="685800"/>
            <a:ext cx="4937760" cy="3008948"/>
          </a:xfrm>
          <a:prstGeom prst="rect">
            <a:avLst/>
          </a:prstGeom>
          <a:effectLst>
            <a:outerShdw sx="100000" sy="100000" kx="0" ky="0" algn="bl" rotWithShape="0" blurRad="127000" dist="50800" dir="5400000">
              <a:srgbClr val="000000">
                <a:alpha val="35000"/>
              </a:srgbClr>
            </a:outerShdw>
          </a:effectLst>
        </p:spPr>
      </p:pic>
      <p:pic>
        <p:nvPicPr>
          <p:cNvPr id="13" name="Image 1" descr="/home/claude/guide/img/vscode_chat.png">    </p:cNvPr>
          <p:cNvPicPr>
            <a:picLocks noChangeAspect="1"/>
          </p:cNvPicPr>
          <p:nvPr/>
        </p:nvPicPr>
        <p:blipFill>
          <a:blip r:embed="rId2"/>
          <a:stretch>
            <a:fillRect/>
          </a:stretch>
        </p:blipFill>
        <p:spPr>
          <a:xfrm>
            <a:off x="7635240" y="3063240"/>
            <a:ext cx="4114800" cy="2507456"/>
          </a:xfrm>
          <a:prstGeom prst="rect">
            <a:avLst/>
          </a:prstGeom>
          <a:effectLst>
            <a:outerShdw sx="100000" sy="100000" kx="0" ky="0" algn="bl" rotWithShape="0" blurRad="127000" dist="50800" dir="540000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you will produce, and two ways to get there</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548640" y="1325880"/>
            <a:ext cx="4572000" cy="4937760"/>
          </a:xfrm>
          <a:prstGeom prst="roundRect">
            <a:avLst>
              <a:gd name="adj" fmla="val 1600"/>
            </a:avLst>
          </a:prstGeom>
          <a:solidFill>
            <a:srgbClr val="F4F6FB"/>
          </a:solidFill>
          <a:ln w="9525">
            <a:solidFill>
              <a:srgbClr val="D5DAE3"/>
            </a:solidFill>
            <a:prstDash val="solid"/>
          </a:ln>
        </p:spPr>
      </p:sp>
      <p:sp>
        <p:nvSpPr>
          <p:cNvPr id="6" name="Text 4"/>
          <p:cNvSpPr txBox="1"/>
          <p:nvPr/>
        </p:nvSpPr>
        <p:spPr>
          <a:xfrm>
            <a:off x="777240" y="1463040"/>
            <a:ext cx="420624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Every run produces two things</a:t>
            </a:r>
            <a:endParaRPr lang="en-US" sz="1600" dirty="0"/>
          </a:p>
        </p:txBody>
      </p:sp>
      <p:sp>
        <p:nvSpPr>
          <p:cNvPr id="7" name="Shape 5"/>
          <p:cNvSpPr/>
          <p:nvPr/>
        </p:nvSpPr>
        <p:spPr>
          <a:xfrm>
            <a:off x="722376" y="1911096"/>
            <a:ext cx="1938528" cy="2476410"/>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8" name="Image 0" descr="/home/claude/guide/img/paper_p1-01.png">    </p:cNvPr>
          <p:cNvPicPr>
            <a:picLocks noChangeAspect="1"/>
          </p:cNvPicPr>
          <p:nvPr/>
        </p:nvPicPr>
        <p:blipFill>
          <a:blip r:embed="rId1"/>
          <a:stretch>
            <a:fillRect/>
          </a:stretch>
        </p:blipFill>
        <p:spPr>
          <a:xfrm>
            <a:off x="777240" y="1965960"/>
            <a:ext cx="1828800" cy="2366682"/>
          </a:xfrm>
          <a:prstGeom prst="rect">
            <a:avLst/>
          </a:prstGeom>
        </p:spPr>
      </p:pic>
      <p:sp>
        <p:nvSpPr>
          <p:cNvPr id="9" name="Shape 6"/>
          <p:cNvSpPr/>
          <p:nvPr/>
        </p:nvSpPr>
        <p:spPr>
          <a:xfrm>
            <a:off x="2761488" y="1911096"/>
            <a:ext cx="2212848" cy="1391317"/>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10" name="Image 1" descr="/home/claude/guide/img/workbook_code.png">    </p:cNvPr>
          <p:cNvPicPr>
            <a:picLocks noChangeAspect="1"/>
          </p:cNvPicPr>
          <p:nvPr/>
        </p:nvPicPr>
        <p:blipFill>
          <a:blip r:embed="rId2"/>
          <a:stretch>
            <a:fillRect/>
          </a:stretch>
        </p:blipFill>
        <p:spPr>
          <a:xfrm>
            <a:off x="2816352" y="1965960"/>
            <a:ext cx="2103120" cy="1281589"/>
          </a:xfrm>
          <a:prstGeom prst="rect">
            <a:avLst/>
          </a:prstGeom>
        </p:spPr>
      </p:pic>
      <p:sp>
        <p:nvSpPr>
          <p:cNvPr id="11" name="Shape 7"/>
          <p:cNvSpPr/>
          <p:nvPr/>
        </p:nvSpPr>
        <p:spPr>
          <a:xfrm>
            <a:off x="2761488" y="4379976"/>
            <a:ext cx="2212848" cy="1391317"/>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12" name="Image 2" descr="/home/claude/guide/img/workbook_parts.png">    </p:cNvPr>
          <p:cNvPicPr>
            <a:picLocks noChangeAspect="1"/>
          </p:cNvPicPr>
          <p:nvPr/>
        </p:nvPicPr>
        <p:blipFill>
          <a:blip r:embed="rId3"/>
          <a:stretch>
            <a:fillRect/>
          </a:stretch>
        </p:blipFill>
        <p:spPr>
          <a:xfrm>
            <a:off x="2816352" y="4434840"/>
            <a:ext cx="2103120" cy="1281589"/>
          </a:xfrm>
          <a:prstGeom prst="rect">
            <a:avLst/>
          </a:prstGeom>
        </p:spPr>
      </p:pic>
      <p:sp>
        <p:nvSpPr>
          <p:cNvPr id="13" name="Text 8"/>
          <p:cNvSpPr txBox="1"/>
          <p:nvPr/>
        </p:nvSpPr>
        <p:spPr>
          <a:xfrm>
            <a:off x="777240" y="4526280"/>
            <a:ext cx="1828800" cy="155448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A report</a:t>
            </a:r>
            <a:endParaRPr lang="en-US" sz="1200" dirty="0"/>
          </a:p>
          <a:p>
            <a:pPr indent="0" marL="0">
              <a:buNone/>
            </a:pPr>
            <a:r>
              <a:rPr lang="en-US" sz="1200" dirty="0">
                <a:solidFill>
                  <a:srgbClr val="1F1F2E"/>
                </a:solidFill>
                <a:latin typeface="Calibri" pitchFamily="34" charset="0"/>
                <a:ea typeface="Calibri" pitchFamily="34" charset="-122"/>
                <a:cs typeface="Calibri" pitchFamily="34" charset="-120"/>
              </a:rPr>
              <a:t>Word document: findings, schedules, sources and a peer-review register.</a:t>
            </a:r>
            <a:endParaRPr lang="en-US" sz="1200" dirty="0"/>
          </a:p>
        </p:txBody>
      </p:sp>
      <p:sp>
        <p:nvSpPr>
          <p:cNvPr id="14" name="Text 9"/>
          <p:cNvSpPr txBox="1"/>
          <p:nvPr/>
        </p:nvSpPr>
        <p:spPr>
          <a:xfrm>
            <a:off x="2816352" y="3401568"/>
            <a:ext cx="2103120" cy="96012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An Excel workbook</a:t>
            </a:r>
            <a:endParaRPr lang="en-US" sz="1200" dirty="0"/>
          </a:p>
          <a:p>
            <a:pPr indent="0" marL="0">
              <a:buNone/>
            </a:pPr>
            <a:r>
              <a:rPr lang="en-US" sz="1200" dirty="0">
                <a:solidFill>
                  <a:srgbClr val="1F1F2E"/>
                </a:solidFill>
                <a:latin typeface="Calibri" pitchFamily="34" charset="0"/>
                <a:ea typeface="Calibri" pitchFamily="34" charset="-122"/>
                <a:cs typeface="Calibri" pitchFamily="34" charset="-120"/>
              </a:rPr>
              <a:t>Every rate as a row; US-dollar values and data-quality scores computed by formula.</a:t>
            </a:r>
            <a:endParaRPr lang="en-US" sz="1200" dirty="0"/>
          </a:p>
        </p:txBody>
      </p:sp>
      <p:sp>
        <p:nvSpPr>
          <p:cNvPr id="15" name="Text 10"/>
          <p:cNvSpPr txBox="1"/>
          <p:nvPr/>
        </p:nvSpPr>
        <p:spPr>
          <a:xfrm>
            <a:off x="5486400" y="1325880"/>
            <a:ext cx="61264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Two ways to run</a:t>
            </a:r>
            <a:endParaRPr lang="en-US" sz="1600" dirty="0"/>
          </a:p>
        </p:txBody>
      </p:sp>
      <p:sp>
        <p:nvSpPr>
          <p:cNvPr id="16" name="Shape 11"/>
          <p:cNvSpPr/>
          <p:nvPr/>
        </p:nvSpPr>
        <p:spPr>
          <a:xfrm>
            <a:off x="5486400" y="1783080"/>
            <a:ext cx="6153912" cy="1691640"/>
          </a:xfrm>
          <a:prstGeom prst="roundRect">
            <a:avLst>
              <a:gd name="adj" fmla="val 4324"/>
            </a:avLst>
          </a:prstGeom>
          <a:solidFill>
            <a:srgbClr val="EAF4F2"/>
          </a:solidFill>
          <a:ln w="9525">
            <a:solidFill>
              <a:srgbClr val="D5DAE3"/>
            </a:solidFill>
            <a:prstDash val="solid"/>
          </a:ln>
        </p:spPr>
      </p:sp>
      <p:sp>
        <p:nvSpPr>
          <p:cNvPr id="17" name="Shape 12"/>
          <p:cNvSpPr/>
          <p:nvPr/>
        </p:nvSpPr>
        <p:spPr>
          <a:xfrm>
            <a:off x="5669280" y="1920240"/>
            <a:ext cx="457200" cy="457200"/>
          </a:xfrm>
          <a:prstGeom prst="ellipse">
            <a:avLst/>
          </a:prstGeom>
          <a:solidFill>
            <a:srgbClr val="0F7B6C"/>
          </a:solidFill>
          <a:ln w="12700">
            <a:solidFill>
              <a:srgbClr val="0F7B6C"/>
            </a:solidFill>
            <a:prstDash val="solid"/>
          </a:ln>
        </p:spPr>
      </p:sp>
      <p:sp>
        <p:nvSpPr>
          <p:cNvPr id="18" name="Text 13"/>
          <p:cNvSpPr txBox="1"/>
          <p:nvPr/>
        </p:nvSpPr>
        <p:spPr>
          <a:xfrm>
            <a:off x="5669280" y="19202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9" name="Text 14"/>
          <p:cNvSpPr txBox="1"/>
          <p:nvPr/>
        </p:nvSpPr>
        <p:spPr>
          <a:xfrm>
            <a:off x="6309360" y="1901952"/>
            <a:ext cx="5212080" cy="1691640"/>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Full diagnostic: one run</a:t>
            </a:r>
            <a:endParaRPr lang="en-US" sz="1600" dirty="0"/>
          </a:p>
          <a:p>
            <a:pPr indent="0" marL="0">
              <a:buNone/>
            </a:pPr>
            <a:r>
              <a:rPr lang="en-US" sz="1300" dirty="0">
                <a:solidFill>
                  <a:srgbClr val="1F1F2E"/>
                </a:solidFill>
                <a:latin typeface="Calibri" pitchFamily="34" charset="0"/>
                <a:ea typeface="Calibri" pitchFamily="34" charset="-122"/>
                <a:cs typeface="Calibri" pitchFamily="34" charset="-120"/>
              </a:rPr>
              <a:t>All 30 standard lines in one go, six stages (A1–A6). Give the AI the master file only.</a:t>
            </a:r>
            <a:endParaRPr lang="en-US" sz="1600" dirty="0"/>
          </a:p>
          <a:p>
            <a:pPr indent="0" marL="0">
              <a:buNone/>
            </a:pPr>
            <a:r>
              <a:rPr lang="en-US" sz="1300" b="1" dirty="0">
                <a:solidFill>
                  <a:srgbClr val="0F7B6C"/>
                </a:solidFill>
                <a:latin typeface="Calibri" pitchFamily="34" charset="0"/>
                <a:ea typeface="Calibri" pitchFamily="34" charset="-122"/>
                <a:cs typeface="Calibri" pitchFamily="34" charset="-120"/>
              </a:rPr>
              <a:t>Output: 1 report + 1 workbook</a:t>
            </a:r>
            <a:endParaRPr lang="en-US" sz="1600" dirty="0"/>
          </a:p>
          <a:p>
            <a:pPr indent="0" marL="0">
              <a:buNone/>
            </a:pPr>
            <a:r>
              <a:rPr lang="en-US" sz="1250" i="1" dirty="0">
                <a:solidFill>
                  <a:srgbClr val="5C667A"/>
                </a:solidFill>
                <a:latin typeface="Calibri" pitchFamily="34" charset="0"/>
                <a:ea typeface="Calibri" pitchFamily="34" charset="-122"/>
                <a:cs typeface="Calibri" pitchFamily="34" charset="-120"/>
              </a:rPr>
              <a:t>Best for: a first diagnostic or a short schedule.</a:t>
            </a:r>
            <a:endParaRPr lang="en-US" sz="1600" dirty="0"/>
          </a:p>
        </p:txBody>
      </p:sp>
      <p:sp>
        <p:nvSpPr>
          <p:cNvPr id="20" name="Shape 15"/>
          <p:cNvSpPr/>
          <p:nvPr/>
        </p:nvSpPr>
        <p:spPr>
          <a:xfrm>
            <a:off x="5486400" y="3611880"/>
            <a:ext cx="6153912" cy="2651760"/>
          </a:xfrm>
          <a:prstGeom prst="roundRect">
            <a:avLst>
              <a:gd name="adj" fmla="val 2759"/>
            </a:avLst>
          </a:prstGeom>
          <a:solidFill>
            <a:srgbClr val="FDF3E6"/>
          </a:solidFill>
          <a:ln w="9525">
            <a:solidFill>
              <a:srgbClr val="D5DAE3"/>
            </a:solidFill>
            <a:prstDash val="solid"/>
          </a:ln>
        </p:spPr>
      </p:sp>
      <p:sp>
        <p:nvSpPr>
          <p:cNvPr id="21" name="Shape 16"/>
          <p:cNvSpPr/>
          <p:nvPr/>
        </p:nvSpPr>
        <p:spPr>
          <a:xfrm>
            <a:off x="5669280" y="3749040"/>
            <a:ext cx="457200" cy="457200"/>
          </a:xfrm>
          <a:prstGeom prst="ellipse">
            <a:avLst/>
          </a:prstGeom>
          <a:solidFill>
            <a:srgbClr val="E08A1E"/>
          </a:solidFill>
          <a:ln w="12700">
            <a:solidFill>
              <a:srgbClr val="E08A1E"/>
            </a:solidFill>
            <a:prstDash val="solid"/>
          </a:ln>
        </p:spPr>
      </p:sp>
      <p:sp>
        <p:nvSpPr>
          <p:cNvPr id="22" name="Text 17"/>
          <p:cNvSpPr txBox="1"/>
          <p:nvPr/>
        </p:nvSpPr>
        <p:spPr>
          <a:xfrm>
            <a:off x="5669280" y="3749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3" name="Text 18"/>
          <p:cNvSpPr txBox="1"/>
          <p:nvPr/>
        </p:nvSpPr>
        <p:spPr>
          <a:xfrm>
            <a:off x="6309360" y="3730752"/>
            <a:ext cx="5212080" cy="2377440"/>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Sectoral: four sub-diagnostics + aggregation</a:t>
            </a:r>
            <a:endParaRPr lang="en-US" sz="1600" dirty="0"/>
          </a:p>
          <a:p>
            <a:pPr indent="0" marL="0">
              <a:buNone/>
            </a:pPr>
            <a:r>
              <a:rPr lang="en-US" sz="1300" dirty="0">
                <a:solidFill>
                  <a:srgbClr val="1F1F2E"/>
                </a:solidFill>
                <a:latin typeface="Calibri" pitchFamily="34" charset="0"/>
                <a:ea typeface="Calibri" pitchFamily="34" charset="-122"/>
                <a:cs typeface="Calibri" pitchFamily="34" charset="-120"/>
              </a:rPr>
              <a:t>Part 1 Fuel · Part 2 Vehicles · Part 3 Health · Part 4 Other, in any order. Then Part 5 (overarching) runs last and combines them. Give the AI the master file plus one part file per run.</a:t>
            </a:r>
            <a:endParaRPr lang="en-US" sz="1600" dirty="0"/>
          </a:p>
          <a:p>
            <a:pPr indent="0" marL="0">
              <a:buNone/>
            </a:pPr>
            <a:r>
              <a:rPr lang="en-US" sz="1300" b="1" dirty="0">
                <a:solidFill>
                  <a:srgbClr val="E08A1E"/>
                </a:solidFill>
                <a:latin typeface="Calibri" pitchFamily="34" charset="0"/>
                <a:ea typeface="Calibri" pitchFamily="34" charset="-122"/>
                <a:cs typeface="Calibri" pitchFamily="34" charset="-120"/>
              </a:rPr>
              <a:t>Output: 5 reports + 5 workbooks (4 part workbooks feed 1 master workbook)</a:t>
            </a:r>
            <a:endParaRPr lang="en-US" sz="1600" dirty="0"/>
          </a:p>
          <a:p>
            <a:pPr indent="0" marL="0">
              <a:buNone/>
            </a:pPr>
            <a:r>
              <a:rPr lang="en-US" sz="1250" i="1" dirty="0">
                <a:solidFill>
                  <a:srgbClr val="5C667A"/>
                </a:solidFill>
                <a:latin typeface="Calibri" pitchFamily="34" charset="0"/>
                <a:ea typeface="Calibri" pitchFamily="34" charset="-122"/>
                <a:cs typeface="Calibri" pitchFamily="34" charset="-120"/>
              </a:rPr>
              <a:t>Best for: long schedules, or when different people own different sectors.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THE PATH</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Your path in five steps</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548640" y="1417320"/>
            <a:ext cx="2103120" cy="3886200"/>
          </a:xfrm>
          <a:prstGeom prst="roundRect">
            <a:avLst>
              <a:gd name="adj" fmla="val 3478"/>
            </a:avLst>
          </a:prstGeom>
          <a:solidFill>
            <a:srgbClr val="F4F6FB"/>
          </a:solidFill>
          <a:ln w="9525">
            <a:solidFill>
              <a:srgbClr val="D5DAE3"/>
            </a:solidFill>
            <a:prstDash val="solid"/>
          </a:ln>
        </p:spPr>
      </p:sp>
      <p:sp>
        <p:nvSpPr>
          <p:cNvPr id="6" name="Shape 4"/>
          <p:cNvSpPr/>
          <p:nvPr/>
        </p:nvSpPr>
        <p:spPr>
          <a:xfrm>
            <a:off x="1325880" y="1600200"/>
            <a:ext cx="548640" cy="548640"/>
          </a:xfrm>
          <a:prstGeom prst="ellipse">
            <a:avLst/>
          </a:prstGeom>
          <a:solidFill>
            <a:srgbClr val="E08A1E"/>
          </a:solidFill>
          <a:ln w="12700">
            <a:solidFill>
              <a:srgbClr val="E08A1E"/>
            </a:solidFill>
            <a:prstDash val="solid"/>
          </a:ln>
        </p:spPr>
      </p:sp>
      <p:sp>
        <p:nvSpPr>
          <p:cNvPr id="7" name="Text 5"/>
          <p:cNvSpPr txBox="1"/>
          <p:nvPr/>
        </p:nvSpPr>
        <p:spPr>
          <a:xfrm>
            <a:off x="1325880"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685800" y="2286000"/>
            <a:ext cx="182880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Get the files</a:t>
            </a:r>
            <a:endParaRPr lang="en-US" sz="1600" dirty="0"/>
          </a:p>
        </p:txBody>
      </p:sp>
      <p:sp>
        <p:nvSpPr>
          <p:cNvPr id="9" name="Text 7"/>
          <p:cNvSpPr txBox="1"/>
          <p:nvPr/>
        </p:nvSpPr>
        <p:spPr>
          <a:xfrm>
            <a:off x="685800" y="2743200"/>
            <a:ext cx="1828800" cy="1005840"/>
          </a:xfrm>
          <a:prstGeom prst="rect">
            <a:avLst/>
          </a:prstGeom>
          <a:noFill/>
          <a:ln/>
        </p:spPr>
        <p:txBody>
          <a:bodyPr wrap="square" lIns="0" tIns="0" rIns="0" bIns="0" rtlCol="0" anchor="t"/>
          <a:lstStyle/>
          <a:p>
            <a:pPr algn="ctr" indent="0" marL="0">
              <a:buNone/>
            </a:pPr>
            <a:r>
              <a:rPr lang="en-US" sz="1250" dirty="0">
                <a:solidFill>
                  <a:srgbClr val="1F1F2E"/>
                </a:solidFill>
                <a:latin typeface="Calibri" pitchFamily="34" charset="0"/>
                <a:ea typeface="Calibri" pitchFamily="34" charset="-122"/>
                <a:cs typeface="Calibri" pitchFamily="34" charset="-120"/>
              </a:rPr>
              <a:t>Download the repository with the process files and workbook.</a:t>
            </a:r>
            <a:endParaRPr lang="en-US" sz="1250" dirty="0"/>
          </a:p>
        </p:txBody>
      </p:sp>
      <p:sp>
        <p:nvSpPr>
          <p:cNvPr id="10" name="Shape 8"/>
          <p:cNvSpPr/>
          <p:nvPr/>
        </p:nvSpPr>
        <p:spPr>
          <a:xfrm>
            <a:off x="658368" y="3831336"/>
            <a:ext cx="1883664" cy="1190720"/>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11" name="Image 0" descr="/home/claude/guide/img/repo_tree.png">    </p:cNvPr>
          <p:cNvPicPr>
            <a:picLocks noChangeAspect="1"/>
          </p:cNvPicPr>
          <p:nvPr/>
        </p:nvPicPr>
        <p:blipFill>
          <a:blip r:embed="rId1"/>
          <a:stretch>
            <a:fillRect/>
          </a:stretch>
        </p:blipFill>
        <p:spPr>
          <a:xfrm>
            <a:off x="713232" y="3886200"/>
            <a:ext cx="1773936" cy="1080992"/>
          </a:xfrm>
          <a:prstGeom prst="rect">
            <a:avLst/>
          </a:prstGeom>
        </p:spPr>
      </p:pic>
      <p:sp>
        <p:nvSpPr>
          <p:cNvPr id="12" name="Shape 9"/>
          <p:cNvSpPr/>
          <p:nvPr/>
        </p:nvSpPr>
        <p:spPr>
          <a:xfrm>
            <a:off x="2660904" y="1874520"/>
            <a:ext cx="146304" cy="0"/>
          </a:xfrm>
          <a:prstGeom prst="line">
            <a:avLst/>
          </a:prstGeom>
          <a:noFill/>
          <a:ln w="25400">
            <a:solidFill>
              <a:srgbClr val="5C667A"/>
            </a:solidFill>
            <a:prstDash val="solid"/>
            <a:tailEnd type="triangle"/>
          </a:ln>
        </p:spPr>
      </p:sp>
      <p:sp>
        <p:nvSpPr>
          <p:cNvPr id="13" name="Shape 10"/>
          <p:cNvSpPr/>
          <p:nvPr/>
        </p:nvSpPr>
        <p:spPr>
          <a:xfrm>
            <a:off x="2816352" y="1417320"/>
            <a:ext cx="2103120" cy="3886200"/>
          </a:xfrm>
          <a:prstGeom prst="roundRect">
            <a:avLst>
              <a:gd name="adj" fmla="val 3478"/>
            </a:avLst>
          </a:prstGeom>
          <a:solidFill>
            <a:srgbClr val="F4F6FB"/>
          </a:solidFill>
          <a:ln w="9525">
            <a:solidFill>
              <a:srgbClr val="D5DAE3"/>
            </a:solidFill>
            <a:prstDash val="solid"/>
          </a:ln>
        </p:spPr>
      </p:sp>
      <p:sp>
        <p:nvSpPr>
          <p:cNvPr id="14" name="Shape 11"/>
          <p:cNvSpPr/>
          <p:nvPr/>
        </p:nvSpPr>
        <p:spPr>
          <a:xfrm>
            <a:off x="3593592" y="1600200"/>
            <a:ext cx="548640" cy="548640"/>
          </a:xfrm>
          <a:prstGeom prst="ellipse">
            <a:avLst/>
          </a:prstGeom>
          <a:solidFill>
            <a:srgbClr val="0F7B6C"/>
          </a:solidFill>
          <a:ln w="12700">
            <a:solidFill>
              <a:srgbClr val="0F7B6C"/>
            </a:solidFill>
            <a:prstDash val="solid"/>
          </a:ln>
        </p:spPr>
      </p:sp>
      <p:sp>
        <p:nvSpPr>
          <p:cNvPr id="15" name="Text 12"/>
          <p:cNvSpPr txBox="1"/>
          <p:nvPr/>
        </p:nvSpPr>
        <p:spPr>
          <a:xfrm>
            <a:off x="3593592"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txBox="1"/>
          <p:nvPr/>
        </p:nvSpPr>
        <p:spPr>
          <a:xfrm>
            <a:off x="2953512" y="2286000"/>
            <a:ext cx="182880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Set up your AI tool</a:t>
            </a:r>
            <a:endParaRPr lang="en-US" sz="1600" dirty="0"/>
          </a:p>
        </p:txBody>
      </p:sp>
      <p:sp>
        <p:nvSpPr>
          <p:cNvPr id="17" name="Text 14"/>
          <p:cNvSpPr txBox="1"/>
          <p:nvPr/>
        </p:nvSpPr>
        <p:spPr>
          <a:xfrm>
            <a:off x="2953512" y="2743200"/>
            <a:ext cx="1828800" cy="1005840"/>
          </a:xfrm>
          <a:prstGeom prst="rect">
            <a:avLst/>
          </a:prstGeom>
          <a:noFill/>
          <a:ln/>
        </p:spPr>
        <p:txBody>
          <a:bodyPr wrap="square" lIns="0" tIns="0" rIns="0" bIns="0" rtlCol="0" anchor="t"/>
          <a:lstStyle/>
          <a:p>
            <a:pPr algn="ctr" indent="0" marL="0">
              <a:buNone/>
            </a:pPr>
            <a:r>
              <a:rPr lang="en-US" sz="1250" dirty="0">
                <a:solidFill>
                  <a:srgbClr val="1F1F2E"/>
                </a:solidFill>
                <a:latin typeface="Calibri" pitchFamily="34" charset="0"/>
                <a:ea typeface="Calibri" pitchFamily="34" charset="-122"/>
                <a:cs typeface="Calibri" pitchFamily="34" charset="-120"/>
              </a:rPr>
              <a:t>Claude (web) or GitHub Copilot (in VS Code). One-off.</a:t>
            </a:r>
            <a:endParaRPr lang="en-US" sz="1250" dirty="0"/>
          </a:p>
        </p:txBody>
      </p:sp>
      <p:sp>
        <p:nvSpPr>
          <p:cNvPr id="18" name="Shape 15"/>
          <p:cNvSpPr/>
          <p:nvPr/>
        </p:nvSpPr>
        <p:spPr>
          <a:xfrm>
            <a:off x="2926080" y="3831336"/>
            <a:ext cx="1883664" cy="1190720"/>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19" name="Image 1" descr="/home/claude/guide/img/claude_settings.png">    </p:cNvPr>
          <p:cNvPicPr>
            <a:picLocks noChangeAspect="1"/>
          </p:cNvPicPr>
          <p:nvPr/>
        </p:nvPicPr>
        <p:blipFill>
          <a:blip r:embed="rId2"/>
          <a:stretch>
            <a:fillRect/>
          </a:stretch>
        </p:blipFill>
        <p:spPr>
          <a:xfrm>
            <a:off x="2980944" y="3886200"/>
            <a:ext cx="1773936" cy="1080992"/>
          </a:xfrm>
          <a:prstGeom prst="rect">
            <a:avLst/>
          </a:prstGeom>
        </p:spPr>
      </p:pic>
      <p:sp>
        <p:nvSpPr>
          <p:cNvPr id="20" name="Shape 16"/>
          <p:cNvSpPr/>
          <p:nvPr/>
        </p:nvSpPr>
        <p:spPr>
          <a:xfrm>
            <a:off x="4928616" y="1874520"/>
            <a:ext cx="146304" cy="0"/>
          </a:xfrm>
          <a:prstGeom prst="line">
            <a:avLst/>
          </a:prstGeom>
          <a:noFill/>
          <a:ln w="25400">
            <a:solidFill>
              <a:srgbClr val="5C667A"/>
            </a:solidFill>
            <a:prstDash val="solid"/>
            <a:tailEnd type="triangle"/>
          </a:ln>
        </p:spPr>
      </p:sp>
      <p:sp>
        <p:nvSpPr>
          <p:cNvPr id="21" name="Shape 17"/>
          <p:cNvSpPr/>
          <p:nvPr/>
        </p:nvSpPr>
        <p:spPr>
          <a:xfrm>
            <a:off x="5084064" y="1417320"/>
            <a:ext cx="2103120" cy="3886200"/>
          </a:xfrm>
          <a:prstGeom prst="roundRect">
            <a:avLst>
              <a:gd name="adj" fmla="val 3478"/>
            </a:avLst>
          </a:prstGeom>
          <a:solidFill>
            <a:srgbClr val="F4F6FB"/>
          </a:solidFill>
          <a:ln w="9525">
            <a:solidFill>
              <a:srgbClr val="D5DAE3"/>
            </a:solidFill>
            <a:prstDash val="solid"/>
          </a:ln>
        </p:spPr>
      </p:sp>
      <p:sp>
        <p:nvSpPr>
          <p:cNvPr id="22" name="Shape 18"/>
          <p:cNvSpPr/>
          <p:nvPr/>
        </p:nvSpPr>
        <p:spPr>
          <a:xfrm>
            <a:off x="5861304" y="1600200"/>
            <a:ext cx="548640" cy="548640"/>
          </a:xfrm>
          <a:prstGeom prst="ellipse">
            <a:avLst/>
          </a:prstGeom>
          <a:solidFill>
            <a:srgbClr val="E08A1E"/>
          </a:solidFill>
          <a:ln w="12700">
            <a:solidFill>
              <a:srgbClr val="E08A1E"/>
            </a:solidFill>
            <a:prstDash val="solid"/>
          </a:ln>
        </p:spPr>
      </p:sp>
      <p:sp>
        <p:nvSpPr>
          <p:cNvPr id="23" name="Text 19"/>
          <p:cNvSpPr txBox="1"/>
          <p:nvPr/>
        </p:nvSpPr>
        <p:spPr>
          <a:xfrm>
            <a:off x="5861304"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20"/>
          <p:cNvSpPr txBox="1"/>
          <p:nvPr/>
        </p:nvSpPr>
        <p:spPr>
          <a:xfrm>
            <a:off x="5221224" y="2286000"/>
            <a:ext cx="182880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Gather sources</a:t>
            </a:r>
            <a:endParaRPr lang="en-US" sz="1600" dirty="0"/>
          </a:p>
        </p:txBody>
      </p:sp>
      <p:sp>
        <p:nvSpPr>
          <p:cNvPr id="25" name="Text 21"/>
          <p:cNvSpPr txBox="1"/>
          <p:nvPr/>
        </p:nvSpPr>
        <p:spPr>
          <a:xfrm>
            <a:off x="5221224" y="2743200"/>
            <a:ext cx="1828800" cy="1005840"/>
          </a:xfrm>
          <a:prstGeom prst="rect">
            <a:avLst/>
          </a:prstGeom>
          <a:noFill/>
          <a:ln/>
        </p:spPr>
        <p:txBody>
          <a:bodyPr wrap="square" lIns="0" tIns="0" rIns="0" bIns="0" rtlCol="0" anchor="t"/>
          <a:lstStyle/>
          <a:p>
            <a:pPr algn="ctr" indent="0" marL="0">
              <a:buNone/>
            </a:pPr>
            <a:r>
              <a:rPr lang="en-US" sz="1250" dirty="0">
                <a:solidFill>
                  <a:srgbClr val="1F1F2E"/>
                </a:solidFill>
                <a:latin typeface="Calibri" pitchFamily="34" charset="0"/>
                <a:ea typeface="Calibri" pitchFamily="34" charset="-122"/>
                <a:cs typeface="Calibri" pitchFamily="34" charset="-120"/>
              </a:rPr>
              <a:t>Legal texts and data. If the AI cannot fetch them, it gives you a links list and a .bat file.</a:t>
            </a:r>
            <a:endParaRPr lang="en-US" sz="1250" dirty="0"/>
          </a:p>
        </p:txBody>
      </p:sp>
      <p:sp>
        <p:nvSpPr>
          <p:cNvPr id="26" name="Shape 22"/>
          <p:cNvSpPr/>
          <p:nvPr/>
        </p:nvSpPr>
        <p:spPr>
          <a:xfrm>
            <a:off x="5193792" y="3831336"/>
            <a:ext cx="1883664" cy="1190720"/>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27" name="Image 2" descr="/home/claude/guide/img/bat_run.png">    </p:cNvPr>
          <p:cNvPicPr>
            <a:picLocks noChangeAspect="1"/>
          </p:cNvPicPr>
          <p:nvPr/>
        </p:nvPicPr>
        <p:blipFill>
          <a:blip r:embed="rId3"/>
          <a:stretch>
            <a:fillRect/>
          </a:stretch>
        </p:blipFill>
        <p:spPr>
          <a:xfrm>
            <a:off x="5248656" y="3886200"/>
            <a:ext cx="1773936" cy="1080992"/>
          </a:xfrm>
          <a:prstGeom prst="rect">
            <a:avLst/>
          </a:prstGeom>
        </p:spPr>
      </p:pic>
      <p:sp>
        <p:nvSpPr>
          <p:cNvPr id="28" name="Shape 23"/>
          <p:cNvSpPr/>
          <p:nvPr/>
        </p:nvSpPr>
        <p:spPr>
          <a:xfrm>
            <a:off x="7196328" y="1874520"/>
            <a:ext cx="146304" cy="0"/>
          </a:xfrm>
          <a:prstGeom prst="line">
            <a:avLst/>
          </a:prstGeom>
          <a:noFill/>
          <a:ln w="25400">
            <a:solidFill>
              <a:srgbClr val="5C667A"/>
            </a:solidFill>
            <a:prstDash val="solid"/>
            <a:tailEnd type="triangle"/>
          </a:ln>
        </p:spPr>
      </p:sp>
      <p:sp>
        <p:nvSpPr>
          <p:cNvPr id="29" name="Shape 24"/>
          <p:cNvSpPr/>
          <p:nvPr/>
        </p:nvSpPr>
        <p:spPr>
          <a:xfrm>
            <a:off x="7351776" y="1417320"/>
            <a:ext cx="2103120" cy="3886200"/>
          </a:xfrm>
          <a:prstGeom prst="roundRect">
            <a:avLst>
              <a:gd name="adj" fmla="val 3478"/>
            </a:avLst>
          </a:prstGeom>
          <a:solidFill>
            <a:srgbClr val="F4F6FB"/>
          </a:solidFill>
          <a:ln w="9525">
            <a:solidFill>
              <a:srgbClr val="D5DAE3"/>
            </a:solidFill>
            <a:prstDash val="solid"/>
          </a:ln>
        </p:spPr>
      </p:sp>
      <p:sp>
        <p:nvSpPr>
          <p:cNvPr id="30" name="Shape 25"/>
          <p:cNvSpPr/>
          <p:nvPr/>
        </p:nvSpPr>
        <p:spPr>
          <a:xfrm>
            <a:off x="8129016" y="1600200"/>
            <a:ext cx="548640" cy="548640"/>
          </a:xfrm>
          <a:prstGeom prst="ellipse">
            <a:avLst/>
          </a:prstGeom>
          <a:solidFill>
            <a:srgbClr val="0F7B6C"/>
          </a:solidFill>
          <a:ln w="12700">
            <a:solidFill>
              <a:srgbClr val="0F7B6C"/>
            </a:solidFill>
            <a:prstDash val="solid"/>
          </a:ln>
        </p:spPr>
      </p:sp>
      <p:sp>
        <p:nvSpPr>
          <p:cNvPr id="31" name="Text 26"/>
          <p:cNvSpPr txBox="1"/>
          <p:nvPr/>
        </p:nvSpPr>
        <p:spPr>
          <a:xfrm>
            <a:off x="8129016"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2" name="Text 27"/>
          <p:cNvSpPr txBox="1"/>
          <p:nvPr/>
        </p:nvSpPr>
        <p:spPr>
          <a:xfrm>
            <a:off x="7488936" y="2286000"/>
            <a:ext cx="182880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Run the stages</a:t>
            </a:r>
            <a:endParaRPr lang="en-US" sz="1600" dirty="0"/>
          </a:p>
        </p:txBody>
      </p:sp>
      <p:sp>
        <p:nvSpPr>
          <p:cNvPr id="33" name="Text 28"/>
          <p:cNvSpPr txBox="1"/>
          <p:nvPr/>
        </p:nvSpPr>
        <p:spPr>
          <a:xfrm>
            <a:off x="7488936" y="2743200"/>
            <a:ext cx="1828800" cy="1005840"/>
          </a:xfrm>
          <a:prstGeom prst="rect">
            <a:avLst/>
          </a:prstGeom>
          <a:noFill/>
          <a:ln/>
        </p:spPr>
        <p:txBody>
          <a:bodyPr wrap="square" lIns="0" tIns="0" rIns="0" bIns="0" rtlCol="0" anchor="t"/>
          <a:lstStyle/>
          <a:p>
            <a:pPr algn="ctr" indent="0" marL="0">
              <a:buNone/>
            </a:pPr>
            <a:r>
              <a:rPr lang="en-US" sz="1250" dirty="0">
                <a:solidFill>
                  <a:srgbClr val="1F1F2E"/>
                </a:solidFill>
                <a:latin typeface="Calibri" pitchFamily="34" charset="0"/>
                <a:ea typeface="Calibri" pitchFamily="34" charset="-122"/>
                <a:cs typeface="Calibri" pitchFamily="34" charset="-120"/>
              </a:rPr>
              <a:t>Paste one stage prompt at a time. Check each answer before the next.</a:t>
            </a:r>
            <a:endParaRPr lang="en-US" sz="1250" dirty="0"/>
          </a:p>
        </p:txBody>
      </p:sp>
      <p:sp>
        <p:nvSpPr>
          <p:cNvPr id="34" name="Shape 29"/>
          <p:cNvSpPr/>
          <p:nvPr/>
        </p:nvSpPr>
        <p:spPr>
          <a:xfrm>
            <a:off x="7461504" y="3831336"/>
            <a:ext cx="1883664" cy="1190720"/>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35" name="Image 3" descr="/home/claude/guide/img/claude_chat.png">    </p:cNvPr>
          <p:cNvPicPr>
            <a:picLocks noChangeAspect="1"/>
          </p:cNvPicPr>
          <p:nvPr/>
        </p:nvPicPr>
        <p:blipFill>
          <a:blip r:embed="rId4"/>
          <a:stretch>
            <a:fillRect/>
          </a:stretch>
        </p:blipFill>
        <p:spPr>
          <a:xfrm>
            <a:off x="7516368" y="3886200"/>
            <a:ext cx="1773936" cy="1080992"/>
          </a:xfrm>
          <a:prstGeom prst="rect">
            <a:avLst/>
          </a:prstGeom>
        </p:spPr>
      </p:pic>
      <p:sp>
        <p:nvSpPr>
          <p:cNvPr id="36" name="Shape 30"/>
          <p:cNvSpPr/>
          <p:nvPr/>
        </p:nvSpPr>
        <p:spPr>
          <a:xfrm>
            <a:off x="9464040" y="1874520"/>
            <a:ext cx="146304" cy="0"/>
          </a:xfrm>
          <a:prstGeom prst="line">
            <a:avLst/>
          </a:prstGeom>
          <a:noFill/>
          <a:ln w="25400">
            <a:solidFill>
              <a:srgbClr val="5C667A"/>
            </a:solidFill>
            <a:prstDash val="solid"/>
            <a:tailEnd type="triangle"/>
          </a:ln>
        </p:spPr>
      </p:sp>
      <p:sp>
        <p:nvSpPr>
          <p:cNvPr id="37" name="Shape 31"/>
          <p:cNvSpPr/>
          <p:nvPr/>
        </p:nvSpPr>
        <p:spPr>
          <a:xfrm>
            <a:off x="9619488" y="1417320"/>
            <a:ext cx="2103120" cy="3886200"/>
          </a:xfrm>
          <a:prstGeom prst="roundRect">
            <a:avLst>
              <a:gd name="adj" fmla="val 3478"/>
            </a:avLst>
          </a:prstGeom>
          <a:solidFill>
            <a:srgbClr val="F4F6FB"/>
          </a:solidFill>
          <a:ln w="9525">
            <a:solidFill>
              <a:srgbClr val="D5DAE3"/>
            </a:solidFill>
            <a:prstDash val="solid"/>
          </a:ln>
        </p:spPr>
      </p:sp>
      <p:sp>
        <p:nvSpPr>
          <p:cNvPr id="38" name="Shape 32"/>
          <p:cNvSpPr/>
          <p:nvPr/>
        </p:nvSpPr>
        <p:spPr>
          <a:xfrm>
            <a:off x="10396728" y="1600200"/>
            <a:ext cx="548640" cy="548640"/>
          </a:xfrm>
          <a:prstGeom prst="ellipse">
            <a:avLst/>
          </a:prstGeom>
          <a:solidFill>
            <a:srgbClr val="E08A1E"/>
          </a:solidFill>
          <a:ln w="12700">
            <a:solidFill>
              <a:srgbClr val="E08A1E"/>
            </a:solidFill>
            <a:prstDash val="solid"/>
          </a:ln>
        </p:spPr>
      </p:sp>
      <p:sp>
        <p:nvSpPr>
          <p:cNvPr id="39" name="Text 33"/>
          <p:cNvSpPr txBox="1"/>
          <p:nvPr/>
        </p:nvSpPr>
        <p:spPr>
          <a:xfrm>
            <a:off x="10396728"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0" name="Text 34"/>
          <p:cNvSpPr txBox="1"/>
          <p:nvPr/>
        </p:nvSpPr>
        <p:spPr>
          <a:xfrm>
            <a:off x="9756648" y="2286000"/>
            <a:ext cx="182880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Check and share</a:t>
            </a:r>
            <a:endParaRPr lang="en-US" sz="1600" dirty="0"/>
          </a:p>
        </p:txBody>
      </p:sp>
      <p:sp>
        <p:nvSpPr>
          <p:cNvPr id="41" name="Text 35"/>
          <p:cNvSpPr txBox="1"/>
          <p:nvPr/>
        </p:nvSpPr>
        <p:spPr>
          <a:xfrm>
            <a:off x="9756648" y="2743200"/>
            <a:ext cx="1828800" cy="1005840"/>
          </a:xfrm>
          <a:prstGeom prst="rect">
            <a:avLst/>
          </a:prstGeom>
          <a:noFill/>
          <a:ln/>
        </p:spPr>
        <p:txBody>
          <a:bodyPr wrap="square" lIns="0" tIns="0" rIns="0" bIns="0" rtlCol="0" anchor="t"/>
          <a:lstStyle/>
          <a:p>
            <a:pPr algn="ctr" indent="0" marL="0">
              <a:buNone/>
            </a:pPr>
            <a:r>
              <a:rPr lang="en-US" sz="1250" dirty="0">
                <a:solidFill>
                  <a:srgbClr val="1F1F2E"/>
                </a:solidFill>
                <a:latin typeface="Calibri" pitchFamily="34" charset="0"/>
                <a:ea typeface="Calibri" pitchFamily="34" charset="-122"/>
                <a:cs typeface="Calibri" pitchFamily="34" charset="-120"/>
              </a:rPr>
              <a:t>Report (.docx) and workbook (.xlsx). Every line traced to a source.</a:t>
            </a:r>
            <a:endParaRPr lang="en-US" sz="1250" dirty="0"/>
          </a:p>
        </p:txBody>
      </p:sp>
      <p:sp>
        <p:nvSpPr>
          <p:cNvPr id="42" name="Shape 36"/>
          <p:cNvSpPr/>
          <p:nvPr/>
        </p:nvSpPr>
        <p:spPr>
          <a:xfrm>
            <a:off x="9729216" y="3831336"/>
            <a:ext cx="1883664" cy="1190720"/>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43" name="Image 4" descr="/home/claude/guide/img/workbook_parts.png">    </p:cNvPr>
          <p:cNvPicPr>
            <a:picLocks noChangeAspect="1"/>
          </p:cNvPicPr>
          <p:nvPr/>
        </p:nvPicPr>
        <p:blipFill>
          <a:blip r:embed="rId5"/>
          <a:stretch>
            <a:fillRect/>
          </a:stretch>
        </p:blipFill>
        <p:spPr>
          <a:xfrm>
            <a:off x="9784080" y="3886200"/>
            <a:ext cx="1773936" cy="1080992"/>
          </a:xfrm>
          <a:prstGeom prst="rect">
            <a:avLst/>
          </a:prstGeom>
        </p:spPr>
      </p:pic>
      <p:sp>
        <p:nvSpPr>
          <p:cNvPr id="44" name="Shape 37"/>
          <p:cNvSpPr/>
          <p:nvPr/>
        </p:nvSpPr>
        <p:spPr>
          <a:xfrm>
            <a:off x="548640" y="5532120"/>
            <a:ext cx="4590288" cy="731520"/>
          </a:xfrm>
          <a:prstGeom prst="roundRect">
            <a:avLst>
              <a:gd name="adj" fmla="val 10000"/>
            </a:avLst>
          </a:prstGeom>
          <a:solidFill>
            <a:srgbClr val="EAF4F2"/>
          </a:solidFill>
          <a:ln w="9525">
            <a:solidFill>
              <a:srgbClr val="D5DAE3"/>
            </a:solidFill>
            <a:prstDash val="solid"/>
          </a:ln>
        </p:spPr>
      </p:sp>
      <p:sp>
        <p:nvSpPr>
          <p:cNvPr id="45" name="Text 38"/>
          <p:cNvSpPr txBox="1"/>
          <p:nvPr/>
        </p:nvSpPr>
        <p:spPr>
          <a:xfrm>
            <a:off x="731520" y="5532120"/>
            <a:ext cx="4297680" cy="731520"/>
          </a:xfrm>
          <a:prstGeom prst="rect">
            <a:avLst/>
          </a:prstGeom>
          <a:noFill/>
          <a:ln/>
        </p:spPr>
        <p:txBody>
          <a:bodyPr wrap="square" lIns="0" tIns="0" rIns="0" bIns="0" rtlCol="0" anchor="ctr"/>
          <a:lstStyle/>
          <a:p>
            <a:pPr indent="0" marL="0">
              <a:buNone/>
            </a:pPr>
            <a:r>
              <a:rPr lang="en-US" sz="1400" b="1" dirty="0">
                <a:solidFill>
                  <a:srgbClr val="0F7B6C"/>
                </a:solidFill>
                <a:latin typeface="Calibri" pitchFamily="34" charset="0"/>
                <a:ea typeface="Calibri" pitchFamily="34" charset="-122"/>
                <a:cs typeface="Calibri" pitchFamily="34" charset="-120"/>
              </a:rPr>
              <a:t>Steps 1–2: </a:t>
            </a:r>
            <a:pPr indent="0" marL="0">
              <a:buNone/>
            </a:pPr>
            <a:r>
              <a:rPr lang="en-US" sz="1400" dirty="0">
                <a:solidFill>
                  <a:srgbClr val="1F1F2E"/>
                </a:solidFill>
                <a:latin typeface="Calibri" pitchFamily="34" charset="0"/>
                <a:ea typeface="Calibri" pitchFamily="34" charset="-122"/>
                <a:cs typeface="Calibri" pitchFamily="34" charset="-120"/>
              </a:rPr>
              <a:t>do these once.</a:t>
            </a:r>
            <a:endParaRPr lang="en-US" sz="1400" dirty="0"/>
          </a:p>
        </p:txBody>
      </p:sp>
      <p:sp>
        <p:nvSpPr>
          <p:cNvPr id="46" name="Shape 39"/>
          <p:cNvSpPr/>
          <p:nvPr/>
        </p:nvSpPr>
        <p:spPr>
          <a:xfrm>
            <a:off x="5303520" y="5532120"/>
            <a:ext cx="6336792" cy="731520"/>
          </a:xfrm>
          <a:prstGeom prst="roundRect">
            <a:avLst>
              <a:gd name="adj" fmla="val 10000"/>
            </a:avLst>
          </a:prstGeom>
          <a:solidFill>
            <a:srgbClr val="FDF3E6"/>
          </a:solidFill>
          <a:ln w="9525">
            <a:solidFill>
              <a:srgbClr val="D5DAE3"/>
            </a:solidFill>
            <a:prstDash val="solid"/>
          </a:ln>
        </p:spPr>
      </p:sp>
      <p:sp>
        <p:nvSpPr>
          <p:cNvPr id="47" name="Text 40"/>
          <p:cNvSpPr txBox="1"/>
          <p:nvPr/>
        </p:nvSpPr>
        <p:spPr>
          <a:xfrm>
            <a:off x="5486400" y="5532120"/>
            <a:ext cx="6035040" cy="731520"/>
          </a:xfrm>
          <a:prstGeom prst="rect">
            <a:avLst/>
          </a:prstGeom>
          <a:noFill/>
          <a:ln/>
        </p:spPr>
        <p:txBody>
          <a:bodyPr wrap="square" lIns="0" tIns="0" rIns="0" bIns="0" rtlCol="0" anchor="ctr"/>
          <a:lstStyle/>
          <a:p>
            <a:pPr indent="0" marL="0">
              <a:buNone/>
            </a:pPr>
            <a:r>
              <a:rPr lang="en-US" sz="1400" b="1" dirty="0">
                <a:solidFill>
                  <a:srgbClr val="E08A1E"/>
                </a:solidFill>
                <a:latin typeface="Calibri" pitchFamily="34" charset="0"/>
                <a:ea typeface="Calibri" pitchFamily="34" charset="-122"/>
                <a:cs typeface="Calibri" pitchFamily="34" charset="-120"/>
              </a:rPr>
              <a:t>Steps 3–5: </a:t>
            </a:r>
            <a:pPr indent="0" marL="0">
              <a:buNone/>
            </a:pPr>
            <a:r>
              <a:rPr lang="en-US" sz="1400" dirty="0">
                <a:solidFill>
                  <a:srgbClr val="1F1F2E"/>
                </a:solidFill>
                <a:latin typeface="Calibri" pitchFamily="34" charset="0"/>
                <a:ea typeface="Calibri" pitchFamily="34" charset="-122"/>
                <a:cs typeface="Calibri" pitchFamily="34" charset="-120"/>
              </a:rPr>
              <a:t>repeat for each country, and for each part in a sectoral run.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STEP 1 · THE FILES</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repository: what is inside</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6876288" cy="4233101"/>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repo_tree.png">    </p:cNvPr>
          <p:cNvPicPr>
            <a:picLocks noChangeAspect="1"/>
          </p:cNvPicPr>
          <p:nvPr/>
        </p:nvPicPr>
        <p:blipFill>
          <a:blip r:embed="rId1"/>
          <a:stretch>
            <a:fillRect/>
          </a:stretch>
        </p:blipFill>
        <p:spPr>
          <a:xfrm>
            <a:off x="548640" y="1371600"/>
            <a:ext cx="6766560" cy="4123373"/>
          </a:xfrm>
          <a:prstGeom prst="rect">
            <a:avLst/>
          </a:prstGeom>
        </p:spPr>
      </p:pic>
      <p:sp>
        <p:nvSpPr>
          <p:cNvPr id="7" name="Shape 4"/>
          <p:cNvSpPr/>
          <p:nvPr/>
        </p:nvSpPr>
        <p:spPr>
          <a:xfrm>
            <a:off x="7680960" y="1325880"/>
            <a:ext cx="3959352" cy="1234440"/>
          </a:xfrm>
          <a:prstGeom prst="roundRect">
            <a:avLst>
              <a:gd name="adj" fmla="val 5926"/>
            </a:avLst>
          </a:prstGeom>
          <a:solidFill>
            <a:srgbClr val="FDF3E6"/>
          </a:solidFill>
          <a:ln w="12700">
            <a:solidFill>
              <a:srgbClr val="E08A1E"/>
            </a:solidFill>
            <a:prstDash val="solid"/>
          </a:ln>
        </p:spPr>
      </p:sp>
      <p:sp>
        <p:nvSpPr>
          <p:cNvPr id="8" name="Text 5"/>
          <p:cNvSpPr txBox="1"/>
          <p:nvPr/>
        </p:nvSpPr>
        <p:spPr>
          <a:xfrm>
            <a:off x="7863840" y="1417320"/>
            <a:ext cx="3657600" cy="1051560"/>
          </a:xfrm>
          <a:prstGeom prst="rect">
            <a:avLst/>
          </a:prstGeom>
          <a:noFill/>
          <a:ln/>
        </p:spPr>
        <p:txBody>
          <a:bodyPr wrap="square" lIns="0" tIns="0" rIns="0" bIns="0" rtlCol="0" anchor="t"/>
          <a:lstStyle/>
          <a:p>
            <a:pPr indent="0" marL="0">
              <a:buNone/>
            </a:pPr>
            <a:r>
              <a:rPr lang="en-US" sz="1300" b="1" dirty="0">
                <a:solidFill>
                  <a:srgbClr val="E08A1E"/>
                </a:solidFill>
                <a:latin typeface="Calibri" pitchFamily="34" charset="0"/>
                <a:ea typeface="Calibri" pitchFamily="34" charset="-122"/>
                <a:cs typeface="Calibri" pitchFamily="34" charset="-120"/>
              </a:rPr>
              <a:t>Location will change</a:t>
            </a:r>
            <a:endParaRPr lang="en-US" sz="1300" dirty="0"/>
          </a:p>
          <a:p>
            <a:pPr indent="0" marL="0">
              <a:buNone/>
            </a:pPr>
            <a:r>
              <a:rPr lang="en-US" sz="1300" dirty="0">
                <a:solidFill>
                  <a:srgbClr val="1F1F2E"/>
                </a:solidFill>
                <a:latin typeface="Calibri" pitchFamily="34" charset="0"/>
                <a:ea typeface="Calibri" pitchFamily="34" charset="-122"/>
                <a:cs typeface="Calibri" pitchFamily="34" charset="-120"/>
              </a:rPr>
              <a:t>Example for now:</a:t>
            </a:r>
            <a:endParaRPr lang="en-US" sz="1300" dirty="0"/>
          </a:p>
          <a:p>
            <a:pPr indent="0" marL="0">
              <a:buNone/>
            </a:pPr>
            <a:r>
              <a:rPr lang="en-US" sz="1300" b="1" dirty="0">
                <a:solidFill>
                  <a:srgbClr val="1E2761"/>
                </a:solidFill>
                <a:latin typeface="Courier New" pitchFamily="34" charset="0"/>
                <a:ea typeface="Courier New" pitchFamily="34" charset="-122"/>
                <a:cs typeface="Courier New" pitchFamily="34" charset="-120"/>
              </a:rPr>
              <a:t>github.com/sjstretton/new-ai-tools</a:t>
            </a:r>
            <a:endParaRPr lang="en-US" sz="1300" dirty="0"/>
          </a:p>
        </p:txBody>
      </p:sp>
      <p:sp>
        <p:nvSpPr>
          <p:cNvPr id="9" name="Shape 6"/>
          <p:cNvSpPr/>
          <p:nvPr/>
        </p:nvSpPr>
        <p:spPr>
          <a:xfrm>
            <a:off x="7680960" y="2807208"/>
            <a:ext cx="365760" cy="365760"/>
          </a:xfrm>
          <a:prstGeom prst="ellipse">
            <a:avLst/>
          </a:prstGeom>
          <a:solidFill>
            <a:srgbClr val="E08A1E"/>
          </a:solidFill>
          <a:ln w="12700">
            <a:solidFill>
              <a:srgbClr val="E08A1E"/>
            </a:solidFill>
            <a:prstDash val="solid"/>
          </a:ln>
        </p:spPr>
      </p:sp>
      <p:sp>
        <p:nvSpPr>
          <p:cNvPr id="10" name="Text 7"/>
          <p:cNvSpPr txBox="1"/>
          <p:nvPr/>
        </p:nvSpPr>
        <p:spPr>
          <a:xfrm>
            <a:off x="7680960" y="2807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8183880" y="2788920"/>
            <a:ext cx="3456432" cy="91440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process_files/</a:t>
            </a:r>
            <a:endParaRPr lang="en-US" sz="1400" dirty="0"/>
          </a:p>
          <a:p>
            <a:pPr indent="0" marL="0">
              <a:spcAft>
                <a:spcPts val="200"/>
              </a:spcAft>
              <a:buNone/>
            </a:pPr>
            <a:r>
              <a:rPr lang="en-US" sz="1200" dirty="0">
                <a:solidFill>
                  <a:srgbClr val="1F1F2E"/>
                </a:solidFill>
                <a:latin typeface="Calibri" pitchFamily="34" charset="0"/>
                <a:ea typeface="Calibri" pitchFamily="34" charset="-122"/>
                <a:cs typeface="Calibri" pitchFamily="34" charset="-120"/>
              </a:rPr>
              <a:t>The instructions. The master file goes to the AI in every run; add one part file for a sectoral run.</a:t>
            </a:r>
            <a:endParaRPr lang="en-US" sz="1400" dirty="0"/>
          </a:p>
        </p:txBody>
      </p:sp>
      <p:sp>
        <p:nvSpPr>
          <p:cNvPr id="12" name="Shape 9"/>
          <p:cNvSpPr/>
          <p:nvPr/>
        </p:nvSpPr>
        <p:spPr>
          <a:xfrm>
            <a:off x="7680960" y="3721608"/>
            <a:ext cx="365760" cy="365760"/>
          </a:xfrm>
          <a:prstGeom prst="ellipse">
            <a:avLst/>
          </a:prstGeom>
          <a:solidFill>
            <a:srgbClr val="E08A1E"/>
          </a:solidFill>
          <a:ln w="12700">
            <a:solidFill>
              <a:srgbClr val="E08A1E"/>
            </a:solidFill>
            <a:prstDash val="solid"/>
          </a:ln>
        </p:spPr>
      </p:sp>
      <p:sp>
        <p:nvSpPr>
          <p:cNvPr id="13" name="Text 10"/>
          <p:cNvSpPr txBox="1"/>
          <p:nvPr/>
        </p:nvSpPr>
        <p:spPr>
          <a:xfrm>
            <a:off x="7680960" y="3721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8183880" y="3703320"/>
            <a:ext cx="3456432" cy="91440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Excise_Diagnostic_CrossCountry.xlsx</a:t>
            </a:r>
            <a:endParaRPr lang="en-US" sz="1400" dirty="0"/>
          </a:p>
          <a:p>
            <a:pPr indent="0" marL="0">
              <a:spcAft>
                <a:spcPts val="200"/>
              </a:spcAft>
              <a:buNone/>
            </a:pPr>
            <a:r>
              <a:rPr lang="en-US" sz="1200" dirty="0">
                <a:solidFill>
                  <a:srgbClr val="1F1F2E"/>
                </a:solidFill>
                <a:latin typeface="Calibri" pitchFamily="34" charset="0"/>
                <a:ea typeface="Calibri" pitchFamily="34" charset="-122"/>
                <a:cs typeface="Calibri" pitchFamily="34" charset="-120"/>
              </a:rPr>
              <a:t>The workbook structure every run fills in, with Sierra Leone, Uganda and Liberia as examples.</a:t>
            </a:r>
            <a:endParaRPr lang="en-US" sz="1400" dirty="0"/>
          </a:p>
        </p:txBody>
      </p:sp>
      <p:sp>
        <p:nvSpPr>
          <p:cNvPr id="15" name="Shape 12"/>
          <p:cNvSpPr/>
          <p:nvPr/>
        </p:nvSpPr>
        <p:spPr>
          <a:xfrm>
            <a:off x="7680960" y="4636008"/>
            <a:ext cx="365760" cy="365760"/>
          </a:xfrm>
          <a:prstGeom prst="ellipse">
            <a:avLst/>
          </a:prstGeom>
          <a:solidFill>
            <a:srgbClr val="E08A1E"/>
          </a:solidFill>
          <a:ln w="12700">
            <a:solidFill>
              <a:srgbClr val="E08A1E"/>
            </a:solidFill>
            <a:prstDash val="solid"/>
          </a:ln>
        </p:spPr>
      </p:sp>
      <p:sp>
        <p:nvSpPr>
          <p:cNvPr id="16" name="Text 13"/>
          <p:cNvSpPr txBox="1"/>
          <p:nvPr/>
        </p:nvSpPr>
        <p:spPr>
          <a:xfrm>
            <a:off x="7680960" y="46360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8183880" y="4617720"/>
            <a:ext cx="3456432" cy="77724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Working paper and country_results/</a:t>
            </a:r>
            <a:endParaRPr lang="en-US" sz="1400" dirty="0"/>
          </a:p>
          <a:p>
            <a:pPr indent="0" marL="0">
              <a:spcAft>
                <a:spcPts val="200"/>
              </a:spcAft>
              <a:buNone/>
            </a:pPr>
            <a:r>
              <a:rPr lang="en-US" sz="1200" dirty="0">
                <a:solidFill>
                  <a:srgbClr val="1F1F2E"/>
                </a:solidFill>
                <a:latin typeface="Calibri" pitchFamily="34" charset="0"/>
                <a:ea typeface="Calibri" pitchFamily="34" charset="-122"/>
                <a:cs typeface="Calibri" pitchFamily="34" charset="-120"/>
              </a:rPr>
              <a:t>The method, a worked example, and finished outputs to copy from.</a:t>
            </a:r>
            <a:endParaRPr lang="en-US" sz="1400" dirty="0"/>
          </a:p>
        </p:txBody>
      </p:sp>
      <p:sp>
        <p:nvSpPr>
          <p:cNvPr id="18" name="Shape 15"/>
          <p:cNvSpPr/>
          <p:nvPr/>
        </p:nvSpPr>
        <p:spPr>
          <a:xfrm>
            <a:off x="7680960" y="5413248"/>
            <a:ext cx="365760" cy="365760"/>
          </a:xfrm>
          <a:prstGeom prst="ellipse">
            <a:avLst/>
          </a:prstGeom>
          <a:solidFill>
            <a:srgbClr val="5C667A"/>
          </a:solidFill>
          <a:ln w="12700">
            <a:solidFill>
              <a:srgbClr val="5C667A"/>
            </a:solidFill>
            <a:prstDash val="solid"/>
          </a:ln>
        </p:spPr>
      </p:sp>
      <p:sp>
        <p:nvSpPr>
          <p:cNvPr id="19" name="Text 16"/>
          <p:cNvSpPr txBox="1"/>
          <p:nvPr/>
        </p:nvSpPr>
        <p:spPr>
          <a:xfrm>
            <a:off x="7680960" y="54132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8183880" y="5394960"/>
            <a:ext cx="3456432" cy="73152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Not needed</a:t>
            </a:r>
            <a:endParaRPr lang="en-US" sz="1400" dirty="0"/>
          </a:p>
          <a:p>
            <a:pPr indent="0" marL="0">
              <a:spcAft>
                <a:spcPts val="200"/>
              </a:spcAft>
              <a:buNone/>
            </a:pPr>
            <a:r>
              <a:rPr lang="en-US" sz="1200" dirty="0">
                <a:solidFill>
                  <a:srgbClr val="1F1F2E"/>
                </a:solidFill>
                <a:latin typeface="Calibri" pitchFamily="34" charset="0"/>
                <a:ea typeface="Calibri" pitchFamily="34" charset="-122"/>
                <a:cs typeface="Calibri" pitchFamily="34" charset="-120"/>
              </a:rPr>
              <a:t>TaxMacroFiscalDashboard/ and the .lnk shortcuts belong to other projects.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STEP 1 · THE FILES</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Download the repository: three ways</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5779008" cy="3564446"/>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github_repo.png">    </p:cNvPr>
          <p:cNvPicPr>
            <a:picLocks noChangeAspect="1"/>
          </p:cNvPicPr>
          <p:nvPr/>
        </p:nvPicPr>
        <p:blipFill>
          <a:blip r:embed="rId1"/>
          <a:stretch>
            <a:fillRect/>
          </a:stretch>
        </p:blipFill>
        <p:spPr>
          <a:xfrm>
            <a:off x="548640" y="1371600"/>
            <a:ext cx="5669280" cy="3454718"/>
          </a:xfrm>
          <a:prstGeom prst="rect">
            <a:avLst/>
          </a:prstGeom>
        </p:spPr>
      </p:pic>
      <p:sp>
        <p:nvSpPr>
          <p:cNvPr id="7" name="Shape 4"/>
          <p:cNvSpPr/>
          <p:nvPr/>
        </p:nvSpPr>
        <p:spPr>
          <a:xfrm>
            <a:off x="548640" y="5047488"/>
            <a:ext cx="365760" cy="365760"/>
          </a:xfrm>
          <a:prstGeom prst="ellipse">
            <a:avLst/>
          </a:prstGeom>
          <a:solidFill>
            <a:srgbClr val="E08A1E"/>
          </a:solidFill>
          <a:ln w="12700">
            <a:solidFill>
              <a:srgbClr val="E08A1E"/>
            </a:solidFill>
            <a:prstDash val="solid"/>
          </a:ln>
        </p:spPr>
      </p:sp>
      <p:sp>
        <p:nvSpPr>
          <p:cNvPr id="8" name="Text 5"/>
          <p:cNvSpPr txBox="1"/>
          <p:nvPr/>
        </p:nvSpPr>
        <p:spPr>
          <a:xfrm>
            <a:off x="548640" y="50474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051560" y="5029200"/>
            <a:ext cx="5166360" cy="109728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Easiest: Download ZIP</a:t>
            </a:r>
            <a:endParaRPr lang="en-US" sz="14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Open the repository page → green Code button → Download ZIP. Right-click the file → Extract All.</a:t>
            </a:r>
            <a:endParaRPr lang="en-US" sz="1400" dirty="0"/>
          </a:p>
        </p:txBody>
      </p:sp>
      <p:sp>
        <p:nvSpPr>
          <p:cNvPr id="10" name="Shape 7"/>
          <p:cNvSpPr/>
          <p:nvPr/>
        </p:nvSpPr>
        <p:spPr>
          <a:xfrm>
            <a:off x="6528816" y="1316736"/>
            <a:ext cx="5138928" cy="3174397"/>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11" name="Image 1" descr="/home/claude/guide/img/terminal_clone.png">    </p:cNvPr>
          <p:cNvPicPr>
            <a:picLocks noChangeAspect="1"/>
          </p:cNvPicPr>
          <p:nvPr/>
        </p:nvPicPr>
        <p:blipFill>
          <a:blip r:embed="rId2"/>
          <a:stretch>
            <a:fillRect/>
          </a:stretch>
        </p:blipFill>
        <p:spPr>
          <a:xfrm>
            <a:off x="6583680" y="1371600"/>
            <a:ext cx="5029200" cy="3064669"/>
          </a:xfrm>
          <a:prstGeom prst="rect">
            <a:avLst/>
          </a:prstGeom>
        </p:spPr>
      </p:pic>
      <p:sp>
        <p:nvSpPr>
          <p:cNvPr id="12" name="Shape 8"/>
          <p:cNvSpPr/>
          <p:nvPr/>
        </p:nvSpPr>
        <p:spPr>
          <a:xfrm>
            <a:off x="6583680" y="4636008"/>
            <a:ext cx="365760" cy="365760"/>
          </a:xfrm>
          <a:prstGeom prst="ellipse">
            <a:avLst/>
          </a:prstGeom>
          <a:solidFill>
            <a:srgbClr val="0F7B6C"/>
          </a:solidFill>
          <a:ln w="12700">
            <a:solidFill>
              <a:srgbClr val="0F7B6C"/>
            </a:solidFill>
            <a:prstDash val="solid"/>
          </a:ln>
        </p:spPr>
      </p:sp>
      <p:sp>
        <p:nvSpPr>
          <p:cNvPr id="13" name="Text 9"/>
          <p:cNvSpPr txBox="1"/>
          <p:nvPr/>
        </p:nvSpPr>
        <p:spPr>
          <a:xfrm>
            <a:off x="6583680" y="46360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0"/>
          <p:cNvSpPr txBox="1"/>
          <p:nvPr/>
        </p:nvSpPr>
        <p:spPr>
          <a:xfrm>
            <a:off x="7086600" y="4617720"/>
            <a:ext cx="4526280" cy="86868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With Git (keeps you up to date)</a:t>
            </a:r>
            <a:endParaRPr lang="en-US" sz="14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Install Git, then run git clone with the address. Later, git pull fetches changes.</a:t>
            </a:r>
            <a:endParaRPr lang="en-US" sz="1400" dirty="0"/>
          </a:p>
        </p:txBody>
      </p:sp>
      <p:sp>
        <p:nvSpPr>
          <p:cNvPr id="15" name="Shape 11"/>
          <p:cNvSpPr/>
          <p:nvPr/>
        </p:nvSpPr>
        <p:spPr>
          <a:xfrm>
            <a:off x="6583680" y="5504688"/>
            <a:ext cx="365760" cy="365760"/>
          </a:xfrm>
          <a:prstGeom prst="ellipse">
            <a:avLst/>
          </a:prstGeom>
          <a:solidFill>
            <a:srgbClr val="0F7B6C"/>
          </a:solidFill>
          <a:ln w="12700">
            <a:solidFill>
              <a:srgbClr val="0F7B6C"/>
            </a:solidFill>
            <a:prstDash val="solid"/>
          </a:ln>
        </p:spPr>
      </p:sp>
      <p:sp>
        <p:nvSpPr>
          <p:cNvPr id="16" name="Text 12"/>
          <p:cNvSpPr txBox="1"/>
          <p:nvPr/>
        </p:nvSpPr>
        <p:spPr>
          <a:xfrm>
            <a:off x="6583680" y="55046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txBox="1"/>
          <p:nvPr/>
        </p:nvSpPr>
        <p:spPr>
          <a:xfrm>
            <a:off x="7086600" y="5486400"/>
            <a:ext cx="4526280" cy="86868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With GitHub Desktop or VS Code</a:t>
            </a:r>
            <a:endParaRPr lang="en-US" sz="14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Code → Open with GitHub Desktop, or in VS Code: Clone Git Repository and paste the address.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STEP 2 · YOUR AI TOOL</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Claude or GitHub Copilot?</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1737360"/>
                <a:gridCol w="2834640"/>
                <a:gridCol w="2926080"/>
              </a:tblGrid>
              <a:tr h="384048">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Claude (claude.ai)</a:t>
                      </a:r>
                      <a:endParaRPr lang="en-US" sz="13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GitHub Copilot (in VS Code)</a:t>
                      </a:r>
                      <a:endParaRPr lang="en-US" sz="13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Economists who want a chat window; no installs</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Users comfortable with a code editor; files stay in the repo folder</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You need</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A Claude account. Pro recommended for full runs; your organization may provide Team or Enterprise</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A GitHub account, a Copilot plan with agent mode and Claude models, VS Code, Python</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r>
              <a:tr h="45720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Files go in</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A Claude Project (upload)</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The repository folder on your computer</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You give the spec by</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Adding it to the project files</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Attaching it in chat (# or drag), or a custom-instructions file</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r>
              <a:tr h="45720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Outputs</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Download buttons for .xlsx and .docx</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Written straight into the folder</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Cost (check current prices)</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Free to try; Pro about USD 20 a month</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Free tier is limited; Pro about USD 10 a month; or an organization seat</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r>
            </a:tbl>
          </a:graphicData>
        </a:graphic>
      </p:graphicFrame>
      <p:pic>
        <p:nvPicPr>
          <p:cNvPr id="6" name="Image 0" descr="/home/claude/guide/img/claude_project.png">    </p:cNvPr>
          <p:cNvPicPr>
            <a:picLocks noChangeAspect="1"/>
          </p:cNvPicPr>
          <p:nvPr/>
        </p:nvPicPr>
        <p:blipFill>
          <a:blip r:embed="rId1"/>
          <a:stretch>
            <a:fillRect/>
          </a:stretch>
        </p:blipFill>
        <p:spPr>
          <a:xfrm>
            <a:off x="8412480" y="1371600"/>
            <a:ext cx="3227832" cy="1966960"/>
          </a:xfrm>
          <a:prstGeom prst="rect">
            <a:avLst/>
          </a:prstGeom>
        </p:spPr>
      </p:pic>
      <p:sp>
        <p:nvSpPr>
          <p:cNvPr id="7" name="Text 3"/>
          <p:cNvSpPr txBox="1"/>
          <p:nvPr/>
        </p:nvSpPr>
        <p:spPr>
          <a:xfrm>
            <a:off x="8412480" y="3401568"/>
            <a:ext cx="3227832" cy="2743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Claude</a:t>
            </a:r>
            <a:endParaRPr lang="en-US" sz="1200" dirty="0"/>
          </a:p>
        </p:txBody>
      </p:sp>
      <p:pic>
        <p:nvPicPr>
          <p:cNvPr id="8" name="Image 1" descr="/home/claude/guide/img/vscode_chat.png">    </p:cNvPr>
          <p:cNvPicPr>
            <a:picLocks noChangeAspect="1"/>
          </p:cNvPicPr>
          <p:nvPr/>
        </p:nvPicPr>
        <p:blipFill>
          <a:blip r:embed="rId2"/>
          <a:stretch>
            <a:fillRect/>
          </a:stretch>
        </p:blipFill>
        <p:spPr>
          <a:xfrm>
            <a:off x="8412480" y="3840480"/>
            <a:ext cx="3227832" cy="1966960"/>
          </a:xfrm>
          <a:prstGeom prst="rect">
            <a:avLst/>
          </a:prstGeom>
        </p:spPr>
      </p:pic>
      <p:sp>
        <p:nvSpPr>
          <p:cNvPr id="9" name="Text 4"/>
          <p:cNvSpPr txBox="1"/>
          <p:nvPr/>
        </p:nvSpPr>
        <p:spPr>
          <a:xfrm>
            <a:off x="8412480" y="5870448"/>
            <a:ext cx="3227832" cy="2743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GitHub Copilot in VS Code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CLAUDE · STEP A</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Create your Claude account</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7150608" cy="4400264"/>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claude_signup.png">    </p:cNvPr>
          <p:cNvPicPr>
            <a:picLocks noChangeAspect="1"/>
          </p:cNvPicPr>
          <p:nvPr/>
        </p:nvPicPr>
        <p:blipFill>
          <a:blip r:embed="rId1"/>
          <a:stretch>
            <a:fillRect/>
          </a:stretch>
        </p:blipFill>
        <p:spPr>
          <a:xfrm>
            <a:off x="548640" y="1371600"/>
            <a:ext cx="7040880" cy="4290536"/>
          </a:xfrm>
          <a:prstGeom prst="rect">
            <a:avLst/>
          </a:prstGeom>
        </p:spPr>
      </p:pic>
      <p:sp>
        <p:nvSpPr>
          <p:cNvPr id="7" name="Shape 4"/>
          <p:cNvSpPr/>
          <p:nvPr/>
        </p:nvSpPr>
        <p:spPr>
          <a:xfrm>
            <a:off x="8001000" y="1389888"/>
            <a:ext cx="365760" cy="365760"/>
          </a:xfrm>
          <a:prstGeom prst="ellipse">
            <a:avLst/>
          </a:prstGeom>
          <a:solidFill>
            <a:srgbClr val="E08A1E"/>
          </a:solidFill>
          <a:ln w="12700">
            <a:solidFill>
              <a:srgbClr val="E08A1E"/>
            </a:solidFill>
            <a:prstDash val="solid"/>
          </a:ln>
        </p:spPr>
      </p:sp>
      <p:sp>
        <p:nvSpPr>
          <p:cNvPr id="8" name="Text 5"/>
          <p:cNvSpPr txBox="1"/>
          <p:nvPr/>
        </p:nvSpPr>
        <p:spPr>
          <a:xfrm>
            <a:off x="8001000" y="1389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8503920" y="1371600"/>
            <a:ext cx="3136392" cy="105156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Go to claude.ai</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In any browser, or install the Claude desktop app. Choose “Continue with Google”...</a:t>
            </a:r>
            <a:endParaRPr lang="en-US" sz="1500" dirty="0"/>
          </a:p>
        </p:txBody>
      </p:sp>
      <p:sp>
        <p:nvSpPr>
          <p:cNvPr id="10" name="Shape 7"/>
          <p:cNvSpPr/>
          <p:nvPr/>
        </p:nvSpPr>
        <p:spPr>
          <a:xfrm>
            <a:off x="8001000" y="2441448"/>
            <a:ext cx="365760" cy="365760"/>
          </a:xfrm>
          <a:prstGeom prst="ellipse">
            <a:avLst/>
          </a:prstGeom>
          <a:solidFill>
            <a:srgbClr val="E08A1E"/>
          </a:solidFill>
          <a:ln w="12700">
            <a:solidFill>
              <a:srgbClr val="E08A1E"/>
            </a:solidFill>
            <a:prstDash val="solid"/>
          </a:ln>
        </p:spPr>
      </p:sp>
      <p:sp>
        <p:nvSpPr>
          <p:cNvPr id="11" name="Text 8"/>
          <p:cNvSpPr txBox="1"/>
          <p:nvPr/>
        </p:nvSpPr>
        <p:spPr>
          <a:xfrm>
            <a:off x="8001000" y="24414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8503920" y="2423160"/>
            <a:ext cx="3136392" cy="132588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...or sign up with email</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Type your email and enter the code or link Claude sends you. Use a work address if your organization requires it.</a:t>
            </a:r>
            <a:endParaRPr lang="en-US" sz="1500" dirty="0"/>
          </a:p>
        </p:txBody>
      </p:sp>
      <p:sp>
        <p:nvSpPr>
          <p:cNvPr id="13" name="Shape 10"/>
          <p:cNvSpPr/>
          <p:nvPr/>
        </p:nvSpPr>
        <p:spPr>
          <a:xfrm>
            <a:off x="8001000" y="3767328"/>
            <a:ext cx="365760" cy="365760"/>
          </a:xfrm>
          <a:prstGeom prst="ellipse">
            <a:avLst/>
          </a:prstGeom>
          <a:solidFill>
            <a:srgbClr val="E08A1E"/>
          </a:solidFill>
          <a:ln w="12700">
            <a:solidFill>
              <a:srgbClr val="E08A1E"/>
            </a:solidFill>
            <a:prstDash val="solid"/>
          </a:ln>
        </p:spPr>
      </p:sp>
      <p:sp>
        <p:nvSpPr>
          <p:cNvPr id="14" name="Text 11"/>
          <p:cNvSpPr txBox="1"/>
          <p:nvPr/>
        </p:nvSpPr>
        <p:spPr>
          <a:xfrm>
            <a:off x="8001000" y="3767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8503920" y="3749040"/>
            <a:ext cx="3136392" cy="132588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Finish the set-up</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Add your name, accept the terms and choose a plan. Free works for a try-out; Pro is better for a full diagnostic.</a:t>
            </a:r>
            <a:endParaRPr lang="en-US" sz="1500" dirty="0"/>
          </a:p>
        </p:txBody>
      </p:sp>
      <p:sp>
        <p:nvSpPr>
          <p:cNvPr id="16" name="Shape 13"/>
          <p:cNvSpPr/>
          <p:nvPr/>
        </p:nvSpPr>
        <p:spPr>
          <a:xfrm>
            <a:off x="8001000" y="5257800"/>
            <a:ext cx="3639312" cy="1005840"/>
          </a:xfrm>
          <a:prstGeom prst="roundRect">
            <a:avLst>
              <a:gd name="adj" fmla="val 7273"/>
            </a:avLst>
          </a:prstGeom>
          <a:solidFill>
            <a:srgbClr val="EAF4F2"/>
          </a:solidFill>
          <a:ln w="9525">
            <a:solidFill>
              <a:srgbClr val="D5DAE3"/>
            </a:solidFill>
            <a:prstDash val="solid"/>
          </a:ln>
        </p:spPr>
      </p:sp>
      <p:sp>
        <p:nvSpPr>
          <p:cNvPr id="17" name="Text 14"/>
          <p:cNvSpPr txBox="1"/>
          <p:nvPr/>
        </p:nvSpPr>
        <p:spPr>
          <a:xfrm>
            <a:off x="8138160" y="5321808"/>
            <a:ext cx="3383280" cy="868680"/>
          </a:xfrm>
          <a:prstGeom prst="rect">
            <a:avLst/>
          </a:prstGeom>
          <a:noFill/>
          <a:ln/>
        </p:spPr>
        <p:txBody>
          <a:bodyPr wrap="square" lIns="0" tIns="0" rIns="0" bIns="0" rtlCol="0" anchor="ctr"/>
          <a:lstStyle/>
          <a:p>
            <a:pPr indent="0" marL="0">
              <a:buNone/>
            </a:pPr>
            <a:r>
              <a:rPr lang="en-US" sz="1250" b="1" dirty="0">
                <a:solidFill>
                  <a:srgbClr val="0F7B6C"/>
                </a:solidFill>
                <a:latin typeface="Calibri" pitchFamily="34" charset="0"/>
                <a:ea typeface="Calibri" pitchFamily="34" charset="-122"/>
                <a:cs typeface="Calibri" pitchFamily="34" charset="-120"/>
              </a:rPr>
              <a:t>Tip: one account is enough for every country and every part.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CLAUDE · STEP B</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Turn on file creation (so Claude can build Excel and Word)</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7150608" cy="4400264"/>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claude_settings.png">    </p:cNvPr>
          <p:cNvPicPr>
            <a:picLocks noChangeAspect="1"/>
          </p:cNvPicPr>
          <p:nvPr/>
        </p:nvPicPr>
        <p:blipFill>
          <a:blip r:embed="rId1"/>
          <a:stretch>
            <a:fillRect/>
          </a:stretch>
        </p:blipFill>
        <p:spPr>
          <a:xfrm>
            <a:off x="548640" y="1371600"/>
            <a:ext cx="7040880" cy="4290536"/>
          </a:xfrm>
          <a:prstGeom prst="rect">
            <a:avLst/>
          </a:prstGeom>
        </p:spPr>
      </p:pic>
      <p:sp>
        <p:nvSpPr>
          <p:cNvPr id="7" name="Shape 4"/>
          <p:cNvSpPr/>
          <p:nvPr/>
        </p:nvSpPr>
        <p:spPr>
          <a:xfrm>
            <a:off x="8001000" y="1389888"/>
            <a:ext cx="365760" cy="365760"/>
          </a:xfrm>
          <a:prstGeom prst="ellipse">
            <a:avLst/>
          </a:prstGeom>
          <a:solidFill>
            <a:srgbClr val="E08A1E"/>
          </a:solidFill>
          <a:ln w="12700">
            <a:solidFill>
              <a:srgbClr val="E08A1E"/>
            </a:solidFill>
            <a:prstDash val="solid"/>
          </a:ln>
        </p:spPr>
      </p:sp>
      <p:sp>
        <p:nvSpPr>
          <p:cNvPr id="8" name="Text 5"/>
          <p:cNvSpPr txBox="1"/>
          <p:nvPr/>
        </p:nvSpPr>
        <p:spPr>
          <a:xfrm>
            <a:off x="8001000" y="1389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8503920" y="1371600"/>
            <a:ext cx="3136392" cy="100584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Open Settings → Capabilities</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Click your name (bottom left) → Settings → Capabilities.</a:t>
            </a:r>
            <a:endParaRPr lang="en-US" sz="1500" dirty="0"/>
          </a:p>
        </p:txBody>
      </p:sp>
      <p:sp>
        <p:nvSpPr>
          <p:cNvPr id="10" name="Shape 7"/>
          <p:cNvSpPr/>
          <p:nvPr/>
        </p:nvSpPr>
        <p:spPr>
          <a:xfrm>
            <a:off x="8001000" y="2395728"/>
            <a:ext cx="365760" cy="365760"/>
          </a:xfrm>
          <a:prstGeom prst="ellipse">
            <a:avLst/>
          </a:prstGeom>
          <a:solidFill>
            <a:srgbClr val="E08A1E"/>
          </a:solidFill>
          <a:ln w="12700">
            <a:solidFill>
              <a:srgbClr val="E08A1E"/>
            </a:solidFill>
            <a:prstDash val="solid"/>
          </a:ln>
        </p:spPr>
      </p:sp>
      <p:sp>
        <p:nvSpPr>
          <p:cNvPr id="11" name="Text 8"/>
          <p:cNvSpPr txBox="1"/>
          <p:nvPr/>
        </p:nvSpPr>
        <p:spPr>
          <a:xfrm>
            <a:off x="8001000" y="23957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8503920" y="2377440"/>
            <a:ext cx="3136392" cy="132588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Switch on “Code execution and file creation”</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This lets Claude write the .xlsx workbook and the .docx report, and run the checks.</a:t>
            </a:r>
            <a:endParaRPr lang="en-US" sz="1500" dirty="0"/>
          </a:p>
        </p:txBody>
      </p:sp>
      <p:sp>
        <p:nvSpPr>
          <p:cNvPr id="13" name="Shape 10"/>
          <p:cNvSpPr/>
          <p:nvPr/>
        </p:nvSpPr>
        <p:spPr>
          <a:xfrm>
            <a:off x="8001000" y="3721608"/>
            <a:ext cx="365760" cy="365760"/>
          </a:xfrm>
          <a:prstGeom prst="ellipse">
            <a:avLst/>
          </a:prstGeom>
          <a:solidFill>
            <a:srgbClr val="E08A1E"/>
          </a:solidFill>
          <a:ln w="12700">
            <a:solidFill>
              <a:srgbClr val="E08A1E"/>
            </a:solidFill>
            <a:prstDash val="solid"/>
          </a:ln>
        </p:spPr>
      </p:sp>
      <p:sp>
        <p:nvSpPr>
          <p:cNvPr id="14" name="Text 11"/>
          <p:cNvSpPr txBox="1"/>
          <p:nvPr/>
        </p:nvSpPr>
        <p:spPr>
          <a:xfrm>
            <a:off x="8001000" y="3721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8503920" y="3703320"/>
            <a:ext cx="3136392" cy="118872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Team or Enterprise?</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An admin turns it on in Organization settings → Capabilities. Ask your IT contact.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CLAUDE · STEP C</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Create a project and add the files</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7150608" cy="4400264"/>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claude_project.png">    </p:cNvPr>
          <p:cNvPicPr>
            <a:picLocks noChangeAspect="1"/>
          </p:cNvPicPr>
          <p:nvPr/>
        </p:nvPicPr>
        <p:blipFill>
          <a:blip r:embed="rId1"/>
          <a:stretch>
            <a:fillRect/>
          </a:stretch>
        </p:blipFill>
        <p:spPr>
          <a:xfrm>
            <a:off x="548640" y="1371600"/>
            <a:ext cx="7040880" cy="4290536"/>
          </a:xfrm>
          <a:prstGeom prst="rect">
            <a:avLst/>
          </a:prstGeom>
        </p:spPr>
      </p:pic>
      <p:sp>
        <p:nvSpPr>
          <p:cNvPr id="7" name="Shape 4"/>
          <p:cNvSpPr/>
          <p:nvPr/>
        </p:nvSpPr>
        <p:spPr>
          <a:xfrm>
            <a:off x="8001000" y="1389888"/>
            <a:ext cx="365760" cy="365760"/>
          </a:xfrm>
          <a:prstGeom prst="ellipse">
            <a:avLst/>
          </a:prstGeom>
          <a:solidFill>
            <a:srgbClr val="E08A1E"/>
          </a:solidFill>
          <a:ln w="12700">
            <a:solidFill>
              <a:srgbClr val="E08A1E"/>
            </a:solidFill>
            <a:prstDash val="solid"/>
          </a:ln>
        </p:spPr>
      </p:sp>
      <p:sp>
        <p:nvSpPr>
          <p:cNvPr id="8" name="Text 5"/>
          <p:cNvSpPr txBox="1"/>
          <p:nvPr/>
        </p:nvSpPr>
        <p:spPr>
          <a:xfrm>
            <a:off x="8001000" y="1389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8503920" y="1371600"/>
            <a:ext cx="3136392" cy="114300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Projects → + New project</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Name it, e.g. “Excise Diagnostic: Sierra Leone – Part 3”. One project per country (or per part).</a:t>
            </a:r>
            <a:endParaRPr lang="en-US" sz="1500" dirty="0"/>
          </a:p>
        </p:txBody>
      </p:sp>
      <p:sp>
        <p:nvSpPr>
          <p:cNvPr id="10" name="Shape 7"/>
          <p:cNvSpPr/>
          <p:nvPr/>
        </p:nvSpPr>
        <p:spPr>
          <a:xfrm>
            <a:off x="8001000" y="2532888"/>
            <a:ext cx="365760" cy="365760"/>
          </a:xfrm>
          <a:prstGeom prst="ellipse">
            <a:avLst/>
          </a:prstGeom>
          <a:solidFill>
            <a:srgbClr val="E08A1E"/>
          </a:solidFill>
          <a:ln w="12700">
            <a:solidFill>
              <a:srgbClr val="E08A1E"/>
            </a:solidFill>
            <a:prstDash val="solid"/>
          </a:ln>
        </p:spPr>
      </p:sp>
      <p:sp>
        <p:nvSpPr>
          <p:cNvPr id="11" name="Text 8"/>
          <p:cNvSpPr txBox="1"/>
          <p:nvPr/>
        </p:nvSpPr>
        <p:spPr>
          <a:xfrm>
            <a:off x="8001000" y="2532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8503920" y="2514600"/>
            <a:ext cx="3136392" cy="91440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Paste the instructions</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Use the text in the box below. It keeps every chat on the master process.</a:t>
            </a:r>
            <a:endParaRPr lang="en-US" sz="1500" dirty="0"/>
          </a:p>
        </p:txBody>
      </p:sp>
      <p:sp>
        <p:nvSpPr>
          <p:cNvPr id="13" name="Shape 10"/>
          <p:cNvSpPr/>
          <p:nvPr/>
        </p:nvSpPr>
        <p:spPr>
          <a:xfrm>
            <a:off x="8001000" y="3447288"/>
            <a:ext cx="365760" cy="365760"/>
          </a:xfrm>
          <a:prstGeom prst="ellipse">
            <a:avLst/>
          </a:prstGeom>
          <a:solidFill>
            <a:srgbClr val="E08A1E"/>
          </a:solidFill>
          <a:ln w="12700">
            <a:solidFill>
              <a:srgbClr val="E08A1E"/>
            </a:solidFill>
            <a:prstDash val="solid"/>
          </a:ln>
        </p:spPr>
      </p:sp>
      <p:sp>
        <p:nvSpPr>
          <p:cNvPr id="14" name="Text 11"/>
          <p:cNvSpPr txBox="1"/>
          <p:nvPr/>
        </p:nvSpPr>
        <p:spPr>
          <a:xfrm>
            <a:off x="8001000" y="34472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8503920" y="3429000"/>
            <a:ext cx="3136392" cy="109728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Add the files</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Master process file, the part file (sectoral run), the workbook, and your legal texts.</a:t>
            </a:r>
            <a:endParaRPr lang="en-US" sz="1500" dirty="0"/>
          </a:p>
        </p:txBody>
      </p:sp>
      <p:sp>
        <p:nvSpPr>
          <p:cNvPr id="16" name="Shape 13"/>
          <p:cNvSpPr/>
          <p:nvPr/>
        </p:nvSpPr>
        <p:spPr>
          <a:xfrm>
            <a:off x="8001000" y="4617720"/>
            <a:ext cx="3639312" cy="1143000"/>
          </a:xfrm>
          <a:prstGeom prst="roundRect">
            <a:avLst>
              <a:gd name="adj" fmla="val 4800"/>
            </a:avLst>
          </a:prstGeom>
          <a:solidFill>
            <a:srgbClr val="1E1E1E"/>
          </a:solidFill>
          <a:ln w="12700">
            <a:solidFill>
              <a:srgbClr val="1E1E1E"/>
            </a:solidFill>
            <a:prstDash val="solid"/>
          </a:ln>
        </p:spPr>
      </p:sp>
      <p:sp>
        <p:nvSpPr>
          <p:cNvPr id="17" name="Text 14"/>
          <p:cNvSpPr txBox="1"/>
          <p:nvPr/>
        </p:nvSpPr>
        <p:spPr>
          <a:xfrm>
            <a:off x="8138160" y="4709160"/>
            <a:ext cx="3364992" cy="960120"/>
          </a:xfrm>
          <a:prstGeom prst="rect">
            <a:avLst/>
          </a:prstGeom>
          <a:noFill/>
          <a:ln/>
        </p:spPr>
        <p:txBody>
          <a:bodyPr wrap="square" lIns="0" tIns="0" rIns="0" bIns="0" rtlCol="0" anchor="t"/>
          <a:lstStyle/>
          <a:p>
            <a:pPr indent="0" marL="0">
              <a:buNone/>
            </a:pPr>
            <a:r>
              <a:rPr lang="en-US" sz="1000" dirty="0">
                <a:solidFill>
                  <a:srgbClr val="E6E6E6"/>
                </a:solidFill>
                <a:latin typeface="Courier New" pitchFamily="34" charset="0"/>
                <a:ea typeface="Courier New" pitchFamily="34" charset="-122"/>
                <a:cs typeface="Courier New" pitchFamily="34" charset="-120"/>
              </a:rPr>
              <a:t>Project instructions (copy):</a:t>
            </a:r>
            <a:endParaRPr lang="en-US" sz="1000" dirty="0"/>
          </a:p>
          <a:p>
            <a:pPr indent="0" marL="0">
              <a:buNone/>
            </a:pPr>
            <a:r>
              <a:rPr lang="en-US" sz="1000" dirty="0">
                <a:solidFill>
                  <a:srgbClr val="E6E6E6"/>
                </a:solidFill>
                <a:latin typeface="Courier New" pitchFamily="34" charset="0"/>
                <a:ea typeface="Courier New" pitchFamily="34" charset="-122"/>
                <a:cs typeface="Courier New" pitchFamily="34" charset="-120"/>
              </a:rPr>
              <a:t>Follow excise_diagnostic_process.md (master)</a:t>
            </a:r>
            <a:endParaRPr lang="en-US" sz="1000" dirty="0"/>
          </a:p>
          <a:p>
            <a:pPr indent="0" marL="0">
              <a:buNone/>
            </a:pPr>
            <a:r>
              <a:rPr lang="en-US" sz="1000" dirty="0">
                <a:solidFill>
                  <a:srgbClr val="E6E6E6"/>
                </a:solidFill>
                <a:latin typeface="Courier New" pitchFamily="34" charset="0"/>
                <a:ea typeface="Courier New" pitchFamily="34" charset="-122"/>
                <a:cs typeface="Courier New" pitchFamily="34" charset="-120"/>
              </a:rPr>
              <a:t>and the part file. One stage per message.</a:t>
            </a:r>
            <a:endParaRPr lang="en-US" sz="1000" dirty="0"/>
          </a:p>
          <a:p>
            <a:pPr indent="0" marL="0">
              <a:buNone/>
            </a:pPr>
            <a:r>
              <a:rPr lang="en-US" sz="1000" dirty="0">
                <a:solidFill>
                  <a:srgbClr val="E6E6E6"/>
                </a:solidFill>
                <a:latin typeface="Courier New" pitchFamily="34" charset="0"/>
                <a:ea typeface="Courier New" pitchFamily="34" charset="-122"/>
                <a:cs typeface="Courier New" pitchFamily="34" charset="-120"/>
              </a:rPr>
              <a:t>Quote rates as printed. Never fill gaps</a:t>
            </a:r>
            <a:endParaRPr lang="en-US" sz="1000" dirty="0"/>
          </a:p>
          <a:p>
            <a:pPr indent="0" marL="0">
              <a:buNone/>
            </a:pPr>
            <a:r>
              <a:rPr lang="en-US" sz="1000" dirty="0">
                <a:solidFill>
                  <a:srgbClr val="E6E6E6"/>
                </a:solidFill>
                <a:latin typeface="Courier New" pitchFamily="34" charset="0"/>
                <a:ea typeface="Courier New" pitchFamily="34" charset="-122"/>
                <a:cs typeface="Courier New" pitchFamily="34" charset="-120"/>
              </a:rPr>
              <a:t>from memory: run the data step instead.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CLAUDE · STEP D</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Run each stage, then download the outputs</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7150608" cy="4400264"/>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claude_chat.png">    </p:cNvPr>
          <p:cNvPicPr>
            <a:picLocks noChangeAspect="1"/>
          </p:cNvPicPr>
          <p:nvPr/>
        </p:nvPicPr>
        <p:blipFill>
          <a:blip r:embed="rId1"/>
          <a:stretch>
            <a:fillRect/>
          </a:stretch>
        </p:blipFill>
        <p:spPr>
          <a:xfrm>
            <a:off x="548640" y="1371600"/>
            <a:ext cx="7040880" cy="4290536"/>
          </a:xfrm>
          <a:prstGeom prst="rect">
            <a:avLst/>
          </a:prstGeom>
        </p:spPr>
      </p:pic>
      <p:sp>
        <p:nvSpPr>
          <p:cNvPr id="7" name="Shape 4"/>
          <p:cNvSpPr/>
          <p:nvPr/>
        </p:nvSpPr>
        <p:spPr>
          <a:xfrm>
            <a:off x="8001000" y="1389888"/>
            <a:ext cx="365760" cy="365760"/>
          </a:xfrm>
          <a:prstGeom prst="ellipse">
            <a:avLst/>
          </a:prstGeom>
          <a:solidFill>
            <a:srgbClr val="E08A1E"/>
          </a:solidFill>
          <a:ln w="12700">
            <a:solidFill>
              <a:srgbClr val="E08A1E"/>
            </a:solidFill>
            <a:prstDash val="solid"/>
          </a:ln>
        </p:spPr>
      </p:sp>
      <p:sp>
        <p:nvSpPr>
          <p:cNvPr id="8" name="Text 5"/>
          <p:cNvSpPr txBox="1"/>
          <p:nvPr/>
        </p:nvSpPr>
        <p:spPr>
          <a:xfrm>
            <a:off x="8001000" y="1389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8503920" y="1371600"/>
            <a:ext cx="3136392" cy="114300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Paste one stage prompt</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Copy it from the master or part file (section 9 or 10). Add new source files with the paperclip.</a:t>
            </a:r>
            <a:endParaRPr lang="en-US" sz="1500" dirty="0"/>
          </a:p>
        </p:txBody>
      </p:sp>
      <p:sp>
        <p:nvSpPr>
          <p:cNvPr id="10" name="Shape 7"/>
          <p:cNvSpPr/>
          <p:nvPr/>
        </p:nvSpPr>
        <p:spPr>
          <a:xfrm>
            <a:off x="8001000" y="2532888"/>
            <a:ext cx="365760" cy="365760"/>
          </a:xfrm>
          <a:prstGeom prst="ellipse">
            <a:avLst/>
          </a:prstGeom>
          <a:solidFill>
            <a:srgbClr val="E08A1E"/>
          </a:solidFill>
          <a:ln w="12700">
            <a:solidFill>
              <a:srgbClr val="E08A1E"/>
            </a:solidFill>
            <a:prstDash val="solid"/>
          </a:ln>
        </p:spPr>
      </p:sp>
      <p:sp>
        <p:nvSpPr>
          <p:cNvPr id="11" name="Text 8"/>
          <p:cNvSpPr txBox="1"/>
          <p:nvPr/>
        </p:nvSpPr>
        <p:spPr>
          <a:xfrm>
            <a:off x="8001000" y="2532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8503920" y="2514600"/>
            <a:ext cx="3136392" cy="128016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Check, then download</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Read the answer. Click Download on the .xlsx and .docx cards. Save them in country_results/&lt;country&gt;/&lt;part&gt;.</a:t>
            </a:r>
            <a:endParaRPr lang="en-US" sz="1500" dirty="0"/>
          </a:p>
        </p:txBody>
      </p:sp>
      <p:sp>
        <p:nvSpPr>
          <p:cNvPr id="13" name="Shape 10"/>
          <p:cNvSpPr/>
          <p:nvPr/>
        </p:nvSpPr>
        <p:spPr>
          <a:xfrm>
            <a:off x="8001000" y="3813048"/>
            <a:ext cx="365760" cy="365760"/>
          </a:xfrm>
          <a:prstGeom prst="ellipse">
            <a:avLst/>
          </a:prstGeom>
          <a:solidFill>
            <a:srgbClr val="E08A1E"/>
          </a:solidFill>
          <a:ln w="12700">
            <a:solidFill>
              <a:srgbClr val="E08A1E"/>
            </a:solidFill>
            <a:prstDash val="solid"/>
          </a:ln>
        </p:spPr>
      </p:sp>
      <p:sp>
        <p:nvSpPr>
          <p:cNvPr id="14" name="Text 11"/>
          <p:cNvSpPr txBox="1"/>
          <p:nvPr/>
        </p:nvSpPr>
        <p:spPr>
          <a:xfrm>
            <a:off x="8001000" y="3813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8503920" y="3794760"/>
            <a:ext cx="3136392" cy="132588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Carry on</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Reply with the next prompt. If the chat gets long, start a new chat in the same project and upload the latest workbook.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GITHUB COPILOT · STEP A</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Create a GitHub account and get Copilot</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7150608" cy="4400264"/>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github_copilot.png">    </p:cNvPr>
          <p:cNvPicPr>
            <a:picLocks noChangeAspect="1"/>
          </p:cNvPicPr>
          <p:nvPr/>
        </p:nvPicPr>
        <p:blipFill>
          <a:blip r:embed="rId1"/>
          <a:stretch>
            <a:fillRect/>
          </a:stretch>
        </p:blipFill>
        <p:spPr>
          <a:xfrm>
            <a:off x="548640" y="1371600"/>
            <a:ext cx="7040880" cy="4290536"/>
          </a:xfrm>
          <a:prstGeom prst="rect">
            <a:avLst/>
          </a:prstGeom>
        </p:spPr>
      </p:pic>
      <p:sp>
        <p:nvSpPr>
          <p:cNvPr id="7" name="Shape 4"/>
          <p:cNvSpPr/>
          <p:nvPr/>
        </p:nvSpPr>
        <p:spPr>
          <a:xfrm>
            <a:off x="8001000" y="1389888"/>
            <a:ext cx="365760" cy="365760"/>
          </a:xfrm>
          <a:prstGeom prst="ellipse">
            <a:avLst/>
          </a:prstGeom>
          <a:solidFill>
            <a:srgbClr val="E08A1E"/>
          </a:solidFill>
          <a:ln w="12700">
            <a:solidFill>
              <a:srgbClr val="E08A1E"/>
            </a:solidFill>
            <a:prstDash val="solid"/>
          </a:ln>
        </p:spPr>
      </p:sp>
      <p:sp>
        <p:nvSpPr>
          <p:cNvPr id="8" name="Text 5"/>
          <p:cNvSpPr txBox="1"/>
          <p:nvPr/>
        </p:nvSpPr>
        <p:spPr>
          <a:xfrm>
            <a:off x="8001000" y="1389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8503920" y="1371600"/>
            <a:ext cx="3136392" cy="100584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Sign up at github.com</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Username, email and password; confirm the code sent to your email. Free.</a:t>
            </a:r>
            <a:endParaRPr lang="en-US" sz="1500" dirty="0"/>
          </a:p>
        </p:txBody>
      </p:sp>
      <p:sp>
        <p:nvSpPr>
          <p:cNvPr id="10" name="Shape 7"/>
          <p:cNvSpPr/>
          <p:nvPr/>
        </p:nvSpPr>
        <p:spPr>
          <a:xfrm>
            <a:off x="8001000" y="2395728"/>
            <a:ext cx="365760" cy="365760"/>
          </a:xfrm>
          <a:prstGeom prst="ellipse">
            <a:avLst/>
          </a:prstGeom>
          <a:solidFill>
            <a:srgbClr val="E08A1E"/>
          </a:solidFill>
          <a:ln w="12700">
            <a:solidFill>
              <a:srgbClr val="E08A1E"/>
            </a:solidFill>
            <a:prstDash val="solid"/>
          </a:ln>
        </p:spPr>
      </p:sp>
      <p:sp>
        <p:nvSpPr>
          <p:cNvPr id="11" name="Text 8"/>
          <p:cNvSpPr txBox="1"/>
          <p:nvPr/>
        </p:nvSpPr>
        <p:spPr>
          <a:xfrm>
            <a:off x="8001000" y="23957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8503920" y="2377440"/>
            <a:ext cx="3136392" cy="146304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Settings → Copilot</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Start Copilot Free to try, or a paid plan. Agent mode and Claude models need a plan that includes them; check GitHub’s plan page.</a:t>
            </a:r>
            <a:endParaRPr lang="en-US" sz="1500" dirty="0"/>
          </a:p>
        </p:txBody>
      </p:sp>
      <p:sp>
        <p:nvSpPr>
          <p:cNvPr id="13" name="Shape 10"/>
          <p:cNvSpPr/>
          <p:nvPr/>
        </p:nvSpPr>
        <p:spPr>
          <a:xfrm>
            <a:off x="8001000" y="3858768"/>
            <a:ext cx="365760" cy="365760"/>
          </a:xfrm>
          <a:prstGeom prst="ellipse">
            <a:avLst/>
          </a:prstGeom>
          <a:solidFill>
            <a:srgbClr val="E08A1E"/>
          </a:solidFill>
          <a:ln w="12700">
            <a:solidFill>
              <a:srgbClr val="E08A1E"/>
            </a:solidFill>
            <a:prstDash val="solid"/>
          </a:ln>
        </p:spPr>
      </p:sp>
      <p:sp>
        <p:nvSpPr>
          <p:cNvPr id="14" name="Text 11"/>
          <p:cNvSpPr txBox="1"/>
          <p:nvPr/>
        </p:nvSpPr>
        <p:spPr>
          <a:xfrm>
            <a:off x="800100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8503920" y="3840480"/>
            <a:ext cx="3136392" cy="132588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Organization seat?</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If your organization licenses Copilot, it appears here. Make sure Claude models are enabled in the Copilot model settings.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GITHUB COPILOT · STEP B</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Install VS Code, open the repository, sign in</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7150608" cy="4400264"/>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vscode_open.png">    </p:cNvPr>
          <p:cNvPicPr>
            <a:picLocks noChangeAspect="1"/>
          </p:cNvPicPr>
          <p:nvPr/>
        </p:nvPicPr>
        <p:blipFill>
          <a:blip r:embed="rId1"/>
          <a:stretch>
            <a:fillRect/>
          </a:stretch>
        </p:blipFill>
        <p:spPr>
          <a:xfrm>
            <a:off x="548640" y="1371600"/>
            <a:ext cx="7040880" cy="4290536"/>
          </a:xfrm>
          <a:prstGeom prst="rect">
            <a:avLst/>
          </a:prstGeom>
        </p:spPr>
      </p:pic>
      <p:sp>
        <p:nvSpPr>
          <p:cNvPr id="7" name="Shape 4"/>
          <p:cNvSpPr/>
          <p:nvPr/>
        </p:nvSpPr>
        <p:spPr>
          <a:xfrm>
            <a:off x="8001000" y="1389888"/>
            <a:ext cx="365760" cy="365760"/>
          </a:xfrm>
          <a:prstGeom prst="ellipse">
            <a:avLst/>
          </a:prstGeom>
          <a:solidFill>
            <a:srgbClr val="E08A1E"/>
          </a:solidFill>
          <a:ln w="12700">
            <a:solidFill>
              <a:srgbClr val="E08A1E"/>
            </a:solidFill>
            <a:prstDash val="solid"/>
          </a:ln>
        </p:spPr>
      </p:sp>
      <p:sp>
        <p:nvSpPr>
          <p:cNvPr id="8" name="Text 5"/>
          <p:cNvSpPr txBox="1"/>
          <p:nvPr/>
        </p:nvSpPr>
        <p:spPr>
          <a:xfrm>
            <a:off x="8001000" y="1389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8503920" y="1371600"/>
            <a:ext cx="3136392" cy="118872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Install VS Code and Python</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Free from code.visualstudio.com and python.org. Python lets Copilot build the Excel and Word files.</a:t>
            </a:r>
            <a:endParaRPr lang="en-US" sz="1500" dirty="0"/>
          </a:p>
        </p:txBody>
      </p:sp>
      <p:sp>
        <p:nvSpPr>
          <p:cNvPr id="10" name="Shape 7"/>
          <p:cNvSpPr/>
          <p:nvPr/>
        </p:nvSpPr>
        <p:spPr>
          <a:xfrm>
            <a:off x="8001000" y="2578608"/>
            <a:ext cx="365760" cy="365760"/>
          </a:xfrm>
          <a:prstGeom prst="ellipse">
            <a:avLst/>
          </a:prstGeom>
          <a:solidFill>
            <a:srgbClr val="E08A1E"/>
          </a:solidFill>
          <a:ln w="12700">
            <a:solidFill>
              <a:srgbClr val="E08A1E"/>
            </a:solidFill>
            <a:prstDash val="solid"/>
          </a:ln>
        </p:spPr>
      </p:sp>
      <p:sp>
        <p:nvSpPr>
          <p:cNvPr id="11" name="Text 8"/>
          <p:cNvSpPr txBox="1"/>
          <p:nvPr/>
        </p:nvSpPr>
        <p:spPr>
          <a:xfrm>
            <a:off x="8001000" y="2578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8503920" y="2560320"/>
            <a:ext cx="3136392" cy="141732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Open the folder and sign in</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File → Open Folder → new-ai-tools. Click the Copilot icon in the status bar → Use AI Features → sign in with GitHub.</a:t>
            </a:r>
            <a:endParaRPr lang="en-US" sz="1500" dirty="0"/>
          </a:p>
        </p:txBody>
      </p:sp>
      <p:sp>
        <p:nvSpPr>
          <p:cNvPr id="13" name="Shape 10"/>
          <p:cNvSpPr/>
          <p:nvPr/>
        </p:nvSpPr>
        <p:spPr>
          <a:xfrm>
            <a:off x="8001000" y="3995928"/>
            <a:ext cx="365760" cy="365760"/>
          </a:xfrm>
          <a:prstGeom prst="ellipse">
            <a:avLst/>
          </a:prstGeom>
          <a:solidFill>
            <a:srgbClr val="E08A1E"/>
          </a:solidFill>
          <a:ln w="12700">
            <a:solidFill>
              <a:srgbClr val="E08A1E"/>
            </a:solidFill>
            <a:prstDash val="solid"/>
          </a:ln>
        </p:spPr>
      </p:sp>
      <p:sp>
        <p:nvSpPr>
          <p:cNvPr id="14" name="Text 11"/>
          <p:cNvSpPr txBox="1"/>
          <p:nvPr/>
        </p:nvSpPr>
        <p:spPr>
          <a:xfrm>
            <a:off x="800100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8503920" y="3977640"/>
            <a:ext cx="3136392" cy="100584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Open the Chat view</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Chat icon at the top, or Ctrl+Alt+I (Windows) / Ctrl+Cmd+I (Mac).</a:t>
            </a:r>
            <a:endParaRPr lang="en-US" sz="1500" dirty="0"/>
          </a:p>
        </p:txBody>
      </p:sp>
      <p:sp>
        <p:nvSpPr>
          <p:cNvPr id="16" name="Shape 13"/>
          <p:cNvSpPr/>
          <p:nvPr/>
        </p:nvSpPr>
        <p:spPr>
          <a:xfrm>
            <a:off x="8001000" y="5120640"/>
            <a:ext cx="3639312" cy="777240"/>
          </a:xfrm>
          <a:prstGeom prst="roundRect">
            <a:avLst>
              <a:gd name="adj" fmla="val 7059"/>
            </a:avLst>
          </a:prstGeom>
          <a:solidFill>
            <a:srgbClr val="1E1E1E"/>
          </a:solidFill>
          <a:ln w="12700">
            <a:solidFill>
              <a:srgbClr val="1E1E1E"/>
            </a:solidFill>
            <a:prstDash val="solid"/>
          </a:ln>
        </p:spPr>
      </p:sp>
      <p:sp>
        <p:nvSpPr>
          <p:cNvPr id="17" name="Text 14"/>
          <p:cNvSpPr txBox="1"/>
          <p:nvPr/>
        </p:nvSpPr>
        <p:spPr>
          <a:xfrm>
            <a:off x="8138160" y="5212080"/>
            <a:ext cx="3364992" cy="594360"/>
          </a:xfrm>
          <a:prstGeom prst="rect">
            <a:avLst/>
          </a:prstGeom>
          <a:noFill/>
          <a:ln/>
        </p:spPr>
        <p:txBody>
          <a:bodyPr wrap="square" lIns="0" tIns="0" rIns="0" bIns="0" rtlCol="0" anchor="t"/>
          <a:lstStyle/>
          <a:p>
            <a:pPr indent="0" marL="0">
              <a:buNone/>
            </a:pPr>
            <a:r>
              <a:rPr lang="en-US" sz="1050" dirty="0">
                <a:solidFill>
                  <a:srgbClr val="E6E6E6"/>
                </a:solidFill>
                <a:latin typeface="Courier New" pitchFamily="34" charset="0"/>
                <a:ea typeface="Courier New" pitchFamily="34" charset="-122"/>
                <a:cs typeface="Courier New" pitchFamily="34" charset="-120"/>
              </a:rPr>
              <a:t>Terminal (once):</a:t>
            </a:r>
            <a:endParaRPr lang="en-US" sz="1050" dirty="0"/>
          </a:p>
          <a:p>
            <a:pPr indent="0" marL="0">
              <a:buNone/>
            </a:pPr>
            <a:r>
              <a:rPr lang="en-US" sz="1050" dirty="0">
                <a:solidFill>
                  <a:srgbClr val="E6E6E6"/>
                </a:solidFill>
                <a:latin typeface="Courier New" pitchFamily="34" charset="0"/>
                <a:ea typeface="Courier New" pitchFamily="34" charset="-122"/>
                <a:cs typeface="Courier New" pitchFamily="34" charset="-120"/>
              </a:rPr>
              <a:t>pip install openpyxl python-docx</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GITHUB COPILOT · STEP C</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Agent mode, a Claude model, your files, the prompt</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7150608" cy="4400264"/>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vscode_chat.png">    </p:cNvPr>
          <p:cNvPicPr>
            <a:picLocks noChangeAspect="1"/>
          </p:cNvPicPr>
          <p:nvPr/>
        </p:nvPicPr>
        <p:blipFill>
          <a:blip r:embed="rId1"/>
          <a:stretch>
            <a:fillRect/>
          </a:stretch>
        </p:blipFill>
        <p:spPr>
          <a:xfrm>
            <a:off x="548640" y="1371600"/>
            <a:ext cx="7040880" cy="4290536"/>
          </a:xfrm>
          <a:prstGeom prst="rect">
            <a:avLst/>
          </a:prstGeom>
        </p:spPr>
      </p:pic>
      <p:sp>
        <p:nvSpPr>
          <p:cNvPr id="7" name="Shape 4"/>
          <p:cNvSpPr/>
          <p:nvPr/>
        </p:nvSpPr>
        <p:spPr>
          <a:xfrm>
            <a:off x="8001000" y="1389888"/>
            <a:ext cx="365760" cy="365760"/>
          </a:xfrm>
          <a:prstGeom prst="ellipse">
            <a:avLst/>
          </a:prstGeom>
          <a:solidFill>
            <a:srgbClr val="E08A1E"/>
          </a:solidFill>
          <a:ln w="12700">
            <a:solidFill>
              <a:srgbClr val="E08A1E"/>
            </a:solidFill>
            <a:prstDash val="solid"/>
          </a:ln>
        </p:spPr>
      </p:sp>
      <p:sp>
        <p:nvSpPr>
          <p:cNvPr id="8" name="Text 5"/>
          <p:cNvSpPr txBox="1"/>
          <p:nvPr/>
        </p:nvSpPr>
        <p:spPr>
          <a:xfrm>
            <a:off x="8001000" y="1389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8503920" y="1371600"/>
            <a:ext cx="3136392" cy="109728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Choose Agent and a Claude model</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Use the two drop-downs under the chat box. Agent mode can create and edit files.</a:t>
            </a:r>
            <a:endParaRPr lang="en-US" sz="1500" dirty="0"/>
          </a:p>
        </p:txBody>
      </p:sp>
      <p:sp>
        <p:nvSpPr>
          <p:cNvPr id="10" name="Shape 7"/>
          <p:cNvSpPr/>
          <p:nvPr/>
        </p:nvSpPr>
        <p:spPr>
          <a:xfrm>
            <a:off x="8001000" y="2487168"/>
            <a:ext cx="365760" cy="365760"/>
          </a:xfrm>
          <a:prstGeom prst="ellipse">
            <a:avLst/>
          </a:prstGeom>
          <a:solidFill>
            <a:srgbClr val="E08A1E"/>
          </a:solidFill>
          <a:ln w="12700">
            <a:solidFill>
              <a:srgbClr val="E08A1E"/>
            </a:solidFill>
            <a:prstDash val="solid"/>
          </a:ln>
        </p:spPr>
      </p:sp>
      <p:sp>
        <p:nvSpPr>
          <p:cNvPr id="11" name="Text 8"/>
          <p:cNvSpPr txBox="1"/>
          <p:nvPr/>
        </p:nvSpPr>
        <p:spPr>
          <a:xfrm>
            <a:off x="8001000" y="2487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8503920" y="2468880"/>
            <a:ext cx="3136392" cy="91440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Attach the process files</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Drag them in, or type # and pick them: master + part file.</a:t>
            </a:r>
            <a:endParaRPr lang="en-US" sz="1500" dirty="0"/>
          </a:p>
        </p:txBody>
      </p:sp>
      <p:sp>
        <p:nvSpPr>
          <p:cNvPr id="13" name="Shape 10"/>
          <p:cNvSpPr/>
          <p:nvPr/>
        </p:nvSpPr>
        <p:spPr>
          <a:xfrm>
            <a:off x="8001000" y="3401568"/>
            <a:ext cx="365760" cy="365760"/>
          </a:xfrm>
          <a:prstGeom prst="ellipse">
            <a:avLst/>
          </a:prstGeom>
          <a:solidFill>
            <a:srgbClr val="E08A1E"/>
          </a:solidFill>
          <a:ln w="12700">
            <a:solidFill>
              <a:srgbClr val="E08A1E"/>
            </a:solidFill>
            <a:prstDash val="solid"/>
          </a:ln>
        </p:spPr>
      </p:sp>
      <p:sp>
        <p:nvSpPr>
          <p:cNvPr id="14" name="Text 11"/>
          <p:cNvSpPr txBox="1"/>
          <p:nvPr/>
        </p:nvSpPr>
        <p:spPr>
          <a:xfrm>
            <a:off x="8001000" y="34015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8503920" y="3383280"/>
            <a:ext cx="3136392" cy="1097280"/>
          </a:xfrm>
          <a:prstGeom prst="rect">
            <a:avLst/>
          </a:prstGeom>
          <a:noFill/>
          <a:ln/>
        </p:spPr>
        <p:txBody>
          <a:bodyPr wrap="square" lIns="0" tIns="0" rIns="0" bIns="0" rtlCol="0" anchor="t"/>
          <a:lstStyle/>
          <a:p>
            <a:pPr indent="0" marL="0">
              <a:spcAft>
                <a:spcPts val="200"/>
              </a:spcAft>
              <a:buNone/>
            </a:pPr>
            <a:r>
              <a:rPr lang="en-US" sz="1500" b="1" dirty="0">
                <a:solidFill>
                  <a:srgbClr val="1E2761"/>
                </a:solidFill>
                <a:latin typeface="Calibri" pitchFamily="34" charset="0"/>
                <a:ea typeface="Calibri" pitchFamily="34" charset="-122"/>
                <a:cs typeface="Calibri" pitchFamily="34" charset="-120"/>
              </a:rPr>
              <a:t>Paste the stage prompt</a:t>
            </a:r>
            <a:endParaRPr lang="en-US" sz="1500" dirty="0"/>
          </a:p>
          <a:p>
            <a:pPr indent="0" marL="0">
              <a:spcAft>
                <a:spcPts val="200"/>
              </a:spcAft>
              <a:buNone/>
            </a:pPr>
            <a:r>
              <a:rPr lang="en-US" sz="1250" dirty="0">
                <a:solidFill>
                  <a:srgbClr val="1F1F2E"/>
                </a:solidFill>
                <a:latin typeface="Calibri" pitchFamily="34" charset="0"/>
                <a:ea typeface="Calibri" pitchFamily="34" charset="-122"/>
                <a:cs typeface="Calibri" pitchFamily="34" charset="-120"/>
              </a:rPr>
              <a:t>Copilot writes outputs into the folder. Review each change, then click Keep (or Undo).</a:t>
            </a:r>
            <a:endParaRPr lang="en-US" sz="1500" dirty="0"/>
          </a:p>
        </p:txBody>
      </p:sp>
      <p:sp>
        <p:nvSpPr>
          <p:cNvPr id="16" name="Shape 13"/>
          <p:cNvSpPr/>
          <p:nvPr/>
        </p:nvSpPr>
        <p:spPr>
          <a:xfrm>
            <a:off x="8001000" y="4617720"/>
            <a:ext cx="3639312" cy="1143000"/>
          </a:xfrm>
          <a:prstGeom prst="roundRect">
            <a:avLst>
              <a:gd name="adj" fmla="val 4800"/>
            </a:avLst>
          </a:prstGeom>
          <a:solidFill>
            <a:srgbClr val="1E1E1E"/>
          </a:solidFill>
          <a:ln w="12700">
            <a:solidFill>
              <a:srgbClr val="1E1E1E"/>
            </a:solidFill>
            <a:prstDash val="solid"/>
          </a:ln>
        </p:spPr>
      </p:sp>
      <p:sp>
        <p:nvSpPr>
          <p:cNvPr id="17" name="Text 14"/>
          <p:cNvSpPr txBox="1"/>
          <p:nvPr/>
        </p:nvSpPr>
        <p:spPr>
          <a:xfrm>
            <a:off x="8138160" y="4709160"/>
            <a:ext cx="3364992" cy="960120"/>
          </a:xfrm>
          <a:prstGeom prst="rect">
            <a:avLst/>
          </a:prstGeom>
          <a:noFill/>
          <a:ln/>
        </p:spPr>
        <p:txBody>
          <a:bodyPr wrap="square" lIns="0" tIns="0" rIns="0" bIns="0" rtlCol="0" anchor="t"/>
          <a:lstStyle/>
          <a:p>
            <a:pPr indent="0" marL="0">
              <a:buNone/>
            </a:pPr>
            <a:r>
              <a:rPr lang="en-US" sz="1000" dirty="0">
                <a:solidFill>
                  <a:srgbClr val="E6E6E6"/>
                </a:solidFill>
                <a:latin typeface="Courier New" pitchFamily="34" charset="0"/>
                <a:ea typeface="Courier New" pitchFamily="34" charset="-122"/>
                <a:cs typeface="Courier New" pitchFamily="34" charset="-120"/>
              </a:rPr>
              <a:t>.github/copilot-instructions.md (optional):</a:t>
            </a:r>
            <a:endParaRPr lang="en-US" sz="1000" dirty="0"/>
          </a:p>
          <a:p>
            <a:pPr indent="0" marL="0">
              <a:buNone/>
            </a:pPr>
            <a:r>
              <a:rPr lang="en-US" sz="1000" dirty="0">
                <a:solidFill>
                  <a:srgbClr val="E6E6E6"/>
                </a:solidFill>
                <a:latin typeface="Courier New" pitchFamily="34" charset="0"/>
                <a:ea typeface="Courier New" pitchFamily="34" charset="-122"/>
                <a:cs typeface="Courier New" pitchFamily="34" charset="-120"/>
              </a:rPr>
              <a:t>Follow ExciseDiagnostic/process_files/</a:t>
            </a:r>
            <a:endParaRPr lang="en-US" sz="1000" dirty="0"/>
          </a:p>
          <a:p>
            <a:pPr indent="0" marL="0">
              <a:buNone/>
            </a:pPr>
            <a:r>
              <a:rPr lang="en-US" sz="1000" dirty="0">
                <a:solidFill>
                  <a:srgbClr val="E6E6E6"/>
                </a:solidFill>
                <a:latin typeface="Courier New" pitchFamily="34" charset="0"/>
                <a:ea typeface="Courier New" pitchFamily="34" charset="-122"/>
                <a:cs typeface="Courier New" pitchFamily="34" charset="-120"/>
              </a:rPr>
              <a:t>excise_diagnostic_process.md (master).</a:t>
            </a:r>
            <a:endParaRPr lang="en-US" sz="1000" dirty="0"/>
          </a:p>
          <a:p>
            <a:pPr indent="0" marL="0">
              <a:buNone/>
            </a:pPr>
            <a:r>
              <a:rPr lang="en-US" sz="1000" dirty="0">
                <a:solidFill>
                  <a:srgbClr val="E6E6E6"/>
                </a:solidFill>
                <a:latin typeface="Courier New" pitchFamily="34" charset="0"/>
                <a:ea typeface="Courier New" pitchFamily="34" charset="-122"/>
                <a:cs typeface="Courier New" pitchFamily="34" charset="-120"/>
              </a:rPr>
              <a:t>One stage per message. Write outputs to</a:t>
            </a:r>
            <a:endParaRPr lang="en-US" sz="1000" dirty="0"/>
          </a:p>
          <a:p>
            <a:pPr indent="0" marL="0">
              <a:buNone/>
            </a:pPr>
            <a:r>
              <a:rPr lang="en-US" sz="1000" dirty="0">
                <a:solidFill>
                  <a:srgbClr val="E6E6E6"/>
                </a:solidFill>
                <a:latin typeface="Courier New" pitchFamily="34" charset="0"/>
                <a:ea typeface="Courier New" pitchFamily="34" charset="-122"/>
                <a:cs typeface="Courier New" pitchFamily="34" charset="-120"/>
              </a:rPr>
              <a:t>country_results/&lt;ISO3&gt;/&lt;part&gt;/.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(A) FULL DIAGNOSTIC</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One run, six stages: give the AI the master file only</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548640" y="1371600"/>
            <a:ext cx="1755648" cy="1691640"/>
          </a:xfrm>
          <a:prstGeom prst="roundRect">
            <a:avLst>
              <a:gd name="adj" fmla="val 4324"/>
            </a:avLst>
          </a:prstGeom>
          <a:solidFill>
            <a:srgbClr val="EAF4F2"/>
          </a:solidFill>
          <a:ln w="9525">
            <a:solidFill>
              <a:srgbClr val="D5DAE3"/>
            </a:solidFill>
            <a:prstDash val="solid"/>
          </a:ln>
        </p:spPr>
      </p:sp>
      <p:sp>
        <p:nvSpPr>
          <p:cNvPr id="6" name="Text 4"/>
          <p:cNvSpPr txBox="1"/>
          <p:nvPr/>
        </p:nvSpPr>
        <p:spPr>
          <a:xfrm>
            <a:off x="548640" y="1444752"/>
            <a:ext cx="1755648" cy="411480"/>
          </a:xfrm>
          <a:prstGeom prst="rect">
            <a:avLst/>
          </a:prstGeom>
          <a:noFill/>
          <a:ln/>
        </p:spPr>
        <p:txBody>
          <a:bodyPr wrap="square" lIns="0" tIns="0" rIns="0" bIns="0" rtlCol="0" anchor="ctr"/>
          <a:lstStyle/>
          <a:p>
            <a:pPr algn="ctr" indent="0" marL="0">
              <a:buNone/>
            </a:pPr>
            <a:r>
              <a:rPr lang="en-US" sz="2200" b="1" dirty="0">
                <a:solidFill>
                  <a:srgbClr val="0F7B6C"/>
                </a:solidFill>
                <a:latin typeface="Cambria" pitchFamily="34" charset="0"/>
                <a:ea typeface="Cambria" pitchFamily="34" charset="-122"/>
                <a:cs typeface="Cambria" pitchFamily="34" charset="-120"/>
              </a:rPr>
              <a:t>A1</a:t>
            </a:r>
            <a:endParaRPr lang="en-US" sz="2200" dirty="0"/>
          </a:p>
        </p:txBody>
      </p:sp>
      <p:sp>
        <p:nvSpPr>
          <p:cNvPr id="7" name="Text 5"/>
          <p:cNvSpPr txBox="1"/>
          <p:nvPr/>
        </p:nvSpPr>
        <p:spPr>
          <a:xfrm>
            <a:off x="640080" y="1874520"/>
            <a:ext cx="1572768"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History</a:t>
            </a:r>
            <a:endParaRPr lang="en-US" sz="1400" dirty="0"/>
          </a:p>
        </p:txBody>
      </p:sp>
      <p:sp>
        <p:nvSpPr>
          <p:cNvPr id="8" name="Text 6"/>
          <p:cNvSpPr txBox="1"/>
          <p:nvPr/>
        </p:nvSpPr>
        <p:spPr>
          <a:xfrm>
            <a:off x="640080" y="2212848"/>
            <a:ext cx="1572768" cy="777240"/>
          </a:xfrm>
          <a:prstGeom prst="rect">
            <a:avLst/>
          </a:prstGeom>
          <a:noFill/>
          <a:ln/>
        </p:spPr>
        <p:txBody>
          <a:bodyPr wrap="square" lIns="0" tIns="0" rIns="0" bIns="0" rtlCol="0" anchor="t"/>
          <a:lstStyle/>
          <a:p>
            <a:pPr algn="ctr" indent="0" marL="0">
              <a:buNone/>
            </a:pPr>
            <a:r>
              <a:rPr lang="en-US" sz="1150" dirty="0">
                <a:solidFill>
                  <a:srgbClr val="1F1F2E"/>
                </a:solidFill>
                <a:latin typeface="Calibri" pitchFamily="34" charset="0"/>
                <a:ea typeface="Calibri" pitchFamily="34" charset="-122"/>
                <a:cs typeface="Calibri" pitchFamily="34" charset="-120"/>
              </a:rPr>
              <a:t>Every law since 2020, rates as printed</a:t>
            </a:r>
            <a:endParaRPr lang="en-US" sz="1150" dirty="0"/>
          </a:p>
        </p:txBody>
      </p:sp>
      <p:sp>
        <p:nvSpPr>
          <p:cNvPr id="9" name="Shape 7"/>
          <p:cNvSpPr/>
          <p:nvPr/>
        </p:nvSpPr>
        <p:spPr>
          <a:xfrm>
            <a:off x="2304288" y="2212848"/>
            <a:ext cx="146304" cy="0"/>
          </a:xfrm>
          <a:prstGeom prst="line">
            <a:avLst/>
          </a:prstGeom>
          <a:noFill/>
          <a:ln w="25400">
            <a:solidFill>
              <a:srgbClr val="5C667A"/>
            </a:solidFill>
            <a:prstDash val="solid"/>
            <a:tailEnd type="triangle"/>
          </a:ln>
        </p:spPr>
      </p:sp>
      <p:sp>
        <p:nvSpPr>
          <p:cNvPr id="10" name="Shape 8"/>
          <p:cNvSpPr/>
          <p:nvPr/>
        </p:nvSpPr>
        <p:spPr>
          <a:xfrm>
            <a:off x="2450592" y="1371600"/>
            <a:ext cx="1755648" cy="1691640"/>
          </a:xfrm>
          <a:prstGeom prst="roundRect">
            <a:avLst>
              <a:gd name="adj" fmla="val 4324"/>
            </a:avLst>
          </a:prstGeom>
          <a:solidFill>
            <a:srgbClr val="EAF4F2"/>
          </a:solidFill>
          <a:ln w="9525">
            <a:solidFill>
              <a:srgbClr val="D5DAE3"/>
            </a:solidFill>
            <a:prstDash val="solid"/>
          </a:ln>
        </p:spPr>
      </p:sp>
      <p:sp>
        <p:nvSpPr>
          <p:cNvPr id="11" name="Text 9"/>
          <p:cNvSpPr txBox="1"/>
          <p:nvPr/>
        </p:nvSpPr>
        <p:spPr>
          <a:xfrm>
            <a:off x="2450592" y="1444752"/>
            <a:ext cx="1755648" cy="411480"/>
          </a:xfrm>
          <a:prstGeom prst="rect">
            <a:avLst/>
          </a:prstGeom>
          <a:noFill/>
          <a:ln/>
        </p:spPr>
        <p:txBody>
          <a:bodyPr wrap="square" lIns="0" tIns="0" rIns="0" bIns="0" rtlCol="0" anchor="ctr"/>
          <a:lstStyle/>
          <a:p>
            <a:pPr algn="ctr" indent="0" marL="0">
              <a:buNone/>
            </a:pPr>
            <a:r>
              <a:rPr lang="en-US" sz="2200" b="1" dirty="0">
                <a:solidFill>
                  <a:srgbClr val="0F7B6C"/>
                </a:solidFill>
                <a:latin typeface="Cambria" pitchFamily="34" charset="0"/>
                <a:ea typeface="Cambria" pitchFamily="34" charset="-122"/>
                <a:cs typeface="Cambria" pitchFamily="34" charset="-120"/>
              </a:rPr>
              <a:t>A2</a:t>
            </a:r>
            <a:endParaRPr lang="en-US" sz="2200" dirty="0"/>
          </a:p>
        </p:txBody>
      </p:sp>
      <p:sp>
        <p:nvSpPr>
          <p:cNvPr id="12" name="Text 10"/>
          <p:cNvSpPr txBox="1"/>
          <p:nvPr/>
        </p:nvSpPr>
        <p:spPr>
          <a:xfrm>
            <a:off x="2542032" y="1874520"/>
            <a:ext cx="1572768"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Schedule</a:t>
            </a:r>
            <a:endParaRPr lang="en-US" sz="1400" dirty="0"/>
          </a:p>
        </p:txBody>
      </p:sp>
      <p:sp>
        <p:nvSpPr>
          <p:cNvPr id="13" name="Text 11"/>
          <p:cNvSpPr txBox="1"/>
          <p:nvPr/>
        </p:nvSpPr>
        <p:spPr>
          <a:xfrm>
            <a:off x="2542032" y="2212848"/>
            <a:ext cx="1572768" cy="777240"/>
          </a:xfrm>
          <a:prstGeom prst="rect">
            <a:avLst/>
          </a:prstGeom>
          <a:noFill/>
          <a:ln/>
        </p:spPr>
        <p:txBody>
          <a:bodyPr wrap="square" lIns="0" tIns="0" rIns="0" bIns="0" rtlCol="0" anchor="t"/>
          <a:lstStyle/>
          <a:p>
            <a:pPr algn="ctr" indent="0" marL="0">
              <a:buNone/>
            </a:pPr>
            <a:r>
              <a:rPr lang="en-US" sz="1150" dirty="0">
                <a:solidFill>
                  <a:srgbClr val="1F1F2E"/>
                </a:solidFill>
                <a:latin typeface="Calibri" pitchFamily="34" charset="0"/>
                <a:ea typeface="Calibri" pitchFamily="34" charset="-122"/>
                <a:cs typeface="Calibri" pitchFamily="34" charset="-120"/>
              </a:rPr>
              <a:t>Every line on five fields</a:t>
            </a:r>
            <a:endParaRPr lang="en-US" sz="1150" dirty="0"/>
          </a:p>
        </p:txBody>
      </p:sp>
      <p:sp>
        <p:nvSpPr>
          <p:cNvPr id="14" name="Shape 12"/>
          <p:cNvSpPr/>
          <p:nvPr/>
        </p:nvSpPr>
        <p:spPr>
          <a:xfrm>
            <a:off x="4206240" y="2212848"/>
            <a:ext cx="146304" cy="0"/>
          </a:xfrm>
          <a:prstGeom prst="line">
            <a:avLst/>
          </a:prstGeom>
          <a:noFill/>
          <a:ln w="25400">
            <a:solidFill>
              <a:srgbClr val="5C667A"/>
            </a:solidFill>
            <a:prstDash val="solid"/>
            <a:tailEnd type="triangle"/>
          </a:ln>
        </p:spPr>
      </p:sp>
      <p:sp>
        <p:nvSpPr>
          <p:cNvPr id="15" name="Shape 13"/>
          <p:cNvSpPr/>
          <p:nvPr/>
        </p:nvSpPr>
        <p:spPr>
          <a:xfrm>
            <a:off x="4352544" y="1371600"/>
            <a:ext cx="1755648" cy="1691640"/>
          </a:xfrm>
          <a:prstGeom prst="roundRect">
            <a:avLst>
              <a:gd name="adj" fmla="val 4324"/>
            </a:avLst>
          </a:prstGeom>
          <a:solidFill>
            <a:srgbClr val="EAF4F2"/>
          </a:solidFill>
          <a:ln w="9525">
            <a:solidFill>
              <a:srgbClr val="D5DAE3"/>
            </a:solidFill>
            <a:prstDash val="solid"/>
          </a:ln>
        </p:spPr>
      </p:sp>
      <p:sp>
        <p:nvSpPr>
          <p:cNvPr id="16" name="Text 14"/>
          <p:cNvSpPr txBox="1"/>
          <p:nvPr/>
        </p:nvSpPr>
        <p:spPr>
          <a:xfrm>
            <a:off x="4352544" y="1444752"/>
            <a:ext cx="1755648" cy="411480"/>
          </a:xfrm>
          <a:prstGeom prst="rect">
            <a:avLst/>
          </a:prstGeom>
          <a:noFill/>
          <a:ln/>
        </p:spPr>
        <p:txBody>
          <a:bodyPr wrap="square" lIns="0" tIns="0" rIns="0" bIns="0" rtlCol="0" anchor="ctr"/>
          <a:lstStyle/>
          <a:p>
            <a:pPr algn="ctr" indent="0" marL="0">
              <a:buNone/>
            </a:pPr>
            <a:r>
              <a:rPr lang="en-US" sz="2200" b="1" dirty="0">
                <a:solidFill>
                  <a:srgbClr val="0F7B6C"/>
                </a:solidFill>
                <a:latin typeface="Cambria" pitchFamily="34" charset="0"/>
                <a:ea typeface="Cambria" pitchFamily="34" charset="-122"/>
                <a:cs typeface="Cambria" pitchFamily="34" charset="-120"/>
              </a:rPr>
              <a:t>A3</a:t>
            </a:r>
            <a:endParaRPr lang="en-US" sz="2200" dirty="0"/>
          </a:p>
        </p:txBody>
      </p:sp>
      <p:sp>
        <p:nvSpPr>
          <p:cNvPr id="17" name="Text 15"/>
          <p:cNvSpPr txBox="1"/>
          <p:nvPr/>
        </p:nvSpPr>
        <p:spPr>
          <a:xfrm>
            <a:off x="4443984" y="1874520"/>
            <a:ext cx="1572768"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Standardize</a:t>
            </a:r>
            <a:endParaRPr lang="en-US" sz="1400" dirty="0"/>
          </a:p>
        </p:txBody>
      </p:sp>
      <p:sp>
        <p:nvSpPr>
          <p:cNvPr id="18" name="Text 16"/>
          <p:cNvSpPr txBox="1"/>
          <p:nvPr/>
        </p:nvSpPr>
        <p:spPr>
          <a:xfrm>
            <a:off x="4443984" y="2212848"/>
            <a:ext cx="1572768" cy="777240"/>
          </a:xfrm>
          <a:prstGeom prst="rect">
            <a:avLst/>
          </a:prstGeom>
          <a:noFill/>
          <a:ln/>
        </p:spPr>
        <p:txBody>
          <a:bodyPr wrap="square" lIns="0" tIns="0" rIns="0" bIns="0" rtlCol="0" anchor="t"/>
          <a:lstStyle/>
          <a:p>
            <a:pPr algn="ctr" indent="0" marL="0">
              <a:buNone/>
            </a:pPr>
            <a:r>
              <a:rPr lang="en-US" sz="1150" dirty="0">
                <a:solidFill>
                  <a:srgbClr val="1F1F2E"/>
                </a:solidFill>
                <a:latin typeface="Calibri" pitchFamily="34" charset="0"/>
                <a:ea typeface="Calibri" pitchFamily="34" charset="-122"/>
                <a:cs typeface="Calibri" pitchFamily="34" charset="-120"/>
              </a:rPr>
              <a:t>30 standard lines; workbook rows</a:t>
            </a:r>
            <a:endParaRPr lang="en-US" sz="1150" dirty="0"/>
          </a:p>
        </p:txBody>
      </p:sp>
      <p:sp>
        <p:nvSpPr>
          <p:cNvPr id="19" name="Shape 17"/>
          <p:cNvSpPr/>
          <p:nvPr/>
        </p:nvSpPr>
        <p:spPr>
          <a:xfrm>
            <a:off x="6108192" y="2212848"/>
            <a:ext cx="146304" cy="0"/>
          </a:xfrm>
          <a:prstGeom prst="line">
            <a:avLst/>
          </a:prstGeom>
          <a:noFill/>
          <a:ln w="25400">
            <a:solidFill>
              <a:srgbClr val="5C667A"/>
            </a:solidFill>
            <a:prstDash val="solid"/>
            <a:tailEnd type="triangle"/>
          </a:ln>
        </p:spPr>
      </p:sp>
      <p:sp>
        <p:nvSpPr>
          <p:cNvPr id="20" name="Shape 18"/>
          <p:cNvSpPr/>
          <p:nvPr/>
        </p:nvSpPr>
        <p:spPr>
          <a:xfrm>
            <a:off x="6254496" y="1371600"/>
            <a:ext cx="1755648" cy="1691640"/>
          </a:xfrm>
          <a:prstGeom prst="roundRect">
            <a:avLst>
              <a:gd name="adj" fmla="val 4324"/>
            </a:avLst>
          </a:prstGeom>
          <a:solidFill>
            <a:srgbClr val="EAF4F2"/>
          </a:solidFill>
          <a:ln w="9525">
            <a:solidFill>
              <a:srgbClr val="D5DAE3"/>
            </a:solidFill>
            <a:prstDash val="solid"/>
          </a:ln>
        </p:spPr>
      </p:sp>
      <p:sp>
        <p:nvSpPr>
          <p:cNvPr id="21" name="Text 19"/>
          <p:cNvSpPr txBox="1"/>
          <p:nvPr/>
        </p:nvSpPr>
        <p:spPr>
          <a:xfrm>
            <a:off x="6254496" y="1444752"/>
            <a:ext cx="1755648" cy="411480"/>
          </a:xfrm>
          <a:prstGeom prst="rect">
            <a:avLst/>
          </a:prstGeom>
          <a:noFill/>
          <a:ln/>
        </p:spPr>
        <p:txBody>
          <a:bodyPr wrap="square" lIns="0" tIns="0" rIns="0" bIns="0" rtlCol="0" anchor="ctr"/>
          <a:lstStyle/>
          <a:p>
            <a:pPr algn="ctr" indent="0" marL="0">
              <a:buNone/>
            </a:pPr>
            <a:r>
              <a:rPr lang="en-US" sz="2200" b="1" dirty="0">
                <a:solidFill>
                  <a:srgbClr val="0F7B6C"/>
                </a:solidFill>
                <a:latin typeface="Cambria" pitchFamily="34" charset="0"/>
                <a:ea typeface="Cambria" pitchFamily="34" charset="-122"/>
                <a:cs typeface="Cambria" pitchFamily="34" charset="-120"/>
              </a:rPr>
              <a:t>A4</a:t>
            </a:r>
            <a:endParaRPr lang="en-US" sz="2200" dirty="0"/>
          </a:p>
        </p:txBody>
      </p:sp>
      <p:sp>
        <p:nvSpPr>
          <p:cNvPr id="22" name="Text 20"/>
          <p:cNvSpPr txBox="1"/>
          <p:nvPr/>
        </p:nvSpPr>
        <p:spPr>
          <a:xfrm>
            <a:off x="6345936" y="1874520"/>
            <a:ext cx="1572768"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Top level</a:t>
            </a:r>
            <a:endParaRPr lang="en-US" sz="1400" dirty="0"/>
          </a:p>
        </p:txBody>
      </p:sp>
      <p:sp>
        <p:nvSpPr>
          <p:cNvPr id="23" name="Text 21"/>
          <p:cNvSpPr txBox="1"/>
          <p:nvPr/>
        </p:nvSpPr>
        <p:spPr>
          <a:xfrm>
            <a:off x="6345936" y="2212848"/>
            <a:ext cx="1572768" cy="777240"/>
          </a:xfrm>
          <a:prstGeom prst="rect">
            <a:avLst/>
          </a:prstGeom>
          <a:noFill/>
          <a:ln/>
        </p:spPr>
        <p:txBody>
          <a:bodyPr wrap="square" lIns="0" tIns="0" rIns="0" bIns="0" rtlCol="0" anchor="t"/>
          <a:lstStyle/>
          <a:p>
            <a:pPr algn="ctr" indent="0" marL="0">
              <a:buNone/>
            </a:pPr>
            <a:r>
              <a:rPr lang="en-US" sz="1150" dirty="0">
                <a:solidFill>
                  <a:srgbClr val="1F1F2E"/>
                </a:solidFill>
                <a:latin typeface="Calibri" pitchFamily="34" charset="0"/>
                <a:ea typeface="Calibri" pitchFamily="34" charset="-122"/>
                <a:cs typeface="Calibri" pitchFamily="34" charset="-120"/>
              </a:rPr>
              <a:t>Framework, key metrics, findings</a:t>
            </a:r>
            <a:endParaRPr lang="en-US" sz="1150" dirty="0"/>
          </a:p>
        </p:txBody>
      </p:sp>
      <p:sp>
        <p:nvSpPr>
          <p:cNvPr id="24" name="Shape 22"/>
          <p:cNvSpPr/>
          <p:nvPr/>
        </p:nvSpPr>
        <p:spPr>
          <a:xfrm>
            <a:off x="8010144" y="2212848"/>
            <a:ext cx="146304" cy="0"/>
          </a:xfrm>
          <a:prstGeom prst="line">
            <a:avLst/>
          </a:prstGeom>
          <a:noFill/>
          <a:ln w="25400">
            <a:solidFill>
              <a:srgbClr val="5C667A"/>
            </a:solidFill>
            <a:prstDash val="solid"/>
            <a:tailEnd type="triangle"/>
          </a:ln>
        </p:spPr>
      </p:sp>
      <p:sp>
        <p:nvSpPr>
          <p:cNvPr id="25" name="Shape 23"/>
          <p:cNvSpPr/>
          <p:nvPr/>
        </p:nvSpPr>
        <p:spPr>
          <a:xfrm>
            <a:off x="8156448" y="1371600"/>
            <a:ext cx="1755648" cy="1691640"/>
          </a:xfrm>
          <a:prstGeom prst="roundRect">
            <a:avLst>
              <a:gd name="adj" fmla="val 4324"/>
            </a:avLst>
          </a:prstGeom>
          <a:solidFill>
            <a:srgbClr val="FDF3E6"/>
          </a:solidFill>
          <a:ln w="9525">
            <a:solidFill>
              <a:srgbClr val="D5DAE3"/>
            </a:solidFill>
            <a:prstDash val="solid"/>
          </a:ln>
        </p:spPr>
      </p:sp>
      <p:sp>
        <p:nvSpPr>
          <p:cNvPr id="26" name="Text 24"/>
          <p:cNvSpPr txBox="1"/>
          <p:nvPr/>
        </p:nvSpPr>
        <p:spPr>
          <a:xfrm>
            <a:off x="8156448" y="1444752"/>
            <a:ext cx="1755648" cy="411480"/>
          </a:xfrm>
          <a:prstGeom prst="rect">
            <a:avLst/>
          </a:prstGeom>
          <a:noFill/>
          <a:ln/>
        </p:spPr>
        <p:txBody>
          <a:bodyPr wrap="square" lIns="0" tIns="0" rIns="0" bIns="0" rtlCol="0" anchor="ctr"/>
          <a:lstStyle/>
          <a:p>
            <a:pPr algn="ctr" indent="0" marL="0">
              <a:buNone/>
            </a:pPr>
            <a:r>
              <a:rPr lang="en-US" sz="2200" b="1" dirty="0">
                <a:solidFill>
                  <a:srgbClr val="E08A1E"/>
                </a:solidFill>
                <a:latin typeface="Cambria" pitchFamily="34" charset="0"/>
                <a:ea typeface="Cambria" pitchFamily="34" charset="-122"/>
                <a:cs typeface="Cambria" pitchFamily="34" charset="-120"/>
              </a:rPr>
              <a:t>A5</a:t>
            </a:r>
            <a:endParaRPr lang="en-US" sz="2200" dirty="0"/>
          </a:p>
        </p:txBody>
      </p:sp>
      <p:sp>
        <p:nvSpPr>
          <p:cNvPr id="27" name="Text 25"/>
          <p:cNvSpPr txBox="1"/>
          <p:nvPr/>
        </p:nvSpPr>
        <p:spPr>
          <a:xfrm>
            <a:off x="8247888" y="1874520"/>
            <a:ext cx="1572768"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Peer review</a:t>
            </a:r>
            <a:endParaRPr lang="en-US" sz="1400" dirty="0"/>
          </a:p>
        </p:txBody>
      </p:sp>
      <p:sp>
        <p:nvSpPr>
          <p:cNvPr id="28" name="Text 26"/>
          <p:cNvSpPr txBox="1"/>
          <p:nvPr/>
        </p:nvSpPr>
        <p:spPr>
          <a:xfrm>
            <a:off x="8247888" y="2212848"/>
            <a:ext cx="1572768" cy="777240"/>
          </a:xfrm>
          <a:prstGeom prst="rect">
            <a:avLst/>
          </a:prstGeom>
          <a:noFill/>
          <a:ln/>
        </p:spPr>
        <p:txBody>
          <a:bodyPr wrap="square" lIns="0" tIns="0" rIns="0" bIns="0" rtlCol="0" anchor="t"/>
          <a:lstStyle/>
          <a:p>
            <a:pPr algn="ctr" indent="0" marL="0">
              <a:buNone/>
            </a:pPr>
            <a:r>
              <a:rPr lang="en-US" sz="1150" dirty="0">
                <a:solidFill>
                  <a:srgbClr val="1F1F2E"/>
                </a:solidFill>
                <a:latin typeface="Calibri" pitchFamily="34" charset="0"/>
                <a:ea typeface="Calibri" pitchFamily="34" charset="-122"/>
                <a:cs typeface="Calibri" pitchFamily="34" charset="-120"/>
              </a:rPr>
              <a:t>A source for every line</a:t>
            </a:r>
            <a:endParaRPr lang="en-US" sz="1150" dirty="0"/>
          </a:p>
        </p:txBody>
      </p:sp>
      <p:sp>
        <p:nvSpPr>
          <p:cNvPr id="29" name="Shape 27"/>
          <p:cNvSpPr/>
          <p:nvPr/>
        </p:nvSpPr>
        <p:spPr>
          <a:xfrm>
            <a:off x="9912096" y="2212848"/>
            <a:ext cx="146304" cy="0"/>
          </a:xfrm>
          <a:prstGeom prst="line">
            <a:avLst/>
          </a:prstGeom>
          <a:noFill/>
          <a:ln w="25400">
            <a:solidFill>
              <a:srgbClr val="5C667A"/>
            </a:solidFill>
            <a:prstDash val="solid"/>
            <a:tailEnd type="triangle"/>
          </a:ln>
        </p:spPr>
      </p:sp>
      <p:sp>
        <p:nvSpPr>
          <p:cNvPr id="30" name="Shape 28"/>
          <p:cNvSpPr/>
          <p:nvPr/>
        </p:nvSpPr>
        <p:spPr>
          <a:xfrm>
            <a:off x="10058400" y="1371600"/>
            <a:ext cx="1755648" cy="1691640"/>
          </a:xfrm>
          <a:prstGeom prst="roundRect">
            <a:avLst>
              <a:gd name="adj" fmla="val 4324"/>
            </a:avLst>
          </a:prstGeom>
          <a:solidFill>
            <a:srgbClr val="EAF4F2"/>
          </a:solidFill>
          <a:ln w="9525">
            <a:solidFill>
              <a:srgbClr val="D5DAE3"/>
            </a:solidFill>
            <a:prstDash val="solid"/>
          </a:ln>
        </p:spPr>
      </p:sp>
      <p:sp>
        <p:nvSpPr>
          <p:cNvPr id="31" name="Text 29"/>
          <p:cNvSpPr txBox="1"/>
          <p:nvPr/>
        </p:nvSpPr>
        <p:spPr>
          <a:xfrm>
            <a:off x="10058400" y="1444752"/>
            <a:ext cx="1755648" cy="411480"/>
          </a:xfrm>
          <a:prstGeom prst="rect">
            <a:avLst/>
          </a:prstGeom>
          <a:noFill/>
          <a:ln/>
        </p:spPr>
        <p:txBody>
          <a:bodyPr wrap="square" lIns="0" tIns="0" rIns="0" bIns="0" rtlCol="0" anchor="ctr"/>
          <a:lstStyle/>
          <a:p>
            <a:pPr algn="ctr" indent="0" marL="0">
              <a:buNone/>
            </a:pPr>
            <a:r>
              <a:rPr lang="en-US" sz="2200" b="1" dirty="0">
                <a:solidFill>
                  <a:srgbClr val="0F7B6C"/>
                </a:solidFill>
                <a:latin typeface="Cambria" pitchFamily="34" charset="0"/>
                <a:ea typeface="Cambria" pitchFamily="34" charset="-122"/>
                <a:cs typeface="Cambria" pitchFamily="34" charset="-120"/>
              </a:rPr>
              <a:t>A6</a:t>
            </a:r>
            <a:endParaRPr lang="en-US" sz="2200" dirty="0"/>
          </a:p>
        </p:txBody>
      </p:sp>
      <p:sp>
        <p:nvSpPr>
          <p:cNvPr id="32" name="Text 30"/>
          <p:cNvSpPr txBox="1"/>
          <p:nvPr/>
        </p:nvSpPr>
        <p:spPr>
          <a:xfrm>
            <a:off x="10149840" y="1874520"/>
            <a:ext cx="1572768"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Assemble</a:t>
            </a:r>
            <a:endParaRPr lang="en-US" sz="1400" dirty="0"/>
          </a:p>
        </p:txBody>
      </p:sp>
      <p:sp>
        <p:nvSpPr>
          <p:cNvPr id="33" name="Text 31"/>
          <p:cNvSpPr txBox="1"/>
          <p:nvPr/>
        </p:nvSpPr>
        <p:spPr>
          <a:xfrm>
            <a:off x="10149840" y="2212848"/>
            <a:ext cx="1572768" cy="777240"/>
          </a:xfrm>
          <a:prstGeom prst="rect">
            <a:avLst/>
          </a:prstGeom>
          <a:noFill/>
          <a:ln/>
        </p:spPr>
        <p:txBody>
          <a:bodyPr wrap="square" lIns="0" tIns="0" rIns="0" bIns="0" rtlCol="0" anchor="t"/>
          <a:lstStyle/>
          <a:p>
            <a:pPr algn="ctr" indent="0" marL="0">
              <a:buNone/>
            </a:pPr>
            <a:r>
              <a:rPr lang="en-US" sz="1150" dirty="0">
                <a:solidFill>
                  <a:srgbClr val="1F1F2E"/>
                </a:solidFill>
                <a:latin typeface="Calibri" pitchFamily="34" charset="0"/>
                <a:ea typeface="Calibri" pitchFamily="34" charset="-122"/>
                <a:cs typeface="Calibri" pitchFamily="34" charset="-120"/>
              </a:rPr>
              <a:t>Final report + workbook</a:t>
            </a:r>
            <a:endParaRPr lang="en-US" sz="1150" dirty="0"/>
          </a:p>
        </p:txBody>
      </p:sp>
      <p:sp>
        <p:nvSpPr>
          <p:cNvPr id="34" name="Text 32"/>
          <p:cNvSpPr txBox="1"/>
          <p:nvPr/>
        </p:nvSpPr>
        <p:spPr>
          <a:xfrm>
            <a:off x="548640" y="3310128"/>
            <a:ext cx="6583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Example prompt for stage A1 (copy from section 10 of the master file):</a:t>
            </a:r>
            <a:endParaRPr lang="en-US" sz="1300" dirty="0"/>
          </a:p>
        </p:txBody>
      </p:sp>
      <p:sp>
        <p:nvSpPr>
          <p:cNvPr id="35" name="Shape 33"/>
          <p:cNvSpPr/>
          <p:nvPr/>
        </p:nvSpPr>
        <p:spPr>
          <a:xfrm>
            <a:off x="548640" y="3657600"/>
            <a:ext cx="6583680" cy="2606040"/>
          </a:xfrm>
          <a:prstGeom prst="roundRect">
            <a:avLst>
              <a:gd name="adj" fmla="val 2105"/>
            </a:avLst>
          </a:prstGeom>
          <a:solidFill>
            <a:srgbClr val="1E1E1E"/>
          </a:solidFill>
          <a:ln w="12700">
            <a:solidFill>
              <a:srgbClr val="1E1E1E"/>
            </a:solidFill>
            <a:prstDash val="solid"/>
          </a:ln>
        </p:spPr>
      </p:sp>
      <p:sp>
        <p:nvSpPr>
          <p:cNvPr id="36" name="Text 34"/>
          <p:cNvSpPr txBox="1"/>
          <p:nvPr/>
        </p:nvSpPr>
        <p:spPr>
          <a:xfrm>
            <a:off x="685800" y="3749040"/>
            <a:ext cx="6309360" cy="2423160"/>
          </a:xfrm>
          <a:prstGeom prst="rect">
            <a:avLst/>
          </a:prstGeom>
          <a:noFill/>
          <a:ln/>
        </p:spPr>
        <p:txBody>
          <a:bodyPr wrap="square" lIns="0" tIns="0" rIns="0" bIns="0" rtlCol="0" anchor="t"/>
          <a:lstStyle/>
          <a:p>
            <a:pPr indent="0" marL="0">
              <a:buNone/>
            </a:pPr>
            <a:r>
              <a:rPr lang="en-US" sz="1100" dirty="0">
                <a:solidFill>
                  <a:srgbClr val="E6E6E6"/>
                </a:solidFill>
                <a:latin typeface="Courier New" pitchFamily="34" charset="0"/>
                <a:ea typeface="Courier New" pitchFamily="34" charset="-122"/>
                <a:cs typeface="Courier New" pitchFamily="34" charset="-120"/>
              </a:rPr>
              <a:t>[A1] Using the excise diagnostic process specification</a:t>
            </a:r>
            <a:endParaRPr lang="en-US" sz="1100" dirty="0"/>
          </a:p>
          <a:p>
            <a:pPr indent="0" marL="0">
              <a:buNone/>
            </a:pPr>
            <a:r>
              <a:rPr lang="en-US" sz="1100" dirty="0">
                <a:solidFill>
                  <a:srgbClr val="E6E6E6"/>
                </a:solidFill>
                <a:latin typeface="Courier New" pitchFamily="34" charset="0"/>
                <a:ea typeface="Courier New" pitchFamily="34" charset="-122"/>
                <a:cs typeface="Courier New" pitchFamily="34" charset="-120"/>
              </a:rPr>
              <a:t>(master) and the legal texts provided, run stage A1 for</a:t>
            </a:r>
            <a:endParaRPr lang="en-US" sz="1100" dirty="0"/>
          </a:p>
          <a:p>
            <a:pPr indent="0" marL="0">
              <a:buNone/>
            </a:pPr>
            <a:r>
              <a:rPr lang="en-US" sz="1100" dirty="0">
                <a:solidFill>
                  <a:srgbClr val="E6E6E6"/>
                </a:solidFill>
                <a:latin typeface="Courier New" pitchFamily="34" charset="0"/>
                <a:ea typeface="Courier New" pitchFamily="34" charset="-122"/>
                <a:cs typeface="Courier New" pitchFamily="34" charset="-120"/>
              </a:rPr>
              <a:t>Sierra Leone, from 2020 to 27 April 2026. Output the</a:t>
            </a:r>
            <a:endParaRPr lang="en-US" sz="1100" dirty="0"/>
          </a:p>
          <a:p>
            <a:pPr indent="0" marL="0">
              <a:buNone/>
            </a:pPr>
            <a:r>
              <a:rPr lang="en-US" sz="1100" dirty="0">
                <a:solidFill>
                  <a:srgbClr val="E6E6E6"/>
                </a:solidFill>
                <a:latin typeface="Courier New" pitchFamily="34" charset="0"/>
                <a:ea typeface="Courier New" pitchFamily="34" charset="-122"/>
                <a:cs typeface="Courier New" pitchFamily="34" charset="-120"/>
              </a:rPr>
              <a:t>legislative history instrument by instrument, quoting</a:t>
            </a:r>
            <a:endParaRPr lang="en-US" sz="1100" dirty="0"/>
          </a:p>
          <a:p>
            <a:pPr indent="0" marL="0">
              <a:buNone/>
            </a:pPr>
            <a:r>
              <a:rPr lang="en-US" sz="1100" dirty="0">
                <a:solidFill>
                  <a:srgbClr val="E6E6E6"/>
                </a:solidFill>
                <a:latin typeface="Courier New" pitchFamily="34" charset="0"/>
                <a:ea typeface="Courier New" pitchFamily="34" charset="-122"/>
                <a:cs typeface="Courier New" pitchFamily="34" charset="-120"/>
              </a:rPr>
              <a:t>every rate as printed with its provision and effective</a:t>
            </a:r>
            <a:endParaRPr lang="en-US" sz="1100" dirty="0"/>
          </a:p>
          <a:p>
            <a:pPr indent="0" marL="0">
              <a:buNone/>
            </a:pPr>
            <a:r>
              <a:rPr lang="en-US" sz="1100" dirty="0">
                <a:solidFill>
                  <a:srgbClr val="E6E6E6"/>
                </a:solidFill>
                <a:latin typeface="Courier New" pitchFamily="34" charset="0"/>
                <a:ea typeface="Courier New" pitchFamily="34" charset="-122"/>
                <a:cs typeface="Courier New" pitchFamily="34" charset="-120"/>
              </a:rPr>
              <a:t>date. Mark unreadable tables "not legible". List</a:t>
            </a:r>
            <a:endParaRPr lang="en-US" sz="1100" dirty="0"/>
          </a:p>
          <a:p>
            <a:pPr indent="0" marL="0">
              <a:buNone/>
            </a:pPr>
            <a:r>
              <a:rPr lang="en-US" sz="1100" dirty="0">
                <a:solidFill>
                  <a:srgbClr val="E6E6E6"/>
                </a:solidFill>
                <a:latin typeface="Courier New" pitchFamily="34" charset="0"/>
                <a:ea typeface="Courier New" pitchFamily="34" charset="-122"/>
                <a:cs typeface="Courier New" pitchFamily="34" charset="-120"/>
              </a:rPr>
              <a:t>customs-tariff changes separately. List pending bills.</a:t>
            </a:r>
            <a:endParaRPr lang="en-US" sz="1100" dirty="0"/>
          </a:p>
          <a:p>
            <a:pPr indent="0" marL="0">
              <a:buNone/>
            </a:pPr>
            <a:r>
              <a:rPr lang="en-US" sz="1100" dirty="0">
                <a:solidFill>
                  <a:srgbClr val="E6E6E6"/>
                </a:solidFill>
                <a:latin typeface="Courier New" pitchFamily="34" charset="0"/>
                <a:ea typeface="Courier New" pitchFamily="34" charset="-122"/>
                <a:cs typeface="Courier New" pitchFamily="34" charset="-120"/>
              </a:rPr>
              <a:t>If you cannot fetch a source, run the data step: give</a:t>
            </a:r>
            <a:endParaRPr lang="en-US" sz="1100" dirty="0"/>
          </a:p>
          <a:p>
            <a:pPr indent="0" marL="0">
              <a:buNone/>
            </a:pPr>
            <a:r>
              <a:rPr lang="en-US" sz="1100" dirty="0">
                <a:solidFill>
                  <a:srgbClr val="E6E6E6"/>
                </a:solidFill>
                <a:latin typeface="Courier New" pitchFamily="34" charset="0"/>
                <a:ea typeface="Courier New" pitchFamily="34" charset="-122"/>
                <a:cs typeface="Courier New" pitchFamily="34" charset="-120"/>
              </a:rPr>
              <a:t>me the links list and the .bat file.</a:t>
            </a:r>
            <a:endParaRPr lang="en-US" sz="1100" dirty="0"/>
          </a:p>
        </p:txBody>
      </p:sp>
      <p:pic>
        <p:nvPicPr>
          <p:cNvPr id="37" name="Image 0" descr="/home/claude/guide/img/paper_p13-13.png">    </p:cNvPr>
          <p:cNvPicPr>
            <a:picLocks noChangeAspect="1"/>
          </p:cNvPicPr>
          <p:nvPr/>
        </p:nvPicPr>
        <p:blipFill>
          <a:blip r:embed="rId1"/>
          <a:stretch>
            <a:fillRect/>
          </a:stretch>
        </p:blipFill>
        <p:spPr>
          <a:xfrm>
            <a:off x="7589520" y="3310128"/>
            <a:ext cx="2103120" cy="2721685"/>
          </a:xfrm>
          <a:prstGeom prst="rect">
            <a:avLst/>
          </a:prstGeom>
        </p:spPr>
      </p:pic>
      <p:sp>
        <p:nvSpPr>
          <p:cNvPr id="38" name="Text 35"/>
          <p:cNvSpPr txBox="1"/>
          <p:nvPr/>
        </p:nvSpPr>
        <p:spPr>
          <a:xfrm>
            <a:off x="9875520" y="3310128"/>
            <a:ext cx="1783080" cy="27432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Result</a:t>
            </a:r>
            <a:endParaRPr lang="en-US" sz="1200" dirty="0"/>
          </a:p>
          <a:p>
            <a:pPr indent="0" marL="0">
              <a:buNone/>
            </a:pPr>
            <a:r>
              <a:rPr lang="en-US" sz="1200" dirty="0">
                <a:solidFill>
                  <a:srgbClr val="1F1F2E"/>
                </a:solidFill>
                <a:latin typeface="Calibri" pitchFamily="34" charset="0"/>
                <a:ea typeface="Calibri" pitchFamily="34" charset="-122"/>
                <a:cs typeface="Calibri" pitchFamily="34" charset="-120"/>
              </a:rPr>
              <a:t>One report with Levels 1–4 and a register, like the Sierra Leone example (left: its Level 1 page), plus one workbook.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(B) SUB-DIAGNOSTICS + AGGREGATION</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Four parts in any order, then Part 5 combines them</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548640" y="1371600"/>
            <a:ext cx="2011680" cy="3566160"/>
          </a:xfrm>
          <a:prstGeom prst="roundRect">
            <a:avLst>
              <a:gd name="adj" fmla="val 3636"/>
            </a:avLst>
          </a:prstGeom>
          <a:solidFill>
            <a:srgbClr val="EEF1F7"/>
          </a:solidFill>
          <a:ln w="9525">
            <a:solidFill>
              <a:srgbClr val="D5DAE3"/>
            </a:solidFill>
            <a:prstDash val="solid"/>
          </a:ln>
        </p:spPr>
      </p:sp>
      <p:sp>
        <p:nvSpPr>
          <p:cNvPr id="6" name="Text 4"/>
          <p:cNvSpPr txBox="1"/>
          <p:nvPr/>
        </p:nvSpPr>
        <p:spPr>
          <a:xfrm>
            <a:off x="685800" y="1508760"/>
            <a:ext cx="1737360" cy="329184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Common header</a:t>
            </a:r>
            <a:endParaRPr lang="en-US" sz="1500" dirty="0"/>
          </a:p>
          <a:p>
            <a:pPr indent="0" marL="0">
              <a:buNone/>
            </a:pPr>
            <a:r>
              <a:rPr lang="en-US" sz="1200" dirty="0">
                <a:solidFill>
                  <a:srgbClr val="1F1F2E"/>
                </a:solidFill>
                <a:latin typeface="Calibri" pitchFamily="34" charset="0"/>
                <a:ea typeface="Calibri" pitchFamily="34" charset="-122"/>
                <a:cs typeface="Calibri" pitchFamily="34" charset="-120"/>
              </a:rPr>
              <a:t>Made by the first part you run: country, cut-off date, currency, exchange rate, GDP, list of laws. Every other part reuses it unchanged.</a:t>
            </a:r>
            <a:endParaRPr lang="en-US" sz="1500" dirty="0"/>
          </a:p>
        </p:txBody>
      </p:sp>
      <p:sp>
        <p:nvSpPr>
          <p:cNvPr id="7" name="Shape 5"/>
          <p:cNvSpPr/>
          <p:nvPr/>
        </p:nvSpPr>
        <p:spPr>
          <a:xfrm>
            <a:off x="2971800" y="1371600"/>
            <a:ext cx="4206240" cy="804672"/>
          </a:xfrm>
          <a:prstGeom prst="roundRect">
            <a:avLst>
              <a:gd name="adj" fmla="val 9091"/>
            </a:avLst>
          </a:prstGeom>
          <a:solidFill>
            <a:srgbClr val="EAF4F2"/>
          </a:solidFill>
          <a:ln w="9525">
            <a:solidFill>
              <a:srgbClr val="D5DAE3"/>
            </a:solidFill>
            <a:prstDash val="solid"/>
          </a:ln>
        </p:spPr>
      </p:sp>
      <p:sp>
        <p:nvSpPr>
          <p:cNvPr id="8" name="Shape 6"/>
          <p:cNvSpPr/>
          <p:nvPr/>
        </p:nvSpPr>
        <p:spPr>
          <a:xfrm>
            <a:off x="3090672" y="1554480"/>
            <a:ext cx="420624" cy="420624"/>
          </a:xfrm>
          <a:prstGeom prst="ellipse">
            <a:avLst/>
          </a:prstGeom>
          <a:solidFill>
            <a:srgbClr val="0F7B6C"/>
          </a:solidFill>
          <a:ln w="12700">
            <a:solidFill>
              <a:srgbClr val="0F7B6C"/>
            </a:solidFill>
            <a:prstDash val="solid"/>
          </a:ln>
        </p:spPr>
      </p:sp>
      <p:sp>
        <p:nvSpPr>
          <p:cNvPr id="9" name="Text 7"/>
          <p:cNvSpPr txBox="1"/>
          <p:nvPr/>
        </p:nvSpPr>
        <p:spPr>
          <a:xfrm>
            <a:off x="3090672" y="155448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txBox="1"/>
          <p:nvPr/>
        </p:nvSpPr>
        <p:spPr>
          <a:xfrm>
            <a:off x="3611880" y="1426464"/>
            <a:ext cx="347472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Part 1: Fuel  </a:t>
            </a:r>
            <a:pPr indent="0" marL="0">
              <a:buNone/>
            </a:pPr>
            <a:r>
              <a:rPr lang="en-US" sz="1300" dirty="0">
                <a:solidFill>
                  <a:srgbClr val="1F1F2E"/>
                </a:solidFill>
                <a:latin typeface="Calibri" pitchFamily="34" charset="0"/>
                <a:ea typeface="Calibri" pitchFamily="34" charset="-122"/>
                <a:cs typeface="Calibri" pitchFamily="34" charset="-120"/>
              </a:rPr>
              <a:t>E1–E6</a:t>
            </a:r>
            <a:endParaRPr lang="en-US" sz="1300" dirty="0"/>
          </a:p>
        </p:txBody>
      </p:sp>
      <p:sp>
        <p:nvSpPr>
          <p:cNvPr id="11" name="Text 9"/>
          <p:cNvSpPr txBox="1"/>
          <p:nvPr/>
        </p:nvSpPr>
        <p:spPr>
          <a:xfrm>
            <a:off x="3611880" y="1792224"/>
            <a:ext cx="3474720" cy="320040"/>
          </a:xfrm>
          <a:prstGeom prst="rect">
            <a:avLst/>
          </a:prstGeom>
          <a:noFill/>
          <a:ln/>
        </p:spPr>
        <p:txBody>
          <a:bodyPr wrap="square" lIns="0" tIns="0" rIns="0" bIns="0" rtlCol="0" anchor="ctr"/>
          <a:lstStyle/>
          <a:p>
            <a:pPr indent="0" marL="0">
              <a:buNone/>
            </a:pPr>
            <a:r>
              <a:rPr lang="en-US" sz="950" dirty="0">
                <a:solidFill>
                  <a:srgbClr val="5C667A"/>
                </a:solidFill>
                <a:latin typeface="Courier New" pitchFamily="34" charset="0"/>
                <a:ea typeface="Courier New" pitchFamily="34" charset="-122"/>
                <a:cs typeface="Courier New" pitchFamily="34" charset="-120"/>
              </a:rPr>
              <a:t>excise_part1_fuel.md  →  report + workbook</a:t>
            </a:r>
            <a:endParaRPr lang="en-US" sz="950" dirty="0"/>
          </a:p>
        </p:txBody>
      </p:sp>
      <p:sp>
        <p:nvSpPr>
          <p:cNvPr id="12" name="Shape 10"/>
          <p:cNvSpPr/>
          <p:nvPr/>
        </p:nvSpPr>
        <p:spPr>
          <a:xfrm>
            <a:off x="2560320" y="3154680"/>
            <a:ext cx="411480" cy="-1380744"/>
          </a:xfrm>
          <a:prstGeom prst="line">
            <a:avLst/>
          </a:prstGeom>
          <a:noFill/>
          <a:ln w="25400">
            <a:solidFill>
              <a:srgbClr val="5C667A"/>
            </a:solidFill>
            <a:prstDash val="solid"/>
            <a:tailEnd type="triangle"/>
          </a:ln>
        </p:spPr>
      </p:sp>
      <p:sp>
        <p:nvSpPr>
          <p:cNvPr id="13" name="Shape 11"/>
          <p:cNvSpPr/>
          <p:nvPr/>
        </p:nvSpPr>
        <p:spPr>
          <a:xfrm>
            <a:off x="7178040" y="1773936"/>
            <a:ext cx="457200" cy="1380744"/>
          </a:xfrm>
          <a:prstGeom prst="line">
            <a:avLst/>
          </a:prstGeom>
          <a:noFill/>
          <a:ln w="25400">
            <a:solidFill>
              <a:srgbClr val="5C667A"/>
            </a:solidFill>
            <a:prstDash val="solid"/>
            <a:tailEnd type="triangle"/>
          </a:ln>
        </p:spPr>
      </p:sp>
      <p:sp>
        <p:nvSpPr>
          <p:cNvPr id="14" name="Shape 12"/>
          <p:cNvSpPr/>
          <p:nvPr/>
        </p:nvSpPr>
        <p:spPr>
          <a:xfrm>
            <a:off x="2971800" y="2286000"/>
            <a:ext cx="4206240" cy="804672"/>
          </a:xfrm>
          <a:prstGeom prst="roundRect">
            <a:avLst>
              <a:gd name="adj" fmla="val 9091"/>
            </a:avLst>
          </a:prstGeom>
          <a:solidFill>
            <a:srgbClr val="EAF4F2"/>
          </a:solidFill>
          <a:ln w="9525">
            <a:solidFill>
              <a:srgbClr val="D5DAE3"/>
            </a:solidFill>
            <a:prstDash val="solid"/>
          </a:ln>
        </p:spPr>
      </p:sp>
      <p:sp>
        <p:nvSpPr>
          <p:cNvPr id="15" name="Shape 13"/>
          <p:cNvSpPr/>
          <p:nvPr/>
        </p:nvSpPr>
        <p:spPr>
          <a:xfrm>
            <a:off x="3090672" y="2468880"/>
            <a:ext cx="420624" cy="420624"/>
          </a:xfrm>
          <a:prstGeom prst="ellipse">
            <a:avLst/>
          </a:prstGeom>
          <a:solidFill>
            <a:srgbClr val="0F7B6C"/>
          </a:solidFill>
          <a:ln w="12700">
            <a:solidFill>
              <a:srgbClr val="0F7B6C"/>
            </a:solidFill>
            <a:prstDash val="solid"/>
          </a:ln>
        </p:spPr>
      </p:sp>
      <p:sp>
        <p:nvSpPr>
          <p:cNvPr id="16" name="Text 14"/>
          <p:cNvSpPr txBox="1"/>
          <p:nvPr/>
        </p:nvSpPr>
        <p:spPr>
          <a:xfrm>
            <a:off x="3090672" y="246888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5"/>
          <p:cNvSpPr txBox="1"/>
          <p:nvPr/>
        </p:nvSpPr>
        <p:spPr>
          <a:xfrm>
            <a:off x="3611880" y="2340864"/>
            <a:ext cx="347472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Part 2: Vehicles  </a:t>
            </a:r>
            <a:pPr indent="0" marL="0">
              <a:buNone/>
            </a:pPr>
            <a:r>
              <a:rPr lang="en-US" sz="1300" dirty="0">
                <a:solidFill>
                  <a:srgbClr val="1F1F2E"/>
                </a:solidFill>
                <a:latin typeface="Calibri" pitchFamily="34" charset="0"/>
                <a:ea typeface="Calibri" pitchFamily="34" charset="-122"/>
                <a:cs typeface="Calibri" pitchFamily="34" charset="-120"/>
              </a:rPr>
              <a:t>E8–E9</a:t>
            </a:r>
            <a:endParaRPr lang="en-US" sz="1300" dirty="0"/>
          </a:p>
        </p:txBody>
      </p:sp>
      <p:sp>
        <p:nvSpPr>
          <p:cNvPr id="18" name="Text 16"/>
          <p:cNvSpPr txBox="1"/>
          <p:nvPr/>
        </p:nvSpPr>
        <p:spPr>
          <a:xfrm>
            <a:off x="3611880" y="2706624"/>
            <a:ext cx="3474720" cy="320040"/>
          </a:xfrm>
          <a:prstGeom prst="rect">
            <a:avLst/>
          </a:prstGeom>
          <a:noFill/>
          <a:ln/>
        </p:spPr>
        <p:txBody>
          <a:bodyPr wrap="square" lIns="0" tIns="0" rIns="0" bIns="0" rtlCol="0" anchor="ctr"/>
          <a:lstStyle/>
          <a:p>
            <a:pPr indent="0" marL="0">
              <a:buNone/>
            </a:pPr>
            <a:r>
              <a:rPr lang="en-US" sz="950" dirty="0">
                <a:solidFill>
                  <a:srgbClr val="5C667A"/>
                </a:solidFill>
                <a:latin typeface="Courier New" pitchFamily="34" charset="0"/>
                <a:ea typeface="Courier New" pitchFamily="34" charset="-122"/>
                <a:cs typeface="Courier New" pitchFamily="34" charset="-120"/>
              </a:rPr>
              <a:t>excise_part2_vehicles.md  →  report + workbook</a:t>
            </a:r>
            <a:endParaRPr lang="en-US" sz="950" dirty="0"/>
          </a:p>
        </p:txBody>
      </p:sp>
      <p:sp>
        <p:nvSpPr>
          <p:cNvPr id="19" name="Shape 17"/>
          <p:cNvSpPr/>
          <p:nvPr/>
        </p:nvSpPr>
        <p:spPr>
          <a:xfrm>
            <a:off x="2560320" y="3154680"/>
            <a:ext cx="411480" cy="-466344"/>
          </a:xfrm>
          <a:prstGeom prst="line">
            <a:avLst/>
          </a:prstGeom>
          <a:noFill/>
          <a:ln w="25400">
            <a:solidFill>
              <a:srgbClr val="5C667A"/>
            </a:solidFill>
            <a:prstDash val="solid"/>
            <a:tailEnd type="triangle"/>
          </a:ln>
        </p:spPr>
      </p:sp>
      <p:sp>
        <p:nvSpPr>
          <p:cNvPr id="20" name="Shape 18"/>
          <p:cNvSpPr/>
          <p:nvPr/>
        </p:nvSpPr>
        <p:spPr>
          <a:xfrm>
            <a:off x="7178040" y="2688336"/>
            <a:ext cx="457200" cy="466344"/>
          </a:xfrm>
          <a:prstGeom prst="line">
            <a:avLst/>
          </a:prstGeom>
          <a:noFill/>
          <a:ln w="25400">
            <a:solidFill>
              <a:srgbClr val="5C667A"/>
            </a:solidFill>
            <a:prstDash val="solid"/>
            <a:tailEnd type="triangle"/>
          </a:ln>
        </p:spPr>
      </p:sp>
      <p:sp>
        <p:nvSpPr>
          <p:cNvPr id="21" name="Shape 19"/>
          <p:cNvSpPr/>
          <p:nvPr/>
        </p:nvSpPr>
        <p:spPr>
          <a:xfrm>
            <a:off x="2971800" y="3200400"/>
            <a:ext cx="4206240" cy="804672"/>
          </a:xfrm>
          <a:prstGeom prst="roundRect">
            <a:avLst>
              <a:gd name="adj" fmla="val 9091"/>
            </a:avLst>
          </a:prstGeom>
          <a:solidFill>
            <a:srgbClr val="EAF4F2"/>
          </a:solidFill>
          <a:ln w="9525">
            <a:solidFill>
              <a:srgbClr val="D5DAE3"/>
            </a:solidFill>
            <a:prstDash val="solid"/>
          </a:ln>
        </p:spPr>
      </p:sp>
      <p:sp>
        <p:nvSpPr>
          <p:cNvPr id="22" name="Shape 20"/>
          <p:cNvSpPr/>
          <p:nvPr/>
        </p:nvSpPr>
        <p:spPr>
          <a:xfrm>
            <a:off x="3090672" y="3383280"/>
            <a:ext cx="420624" cy="420624"/>
          </a:xfrm>
          <a:prstGeom prst="ellipse">
            <a:avLst/>
          </a:prstGeom>
          <a:solidFill>
            <a:srgbClr val="0F7B6C"/>
          </a:solidFill>
          <a:ln w="12700">
            <a:solidFill>
              <a:srgbClr val="0F7B6C"/>
            </a:solidFill>
            <a:prstDash val="solid"/>
          </a:ln>
        </p:spPr>
      </p:sp>
      <p:sp>
        <p:nvSpPr>
          <p:cNvPr id="23" name="Text 21"/>
          <p:cNvSpPr txBox="1"/>
          <p:nvPr/>
        </p:nvSpPr>
        <p:spPr>
          <a:xfrm>
            <a:off x="3090672" y="338328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22"/>
          <p:cNvSpPr txBox="1"/>
          <p:nvPr/>
        </p:nvSpPr>
        <p:spPr>
          <a:xfrm>
            <a:off x="3611880" y="3255264"/>
            <a:ext cx="347472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Part 3: Health  </a:t>
            </a:r>
            <a:pPr indent="0" marL="0">
              <a:buNone/>
            </a:pPr>
            <a:r>
              <a:rPr lang="en-US" sz="1300" dirty="0">
                <a:solidFill>
                  <a:srgbClr val="1F1F2E"/>
                </a:solidFill>
                <a:latin typeface="Calibri" pitchFamily="34" charset="0"/>
                <a:ea typeface="Calibri" pitchFamily="34" charset="-122"/>
                <a:cs typeface="Calibri" pitchFamily="34" charset="-120"/>
              </a:rPr>
              <a:t>Tobacco, alcohol, SSBs, sugar</a:t>
            </a:r>
            <a:endParaRPr lang="en-US" sz="1300" dirty="0"/>
          </a:p>
        </p:txBody>
      </p:sp>
      <p:sp>
        <p:nvSpPr>
          <p:cNvPr id="25" name="Text 23"/>
          <p:cNvSpPr txBox="1"/>
          <p:nvPr/>
        </p:nvSpPr>
        <p:spPr>
          <a:xfrm>
            <a:off x="3611880" y="3621024"/>
            <a:ext cx="3474720" cy="320040"/>
          </a:xfrm>
          <a:prstGeom prst="rect">
            <a:avLst/>
          </a:prstGeom>
          <a:noFill/>
          <a:ln/>
        </p:spPr>
        <p:txBody>
          <a:bodyPr wrap="square" lIns="0" tIns="0" rIns="0" bIns="0" rtlCol="0" anchor="ctr"/>
          <a:lstStyle/>
          <a:p>
            <a:pPr indent="0" marL="0">
              <a:buNone/>
            </a:pPr>
            <a:r>
              <a:rPr lang="en-US" sz="950" dirty="0">
                <a:solidFill>
                  <a:srgbClr val="5C667A"/>
                </a:solidFill>
                <a:latin typeface="Courier New" pitchFamily="34" charset="0"/>
                <a:ea typeface="Courier New" pitchFamily="34" charset="-122"/>
                <a:cs typeface="Courier New" pitchFamily="34" charset="-120"/>
              </a:rPr>
              <a:t>excise_part3_health.md  →  report + workbook</a:t>
            </a:r>
            <a:endParaRPr lang="en-US" sz="950" dirty="0"/>
          </a:p>
        </p:txBody>
      </p:sp>
      <p:sp>
        <p:nvSpPr>
          <p:cNvPr id="26" name="Shape 24"/>
          <p:cNvSpPr/>
          <p:nvPr/>
        </p:nvSpPr>
        <p:spPr>
          <a:xfrm>
            <a:off x="2560320" y="3154680"/>
            <a:ext cx="411480" cy="448056"/>
          </a:xfrm>
          <a:prstGeom prst="line">
            <a:avLst/>
          </a:prstGeom>
          <a:noFill/>
          <a:ln w="25400">
            <a:solidFill>
              <a:srgbClr val="5C667A"/>
            </a:solidFill>
            <a:prstDash val="solid"/>
            <a:tailEnd type="triangle"/>
          </a:ln>
        </p:spPr>
      </p:sp>
      <p:sp>
        <p:nvSpPr>
          <p:cNvPr id="27" name="Shape 25"/>
          <p:cNvSpPr/>
          <p:nvPr/>
        </p:nvSpPr>
        <p:spPr>
          <a:xfrm>
            <a:off x="7178040" y="3602736"/>
            <a:ext cx="457200" cy="-448056"/>
          </a:xfrm>
          <a:prstGeom prst="line">
            <a:avLst/>
          </a:prstGeom>
          <a:noFill/>
          <a:ln w="25400">
            <a:solidFill>
              <a:srgbClr val="5C667A"/>
            </a:solidFill>
            <a:prstDash val="solid"/>
            <a:tailEnd type="triangle"/>
          </a:ln>
        </p:spPr>
      </p:sp>
      <p:sp>
        <p:nvSpPr>
          <p:cNvPr id="28" name="Shape 26"/>
          <p:cNvSpPr/>
          <p:nvPr/>
        </p:nvSpPr>
        <p:spPr>
          <a:xfrm>
            <a:off x="2971800" y="4114800"/>
            <a:ext cx="4206240" cy="804672"/>
          </a:xfrm>
          <a:prstGeom prst="roundRect">
            <a:avLst>
              <a:gd name="adj" fmla="val 9091"/>
            </a:avLst>
          </a:prstGeom>
          <a:solidFill>
            <a:srgbClr val="EAF4F2"/>
          </a:solidFill>
          <a:ln w="9525">
            <a:solidFill>
              <a:srgbClr val="D5DAE3"/>
            </a:solidFill>
            <a:prstDash val="solid"/>
          </a:ln>
        </p:spPr>
      </p:sp>
      <p:sp>
        <p:nvSpPr>
          <p:cNvPr id="29" name="Shape 27"/>
          <p:cNvSpPr/>
          <p:nvPr/>
        </p:nvSpPr>
        <p:spPr>
          <a:xfrm>
            <a:off x="3090672" y="4297680"/>
            <a:ext cx="420624" cy="420624"/>
          </a:xfrm>
          <a:prstGeom prst="ellipse">
            <a:avLst/>
          </a:prstGeom>
          <a:solidFill>
            <a:srgbClr val="0F7B6C"/>
          </a:solidFill>
          <a:ln w="12700">
            <a:solidFill>
              <a:srgbClr val="0F7B6C"/>
            </a:solidFill>
            <a:prstDash val="solid"/>
          </a:ln>
        </p:spPr>
      </p:sp>
      <p:sp>
        <p:nvSpPr>
          <p:cNvPr id="30" name="Text 28"/>
          <p:cNvSpPr txBox="1"/>
          <p:nvPr/>
        </p:nvSpPr>
        <p:spPr>
          <a:xfrm>
            <a:off x="3090672" y="429768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1" name="Text 29"/>
          <p:cNvSpPr txBox="1"/>
          <p:nvPr/>
        </p:nvSpPr>
        <p:spPr>
          <a:xfrm>
            <a:off x="3611880" y="4169664"/>
            <a:ext cx="347472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Part 4: Other  </a:t>
            </a:r>
            <a:pPr indent="0" marL="0">
              <a:buNone/>
            </a:pPr>
            <a:r>
              <a:rPr lang="en-US" sz="1300" dirty="0">
                <a:solidFill>
                  <a:srgbClr val="1F1F2E"/>
                </a:solidFill>
                <a:latin typeface="Calibri" pitchFamily="34" charset="0"/>
                <a:ea typeface="Calibri" pitchFamily="34" charset="-122"/>
                <a:cs typeface="Calibri" pitchFamily="34" charset="-120"/>
              </a:rPr>
              <a:t>Plastics, gambling, cement...</a:t>
            </a:r>
            <a:endParaRPr lang="en-US" sz="1300" dirty="0"/>
          </a:p>
        </p:txBody>
      </p:sp>
      <p:sp>
        <p:nvSpPr>
          <p:cNvPr id="32" name="Text 30"/>
          <p:cNvSpPr txBox="1"/>
          <p:nvPr/>
        </p:nvSpPr>
        <p:spPr>
          <a:xfrm>
            <a:off x="3611880" y="4535424"/>
            <a:ext cx="3474720" cy="320040"/>
          </a:xfrm>
          <a:prstGeom prst="rect">
            <a:avLst/>
          </a:prstGeom>
          <a:noFill/>
          <a:ln/>
        </p:spPr>
        <p:txBody>
          <a:bodyPr wrap="square" lIns="0" tIns="0" rIns="0" bIns="0" rtlCol="0" anchor="ctr"/>
          <a:lstStyle/>
          <a:p>
            <a:pPr indent="0" marL="0">
              <a:buNone/>
            </a:pPr>
            <a:r>
              <a:rPr lang="en-US" sz="950" dirty="0">
                <a:solidFill>
                  <a:srgbClr val="5C667A"/>
                </a:solidFill>
                <a:latin typeface="Courier New" pitchFamily="34" charset="0"/>
                <a:ea typeface="Courier New" pitchFamily="34" charset="-122"/>
                <a:cs typeface="Courier New" pitchFamily="34" charset="-120"/>
              </a:rPr>
              <a:t>excise_part4_other.md  →  report + workbook</a:t>
            </a:r>
            <a:endParaRPr lang="en-US" sz="950" dirty="0"/>
          </a:p>
        </p:txBody>
      </p:sp>
      <p:sp>
        <p:nvSpPr>
          <p:cNvPr id="33" name="Shape 31"/>
          <p:cNvSpPr/>
          <p:nvPr/>
        </p:nvSpPr>
        <p:spPr>
          <a:xfrm>
            <a:off x="2560320" y="3154680"/>
            <a:ext cx="411480" cy="1362456"/>
          </a:xfrm>
          <a:prstGeom prst="line">
            <a:avLst/>
          </a:prstGeom>
          <a:noFill/>
          <a:ln w="25400">
            <a:solidFill>
              <a:srgbClr val="5C667A"/>
            </a:solidFill>
            <a:prstDash val="solid"/>
            <a:tailEnd type="triangle"/>
          </a:ln>
        </p:spPr>
      </p:sp>
      <p:sp>
        <p:nvSpPr>
          <p:cNvPr id="34" name="Shape 32"/>
          <p:cNvSpPr/>
          <p:nvPr/>
        </p:nvSpPr>
        <p:spPr>
          <a:xfrm>
            <a:off x="7178040" y="4517136"/>
            <a:ext cx="457200" cy="-1362456"/>
          </a:xfrm>
          <a:prstGeom prst="line">
            <a:avLst/>
          </a:prstGeom>
          <a:noFill/>
          <a:ln w="25400">
            <a:solidFill>
              <a:srgbClr val="5C667A"/>
            </a:solidFill>
            <a:prstDash val="solid"/>
            <a:tailEnd type="triangle"/>
          </a:ln>
        </p:spPr>
      </p:sp>
      <p:sp>
        <p:nvSpPr>
          <p:cNvPr id="35" name="Shape 33"/>
          <p:cNvSpPr/>
          <p:nvPr/>
        </p:nvSpPr>
        <p:spPr>
          <a:xfrm>
            <a:off x="7635240" y="2011680"/>
            <a:ext cx="4005072" cy="2286000"/>
          </a:xfrm>
          <a:prstGeom prst="roundRect">
            <a:avLst>
              <a:gd name="adj" fmla="val 3200"/>
            </a:avLst>
          </a:prstGeom>
          <a:solidFill>
            <a:srgbClr val="FDF3E6"/>
          </a:solidFill>
          <a:ln w="9525">
            <a:solidFill>
              <a:srgbClr val="D5DAE3"/>
            </a:solidFill>
            <a:prstDash val="solid"/>
          </a:ln>
        </p:spPr>
      </p:sp>
      <p:sp>
        <p:nvSpPr>
          <p:cNvPr id="36" name="Shape 34"/>
          <p:cNvSpPr/>
          <p:nvPr/>
        </p:nvSpPr>
        <p:spPr>
          <a:xfrm>
            <a:off x="7772400" y="2148840"/>
            <a:ext cx="457200" cy="457200"/>
          </a:xfrm>
          <a:prstGeom prst="ellipse">
            <a:avLst/>
          </a:prstGeom>
          <a:solidFill>
            <a:srgbClr val="E08A1E"/>
          </a:solidFill>
          <a:ln w="12700">
            <a:solidFill>
              <a:srgbClr val="E08A1E"/>
            </a:solidFill>
            <a:prstDash val="solid"/>
          </a:ln>
        </p:spPr>
      </p:sp>
      <p:sp>
        <p:nvSpPr>
          <p:cNvPr id="37" name="Text 35"/>
          <p:cNvSpPr txBox="1"/>
          <p:nvPr/>
        </p:nvSpPr>
        <p:spPr>
          <a:xfrm>
            <a:off x="7772400" y="21488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8" name="Text 36"/>
          <p:cNvSpPr txBox="1"/>
          <p:nvPr/>
        </p:nvSpPr>
        <p:spPr>
          <a:xfrm>
            <a:off x="8321040" y="2103120"/>
            <a:ext cx="3200400" cy="210312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Part 5: Overarching (always last)</a:t>
            </a:r>
            <a:endParaRPr lang="en-US" sz="1500" dirty="0"/>
          </a:p>
          <a:p>
            <a:pPr indent="0" marL="0">
              <a:buNone/>
            </a:pPr>
            <a:r>
              <a:rPr lang="en-US" sz="1200" dirty="0">
                <a:solidFill>
                  <a:srgbClr val="1F1F2E"/>
                </a:solidFill>
                <a:latin typeface="Calibri" pitchFamily="34" charset="0"/>
                <a:ea typeface="Calibri" pitchFamily="34" charset="-122"/>
                <a:cs typeface="Calibri" pitchFamily="34" charset="-120"/>
              </a:rPr>
              <a:t>Reads the four part workbooks. Writes the framework (total revenue, legal framework, indexation rule, records check) and stacks everything into one master workbook and full report.</a:t>
            </a:r>
            <a:endParaRPr lang="en-US" sz="1500" dirty="0"/>
          </a:p>
        </p:txBody>
      </p:sp>
      <p:sp>
        <p:nvSpPr>
          <p:cNvPr id="39" name="Text 37"/>
          <p:cNvSpPr txBox="1"/>
          <p:nvPr/>
        </p:nvSpPr>
        <p:spPr>
          <a:xfrm>
            <a:off x="548640" y="5120640"/>
            <a:ext cx="54864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Prompts in each part file (section 9 / 8)</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5468112"/>
          <a:ext cx="11091672" cy="914400"/>
        </p:xfrm>
        <a:graphic>
          <a:graphicData uri="http://schemas.openxmlformats.org/drawingml/2006/table">
            <a:tbl>
              <a:tblPr/>
              <a:tblGrid>
                <a:gridCol w="1097280"/>
                <a:gridCol w="1737360"/>
                <a:gridCol w="1234440"/>
                <a:gridCol w="1280160"/>
                <a:gridCol w="1783080"/>
                <a:gridCol w="1280160"/>
                <a:gridCol w="1371600"/>
                <a:gridCol w="1307592"/>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Parts 1–4</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P0 header (first part only)</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P1 history</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P2 schedule</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P3 measure + workbook</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P4 findings</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P5 peer review</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P6 report</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r>
              <a:tr h="384048">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Part 5</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O1 checks</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O2 framework</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O3 aggregate</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O4 review</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O5 report + master workbook</a:t>
                      </a: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WHEN THE AI ASKS FOR DOWNLOADS</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data step: a links list and a .bat file</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5504688" cy="3397282"/>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links_list.png">    </p:cNvPr>
          <p:cNvPicPr>
            <a:picLocks noChangeAspect="1"/>
          </p:cNvPicPr>
          <p:nvPr/>
        </p:nvPicPr>
        <p:blipFill>
          <a:blip r:embed="rId1"/>
          <a:stretch>
            <a:fillRect/>
          </a:stretch>
        </p:blipFill>
        <p:spPr>
          <a:xfrm>
            <a:off x="548640" y="1371600"/>
            <a:ext cx="5394960" cy="3287554"/>
          </a:xfrm>
          <a:prstGeom prst="rect">
            <a:avLst/>
          </a:prstGeom>
        </p:spPr>
      </p:pic>
      <p:sp>
        <p:nvSpPr>
          <p:cNvPr id="7" name="Shape 4"/>
          <p:cNvSpPr/>
          <p:nvPr/>
        </p:nvSpPr>
        <p:spPr>
          <a:xfrm>
            <a:off x="6190488" y="1316736"/>
            <a:ext cx="5504688" cy="3397282"/>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8" name="Image 1" descr="/home/claude/guide/img/bat_run.png">    </p:cNvPr>
          <p:cNvPicPr>
            <a:picLocks noChangeAspect="1"/>
          </p:cNvPicPr>
          <p:nvPr/>
        </p:nvPicPr>
        <p:blipFill>
          <a:blip r:embed="rId2"/>
          <a:stretch>
            <a:fillRect/>
          </a:stretch>
        </p:blipFill>
        <p:spPr>
          <a:xfrm>
            <a:off x="6245352" y="1371600"/>
            <a:ext cx="5394960" cy="3287554"/>
          </a:xfrm>
          <a:prstGeom prst="rect">
            <a:avLst/>
          </a:prstGeom>
        </p:spPr>
      </p:pic>
      <p:sp>
        <p:nvSpPr>
          <p:cNvPr id="9" name="Shape 5"/>
          <p:cNvSpPr/>
          <p:nvPr/>
        </p:nvSpPr>
        <p:spPr>
          <a:xfrm>
            <a:off x="548640" y="4864608"/>
            <a:ext cx="365760" cy="365760"/>
          </a:xfrm>
          <a:prstGeom prst="ellipse">
            <a:avLst/>
          </a:prstGeom>
          <a:solidFill>
            <a:srgbClr val="E08A1E"/>
          </a:solidFill>
          <a:ln w="12700">
            <a:solidFill>
              <a:srgbClr val="E08A1E"/>
            </a:solidFill>
            <a:prstDash val="solid"/>
          </a:ln>
        </p:spPr>
      </p:sp>
      <p:sp>
        <p:nvSpPr>
          <p:cNvPr id="10" name="Text 6"/>
          <p:cNvSpPr txBox="1"/>
          <p:nvPr/>
        </p:nvSpPr>
        <p:spPr>
          <a:xfrm>
            <a:off x="548640" y="4864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4846320"/>
            <a:ext cx="4892040" cy="91440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The AI stops and gives you two files</a:t>
            </a:r>
            <a:endParaRPr lang="en-US" sz="1400" dirty="0"/>
          </a:p>
          <a:p>
            <a:pPr indent="0" marL="0">
              <a:spcAft>
                <a:spcPts val="200"/>
              </a:spcAft>
              <a:buNone/>
            </a:pPr>
            <a:r>
              <a:rPr lang="en-US" sz="1200" dirty="0">
                <a:solidFill>
                  <a:srgbClr val="1F1F2E"/>
                </a:solidFill>
                <a:latin typeface="Calibri" pitchFamily="34" charset="0"/>
                <a:ea typeface="Calibri" pitchFamily="34" charset="-122"/>
                <a:cs typeface="Calibri" pitchFamily="34" charset="-120"/>
              </a:rPr>
              <a:t>A links list (what each document is for) and a .bat script. Save both in one folder.</a:t>
            </a:r>
            <a:endParaRPr lang="en-US" sz="1400" dirty="0"/>
          </a:p>
        </p:txBody>
      </p:sp>
      <p:sp>
        <p:nvSpPr>
          <p:cNvPr id="12" name="Shape 8"/>
          <p:cNvSpPr/>
          <p:nvPr/>
        </p:nvSpPr>
        <p:spPr>
          <a:xfrm>
            <a:off x="6245352" y="4864608"/>
            <a:ext cx="365760" cy="365760"/>
          </a:xfrm>
          <a:prstGeom prst="ellipse">
            <a:avLst/>
          </a:prstGeom>
          <a:solidFill>
            <a:srgbClr val="E08A1E"/>
          </a:solidFill>
          <a:ln w="12700">
            <a:solidFill>
              <a:srgbClr val="E08A1E"/>
            </a:solidFill>
            <a:prstDash val="solid"/>
          </a:ln>
        </p:spPr>
      </p:sp>
      <p:sp>
        <p:nvSpPr>
          <p:cNvPr id="13" name="Text 9"/>
          <p:cNvSpPr txBox="1"/>
          <p:nvPr/>
        </p:nvSpPr>
        <p:spPr>
          <a:xfrm>
            <a:off x="6245352" y="4864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0"/>
          <p:cNvSpPr txBox="1"/>
          <p:nvPr/>
        </p:nvSpPr>
        <p:spPr>
          <a:xfrm>
            <a:off x="6748272" y="4846320"/>
            <a:ext cx="4892040" cy="73152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Double-click the .bat</a:t>
            </a:r>
            <a:endParaRPr lang="en-US" sz="1400" dirty="0"/>
          </a:p>
          <a:p>
            <a:pPr indent="0" marL="0">
              <a:spcAft>
                <a:spcPts val="200"/>
              </a:spcAft>
              <a:buNone/>
            </a:pPr>
            <a:r>
              <a:rPr lang="en-US" sz="1200" dirty="0">
                <a:solidFill>
                  <a:srgbClr val="1F1F2E"/>
                </a:solidFill>
                <a:latin typeface="Calibri" pitchFamily="34" charset="0"/>
                <a:ea typeface="Calibri" pitchFamily="34" charset="-122"/>
                <a:cs typeface="Calibri" pitchFamily="34" charset="-120"/>
              </a:rPr>
              <a:t>If Windows warns you: More info → Run anyway (only for files from your own run).</a:t>
            </a:r>
            <a:endParaRPr lang="en-US" sz="1400" dirty="0"/>
          </a:p>
        </p:txBody>
      </p:sp>
      <p:sp>
        <p:nvSpPr>
          <p:cNvPr id="15" name="Shape 11"/>
          <p:cNvSpPr/>
          <p:nvPr/>
        </p:nvSpPr>
        <p:spPr>
          <a:xfrm>
            <a:off x="6245352" y="5596128"/>
            <a:ext cx="365760" cy="365760"/>
          </a:xfrm>
          <a:prstGeom prst="ellipse">
            <a:avLst/>
          </a:prstGeom>
          <a:solidFill>
            <a:srgbClr val="E08A1E"/>
          </a:solidFill>
          <a:ln w="12700">
            <a:solidFill>
              <a:srgbClr val="E08A1E"/>
            </a:solidFill>
            <a:prstDash val="solid"/>
          </a:ln>
        </p:spPr>
      </p:sp>
      <p:sp>
        <p:nvSpPr>
          <p:cNvPr id="16" name="Text 12"/>
          <p:cNvSpPr txBox="1"/>
          <p:nvPr/>
        </p:nvSpPr>
        <p:spPr>
          <a:xfrm>
            <a:off x="6245352" y="5596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txBox="1"/>
          <p:nvPr/>
        </p:nvSpPr>
        <p:spPr>
          <a:xfrm>
            <a:off x="6748272" y="5577840"/>
            <a:ext cx="4892040" cy="731520"/>
          </a:xfrm>
          <a:prstGeom prst="rect">
            <a:avLst/>
          </a:prstGeom>
          <a:noFill/>
          <a:ln/>
        </p:spPr>
        <p:txBody>
          <a:bodyPr wrap="square" lIns="0" tIns="0" rIns="0" bIns="0" rtlCol="0" anchor="t"/>
          <a:lstStyle/>
          <a:p>
            <a:pPr indent="0" marL="0">
              <a:spcAft>
                <a:spcPts val="200"/>
              </a:spcAft>
              <a:buNone/>
            </a:pPr>
            <a:r>
              <a:rPr lang="en-US" sz="1400" b="1" dirty="0">
                <a:solidFill>
                  <a:srgbClr val="1E2761"/>
                </a:solidFill>
                <a:latin typeface="Calibri" pitchFamily="34" charset="0"/>
                <a:ea typeface="Calibri" pitchFamily="34" charset="-122"/>
                <a:cs typeface="Calibri" pitchFamily="34" charset="-120"/>
              </a:rPr>
              <a:t>Check the log, then upload</a:t>
            </a:r>
            <a:endParaRPr lang="en-US" sz="1400" dirty="0"/>
          </a:p>
          <a:p>
            <a:pPr indent="0" marL="0">
              <a:spcAft>
                <a:spcPts val="200"/>
              </a:spcAft>
              <a:buNone/>
            </a:pPr>
            <a:r>
              <a:rPr lang="en-US" sz="1200" dirty="0">
                <a:solidFill>
                  <a:srgbClr val="1F1F2E"/>
                </a:solidFill>
                <a:latin typeface="Calibri" pitchFamily="34" charset="0"/>
                <a:ea typeface="Calibri" pitchFamily="34" charset="-122"/>
                <a:cs typeface="Calibri" pitchFamily="34" charset="-120"/>
              </a:rPr>
              <a:t>Download FAILED or MANUAL items by hand. Upload the sources folder and continue.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HOW THE OUTPUTS ARE MADE</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the Excel workbook is produced</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493776" y="1316736"/>
            <a:ext cx="6693408" cy="4121658"/>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6" name="Image 0" descr="/home/claude/guide/img/workbook_code.png">    </p:cNvPr>
          <p:cNvPicPr>
            <a:picLocks noChangeAspect="1"/>
          </p:cNvPicPr>
          <p:nvPr/>
        </p:nvPicPr>
        <p:blipFill>
          <a:blip r:embed="rId1"/>
          <a:stretch>
            <a:fillRect/>
          </a:stretch>
        </p:blipFill>
        <p:spPr>
          <a:xfrm>
            <a:off x="548640" y="1371600"/>
            <a:ext cx="6583680" cy="4011930"/>
          </a:xfrm>
          <a:prstGeom prst="rect">
            <a:avLst/>
          </a:prstGeom>
        </p:spPr>
      </p:pic>
      <p:sp>
        <p:nvSpPr>
          <p:cNvPr id="7" name="Text 4"/>
          <p:cNvSpPr txBox="1"/>
          <p:nvPr/>
        </p:nvSpPr>
        <p:spPr>
          <a:xfrm>
            <a:off x="548640" y="5532120"/>
            <a:ext cx="6583680" cy="457200"/>
          </a:xfrm>
          <a:prstGeom prst="rect">
            <a:avLst/>
          </a:prstGeom>
          <a:noFill/>
          <a:ln/>
        </p:spPr>
        <p:txBody>
          <a:bodyPr wrap="square" lIns="0" tIns="0" rIns="0" bIns="0" rtlCol="0" anchor="ctr"/>
          <a:lstStyle/>
          <a:p>
            <a:pPr indent="0" marL="0">
              <a:buNone/>
            </a:pPr>
            <a:r>
              <a:rPr lang="en-US" sz="1150" i="1" dirty="0">
                <a:solidFill>
                  <a:srgbClr val="5C667A"/>
                </a:solidFill>
                <a:latin typeface="Calibri" pitchFamily="34" charset="0"/>
                <a:ea typeface="Calibri" pitchFamily="34" charset="-122"/>
                <a:cs typeface="Calibri" pitchFamily="34" charset="-120"/>
              </a:rPr>
              <a:t>Blue = typed inputs (rates, prices). Green = formulas (US$ per unit, data quality). Real Sierra Leone rows.</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142232" cy="914400"/>
        </p:xfrm>
        <a:graphic>
          <a:graphicData uri="http://schemas.openxmlformats.org/drawingml/2006/table">
            <a:tbl>
              <a:tblPr/>
              <a:tblGrid>
                <a:gridCol w="777240"/>
                <a:gridCol w="3364992"/>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lands in the workbook</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r>
              <a:tr h="502920">
                <a:tc>
                  <a:txBody>
                    <a:bodyPr/>
                    <a:lstStyle/>
                    <a:p>
                      <a:pPr indent="0" marL="0">
                        <a:buNone/>
                      </a:pPr>
                      <a:r>
                        <a:rPr lang="en-US" sz="1150" b="1" dirty="0">
                          <a:solidFill>
                            <a:srgbClr val="0F7B6C"/>
                          </a:solidFill>
                          <a:latin typeface="Calibri" pitchFamily="34" charset="0"/>
                          <a:ea typeface="Calibri" pitchFamily="34" charset="-122"/>
                          <a:cs typeface="Calibri" pitchFamily="34" charset="-120"/>
                        </a:rPr>
                        <a:t>A1–A2</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Every national rate, with its law and date</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914400">
                <a:tc>
                  <a:txBody>
                    <a:bodyPr/>
                    <a:lstStyle/>
                    <a:p>
                      <a:pPr indent="0" marL="0">
                        <a:buNone/>
                      </a:pPr>
                      <a:r>
                        <a:rPr lang="en-US" sz="1150" b="1" dirty="0">
                          <a:solidFill>
                            <a:srgbClr val="0F7B6C"/>
                          </a:solidFill>
                          <a:latin typeface="Calibri" pitchFamily="34" charset="0"/>
                          <a:ea typeface="Calibri" pitchFamily="34" charset="-122"/>
                          <a:cs typeface="Calibri" pitchFamily="34" charset="-120"/>
                        </a:rPr>
                        <a:t>A3</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Std_Schedule_Code: one row per rate part; Parameters (exchange rate, GDP, prices); Std_Schedule (30 lines)</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r>
              <a:tr h="548640">
                <a:tc>
                  <a:txBody>
                    <a:bodyPr/>
                    <a:lstStyle/>
                    <a:p>
                      <a:pPr indent="0" marL="0">
                        <a:buNone/>
                      </a:pPr>
                      <a:r>
                        <a:rPr lang="en-US" sz="1150" b="1" dirty="0">
                          <a:solidFill>
                            <a:srgbClr val="0F7B6C"/>
                          </a:solidFill>
                          <a:latin typeface="Calibri" pitchFamily="34" charset="0"/>
                          <a:ea typeface="Calibri" pitchFamily="34" charset="-122"/>
                          <a:cs typeface="Calibri" pitchFamily="34" charset="-120"/>
                        </a:rPr>
                        <a:t>A4</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Country_Metrics: revenue, rate intensity, key questions</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0F7B6C"/>
                          </a:solidFill>
                          <a:latin typeface="Calibri" pitchFamily="34" charset="0"/>
                          <a:ea typeface="Calibri" pitchFamily="34" charset="-122"/>
                          <a:cs typeface="Calibri" pitchFamily="34" charset="-120"/>
                        </a:rPr>
                        <a:t>A5</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review_status + reference on every row → data-quality score (DQ_Scale)</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r>
              <a:tr h="548640">
                <a:tc>
                  <a:txBody>
                    <a:bodyPr/>
                    <a:lstStyle/>
                    <a:p>
                      <a:pPr indent="0" marL="0">
                        <a:buNone/>
                      </a:pPr>
                      <a:r>
                        <a:rPr lang="en-US" sz="1150" b="1" dirty="0">
                          <a:solidFill>
                            <a:srgbClr val="0F7B6C"/>
                          </a:solidFill>
                          <a:latin typeface="Calibri" pitchFamily="34" charset="0"/>
                          <a:ea typeface="Calibri" pitchFamily="34" charset="-122"/>
                          <a:cs typeface="Calibri" pitchFamily="34" charset="-120"/>
                        </a:rPr>
                        <a:t>Auto</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Summary, Part_Map and Part_Summary update by formula</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9" name="Shape 5"/>
          <p:cNvSpPr/>
          <p:nvPr/>
        </p:nvSpPr>
        <p:spPr>
          <a:xfrm>
            <a:off x="7498080" y="5166360"/>
            <a:ext cx="4142232" cy="1051560"/>
          </a:xfrm>
          <a:prstGeom prst="roundRect">
            <a:avLst>
              <a:gd name="adj" fmla="val 6957"/>
            </a:avLst>
          </a:prstGeom>
          <a:solidFill>
            <a:srgbClr val="EAF4F2"/>
          </a:solidFill>
          <a:ln w="9525">
            <a:solidFill>
              <a:srgbClr val="D5DAE3"/>
            </a:solidFill>
            <a:prstDash val="solid"/>
          </a:ln>
        </p:spPr>
      </p:sp>
      <p:sp>
        <p:nvSpPr>
          <p:cNvPr id="10" name="Text 6"/>
          <p:cNvSpPr txBox="1"/>
          <p:nvPr/>
        </p:nvSpPr>
        <p:spPr>
          <a:xfrm>
            <a:off x="7635240" y="5230368"/>
            <a:ext cx="3886200" cy="914400"/>
          </a:xfrm>
          <a:prstGeom prst="rect">
            <a:avLst/>
          </a:prstGeom>
          <a:noFill/>
          <a:ln/>
        </p:spPr>
        <p:txBody>
          <a:bodyPr wrap="square" lIns="0" tIns="0" rIns="0" bIns="0" rtlCol="0" anchor="ctr"/>
          <a:lstStyle/>
          <a:p>
            <a:pPr indent="0" marL="0">
              <a:buNone/>
            </a:pPr>
            <a:r>
              <a:rPr lang="en-US" sz="1250" b="1" dirty="0">
                <a:solidFill>
                  <a:srgbClr val="0F7B6C"/>
                </a:solidFill>
                <a:latin typeface="Calibri" pitchFamily="34" charset="0"/>
                <a:ea typeface="Calibri" pitchFamily="34" charset="-122"/>
                <a:cs typeface="Calibri" pitchFamily="34" charset="-120"/>
              </a:rPr>
              <a:t>The AI fills the workbook with Python and recalculates it. Ship it only with zero formula errors.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HOW THE OUTPUTS ARE MADE</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the report is produced: built bottom-up, read top-down</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1508760" y="1417320"/>
            <a:ext cx="2377440" cy="731520"/>
          </a:xfrm>
          <a:prstGeom prst="roundRect">
            <a:avLst>
              <a:gd name="adj" fmla="val 7500"/>
            </a:avLst>
          </a:prstGeom>
          <a:solidFill>
            <a:srgbClr val="1E2761"/>
          </a:solidFill>
          <a:ln w="12700">
            <a:solidFill>
              <a:srgbClr val="FFFFFF"/>
            </a:solidFill>
            <a:prstDash val="solid"/>
          </a:ln>
        </p:spPr>
      </p:sp>
      <p:sp>
        <p:nvSpPr>
          <p:cNvPr id="6" name="Text 4"/>
          <p:cNvSpPr txBox="1"/>
          <p:nvPr/>
        </p:nvSpPr>
        <p:spPr>
          <a:xfrm>
            <a:off x="1600200" y="1417320"/>
            <a:ext cx="219456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Level 1  </a:t>
            </a:r>
            <a:pPr algn="ctr" indent="0" marL="0">
              <a:buNone/>
            </a:pPr>
            <a:r>
              <a:rPr lang="en-US" sz="1150" dirty="0">
                <a:solidFill>
                  <a:srgbClr val="FFFFFF"/>
                </a:solidFill>
                <a:latin typeface="Calibri" pitchFamily="34" charset="0"/>
                <a:ea typeface="Calibri" pitchFamily="34" charset="-122"/>
                <a:cs typeface="Calibri" pitchFamily="34" charset="-120"/>
              </a:rPr>
              <a:t>Key metrics, findings, issues</a:t>
            </a:r>
            <a:endParaRPr lang="en-US" sz="1350" dirty="0"/>
          </a:p>
        </p:txBody>
      </p:sp>
      <p:sp>
        <p:nvSpPr>
          <p:cNvPr id="7" name="Text 5"/>
          <p:cNvSpPr txBox="1"/>
          <p:nvPr/>
        </p:nvSpPr>
        <p:spPr>
          <a:xfrm>
            <a:off x="4937760" y="1600200"/>
            <a:ext cx="548640" cy="365760"/>
          </a:xfrm>
          <a:prstGeom prst="rect">
            <a:avLst/>
          </a:prstGeom>
          <a:noFill/>
          <a:ln/>
        </p:spPr>
        <p:txBody>
          <a:bodyPr wrap="square" lIns="0" tIns="0" rIns="0" bIns="0" rtlCol="0" anchor="ctr"/>
          <a:lstStyle/>
          <a:p>
            <a:pPr algn="ctr" indent="0" marL="0">
              <a:buNone/>
            </a:pPr>
            <a:r>
              <a:rPr lang="en-US" sz="1300" b="1" dirty="0">
                <a:solidFill>
                  <a:srgbClr val="0F7B6C"/>
                </a:solidFill>
                <a:latin typeface="Calibri" pitchFamily="34" charset="0"/>
                <a:ea typeface="Calibri" pitchFamily="34" charset="-122"/>
                <a:cs typeface="Calibri" pitchFamily="34" charset="-120"/>
              </a:rPr>
              <a:t>A4</a:t>
            </a:r>
            <a:endParaRPr lang="en-US" sz="1300" dirty="0"/>
          </a:p>
        </p:txBody>
      </p:sp>
      <p:sp>
        <p:nvSpPr>
          <p:cNvPr id="8" name="Shape 6"/>
          <p:cNvSpPr/>
          <p:nvPr/>
        </p:nvSpPr>
        <p:spPr>
          <a:xfrm>
            <a:off x="1188720" y="2286000"/>
            <a:ext cx="3017520" cy="731520"/>
          </a:xfrm>
          <a:prstGeom prst="roundRect">
            <a:avLst>
              <a:gd name="adj" fmla="val 7500"/>
            </a:avLst>
          </a:prstGeom>
          <a:solidFill>
            <a:srgbClr val="2E3A7A"/>
          </a:solidFill>
          <a:ln w="12700">
            <a:solidFill>
              <a:srgbClr val="FFFFFF"/>
            </a:solidFill>
            <a:prstDash val="solid"/>
          </a:ln>
        </p:spPr>
      </p:sp>
      <p:sp>
        <p:nvSpPr>
          <p:cNvPr id="9" name="Text 7"/>
          <p:cNvSpPr txBox="1"/>
          <p:nvPr/>
        </p:nvSpPr>
        <p:spPr>
          <a:xfrm>
            <a:off x="1280160" y="2286000"/>
            <a:ext cx="283464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Level 2  </a:t>
            </a:r>
            <a:pPr algn="ctr" indent="0" marL="0">
              <a:buNone/>
            </a:pPr>
            <a:r>
              <a:rPr lang="en-US" sz="1150" dirty="0">
                <a:solidFill>
                  <a:srgbClr val="FFFFFF"/>
                </a:solidFill>
                <a:latin typeface="Calibri" pitchFamily="34" charset="0"/>
                <a:ea typeface="Calibri" pitchFamily="34" charset="-122"/>
                <a:cs typeface="Calibri" pitchFamily="34" charset="-120"/>
              </a:rPr>
              <a:t>Standardized schedule, by part</a:t>
            </a:r>
            <a:endParaRPr lang="en-US" sz="1350" dirty="0"/>
          </a:p>
        </p:txBody>
      </p:sp>
      <p:sp>
        <p:nvSpPr>
          <p:cNvPr id="10" name="Text 8"/>
          <p:cNvSpPr txBox="1"/>
          <p:nvPr/>
        </p:nvSpPr>
        <p:spPr>
          <a:xfrm>
            <a:off x="4937760" y="2468880"/>
            <a:ext cx="548640" cy="365760"/>
          </a:xfrm>
          <a:prstGeom prst="rect">
            <a:avLst/>
          </a:prstGeom>
          <a:noFill/>
          <a:ln/>
        </p:spPr>
        <p:txBody>
          <a:bodyPr wrap="square" lIns="0" tIns="0" rIns="0" bIns="0" rtlCol="0" anchor="ctr"/>
          <a:lstStyle/>
          <a:p>
            <a:pPr algn="ctr" indent="0" marL="0">
              <a:buNone/>
            </a:pPr>
            <a:r>
              <a:rPr lang="en-US" sz="1300" b="1" dirty="0">
                <a:solidFill>
                  <a:srgbClr val="0F7B6C"/>
                </a:solidFill>
                <a:latin typeface="Calibri" pitchFamily="34" charset="0"/>
                <a:ea typeface="Calibri" pitchFamily="34" charset="-122"/>
                <a:cs typeface="Calibri" pitchFamily="34" charset="-120"/>
              </a:rPr>
              <a:t>A3</a:t>
            </a:r>
            <a:endParaRPr lang="en-US" sz="1300" dirty="0"/>
          </a:p>
        </p:txBody>
      </p:sp>
      <p:sp>
        <p:nvSpPr>
          <p:cNvPr id="11" name="Shape 9"/>
          <p:cNvSpPr/>
          <p:nvPr/>
        </p:nvSpPr>
        <p:spPr>
          <a:xfrm>
            <a:off x="868680" y="3154680"/>
            <a:ext cx="3657600" cy="731520"/>
          </a:xfrm>
          <a:prstGeom prst="roundRect">
            <a:avLst>
              <a:gd name="adj" fmla="val 7500"/>
            </a:avLst>
          </a:prstGeom>
          <a:solidFill>
            <a:srgbClr val="3F4F96"/>
          </a:solidFill>
          <a:ln w="12700">
            <a:solidFill>
              <a:srgbClr val="FFFFFF"/>
            </a:solidFill>
            <a:prstDash val="solid"/>
          </a:ln>
        </p:spPr>
      </p:sp>
      <p:sp>
        <p:nvSpPr>
          <p:cNvPr id="12" name="Text 10"/>
          <p:cNvSpPr txBox="1"/>
          <p:nvPr/>
        </p:nvSpPr>
        <p:spPr>
          <a:xfrm>
            <a:off x="960120" y="3154680"/>
            <a:ext cx="347472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Level 3  </a:t>
            </a:r>
            <a:pPr algn="ctr" indent="0" marL="0">
              <a:buNone/>
            </a:pPr>
            <a:r>
              <a:rPr lang="en-US" sz="1150" dirty="0">
                <a:solidFill>
                  <a:srgbClr val="FFFFFF"/>
                </a:solidFill>
                <a:latin typeface="Calibri" pitchFamily="34" charset="0"/>
                <a:ea typeface="Calibri" pitchFamily="34" charset="-122"/>
                <a:cs typeface="Calibri" pitchFamily="34" charset="-120"/>
              </a:rPr>
              <a:t>Country schedule, every line</a:t>
            </a:r>
            <a:endParaRPr lang="en-US" sz="1350" dirty="0"/>
          </a:p>
        </p:txBody>
      </p:sp>
      <p:sp>
        <p:nvSpPr>
          <p:cNvPr id="13" name="Text 11"/>
          <p:cNvSpPr txBox="1"/>
          <p:nvPr/>
        </p:nvSpPr>
        <p:spPr>
          <a:xfrm>
            <a:off x="4937760" y="3337560"/>
            <a:ext cx="548640" cy="365760"/>
          </a:xfrm>
          <a:prstGeom prst="rect">
            <a:avLst/>
          </a:prstGeom>
          <a:noFill/>
          <a:ln/>
        </p:spPr>
        <p:txBody>
          <a:bodyPr wrap="square" lIns="0" tIns="0" rIns="0" bIns="0" rtlCol="0" anchor="ctr"/>
          <a:lstStyle/>
          <a:p>
            <a:pPr algn="ctr" indent="0" marL="0">
              <a:buNone/>
            </a:pPr>
            <a:r>
              <a:rPr lang="en-US" sz="1300" b="1" dirty="0">
                <a:solidFill>
                  <a:srgbClr val="0F7B6C"/>
                </a:solidFill>
                <a:latin typeface="Calibri" pitchFamily="34" charset="0"/>
                <a:ea typeface="Calibri" pitchFamily="34" charset="-122"/>
                <a:cs typeface="Calibri" pitchFamily="34" charset="-120"/>
              </a:rPr>
              <a:t>A2</a:t>
            </a:r>
            <a:endParaRPr lang="en-US" sz="1300" dirty="0"/>
          </a:p>
        </p:txBody>
      </p:sp>
      <p:sp>
        <p:nvSpPr>
          <p:cNvPr id="14" name="Shape 12"/>
          <p:cNvSpPr/>
          <p:nvPr/>
        </p:nvSpPr>
        <p:spPr>
          <a:xfrm>
            <a:off x="548640" y="4023360"/>
            <a:ext cx="4297680" cy="731520"/>
          </a:xfrm>
          <a:prstGeom prst="roundRect">
            <a:avLst>
              <a:gd name="adj" fmla="val 7500"/>
            </a:avLst>
          </a:prstGeom>
          <a:solidFill>
            <a:srgbClr val="5566AE"/>
          </a:solidFill>
          <a:ln w="12700">
            <a:solidFill>
              <a:srgbClr val="FFFFFF"/>
            </a:solidFill>
            <a:prstDash val="solid"/>
          </a:ln>
        </p:spPr>
      </p:sp>
      <p:sp>
        <p:nvSpPr>
          <p:cNvPr id="15" name="Text 13"/>
          <p:cNvSpPr txBox="1"/>
          <p:nvPr/>
        </p:nvSpPr>
        <p:spPr>
          <a:xfrm>
            <a:off x="640080" y="4023360"/>
            <a:ext cx="411480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Level 4  </a:t>
            </a:r>
            <a:pPr algn="ctr" indent="0" marL="0">
              <a:buNone/>
            </a:pPr>
            <a:r>
              <a:rPr lang="en-US" sz="1150" dirty="0">
                <a:solidFill>
                  <a:srgbClr val="FFFFFF"/>
                </a:solidFill>
                <a:latin typeface="Calibri" pitchFamily="34" charset="0"/>
                <a:ea typeface="Calibri" pitchFamily="34" charset="-122"/>
                <a:cs typeface="Calibri" pitchFamily="34" charset="-120"/>
              </a:rPr>
              <a:t>Raw data and legal history</a:t>
            </a:r>
            <a:endParaRPr lang="en-US" sz="1350" dirty="0"/>
          </a:p>
        </p:txBody>
      </p:sp>
      <p:sp>
        <p:nvSpPr>
          <p:cNvPr id="16" name="Text 14"/>
          <p:cNvSpPr txBox="1"/>
          <p:nvPr/>
        </p:nvSpPr>
        <p:spPr>
          <a:xfrm>
            <a:off x="4937760" y="4206240"/>
            <a:ext cx="548640" cy="365760"/>
          </a:xfrm>
          <a:prstGeom prst="rect">
            <a:avLst/>
          </a:prstGeom>
          <a:noFill/>
          <a:ln/>
        </p:spPr>
        <p:txBody>
          <a:bodyPr wrap="square" lIns="0" tIns="0" rIns="0" bIns="0" rtlCol="0" anchor="ctr"/>
          <a:lstStyle/>
          <a:p>
            <a:pPr algn="ctr" indent="0" marL="0">
              <a:buNone/>
            </a:pPr>
            <a:r>
              <a:rPr lang="en-US" sz="1300" b="1" dirty="0">
                <a:solidFill>
                  <a:srgbClr val="0F7B6C"/>
                </a:solidFill>
                <a:latin typeface="Calibri" pitchFamily="34" charset="0"/>
                <a:ea typeface="Calibri" pitchFamily="34" charset="-122"/>
                <a:cs typeface="Calibri" pitchFamily="34" charset="-120"/>
              </a:rPr>
              <a:t>A1</a:t>
            </a:r>
            <a:endParaRPr lang="en-US" sz="1300" dirty="0"/>
          </a:p>
        </p:txBody>
      </p:sp>
      <p:sp>
        <p:nvSpPr>
          <p:cNvPr id="17" name="Shape 15"/>
          <p:cNvSpPr/>
          <p:nvPr/>
        </p:nvSpPr>
        <p:spPr>
          <a:xfrm>
            <a:off x="5623560" y="4754880"/>
            <a:ext cx="0" cy="-3200400"/>
          </a:xfrm>
          <a:prstGeom prst="line">
            <a:avLst/>
          </a:prstGeom>
          <a:noFill/>
          <a:ln w="25400">
            <a:solidFill>
              <a:srgbClr val="0F7B6C"/>
            </a:solidFill>
            <a:prstDash val="solid"/>
            <a:tailEnd type="triangle"/>
          </a:ln>
        </p:spPr>
      </p:sp>
      <p:sp>
        <p:nvSpPr>
          <p:cNvPr id="18" name="Text 16"/>
          <p:cNvSpPr txBox="1"/>
          <p:nvPr/>
        </p:nvSpPr>
        <p:spPr>
          <a:xfrm>
            <a:off x="5715000" y="2926080"/>
            <a:ext cx="640080" cy="274320"/>
          </a:xfrm>
          <a:prstGeom prst="rect">
            <a:avLst/>
          </a:prstGeom>
          <a:noFill/>
          <a:ln/>
        </p:spPr>
        <p:txBody>
          <a:bodyPr wrap="square" lIns="0" tIns="0" rIns="0" bIns="0" rtlCol="0" anchor="ctr"/>
          <a:lstStyle/>
          <a:p>
            <a:pPr indent="0" marL="0">
              <a:buNone/>
            </a:pPr>
            <a:r>
              <a:rPr lang="en-US" sz="1100" dirty="0">
                <a:solidFill>
                  <a:srgbClr val="0F7B6C"/>
                </a:solidFill>
                <a:latin typeface="Calibri" pitchFamily="34" charset="0"/>
                <a:ea typeface="Calibri" pitchFamily="34" charset="-122"/>
                <a:cs typeface="Calibri" pitchFamily="34" charset="-120"/>
              </a:rPr>
              <a:t>built</a:t>
            </a:r>
            <a:endParaRPr lang="en-US" sz="1100" dirty="0"/>
          </a:p>
        </p:txBody>
      </p:sp>
      <p:sp>
        <p:nvSpPr>
          <p:cNvPr id="19" name="Shape 17"/>
          <p:cNvSpPr/>
          <p:nvPr/>
        </p:nvSpPr>
        <p:spPr>
          <a:xfrm>
            <a:off x="548640" y="5029200"/>
            <a:ext cx="4937760" cy="1234440"/>
          </a:xfrm>
          <a:prstGeom prst="roundRect">
            <a:avLst>
              <a:gd name="adj" fmla="val 5926"/>
            </a:avLst>
          </a:prstGeom>
          <a:solidFill>
            <a:srgbClr val="FDF3E6"/>
          </a:solidFill>
          <a:ln w="9525">
            <a:solidFill>
              <a:srgbClr val="D5DAE3"/>
            </a:solidFill>
            <a:prstDash val="solid"/>
          </a:ln>
        </p:spPr>
      </p:sp>
      <p:sp>
        <p:nvSpPr>
          <p:cNvPr id="20" name="Text 18"/>
          <p:cNvSpPr txBox="1"/>
          <p:nvPr/>
        </p:nvSpPr>
        <p:spPr>
          <a:xfrm>
            <a:off x="685800" y="5074920"/>
            <a:ext cx="4663440" cy="1143000"/>
          </a:xfrm>
          <a:prstGeom prst="rect">
            <a:avLst/>
          </a:prstGeom>
          <a:noFill/>
          <a:ln/>
        </p:spPr>
        <p:txBody>
          <a:bodyPr wrap="square" lIns="0" tIns="0" rIns="0" bIns="0" rtlCol="0" anchor="ctr"/>
          <a:lstStyle/>
          <a:p>
            <a:pPr indent="0" marL="0">
              <a:buNone/>
            </a:pPr>
            <a:r>
              <a:rPr lang="en-US" sz="1250" b="1" dirty="0">
                <a:solidFill>
                  <a:srgbClr val="E08A1E"/>
                </a:solidFill>
                <a:latin typeface="Calibri" pitchFamily="34" charset="0"/>
                <a:ea typeface="Calibri" pitchFamily="34" charset="-122"/>
                <a:cs typeface="Calibri" pitchFamily="34" charset="-120"/>
              </a:rPr>
              <a:t>A5 peer review: </a:t>
            </a:r>
            <a:pPr indent="0" marL="0">
              <a:buNone/>
            </a:pPr>
            <a:r>
              <a:rPr lang="en-US" sz="1250" dirty="0">
                <a:solidFill>
                  <a:srgbClr val="1F1F2E"/>
                </a:solidFill>
                <a:latin typeface="Calibri" pitchFamily="34" charset="0"/>
                <a:ea typeface="Calibri" pitchFamily="34" charset="-122"/>
                <a:cs typeface="Calibri" pitchFamily="34" charset="-120"/>
              </a:rPr>
              <a:t>every line gets a source reference (PR-nn) checked against the law, listed in a register annex. </a:t>
            </a:r>
            <a:pPr indent="0" marL="0">
              <a:buNone/>
            </a:pPr>
            <a:r>
              <a:rPr lang="en-US" sz="1250" b="1" dirty="0">
                <a:solidFill>
                  <a:srgbClr val="E08A1E"/>
                </a:solidFill>
                <a:latin typeface="Calibri" pitchFamily="34" charset="0"/>
                <a:ea typeface="Calibri" pitchFamily="34" charset="-122"/>
                <a:cs typeface="Calibri" pitchFamily="34" charset="-120"/>
              </a:rPr>
              <a:t>A6: </a:t>
            </a:r>
            <a:pPr indent="0" marL="0">
              <a:buNone/>
            </a:pPr>
            <a:r>
              <a:rPr lang="en-US" sz="1250" dirty="0">
                <a:solidFill>
                  <a:srgbClr val="1F1F2E"/>
                </a:solidFill>
                <a:latin typeface="Calibri" pitchFamily="34" charset="0"/>
                <a:ea typeface="Calibri" pitchFamily="34" charset="-122"/>
                <a:cs typeface="Calibri" pitchFamily="34" charset="-120"/>
              </a:rPr>
              <a:t>Claude or Copilot assembles the Word report.</a:t>
            </a:r>
            <a:endParaRPr lang="en-US" sz="1250" dirty="0"/>
          </a:p>
        </p:txBody>
      </p:sp>
      <p:pic>
        <p:nvPicPr>
          <p:cNvPr id="21" name="Image 0" descr="/home/claude/guide/img/paper_p13-13.png">    </p:cNvPr>
          <p:cNvPicPr>
            <a:picLocks noChangeAspect="1"/>
          </p:cNvPicPr>
          <p:nvPr/>
        </p:nvPicPr>
        <p:blipFill>
          <a:blip r:embed="rId1"/>
          <a:stretch>
            <a:fillRect/>
          </a:stretch>
        </p:blipFill>
        <p:spPr>
          <a:xfrm>
            <a:off x="6583680" y="1371600"/>
            <a:ext cx="2103120" cy="2721685"/>
          </a:xfrm>
          <a:prstGeom prst="rect">
            <a:avLst/>
          </a:prstGeom>
        </p:spPr>
      </p:pic>
      <p:sp>
        <p:nvSpPr>
          <p:cNvPr id="22" name="Text 19"/>
          <p:cNvSpPr txBox="1"/>
          <p:nvPr/>
        </p:nvSpPr>
        <p:spPr>
          <a:xfrm>
            <a:off x="6583680" y="4133088"/>
            <a:ext cx="2103120" cy="274320"/>
          </a:xfrm>
          <a:prstGeom prst="rect">
            <a:avLst/>
          </a:prstGeom>
          <a:noFill/>
          <a:ln/>
        </p:spPr>
        <p:txBody>
          <a:bodyPr wrap="square" lIns="0" tIns="0" rIns="0" bIns="0" rtlCol="0" anchor="ctr"/>
          <a:lstStyle/>
          <a:p>
            <a:pPr algn="ctr" indent="0" marL="0">
              <a:buNone/>
            </a:pPr>
            <a:r>
              <a:rPr lang="en-US" sz="1100" dirty="0">
                <a:solidFill>
                  <a:srgbClr val="5C667A"/>
                </a:solidFill>
                <a:latin typeface="Calibri" pitchFamily="34" charset="0"/>
                <a:ea typeface="Calibri" pitchFamily="34" charset="-122"/>
                <a:cs typeface="Calibri" pitchFamily="34" charset="-120"/>
              </a:rPr>
              <a:t>Level 1 page</a:t>
            </a:r>
            <a:endParaRPr lang="en-US" sz="1100" dirty="0"/>
          </a:p>
        </p:txBody>
      </p:sp>
      <p:pic>
        <p:nvPicPr>
          <p:cNvPr id="23" name="Image 1" descr="/home/claude/guide/img/paper_p18-18.png">    </p:cNvPr>
          <p:cNvPicPr>
            <a:picLocks noChangeAspect="1"/>
          </p:cNvPicPr>
          <p:nvPr/>
        </p:nvPicPr>
        <p:blipFill>
          <a:blip r:embed="rId2"/>
          <a:stretch>
            <a:fillRect/>
          </a:stretch>
        </p:blipFill>
        <p:spPr>
          <a:xfrm>
            <a:off x="8961120" y="1371600"/>
            <a:ext cx="2679192" cy="2070285"/>
          </a:xfrm>
          <a:prstGeom prst="rect">
            <a:avLst/>
          </a:prstGeom>
        </p:spPr>
      </p:pic>
      <p:sp>
        <p:nvSpPr>
          <p:cNvPr id="24" name="Text 20"/>
          <p:cNvSpPr txBox="1"/>
          <p:nvPr/>
        </p:nvSpPr>
        <p:spPr>
          <a:xfrm>
            <a:off x="8961120" y="3474720"/>
            <a:ext cx="2679192" cy="274320"/>
          </a:xfrm>
          <a:prstGeom prst="rect">
            <a:avLst/>
          </a:prstGeom>
          <a:noFill/>
          <a:ln/>
        </p:spPr>
        <p:txBody>
          <a:bodyPr wrap="square" lIns="0" tIns="0" rIns="0" bIns="0" rtlCol="0" anchor="ctr"/>
          <a:lstStyle/>
          <a:p>
            <a:pPr algn="ctr" indent="0" marL="0">
              <a:buNone/>
            </a:pPr>
            <a:r>
              <a:rPr lang="en-US" sz="1100" dirty="0">
                <a:solidFill>
                  <a:srgbClr val="5C667A"/>
                </a:solidFill>
                <a:latin typeface="Calibri" pitchFamily="34" charset="0"/>
                <a:ea typeface="Calibri" pitchFamily="34" charset="-122"/>
                <a:cs typeface="Calibri" pitchFamily="34" charset="-120"/>
              </a:rPr>
              <a:t>Level 2 table (by part)</a:t>
            </a:r>
            <a:endParaRPr lang="en-US" sz="1100" dirty="0"/>
          </a:p>
        </p:txBody>
      </p:sp>
      <p:pic>
        <p:nvPicPr>
          <p:cNvPr id="25" name="Image 2" descr="/home/claude/guide/img/paper_p42-42.png">    </p:cNvPr>
          <p:cNvPicPr>
            <a:picLocks noChangeAspect="1"/>
          </p:cNvPicPr>
          <p:nvPr/>
        </p:nvPicPr>
        <p:blipFill>
          <a:blip r:embed="rId3"/>
          <a:stretch>
            <a:fillRect/>
          </a:stretch>
        </p:blipFill>
        <p:spPr>
          <a:xfrm>
            <a:off x="8961120" y="3840480"/>
            <a:ext cx="2679192" cy="2070285"/>
          </a:xfrm>
          <a:prstGeom prst="rect">
            <a:avLst/>
          </a:prstGeom>
        </p:spPr>
      </p:pic>
      <p:sp>
        <p:nvSpPr>
          <p:cNvPr id="26" name="Text 21"/>
          <p:cNvSpPr txBox="1"/>
          <p:nvPr/>
        </p:nvSpPr>
        <p:spPr>
          <a:xfrm>
            <a:off x="8961120" y="5925312"/>
            <a:ext cx="2679192" cy="274320"/>
          </a:xfrm>
          <a:prstGeom prst="rect">
            <a:avLst/>
          </a:prstGeom>
          <a:noFill/>
          <a:ln/>
        </p:spPr>
        <p:txBody>
          <a:bodyPr wrap="square" lIns="0" tIns="0" rIns="0" bIns="0" rtlCol="0" anchor="ctr"/>
          <a:lstStyle/>
          <a:p>
            <a:pPr algn="ctr" indent="0" marL="0">
              <a:buNone/>
            </a:pPr>
            <a:r>
              <a:rPr lang="en-US" sz="1100" dirty="0">
                <a:solidFill>
                  <a:srgbClr val="5C667A"/>
                </a:solidFill>
                <a:latin typeface="Calibri" pitchFamily="34" charset="0"/>
                <a:ea typeface="Calibri" pitchFamily="34" charset="-122"/>
                <a:cs typeface="Calibri" pitchFamily="34" charset="-120"/>
              </a:rPr>
              <a:t>Peer-review register</a:t>
            </a:r>
            <a:endParaRPr lang="en-US" sz="1100" dirty="0"/>
          </a:p>
        </p:txBody>
      </p:sp>
      <p:sp>
        <p:nvSpPr>
          <p:cNvPr id="27" name="Text 22"/>
          <p:cNvSpPr txBox="1"/>
          <p:nvPr/>
        </p:nvSpPr>
        <p:spPr>
          <a:xfrm>
            <a:off x="6583680" y="4526280"/>
            <a:ext cx="2194560" cy="731520"/>
          </a:xfrm>
          <a:prstGeom prst="rect">
            <a:avLst/>
          </a:prstGeom>
          <a:noFill/>
          <a:ln/>
        </p:spPr>
        <p:txBody>
          <a:bodyPr wrap="square" lIns="0" tIns="0" rIns="0" bIns="0" rtlCol="0" anchor="ctr"/>
          <a:lstStyle/>
          <a:p>
            <a:pPr indent="0" marL="0">
              <a:buNone/>
            </a:pPr>
            <a:r>
              <a:rPr lang="en-US" sz="1100" i="1" dirty="0">
                <a:solidFill>
                  <a:srgbClr val="5C667A"/>
                </a:solidFill>
                <a:latin typeface="Calibri" pitchFamily="34" charset="0"/>
                <a:ea typeface="Calibri" pitchFamily="34" charset="-122"/>
                <a:cs typeface="Calibri" pitchFamily="34" charset="-120"/>
              </a:rPr>
              <a:t>Pages from the Sierra Leone example (working paper v0.9)</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(B) AGGREGATION</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Part 5 turns four part workbooks into one</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548640" y="1417320"/>
            <a:ext cx="2377440" cy="685800"/>
          </a:xfrm>
          <a:prstGeom prst="roundRect">
            <a:avLst>
              <a:gd name="adj" fmla="val 8000"/>
            </a:avLst>
          </a:prstGeom>
          <a:solidFill>
            <a:srgbClr val="E6F2EA"/>
          </a:solidFill>
          <a:ln w="12700">
            <a:solidFill>
              <a:srgbClr val="1F7A3F"/>
            </a:solidFill>
            <a:prstDash val="solid"/>
          </a:ln>
        </p:spPr>
      </p:sp>
      <p:sp>
        <p:nvSpPr>
          <p:cNvPr id="6" name="Text 4"/>
          <p:cNvSpPr txBox="1"/>
          <p:nvPr/>
        </p:nvSpPr>
        <p:spPr>
          <a:xfrm>
            <a:off x="548640" y="1417320"/>
            <a:ext cx="2377440" cy="685800"/>
          </a:xfrm>
          <a:prstGeom prst="rect">
            <a:avLst/>
          </a:prstGeom>
          <a:noFill/>
          <a:ln/>
        </p:spPr>
        <p:txBody>
          <a:bodyPr wrap="square" lIns="0" tIns="0" rIns="0" bIns="0" rtlCol="0" anchor="ctr"/>
          <a:lstStyle/>
          <a:p>
            <a:pPr algn="ctr" indent="0" marL="0">
              <a:buNone/>
            </a:pPr>
            <a:r>
              <a:rPr lang="en-US" sz="1300" b="1" dirty="0">
                <a:solidFill>
                  <a:srgbClr val="1F7A3F"/>
                </a:solidFill>
                <a:latin typeface="Calibri" pitchFamily="34" charset="0"/>
                <a:ea typeface="Calibri" pitchFamily="34" charset="-122"/>
                <a:cs typeface="Calibri" pitchFamily="34" charset="-120"/>
              </a:rPr>
              <a:t>Part 1 Fuel.xlsx</a:t>
            </a:r>
            <a:endParaRPr lang="en-US" sz="1300" dirty="0"/>
          </a:p>
        </p:txBody>
      </p:sp>
      <p:sp>
        <p:nvSpPr>
          <p:cNvPr id="7" name="Shape 5"/>
          <p:cNvSpPr/>
          <p:nvPr/>
        </p:nvSpPr>
        <p:spPr>
          <a:xfrm>
            <a:off x="2926080" y="1755648"/>
            <a:ext cx="640080" cy="1033272"/>
          </a:xfrm>
          <a:prstGeom prst="line">
            <a:avLst/>
          </a:prstGeom>
          <a:noFill/>
          <a:ln w="25400">
            <a:solidFill>
              <a:srgbClr val="1F7A3F"/>
            </a:solidFill>
            <a:prstDash val="solid"/>
            <a:tailEnd type="triangle"/>
          </a:ln>
        </p:spPr>
      </p:sp>
      <p:sp>
        <p:nvSpPr>
          <p:cNvPr id="8" name="Shape 6"/>
          <p:cNvSpPr/>
          <p:nvPr/>
        </p:nvSpPr>
        <p:spPr>
          <a:xfrm>
            <a:off x="548640" y="2286000"/>
            <a:ext cx="2377440" cy="685800"/>
          </a:xfrm>
          <a:prstGeom prst="roundRect">
            <a:avLst>
              <a:gd name="adj" fmla="val 8000"/>
            </a:avLst>
          </a:prstGeom>
          <a:solidFill>
            <a:srgbClr val="E6F2EA"/>
          </a:solidFill>
          <a:ln w="12700">
            <a:solidFill>
              <a:srgbClr val="1F7A3F"/>
            </a:solidFill>
            <a:prstDash val="solid"/>
          </a:ln>
        </p:spPr>
      </p:sp>
      <p:sp>
        <p:nvSpPr>
          <p:cNvPr id="9" name="Text 7"/>
          <p:cNvSpPr txBox="1"/>
          <p:nvPr/>
        </p:nvSpPr>
        <p:spPr>
          <a:xfrm>
            <a:off x="548640" y="2286000"/>
            <a:ext cx="2377440" cy="685800"/>
          </a:xfrm>
          <a:prstGeom prst="rect">
            <a:avLst/>
          </a:prstGeom>
          <a:noFill/>
          <a:ln/>
        </p:spPr>
        <p:txBody>
          <a:bodyPr wrap="square" lIns="0" tIns="0" rIns="0" bIns="0" rtlCol="0" anchor="ctr"/>
          <a:lstStyle/>
          <a:p>
            <a:pPr algn="ctr" indent="0" marL="0">
              <a:buNone/>
            </a:pPr>
            <a:r>
              <a:rPr lang="en-US" sz="1300" b="1" dirty="0">
                <a:solidFill>
                  <a:srgbClr val="1F7A3F"/>
                </a:solidFill>
                <a:latin typeface="Calibri" pitchFamily="34" charset="0"/>
                <a:ea typeface="Calibri" pitchFamily="34" charset="-122"/>
                <a:cs typeface="Calibri" pitchFamily="34" charset="-120"/>
              </a:rPr>
              <a:t>Part 2 Vehicles.xlsx</a:t>
            </a:r>
            <a:endParaRPr lang="en-US" sz="1300" dirty="0"/>
          </a:p>
        </p:txBody>
      </p:sp>
      <p:sp>
        <p:nvSpPr>
          <p:cNvPr id="10" name="Shape 8"/>
          <p:cNvSpPr/>
          <p:nvPr/>
        </p:nvSpPr>
        <p:spPr>
          <a:xfrm>
            <a:off x="2926080" y="2624328"/>
            <a:ext cx="640080" cy="164592"/>
          </a:xfrm>
          <a:prstGeom prst="line">
            <a:avLst/>
          </a:prstGeom>
          <a:noFill/>
          <a:ln w="25400">
            <a:solidFill>
              <a:srgbClr val="1F7A3F"/>
            </a:solidFill>
            <a:prstDash val="solid"/>
            <a:tailEnd type="triangle"/>
          </a:ln>
        </p:spPr>
      </p:sp>
      <p:sp>
        <p:nvSpPr>
          <p:cNvPr id="11" name="Shape 9"/>
          <p:cNvSpPr/>
          <p:nvPr/>
        </p:nvSpPr>
        <p:spPr>
          <a:xfrm>
            <a:off x="548640" y="3154680"/>
            <a:ext cx="2377440" cy="685800"/>
          </a:xfrm>
          <a:prstGeom prst="roundRect">
            <a:avLst>
              <a:gd name="adj" fmla="val 8000"/>
            </a:avLst>
          </a:prstGeom>
          <a:solidFill>
            <a:srgbClr val="E6F2EA"/>
          </a:solidFill>
          <a:ln w="12700">
            <a:solidFill>
              <a:srgbClr val="1F7A3F"/>
            </a:solidFill>
            <a:prstDash val="solid"/>
          </a:ln>
        </p:spPr>
      </p:sp>
      <p:sp>
        <p:nvSpPr>
          <p:cNvPr id="12" name="Text 10"/>
          <p:cNvSpPr txBox="1"/>
          <p:nvPr/>
        </p:nvSpPr>
        <p:spPr>
          <a:xfrm>
            <a:off x="548640" y="3154680"/>
            <a:ext cx="2377440" cy="685800"/>
          </a:xfrm>
          <a:prstGeom prst="rect">
            <a:avLst/>
          </a:prstGeom>
          <a:noFill/>
          <a:ln/>
        </p:spPr>
        <p:txBody>
          <a:bodyPr wrap="square" lIns="0" tIns="0" rIns="0" bIns="0" rtlCol="0" anchor="ctr"/>
          <a:lstStyle/>
          <a:p>
            <a:pPr algn="ctr" indent="0" marL="0">
              <a:buNone/>
            </a:pPr>
            <a:r>
              <a:rPr lang="en-US" sz="1300" b="1" dirty="0">
                <a:solidFill>
                  <a:srgbClr val="1F7A3F"/>
                </a:solidFill>
                <a:latin typeface="Calibri" pitchFamily="34" charset="0"/>
                <a:ea typeface="Calibri" pitchFamily="34" charset="-122"/>
                <a:cs typeface="Calibri" pitchFamily="34" charset="-120"/>
              </a:rPr>
              <a:t>Part 3 Health.xlsx</a:t>
            </a:r>
            <a:endParaRPr lang="en-US" sz="1300" dirty="0"/>
          </a:p>
        </p:txBody>
      </p:sp>
      <p:sp>
        <p:nvSpPr>
          <p:cNvPr id="13" name="Shape 11"/>
          <p:cNvSpPr/>
          <p:nvPr/>
        </p:nvSpPr>
        <p:spPr>
          <a:xfrm>
            <a:off x="2926080" y="3493008"/>
            <a:ext cx="640080" cy="-704088"/>
          </a:xfrm>
          <a:prstGeom prst="line">
            <a:avLst/>
          </a:prstGeom>
          <a:noFill/>
          <a:ln w="25400">
            <a:solidFill>
              <a:srgbClr val="1F7A3F"/>
            </a:solidFill>
            <a:prstDash val="solid"/>
            <a:tailEnd type="triangle"/>
          </a:ln>
        </p:spPr>
      </p:sp>
      <p:sp>
        <p:nvSpPr>
          <p:cNvPr id="14" name="Shape 12"/>
          <p:cNvSpPr/>
          <p:nvPr/>
        </p:nvSpPr>
        <p:spPr>
          <a:xfrm>
            <a:off x="548640" y="4023360"/>
            <a:ext cx="2377440" cy="685800"/>
          </a:xfrm>
          <a:prstGeom prst="roundRect">
            <a:avLst>
              <a:gd name="adj" fmla="val 8000"/>
            </a:avLst>
          </a:prstGeom>
          <a:solidFill>
            <a:srgbClr val="E6F2EA"/>
          </a:solidFill>
          <a:ln w="12700">
            <a:solidFill>
              <a:srgbClr val="1F7A3F"/>
            </a:solidFill>
            <a:prstDash val="solid"/>
          </a:ln>
        </p:spPr>
      </p:sp>
      <p:sp>
        <p:nvSpPr>
          <p:cNvPr id="15" name="Text 13"/>
          <p:cNvSpPr txBox="1"/>
          <p:nvPr/>
        </p:nvSpPr>
        <p:spPr>
          <a:xfrm>
            <a:off x="548640" y="4023360"/>
            <a:ext cx="2377440" cy="685800"/>
          </a:xfrm>
          <a:prstGeom prst="rect">
            <a:avLst/>
          </a:prstGeom>
          <a:noFill/>
          <a:ln/>
        </p:spPr>
        <p:txBody>
          <a:bodyPr wrap="square" lIns="0" tIns="0" rIns="0" bIns="0" rtlCol="0" anchor="ctr"/>
          <a:lstStyle/>
          <a:p>
            <a:pPr algn="ctr" indent="0" marL="0">
              <a:buNone/>
            </a:pPr>
            <a:r>
              <a:rPr lang="en-US" sz="1300" b="1" dirty="0">
                <a:solidFill>
                  <a:srgbClr val="1F7A3F"/>
                </a:solidFill>
                <a:latin typeface="Calibri" pitchFamily="34" charset="0"/>
                <a:ea typeface="Calibri" pitchFamily="34" charset="-122"/>
                <a:cs typeface="Calibri" pitchFamily="34" charset="-120"/>
              </a:rPr>
              <a:t>Part 4 Other.xlsx</a:t>
            </a:r>
            <a:endParaRPr lang="en-US" sz="1300" dirty="0"/>
          </a:p>
        </p:txBody>
      </p:sp>
      <p:sp>
        <p:nvSpPr>
          <p:cNvPr id="16" name="Shape 14"/>
          <p:cNvSpPr/>
          <p:nvPr/>
        </p:nvSpPr>
        <p:spPr>
          <a:xfrm>
            <a:off x="2926080" y="4361688"/>
            <a:ext cx="640080" cy="-1572768"/>
          </a:xfrm>
          <a:prstGeom prst="line">
            <a:avLst/>
          </a:prstGeom>
          <a:noFill/>
          <a:ln w="25400">
            <a:solidFill>
              <a:srgbClr val="1F7A3F"/>
            </a:solidFill>
            <a:prstDash val="solid"/>
            <a:tailEnd type="triangle"/>
          </a:ln>
        </p:spPr>
      </p:sp>
      <p:sp>
        <p:nvSpPr>
          <p:cNvPr id="17" name="Shape 15"/>
          <p:cNvSpPr/>
          <p:nvPr/>
        </p:nvSpPr>
        <p:spPr>
          <a:xfrm>
            <a:off x="3566160" y="1828800"/>
            <a:ext cx="2377440" cy="1920240"/>
          </a:xfrm>
          <a:prstGeom prst="roundRect">
            <a:avLst>
              <a:gd name="adj" fmla="val 3810"/>
            </a:avLst>
          </a:prstGeom>
          <a:solidFill>
            <a:srgbClr val="FDF3E6"/>
          </a:solidFill>
          <a:ln w="9525">
            <a:solidFill>
              <a:srgbClr val="D5DAE3"/>
            </a:solidFill>
            <a:prstDash val="solid"/>
          </a:ln>
        </p:spPr>
      </p:sp>
      <p:sp>
        <p:nvSpPr>
          <p:cNvPr id="18" name="Text 16"/>
          <p:cNvSpPr txBox="1"/>
          <p:nvPr/>
        </p:nvSpPr>
        <p:spPr>
          <a:xfrm>
            <a:off x="3657600" y="1901952"/>
            <a:ext cx="2194560" cy="1783080"/>
          </a:xfrm>
          <a:prstGeom prst="rect">
            <a:avLst/>
          </a:prstGeom>
          <a:noFill/>
          <a:ln/>
        </p:spPr>
        <p:txBody>
          <a:bodyPr wrap="square" lIns="0" tIns="0" rIns="0" bIns="0" rtlCol="0" anchor="t"/>
          <a:lstStyle/>
          <a:p>
            <a:pPr indent="0" marL="0">
              <a:buNone/>
            </a:pPr>
            <a:r>
              <a:rPr lang="en-US" sz="1200" b="1" dirty="0">
                <a:solidFill>
                  <a:srgbClr val="E08A1E"/>
                </a:solidFill>
                <a:latin typeface="Calibri" pitchFamily="34" charset="0"/>
                <a:ea typeface="Calibri" pitchFamily="34" charset="-122"/>
                <a:cs typeface="Calibri" pitchFamily="34" charset="-120"/>
              </a:rPr>
              <a:t>O1 checks</a:t>
            </a:r>
            <a:endParaRPr lang="en-US" sz="1200" dirty="0"/>
          </a:p>
          <a:p>
            <a:pPr indent="0" marL="0">
              <a:buNone/>
            </a:pPr>
            <a:r>
              <a:rPr lang="en-US" sz="1200" dirty="0">
                <a:solidFill>
                  <a:srgbClr val="1F1F2E"/>
                </a:solidFill>
                <a:latin typeface="Calibri" pitchFamily="34" charset="0"/>
                <a:ea typeface="Calibri" pitchFamily="34" charset="-122"/>
                <a:cs typeface="Calibri" pitchFamily="34" charset="-120"/>
              </a:rPr>
              <a:t>Same common header? All 30 codes, once each? Unique PR ids? Zero formula errors?</a:t>
            </a:r>
            <a:endParaRPr lang="en-US" sz="1200" dirty="0"/>
          </a:p>
        </p:txBody>
      </p:sp>
      <p:sp>
        <p:nvSpPr>
          <p:cNvPr id="19" name="Shape 17"/>
          <p:cNvSpPr/>
          <p:nvPr/>
        </p:nvSpPr>
        <p:spPr>
          <a:xfrm>
            <a:off x="5943600" y="2788920"/>
            <a:ext cx="457200" cy="0"/>
          </a:xfrm>
          <a:prstGeom prst="line">
            <a:avLst/>
          </a:prstGeom>
          <a:noFill/>
          <a:ln w="25400">
            <a:solidFill>
              <a:srgbClr val="1F7A3F"/>
            </a:solidFill>
            <a:prstDash val="solid"/>
            <a:tailEnd type="triangle"/>
          </a:ln>
        </p:spPr>
      </p:sp>
      <p:sp>
        <p:nvSpPr>
          <p:cNvPr id="20" name="Shape 18"/>
          <p:cNvSpPr/>
          <p:nvPr/>
        </p:nvSpPr>
        <p:spPr>
          <a:xfrm>
            <a:off x="6400800" y="2057400"/>
            <a:ext cx="2103120" cy="1463040"/>
          </a:xfrm>
          <a:prstGeom prst="roundRect">
            <a:avLst>
              <a:gd name="adj" fmla="val 5000"/>
            </a:avLst>
          </a:prstGeom>
          <a:solidFill>
            <a:srgbClr val="1F7A3F"/>
          </a:solidFill>
          <a:ln w="12700">
            <a:solidFill>
              <a:srgbClr val="1F7A3F"/>
            </a:solidFill>
            <a:prstDash val="solid"/>
          </a:ln>
        </p:spPr>
      </p:sp>
      <p:sp>
        <p:nvSpPr>
          <p:cNvPr id="21" name="Text 19"/>
          <p:cNvSpPr txBox="1"/>
          <p:nvPr/>
        </p:nvSpPr>
        <p:spPr>
          <a:xfrm>
            <a:off x="6492240" y="2103120"/>
            <a:ext cx="1920240" cy="13716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Master workbook</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rows stacked, never retyped; plus Part_Map, Part_Summary, Framework, merged Register</a:t>
            </a:r>
            <a:endParaRPr lang="en-US" sz="1400" dirty="0"/>
          </a:p>
        </p:txBody>
      </p:sp>
      <p:sp>
        <p:nvSpPr>
          <p:cNvPr id="22" name="Text 20"/>
          <p:cNvSpPr txBox="1"/>
          <p:nvPr/>
        </p:nvSpPr>
        <p:spPr>
          <a:xfrm>
            <a:off x="3566160" y="4023360"/>
            <a:ext cx="4937760" cy="68580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 the full report: framework first, then Levels 1–3 grouped by part, shared Level 4, one register</a:t>
            </a:r>
            <a:endParaRPr lang="en-US" sz="1250" dirty="0"/>
          </a:p>
        </p:txBody>
      </p:sp>
      <p:sp>
        <p:nvSpPr>
          <p:cNvPr id="23" name="Shape 21"/>
          <p:cNvSpPr/>
          <p:nvPr/>
        </p:nvSpPr>
        <p:spPr>
          <a:xfrm>
            <a:off x="8814816" y="1362456"/>
            <a:ext cx="2880360" cy="1798082"/>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24" name="Image 0" descr="/home/claude/guide/img/workbook_parts.png">    </p:cNvPr>
          <p:cNvPicPr>
            <a:picLocks noChangeAspect="1"/>
          </p:cNvPicPr>
          <p:nvPr/>
        </p:nvPicPr>
        <p:blipFill>
          <a:blip r:embed="rId1"/>
          <a:stretch>
            <a:fillRect/>
          </a:stretch>
        </p:blipFill>
        <p:spPr>
          <a:xfrm>
            <a:off x="8869680" y="1417320"/>
            <a:ext cx="2770632" cy="1688354"/>
          </a:xfrm>
          <a:prstGeom prst="rect">
            <a:avLst/>
          </a:prstGeom>
        </p:spPr>
      </p:pic>
      <p:sp>
        <p:nvSpPr>
          <p:cNvPr id="25" name="Text 22"/>
          <p:cNvSpPr txBox="1"/>
          <p:nvPr/>
        </p:nvSpPr>
        <p:spPr>
          <a:xfrm>
            <a:off x="8869680" y="3200400"/>
            <a:ext cx="2770632" cy="457200"/>
          </a:xfrm>
          <a:prstGeom prst="rect">
            <a:avLst/>
          </a:prstGeom>
          <a:noFill/>
          <a:ln/>
        </p:spPr>
        <p:txBody>
          <a:bodyPr wrap="square" lIns="0" tIns="0" rIns="0" bIns="0" rtlCol="0" anchor="ctr"/>
          <a:lstStyle/>
          <a:p>
            <a:pPr indent="0" marL="0">
              <a:buNone/>
            </a:pPr>
            <a:r>
              <a:rPr lang="en-US" sz="1100" i="1" dirty="0">
                <a:solidFill>
                  <a:srgbClr val="5C667A"/>
                </a:solidFill>
                <a:latin typeface="Calibri" pitchFamily="34" charset="0"/>
                <a:ea typeface="Calibri" pitchFamily="34" charset="-122"/>
                <a:cs typeface="Calibri" pitchFamily="34" charset="-120"/>
              </a:rPr>
              <a:t>Part_Summary: coverage and data quality by part (real values)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4983480"/>
          <a:ext cx="11091672" cy="914400"/>
        </p:xfrm>
        <a:graphic>
          <a:graphicData uri="http://schemas.openxmlformats.org/drawingml/2006/table">
            <a:tbl>
              <a:tblPr/>
              <a:tblGrid>
                <a:gridCol w="4023360"/>
                <a:gridCol w="1280160"/>
                <a:gridCol w="5788152"/>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Output file</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Made by</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Contains</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r>
              <a:tr h="365760">
                <a:tc>
                  <a:txBody>
                    <a:bodyPr/>
                    <a:lstStyle/>
                    <a:p>
                      <a:pPr indent="0" marL="0">
                        <a:buNone/>
                      </a:pPr>
                      <a:r>
                        <a:rPr lang="en-US" sz="1000" dirty="0">
                          <a:solidFill>
                            <a:srgbClr val="1F1F2E"/>
                          </a:solidFill>
                          <a:latin typeface="Courier New" pitchFamily="34" charset="0"/>
                          <a:ea typeface="Courier New" pitchFamily="34" charset="-122"/>
                          <a:cs typeface="Courier New" pitchFamily="34" charset="-120"/>
                        </a:rPr>
                        <a:t>&lt;ISO3&gt;_excise_part1_fuel.xlsx (and parts 2–4)</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Parts 1–4</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Only that part’s codes, plus Common and Register sheets</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F1F2E"/>
                          </a:solidFill>
                          <a:latin typeface="Courier New" pitchFamily="34" charset="0"/>
                          <a:ea typeface="Courier New" pitchFamily="34" charset="-122"/>
                          <a:cs typeface="Courier New" pitchFamily="34" charset="-120"/>
                        </a:rPr>
                        <a:t>&lt;ISO3&gt;_excise_diagnostic.xlsx</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Part 5</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All four stacked: the same structure as the cross-country workbook</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r>
              <a:tr h="365760">
                <a:tc>
                  <a:txBody>
                    <a:bodyPr/>
                    <a:lstStyle/>
                    <a:p>
                      <a:pPr indent="0" marL="0">
                        <a:buNone/>
                      </a:pPr>
                      <a:r>
                        <a:rPr lang="en-US" sz="1000" dirty="0">
                          <a:solidFill>
                            <a:srgbClr val="1F1F2E"/>
                          </a:solidFill>
                          <a:latin typeface="Courier New" pitchFamily="34" charset="0"/>
                          <a:ea typeface="Courier New" pitchFamily="34" charset="-122"/>
                          <a:cs typeface="Courier New" pitchFamily="34" charset="-120"/>
                        </a:rPr>
                        <a:t>&lt;ISO3&gt;_excise_diagnostic_report.docx</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Part 5</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1F2E"/>
                          </a:solidFill>
                          <a:latin typeface="Calibri" pitchFamily="34" charset="0"/>
                          <a:ea typeface="Calibri" pitchFamily="34" charset="-122"/>
                          <a:cs typeface="Calibri" pitchFamily="34" charset="-120"/>
                        </a:rPr>
                        <a:t>The full diagnostic report</a:t>
                      </a:r>
                      <a:endParaRPr lang="en-US" sz="115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200" b="1" spc="200" kern="0" dirty="0">
                <a:solidFill>
                  <a:srgbClr val="0F7B6C"/>
                </a:solidFill>
                <a:latin typeface="Calibri" pitchFamily="34" charset="0"/>
                <a:ea typeface="Calibri" pitchFamily="34" charset="-122"/>
                <a:cs typeface="Calibri" pitchFamily="34" charset="-120"/>
              </a:rPr>
              <a:t>BEFORE YOU SHARE</a:t>
            </a:r>
            <a:endParaRPr lang="en-US" sz="1200" dirty="0"/>
          </a:p>
        </p:txBody>
      </p:sp>
      <p:sp>
        <p:nvSpPr>
          <p:cNvPr id="3" name="Text 1"/>
          <p:cNvSpPr txBox="1"/>
          <p:nvPr/>
        </p:nvSpPr>
        <p:spPr>
          <a:xfrm>
            <a:off x="548640" y="502920"/>
            <a:ext cx="11064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Checklist and troubleshooting</a:t>
            </a:r>
            <a:endParaRPr lang="en-US" sz="3000" dirty="0"/>
          </a:p>
        </p:txBody>
      </p:sp>
      <p:sp>
        <p:nvSpPr>
          <p:cNvPr id="4" name="Text 2"/>
          <p:cNvSpPr txBox="1"/>
          <p:nvPr/>
        </p:nvSpPr>
        <p:spPr>
          <a:xfrm>
            <a:off x="548640" y="6473952"/>
            <a:ext cx="8686800" cy="228600"/>
          </a:xfrm>
          <a:prstGeom prst="rect">
            <a:avLst/>
          </a:prstGeom>
          <a:noFill/>
          <a:ln/>
        </p:spPr>
        <p:txBody>
          <a:bodyPr wrap="square" lIns="0" tIns="0" rIns="0" bIns="0" rtlCol="0" anchor="ctr"/>
          <a:lstStyle/>
          <a:p>
            <a:pPr indent="0" marL="0">
              <a:buNone/>
            </a:pPr>
            <a:r>
              <a:rPr lang="en-US" sz="900" dirty="0">
                <a:solidFill>
                  <a:srgbClr val="5C667A"/>
                </a:solidFill>
                <a:latin typeface="Calibri" pitchFamily="34" charset="0"/>
                <a:ea typeface="Calibri" pitchFamily="34" charset="-122"/>
                <a:cs typeface="Calibri" pitchFamily="34" charset="-120"/>
              </a:rPr>
              <a:t>Excise Diagnostic with AI: user guide   ·   Pictures are illustrations; real screens change over time</a:t>
            </a:r>
            <a:endParaRPr lang="en-US" sz="900" dirty="0"/>
          </a:p>
        </p:txBody>
      </p:sp>
      <p:sp>
        <p:nvSpPr>
          <p:cNvPr id="5" name="Shape 3"/>
          <p:cNvSpPr/>
          <p:nvPr/>
        </p:nvSpPr>
        <p:spPr>
          <a:xfrm>
            <a:off x="548640" y="1371600"/>
            <a:ext cx="5120640" cy="4892040"/>
          </a:xfrm>
          <a:prstGeom prst="roundRect">
            <a:avLst>
              <a:gd name="adj" fmla="val 1495"/>
            </a:avLst>
          </a:prstGeom>
          <a:solidFill>
            <a:srgbClr val="EAF4F2"/>
          </a:solidFill>
          <a:ln w="9525">
            <a:solidFill>
              <a:srgbClr val="D5DAE3"/>
            </a:solidFill>
            <a:prstDash val="solid"/>
          </a:ln>
        </p:spPr>
      </p:sp>
      <p:sp>
        <p:nvSpPr>
          <p:cNvPr id="6" name="Text 4"/>
          <p:cNvSpPr txBox="1"/>
          <p:nvPr/>
        </p:nvSpPr>
        <p:spPr>
          <a:xfrm>
            <a:off x="731520" y="1481328"/>
            <a:ext cx="4572000" cy="365760"/>
          </a:xfrm>
          <a:prstGeom prst="rect">
            <a:avLst/>
          </a:prstGeom>
          <a:noFill/>
          <a:ln/>
        </p:spPr>
        <p:txBody>
          <a:bodyPr wrap="square" lIns="0" tIns="0" rIns="0" bIns="0" rtlCol="0" anchor="ctr"/>
          <a:lstStyle/>
          <a:p>
            <a:pPr indent="0" marL="0">
              <a:buNone/>
            </a:pPr>
            <a:r>
              <a:rPr lang="en-US" sz="1600" b="1" dirty="0">
                <a:solidFill>
                  <a:srgbClr val="0F7B6C"/>
                </a:solidFill>
                <a:latin typeface="Calibri" pitchFamily="34" charset="0"/>
                <a:ea typeface="Calibri" pitchFamily="34" charset="-122"/>
                <a:cs typeface="Calibri" pitchFamily="34" charset="-120"/>
              </a:rPr>
              <a:t>Checklist</a:t>
            </a:r>
            <a:endParaRPr lang="en-US" sz="1600" dirty="0"/>
          </a:p>
        </p:txBody>
      </p:sp>
      <p:sp>
        <p:nvSpPr>
          <p:cNvPr id="7" name="Text 5"/>
          <p:cNvSpPr txBox="1"/>
          <p:nvPr/>
        </p:nvSpPr>
        <p:spPr>
          <a:xfrm>
            <a:off x="777240" y="1920240"/>
            <a:ext cx="475488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1F2E"/>
                </a:solidFill>
                <a:latin typeface="Calibri" pitchFamily="34" charset="0"/>
                <a:ea typeface="Calibri" pitchFamily="34" charset="-122"/>
                <a:cs typeface="Calibri" pitchFamily="34" charset="-120"/>
              </a:rPr>
              <a:t>Every legal line has a source reference (PR-nn)</a:t>
            </a:r>
            <a:endParaRPr lang="en-US" sz="1350" dirty="0"/>
          </a:p>
          <a:p>
            <a:pPr marL="342900" indent="-342900">
              <a:spcAft>
                <a:spcPts val="800"/>
              </a:spcAft>
              <a:buSzPct val="100000"/>
              <a:buChar char="✓"/>
            </a:pPr>
            <a:r>
              <a:rPr lang="en-US" sz="1350" dirty="0">
                <a:solidFill>
                  <a:srgbClr val="1F1F2E"/>
                </a:solidFill>
                <a:latin typeface="Calibri" pitchFamily="34" charset="0"/>
                <a:ea typeface="Calibri" pitchFamily="34" charset="-122"/>
                <a:cs typeface="Calibri" pitchFamily="34" charset="-120"/>
              </a:rPr>
              <a:t>Every “verified” line quotes the source</a:t>
            </a:r>
            <a:endParaRPr lang="en-US" sz="1350" dirty="0"/>
          </a:p>
          <a:p>
            <a:pPr marL="342900" indent="-342900">
              <a:spcAft>
                <a:spcPts val="800"/>
              </a:spcAft>
              <a:buSzPct val="100000"/>
              <a:buChar char="✓"/>
            </a:pPr>
            <a:r>
              <a:rPr lang="en-US" sz="1350" dirty="0">
                <a:solidFill>
                  <a:srgbClr val="1F1F2E"/>
                </a:solidFill>
                <a:latin typeface="Calibri" pitchFamily="34" charset="0"/>
                <a:ea typeface="Calibri" pitchFamily="34" charset="-122"/>
                <a:cs typeface="Calibri" pitchFamily="34" charset="-120"/>
              </a:rPr>
              <a:t>Workbook recalculates with zero formula errors</a:t>
            </a:r>
            <a:endParaRPr lang="en-US" sz="1350" dirty="0"/>
          </a:p>
          <a:p>
            <a:pPr marL="342900" indent="-342900">
              <a:spcAft>
                <a:spcPts val="800"/>
              </a:spcAft>
              <a:buSzPct val="100000"/>
              <a:buChar char="✓"/>
            </a:pPr>
            <a:r>
              <a:rPr lang="en-US" sz="1350" dirty="0">
                <a:solidFill>
                  <a:srgbClr val="1F1F2E"/>
                </a:solidFill>
                <a:latin typeface="Calibri" pitchFamily="34" charset="0"/>
                <a:ea typeface="Calibri" pitchFamily="34" charset="-122"/>
                <a:cs typeface="Calibri" pitchFamily="34" charset="-120"/>
              </a:rPr>
              <a:t>Part_Map: 30 codes, 0 mismatches</a:t>
            </a:r>
            <a:endParaRPr lang="en-US" sz="1350" dirty="0"/>
          </a:p>
          <a:p>
            <a:pPr marL="342900" indent="-342900">
              <a:spcAft>
                <a:spcPts val="800"/>
              </a:spcAft>
              <a:buSzPct val="100000"/>
              <a:buChar char="✓"/>
            </a:pPr>
            <a:r>
              <a:rPr lang="en-US" sz="1350" dirty="0">
                <a:solidFill>
                  <a:srgbClr val="1F1F2E"/>
                </a:solidFill>
                <a:latin typeface="Calibri" pitchFamily="34" charset="0"/>
                <a:ea typeface="Calibri" pitchFamily="34" charset="-122"/>
                <a:cs typeface="Calibri" pitchFamily="34" charset="-120"/>
              </a:rPr>
              <a:t>Collected and implied revenue both shown</a:t>
            </a:r>
            <a:endParaRPr lang="en-US" sz="1350" dirty="0"/>
          </a:p>
          <a:p>
            <a:pPr marL="342900" indent="-342900">
              <a:spcAft>
                <a:spcPts val="800"/>
              </a:spcAft>
              <a:buSzPct val="100000"/>
              <a:buChar char="✓"/>
            </a:pPr>
            <a:r>
              <a:rPr lang="en-US" sz="1350" dirty="0">
                <a:solidFill>
                  <a:srgbClr val="1F1F2E"/>
                </a:solidFill>
                <a:latin typeface="Calibri" pitchFamily="34" charset="0"/>
                <a:ea typeface="Calibri" pitchFamily="34" charset="-122"/>
                <a:cs typeface="Calibri" pitchFamily="34" charset="-120"/>
              </a:rPr>
              <a:t>Nothing filled from memory: gaps say “data gap”</a:t>
            </a:r>
            <a:endParaRPr lang="en-US" sz="1350" dirty="0"/>
          </a:p>
          <a:p>
            <a:pPr marL="342900" indent="-342900">
              <a:spcAft>
                <a:spcPts val="800"/>
              </a:spcAft>
              <a:buSzPct val="100000"/>
              <a:buChar char="✓"/>
            </a:pPr>
            <a:r>
              <a:rPr lang="en-US" sz="1350" dirty="0">
                <a:solidFill>
                  <a:srgbClr val="1F1F2E"/>
                </a:solidFill>
                <a:latin typeface="Calibri" pitchFamily="34" charset="0"/>
                <a:ea typeface="Calibri" pitchFamily="34" charset="-122"/>
                <a:cs typeface="Calibri" pitchFamily="34" charset="-120"/>
              </a:rPr>
              <a:t>Comparator only from a supplied, pre-run report</a:t>
            </a:r>
            <a:endParaRPr lang="en-US" sz="1350" dirty="0"/>
          </a:p>
        </p:txBody>
      </p:sp>
      <p:sp>
        <p:nvSpPr>
          <p:cNvPr id="8" name="Shape 6"/>
          <p:cNvSpPr/>
          <p:nvPr/>
        </p:nvSpPr>
        <p:spPr>
          <a:xfrm>
            <a:off x="1682496" y="4151376"/>
            <a:ext cx="2852928" cy="1781366"/>
          </a:xfrm>
          <a:prstGeom prst="rect">
            <a:avLst/>
          </a:prstGeom>
          <a:solidFill>
            <a:srgbClr val="F4F6FB"/>
          </a:solidFill>
          <a:ln w="9525">
            <a:solidFill>
              <a:srgbClr val="D5DAE3"/>
            </a:solidFill>
            <a:prstDash val="solid"/>
          </a:ln>
          <a:effectLst>
            <a:outerShdw sx="100000" sy="100000" kx="0" ky="0" algn="bl" rotWithShape="0" blurRad="76200" dist="25400" dir="5400000">
              <a:srgbClr val="000000">
                <a:alpha val="18000"/>
              </a:srgbClr>
            </a:outerShdw>
          </a:effectLst>
        </p:spPr>
      </p:sp>
      <p:pic>
        <p:nvPicPr>
          <p:cNvPr id="9" name="Image 0" descr="/home/claude/guide/img/workbook_parts.png">    </p:cNvPr>
          <p:cNvPicPr>
            <a:picLocks noChangeAspect="1"/>
          </p:cNvPicPr>
          <p:nvPr/>
        </p:nvPicPr>
        <p:blipFill>
          <a:blip r:embed="rId1"/>
          <a:stretch>
            <a:fillRect/>
          </a:stretch>
        </p:blipFill>
        <p:spPr>
          <a:xfrm>
            <a:off x="1737360" y="4206240"/>
            <a:ext cx="2743200" cy="1671638"/>
          </a:xfrm>
          <a:prstGeom prst="rect">
            <a:avLst/>
          </a:prstGeom>
        </p:spPr>
      </p:pic>
      <p:sp>
        <p:nvSpPr>
          <p:cNvPr id="10" name="Text 7"/>
          <p:cNvSpPr txBox="1"/>
          <p:nvPr/>
        </p:nvSpPr>
        <p:spPr>
          <a:xfrm>
            <a:off x="731520" y="5989320"/>
            <a:ext cx="4754880" cy="237744"/>
          </a:xfrm>
          <a:prstGeom prst="rect">
            <a:avLst/>
          </a:prstGeom>
          <a:noFill/>
          <a:ln/>
        </p:spPr>
        <p:txBody>
          <a:bodyPr wrap="square" lIns="0" tIns="0" rIns="0" bIns="0" rtlCol="0" anchor="ctr"/>
          <a:lstStyle/>
          <a:p>
            <a:pPr algn="ctr" indent="0" marL="0">
              <a:buNone/>
            </a:pPr>
            <a:r>
              <a:rPr lang="en-US" sz="1100" i="1" dirty="0">
                <a:solidFill>
                  <a:srgbClr val="5C667A"/>
                </a:solidFill>
                <a:latin typeface="Calibri" pitchFamily="34" charset="0"/>
                <a:ea typeface="Calibri" pitchFamily="34" charset="-122"/>
                <a:cs typeface="Calibri" pitchFamily="34" charset="-120"/>
              </a:rPr>
              <a:t>Part_Summary: check coverage and data quality</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43600" y="1371600"/>
          <a:ext cx="5696712" cy="914400"/>
        </p:xfrm>
        <a:graphic>
          <a:graphicData uri="http://schemas.openxmlformats.org/drawingml/2006/table">
            <a:tbl>
              <a:tblPr/>
              <a:tblGrid>
                <a:gridCol w="2194560"/>
                <a:gridCol w="350215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If this happens...</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2761"/>
                    </a:solidFill>
                  </a:tcPr>
                </a:tc>
              </a:tr>
              <a:tr h="65836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“Usage limit reached”</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Wait for the reset, start a new chat per stage, or move to a higher plan</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The AI cannot open a website</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Ask for the data step: links list + .bat</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r>
              <a:tr h="65836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A table in a law is unreadable</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It is marked “not legible”; get a clearer copy from the revenue authority</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No download button (Claude)</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Turn on “Code execution and file creation”</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No Claude model (Copilot)</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Check your plan and the Copilot model settings</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Part 5 stops: headers differ</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c>
                  <a:txBody>
                    <a:bodyPr/>
                    <a:lstStyle/>
                    <a:p>
                      <a:pPr indent="0" marL="0">
                        <a:buNone/>
                      </a:pPr>
                      <a:r>
                        <a:rPr lang="en-US" sz="1200" dirty="0">
                          <a:solidFill>
                            <a:srgbClr val="1F1F2E"/>
                          </a:solidFill>
                          <a:latin typeface="Calibri" pitchFamily="34" charset="0"/>
                          <a:ea typeface="Calibri" pitchFamily="34" charset="-122"/>
                          <a:cs typeface="Calibri" pitchFamily="34" charset="-120"/>
                        </a:rPr>
                        <a:t>Choose which common header to keep, then re-run O1</a:t>
                      </a:r>
                      <a:endParaRPr lang="en-US" sz="1200" dirty="0">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4F6FB"/>
                    </a:solidFill>
                  </a:tcPr>
                </a:tc>
              </a:tr>
            </a:tbl>
          </a:graphicData>
        </a:graphic>
      </p:graphicFrame>
      <p:pic>
        <p:nvPicPr>
          <p:cNvPr id="12" name="Image 1" descr="/home/claude/guide/img/paper_p49-49.png">    </p:cNvPr>
          <p:cNvPicPr>
            <a:picLocks noChangeAspect="1"/>
          </p:cNvPicPr>
          <p:nvPr/>
        </p:nvPicPr>
        <p:blipFill>
          <a:blip r:embed="rId2"/>
          <a:stretch>
            <a:fillRect/>
          </a:stretch>
        </p:blipFill>
        <p:spPr>
          <a:xfrm>
            <a:off x="5943600" y="5486400"/>
            <a:ext cx="658368" cy="850392"/>
          </a:xfrm>
          <a:prstGeom prst="rect">
            <a:avLst/>
          </a:prstGeom>
        </p:spPr>
      </p:pic>
      <p:sp>
        <p:nvSpPr>
          <p:cNvPr id="13" name="Text 8"/>
          <p:cNvSpPr txBox="1"/>
          <p:nvPr/>
        </p:nvSpPr>
        <p:spPr>
          <a:xfrm>
            <a:off x="6720840" y="5577840"/>
            <a:ext cx="4846320" cy="640080"/>
          </a:xfrm>
          <a:prstGeom prst="rect">
            <a:avLst/>
          </a:prstGeom>
          <a:noFill/>
          <a:ln/>
        </p:spPr>
        <p:txBody>
          <a:bodyPr wrap="square" lIns="0" tIns="0" rIns="0" bIns="0" rtlCol="0" anchor="ctr"/>
          <a:lstStyle/>
          <a:p>
            <a:pPr indent="0" marL="0">
              <a:buNone/>
            </a:pPr>
            <a:r>
              <a:rPr lang="en-US" sz="1200" i="1" dirty="0">
                <a:solidFill>
                  <a:srgbClr val="5C667A"/>
                </a:solidFill>
                <a:latin typeface="Calibri" pitchFamily="34" charset="0"/>
                <a:ea typeface="Calibri" pitchFamily="34" charset="-122"/>
                <a:cs typeface="Calibri" pitchFamily="34" charset="-120"/>
              </a:rPr>
              <a:t>Full rules: Annex F of the working paper, and the master process file.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Quick reference</a:t>
            </a:r>
            <a:endParaRPr lang="en-US" sz="3400" dirty="0"/>
          </a:p>
        </p:txBody>
      </p:sp>
      <p:sp>
        <p:nvSpPr>
          <p:cNvPr id="3" name="Shape 1"/>
          <p:cNvSpPr/>
          <p:nvPr/>
        </p:nvSpPr>
        <p:spPr>
          <a:xfrm>
            <a:off x="548640" y="1371600"/>
            <a:ext cx="3566160" cy="4846320"/>
          </a:xfrm>
          <a:prstGeom prst="roundRect">
            <a:avLst>
              <a:gd name="adj" fmla="val 2051"/>
            </a:avLst>
          </a:prstGeom>
          <a:solidFill>
            <a:srgbClr val="2A3571"/>
          </a:solidFill>
          <a:ln w="12700">
            <a:solidFill>
              <a:srgbClr val="3A4788"/>
            </a:solidFill>
            <a:prstDash val="solid"/>
          </a:ln>
        </p:spPr>
      </p:sp>
      <p:sp>
        <p:nvSpPr>
          <p:cNvPr id="4" name="Text 2"/>
          <p:cNvSpPr txBox="1"/>
          <p:nvPr/>
        </p:nvSpPr>
        <p:spPr>
          <a:xfrm>
            <a:off x="777240" y="1508760"/>
            <a:ext cx="3108960" cy="411480"/>
          </a:xfrm>
          <a:prstGeom prst="rect">
            <a:avLst/>
          </a:prstGeom>
          <a:noFill/>
          <a:ln/>
        </p:spPr>
        <p:txBody>
          <a:bodyPr wrap="square" lIns="0" tIns="0" rIns="0" bIns="0" rtlCol="0" anchor="ctr"/>
          <a:lstStyle/>
          <a:p>
            <a:pPr indent="0" marL="0">
              <a:buNone/>
            </a:pPr>
            <a:r>
              <a:rPr lang="en-US" sz="1700" b="1" dirty="0">
                <a:solidFill>
                  <a:srgbClr val="F2B45A"/>
                </a:solidFill>
                <a:latin typeface="Calibri" pitchFamily="34" charset="0"/>
                <a:ea typeface="Calibri" pitchFamily="34" charset="-122"/>
                <a:cs typeface="Calibri" pitchFamily="34" charset="-120"/>
              </a:rPr>
              <a:t>Files</a:t>
            </a:r>
            <a:endParaRPr lang="en-US" sz="1700" dirty="0"/>
          </a:p>
        </p:txBody>
      </p:sp>
      <p:sp>
        <p:nvSpPr>
          <p:cNvPr id="5" name="Text 3"/>
          <p:cNvSpPr txBox="1"/>
          <p:nvPr/>
        </p:nvSpPr>
        <p:spPr>
          <a:xfrm>
            <a:off x="777240" y="2011680"/>
            <a:ext cx="3154680" cy="1920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Repository (example; will change):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github.com/sjstretton/new-ai-tools</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ExciseDiagnostic/process_files/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 excise_diagnostic_process.md (master)</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 excise_part1..5_*.md (sectoral)</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Workbook structure: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Excise_Diagnostic_CrossCountry.xlsx</a:t>
            </a:r>
            <a:endParaRPr lang="en-US" sz="1300" dirty="0"/>
          </a:p>
        </p:txBody>
      </p:sp>
      <p:pic>
        <p:nvPicPr>
          <p:cNvPr id="6" name="Image 0" descr="/home/claude/guide/img/repo_tree.png">    </p:cNvPr>
          <p:cNvPicPr>
            <a:picLocks noChangeAspect="1"/>
          </p:cNvPicPr>
          <p:nvPr/>
        </p:nvPicPr>
        <p:blipFill>
          <a:blip r:embed="rId1"/>
          <a:stretch>
            <a:fillRect/>
          </a:stretch>
        </p:blipFill>
        <p:spPr>
          <a:xfrm>
            <a:off x="777240" y="4114800"/>
            <a:ext cx="3108960" cy="1894523"/>
          </a:xfrm>
          <a:prstGeom prst="rect">
            <a:avLst/>
          </a:prstGeom>
        </p:spPr>
      </p:pic>
      <p:sp>
        <p:nvSpPr>
          <p:cNvPr id="7" name="Shape 4"/>
          <p:cNvSpPr/>
          <p:nvPr/>
        </p:nvSpPr>
        <p:spPr>
          <a:xfrm>
            <a:off x="4297680" y="1371600"/>
            <a:ext cx="3566160" cy="4846320"/>
          </a:xfrm>
          <a:prstGeom prst="roundRect">
            <a:avLst>
              <a:gd name="adj" fmla="val 2051"/>
            </a:avLst>
          </a:prstGeom>
          <a:solidFill>
            <a:srgbClr val="2A3571"/>
          </a:solidFill>
          <a:ln w="12700">
            <a:solidFill>
              <a:srgbClr val="3A4788"/>
            </a:solidFill>
            <a:prstDash val="solid"/>
          </a:ln>
        </p:spPr>
      </p:sp>
      <p:sp>
        <p:nvSpPr>
          <p:cNvPr id="8" name="Text 5"/>
          <p:cNvSpPr txBox="1"/>
          <p:nvPr/>
        </p:nvSpPr>
        <p:spPr>
          <a:xfrm>
            <a:off x="4526280" y="1508760"/>
            <a:ext cx="3108960" cy="411480"/>
          </a:xfrm>
          <a:prstGeom prst="rect">
            <a:avLst/>
          </a:prstGeom>
          <a:noFill/>
          <a:ln/>
        </p:spPr>
        <p:txBody>
          <a:bodyPr wrap="square" lIns="0" tIns="0" rIns="0" bIns="0" rtlCol="0" anchor="ctr"/>
          <a:lstStyle/>
          <a:p>
            <a:pPr indent="0" marL="0">
              <a:buNone/>
            </a:pPr>
            <a:r>
              <a:rPr lang="en-US" sz="1700" b="1" dirty="0">
                <a:solidFill>
                  <a:srgbClr val="F2B45A"/>
                </a:solidFill>
                <a:latin typeface="Calibri" pitchFamily="34" charset="0"/>
                <a:ea typeface="Calibri" pitchFamily="34" charset="-122"/>
                <a:cs typeface="Calibri" pitchFamily="34" charset="-120"/>
              </a:rPr>
              <a:t>(a) Full diagnostic</a:t>
            </a:r>
            <a:endParaRPr lang="en-US" sz="1700" dirty="0"/>
          </a:p>
        </p:txBody>
      </p:sp>
      <p:sp>
        <p:nvSpPr>
          <p:cNvPr id="9" name="Text 6"/>
          <p:cNvSpPr txBox="1"/>
          <p:nvPr/>
        </p:nvSpPr>
        <p:spPr>
          <a:xfrm>
            <a:off x="4526280" y="2011680"/>
            <a:ext cx="3154680" cy="1920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Give: master file + legal texts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Prompts: A1 → A6 (master, section 10)</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Get: 1 report + 1 workbook</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(b) Sectoral</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Give: master + one part file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Parts 1–4 any order: P0 → P6</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Part 5 last: O1 → O5</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Get: 5 reports + 5 workbooks</a:t>
            </a:r>
            <a:endParaRPr lang="en-US" sz="1300" dirty="0"/>
          </a:p>
        </p:txBody>
      </p:sp>
      <p:pic>
        <p:nvPicPr>
          <p:cNvPr id="10" name="Image 1" descr="/home/claude/guide/img/claude_chat.png">    </p:cNvPr>
          <p:cNvPicPr>
            <a:picLocks noChangeAspect="1"/>
          </p:cNvPicPr>
          <p:nvPr/>
        </p:nvPicPr>
        <p:blipFill>
          <a:blip r:embed="rId2"/>
          <a:stretch>
            <a:fillRect/>
          </a:stretch>
        </p:blipFill>
        <p:spPr>
          <a:xfrm>
            <a:off x="4526280" y="4114800"/>
            <a:ext cx="3108960" cy="1894523"/>
          </a:xfrm>
          <a:prstGeom prst="rect">
            <a:avLst/>
          </a:prstGeom>
        </p:spPr>
      </p:pic>
      <p:sp>
        <p:nvSpPr>
          <p:cNvPr id="11" name="Shape 7"/>
          <p:cNvSpPr/>
          <p:nvPr/>
        </p:nvSpPr>
        <p:spPr>
          <a:xfrm>
            <a:off x="8046720" y="1371600"/>
            <a:ext cx="3566160" cy="4846320"/>
          </a:xfrm>
          <a:prstGeom prst="roundRect">
            <a:avLst>
              <a:gd name="adj" fmla="val 2051"/>
            </a:avLst>
          </a:prstGeom>
          <a:solidFill>
            <a:srgbClr val="2A3571"/>
          </a:solidFill>
          <a:ln w="12700">
            <a:solidFill>
              <a:srgbClr val="3A4788"/>
            </a:solidFill>
            <a:prstDash val="solid"/>
          </a:ln>
        </p:spPr>
      </p:sp>
      <p:sp>
        <p:nvSpPr>
          <p:cNvPr id="12" name="Text 8"/>
          <p:cNvSpPr txBox="1"/>
          <p:nvPr/>
        </p:nvSpPr>
        <p:spPr>
          <a:xfrm>
            <a:off x="8275320" y="1508760"/>
            <a:ext cx="3108960" cy="411480"/>
          </a:xfrm>
          <a:prstGeom prst="rect">
            <a:avLst/>
          </a:prstGeom>
          <a:noFill/>
          <a:ln/>
        </p:spPr>
        <p:txBody>
          <a:bodyPr wrap="square" lIns="0" tIns="0" rIns="0" bIns="0" rtlCol="0" anchor="ctr"/>
          <a:lstStyle/>
          <a:p>
            <a:pPr indent="0" marL="0">
              <a:buNone/>
            </a:pPr>
            <a:r>
              <a:rPr lang="en-US" sz="1700" b="1" dirty="0">
                <a:solidFill>
                  <a:srgbClr val="F2B45A"/>
                </a:solidFill>
                <a:latin typeface="Calibri" pitchFamily="34" charset="0"/>
                <a:ea typeface="Calibri" pitchFamily="34" charset="-122"/>
                <a:cs typeface="Calibri" pitchFamily="34" charset="-120"/>
              </a:rPr>
              <a:t>Tools</a:t>
            </a:r>
            <a:endParaRPr lang="en-US" sz="1700" dirty="0"/>
          </a:p>
        </p:txBody>
      </p:sp>
      <p:sp>
        <p:nvSpPr>
          <p:cNvPr id="13" name="Text 9"/>
          <p:cNvSpPr txBox="1"/>
          <p:nvPr/>
        </p:nvSpPr>
        <p:spPr>
          <a:xfrm>
            <a:off x="8275320" y="2011680"/>
            <a:ext cx="3154680" cy="1920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Claude: claude.ai → Settings → Capabilities → Code execution and file creation → Projects</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Copilot: github.com → Copilot plan → VS Code → Chat → Agent + Claude model → attach files</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Data step: links list + .bat → upload sources folder</a:t>
            </a:r>
            <a:endParaRPr lang="en-US" sz="1300" dirty="0"/>
          </a:p>
        </p:txBody>
      </p:sp>
      <p:pic>
        <p:nvPicPr>
          <p:cNvPr id="14" name="Image 2" descr="/home/claude/guide/img/vscode_chat.png">    </p:cNvPr>
          <p:cNvPicPr>
            <a:picLocks noChangeAspect="1"/>
          </p:cNvPicPr>
          <p:nvPr/>
        </p:nvPicPr>
        <p:blipFill>
          <a:blip r:embed="rId3"/>
          <a:stretch>
            <a:fillRect/>
          </a:stretch>
        </p:blipFill>
        <p:spPr>
          <a:xfrm>
            <a:off x="8275320" y="4114800"/>
            <a:ext cx="3108960" cy="1894523"/>
          </a:xfrm>
          <a:prstGeom prst="rect">
            <a:avLst/>
          </a:prstGeom>
        </p:spPr>
      </p:pic>
      <p:sp>
        <p:nvSpPr>
          <p:cNvPr id="15" name="Text 10"/>
          <p:cNvSpPr txBox="1"/>
          <p:nvPr/>
        </p:nvSpPr>
        <p:spPr>
          <a:xfrm>
            <a:off x="548640" y="6355080"/>
            <a:ext cx="1097280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Pictures in this guide are illustrations; real screens and plan names change over time.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Excise Diagnostic with AI: user guide</dc:title>
  <dc:subject>PptxGenJS Presentation</dc:subject>
  <dc:creator>PptxGenJS</dc:creator>
  <cp:lastModifiedBy>PptxGenJS</cp:lastModifiedBy>
  <cp:revision>1</cp:revision>
  <dcterms:created xsi:type="dcterms:W3CDTF">2026-09-30T23:35:34Z</dcterms:created>
  <dcterms:modified xsi:type="dcterms:W3CDTF">2026-09-30T23:35:34Z</dcterms:modified>
</cp:coreProperties>
</file>