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7" d="100"/>
          <a:sy n="97" d="100"/>
        </p:scale>
        <p:origin x="107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41357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Framing: this is a proposal for a standard fiscal layer that ships with every CCDR, not a new standalone diagnostic. Scope is mitigation finance.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here if you have five minutes rather than twenty. The four findings map to the four things the module adds that a CCDR does not currently produce.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comparability point — it is a problem the CCDR team has already named publicly, so this is filling a stated gap rather than inventing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ordering is the argument: you cannot advise a country on financing before you know whether it is a fossil exporter with revenue to lose or an importer with a bill to cut.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asked about maturity: frame as consolidation of existing tools, not a build from zero. Emphasize that comparability is a by-product of a shared core, not a separate workstream.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Twelve indicators is the ceiling, not the floor. If it grows past that it stops being a scorecard and starts being a report nobody refreshes.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the original pitch was missing. It converts 'mitigation is a revenue problem' from an assertion into a split you can act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Pre-empt the turf question here, out loud. Position as an indexing layer over C-PIMA, PEFA's climate module and existing C-PEIRs.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Expect pushback that this is standard. The novelty is the third column: making the fiscal footprint of derisking explicit and comparable across the portfolio.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small ask. A pilot on countries already in the drafting queue costs almost nothing to say yes 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C1577C1-7E29-1F20-18BF-196B908D155A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1210925" y="6642100"/>
            <a:ext cx="94297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Official Use Only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85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C056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WORLD BANK GROUP  ·  CONCEPT NOTE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691640"/>
            <a:ext cx="7680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4800"/>
              </a:lnSpc>
            </a:pPr>
            <a:r>
              <a:rPr lang="en-US" sz="4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Tax-Macro-Fiscal-Dashboard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06908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AEBEC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dashboard of tax and macro-fiscal indicators for </a:t>
            </a:r>
            <a:r>
              <a:rPr lang="en-US" sz="1500">
                <a:solidFill>
                  <a:srgbClr val="AEBEC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energy risk.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035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3A0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Stephen  ·  Prepared for Stéphane Hallegatte, Chief Climate Economist  ·  August 2026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732520" y="2148840"/>
            <a:ext cx="54864" cy="310896"/>
          </a:xfrm>
          <a:prstGeom prst="rect">
            <a:avLst/>
          </a:prstGeom>
          <a:solidFill>
            <a:srgbClr val="4FA89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8942832" y="2148840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FA89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9418320" y="214884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3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Integrated modelling stack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732520" y="2715768"/>
            <a:ext cx="54864" cy="310896"/>
          </a:xfrm>
          <a:prstGeom prst="rect">
            <a:avLst/>
          </a:prstGeom>
          <a:solidFill>
            <a:srgbClr val="4FA89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8942832" y="2715768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FA89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9418320" y="271576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3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Comparable fiscal indicators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732520" y="3282696"/>
            <a:ext cx="54864" cy="310896"/>
          </a:xfrm>
          <a:prstGeom prst="rect">
            <a:avLst/>
          </a:prstGeom>
          <a:solidFill>
            <a:srgbClr val="C0562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8942832" y="3282696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562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9418320" y="3282696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3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Energy fiscal risk and PIM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732520" y="3849624"/>
            <a:ext cx="54864" cy="310896"/>
          </a:xfrm>
          <a:prstGeom prst="rect">
            <a:avLst/>
          </a:prstGeom>
          <a:solidFill>
            <a:srgbClr val="C0562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8942832" y="384962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562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04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9418320" y="3849624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3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Derisking instrument menu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C056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0E1B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comparable fiscal and opportunity layer now exists for</a:t>
            </a:r>
            <a:endParaRPr lang="en-US" sz="2700" dirty="0"/>
          </a:p>
          <a:p>
            <a:pPr marL="0" indent="0" algn="l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0E1B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all 98 CCDR economies — built, tested and ready to pilot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288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F6F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98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4871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CCDR economies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3429000" y="18288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F6F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35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3429000" y="24871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indicators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217920" y="18288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C0562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16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6217920" y="24871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 datasets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9006840" y="18288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C0562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6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9006840" y="24871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diagnostic blocks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2944368"/>
            <a:ext cx="10881360" cy="0"/>
          </a:xfrm>
          <a:prstGeom prst="line">
            <a:avLst/>
          </a:prstGeom>
          <a:noFill/>
          <a:ln w="9525">
            <a:solidFill>
              <a:srgbClr val="DCE1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40080" y="3145536"/>
            <a:ext cx="310896" cy="310896"/>
          </a:xfrm>
          <a:prstGeom prst="rect">
            <a:avLst/>
          </a:prstGeom>
          <a:solidFill>
            <a:srgbClr val="1F6F6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640080" y="3145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01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3127248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1B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Delivery is the binding constraint, and it is measurable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3392424"/>
            <a:ext cx="10332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B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Median PEFA public investment management score is 1.5 of 4. Of 61 assessed economies, 35 sit at or below that and only 2 score above 3. Capital budget execution has a median of 87% but eleven economies spend under half of what they approve.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0080" y="3913632"/>
            <a:ext cx="310896" cy="310896"/>
          </a:xfrm>
          <a:prstGeom prst="rect">
            <a:avLst/>
          </a:prstGeom>
          <a:solidFill>
            <a:srgbClr val="1F6F6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640080" y="39136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02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" y="3895344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1B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Two different countries, two different pitches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" y="4160520"/>
            <a:ext cx="10332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B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 of the set are net fuel exporters and 76 are importers. For exporters the transition is a revenue cliff; for importers it is balance-of-payments relief. The same slide cannot serve both — now it does not have to.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40080" y="4681728"/>
            <a:ext cx="310896" cy="310896"/>
          </a:xfrm>
          <a:prstGeom prst="rect">
            <a:avLst/>
          </a:prstGeom>
          <a:solidFill>
            <a:srgbClr val="C0562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640080" y="46817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03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097280" y="4663440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1B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cheapest abatement is where the data was thinnest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097280" y="4928616"/>
            <a:ext cx="10332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B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 economies generate over half their electricity from oil, 14 over 80%. Solar already beats oil-fired power on unsubsidised cost, so this is negative-cost abatement needing no carbon price — and it is concentrated in the small states that had almost no other data.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40080" y="5449824"/>
            <a:ext cx="310896" cy="310896"/>
          </a:xfrm>
          <a:prstGeom prst="rect">
            <a:avLst/>
          </a:prstGeom>
          <a:solidFill>
            <a:srgbClr val="C0562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640080" y="54498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04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097280" y="5431536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1B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Derisking is addressed to a market half of them cannot reach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1097280" y="5696712"/>
            <a:ext cx="10332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B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Median official-to-private borrowing spread is 2.1pp, reaching 8.7pp. Median PEFA score for reporting contingent liabilities is 1.0 — instruments that create guarantee exposure are being offered to governments with no capacity to disclose it.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640080" y="627278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3A0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Coverage: 97 of 98 economies on interest-to-revenue, 96 on gross debt and oil-fired generation share, 95 on net fuel trade, 94 on mitigation finance received, 93 on fossil fuel subsidies. Weakest column is WACC at 42.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1338560" y="627278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3A0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C056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GAP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0E1B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CCDRs size the investment need — they say much less</a:t>
            </a:r>
            <a:endParaRPr lang="en-US" sz="2700" dirty="0"/>
          </a:p>
          <a:p>
            <a:pPr marL="0" indent="0" algn="l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0E1B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about the capacity to finance it or to deliver it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5564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A6B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Mitigation finance is where the gap bites hardest: the numbers are large, the instruments are fiscal, and the constraints are country-specific.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423160"/>
            <a:ext cx="3383280" cy="3566160"/>
          </a:xfrm>
          <a:prstGeom prst="rect">
            <a:avLst/>
          </a:prstGeom>
          <a:solidFill>
            <a:srgbClr val="F4F6F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932688" y="2697480"/>
            <a:ext cx="2798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1F6F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WELL COVERED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932688" y="2999232"/>
            <a:ext cx="27980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0E1B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Scenario and needs analysis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32688" y="3730752"/>
            <a:ext cx="2798064" cy="0"/>
          </a:xfrm>
          <a:prstGeom prst="line">
            <a:avLst/>
          </a:prstGeom>
          <a:noFill/>
          <a:ln w="9525">
            <a:solidFill>
              <a:srgbClr val="DCE1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932688" y="3886200"/>
            <a:ext cx="279806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A6B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Sector decarbonization pathways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A6B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Investment needs as a share of GDP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A6B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Macro impacts of climate and policy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A6B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Distributional effects of reform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89120" y="2423160"/>
            <a:ext cx="3383280" cy="3566160"/>
          </a:xfrm>
          <a:prstGeom prst="rect">
            <a:avLst/>
          </a:prstGeom>
          <a:solidFill>
            <a:srgbClr val="F4F6F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4681728" y="2697480"/>
            <a:ext cx="2798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C056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THIN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4681728" y="2999232"/>
            <a:ext cx="27980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0E1B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Fiscal capacity and delivery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681728" y="3730752"/>
            <a:ext cx="2798064" cy="0"/>
          </a:xfrm>
          <a:prstGeom prst="line">
            <a:avLst/>
          </a:prstGeom>
          <a:noFill/>
          <a:ln w="9525">
            <a:solidFill>
              <a:srgbClr val="DCE1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4681728" y="3886200"/>
            <a:ext cx="279806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A6B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potential from energy and carbon pricing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A6B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Exposure of the budget to the transition itself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A6B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Whether capital budgets actually execute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A6B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instrument fits which constraint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38160" y="2423160"/>
            <a:ext cx="3383280" cy="3566160"/>
          </a:xfrm>
          <a:prstGeom prst="rect">
            <a:avLst/>
          </a:prstGeom>
          <a:solidFill>
            <a:srgbClr val="F4F6F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8430768" y="2697480"/>
            <a:ext cx="2798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0E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CONSEQUENCE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8430768" y="2999232"/>
            <a:ext cx="27980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0E1B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Results resist comparison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430768" y="3730752"/>
            <a:ext cx="2798064" cy="0"/>
          </a:xfrm>
          <a:prstGeom prst="line">
            <a:avLst/>
          </a:prstGeom>
          <a:noFill/>
          <a:ln w="9525">
            <a:solidFill>
              <a:srgbClr val="DCE1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8430768" y="3886200"/>
            <a:ext cx="279806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A6B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Methods are chosen country by country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A6B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Outputs are hard to aggregate across the portfolio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A6B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Financing sections default to a generic menu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A6B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Operations inherit an unpriced instrument choice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627278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3A0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CCDR methodology is deliberately tailored to each country, which supports in-country policy debate but makes portfolio-level aggregation and comparison harder.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338560" y="627278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3A0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C056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FRAMEWORK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0E1B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Six questions, asked in order: context before verdict,</a:t>
            </a:r>
            <a:endParaRPr lang="en-US" sz="2700" dirty="0"/>
          </a:p>
          <a:p>
            <a:pPr marL="0" indent="0" algn="l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0E1B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opportunity before constraint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5564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A6B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context blocks frame the country. Four judgement blocks then say what it can pay for, build and finance.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3383280" cy="1737360"/>
          </a:xfrm>
          <a:prstGeom prst="rect">
            <a:avLst/>
          </a:prstGeom>
          <a:solidFill>
            <a:srgbClr val="F4F6F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96112" y="2523744"/>
            <a:ext cx="310896" cy="310896"/>
          </a:xfrm>
          <a:prstGeom prst="rect">
            <a:avLst/>
          </a:prstGeom>
          <a:solidFill>
            <a:srgbClr val="C0562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896112" y="25237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316736" y="254203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C056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896112" y="2889504"/>
            <a:ext cx="2871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0E1B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How much fossil revenue is in play?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96112" y="3364992"/>
            <a:ext cx="28712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5A6B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Energy taxes already levied, export earnings, and revenue forgone through subsidies. A magnitude, not a verdict.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0" y="2286000"/>
            <a:ext cx="3383280" cy="1737360"/>
          </a:xfrm>
          <a:prstGeom prst="rect">
            <a:avLst/>
          </a:prstGeom>
          <a:solidFill>
            <a:srgbClr val="F4F6F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645152" y="2523744"/>
            <a:ext cx="310896" cy="310896"/>
          </a:xfrm>
          <a:prstGeom prst="rect">
            <a:avLst/>
          </a:prstGeom>
          <a:solidFill>
            <a:srgbClr val="C0562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4645152" y="25237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065776" y="254203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C056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4645152" y="2889504"/>
            <a:ext cx="2871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0E1B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Where is mitigation cheapest?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645152" y="3364992"/>
            <a:ext cx="28712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5A6B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Oil-fired generation, renewable share and the net fuel trade position. Where abatement pays for itself.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138160" y="2286000"/>
            <a:ext cx="3383280" cy="1737360"/>
          </a:xfrm>
          <a:prstGeom prst="rect">
            <a:avLst/>
          </a:prstGeom>
          <a:solidFill>
            <a:srgbClr val="F4F6F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394192" y="2523744"/>
            <a:ext cx="310896" cy="310896"/>
          </a:xfrm>
          <a:prstGeom prst="rect">
            <a:avLst/>
          </a:prstGeom>
          <a:solidFill>
            <a:srgbClr val="1F6F6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8394192" y="25237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F1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8814816" y="254203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1F6F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FISCAL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8394192" y="2889504"/>
            <a:ext cx="2871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0E1B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Can they pay for it?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8394192" y="3364992"/>
            <a:ext cx="28712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5A6B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Interest-to-revenue, gross debt and the tax base. The binding constraint in most IDA countries.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40080" y="4251960"/>
            <a:ext cx="3383280" cy="1737360"/>
          </a:xfrm>
          <a:prstGeom prst="rect">
            <a:avLst/>
          </a:prstGeom>
          <a:solidFill>
            <a:srgbClr val="F4F6F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896112" y="4489704"/>
            <a:ext cx="310896" cy="310896"/>
          </a:xfrm>
          <a:prstGeom prst="rect">
            <a:avLst/>
          </a:prstGeom>
          <a:solidFill>
            <a:srgbClr val="1F6F6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896112" y="44897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P1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1316736" y="450799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1F6F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DELIVERY</a:t>
            </a: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896112" y="4855464"/>
            <a:ext cx="2871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0E1B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Can they build it?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896112" y="5330952"/>
            <a:ext cx="28712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5A6B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Capital budget execution and PEFA public investment management. Whether finance becomes assets.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389120" y="4251960"/>
            <a:ext cx="3383280" cy="1737360"/>
          </a:xfrm>
          <a:prstGeom prst="rect">
            <a:avLst/>
          </a:prstGeom>
          <a:solidFill>
            <a:srgbClr val="F4F6F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645152" y="4489704"/>
            <a:ext cx="310896" cy="310896"/>
          </a:xfrm>
          <a:prstGeom prst="rect">
            <a:avLst/>
          </a:prstGeom>
          <a:solidFill>
            <a:srgbClr val="0E1B2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 txBox="1"/>
          <p:nvPr/>
        </p:nvSpPr>
        <p:spPr>
          <a:xfrm>
            <a:off x="4645152" y="44897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M1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5065776" y="450799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0E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FINANCE</a:t>
            </a:r>
            <a:endParaRPr lang="en-US" sz="850" dirty="0"/>
          </a:p>
        </p:txBody>
      </p:sp>
      <p:sp>
        <p:nvSpPr>
          <p:cNvPr id="33" name="Text 31"/>
          <p:cNvSpPr txBox="1"/>
          <p:nvPr/>
        </p:nvSpPr>
        <p:spPr>
          <a:xfrm>
            <a:off x="4645152" y="4855464"/>
            <a:ext cx="2871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0E1B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does capital cost them?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4645152" y="5330952"/>
            <a:ext cx="28712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5A6B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WACC, the official-to-private spread and borrowing tenor. What derisking is actually worth.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8138160" y="4251960"/>
            <a:ext cx="3383280" cy="1737360"/>
          </a:xfrm>
          <a:prstGeom prst="rect">
            <a:avLst/>
          </a:prstGeom>
          <a:solidFill>
            <a:srgbClr val="F4F6F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8394192" y="4489704"/>
            <a:ext cx="310896" cy="310896"/>
          </a:xfrm>
          <a:prstGeom prst="rect">
            <a:avLst/>
          </a:prstGeom>
          <a:solidFill>
            <a:srgbClr val="0E1B2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 txBox="1"/>
          <p:nvPr/>
        </p:nvSpPr>
        <p:spPr>
          <a:xfrm>
            <a:off x="8394192" y="44897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M2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8814816" y="450799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0E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FINANCE</a:t>
            </a:r>
            <a:endParaRPr lang="en-US" sz="850" dirty="0"/>
          </a:p>
        </p:txBody>
      </p:sp>
      <p:sp>
        <p:nvSpPr>
          <p:cNvPr id="39" name="Text 37"/>
          <p:cNvSpPr txBox="1"/>
          <p:nvPr/>
        </p:nvSpPr>
        <p:spPr>
          <a:xfrm>
            <a:off x="8394192" y="4855464"/>
            <a:ext cx="2871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0E1B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Who finances it, and what risk is carried?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8394192" y="5330952"/>
            <a:ext cx="28712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5A6B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Creditor mix, FX exposure, disclosure capacity and private mobilisation. Which instrument fits.</a:t>
            </a:r>
            <a:endParaRPr lang="en-US" sz="950" dirty="0"/>
          </a:p>
        </p:txBody>
      </p:sp>
      <p:sp>
        <p:nvSpPr>
          <p:cNvPr id="41" name="Text 39"/>
          <p:cNvSpPr txBox="1"/>
          <p:nvPr/>
        </p:nvSpPr>
        <p:spPr>
          <a:xfrm>
            <a:off x="640080" y="627278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3A0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Each block carries a 1-10 score and a plain-word evaluation. Context blocks read High / Medium / Low; judgement blocks read Good / Medium / Bad.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11338560" y="627278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3A0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1F6F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  ·  MODEL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0E1B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single Python framework replaces bespoke country</a:t>
            </a:r>
            <a:endParaRPr lang="en-US" sz="2700" dirty="0"/>
          </a:p>
          <a:p>
            <a:pPr marL="0" indent="0" algn="l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0E1B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tooling — and makes CCDR outputs comparable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2002536"/>
            <a:ext cx="310896" cy="310896"/>
          </a:xfrm>
          <a:prstGeom prst="rect">
            <a:avLst/>
          </a:prstGeom>
          <a:solidFill>
            <a:srgbClr val="1F6F6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640080" y="2002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96596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1B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Shared input layer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2295144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B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set of energy balances, price, tax and macro inputs feeding every module — so scenarios differ by assumption, not by data vintage.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3081528"/>
            <a:ext cx="310896" cy="310896"/>
          </a:xfrm>
          <a:prstGeom prst="rect">
            <a:avLst/>
          </a:prstGeom>
          <a:solidFill>
            <a:srgbClr val="1F6F6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640080" y="30815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3044952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1B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Consistent scenario logic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3374136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B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same policy definitions (carbon price, subsidy reform, standards, incentives) run across countries and can be re-run when parameters move.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4160520"/>
            <a:ext cx="310896" cy="310896"/>
          </a:xfrm>
          <a:prstGeom prst="rect">
            <a:avLst/>
          </a:prstGeom>
          <a:solidFill>
            <a:srgbClr val="1F6F6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640080" y="4160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4123944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1B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Fiscal flows as first-class output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4453128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B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Revenue, subsidy cost and expenditure are produced alongside emissions rather than reconstructed afterwards.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5239512"/>
            <a:ext cx="310896" cy="310896"/>
          </a:xfrm>
          <a:prstGeom prst="rect">
            <a:avLst/>
          </a:prstGeom>
          <a:solidFill>
            <a:srgbClr val="1F6F6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640080" y="52395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04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5202936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1B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Open and reproducible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" y="5532120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B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end to end: version-controlled, auditable, and handed to counterparts rather than kept in a consultant's spreadsheet.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360920" y="1920240"/>
            <a:ext cx="4160520" cy="3977640"/>
          </a:xfrm>
          <a:prstGeom prst="rect">
            <a:avLst/>
          </a:prstGeom>
          <a:solidFill>
            <a:srgbClr val="F4F6F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7680960" y="2194560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1F6F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STACK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680960" y="2542032"/>
            <a:ext cx="352044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DCE1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7863840" y="263347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6F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CPAT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7863840" y="2907792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5A6B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Carbon pricing, energy taxes, subsidy reform, fiscal and welfare incidence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680960" y="3511296"/>
            <a:ext cx="352044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DCE1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7863840" y="3602736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6F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SISEPUEDE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7863840" y="3877056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5A6B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Cross-sector emissions accounting, AFOLU, circular economy, transformation pathways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680960" y="4480560"/>
            <a:ext cx="352044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DCE1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 txBox="1"/>
          <p:nvPr/>
        </p:nvSpPr>
        <p:spPr>
          <a:xfrm>
            <a:off x="7863840" y="457200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6F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FTT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7863840" y="484632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5A6B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diffusion and investment dynamics in power, transport and industry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680960" y="5449824"/>
            <a:ext cx="3520440" cy="219456"/>
          </a:xfrm>
          <a:prstGeom prst="rect">
            <a:avLst/>
          </a:prstGeom>
          <a:solidFill>
            <a:srgbClr val="0E1B2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 txBox="1"/>
          <p:nvPr/>
        </p:nvSpPr>
        <p:spPr>
          <a:xfrm>
            <a:off x="7680960" y="5449824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SHARED CORE  ·  DATA, SCENARIOS, CALIBRATION</a:t>
            </a:r>
            <a:endParaRPr lang="en-US" sz="850" dirty="0"/>
          </a:p>
        </p:txBody>
      </p:sp>
      <p:sp>
        <p:nvSpPr>
          <p:cNvPr id="33" name="Text 31"/>
          <p:cNvSpPr txBox="1"/>
          <p:nvPr/>
        </p:nvSpPr>
        <p:spPr>
          <a:xfrm>
            <a:off x="640080" y="627278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3A0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Integration work is already under way; the ask is to point it at the CCDR pipeline rather than at individual country engagements.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11338560" y="627278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3A0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1F6F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  ·  MEASURE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0E1B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Six questions, thirty-five indicators, one page</a:t>
            </a:r>
            <a:endParaRPr lang="en-US" sz="2700" dirty="0"/>
          </a:p>
          <a:p>
            <a:pPr marL="0" indent="0" algn="l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0E1B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in every CCDR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5564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A6B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Fixed definitions, central refresh, and an observation year against every value. Built and populated for all 98 economies.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148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C0562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Context: what is in play?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3520440" y="214884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Excise revenue, % of revenue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7635240" y="2148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Energy tax already levied — 84 economies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3520440" y="2455164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Fossil rents and fuel exports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7635240" y="2455164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Export earnings at stake — 94 to 95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520440" y="276148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Fossil fuel subsidies, % GDP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7635240" y="276148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forgone at home — 93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3520440" y="306781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Oil-fired share of generation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7635240" y="306781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abatement pays for itself — 96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3364992"/>
            <a:ext cx="10881360" cy="0"/>
          </a:xfrm>
          <a:prstGeom prst="line">
            <a:avLst/>
          </a:prstGeom>
          <a:noFill/>
          <a:ln w="9525">
            <a:solidFill>
              <a:srgbClr val="DCE1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640080" y="353872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F6F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Fiscal and delivery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3520440" y="353872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Interest-to-revenue ratio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7635240" y="353872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binding constraint — 97 economies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3520440" y="384505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Gross debt, % of GDP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7635240" y="384505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Fiscal space — 96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3520440" y="4151376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Capital budget execution rate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7635240" y="4151376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the money get spent — 72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3520440" y="445770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PEFA PI-11, public investment management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7635240" y="44577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Median 1.5 of 4 across 61 economies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4754880"/>
            <a:ext cx="10881360" cy="0"/>
          </a:xfrm>
          <a:prstGeom prst="line">
            <a:avLst/>
          </a:prstGeom>
          <a:noFill/>
          <a:ln w="9525">
            <a:solidFill>
              <a:srgbClr val="DCE1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640080" y="492861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E1B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Financing and risk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3520440" y="4928616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WACC and official-private spread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7635240" y="4928616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derisking is worth — 42 and 69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3520440" y="523494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USD share of PPG debt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7635240" y="52349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FX exposure — 87 economies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3520440" y="5541264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Creditor composition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7635240" y="5541264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instrument even applies — 82 to 87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3520440" y="584758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Mitigation finance received, % GDP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7635240" y="584758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already arriving — 94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640080" y="627278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3A0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Sixteen public datasets: IMF WEO, WoRLD and Fossil Fuel Subsidies; World Bank BOOST, IDS, PPI and WDI; PEFA; OECD CRDF; Ember; IRENA. Every value carries its observation year.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1338560" y="627278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3A0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C056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 ·  OPPORTUNITY ANALYSIS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0E1B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same transition is a revenue cliff for 19 economies</a:t>
            </a:r>
            <a:endParaRPr lang="en-US" sz="2700" dirty="0"/>
          </a:p>
          <a:p>
            <a:pPr marL="0" indent="0" algn="l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0E1B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and balance-of-payments relief for 76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5257800" cy="2286000"/>
          </a:xfrm>
          <a:prstGeom prst="rect">
            <a:avLst/>
          </a:prstGeom>
          <a:solidFill>
            <a:srgbClr val="F4F6F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932688" y="2377440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C056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 NET EXPORTERS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932688" y="2651760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E1B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Revenue at stake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932688" y="3072384"/>
            <a:ext cx="4663440" cy="0"/>
          </a:xfrm>
          <a:prstGeom prst="line">
            <a:avLst/>
          </a:prstGeom>
          <a:noFill/>
          <a:ln w="9525">
            <a:solidFill>
              <a:srgbClr val="DCE1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932688" y="320040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A6B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Fossil rents above 5% of GDP in 15 economies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A6B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Fuel exports reach 81% of merchandise exports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A6B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Transition erodes the base faster than rates can rise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A6B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Pitch: revenue replacement and diversification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63640" y="2148840"/>
            <a:ext cx="5257800" cy="2286000"/>
          </a:xfrm>
          <a:prstGeom prst="rect">
            <a:avLst/>
          </a:prstGeom>
          <a:solidFill>
            <a:srgbClr val="F4F6F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6556248" y="2377440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1F6F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 NET IMPORTERS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6556248" y="2651760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E1B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Bill to be cut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556248" y="3072384"/>
            <a:ext cx="4663440" cy="0"/>
          </a:xfrm>
          <a:prstGeom prst="line">
            <a:avLst/>
          </a:prstGeom>
          <a:noFill/>
          <a:ln w="9525">
            <a:solidFill>
              <a:srgbClr val="DCE1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6556248" y="320040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A6B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Fuel imports up to 41% of merchandise imports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A6B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 economies generate over half their power from oil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A6B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Solar already beats oil-fired power unsubsidised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A6B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Pitch: negative-cost abatement, no carbon price needed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4709160"/>
            <a:ext cx="10881360" cy="1280160"/>
          </a:xfrm>
          <a:prstGeom prst="rect">
            <a:avLst/>
          </a:prstGeom>
          <a:solidFill>
            <a:srgbClr val="0E1B2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1005840" y="489204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Where abatement pays for itself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5230368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AEBEC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 economies generate more than 80% of their electricity from oil — Comoros, The Gambia, Guinea-Bissau and Grenada at 100%. These are the same small states that had almost no other fiscal data. The cheapest mitigation in the portfolio sits exactly where the diagnostics were thinnest.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627278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3A0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Sources: WDI fuel trade and resource rents; Ember Yearly Electricity Data. Net fuel trade covers 95 of 98 economies, oil-fired generation share 96.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1338560" y="627278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3A0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C056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  ·  STRESS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0E1B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Public investment management decides whether</a:t>
            </a:r>
            <a:endParaRPr lang="en-US" sz="2700" dirty="0"/>
          </a:p>
          <a:p>
            <a:pPr marL="0" indent="0" algn="l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0E1B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finance becomes assets — and reform is finance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2048256"/>
            <a:ext cx="310896" cy="310896"/>
          </a:xfrm>
          <a:prstGeom prst="rect">
            <a:avLst/>
          </a:prstGeom>
          <a:solidFill>
            <a:srgbClr val="C0562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640080" y="20482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201168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1B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Use the gap, not the headline score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2350008"/>
            <a:ext cx="6035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B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Measured, not asserted: median PEFA public investment management score is 1.5 of 4 across 61 economies. Thirty-five sit at or below that; only two score above 3. Public investment management is failing almost everywhere in the CCDR set.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3493008"/>
            <a:ext cx="310896" cy="310896"/>
          </a:xfrm>
          <a:prstGeom prst="rect">
            <a:avLst/>
          </a:prstGeom>
          <a:solidFill>
            <a:srgbClr val="C0562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640080" y="34930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3456432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1B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Pair institutions with execution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3794760"/>
            <a:ext cx="6035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B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Median capital budget execution is 87%, but eleven economies spend less than half of what they approve — Somalia 3%, The Gambia 9%, Central African Republic 10%. That is not a financing problem.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4937760"/>
            <a:ext cx="310896" cy="310896"/>
          </a:xfrm>
          <a:prstGeom prst="rect">
            <a:avLst/>
          </a:prstGeom>
          <a:solidFill>
            <a:srgbClr val="C0562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640080" y="4937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4901184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1B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Reform is finance at negative cost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5239512"/>
            <a:ext cx="6035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B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Closing part of the efficiency loss delivers assets without incremental borrowing. It belongs in the financing options table, not in a governance annex.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360920" y="1965960"/>
            <a:ext cx="4160520" cy="3246120"/>
          </a:xfrm>
          <a:prstGeom prst="rect">
            <a:avLst/>
          </a:prstGeom>
          <a:solidFill>
            <a:srgbClr val="F4F6F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7680960" y="2240280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C056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DIAGNOSTIC SIGNAL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7680960" y="274320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Institutional design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680960" y="3035808"/>
            <a:ext cx="3520440" cy="237744"/>
          </a:xfrm>
          <a:prstGeom prst="rect">
            <a:avLst/>
          </a:prstGeom>
          <a:solidFill>
            <a:srgbClr val="E4E9E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680960" y="3035808"/>
            <a:ext cx="2743200" cy="237744"/>
          </a:xfrm>
          <a:prstGeom prst="rect">
            <a:avLst/>
          </a:prstGeom>
          <a:solidFill>
            <a:srgbClr val="1F6F6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7680960" y="361188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Effectiveness in practice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680960" y="3904488"/>
            <a:ext cx="3520440" cy="237744"/>
          </a:xfrm>
          <a:prstGeom prst="rect">
            <a:avLst/>
          </a:prstGeom>
          <a:solidFill>
            <a:srgbClr val="E4E9E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680960" y="3904488"/>
            <a:ext cx="1417320" cy="237744"/>
          </a:xfrm>
          <a:prstGeom prst="rect">
            <a:avLst/>
          </a:prstGeom>
          <a:solidFill>
            <a:srgbClr val="C0562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7680960" y="448056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i="1" dirty="0">
                <a:solidFill>
                  <a:srgbClr val="5A6B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distance between the two bars is the whole finding: it tells you whether to write a law or to build a capability.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7360920" y="5321808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3A0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PEFA PI-11, 61 economies. Median 1.5 of 4.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627278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3A0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PEFA rather than C-PIMA: PEFA scores are published by default, C-PIMA only with country consent, so the published C-PIMA subsample self-selects toward stronger performers.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1338560" y="627278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3A0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C056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  ·  PRICE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0E1B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Derisking is a fiscal act: each instrument removes</a:t>
            </a:r>
            <a:endParaRPr lang="en-US" sz="2700" dirty="0"/>
          </a:p>
          <a:p>
            <a:pPr marL="0" indent="0" algn="l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0E1B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risk and leaves a liability behind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5564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A6B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menu is well known. What is usually missing is the mapping from country constraint to instrument, and the price the budget pays for it.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21284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C056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INSTRUMENT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120640" y="221284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C056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IT REMOVES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8458200" y="2212848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C056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BUDGET CARRIES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2523744"/>
            <a:ext cx="10881360" cy="0"/>
          </a:xfrm>
          <a:prstGeom prst="line">
            <a:avLst/>
          </a:prstGeom>
          <a:noFill/>
          <a:ln w="9525">
            <a:solidFill>
              <a:srgbClr val="DCE1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640080" y="2615184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0E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 currency and FX hedging facilities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5120640" y="2615184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B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Currency mismatch on long-dated assets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8458200" y="2615184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B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 direct cost; facility capitalization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044952"/>
            <a:ext cx="10881360" cy="0"/>
          </a:xfrm>
          <a:prstGeom prst="line">
            <a:avLst/>
          </a:prstGeom>
          <a:noFill/>
          <a:ln w="9525">
            <a:solidFill>
              <a:srgbClr val="DCE1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640080" y="3090672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0E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Partial risk and credit guarantees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5120640" y="3090672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B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Offtaker and payment default risk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8458200" y="3090672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B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Contingent liability; needs disclosure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3520440"/>
            <a:ext cx="10881360" cy="0"/>
          </a:xfrm>
          <a:prstGeom prst="line">
            <a:avLst/>
          </a:prstGeom>
          <a:noFill/>
          <a:ln w="9525">
            <a:solidFill>
              <a:srgbClr val="DCE1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640080" y="3566160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0E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First-loss and blended concessional layers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5120640" y="3566160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B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Early-mover and technology risk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8458200" y="3566160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B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Concessional resources consumed up front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3995928"/>
            <a:ext cx="10881360" cy="0"/>
          </a:xfrm>
          <a:prstGeom prst="line">
            <a:avLst/>
          </a:prstGeom>
          <a:noFill/>
          <a:ln w="9525">
            <a:solidFill>
              <a:srgbClr val="DCE1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640080" y="4041648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0E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Contracts for difference and auction design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5120640" y="4041648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B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Merchant price risk in power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8458200" y="4041648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B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Long-dated fiscal commitment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4471416"/>
            <a:ext cx="10881360" cy="0"/>
          </a:xfrm>
          <a:prstGeom prst="line">
            <a:avLst/>
          </a:prstGeom>
          <a:noFill/>
          <a:ln w="9525">
            <a:solidFill>
              <a:srgbClr val="DCE1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640080" y="4517136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0E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Political risk insurance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5120640" y="4517136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B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Expropriation, transfer, breach of contract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8458200" y="4517136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B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Premium-funded; off the sovereign balance sheet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40080" y="4946904"/>
            <a:ext cx="10881360" cy="0"/>
          </a:xfrm>
          <a:prstGeom prst="line">
            <a:avLst/>
          </a:prstGeom>
          <a:noFill/>
          <a:ln w="9525">
            <a:solidFill>
              <a:srgbClr val="DCE1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 txBox="1"/>
          <p:nvPr/>
        </p:nvSpPr>
        <p:spPr>
          <a:xfrm>
            <a:off x="640080" y="4992624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0E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Carbon credit offtake under Article 6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5120640" y="4992624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B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uncertainty on abatement projects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8458200" y="4992624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B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Forgone future compliance headroom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40080" y="5623560"/>
            <a:ext cx="10881360" cy="548640"/>
          </a:xfrm>
          <a:prstGeom prst="rect">
            <a:avLst/>
          </a:prstGeom>
          <a:solidFill>
            <a:srgbClr val="F4F6F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 txBox="1"/>
          <p:nvPr/>
        </p:nvSpPr>
        <p:spPr>
          <a:xfrm>
            <a:off x="932688" y="5623560"/>
            <a:ext cx="10296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link back:  </a:t>
            </a:r>
            <a:r>
              <a:rPr lang="en-US" sz="1200" dirty="0">
                <a:solidFill>
                  <a:srgbClr val="5A6B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right column is a fiscal indicator. Derisking choices should be scored against the contingent liability stock from block 02, not chosen from a list.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11338560" y="627278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3A0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85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C056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ASK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9601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Pilot on six to eight CCDRs — an indexing layer,</a:t>
            </a:r>
            <a:endParaRPr lang="en-US" sz="3000" dirty="0"/>
          </a:p>
          <a:p>
            <a:pPr marL="0" indent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not a new diagnostic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7180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0562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01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49300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Build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3950208"/>
            <a:ext cx="3429000" cy="0"/>
          </a:xfrm>
          <a:prstGeom prst="line">
            <a:avLst/>
          </a:prstGeom>
          <a:noFill/>
          <a:ln w="9525">
            <a:solidFill>
              <a:srgbClr val="2C3F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640080" y="4096512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AEBEC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 the indicator definitions and wire the modelling stack to the CCDR pipeline.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502920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4FA8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Q4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4526280" y="297180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0562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4526280" y="349300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Pilot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526280" y="3950208"/>
            <a:ext cx="3429000" cy="0"/>
          </a:xfrm>
          <a:prstGeom prst="line">
            <a:avLst/>
          </a:prstGeom>
          <a:noFill/>
          <a:ln w="9525">
            <a:solidFill>
              <a:srgbClr val="2C3F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4526280" y="4096512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AEBEC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the full chain on six to eight countries already in the drafting queue.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526280" y="502920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4FA8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Q1–Q2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8412480" y="297180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0562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03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8412480" y="349300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Ship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412480" y="3950208"/>
            <a:ext cx="3429000" cy="0"/>
          </a:xfrm>
          <a:prstGeom prst="line">
            <a:avLst/>
          </a:prstGeom>
          <a:noFill/>
          <a:ln w="9525">
            <a:solidFill>
              <a:srgbClr val="2C3F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8412480" y="4096512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AEBEC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standard fiscal page and one financing page in every subsequent CCDR.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412480" y="502920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4FA8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Q3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59893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3A0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is mitigation finance. Adaptation and disaster risk financing use the same chain and can follow.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2114</Words>
  <Application>Microsoft Office PowerPoint</Application>
  <PresentationFormat>Widescreen</PresentationFormat>
  <Paragraphs>250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Arial</vt:lpstr>
      <vt:lpstr>Cambria</vt:lpstr>
      <vt:lpstr>Century Schoolbook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Fiscal diagnostics and mitigation finance for CCDRs</dc:title>
  <dc:subject>PptxGenJS Presentation</dc:subject>
  <dc:creator>Stephen</dc:creator>
  <cp:lastModifiedBy>Stephen John Stretton</cp:lastModifiedBy>
  <cp:revision>2</cp:revision>
  <dcterms:created xsi:type="dcterms:W3CDTF">2026-08-26T15:57:12Z</dcterms:created>
  <dcterms:modified xsi:type="dcterms:W3CDTF">2026-09-30T21:45:06Z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1bf45b6-5649-4236-82a3-f45024cd282e_Enabled">
    <vt:lpwstr>true</vt:lpwstr>
  </property>
  <property fmtid="{D5CDD505-2E9C-101B-9397-08002B2CF9AE}" pid="3" name="MSIP_Label_f1bf45b6-5649-4236-82a3-f45024cd282e_SetDate">
    <vt:lpwstr>2026-09-30T21:45:06Z</vt:lpwstr>
  </property>
  <property fmtid="{D5CDD505-2E9C-101B-9397-08002B2CF9AE}" pid="4" name="MSIP_Label_f1bf45b6-5649-4236-82a3-f45024cd282e_Method">
    <vt:lpwstr>Standard</vt:lpwstr>
  </property>
  <property fmtid="{D5CDD505-2E9C-101B-9397-08002B2CF9AE}" pid="5" name="MSIP_Label_f1bf45b6-5649-4236-82a3-f45024cd282e_Name">
    <vt:lpwstr>Official Use Only</vt:lpwstr>
  </property>
  <property fmtid="{D5CDD505-2E9C-101B-9397-08002B2CF9AE}" pid="6" name="MSIP_Label_f1bf45b6-5649-4236-82a3-f45024cd282e_SiteId">
    <vt:lpwstr>31a2fec0-266b-4c67-b56e-2796d8f59c36</vt:lpwstr>
  </property>
  <property fmtid="{D5CDD505-2E9C-101B-9397-08002B2CF9AE}" pid="7" name="MSIP_Label_f1bf45b6-5649-4236-82a3-f45024cd282e_ActionId">
    <vt:lpwstr>0aefcd78-2980-4ecb-9ce7-ac0eb2fd8a85</vt:lpwstr>
  </property>
  <property fmtid="{D5CDD505-2E9C-101B-9397-08002B2CF9AE}" pid="8" name="MSIP_Label_f1bf45b6-5649-4236-82a3-f45024cd282e_ContentBits">
    <vt:lpwstr>2</vt:lpwstr>
  </property>
  <property fmtid="{D5CDD505-2E9C-101B-9397-08002B2CF9AE}" pid="9" name="MSIP_Label_f1bf45b6-5649-4236-82a3-f45024cd282e_Tag">
    <vt:lpwstr>10, 3, 0, 1</vt:lpwstr>
  </property>
  <property fmtid="{D5CDD505-2E9C-101B-9397-08002B2CF9AE}" pid="10" name="ClassificationContentMarkingFooterLocations">
    <vt:lpwstr>Office Theme:3</vt:lpwstr>
  </property>
  <property fmtid="{D5CDD505-2E9C-101B-9397-08002B2CF9AE}" pid="11" name="ClassificationContentMarkingFooterText">
    <vt:lpwstr>Official Use Only</vt:lpwstr>
  </property>
</Properties>
</file>