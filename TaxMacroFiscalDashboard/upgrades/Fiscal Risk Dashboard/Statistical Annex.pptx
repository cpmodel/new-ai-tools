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1" r:id="rId3"/>
    <p:sldId id="263" r:id="rId4"/>
    <p:sldId id="262" r:id="rId5"/>
    <p:sldId id="266" r:id="rId6"/>
    <p:sldId id="275" r:id="rId7"/>
    <p:sldId id="264" r:id="rId8"/>
    <p:sldId id="267" r:id="rId9"/>
    <p:sldId id="280" r:id="rId10"/>
    <p:sldId id="279" r:id="rId11"/>
    <p:sldId id="281" r:id="rId12"/>
    <p:sldId id="274" r:id="rId13"/>
    <p:sldId id="282" r:id="rId14"/>
    <p:sldId id="268" r:id="rId15"/>
    <p:sldId id="283" r:id="rId16"/>
    <p:sldId id="276" r:id="rId17"/>
    <p:sldId id="278" r:id="rId18"/>
    <p:sldId id="284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DA"/>
    <a:srgbClr val="042245"/>
    <a:srgbClr val="467D32"/>
    <a:srgbClr val="8CB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92"/>
    <p:restoredTop sz="95909"/>
  </p:normalViewPr>
  <p:slideViewPr>
    <p:cSldViewPr snapToGrid="0">
      <p:cViewPr varScale="1">
        <p:scale>
          <a:sx n="98" d="100"/>
          <a:sy n="98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21F133-A4D9-C306-C57D-B3003E7B557B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-1"/>
            <a:ext cx="12192000" cy="4836317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latin typeface="Andes" panose="02000000000000000000" pitchFamily="50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7348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Andes" panose="02000000000000000000" pitchFamily="50" charset="0"/>
                <a:cs typeface="Arial Hebrew" pitchFamily="2" charset="-79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4408" y="5710284"/>
            <a:ext cx="3840480" cy="7780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 b="0" i="0">
                <a:solidFill>
                  <a:srgbClr val="042245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300E-AE98-F7B7-42A6-D69B735AAF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836318"/>
            <a:ext cx="12192000" cy="251143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F79CF4F-A670-5C65-9F2F-F8EA9CEC8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12" y="5547519"/>
            <a:ext cx="4775113" cy="94079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E1C5E6-E661-2E39-3D99-9F49CDE4EA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0381" y="3282533"/>
            <a:ext cx="8631238" cy="15537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rgbClr val="009FDA"/>
                </a:solidFill>
                <a:latin typeface="Andes" panose="02000000000000000000" pitchFamily="50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275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9" y="479743"/>
            <a:ext cx="4743441" cy="1304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 i="0">
                <a:solidFill>
                  <a:srgbClr val="042245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Table of Contents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300E-AE98-F7B7-42A6-D69B735AAFD9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138609" y="3290651"/>
            <a:ext cx="6874512" cy="29321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C8FEFA-AF59-54D5-7601-BC387B5D5993}"/>
              </a:ext>
            </a:extLst>
          </p:cNvPr>
          <p:cNvSpPr/>
          <p:nvPr userDrawn="1"/>
        </p:nvSpPr>
        <p:spPr>
          <a:xfrm>
            <a:off x="0" y="4526637"/>
            <a:ext cx="3452916" cy="2340864"/>
          </a:xfrm>
          <a:prstGeom prst="rect">
            <a:avLst/>
          </a:prstGeom>
          <a:blipFill dpi="0" rotWithShape="1">
            <a:blip r:embed="rId2">
              <a:alphaModFix amt="30000"/>
            </a:blip>
            <a:srcRect/>
            <a:stretch>
              <a:fillRect/>
            </a:stretch>
          </a:blipFill>
          <a:ln w="9525" cap="flat" cmpd="sng" algn="ctr">
            <a:noFill/>
            <a:prstDash val="solid"/>
          </a:ln>
          <a:effectLst/>
        </p:spPr>
        <p:txBody>
          <a:bodyPr lIns="91345" tIns="45673" rIns="91345" bIns="45673" rtlCol="0" anchor="ctr"/>
          <a:lstStyle/>
          <a:p>
            <a:pPr marL="0" marR="0" lvl="0" indent="0" algn="ctr" defTabSz="45672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ndes" panose="02000000000000000000" pitchFamily="50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374C89-A1C6-C824-5264-DA80E51F67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2388" y="479743"/>
            <a:ext cx="5909693" cy="598963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514350">
              <a:lnSpc>
                <a:spcPct val="150000"/>
              </a:lnSpc>
              <a:spcBef>
                <a:spcPts val="0"/>
              </a:spcBef>
              <a:buFont typeface="+mj-lt"/>
              <a:buAutoNum type="romanUcPeriod"/>
              <a:defRPr sz="2000" b="0" i="0">
                <a:solidFill>
                  <a:srgbClr val="042245"/>
                </a:solidFill>
                <a:latin typeface="Andes" panose="02000000000000000000" pitchFamily="50" charset="0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800" b="0" i="0">
                <a:solidFill>
                  <a:srgbClr val="009FDA"/>
                </a:solidFill>
                <a:latin typeface="Andes" panose="02000000000000000000" pitchFamily="50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solidFill>
                  <a:srgbClr val="009FDA"/>
                </a:solidFill>
                <a:latin typeface="Andes" panose="02000000000000000000" pitchFamily="50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solidFill>
                  <a:srgbClr val="009FDA"/>
                </a:solidFill>
                <a:latin typeface="Andes" panose="02000000000000000000" pitchFamily="50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solidFill>
                  <a:srgbClr val="009FDA"/>
                </a:solidFill>
                <a:latin typeface="Andes" panose="02000000000000000000" pitchFamily="50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0"/>
            <a:r>
              <a:rPr lang="en-GB" dirty="0"/>
              <a:t>Click to edit </a:t>
            </a:r>
          </a:p>
          <a:p>
            <a:pPr lvl="1"/>
            <a:r>
              <a:rPr lang="en-GB" dirty="0"/>
              <a:t>c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34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415E82-6D4D-C188-8F8B-0729FCF682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8541" y="4594860"/>
            <a:ext cx="12210539" cy="213469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rgbClr val="042245"/>
              </a:solidFill>
              <a:latin typeface="Andes" panose="02000000000000000000" pitchFamily="50" charset="0"/>
            </a:endParaRPr>
          </a:p>
        </p:txBody>
      </p:sp>
      <p:pic>
        <p:nvPicPr>
          <p:cNvPr id="9" name="Picture 8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CABC7605-0497-7AAB-D7F1-074B1621B6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532" b="22858"/>
          <a:stretch/>
        </p:blipFill>
        <p:spPr>
          <a:xfrm>
            <a:off x="-18540" y="0"/>
            <a:ext cx="12210539" cy="459486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FF194132-E5C2-CAC9-2B8E-69EF9BDD7B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48107" y="5459704"/>
            <a:ext cx="8095785" cy="686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 b="1" i="0">
                <a:solidFill>
                  <a:srgbClr val="042245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7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415E82-6D4D-C188-8F8B-0729FCF682D8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510789" y="3272790"/>
            <a:ext cx="6858001" cy="312419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rgbClr val="042245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F194132-E5C2-CAC9-2B8E-69EF9BDD7B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3879" y="2708829"/>
            <a:ext cx="4743441" cy="1440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 b="1" i="0">
                <a:solidFill>
                  <a:srgbClr val="042245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pic>
        <p:nvPicPr>
          <p:cNvPr id="3" name="Picture 2" descr="A wind turbines in a field&#10;&#10;Description automatically generated">
            <a:extLst>
              <a:ext uri="{FF2B5EF4-FFF2-40B4-BE49-F238E27FC236}">
                <a16:creationId xmlns:a16="http://schemas.microsoft.com/office/drawing/2014/main" id="{C7FAC6FA-656B-1187-5810-7CC91813F6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2" r="38687"/>
          <a:stretch/>
        </p:blipFill>
        <p:spPr>
          <a:xfrm>
            <a:off x="5979520" y="0"/>
            <a:ext cx="6212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3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9" y="479743"/>
            <a:ext cx="11411443" cy="5718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="1" i="0">
                <a:solidFill>
                  <a:schemeClr val="tx1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300E-AE98-F7B7-42A6-D69B735AAF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0" y="1043831"/>
            <a:ext cx="12210539" cy="213469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F2A82C-4E89-2DE5-8909-6E46572337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595381"/>
            <a:ext cx="5696452" cy="479288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2000">
                <a:latin typeface="Andes" panose="02000000000000000000" pitchFamily="50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>
                <a:latin typeface="Andes" panose="02000000000000000000" pitchFamily="50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>
                <a:latin typeface="Andes" panose="02000000000000000000" pitchFamily="50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>
                <a:latin typeface="Andes" panose="02000000000000000000" pitchFamily="50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>
                <a:latin typeface="Andes" panose="02000000000000000000" pitchFamily="50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BEF44B-BF31-4F72-0184-ACFC6B7F8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9548" y="1585375"/>
            <a:ext cx="5403375" cy="4792881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2000" b="0" i="0">
                <a:latin typeface="Andes" panose="02000000000000000000" pitchFamily="50" charset="0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800" b="0" i="0">
                <a:latin typeface="Andes" panose="02000000000000000000" pitchFamily="50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63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772" y="58466"/>
            <a:ext cx="11411443" cy="5718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="1" i="0">
                <a:solidFill>
                  <a:schemeClr val="tx1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300E-AE98-F7B7-42A6-D69B735AAF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9270" y="787626"/>
            <a:ext cx="12210539" cy="213469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BEF44B-BF31-4F72-0184-ACFC6B7F8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9548" y="1585376"/>
            <a:ext cx="11392904" cy="47928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000" b="0" i="0">
                <a:latin typeface="Andes" panose="02000000000000000000" pitchFamily="50" charset="0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800" b="0" i="0">
                <a:latin typeface="Andes" panose="02000000000000000000" pitchFamily="50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2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Graph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9" y="479743"/>
            <a:ext cx="11411443" cy="5718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="1" i="0">
                <a:solidFill>
                  <a:schemeClr val="tx1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300E-AE98-F7B7-42A6-D69B735AAF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0" y="1043831"/>
            <a:ext cx="12210539" cy="213469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A07AC36-8EEE-A0AD-6CE4-C9D8902E9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9548" y="1585377"/>
            <a:ext cx="11392904" cy="858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000" b="0" i="0">
                <a:latin typeface="Andes" panose="02000000000000000000" pitchFamily="50" charset="0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800" b="0" i="0">
                <a:latin typeface="FSP DEMO - Andes" panose="02000000000000000000" pitchFamily="2" charset="77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FSP DEMO - Andes" panose="02000000000000000000" pitchFamily="2" charset="77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FSP DEMO - Andes" panose="02000000000000000000" pitchFamily="2" charset="77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FSP DEMO - Andes" panose="02000000000000000000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717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C84289-D1C5-41CA-ABF5-7073155E3CBF}"/>
              </a:ext>
            </a:extLst>
          </p:cNvPr>
          <p:cNvSpPr/>
          <p:nvPr userDrawn="1"/>
        </p:nvSpPr>
        <p:spPr>
          <a:xfrm>
            <a:off x="2910151" y="1002188"/>
            <a:ext cx="8980960" cy="579966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ndes" panose="02000000000000000000" pitchFamily="50" charset="0"/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0EA333E-8D4C-6F00-A8D1-5E4B9B1AD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2953" y="1389047"/>
            <a:ext cx="4060807" cy="5028456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2000" b="0" i="0">
                <a:latin typeface="Andes" panose="02000000000000000000" pitchFamily="50" charset="0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800" b="0" i="0">
                <a:latin typeface="Andes" panose="02000000000000000000" pitchFamily="50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15DBDEF-FE68-3769-E269-61DDC7020F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9" y="479743"/>
            <a:ext cx="11411443" cy="5718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="1" i="0">
                <a:solidFill>
                  <a:schemeClr val="tx1"/>
                </a:solidFill>
                <a:latin typeface="Andes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453C7-9E6F-4CFF-9097-B1B491D1B8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0" y="1043831"/>
            <a:ext cx="12210539" cy="213469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EE386BC-388E-2019-6D31-A26A037785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27032" y="1401339"/>
            <a:ext cx="4060807" cy="5028456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2000" b="0" i="0">
                <a:latin typeface="Andes" panose="02000000000000000000" pitchFamily="50" charset="0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800" b="0" i="0">
                <a:latin typeface="Andes" panose="02000000000000000000" pitchFamily="50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defRPr sz="1800" b="0" i="0">
                <a:latin typeface="Andes" panose="02000000000000000000" pitchFamily="50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56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50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0" r:id="rId2"/>
    <p:sldLayoutId id="2147483662" r:id="rId3"/>
    <p:sldLayoutId id="2147483665" r:id="rId4"/>
    <p:sldLayoutId id="2147483676" r:id="rId5"/>
    <p:sldLayoutId id="2147483664" r:id="rId6"/>
    <p:sldLayoutId id="2147483677" r:id="rId7"/>
    <p:sldLayoutId id="214748367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E0CA70F-DF30-7A25-B357-EE68E4A5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77348"/>
            <a:ext cx="11166248" cy="2387600"/>
          </a:xfrm>
        </p:spPr>
        <p:txBody>
          <a:bodyPr/>
          <a:lstStyle/>
          <a:p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Statistical Appendix to Support Climate Informed Public Finance Reviews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4B3CF83-EDBF-7417-976B-ADFB33B6D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March, 2024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1BE39D1-B157-F0AB-06A5-4DC03E1B1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Proposal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53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115CA3A-6C95-873F-2247-7731B8857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ndes" panose="02000000000000000000" pitchFamily="50" charset="0"/>
              </a:rPr>
              <a:t>Proposed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28F8E-F13F-94D3-8655-03CE541127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8085" y="422591"/>
            <a:ext cx="6189612" cy="59896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ndes" panose="02000000000000000000" pitchFamily="50" charset="0"/>
              </a:rPr>
              <a:t>Suggested structure (this presentation)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Creating dataset and customizable charts to feed into Statistical Appendix building on Climate Scan</a:t>
            </a:r>
          </a:p>
          <a:p>
            <a:r>
              <a:rPr lang="en-US" sz="2400" dirty="0">
                <a:latin typeface="Andes" panose="02000000000000000000" pitchFamily="50" charset="0"/>
              </a:rPr>
              <a:t>Case example</a:t>
            </a:r>
          </a:p>
          <a:p>
            <a:pPr marL="0" indent="0">
              <a:buNone/>
            </a:pPr>
            <a:endParaRPr lang="en-US" sz="2400" dirty="0">
              <a:latin typeface="Ande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30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169A0F4-3221-F930-CD0C-BCA4C0C5C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9" y="61553"/>
            <a:ext cx="5484359" cy="669194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Proposed approach</a:t>
            </a:r>
          </a:p>
          <a:p>
            <a:pPr marL="2857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r>
              <a:rPr lang="en-US" sz="2400" b="0" dirty="0"/>
              <a:t>Insights from IMF Article IV Summary Charts that support a “story line”</a:t>
            </a:r>
          </a:p>
          <a:p>
            <a:pPr marL="2857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r>
              <a:rPr lang="en-US" sz="2400" b="0" dirty="0"/>
              <a:t>Organizing Statistical Appending based on core questions agreed upon by World Bank for Climate Informed PFR</a:t>
            </a:r>
          </a:p>
          <a:p>
            <a:pPr marL="2857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r>
              <a:rPr lang="en-US" sz="2400" b="0" dirty="0"/>
              <a:t>Build on Climate Scan</a:t>
            </a:r>
          </a:p>
          <a:p>
            <a:pPr marL="2857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r>
              <a:rPr lang="en-US" sz="2400" b="0" dirty="0"/>
              <a:t>Macro-fiscal analysis: Assess past performance and future trends / targets / scenarios</a:t>
            </a:r>
          </a:p>
          <a:p>
            <a:pPr marL="2857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r>
              <a:rPr lang="en-US" sz="2400" b="0" dirty="0"/>
              <a:t>Green expenditure and revenue policies: Detailed description seeking to compare with financing needs and resulting fiscal impacts</a:t>
            </a:r>
          </a:p>
          <a:p>
            <a:pPr marL="2857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r>
              <a:rPr lang="en-US" sz="2400" b="0" dirty="0"/>
              <a:t>Seeking for a common framework, but acknowledging country heterogeneity of climate impacts, policy</a:t>
            </a:r>
          </a:p>
        </p:txBody>
      </p:sp>
    </p:spTree>
    <p:extLst>
      <p:ext uri="{BB962C8B-B14F-4D97-AF65-F5344CB8AC3E}">
        <p14:creationId xmlns:p14="http://schemas.microsoft.com/office/powerpoint/2010/main" val="236734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E0756A-BA36-8A13-2C6E-86F088765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8107" y="5231101"/>
            <a:ext cx="8095785" cy="686117"/>
          </a:xfrm>
        </p:spPr>
        <p:txBody>
          <a:bodyPr/>
          <a:lstStyle/>
          <a:p>
            <a:r>
              <a:rPr lang="en-US" dirty="0">
                <a:latin typeface="Andes" panose="02000000000000000000" pitchFamily="50" charset="0"/>
              </a:rPr>
              <a:t>Proposed Structure Statistical Appendix</a:t>
            </a:r>
          </a:p>
        </p:txBody>
      </p:sp>
    </p:spTree>
    <p:extLst>
      <p:ext uri="{BB962C8B-B14F-4D97-AF65-F5344CB8AC3E}">
        <p14:creationId xmlns:p14="http://schemas.microsoft.com/office/powerpoint/2010/main" val="287691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2FC3CE-4DA5-F8BF-C644-79F33410B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487" y="1256852"/>
            <a:ext cx="4092536" cy="5465187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25A8211C-E515-3598-07A5-99A688CFA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113" y="135960"/>
            <a:ext cx="11550339" cy="917336"/>
          </a:xfrm>
        </p:spPr>
        <p:txBody>
          <a:bodyPr>
            <a:noAutofit/>
          </a:bodyPr>
          <a:lstStyle/>
          <a:p>
            <a:r>
              <a:rPr lang="en-US" sz="3200" dirty="0"/>
              <a:t>Statistical appendix akin to set of charts regularly included in IMF Article IV reports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B6EC8-18E1-48D3-BC0C-19A18360C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312" y="1256853"/>
            <a:ext cx="4128500" cy="5465187"/>
          </a:xfrm>
          <a:prstGeom prst="rect">
            <a:avLst/>
          </a:prstGeom>
        </p:spPr>
      </p:pic>
      <p:sp>
        <p:nvSpPr>
          <p:cNvPr id="9" name="Subtitle 1">
            <a:extLst>
              <a:ext uri="{FF2B5EF4-FFF2-40B4-BE49-F238E27FC236}">
                <a16:creationId xmlns:a16="http://schemas.microsoft.com/office/drawing/2014/main" id="{28E74203-BAEB-4E12-E1B6-E37AB33B9476}"/>
              </a:ext>
            </a:extLst>
          </p:cNvPr>
          <p:cNvSpPr txBox="1">
            <a:spLocks/>
          </p:cNvSpPr>
          <p:nvPr/>
        </p:nvSpPr>
        <p:spPr>
          <a:xfrm>
            <a:off x="1" y="1317621"/>
            <a:ext cx="3918312" cy="52567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0" dirty="0"/>
              <a:t>Using charts and associated (short) comments to provide a narrative regarding climate elements that are relevant for Public Finance Reviews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0" dirty="0"/>
              <a:t>Charts and narratives to be built on the basis of “core questions” identified for climate informed PFRs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0" dirty="0"/>
              <a:t>Things to “borrow” from Article IV:</a:t>
            </a:r>
          </a:p>
          <a:p>
            <a:pPr marL="285750" indent="-514350">
              <a:lnSpc>
                <a:spcPct val="100000"/>
              </a:lnSpc>
              <a:spcBef>
                <a:spcPts val="0"/>
              </a:spcBef>
              <a:buFont typeface="+mj-lt"/>
              <a:buAutoNum type="romanUcPeriod"/>
            </a:pPr>
            <a:endParaRPr lang="en-US" sz="2400" b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9EE7891-2B88-14EF-23E8-A4A14E665ACB}"/>
              </a:ext>
            </a:extLst>
          </p:cNvPr>
          <p:cNvGrpSpPr/>
          <p:nvPr/>
        </p:nvGrpSpPr>
        <p:grpSpPr>
          <a:xfrm>
            <a:off x="4336473" y="1225519"/>
            <a:ext cx="7305222" cy="1176651"/>
            <a:chOff x="4336473" y="1225519"/>
            <a:chExt cx="7305222" cy="11766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7027B0-2ECA-E48A-4CDC-94B27C2A00FE}"/>
                </a:ext>
              </a:extLst>
            </p:cNvPr>
            <p:cNvSpPr txBox="1"/>
            <p:nvPr/>
          </p:nvSpPr>
          <p:spPr>
            <a:xfrm>
              <a:off x="6447556" y="2032838"/>
              <a:ext cx="314586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Article IV: Sector / PFR: Chapter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FF9E422-457B-3A5A-C7EC-87096DC4E8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8836" y="1575829"/>
              <a:ext cx="1051651" cy="4469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FAFAC3B-0EE4-5293-0E7B-91DE55B178B9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020487" y="1537799"/>
              <a:ext cx="1248204" cy="4950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28620E-F079-2AC5-D4F0-63DD92C9C0A2}"/>
                </a:ext>
              </a:extLst>
            </p:cNvPr>
            <p:cNvSpPr/>
            <p:nvPr/>
          </p:nvSpPr>
          <p:spPr>
            <a:xfrm>
              <a:off x="4336473" y="1263549"/>
              <a:ext cx="3289807" cy="3055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38C9E5-1DA6-642A-0B13-7668FB9FFBF3}"/>
                </a:ext>
              </a:extLst>
            </p:cNvPr>
            <p:cNvSpPr/>
            <p:nvPr/>
          </p:nvSpPr>
          <p:spPr>
            <a:xfrm>
              <a:off x="8351888" y="1225519"/>
              <a:ext cx="3289807" cy="3055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15E724-DE81-37BC-EA6A-7C09E7D6CF7F}"/>
              </a:ext>
            </a:extLst>
          </p:cNvPr>
          <p:cNvGrpSpPr/>
          <p:nvPr/>
        </p:nvGrpSpPr>
        <p:grpSpPr>
          <a:xfrm>
            <a:off x="3992574" y="3178771"/>
            <a:ext cx="4973922" cy="1139020"/>
            <a:chOff x="3992574" y="3178771"/>
            <a:chExt cx="4973922" cy="113902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0B0D35-B20F-4421-D40A-945445C342F1}"/>
                </a:ext>
              </a:extLst>
            </p:cNvPr>
            <p:cNvSpPr txBox="1"/>
            <p:nvPr/>
          </p:nvSpPr>
          <p:spPr>
            <a:xfrm>
              <a:off x="7910886" y="3948459"/>
              <a:ext cx="105561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Narrative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E6DF89E-1FC7-9235-6585-349BC95A78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073" y="3599987"/>
              <a:ext cx="1073019" cy="3380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0DCE0F4-4A96-BDB1-0036-C911091128CF}"/>
                </a:ext>
              </a:extLst>
            </p:cNvPr>
            <p:cNvSpPr/>
            <p:nvPr/>
          </p:nvSpPr>
          <p:spPr>
            <a:xfrm>
              <a:off x="3992574" y="3178771"/>
              <a:ext cx="3918312" cy="3898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6236E3-9EC1-FA14-0CCF-A72A87485D1D}"/>
              </a:ext>
            </a:extLst>
          </p:cNvPr>
          <p:cNvGrpSpPr/>
          <p:nvPr/>
        </p:nvGrpSpPr>
        <p:grpSpPr>
          <a:xfrm>
            <a:off x="3862891" y="4538090"/>
            <a:ext cx="8264929" cy="2199051"/>
            <a:chOff x="3862891" y="4538090"/>
            <a:chExt cx="8264929" cy="219905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A1DE73-9DE6-0EC1-15E6-BDA4662FE2DA}"/>
                </a:ext>
              </a:extLst>
            </p:cNvPr>
            <p:cNvSpPr txBox="1"/>
            <p:nvPr/>
          </p:nvSpPr>
          <p:spPr>
            <a:xfrm>
              <a:off x="7926081" y="4538090"/>
              <a:ext cx="4201739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Charts (PFRs borrowing from Climate Scan)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010B65D-EB56-B053-54CF-8FC792BCEDA1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>
              <a:off x="7964232" y="4907422"/>
              <a:ext cx="2052604" cy="10186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809A8C-1F06-1E7A-9D2D-47FB9C0930AE}"/>
                </a:ext>
              </a:extLst>
            </p:cNvPr>
            <p:cNvSpPr/>
            <p:nvPr/>
          </p:nvSpPr>
          <p:spPr>
            <a:xfrm>
              <a:off x="3862891" y="5114942"/>
              <a:ext cx="4101341" cy="1622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149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5A8211C-E515-3598-07A5-99A688CFA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113" y="205235"/>
            <a:ext cx="11550339" cy="571817"/>
          </a:xfrm>
        </p:spPr>
        <p:txBody>
          <a:bodyPr>
            <a:noAutofit/>
          </a:bodyPr>
          <a:lstStyle/>
          <a:p>
            <a:r>
              <a:rPr lang="en-US" sz="3200" dirty="0"/>
              <a:t>What’s the value of the Statistical appendix?</a:t>
            </a:r>
          </a:p>
        </p:txBody>
      </p:sp>
      <p:pic>
        <p:nvPicPr>
          <p:cNvPr id="2" name="Picture 2" descr="Text Box">
            <a:extLst>
              <a:ext uri="{FF2B5EF4-FFF2-40B4-BE49-F238E27FC236}">
                <a16:creationId xmlns:a16="http://schemas.microsoft.com/office/drawing/2014/main" id="{31AD7C15-38BE-9454-4081-2BCF9D733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549" y="1337398"/>
            <a:ext cx="5215713" cy="532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1">
            <a:extLst>
              <a:ext uri="{FF2B5EF4-FFF2-40B4-BE49-F238E27FC236}">
                <a16:creationId xmlns:a16="http://schemas.microsoft.com/office/drawing/2014/main" id="{E9DD6123-241C-055F-C87F-40592600ABDB}"/>
              </a:ext>
            </a:extLst>
          </p:cNvPr>
          <p:cNvSpPr txBox="1">
            <a:spLocks/>
          </p:cNvSpPr>
          <p:nvPr/>
        </p:nvSpPr>
        <p:spPr>
          <a:xfrm>
            <a:off x="138544" y="1303761"/>
            <a:ext cx="6729149" cy="52567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/>
              <a:t>Organized building on the core climate questions that inform PFRs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/>
              <a:t>Addressing climate considerations to macro fiscal analyses that are not sufficiently or adequately addressed by Country Climate and Development Reports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/>
              <a:t>Seeking to provide a common framework for analyzing and describing macro-fiscal risks (and opportunities)  from climate change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/>
              <a:t>While acknowledging country-heterogeneity in assessing climate risks, impacts and candidate climate resilience and GHG mitigation policies </a:t>
            </a:r>
          </a:p>
          <a:p>
            <a:pPr marL="285750" indent="-5143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78812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4C167E-AE3A-B66F-6724-806DE82D2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9" y="440554"/>
            <a:ext cx="11411443" cy="571817"/>
          </a:xfrm>
        </p:spPr>
        <p:txBody>
          <a:bodyPr>
            <a:normAutofit fontScale="92500"/>
          </a:bodyPr>
          <a:lstStyle/>
          <a:p>
            <a:r>
              <a:rPr lang="en-US" dirty="0"/>
              <a:t>What are candidate topics to be included: Macro Fiscal Chapter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8A0D80-7AFE-E68B-E3DA-357CDC3F3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875267"/>
              </p:ext>
            </p:extLst>
          </p:nvPr>
        </p:nvGraphicFramePr>
        <p:xfrm>
          <a:off x="242194" y="1425063"/>
          <a:ext cx="11689071" cy="5200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3402">
                  <a:extLst>
                    <a:ext uri="{9D8B030D-6E8A-4147-A177-3AD203B41FA5}">
                      <a16:colId xmlns:a16="http://schemas.microsoft.com/office/drawing/2014/main" val="4111475486"/>
                    </a:ext>
                  </a:extLst>
                </a:gridCol>
                <a:gridCol w="6165669">
                  <a:extLst>
                    <a:ext uri="{9D8B030D-6E8A-4147-A177-3AD203B41FA5}">
                      <a16:colId xmlns:a16="http://schemas.microsoft.com/office/drawing/2014/main" val="701539010"/>
                    </a:ext>
                  </a:extLst>
                </a:gridCol>
              </a:tblGrid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Past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Future: Targets / Trends / Estimates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440998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Macro-fiscal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GDP 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9958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Climate related damages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Main climate related hazards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174137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GHG emissions: Total, 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GHG Baseline estimates, NDCs, Net Zero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112736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Global contribution to emissions (large countries)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Cumulative GHG emissions (large countries)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443399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Proximate sources of emissions: Kaya 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Kaya decomposition exercise: Target GDP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537506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Carbon intensity: Trends, drivers, benchmark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Carbon intensity scenario: Benchmark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35958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Energy intensity: Trends, drivers, benchmark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Energy intensity scenario: Benchmark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536154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Production and consumption GHG emissions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Impacts of CBAM on trade (</a:t>
                      </a:r>
                      <a:r>
                        <a:rPr lang="en-US" sz="1800" dirty="0" err="1"/>
                        <a:t>e.g</a:t>
                      </a:r>
                      <a:r>
                        <a:rPr lang="en-US" sz="1800" dirty="0"/>
                        <a:t> from modeling)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4356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Key sectors description: Energy (Transportation, Power Generation), Agriculture and land, Waste, IPPU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Sector targets description: Energy, Agriculture and land, Waste, IPPU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84221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Risk factors: Exposure, 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Emerging risk factors: Trends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995253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Transitional issues: Cohorts, sectors, stranded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Emerging transitional issues: e.g. CBAM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17358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1800" dirty="0"/>
                        <a:t>Fiscal buffers: Fiscal space, climate disaster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Green financing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811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441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8C53-E5E3-AE86-5E2E-81F36744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C0F812-8BC1-74E8-9860-0CC28177E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06290"/>
              </p:ext>
            </p:extLst>
          </p:nvPr>
        </p:nvGraphicFramePr>
        <p:xfrm>
          <a:off x="809896" y="1153898"/>
          <a:ext cx="10306593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715">
                  <a:extLst>
                    <a:ext uri="{9D8B030D-6E8A-4147-A177-3AD203B41FA5}">
                      <a16:colId xmlns:a16="http://schemas.microsoft.com/office/drawing/2014/main" val="4111475486"/>
                    </a:ext>
                  </a:extLst>
                </a:gridCol>
                <a:gridCol w="4754878">
                  <a:extLst>
                    <a:ext uri="{9D8B030D-6E8A-4147-A177-3AD203B41FA5}">
                      <a16:colId xmlns:a16="http://schemas.microsoft.com/office/drawing/2014/main" val="701539010"/>
                    </a:ext>
                  </a:extLst>
                </a:gridCol>
              </a:tblGrid>
              <a:tr h="380008">
                <a:tc>
                  <a:txBody>
                    <a:bodyPr/>
                    <a:lstStyle/>
                    <a:p>
                      <a:r>
                        <a:rPr lang="en-US" sz="2000" dirty="0"/>
                        <a:t>Expenditures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Revenues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440998"/>
                  </a:ext>
                </a:extLst>
              </a:tr>
              <a:tr h="539918">
                <a:tc>
                  <a:txBody>
                    <a:bodyPr/>
                    <a:lstStyle/>
                    <a:p>
                      <a:r>
                        <a:rPr lang="en-US" sz="2000" dirty="0"/>
                        <a:t>Green expenditures in energy (e.g. power generation capacity, by technology)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Environmental tax revenues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9958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2000" dirty="0"/>
                        <a:t>Subsidies (Renewable Energy, Fossil Fuels)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Carbon market-based mechanisms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174137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2000" dirty="0"/>
                        <a:t>Other green expenditures in GHG mitigation related sectors (e.g. </a:t>
                      </a:r>
                      <a:r>
                        <a:rPr lang="en-US" sz="2000" dirty="0" err="1"/>
                        <a:t>LULUCh</a:t>
                      </a:r>
                      <a:r>
                        <a:rPr lang="en-US" sz="2000" dirty="0"/>
                        <a:t>, Agriculture, Waste, IPPU)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Selected fees (</a:t>
                      </a:r>
                      <a:r>
                        <a:rPr lang="en-US" sz="2000" dirty="0" err="1"/>
                        <a:t>e.g</a:t>
                      </a:r>
                      <a:r>
                        <a:rPr lang="en-US" sz="2000" dirty="0"/>
                        <a:t> passenger vehicles, by type; pollutants)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112736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Climate resilience expenditures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Potential revenue generation and GHG emissions from revenue policy (e.g. CPAT)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443399"/>
                  </a:ext>
                </a:extLst>
              </a:tr>
            </a:tbl>
          </a:graphicData>
        </a:graphic>
      </p:graphicFrame>
      <p:sp>
        <p:nvSpPr>
          <p:cNvPr id="12" name="Subtitle 2">
            <a:extLst>
              <a:ext uri="{FF2B5EF4-FFF2-40B4-BE49-F238E27FC236}">
                <a16:creationId xmlns:a16="http://schemas.microsoft.com/office/drawing/2014/main" id="{3EACC970-9906-BB40-6559-F95FD9560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152" y="113983"/>
            <a:ext cx="11411443" cy="57181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What are candidate topics to be included: Expenditure, Revenue Chapters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73DA6C6-C796-C685-FC32-0FD91E1C5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693509"/>
              </p:ext>
            </p:extLst>
          </p:nvPr>
        </p:nvGraphicFramePr>
        <p:xfrm>
          <a:off x="809895" y="4354299"/>
          <a:ext cx="10306593" cy="2124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6593">
                  <a:extLst>
                    <a:ext uri="{9D8B030D-6E8A-4147-A177-3AD203B41FA5}">
                      <a16:colId xmlns:a16="http://schemas.microsoft.com/office/drawing/2014/main" val="4111475486"/>
                    </a:ext>
                  </a:extLst>
                </a:gridCol>
              </a:tblGrid>
              <a:tr h="380008">
                <a:tc>
                  <a:txBody>
                    <a:bodyPr/>
                    <a:lstStyle/>
                    <a:p>
                      <a:r>
                        <a:rPr lang="en-US" sz="2000" dirty="0"/>
                        <a:t>Financing 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440998"/>
                  </a:ext>
                </a:extLst>
              </a:tr>
              <a:tr h="539918">
                <a:tc>
                  <a:txBody>
                    <a:bodyPr/>
                    <a:lstStyle/>
                    <a:p>
                      <a:r>
                        <a:rPr lang="en-US" sz="2000" dirty="0"/>
                        <a:t>GHG mitigation and climate resilience financing needs (Total, by sectors)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9958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2000" dirty="0"/>
                        <a:t>Investment needs by stakeholder (public, private sector)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174137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r>
                        <a:rPr lang="en-US" sz="2000" dirty="0"/>
                        <a:t>Contribution of multilateral, bilateral foreign sources of financing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112736"/>
                  </a:ext>
                </a:extLst>
              </a:tr>
              <a:tr h="380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Fiscal gap, impacts (e.g. fiscal balance, debt dynamics, from modeling)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443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750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E0756A-BA36-8A13-2C6E-86F088765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8107" y="5231101"/>
            <a:ext cx="8095785" cy="686117"/>
          </a:xfrm>
        </p:spPr>
        <p:txBody>
          <a:bodyPr/>
          <a:lstStyle/>
          <a:p>
            <a:r>
              <a:rPr lang="en-US" dirty="0">
                <a:latin typeface="Andes" panose="02000000000000000000" pitchFamily="50" charset="0"/>
              </a:rPr>
              <a:t>Example: Peru</a:t>
            </a:r>
          </a:p>
        </p:txBody>
      </p:sp>
    </p:spTree>
    <p:extLst>
      <p:ext uri="{BB962C8B-B14F-4D97-AF65-F5344CB8AC3E}">
        <p14:creationId xmlns:p14="http://schemas.microsoft.com/office/powerpoint/2010/main" val="1352409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F7CA-26F2-107D-CEFF-532653F7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85C635F-CA2A-656C-E086-413406560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653" y="76832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Macro-Fiscal: GDP and GHG emissions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64988-381C-C344-96BD-FC51E0FEB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25" y="2468879"/>
            <a:ext cx="4900344" cy="3178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8C71FA-200C-5220-D52F-8167CCFAA131}"/>
              </a:ext>
            </a:extLst>
          </p:cNvPr>
          <p:cNvSpPr txBox="1"/>
          <p:nvPr/>
        </p:nvSpPr>
        <p:spPr>
          <a:xfrm>
            <a:off x="808125" y="1632857"/>
            <a:ext cx="490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Peru has been able to sustain real per capita growth rates of nearly 3.5% over 2 decades…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B2076-AF59-D464-D4B7-7E79594A3497}"/>
              </a:ext>
            </a:extLst>
          </p:cNvPr>
          <p:cNvSpPr txBox="1"/>
          <p:nvPr/>
        </p:nvSpPr>
        <p:spPr>
          <a:xfrm>
            <a:off x="5982374" y="1632857"/>
            <a:ext cx="5721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But at a cost of rising GHG emission and environmental degradation…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324369-8415-A955-A6EC-37E5EB9D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374" y="2468879"/>
            <a:ext cx="5721481" cy="317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1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F7CA-26F2-107D-CEFF-532653F7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85C635F-CA2A-656C-E086-413406560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653" y="233588"/>
            <a:ext cx="11411443" cy="5718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Macro-Fiscal: Proximate sources of GHG emission growth (Kaya decomposition)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C71FA-200C-5220-D52F-8167CCFAA131}"/>
              </a:ext>
            </a:extLst>
          </p:cNvPr>
          <p:cNvSpPr txBox="1"/>
          <p:nvPr/>
        </p:nvSpPr>
        <p:spPr>
          <a:xfrm>
            <a:off x="263591" y="1397723"/>
            <a:ext cx="54448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The country has not been able to decouple economic activity from GHG emissions even though there is variability in GHG intensity….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B2076-AF59-D464-D4B7-7E79594A3497}"/>
              </a:ext>
            </a:extLst>
          </p:cNvPr>
          <p:cNvSpPr txBox="1"/>
          <p:nvPr/>
        </p:nvSpPr>
        <p:spPr>
          <a:xfrm>
            <a:off x="5982374" y="1410786"/>
            <a:ext cx="5721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…caused by changes in carbon intensity (the ratio of GHG to energy demand) and energy intensity (the ratio of energy demand to GDP).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86A79C-5AC1-3F1B-5ED4-FC8734164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91" y="2526668"/>
            <a:ext cx="5536318" cy="3154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90AC26-AFBA-E90F-DDB1-C8E244A47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90" y="2526668"/>
            <a:ext cx="5200877" cy="315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4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B9C-5E9F-DE1D-8EF2-B09A472F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0B1C52-4320-DF8C-DE42-2EBA12BAF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93" y="2824664"/>
            <a:ext cx="5379564" cy="3327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C36701-6717-0665-571D-6E7D33621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677" y="2824664"/>
            <a:ext cx="5379564" cy="3335274"/>
          </a:xfrm>
          <a:prstGeom prst="rect">
            <a:avLst/>
          </a:prstGeom>
        </p:spPr>
      </p:pic>
      <p:sp>
        <p:nvSpPr>
          <p:cNvPr id="9" name="Subtitle 5">
            <a:extLst>
              <a:ext uri="{FF2B5EF4-FFF2-40B4-BE49-F238E27FC236}">
                <a16:creationId xmlns:a16="http://schemas.microsoft.com/office/drawing/2014/main" id="{0F69BA95-8E96-FF7D-07A8-D0A394B65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653" y="76832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Macro-Fiscal: Sources of GHG emissions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DDC5A-44BB-F286-BEAE-0FBBC758C431}"/>
              </a:ext>
            </a:extLst>
          </p:cNvPr>
          <p:cNvSpPr txBox="1"/>
          <p:nvPr/>
        </p:nvSpPr>
        <p:spPr>
          <a:xfrm>
            <a:off x="368092" y="1201778"/>
            <a:ext cx="53795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Over the last 2 decades, more than half of Peru’s GHG emissions are the result of land use and land use changes, from deforestation and land degradation associated to economic activity. Energy contributes a third of total emissions…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242CA8-58F6-E1F6-9385-0CB7509F282A}"/>
              </a:ext>
            </a:extLst>
          </p:cNvPr>
          <p:cNvSpPr txBox="1"/>
          <p:nvPr/>
        </p:nvSpPr>
        <p:spPr>
          <a:xfrm>
            <a:off x="6281551" y="1167320"/>
            <a:ext cx="55162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…and with carbon dioxide contributing with three quarters of total GHG. Transport sector contributed with nearly 37% of total GHG emissions, followed by energy industries (electricity generation, oil refining, fossil fuel production) with 29%.</a:t>
            </a:r>
          </a:p>
        </p:txBody>
      </p:sp>
    </p:spTree>
    <p:extLst>
      <p:ext uri="{BB962C8B-B14F-4D97-AF65-F5344CB8AC3E}">
        <p14:creationId xmlns:p14="http://schemas.microsoft.com/office/powerpoint/2010/main" val="78280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B9C-5E9F-DE1D-8EF2-B09A472F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5">
            <a:extLst>
              <a:ext uri="{FF2B5EF4-FFF2-40B4-BE49-F238E27FC236}">
                <a16:creationId xmlns:a16="http://schemas.microsoft.com/office/drawing/2014/main" id="{0F69BA95-8E96-FF7D-07A8-D0A394B65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653" y="76832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Macro-Fiscal: Carbon and Energy Intensity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DDC5A-44BB-F286-BEAE-0FBBC758C431}"/>
              </a:ext>
            </a:extLst>
          </p:cNvPr>
          <p:cNvSpPr txBox="1"/>
          <p:nvPr/>
        </p:nvSpPr>
        <p:spPr>
          <a:xfrm>
            <a:off x="206906" y="1881047"/>
            <a:ext cx="5703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Peru has moderately succeeded in reducing carbon intensity and energy intensity….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6BC0C2-A555-0135-B33F-A60D554EF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45" y="2837838"/>
            <a:ext cx="5703544" cy="3308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AF326A-B0E2-BF06-1FEE-E19198BA8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30" y="2837838"/>
            <a:ext cx="6062254" cy="3360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046091-61C8-6743-7194-278DB7A8E93C}"/>
              </a:ext>
            </a:extLst>
          </p:cNvPr>
          <p:cNvSpPr txBox="1"/>
          <p:nvPr/>
        </p:nvSpPr>
        <p:spPr>
          <a:xfrm>
            <a:off x="5984552" y="1848691"/>
            <a:ext cx="5703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…with carbon intensity improving at a rate of 1.5% per year over the last 2 decades, and energy intensity at 1.3% over the same period</a:t>
            </a:r>
          </a:p>
        </p:txBody>
      </p:sp>
    </p:spTree>
    <p:extLst>
      <p:ext uri="{BB962C8B-B14F-4D97-AF65-F5344CB8AC3E}">
        <p14:creationId xmlns:p14="http://schemas.microsoft.com/office/powerpoint/2010/main" val="2964827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699E-CFAD-9078-738D-3B4A097A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FE8352-2D77-347D-85E8-06BE206A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903" y="2403566"/>
            <a:ext cx="5036873" cy="3497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52BDC-3DC0-6DB6-3FB3-E66D22937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2390503"/>
            <a:ext cx="5055686" cy="3510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2C9E05-550D-4E1B-FD03-CB7F47851910}"/>
              </a:ext>
            </a:extLst>
          </p:cNvPr>
          <p:cNvSpPr txBox="1"/>
          <p:nvPr/>
        </p:nvSpPr>
        <p:spPr>
          <a:xfrm>
            <a:off x="559606" y="1188713"/>
            <a:ext cx="50447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Comparatively Peru’s carbon intensity is similar to that of Latin American countries best performers, and not far from that of developed countries…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0BE7B-13DE-A24D-3C8D-6658E937823C}"/>
              </a:ext>
            </a:extLst>
          </p:cNvPr>
          <p:cNvSpPr txBox="1"/>
          <p:nvPr/>
        </p:nvSpPr>
        <p:spPr>
          <a:xfrm>
            <a:off x="6096000" y="1140099"/>
            <a:ext cx="5080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…Similarly, Peru is among top performer in energy intensity compared to Latin American peers and not far from developed countries</a:t>
            </a:r>
          </a:p>
        </p:txBody>
      </p:sp>
      <p:sp>
        <p:nvSpPr>
          <p:cNvPr id="15" name="Subtitle 5">
            <a:extLst>
              <a:ext uri="{FF2B5EF4-FFF2-40B4-BE49-F238E27FC236}">
                <a16:creationId xmlns:a16="http://schemas.microsoft.com/office/drawing/2014/main" id="{A05D40F0-94D5-4E95-3769-EA32F43F0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653" y="76832"/>
            <a:ext cx="11411443" cy="571817"/>
          </a:xfrm>
        </p:spPr>
        <p:txBody>
          <a:bodyPr>
            <a:normAutofit fontScale="92500"/>
          </a:bodyPr>
          <a:lstStyle/>
          <a:p>
            <a:r>
              <a:rPr lang="en-US" dirty="0"/>
              <a:t>Macro-Fiscal: Carbon and Energy Intensity. Benchmark analysis</a:t>
            </a:r>
          </a:p>
        </p:txBody>
      </p:sp>
    </p:spTree>
    <p:extLst>
      <p:ext uri="{BB962C8B-B14F-4D97-AF65-F5344CB8AC3E}">
        <p14:creationId xmlns:p14="http://schemas.microsoft.com/office/powerpoint/2010/main" val="4266051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699E-CFAD-9078-738D-3B4A097A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52C9E05-550D-4E1B-FD03-CB7F47851910}"/>
              </a:ext>
            </a:extLst>
          </p:cNvPr>
          <p:cNvSpPr txBox="1"/>
          <p:nvPr/>
        </p:nvSpPr>
        <p:spPr>
          <a:xfrm>
            <a:off x="559606" y="1188713"/>
            <a:ext cx="50807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Peru is improving adaptation capabilities to climate related hazards, mainly from enhanced readiness given improved economic economic, social and governance performance. But it remains vulnerable to climate impacts…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0BE7B-13DE-A24D-3C8D-6658E937823C}"/>
              </a:ext>
            </a:extLst>
          </p:cNvPr>
          <p:cNvSpPr txBox="1"/>
          <p:nvPr/>
        </p:nvSpPr>
        <p:spPr>
          <a:xfrm>
            <a:off x="6096000" y="1166225"/>
            <a:ext cx="5080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…despite improved adaptation, the country still lags among Latin American countries. Sources of vulnerability include water, ecosystem, food and health sectors</a:t>
            </a:r>
          </a:p>
        </p:txBody>
      </p:sp>
      <p:sp>
        <p:nvSpPr>
          <p:cNvPr id="15" name="Subtitle 5">
            <a:extLst>
              <a:ext uri="{FF2B5EF4-FFF2-40B4-BE49-F238E27FC236}">
                <a16:creationId xmlns:a16="http://schemas.microsoft.com/office/drawing/2014/main" id="{A05D40F0-94D5-4E95-3769-EA32F43F0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653" y="76832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Macro-Fiscal: Climate risks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4C7A87-F3E6-2173-D792-27003989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51790"/>
            <a:ext cx="5331272" cy="3452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51A096-9251-F470-32B2-7F311FAB2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47" y="2851790"/>
            <a:ext cx="5080777" cy="343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19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B9C-5E9F-DE1D-8EF2-B09A472F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35DF383-B4DE-C0A8-0E18-736024D0D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75" y="152339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Macro-Fiscal: Targets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F9ED19-393C-C7EE-4935-10EE39BC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94" y="2731602"/>
            <a:ext cx="5326987" cy="3768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0DFB1-CC1B-2717-6320-42035BAAF94A}"/>
              </a:ext>
            </a:extLst>
          </p:cNvPr>
          <p:cNvSpPr txBox="1"/>
          <p:nvPr/>
        </p:nvSpPr>
        <p:spPr>
          <a:xfrm>
            <a:off x="313393" y="1136461"/>
            <a:ext cx="53269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Peru’s NDC include an unconditional target of 208.8 MM TonCo2e by 2030, effectively keeping them constant relative to 2021. Conditional NDCs of 179 MM TonCO2e imply a nearly 2% decrease over the rest of the decade….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3B5BA-3431-FEFC-ECED-A664CEEE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348" y="2731602"/>
            <a:ext cx="5987258" cy="3768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A34C61-14A1-391F-4E45-225A28871191}"/>
              </a:ext>
            </a:extLst>
          </p:cNvPr>
          <p:cNvSpPr txBox="1"/>
          <p:nvPr/>
        </p:nvSpPr>
        <p:spPr>
          <a:xfrm>
            <a:off x="5878284" y="1087323"/>
            <a:ext cx="59872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For moderate scenarios for per capita GDP growth (1.6% per year) and expected population growth rates (1.3% per year), attaining Unconditional and Conditional NDCs requires a combined improvement of energy intensity and carbon intensity of 3.0% and 5.0% through 2030.</a:t>
            </a:r>
          </a:p>
        </p:txBody>
      </p:sp>
    </p:spTree>
    <p:extLst>
      <p:ext uri="{BB962C8B-B14F-4D97-AF65-F5344CB8AC3E}">
        <p14:creationId xmlns:p14="http://schemas.microsoft.com/office/powerpoint/2010/main" val="3223803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B9C-5E9F-DE1D-8EF2-B09A472F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35DF383-B4DE-C0A8-0E18-736024D0D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75" y="113150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Expenditures (1)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3FEE64-9F62-99FD-8E2C-1182F24D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83" y="2634760"/>
            <a:ext cx="5238206" cy="32290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790179-BFBA-64FB-EC4F-0C6AB887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623675"/>
            <a:ext cx="5046617" cy="3287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21A55E-B336-BD58-3AD1-243AAE879CF2}"/>
              </a:ext>
            </a:extLst>
          </p:cNvPr>
          <p:cNvSpPr txBox="1"/>
          <p:nvPr/>
        </p:nvSpPr>
        <p:spPr>
          <a:xfrm>
            <a:off x="694220" y="1311321"/>
            <a:ext cx="5080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Lack of further progress in carbon intensity reduction resides in the continued dependency on fossil fuels for energy generation…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F6F73-D6FB-08B4-0E77-300EF65F2572}"/>
              </a:ext>
            </a:extLst>
          </p:cNvPr>
          <p:cNvSpPr txBox="1"/>
          <p:nvPr/>
        </p:nvSpPr>
        <p:spPr>
          <a:xfrm>
            <a:off x="6175050" y="1311321"/>
            <a:ext cx="5080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…Although the country has scaled up its green effort by boosting public investments in renewable energy sources, including hydro, solar and wind.</a:t>
            </a:r>
          </a:p>
        </p:txBody>
      </p:sp>
    </p:spTree>
    <p:extLst>
      <p:ext uri="{BB962C8B-B14F-4D97-AF65-F5344CB8AC3E}">
        <p14:creationId xmlns:p14="http://schemas.microsoft.com/office/powerpoint/2010/main" val="1660423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B9C-5E9F-DE1D-8EF2-B09A472F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21A55E-B336-BD58-3AD1-243AAE879CF2}"/>
              </a:ext>
            </a:extLst>
          </p:cNvPr>
          <p:cNvSpPr txBox="1"/>
          <p:nvPr/>
        </p:nvSpPr>
        <p:spPr>
          <a:xfrm>
            <a:off x="694220" y="1311321"/>
            <a:ext cx="5080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Peru has reduced implicit subsidies over fossil fuels, sending price signals for a shift to low carbon sources of energy….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F6F73-D6FB-08B4-0E77-300EF65F2572}"/>
              </a:ext>
            </a:extLst>
          </p:cNvPr>
          <p:cNvSpPr txBox="1"/>
          <p:nvPr/>
        </p:nvSpPr>
        <p:spPr>
          <a:xfrm>
            <a:off x="6201176" y="1311321"/>
            <a:ext cx="5080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…Fossil Fuel Subsidies are on the lower end among Latin American countries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D0276-BFB4-8B3E-8915-952A170D0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90" y="2527300"/>
            <a:ext cx="5080776" cy="3660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C7B9CD-9458-2B09-D81F-58518558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516" y="2527300"/>
            <a:ext cx="5605202" cy="3660427"/>
          </a:xfrm>
          <a:prstGeom prst="rect">
            <a:avLst/>
          </a:prstGeom>
        </p:spPr>
      </p:pic>
      <p:sp>
        <p:nvSpPr>
          <p:cNvPr id="12" name="Subtitle 5">
            <a:extLst>
              <a:ext uri="{FF2B5EF4-FFF2-40B4-BE49-F238E27FC236}">
                <a16:creationId xmlns:a16="http://schemas.microsoft.com/office/drawing/2014/main" id="{2B9FDC81-DC2C-6D5D-44E5-95F7E64E6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75" y="113150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Expenditures (2)</a:t>
            </a:r>
          </a:p>
        </p:txBody>
      </p:sp>
    </p:spTree>
    <p:extLst>
      <p:ext uri="{BB962C8B-B14F-4D97-AF65-F5344CB8AC3E}">
        <p14:creationId xmlns:p14="http://schemas.microsoft.com/office/powerpoint/2010/main" val="3198498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B9C-5E9F-DE1D-8EF2-B09A472F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21A55E-B336-BD58-3AD1-243AAE879CF2}"/>
              </a:ext>
            </a:extLst>
          </p:cNvPr>
          <p:cNvSpPr txBox="1"/>
          <p:nvPr/>
        </p:nvSpPr>
        <p:spPr>
          <a:xfrm>
            <a:off x="694220" y="1311321"/>
            <a:ext cx="5080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Peru lags behind Latin American peers in terms of environmental taxation…..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F6F73-D6FB-08B4-0E77-300EF65F2572}"/>
              </a:ext>
            </a:extLst>
          </p:cNvPr>
          <p:cNvSpPr txBox="1"/>
          <p:nvPr/>
        </p:nvSpPr>
        <p:spPr>
          <a:xfrm>
            <a:off x="6201176" y="1311321"/>
            <a:ext cx="5080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highlight>
                  <a:srgbClr val="FFFF00"/>
                </a:highlight>
              </a:rPr>
              <a:t>[CPAT]</a:t>
            </a:r>
          </a:p>
        </p:txBody>
      </p:sp>
      <p:sp>
        <p:nvSpPr>
          <p:cNvPr id="12" name="Subtitle 5">
            <a:extLst>
              <a:ext uri="{FF2B5EF4-FFF2-40B4-BE49-F238E27FC236}">
                <a16:creationId xmlns:a16="http://schemas.microsoft.com/office/drawing/2014/main" id="{2B9FDC81-DC2C-6D5D-44E5-95F7E64E6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75" y="113150"/>
            <a:ext cx="11411443" cy="571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Revenues (1)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C11218-FD29-9FF6-0883-644108C32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15" y="2527300"/>
            <a:ext cx="5218853" cy="323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32887"/>
      </p:ext>
    </p:extLst>
  </p:cSld>
  <p:clrMapOvr>
    <a:masterClrMapping/>
  </p:clrMapOvr>
</p:sld>
</file>

<file path=ppt/theme/theme1.xml><?xml version="1.0" encoding="utf-8"?>
<a:theme xmlns:a="http://schemas.openxmlformats.org/drawingml/2006/main" name="WB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E65B61F-74F4-E94B-8CB9-8663DEDC06DE}" vid="{965AF030-7E70-E04A-B6BC-7AB7DEE3BB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2318</TotalTime>
  <Words>1178</Words>
  <Application>Microsoft Macintosh PowerPoint</Application>
  <PresentationFormat>Widescreen</PresentationFormat>
  <Paragraphs>103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Andes</vt:lpstr>
      <vt:lpstr>Arial</vt:lpstr>
      <vt:lpstr>FSP DEMO - Andes</vt:lpstr>
      <vt:lpstr>Gill Sans</vt:lpstr>
      <vt:lpstr>WB Theme</vt:lpstr>
      <vt:lpstr>Statistical Appendix to Support Climate Informed Public Finance Reviews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BONDS</dc:title>
  <dc:creator>Evie Davey</dc:creator>
  <cp:lastModifiedBy>Leonardo Garrido</cp:lastModifiedBy>
  <cp:revision>44</cp:revision>
  <dcterms:created xsi:type="dcterms:W3CDTF">2024-01-25T15:02:47Z</dcterms:created>
  <dcterms:modified xsi:type="dcterms:W3CDTF">2024-03-07T02:16:36Z</dcterms:modified>
</cp:coreProperties>
</file>