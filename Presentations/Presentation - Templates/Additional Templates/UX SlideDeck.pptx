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svg" ContentType="image/svg+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Inter"/>
      <p:regular r:id="rId16"/>
      <p:bold r:id="rId17"/>
    </p:embeddedFont>
    <p:embeddedFont>
      <p:font typeface="DM Sans"/>
      <p:boldItalic r:id="rId18"/>
      <p:regular r:id="rId19"/>
      <p:italic r:id="rId20"/>
      <p:bold r:id="rId21"/>
    </p:embeddedFont>
    <p:embeddedFont>
      <p:font typeface="DM Mono"/>
      <p:regular r:id="rId22"/>
      <p: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Inter-regular.fntdata"/><Relationship Id="rId17" Type="http://schemas.openxmlformats.org/officeDocument/2006/relationships/font" Target="fonts/Inter-bold.fntdata"/><Relationship Id="rId18" Type="http://schemas.openxmlformats.org/officeDocument/2006/relationships/font" Target="fonts/DMSans-boldItalic.fntdata"/><Relationship Id="rId19" Type="http://schemas.openxmlformats.org/officeDocument/2006/relationships/font" Target="fonts/DMSans-regular.fntdata"/><Relationship Id="rId20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2" Type="http://schemas.openxmlformats.org/officeDocument/2006/relationships/font" Target="fonts/DMMono-regular.fntdata"/><Relationship Id="rId23" Type="http://schemas.openxmlformats.org/officeDocument/2006/relationships/font" Target="fonts/DMMono-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tch.com?utm_medium=product-presentation&amp;utm_source=powerpoint-export&amp;utm_campaign=bottom_bar_cta&amp;utm_content=fca64bb6-3333-47e7-9318-35015b947658&amp;utm_term=PDF-PPTX-lastslide&amp;ad_group=last_slide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ruetoform.design" TargetMode="External"/><Relationship Id="rId5" Type="http://schemas.openxmlformats.org/officeDocument/2006/relationships/hyperlink" Target="https://pitch.com?utm_medium=product-presentation&amp;utm_source=powerpoint-export&amp;utm_campaign=bottom_bar_cta&amp;utm_content=fca64bb6-3333-47e7-9318-35015b947658&amp;utm_term=PDF-PPTX-lastslide&amp;ad_group=last_slide" TargetMode="Externa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tch.com?utm_medium=product-presentation&amp;utm_source=powerpoint-export&amp;utm_campaign=bottom_bar_cta&amp;utm_content=fca64bb6-3333-47e7-9318-35015b947658&amp;utm_term=PDF-PPTX-lastslide&amp;ad_group=last_slide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tch.com?utm_medium=product-presentation&amp;utm_source=powerpoint-export&amp;utm_campaign=bottom_bar_cta&amp;utm_content=fca64bb6-3333-47e7-9318-35015b947658&amp;utm_term=PDF-PPTX-lastslide&amp;ad_group=last_slide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pitch.com?utm_medium=product-presentation&amp;utm_source=powerpoint-export&amp;utm_campaign=bottom_bar_cta&amp;utm_content=fca64bb6-3333-47e7-9318-35015b947658&amp;utm_term=PDF-PPTX-lastslide&amp;ad_group=last_slide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tch.com?utm_medium=product-presentation&amp;utm_source=powerpoint-export&amp;utm_campaign=bottom_bar_cta&amp;utm_content=fca64bb6-3333-47e7-9318-35015b947658&amp;utm_term=PDF-PPTX-lastslide&amp;ad_group=last_slide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ngroup.com/articles/dot-voting/" TargetMode="External"/><Relationship Id="rId4" Type="http://schemas.openxmlformats.org/officeDocument/2006/relationships/hyperlink" Target="https://pitch.com?utm_medium=product-presentation&amp;utm_source=powerpoint-export&amp;utm_campaign=bottom_bar_cta&amp;utm_content=fca64bb6-3333-47e7-9318-35015b947658&amp;utm_term=PDF-PPTX-lastslide&amp;ad_group=last_slide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tch.com?utm_medium=product-presentation&amp;utm_source=powerpoint-export&amp;utm_campaign=bottom_bar_cta&amp;utm_content=fca64bb6-3333-47e7-9318-35015b947658&amp;utm_term=PDF-PPTX-lastslide&amp;ad_group=last_slide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tch.com/?utm_medium=product-presentation&amp;utm_source=powerpoint-export&amp;utm_campaign=last_slide&amp;utm_content=fca64bb6-3333-47e7-9318-35015b947658&amp;utm_term=PDF-PPTX-lastslide&amp;ad_group=last_slide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try-pitch-pdf-export-logo.svg">
            <a:hlinkClick r:id="rId3" tooltip=""/>
      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8B6C2">
            <a:alpha val="5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3e774407-8cb9-4130-87e4-84bb35b0bbc9?pitch-bytes=1443648&amp;pitch-content-type=image%2F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18739" r="18739" t="0" b="0"/>
          <a:stretch/>
        </p:blipFill>
        <p:spPr>
          <a:xfrm>
            <a:off x="2476500" y="475443"/>
            <a:ext cx="4191000" cy="4189563"/>
          </a:xfrm>
          <a:prstGeom prst="ellipse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1303061"/>
            <a:ext cx="4572000" cy="3342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633"/>
              </a:lnSpc>
            </a:pPr>
            <a:r>
              <a:rPr lang="en-US" sz="2000" b="0" spc="-2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We're </a:t>
            </a:r>
            <a:pPr algn="l">
              <a:lnSpc>
                <a:spcPts val="2633"/>
              </a:lnSpc>
            </a:pPr>
            <a:r>
              <a:rPr lang="en-US" sz="2000" b="0" u="sng" spc="-24" kern="0" dirty="0">
                <a:solidFill>
                  <a:srgbClr val="E34024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True To Form</a:t>
            </a:r>
            <a:pPr algn="l">
              <a:lnSpc>
                <a:spcPts val="2633"/>
              </a:lnSpc>
            </a:pPr>
            <a:r>
              <a:rPr lang="en-US" sz="2000" b="0" spc="-2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 London-based experience design agency.</a:t>
            </a:r>
            <a:endParaRPr lang="en-US" sz="2025" dirty="0"/>
          </a:p>
          <a:p>
            <a:pPr algn="l">
              <a:lnSpc>
                <a:spcPts val="2633"/>
              </a:lnSpc>
            </a:pPr>
            <a:endParaRPr lang="en-US" sz="2025" dirty="0"/>
          </a:p>
          <a:p>
            <a:pPr algn="l">
              <a:lnSpc>
                <a:spcPts val="2633"/>
              </a:lnSpc>
            </a:pPr>
            <a:r>
              <a:rPr lang="en-US" sz="2000" b="0" spc="-2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thought we'd share a simplified version of our deck template for presenting UX ideas, research, rough ideas, and interactive workshops for the Pitch community. </a:t>
            </a:r>
            <a:endParaRPr lang="en-US" sz="2025" dirty="0"/>
          </a:p>
          <a:p>
            <a:pPr algn="l">
              <a:lnSpc>
                <a:spcPts val="2633"/>
              </a:lnSpc>
            </a:pPr>
            <a:endParaRPr lang="en-US" sz="2025" dirty="0"/>
          </a:p>
          <a:p>
            <a:pPr algn="l">
              <a:lnSpc>
                <a:spcPts val="2633"/>
              </a:lnSpc>
            </a:pPr>
            <a:r>
              <a:rPr lang="en-US" sz="2000" b="0" spc="-2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Feel free to adapt, steal or better 😁</a:t>
            </a:r>
            <a:endParaRPr lang="en-US" sz="2025" dirty="0"/>
          </a:p>
        </p:txBody>
      </p:sp>
      <p:pic>
        <p:nvPicPr>
          <p:cNvPr id="5" name="Image 1" descr="https://pitch-assets-ccb95893-de3f-4266-973c-20049231b248.s3.eu-west-1.amazonaws.com/try-pitch-pdf-export-logo.svg">
            <a:hlinkClick r:id="rId5" tooltip=""/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476250"/>
            <a:ext cx="45720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33"/>
              </a:lnSpc>
            </a:pPr>
            <a:r>
              <a:rPr lang="en-US" sz="2000" b="1" spc="-24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of contents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0" y="1333251"/>
            <a:ext cx="476250" cy="476250"/>
          </a:xfrm>
          <a:prstGeom prst="roundRect">
            <a:avLst>
              <a:gd name="adj" fmla="val 45000"/>
            </a:avLst>
          </a:prstGeom>
          <a:solidFill>
            <a:srgbClr val="98B6C2"/>
          </a:solidFill>
          <a:ln/>
        </p:spPr>
        <p:txBody>
          <a:bodyPr wrap="square" lIns="26458" tIns="56224" rIns="26458" bIns="56224" rtlCol="0" anchor="ctr"/>
          <a:lstStyle/>
          <a:p>
            <a:pPr algn="ctr">
              <a:lnSpc>
                <a:spcPts val="2025"/>
              </a:lnSpc>
            </a:pPr>
            <a:r>
              <a:rPr lang="en-US" sz="140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286000" y="2173670"/>
            <a:ext cx="476250" cy="476250"/>
          </a:xfrm>
          <a:prstGeom prst="roundRect">
            <a:avLst>
              <a:gd name="adj" fmla="val 45000"/>
            </a:avLst>
          </a:prstGeom>
          <a:solidFill>
            <a:srgbClr val="DBE3CD"/>
          </a:solidFill>
          <a:ln/>
        </p:spPr>
        <p:txBody>
          <a:bodyPr wrap="square" lIns="26458" tIns="56224" rIns="26458" bIns="56224" rtlCol="0" anchor="ctr"/>
          <a:lstStyle/>
          <a:p>
            <a:pPr algn="ctr">
              <a:lnSpc>
                <a:spcPts val="2025"/>
              </a:lnSpc>
            </a:pPr>
            <a:r>
              <a:rPr lang="en-US" sz="140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0" y="3014089"/>
            <a:ext cx="476250" cy="476250"/>
          </a:xfrm>
          <a:prstGeom prst="roundRect">
            <a:avLst>
              <a:gd name="adj" fmla="val 45000"/>
            </a:avLst>
          </a:prstGeom>
          <a:solidFill>
            <a:srgbClr val="F4C4A4"/>
          </a:solidFill>
          <a:ln/>
        </p:spPr>
        <p:txBody>
          <a:bodyPr wrap="square" lIns="26458" tIns="56224" rIns="26458" bIns="56224" rtlCol="0" anchor="ctr"/>
          <a:lstStyle/>
          <a:p>
            <a:pPr algn="ctr">
              <a:lnSpc>
                <a:spcPts val="2025"/>
              </a:lnSpc>
            </a:pPr>
            <a:r>
              <a:rPr lang="en-US" sz="140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01403" y="1406872"/>
            <a:ext cx="54864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33"/>
              </a:lnSpc>
            </a:pPr>
            <a:r>
              <a:rPr lang="en-US" sz="2000" b="0" spc="-24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Turning adversity into opportunity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3011457" y="2241584"/>
            <a:ext cx="54864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33"/>
              </a:lnSpc>
            </a:pPr>
            <a:r>
              <a:rPr lang="en-US" sz="2000" b="0" spc="-24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knowledge transfer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3001403" y="3086602"/>
            <a:ext cx="54864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33"/>
              </a:lnSpc>
            </a:pPr>
            <a:r>
              <a:rPr lang="en-US" sz="2000" b="0" spc="-24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devil's in the data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2286000" y="3848802"/>
            <a:ext cx="476250" cy="476250"/>
          </a:xfrm>
          <a:prstGeom prst="roundRect">
            <a:avLst>
              <a:gd name="adj" fmla="val 45000"/>
            </a:avLst>
          </a:prstGeom>
          <a:solidFill>
            <a:srgbClr val="A8A192"/>
          </a:solidFill>
          <a:ln/>
        </p:spPr>
        <p:txBody>
          <a:bodyPr wrap="square" lIns="26458" tIns="56224" rIns="26458" bIns="56224" rtlCol="0" anchor="ctr"/>
          <a:lstStyle/>
          <a:p>
            <a:pPr algn="ctr">
              <a:lnSpc>
                <a:spcPts val="2025"/>
              </a:lnSpc>
            </a:pPr>
            <a:r>
              <a:rPr lang="en-US" sz="1400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03645" y="3921315"/>
            <a:ext cx="54864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33"/>
              </a:lnSpc>
            </a:pPr>
            <a:r>
              <a:rPr lang="en-US" sz="2000" b="0" spc="-24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Making connections &amp; bridging gaps</a:t>
            </a:r>
            <a:endParaRPr lang="en-US" sz="2025" dirty="0"/>
          </a:p>
        </p:txBody>
      </p:sp>
      <p:pic>
        <p:nvPicPr>
          <p:cNvPr id="12" name="Image 0" descr="https://pitch-assets-ccb95893-de3f-4266-973c-20049231b248.s3.eu-west-1.amazonaws.com/try-pitch-pdf-export-logo.svg">
            <a:hlinkClick r:id="rId3" tooltip=""/>
      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63193" y="1524000"/>
            <a:ext cx="2286000" cy="3619449"/>
          </a:xfrm>
          <a:prstGeom prst="roundRect">
            <a:avLst>
              <a:gd name="adj" fmla="val -40000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5462" y="1524000"/>
            <a:ext cx="2286000" cy="3619449"/>
          </a:xfrm>
          <a:prstGeom prst="roundRect">
            <a:avLst>
              <a:gd name="adj" fmla="val -40000"/>
            </a:avLst>
          </a:prstGeom>
          <a:solidFill>
            <a:srgbClr val="DBE3CD">
              <a:alpha val="2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287731" y="1524000"/>
            <a:ext cx="2286000" cy="3619449"/>
          </a:xfrm>
          <a:prstGeom prst="roundRect">
            <a:avLst>
              <a:gd name="adj" fmla="val -40000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524000"/>
            <a:ext cx="2286000" cy="3619449"/>
          </a:xfrm>
          <a:prstGeom prst="roundRect">
            <a:avLst>
              <a:gd name="adj" fmla="val -40000"/>
            </a:avLst>
          </a:prstGeom>
          <a:solidFill>
            <a:srgbClr val="DBE3CD">
              <a:alpha val="2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38125" y="3932951"/>
            <a:ext cx="18288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Stumptown organic tousled, live-edge vegan adaptogen cliche farm-to-table bushwick glossier pinterest.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6250" y="475804"/>
            <a:ext cx="45720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633"/>
              </a:lnSpc>
            </a:pPr>
            <a:r>
              <a:rPr lang="en-US" sz="2000" b="1" spc="-2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process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4810125" y="542925"/>
            <a:ext cx="4572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0" dirty="0">
                <a:solidFill>
                  <a:srgbClr val="000000">
                    <a:alpha val="5625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can be an intro text to explain the purpose of this slide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524125" y="3932951"/>
            <a:ext cx="27432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Selvage man braid humblebrag pour-over listicle taxidermy jianbing master cleanse gentrify shoreditch. Typewriter mumbleco.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10125" y="3932951"/>
            <a:ext cx="18288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Poke keffiyeh XOXO post-ironic pour-over williamsburg intelligentsia raw denim roof party austin.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96125" y="3932951"/>
            <a:ext cx="18288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1440"/>
              </a:lnSpc>
            </a:pPr>
            <a:r>
              <a:rPr lang="en-US" sz="9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Stumptown organic tousled, live-edge vegan adaptogen cliche farm-to-table bushwick glossier pinterest.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38125" y="2283777"/>
            <a:ext cx="18288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2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HUNTING</a:t>
            </a:r>
            <a:endParaRPr lang="en-US" sz="1350" dirty="0"/>
          </a:p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Searching for Pain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524125" y="2286000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EXPERIENCE</a:t>
            </a:r>
            <a:endParaRPr lang="en-US" sz="1350" dirty="0"/>
          </a:p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Living that pain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10125" y="2286000"/>
            <a:ext cx="18288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UNDERSTAND</a:t>
            </a:r>
            <a:endParaRPr lang="en-US" sz="1350" dirty="0"/>
          </a:p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Connecting the dots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096125" y="2286000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EXPLORE</a:t>
            </a:r>
            <a:endParaRPr lang="en-US" sz="1350" dirty="0"/>
          </a:p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This is us today!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39653" y="1763400"/>
            <a:ext cx="285750" cy="285750"/>
          </a:xfrm>
          <a:prstGeom prst="roundRect">
            <a:avLst>
              <a:gd name="adj" fmla="val 45000"/>
            </a:avLst>
          </a:prstGeom>
          <a:solidFill>
            <a:srgbClr val="000000"/>
          </a:solidFill>
          <a:ln/>
        </p:spPr>
        <p:txBody>
          <a:bodyPr wrap="square" lIns="15875" tIns="33734" rIns="15875" bIns="33734" rtlCol="0" anchor="ctr"/>
          <a:lstStyle/>
          <a:p>
            <a:pPr algn="ctr">
              <a:lnSpc>
                <a:spcPts val="1575"/>
              </a:lnSpc>
            </a:pPr>
            <a:r>
              <a:rPr lang="en-US" sz="11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26757" y="1763400"/>
            <a:ext cx="285750" cy="285750"/>
          </a:xfrm>
          <a:prstGeom prst="roundRect">
            <a:avLst>
              <a:gd name="adj" fmla="val 45000"/>
            </a:avLst>
          </a:prstGeom>
          <a:solidFill>
            <a:srgbClr val="000000"/>
          </a:solidFill>
          <a:ln/>
        </p:spPr>
        <p:txBody>
          <a:bodyPr wrap="square" lIns="15875" tIns="33734" rIns="15875" bIns="33734" rtlCol="0" anchor="ctr"/>
          <a:lstStyle/>
          <a:p>
            <a:pPr algn="ctr">
              <a:lnSpc>
                <a:spcPts val="1575"/>
              </a:lnSpc>
            </a:pPr>
            <a:r>
              <a:rPr lang="en-US" sz="11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07289" y="1763400"/>
            <a:ext cx="285750" cy="285750"/>
          </a:xfrm>
          <a:prstGeom prst="roundRect">
            <a:avLst>
              <a:gd name="adj" fmla="val 45000"/>
            </a:avLst>
          </a:prstGeom>
          <a:solidFill>
            <a:srgbClr val="000000"/>
          </a:solidFill>
          <a:ln/>
        </p:spPr>
        <p:txBody>
          <a:bodyPr wrap="square" lIns="15875" tIns="33734" rIns="15875" bIns="33734" rtlCol="0" anchor="ctr"/>
          <a:lstStyle/>
          <a:p>
            <a:pPr algn="ctr">
              <a:lnSpc>
                <a:spcPts val="1575"/>
              </a:lnSpc>
            </a:pPr>
            <a:r>
              <a:rPr lang="en-US" sz="11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094393" y="1763400"/>
            <a:ext cx="285750" cy="285750"/>
          </a:xfrm>
          <a:prstGeom prst="roundRect">
            <a:avLst>
              <a:gd name="adj" fmla="val 45000"/>
            </a:avLst>
          </a:prstGeom>
          <a:solidFill>
            <a:srgbClr val="000000"/>
          </a:solidFill>
          <a:ln/>
        </p:spPr>
        <p:txBody>
          <a:bodyPr wrap="square" lIns="15875" tIns="33734" rIns="15875" bIns="33734" rtlCol="0" anchor="ctr"/>
          <a:lstStyle/>
          <a:p>
            <a:pPr algn="ctr">
              <a:lnSpc>
                <a:spcPts val="1575"/>
              </a:lnSpc>
            </a:pPr>
            <a:r>
              <a:rPr lang="en-US" sz="11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050" dirty="0"/>
          </a:p>
        </p:txBody>
      </p:sp>
      <p:pic>
        <p:nvPicPr>
          <p:cNvPr id="21" name="Image 0" descr="https://pitch-assets-ccb95893-de3f-4266-973c-20049231b248.s3.eu-west-1.amazonaws.com/try-pitch-pdf-export-logo.svg">
            <a:hlinkClick r:id="rId3" tooltip=""/>
      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431" y="2095500"/>
            <a:ext cx="36576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025"/>
              </a:lnSpc>
            </a:pPr>
            <a:r>
              <a:rPr lang="en-US" sz="14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long-term strategy by building real foundational UX workflows, which in time will be baked into all projects.</a:t>
            </a:r>
            <a:endParaRPr lang="en-US" sz="1350" dirty="0"/>
          </a:p>
          <a:p>
            <a:pPr algn="l">
              <a:lnSpc>
                <a:spcPts val="2025"/>
              </a:lnSpc>
            </a:pPr>
            <a:endParaRPr lang="en-US" sz="1350" dirty="0"/>
          </a:p>
          <a:p>
            <a:pPr algn="l">
              <a:lnSpc>
                <a:spcPts val="2025"/>
              </a:lnSpc>
            </a:pPr>
            <a:r>
              <a:rPr lang="en-US" sz="14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direct collaboration with your designers, engineers, project managers and account managers will lead to a deeper human-first approach to all product work leading to stronger client relationships, happier teams and “better” product. 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476250" y="478261"/>
            <a:ext cx="36576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33"/>
              </a:lnSpc>
            </a:pPr>
            <a:r>
              <a:rPr lang="en-US" sz="2000" b="1" spc="-2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Sample project</a:t>
            </a:r>
            <a:endParaRPr lang="en-US" sz="2025" dirty="0"/>
          </a:p>
        </p:txBody>
      </p:sp>
      <p:pic>
        <p:nvPicPr>
          <p:cNvPr id="5" name="Image 0" descr="https://images.unsplash.com/photo-1552664688-cf412ec27db2?crop=entropy&amp;cs=tinysrgb&amp;fit=max&amp;fm=jpg&amp;ixid=MXwyMTIyMnwwfDF8c2VhcmNofDExMnx8VVh8ZW58MHx8fA&amp;ixlib=rb-1.2.1&amp;q=80&amp;w=1080">    </p:cNvPr>
          <p:cNvPicPr>
            <a:picLocks noChangeAspect="1"/>
          </p:cNvPicPr>
          <p:nvPr/>
        </p:nvPicPr>
        <p:blipFill>
          <a:blip r:embed="rId1"/>
          <a:srcRect l="0" r="0" t="16854" b="8138"/>
          <a:stretch/>
        </p:blipFill>
        <p:spPr>
          <a:xfrm>
            <a:off x="4572019" y="-142"/>
            <a:ext cx="4571675" cy="51437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36846" y="4208372"/>
            <a:ext cx="1333500" cy="458888"/>
          </a:xfrm>
          <a:prstGeom prst="roundRect">
            <a:avLst>
              <a:gd name="adj" fmla="val 80000"/>
            </a:avLst>
          </a:prstGeom>
          <a:solidFill>
            <a:srgbClr val="000000"/>
          </a:solidFill>
          <a:ln w="10583">
            <a:solidFill>
              <a:srgbClr val="000000">
                <a:alpha val="50000"/>
              </a:srgbClr>
            </a:solidFill>
          </a:ln>
        </p:spPr>
        <p:txBody>
          <a:bodyPr wrap="square" lIns="74083" tIns="54174" rIns="74083" bIns="54174" rtlCol="0" anchor="ctr"/>
          <a:lstStyle/>
          <a:p>
            <a:pPr algn="ctr">
              <a:lnSpc>
                <a:spcPts val="2700"/>
              </a:lnSpc>
            </a:pPr>
            <a:r>
              <a:rPr lang="en-US" sz="9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Image caption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76250" y="855649"/>
            <a:ext cx="3657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Acme Client</a:t>
            </a:r>
            <a:endParaRPr lang="en-US" sz="1350" dirty="0"/>
          </a:p>
        </p:txBody>
      </p:sp>
      <p:pic>
        <p:nvPicPr>
          <p:cNvPr id="8" name="Image 1" descr="https://pitch-assets-ccb95893-de3f-4266-973c-20049231b248.s3.eu-west-1.amazonaws.com/try-pitch-pdf-export-logo.svg">
            <a:hlinkClick r:id="rId4" tooltip=""/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23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524000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050185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572137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96000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20000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64015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2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286000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2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10000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2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334000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0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2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382000" y="1524000"/>
            <a:ext cx="762000" cy="3619557"/>
          </a:xfrm>
          <a:prstGeom prst="roundRect">
            <a:avLst>
              <a:gd name="adj" fmla="val -120000"/>
            </a:avLst>
          </a:prstGeom>
          <a:solidFill>
            <a:srgbClr val="DBE3CD">
              <a:alpha val="2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76250" y="476250"/>
            <a:ext cx="45720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33"/>
              </a:lnSpc>
            </a:pPr>
            <a:r>
              <a:rPr lang="en-US" sz="2000" b="1" spc="-2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roadmap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92716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JAN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714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238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762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JUL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86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SEP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80818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NOV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097343" y="2796574"/>
            <a:ext cx="1522552" cy="457200"/>
          </a:xfrm>
          <a:prstGeom prst="roundRect">
            <a:avLst>
              <a:gd name="adj" fmla="val 80000"/>
            </a:avLst>
          </a:prstGeom>
          <a:solidFill>
            <a:srgbClr val="000000"/>
          </a:solidFill>
          <a:ln/>
        </p:spPr>
        <p:txBody>
          <a:bodyPr wrap="square" lIns="84586" tIns="53975" rIns="84586" bIns="53975" rtlCol="0" anchor="ctr"/>
          <a:lstStyle/>
          <a:p>
            <a:pPr algn="ctr">
              <a:lnSpc>
                <a:spcPts val="1350"/>
              </a:lnSpc>
            </a:pPr>
            <a:r>
              <a:rPr lang="en-US" sz="9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Blocker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6837" y="3467513"/>
            <a:ext cx="4097166" cy="457200"/>
          </a:xfrm>
          <a:prstGeom prst="roundRect">
            <a:avLst>
              <a:gd name="adj" fmla="val -200000"/>
            </a:avLst>
          </a:prstGeom>
          <a:solidFill>
            <a:srgbClr val="F4C4A4"/>
          </a:solidFill>
          <a:ln/>
        </p:spPr>
        <p:txBody>
          <a:bodyPr wrap="square" lIns="227620" tIns="53975" rIns="227620" bIns="53975" rtlCol="0" anchor="ctr"/>
          <a:lstStyle/>
          <a:p>
            <a:pPr algn="ctr">
              <a:lnSpc>
                <a:spcPts val="1350"/>
              </a:lnSpc>
            </a:pPr>
            <a:r>
              <a:rPr lang="en-US" sz="900" dirty="0">
                <a:solidFill>
                  <a:srgbClr val="000000"/>
                </a:solidFill>
              </a:rPr>
              <a:t>Onsite Research @ HQ - NYC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43394" y="3467513"/>
            <a:ext cx="3320061" cy="457200"/>
          </a:xfrm>
          <a:prstGeom prst="roundRect">
            <a:avLst>
              <a:gd name="adj" fmla="val -200000"/>
            </a:avLst>
          </a:prstGeom>
          <a:solidFill>
            <a:srgbClr val="F4C4A4"/>
          </a:solidFill>
          <a:ln/>
        </p:spPr>
        <p:txBody>
          <a:bodyPr wrap="square" lIns="184448" tIns="53975" rIns="184448" bIns="53975" rtlCol="0" anchor="ctr"/>
          <a:lstStyle/>
          <a:p>
            <a:pPr algn="ctr">
              <a:lnSpc>
                <a:spcPts val="1350"/>
              </a:lnSpc>
            </a:pPr>
            <a:r>
              <a:rPr lang="en-US" sz="900" dirty="0">
                <a:solidFill>
                  <a:srgbClr val="000000"/>
                </a:solidFill>
              </a:rPr>
              <a:t>Remote Interviews &amp; A/B testing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10125" y="542925"/>
            <a:ext cx="4572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0" dirty="0">
                <a:solidFill>
                  <a:srgbClr val="000000">
                    <a:alpha val="5625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roadmap for strategic and long-range planning at a super high-level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 rot="5400000">
            <a:off x="3277351" y="3857630"/>
            <a:ext cx="2572057" cy="0"/>
          </a:xfrm>
          <a:prstGeom prst="line">
            <a:avLst/>
          </a:prstGeom>
          <a:solidFill>
            <a:srgbClr val="000000"/>
          </a:solidFill>
          <a:ln w="21167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/>
          <p:nvPr/>
        </p:nvSpPr>
        <p:spPr>
          <a:xfrm>
            <a:off x="3688843" y="2343150"/>
            <a:ext cx="1766314" cy="457200"/>
          </a:xfrm>
          <a:prstGeom prst="roundRect">
            <a:avLst>
              <a:gd name="adj" fmla="val 80000"/>
            </a:avLst>
          </a:prstGeom>
          <a:solidFill>
            <a:srgbClr val="000000"/>
          </a:solidFill>
          <a:ln/>
        </p:spPr>
        <p:txBody>
          <a:bodyPr wrap="square" lIns="98129" tIns="53975" rIns="98129" bIns="53975" rtlCol="0" anchor="ctr"/>
          <a:lstStyle/>
          <a:p>
            <a:pPr algn="ctr">
              <a:lnSpc>
                <a:spcPts val="1350"/>
              </a:lnSpc>
            </a:pPr>
            <a:r>
              <a:rPr lang="en-US" sz="9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Event Horizon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638019" y="4209480"/>
            <a:ext cx="4553479" cy="457200"/>
          </a:xfrm>
          <a:prstGeom prst="roundRect">
            <a:avLst>
              <a:gd name="adj" fmla="val -200000"/>
            </a:avLst>
          </a:prstGeom>
          <a:solidFill>
            <a:srgbClr val="FFFFFF"/>
          </a:solidFill>
          <a:ln/>
        </p:spPr>
        <p:txBody>
          <a:bodyPr wrap="square" lIns="252971" tIns="53975" rIns="252971" bIns="53975" rtlCol="0" anchor="ctr"/>
          <a:lstStyle/>
          <a:p>
            <a:pPr algn="ctr">
              <a:lnSpc>
                <a:spcPts val="1350"/>
              </a:lnSpc>
            </a:pPr>
            <a:r>
              <a:rPr lang="en-US" sz="900" dirty="0">
                <a:solidFill>
                  <a:srgbClr val="000000"/>
                </a:solidFill>
              </a:rPr>
              <a:t>Build React Prototype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52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FEB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2476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APR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000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JUN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5524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AUG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048500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OCT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570757" y="1714500"/>
            <a:ext cx="9144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>
                    <a:alpha val="5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DEC</a:t>
            </a:r>
            <a:endParaRPr lang="en-US" sz="1350" dirty="0"/>
          </a:p>
        </p:txBody>
      </p:sp>
      <p:pic>
        <p:nvPicPr>
          <p:cNvPr id="35" name="Image 0" descr="https://pitch-assets-ccb95893-de3f-4266-973c-20049231b248.s3.eu-west-1.amazonaws.com/try-pitch-pdf-export-logo.svg">
            <a:hlinkClick r:id="rId3" tooltip=""/>
      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1528763"/>
            <a:ext cx="4571975" cy="1809750"/>
          </a:xfrm>
          <a:prstGeom prst="roundRect">
            <a:avLst>
              <a:gd name="adj" fmla="val -50526"/>
            </a:avLst>
          </a:prstGeom>
          <a:solidFill>
            <a:srgbClr val="98B6C2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337697"/>
            <a:ext cx="4571975" cy="1809750"/>
          </a:xfrm>
          <a:prstGeom prst="roundRect">
            <a:avLst>
              <a:gd name="adj" fmla="val -50526"/>
            </a:avLst>
          </a:prstGeom>
          <a:solidFill>
            <a:srgbClr val="F4C4A4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575462" y="1528763"/>
            <a:ext cx="4571975" cy="1809750"/>
          </a:xfrm>
          <a:prstGeom prst="roundRect">
            <a:avLst>
              <a:gd name="adj" fmla="val -50526"/>
            </a:avLst>
          </a:prstGeom>
          <a:solidFill>
            <a:srgbClr val="DBE3CD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575462" y="3337697"/>
            <a:ext cx="4571975" cy="1809750"/>
          </a:xfrm>
          <a:prstGeom prst="roundRect">
            <a:avLst>
              <a:gd name="adj" fmla="val -50526"/>
            </a:avLst>
          </a:prstGeom>
          <a:solidFill>
            <a:srgbClr val="A8A192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39426" y="2909883"/>
            <a:ext cx="4572000" cy="18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440"/>
              </a:lnSpc>
            </a:pPr>
            <a:r>
              <a:rPr lang="en-US" sz="9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42%  ·  16 Votes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810125" y="2909883"/>
            <a:ext cx="4572000" cy="18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440"/>
              </a:lnSpc>
            </a:pPr>
            <a:r>
              <a:rPr lang="en-US" sz="9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42%  ·  16 Votes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10125" y="1762125"/>
            <a:ext cx="457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Idea C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40341" y="1762125"/>
            <a:ext cx="457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Idea 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6250" y="476250"/>
            <a:ext cx="457200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33"/>
              </a:lnSpc>
            </a:pPr>
            <a:r>
              <a:rPr lang="en-US" sz="2000" b="1" spc="-2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Voting results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238318" y="4726699"/>
            <a:ext cx="4572000" cy="18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440"/>
              </a:lnSpc>
            </a:pPr>
            <a:r>
              <a:rPr lang="en-US" sz="9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42%  ·  16 Votes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11233" y="4725592"/>
            <a:ext cx="4572000" cy="18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440"/>
              </a:lnSpc>
            </a:pPr>
            <a:r>
              <a:rPr lang="en-US" sz="900" b="0" dirty="0">
                <a:solidFill>
                  <a:srgbClr val="000000">
                    <a:alpha val="7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42%  ·  16 Votes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11233" y="3569659"/>
            <a:ext cx="457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Idea 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39233" y="3570767"/>
            <a:ext cx="4572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1" dirty="0">
                <a:solidFill>
                  <a:srgbClr val="0000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Idea B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38125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534932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831739" y="3966344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1128546" y="3966265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25353" y="3966265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22160" y="3966344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018967" y="3966265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15774" y="3966265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12581" y="3966344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09388" y="3966265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8125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4932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739" y="426519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28546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425353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722160" y="426519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18967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315774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12581" y="426519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09388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8125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4"/>
          <p:cNvSpPr/>
          <p:nvPr/>
        </p:nvSpPr>
        <p:spPr>
          <a:xfrm>
            <a:off x="534932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5"/>
          <p:cNvSpPr/>
          <p:nvPr/>
        </p:nvSpPr>
        <p:spPr>
          <a:xfrm>
            <a:off x="831739" y="2162952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6"/>
          <p:cNvSpPr/>
          <p:nvPr/>
        </p:nvSpPr>
        <p:spPr>
          <a:xfrm>
            <a:off x="1128546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1425353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8"/>
          <p:cNvSpPr/>
          <p:nvPr/>
        </p:nvSpPr>
        <p:spPr>
          <a:xfrm>
            <a:off x="1722160" y="2162952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39"/>
          <p:cNvSpPr/>
          <p:nvPr/>
        </p:nvSpPr>
        <p:spPr>
          <a:xfrm>
            <a:off x="2018967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0"/>
          <p:cNvSpPr/>
          <p:nvPr/>
        </p:nvSpPr>
        <p:spPr>
          <a:xfrm>
            <a:off x="2315774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2612581" y="2162952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2"/>
          <p:cNvSpPr/>
          <p:nvPr/>
        </p:nvSpPr>
        <p:spPr>
          <a:xfrm>
            <a:off x="2909388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3"/>
          <p:cNvSpPr/>
          <p:nvPr/>
        </p:nvSpPr>
        <p:spPr>
          <a:xfrm>
            <a:off x="238125" y="2461721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4"/>
          <p:cNvSpPr/>
          <p:nvPr/>
        </p:nvSpPr>
        <p:spPr>
          <a:xfrm>
            <a:off x="534932" y="2461721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831739" y="2461800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6"/>
          <p:cNvSpPr/>
          <p:nvPr/>
        </p:nvSpPr>
        <p:spPr>
          <a:xfrm>
            <a:off x="1128546" y="2461721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7"/>
          <p:cNvSpPr/>
          <p:nvPr/>
        </p:nvSpPr>
        <p:spPr>
          <a:xfrm>
            <a:off x="1425353" y="2461721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8"/>
          <p:cNvSpPr/>
          <p:nvPr/>
        </p:nvSpPr>
        <p:spPr>
          <a:xfrm>
            <a:off x="1722160" y="2461800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49"/>
          <p:cNvSpPr/>
          <p:nvPr/>
        </p:nvSpPr>
        <p:spPr>
          <a:xfrm>
            <a:off x="2018967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315774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612581" y="2461800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909388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813587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4"/>
          <p:cNvSpPr/>
          <p:nvPr/>
        </p:nvSpPr>
        <p:spPr>
          <a:xfrm>
            <a:off x="5110394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5"/>
          <p:cNvSpPr/>
          <p:nvPr/>
        </p:nvSpPr>
        <p:spPr>
          <a:xfrm>
            <a:off x="5407201" y="3966344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6"/>
          <p:cNvSpPr/>
          <p:nvPr/>
        </p:nvSpPr>
        <p:spPr>
          <a:xfrm>
            <a:off x="5704008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7"/>
          <p:cNvSpPr/>
          <p:nvPr/>
        </p:nvSpPr>
        <p:spPr>
          <a:xfrm>
            <a:off x="6000815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8"/>
          <p:cNvSpPr/>
          <p:nvPr/>
        </p:nvSpPr>
        <p:spPr>
          <a:xfrm>
            <a:off x="6297622" y="3966344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59"/>
          <p:cNvSpPr/>
          <p:nvPr/>
        </p:nvSpPr>
        <p:spPr>
          <a:xfrm>
            <a:off x="6594429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0"/>
          <p:cNvSpPr/>
          <p:nvPr/>
        </p:nvSpPr>
        <p:spPr>
          <a:xfrm>
            <a:off x="6891236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1"/>
          <p:cNvSpPr/>
          <p:nvPr/>
        </p:nvSpPr>
        <p:spPr>
          <a:xfrm>
            <a:off x="7188043" y="3966344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2"/>
          <p:cNvSpPr/>
          <p:nvPr/>
        </p:nvSpPr>
        <p:spPr>
          <a:xfrm>
            <a:off x="7484850" y="3966265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3"/>
          <p:cNvSpPr/>
          <p:nvPr/>
        </p:nvSpPr>
        <p:spPr>
          <a:xfrm>
            <a:off x="4813587" y="4265112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4"/>
          <p:cNvSpPr/>
          <p:nvPr/>
        </p:nvSpPr>
        <p:spPr>
          <a:xfrm>
            <a:off x="5110394" y="4265112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5"/>
          <p:cNvSpPr/>
          <p:nvPr/>
        </p:nvSpPr>
        <p:spPr>
          <a:xfrm>
            <a:off x="5407201" y="4265192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6"/>
          <p:cNvSpPr/>
          <p:nvPr/>
        </p:nvSpPr>
        <p:spPr>
          <a:xfrm>
            <a:off x="5704008" y="4265112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7"/>
          <p:cNvSpPr/>
          <p:nvPr/>
        </p:nvSpPr>
        <p:spPr>
          <a:xfrm>
            <a:off x="6000815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297622" y="426519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594429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891236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188043" y="426519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484850" y="426511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813587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7" name="Shape 74"/>
          <p:cNvSpPr/>
          <p:nvPr/>
        </p:nvSpPr>
        <p:spPr>
          <a:xfrm>
            <a:off x="5110394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8" name="Shape 75"/>
          <p:cNvSpPr/>
          <p:nvPr/>
        </p:nvSpPr>
        <p:spPr>
          <a:xfrm>
            <a:off x="5407201" y="2162952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9" name="Shape 76"/>
          <p:cNvSpPr/>
          <p:nvPr/>
        </p:nvSpPr>
        <p:spPr>
          <a:xfrm>
            <a:off x="5704008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0" name="Shape 77"/>
          <p:cNvSpPr/>
          <p:nvPr/>
        </p:nvSpPr>
        <p:spPr>
          <a:xfrm>
            <a:off x="6000815" y="2162873"/>
            <a:ext cx="238125" cy="23812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1" name="Shape 78"/>
          <p:cNvSpPr/>
          <p:nvPr/>
        </p:nvSpPr>
        <p:spPr>
          <a:xfrm>
            <a:off x="6297622" y="216295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594429" y="2162873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891236" y="2162873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88043" y="2162952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484850" y="2162873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813587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110394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407201" y="2461800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5704008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000815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6297622" y="2461800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594429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891236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188043" y="2461800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484850" y="2461721"/>
            <a:ext cx="238125" cy="238125"/>
          </a:xfrm>
          <a:prstGeom prst="ellipse">
            <a:avLst/>
          </a:prstGeom>
          <a:solidFill>
            <a:srgbClr val="000000">
              <a:alpha val="0"/>
            </a:srgbClr>
          </a:solidFill>
          <a:ln w="10583">
            <a:solidFill>
              <a:srgbClr val="000000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4810125" y="542925"/>
            <a:ext cx="4572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25"/>
              </a:lnSpc>
            </a:pPr>
            <a:r>
              <a:rPr lang="en-US" sz="1400" b="0" u="sng" dirty="0">
                <a:solidFill>
                  <a:srgbClr val="E34024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Dot-voting</a:t>
            </a:r>
            <a:pPr algn="l">
              <a:lnSpc>
                <a:spcPts val="2025"/>
              </a:lnSpc>
            </a:pPr>
            <a:r>
              <a:rPr lang="en-US" sz="1400" b="0" dirty="0">
                <a:solidFill>
                  <a:srgbClr val="000000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participants vote on their chosen options using a limited number of votes.</a:t>
            </a:r>
            <a:endParaRPr lang="en-US" sz="1350" dirty="0"/>
          </a:p>
        </p:txBody>
      </p:sp>
      <p:pic>
        <p:nvPicPr>
          <p:cNvPr id="97" name="Image 0" descr="https://pitch-assets-ccb95893-de3f-4266-973c-20049231b248.s3.eu-west-1.amazonaws.com/try-pitch-pdf-export-logo.svg">
            <a:hlinkClick r:id="rId4" tooltip=""/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try-pitch-pdf-export-logo.svg">
            <a:hlinkClick r:id="rId3" tooltip=""/>
      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136595" y="4803153"/>
            <a:ext cx="515221" cy="2273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6460c841-16e2-479d-a42e-af151bd1f22b?pitch-bytes=1017276&amp;pitch-content-type=image%2F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2f9e2d8e-590b-4ba5-bf4d-045861e91daa?pitch-bytes=202963&amp;pitch-content-type=image%2F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44376" y="3373067"/>
            <a:ext cx="2856374" cy="457020"/>
          </a:xfrm>
          <a:prstGeom prst="rect">
            <a:avLst/>
          </a:prstGeom>
          <a:effectLst>
            <a:outerShdw sx="100000" sy="100000" kx="0" ky="0" algn="bl" rotWithShape="0" blurRad="152400" dist="50800" dir="378000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>PptxGenJS Presentation</dc:subject>
  <dc:creator>Pitch Software GmbH</dc:creator>
  <cp:lastModifiedBy>Pitch Software GmbH</cp:lastModifiedBy>
  <cp:revision>1</cp:revision>
  <dcterms:created xsi:type="dcterms:W3CDTF">2023-12-18T20:23:38Z</dcterms:created>
  <dcterms:modified xsi:type="dcterms:W3CDTF">2023-12-18T20:23:38Z</dcterms:modified>
</cp:coreProperties>
</file>