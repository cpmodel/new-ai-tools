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64" r:id="rId3"/>
    <p:sldId id="263" r:id="rId4"/>
    <p:sldId id="257" r:id="rId5"/>
    <p:sldId id="266" r:id="rId6"/>
    <p:sldId id="258" r:id="rId7"/>
    <p:sldId id="259" r:id="rId9"/>
    <p:sldId id="260" r:id="rId10"/>
  </p:sldIdLst>
  <p:sldSz cx="12192000" cy="6858000"/>
  <p:notesSz cx="6980238"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2" d="100"/>
          <a:sy n="102" d="100"/>
        </p:scale>
        <p:origin x="918" y="31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8"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tephen John Stretton" userId="da8c780b-1aa2-4e36-94fb-871dc8111504" providerId="ADAL" clId="{461C8D16-F91C-40AB-8163-8272BCB3CEB6}"/>
    <pc:docChg chg="modSld">
      <pc:chgData name="Stephen John Stretton" userId="da8c780b-1aa2-4e36-94fb-871dc8111504" providerId="ADAL" clId="{461C8D16-F91C-40AB-8163-8272BCB3CEB6}" dt="2026-05-21T21:13:33.252" v="1" actId="14100"/>
      <pc:docMkLst>
        <pc:docMk/>
      </pc:docMkLst>
      <pc:sldChg chg="modSp mod">
        <pc:chgData name="Stephen John Stretton" userId="da8c780b-1aa2-4e36-94fb-871dc8111504" providerId="ADAL" clId="{461C8D16-F91C-40AB-8163-8272BCB3CEB6}" dt="2026-05-21T21:13:33.252" v="1" actId="14100"/>
        <pc:sldMkLst>
          <pc:docMk/>
          <pc:sldMk cId="1294642696" sldId="262"/>
        </pc:sldMkLst>
        <pc:spChg chg="mod">
          <ac:chgData name="Stephen John Stretton" userId="da8c780b-1aa2-4e36-94fb-871dc8111504" providerId="ADAL" clId="{461C8D16-F91C-40AB-8163-8272BCB3CEB6}" dt="2026-05-21T21:13:33.252" v="1" actId="14100"/>
          <ac:spMkLst>
            <pc:docMk/>
            <pc:sldMk cId="1294642696" sldId="262"/>
            <ac:spMk id="10" creationId="{A81947C6-D60E-5958-EE2C-8484A93C9B5C}"/>
          </ac:spMkLst>
        </pc:spChg>
        <pc:spChg chg="mod">
          <ac:chgData name="Stephen John Stretton" userId="da8c780b-1aa2-4e36-94fb-871dc8111504" providerId="ADAL" clId="{461C8D16-F91C-40AB-8163-8272BCB3CEB6}" dt="2026-05-21T21:09:40.287" v="0" actId="14100"/>
          <ac:spMkLst>
            <pc:docMk/>
            <pc:sldMk cId="1294642696" sldId="262"/>
            <ac:spMk id="14" creationId="{8E4CA1FA-9750-042B-10E1-877AD56D572E}"/>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155742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4294967295"/>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0287AD-2185-708C-111C-602D35A20E11}"/>
            </a:ext>
          </a:extLst>
        </p:cNvPr>
        <p:cNvGrpSpPr/>
        <p:nvPr/>
      </p:nvGrpSpPr>
      <p:grpSpPr>
        <a:xfrm>
          <a:off x="0" y="0"/>
          <a:ext cx="0" cy="0"/>
          <a:chOff x="0" y="0"/>
          <a:chExt cx="0" cy="0"/>
        </a:xfrm>
      </p:grpSpPr>
      <p:sp>
        <p:nvSpPr>
          <p:cNvPr id="3" name="Notes Placeholder 2">
            <a:extLst>
              <a:ext uri="{FF2B5EF4-FFF2-40B4-BE49-F238E27FC236}">
                <a16:creationId xmlns:a16="http://schemas.microsoft.com/office/drawing/2014/main" id="{333BA0AF-F1AD-F368-FAE5-2428E66E52B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C04395C-B46E-4EB6-6E36-7F200F6B28B9}"/>
              </a:ext>
            </a:extLst>
          </p:cNvPr>
          <p:cNvSpPr>
            <a:spLocks noGrp="1"/>
          </p:cNvSpPr>
          <p:nvPr>
            <p:ph type="sldNum" sz="quarter" idx="4294967295"/>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6279975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4294967295"/>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4294967295"/>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4294967295"/>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4294967295"/>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A47"/>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D4A24C"/>
          </a:solidFill>
          <a:ln/>
        </p:spPr>
        <p:txBody>
          <a:bodyPr/>
          <a:lstStyle/>
          <a:p>
            <a:endParaRPr lang="en-US"/>
          </a:p>
        </p:txBody>
      </p:sp>
      <p:sp>
        <p:nvSpPr>
          <p:cNvPr id="3" name="Text 1"/>
          <p:cNvSpPr/>
          <p:nvPr/>
        </p:nvSpPr>
        <p:spPr>
          <a:xfrm>
            <a:off x="731520" y="1280160"/>
            <a:ext cx="10058400" cy="320040"/>
          </a:xfrm>
          <a:prstGeom prst="rect">
            <a:avLst/>
          </a:prstGeom>
          <a:noFill/>
          <a:ln/>
        </p:spPr>
        <p:txBody>
          <a:bodyPr wrap="square" lIns="0" tIns="0" rIns="0" bIns="0" rtlCol="0" anchor="ctr"/>
          <a:lstStyle/>
          <a:p>
            <a:pPr marL="0" indent="0">
              <a:buNone/>
            </a:pPr>
            <a:r>
              <a:rPr lang="en-US" sz="1200" b="1" kern="0" spc="800" dirty="0">
                <a:solidFill>
                  <a:srgbClr val="CADCFC"/>
                </a:solidFill>
                <a:latin typeface="Calibri" pitchFamily="34" charset="0"/>
                <a:ea typeface="Calibri" pitchFamily="34" charset="-122"/>
                <a:cs typeface="Calibri" pitchFamily="34" charset="-120"/>
              </a:rPr>
              <a:t>EXCISE DIAGNOSTIC — DRAFT FOR DISCUSSION</a:t>
            </a:r>
            <a:endParaRPr lang="en-US" sz="1200" dirty="0"/>
          </a:p>
        </p:txBody>
      </p:sp>
      <p:sp>
        <p:nvSpPr>
          <p:cNvPr id="4" name="Text 2"/>
          <p:cNvSpPr/>
          <p:nvPr/>
        </p:nvSpPr>
        <p:spPr>
          <a:xfrm>
            <a:off x="731520" y="1691640"/>
            <a:ext cx="10515600" cy="1280160"/>
          </a:xfrm>
          <a:prstGeom prst="rect">
            <a:avLst/>
          </a:prstGeom>
          <a:noFill/>
          <a:ln/>
        </p:spPr>
        <p:txBody>
          <a:bodyPr wrap="square" lIns="0" tIns="0" rIns="0" bIns="0" rtlCol="0" anchor="ctr"/>
          <a:lstStyle/>
          <a:p>
            <a:pPr marL="0" indent="0">
              <a:buNone/>
            </a:pPr>
            <a:r>
              <a:rPr lang="en-US" sz="4600" b="1" dirty="0">
                <a:solidFill>
                  <a:srgbClr val="FFFFFF"/>
                </a:solidFill>
                <a:latin typeface="Georgia" pitchFamily="34" charset="0"/>
                <a:ea typeface="Georgia" pitchFamily="34" charset="-122"/>
                <a:cs typeface="Georgia" pitchFamily="34" charset="-120"/>
              </a:rPr>
              <a:t>The Excise Diagnostic</a:t>
            </a:r>
            <a:endParaRPr lang="en-US" sz="4600" dirty="0"/>
          </a:p>
        </p:txBody>
      </p:sp>
      <p:sp>
        <p:nvSpPr>
          <p:cNvPr id="5" name="Text 3"/>
          <p:cNvSpPr/>
          <p:nvPr/>
        </p:nvSpPr>
        <p:spPr>
          <a:xfrm>
            <a:off x="731520" y="3063240"/>
            <a:ext cx="10515600" cy="914400"/>
          </a:xfrm>
          <a:prstGeom prst="rect">
            <a:avLst/>
          </a:prstGeom>
          <a:noFill/>
          <a:ln/>
        </p:spPr>
        <p:txBody>
          <a:bodyPr wrap="square" lIns="0" tIns="0" rIns="0" bIns="0" rtlCol="0" anchor="ctr"/>
          <a:lstStyle/>
          <a:p>
            <a:pPr marL="0" indent="0">
              <a:buNone/>
            </a:pPr>
            <a:r>
              <a:rPr lang="en-US" sz="1800" i="1" dirty="0">
                <a:solidFill>
                  <a:srgbClr val="CADCFC"/>
                </a:solidFill>
                <a:latin typeface="Calibri" pitchFamily="34" charset="0"/>
                <a:ea typeface="Calibri" pitchFamily="34" charset="-122"/>
                <a:cs typeface="Calibri" pitchFamily="34" charset="-120"/>
              </a:rPr>
              <a:t>A standalone, standardised read of a country's excise schedule — for country fiscal teams</a:t>
            </a:r>
            <a:endParaRPr lang="en-US" sz="1800" dirty="0"/>
          </a:p>
        </p:txBody>
      </p:sp>
      <p:sp>
        <p:nvSpPr>
          <p:cNvPr id="21" name="Text 19"/>
          <p:cNvSpPr/>
          <p:nvPr/>
        </p:nvSpPr>
        <p:spPr>
          <a:xfrm>
            <a:off x="731520" y="6263640"/>
            <a:ext cx="8229600" cy="274320"/>
          </a:xfrm>
          <a:prstGeom prst="rect">
            <a:avLst/>
          </a:prstGeom>
          <a:noFill/>
          <a:ln/>
        </p:spPr>
        <p:txBody>
          <a:bodyPr wrap="square" lIns="0" tIns="0" rIns="0" bIns="0" rtlCol="0" anchor="ctr"/>
          <a:lstStyle/>
          <a:p>
            <a:pPr marL="0" indent="0">
              <a:buNone/>
            </a:pPr>
            <a:r>
              <a:rPr lang="en-US" sz="1000" dirty="0">
                <a:solidFill>
                  <a:srgbClr val="CADCFC">
                    <a:alpha val="70000"/>
                  </a:srgbClr>
                </a:solidFill>
                <a:latin typeface="Calibri" pitchFamily="34" charset="0"/>
                <a:ea typeface="Calibri" pitchFamily="34" charset="-122"/>
                <a:cs typeface="Calibri" pitchFamily="34" charset="-120"/>
              </a:rPr>
              <a:t>World Bank · Fiscal Policy Unit · </a:t>
            </a:r>
            <a:r>
              <a:rPr lang="en-US" sz="1000">
                <a:solidFill>
                  <a:srgbClr val="CADCFC">
                    <a:alpha val="70000"/>
                  </a:srgbClr>
                </a:solidFill>
                <a:latin typeface="Calibri" pitchFamily="34" charset="0"/>
                <a:ea typeface="Calibri" pitchFamily="34" charset="-122"/>
                <a:cs typeface="Calibri" pitchFamily="34" charset="-120"/>
              </a:rPr>
              <a:t>Draft v0.2 </a:t>
            </a:r>
            <a:r>
              <a:rPr lang="en-US" sz="1000" dirty="0">
                <a:solidFill>
                  <a:srgbClr val="CADCFC">
                    <a:alpha val="70000"/>
                  </a:srgbClr>
                </a:solidFill>
                <a:latin typeface="Calibri" pitchFamily="34" charset="0"/>
                <a:ea typeface="Calibri" pitchFamily="34" charset="-122"/>
                <a:cs typeface="Calibri" pitchFamily="34" charset="-120"/>
              </a:rPr>
              <a:t>· May-June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Table of Contents">
    <p:bg>
      <p:bgPr>
        <a:solidFill>
          <a:srgbClr val="121A47"/>
        </a:solidFill>
        <a:effectLst/>
      </p:bgPr>
    </p:bg>
    <p:spTree>
      <p:nvGrpSpPr>
        <p:cNvPr id="1" name=""/>
        <p:cNvGrpSpPr/>
        <p:nvPr/>
      </p:nvGrpSpPr>
      <p:grpSpPr>
        <a:xfrm>
          <a:off x="0" y="0"/>
          <a:ext cx="0" cy="0"/>
          <a:chOff x="0" y="0"/>
          <a:chExt cx="0" cy="0"/>
        </a:xfrm>
      </p:grpSpPr>
      <p:sp>
        <p:nvSpPr>
          <p:cNvPr id="100" name="GoldBar"/>
          <p:cNvSpPr/>
          <p:nvPr/>
        </p:nvSpPr>
        <p:spPr>
          <a:xfrm>
            <a:off x="0" y="0"/>
            <a:ext cx="164592" cy="6858000"/>
          </a:xfrm>
          <a:prstGeom prst="rect">
            <a:avLst/>
          </a:prstGeom>
          <a:solidFill>
            <a:srgbClr val="D4A24C"/>
          </a:solidFill>
          <a:ln/>
        </p:spPr>
        <p:txBody>
          <a:bodyPr/>
          <a:lstStyle/>
          <a:p>
            <a:endParaRPr lang="en-US"/>
          </a:p>
        </p:txBody>
      </p:sp>
      <p:sp>
        <p:nvSpPr>
          <p:cNvPr id="101" name="Eyebrow"/>
          <p:cNvSpPr/>
          <p:nvPr/>
        </p:nvSpPr>
        <p:spPr>
          <a:xfrm>
            <a:off x="640080" y="411480"/>
            <a:ext cx="6000000" cy="274320"/>
          </a:xfrm>
          <a:prstGeom prst="rect">
            <a:avLst/>
          </a:prstGeom>
          <a:noFill/>
          <a:ln/>
        </p:spPr>
        <p:txBody>
          <a:bodyPr wrap="square" lIns="0" tIns="0" rIns="0" bIns="0" rtlCol="0" anchor="ctr"/>
          <a:lstStyle/>
          <a:p>
            <a:pPr marL="0" indent="0" algn="l">
              <a:buNone/>
            </a:pPr>
            <a:r>
              <a:rPr lang="en-US" sz="1100" b="1" kern="0" spc="600" dirty="0">
                <a:solidFill>
                  <a:srgbClr val="D4A24C"/>
                </a:solidFill>
                <a:latin typeface="Calibri" pitchFamily="34" charset="0"/>
                <a:ea typeface="Calibri" pitchFamily="34" charset="-122"/>
                <a:cs typeface="Calibri" pitchFamily="34" charset="-120"/>
              </a:rPr>
              <a:t>CONTENTS</a:t>
            </a:r>
            <a:endParaRPr lang="en-US" dirty="0"/>
          </a:p>
        </p:txBody>
      </p:sp>
      <p:sp>
        <p:nvSpPr>
          <p:cNvPr id="102" name="Title"/>
          <p:cNvSpPr/>
          <p:nvPr/>
        </p:nvSpPr>
        <p:spPr>
          <a:xfrm>
            <a:off x="640080" y="713232"/>
            <a:ext cx="10972800" cy="777240"/>
          </a:xfrm>
          <a:prstGeom prst="rect">
            <a:avLst/>
          </a:prstGeom>
          <a:noFill/>
          <a:ln/>
        </p:spPr>
        <p:txBody>
          <a:bodyPr wrap="square" lIns="0" tIns="0" rIns="0" bIns="0" rtlCol="0" anchor="ctr"/>
          <a:lstStyle/>
          <a:p>
            <a:pPr marL="0" indent="0" algn="l">
              <a:buNone/>
            </a:pPr>
            <a:r>
              <a:rPr lang="en-US" sz="3200" b="1" kern="0" dirty="0">
                <a:solidFill>
                  <a:srgbClr val="FFFFFF"/>
                </a:solidFill>
                <a:latin typeface="Georgia" pitchFamily="34" charset="0"/>
                <a:ea typeface="Georgia" pitchFamily="34" charset="-122"/>
                <a:cs typeface="Georgia" pitchFamily="34" charset="-120"/>
              </a:rPr>
              <a:t>Table of Contents</a:t>
            </a:r>
            <a:endParaRPr lang="en-US" dirty="0"/>
          </a:p>
        </p:txBody>
      </p:sp>
      <p:sp>
        <p:nvSpPr>
          <p:cNvPr id="103" name="Intro"/>
          <p:cNvSpPr/>
          <p:nvPr/>
        </p:nvSpPr>
        <p:spPr>
          <a:xfrm>
            <a:off x="640080" y="1554480"/>
            <a:ext cx="10972800" cy="320040"/>
          </a:xfrm>
          <a:prstGeom prst="rect">
            <a:avLst/>
          </a:prstGeom>
          <a:noFill/>
          <a:ln/>
        </p:spPr>
        <p:txBody>
          <a:bodyPr wrap="square" lIns="0" tIns="0" rIns="0" bIns="0" rtlCol="0" anchor="ctr"/>
          <a:lstStyle/>
          <a:p>
            <a:pPr marL="0" indent="0" algn="l">
              <a:buNone/>
            </a:pPr>
            <a:r>
              <a:rPr lang="en-US" sz="1300" i="1" kern="0" dirty="0">
                <a:solidFill>
                  <a:srgbClr val="CADCFC"/>
                </a:solidFill>
                <a:latin typeface="Calibri" pitchFamily="34" charset="0"/>
                <a:ea typeface="Calibri" pitchFamily="34" charset="-122"/>
                <a:cs typeface="Calibri" pitchFamily="34" charset="-120"/>
              </a:rPr>
              <a:t>A standalone excise diagnostic — a structured, standardised read of a country's excise schedule</a:t>
            </a:r>
            <a:endParaRPr lang="en-US" dirty="0"/>
          </a:p>
        </p:txBody>
      </p:sp>
      <p:sp>
        <p:nvSpPr>
          <p:cNvPr id="200" name="NumCircle03"/>
          <p:cNvSpPr/>
          <p:nvPr/>
        </p:nvSpPr>
        <p:spPr>
          <a:xfrm>
            <a:off x="640080" y="1950000"/>
            <a:ext cx="411480" cy="411480"/>
          </a:xfrm>
          <a:prstGeom prst="ellipse">
            <a:avLst/>
          </a:prstGeom>
          <a:solidFill>
            <a:srgbClr val="D4A24C"/>
          </a:solidFill>
          <a:ln/>
        </p:spPr>
        <p:txBody>
          <a:bodyPr/>
          <a:lstStyle/>
          <a:p>
            <a:endParaRPr lang="en-US"/>
          </a:p>
        </p:txBody>
      </p:sp>
      <p:sp>
        <p:nvSpPr>
          <p:cNvPr id="201" name="NumText03"/>
          <p:cNvSpPr/>
          <p:nvPr/>
        </p:nvSpPr>
        <p:spPr>
          <a:xfrm>
            <a:off x="640080" y="1950000"/>
            <a:ext cx="411480" cy="411480"/>
          </a:xfrm>
          <a:prstGeom prst="rect">
            <a:avLst/>
          </a:prstGeom>
          <a:noFill/>
          <a:ln/>
        </p:spPr>
        <p:txBody>
          <a:bodyPr wrap="square" lIns="0" tIns="0" rIns="0" bIns="0" rtlCol="0" anchor="ctr"/>
          <a:lstStyle/>
          <a:p>
            <a:pPr marL="0" indent="0" algn="ctr">
              <a:buNone/>
            </a:pPr>
            <a:r>
              <a:rPr lang="en-US" sz="1400" b="1" kern="0" dirty="0">
                <a:solidFill>
                  <a:srgbClr val="121A47"/>
                </a:solidFill>
                <a:latin typeface="Georgia" pitchFamily="34" charset="0"/>
                <a:ea typeface="Georgia" pitchFamily="34" charset="-122"/>
                <a:cs typeface="Georgia" pitchFamily="34" charset="-120"/>
              </a:rPr>
              <a:t>01</a:t>
            </a:r>
          </a:p>
        </p:txBody>
      </p:sp>
      <p:sp>
        <p:nvSpPr>
          <p:cNvPr id="202" name="ItemTitle"/>
          <p:cNvSpPr/>
          <p:nvPr/>
        </p:nvSpPr>
        <p:spPr>
          <a:xfrm>
            <a:off x="1234440" y="1932000"/>
            <a:ext cx="4617720" cy="300000"/>
          </a:xfrm>
          <a:prstGeom prst="rect">
            <a:avLst/>
          </a:prstGeom>
          <a:noFill/>
          <a:ln/>
        </p:spPr>
        <p:txBody>
          <a:bodyPr wrap="square" lIns="0" tIns="0" rIns="0" bIns="0" rtlCol="0" anchor="b"/>
          <a:lstStyle/>
          <a:p>
            <a:pPr marL="0" indent="0" algn="l">
              <a:buNone/>
            </a:pPr>
            <a:r>
              <a:rPr lang="en-US" sz="1500" b="1" kern="0" dirty="0">
                <a:solidFill>
                  <a:srgbClr val="FFFFFF"/>
                </a:solidFill>
                <a:latin typeface="Calibri" pitchFamily="34" charset="0"/>
                <a:ea typeface="Calibri" pitchFamily="34" charset="-122"/>
                <a:cs typeface="Calibri" pitchFamily="34" charset="-120"/>
              </a:rPr>
              <a:t>Overview</a:t>
            </a:r>
          </a:p>
        </p:txBody>
      </p:sp>
      <p:sp>
        <p:nvSpPr>
          <p:cNvPr id="203" name="ItemSub"/>
          <p:cNvSpPr/>
          <p:nvPr/>
        </p:nvSpPr>
        <p:spPr>
          <a:xfrm>
            <a:off x="1234440" y="2250000"/>
            <a:ext cx="4900000" cy="300000"/>
          </a:xfrm>
          <a:prstGeom prst="rect">
            <a:avLst/>
          </a:prstGeom>
          <a:noFill/>
          <a:ln/>
        </p:spPr>
        <p:txBody>
          <a:bodyPr wrap="square" lIns="0" tIns="0" rIns="0" bIns="0" rtlCol="0" anchor="t"/>
          <a:lstStyle/>
          <a:p>
            <a:pPr marL="0" indent="0" algn="l">
              <a:buNone/>
            </a:pPr>
            <a:r>
              <a:rPr lang="en-US" sz="1100" kern="0" dirty="0">
                <a:solidFill>
                  <a:srgbClr val="CADCFC"/>
                </a:solidFill>
                <a:latin typeface="Calibri" pitchFamily="34" charset="0"/>
                <a:ea typeface="Calibri" pitchFamily="34" charset="-122"/>
                <a:cs typeface="Calibri" pitchFamily="34" charset="-120"/>
              </a:rPr>
              <a:t>Purpose, context, definition and scope</a:t>
            </a:r>
          </a:p>
        </p:txBody>
      </p:sp>
      <p:sp>
        <p:nvSpPr>
          <p:cNvPr id="204" name="NumCircle04"/>
          <p:cNvSpPr/>
          <p:nvPr/>
        </p:nvSpPr>
        <p:spPr>
          <a:xfrm>
            <a:off x="640080" y="2870000"/>
            <a:ext cx="411480" cy="411480"/>
          </a:xfrm>
          <a:prstGeom prst="ellipse">
            <a:avLst/>
          </a:prstGeom>
          <a:solidFill>
            <a:srgbClr val="D4A24C"/>
          </a:solidFill>
          <a:ln/>
        </p:spPr>
        <p:txBody>
          <a:bodyPr/>
          <a:lstStyle/>
          <a:p>
            <a:endParaRPr lang="en-US"/>
          </a:p>
        </p:txBody>
      </p:sp>
      <p:sp>
        <p:nvSpPr>
          <p:cNvPr id="205" name="NumText04"/>
          <p:cNvSpPr/>
          <p:nvPr/>
        </p:nvSpPr>
        <p:spPr>
          <a:xfrm>
            <a:off x="640080" y="2870000"/>
            <a:ext cx="411480" cy="411480"/>
          </a:xfrm>
          <a:prstGeom prst="rect">
            <a:avLst/>
          </a:prstGeom>
          <a:noFill/>
          <a:ln/>
        </p:spPr>
        <p:txBody>
          <a:bodyPr wrap="square" lIns="0" tIns="0" rIns="0" bIns="0" rtlCol="0" anchor="ctr"/>
          <a:lstStyle/>
          <a:p>
            <a:pPr marL="0" indent="0" algn="ctr">
              <a:buNone/>
            </a:pPr>
            <a:r>
              <a:rPr lang="en-US" sz="1400" b="1" kern="0" dirty="0">
                <a:solidFill>
                  <a:srgbClr val="121A47"/>
                </a:solidFill>
                <a:latin typeface="Georgia" pitchFamily="34" charset="0"/>
                <a:ea typeface="Georgia" pitchFamily="34" charset="-122"/>
                <a:cs typeface="Georgia" pitchFamily="34" charset="-120"/>
              </a:rPr>
              <a:t>02</a:t>
            </a:r>
          </a:p>
        </p:txBody>
      </p:sp>
      <p:sp>
        <p:nvSpPr>
          <p:cNvPr id="206" name="ItemTitle"/>
          <p:cNvSpPr/>
          <p:nvPr/>
        </p:nvSpPr>
        <p:spPr>
          <a:xfrm>
            <a:off x="1234440" y="2852000"/>
            <a:ext cx="4617720" cy="300000"/>
          </a:xfrm>
          <a:prstGeom prst="rect">
            <a:avLst/>
          </a:prstGeom>
          <a:noFill/>
          <a:ln/>
        </p:spPr>
        <p:txBody>
          <a:bodyPr wrap="square" lIns="0" tIns="0" rIns="0" bIns="0" rtlCol="0" anchor="b"/>
          <a:lstStyle/>
          <a:p>
            <a:pPr marL="0" indent="0" algn="l">
              <a:buNone/>
            </a:pPr>
            <a:r>
              <a:rPr lang="en-US" sz="1500" b="1" kern="0" dirty="0">
                <a:solidFill>
                  <a:srgbClr val="FFFFFF"/>
                </a:solidFill>
                <a:latin typeface="Calibri" pitchFamily="34" charset="0"/>
                <a:ea typeface="Calibri" pitchFamily="34" charset="-122"/>
                <a:cs typeface="Calibri" pitchFamily="34" charset="-120"/>
              </a:rPr>
              <a:t>Why it's needed</a:t>
            </a:r>
          </a:p>
        </p:txBody>
      </p:sp>
      <p:sp>
        <p:nvSpPr>
          <p:cNvPr id="207" name="ItemSub"/>
          <p:cNvSpPr/>
          <p:nvPr/>
        </p:nvSpPr>
        <p:spPr>
          <a:xfrm>
            <a:off x="1234440" y="3170000"/>
            <a:ext cx="4900000" cy="300000"/>
          </a:xfrm>
          <a:prstGeom prst="rect">
            <a:avLst/>
          </a:prstGeom>
          <a:noFill/>
          <a:ln/>
        </p:spPr>
        <p:txBody>
          <a:bodyPr wrap="square" lIns="0" tIns="0" rIns="0" bIns="0" rtlCol="0" anchor="t"/>
          <a:lstStyle/>
          <a:p>
            <a:pPr marL="0" indent="0" algn="l">
              <a:buNone/>
            </a:pPr>
            <a:r>
              <a:rPr lang="en-US" sz="1100" kern="0" dirty="0">
                <a:solidFill>
                  <a:srgbClr val="CADCFC"/>
                </a:solidFill>
                <a:latin typeface="Calibri" pitchFamily="34" charset="0"/>
                <a:ea typeface="Calibri" pitchFamily="34" charset="-122"/>
                <a:cs typeface="Calibri" pitchFamily="34" charset="-120"/>
              </a:rPr>
              <a:t>The instrument-legibility gap, and what the diagnostic delivers</a:t>
            </a:r>
          </a:p>
        </p:txBody>
      </p:sp>
      <p:sp>
        <p:nvSpPr>
          <p:cNvPr id="208" name="NumCircle05"/>
          <p:cNvSpPr/>
          <p:nvPr/>
        </p:nvSpPr>
        <p:spPr>
          <a:xfrm>
            <a:off x="640080" y="3790000"/>
            <a:ext cx="411480" cy="411480"/>
          </a:xfrm>
          <a:prstGeom prst="ellipse">
            <a:avLst/>
          </a:prstGeom>
          <a:solidFill>
            <a:srgbClr val="D4A24C"/>
          </a:solidFill>
          <a:ln/>
        </p:spPr>
        <p:txBody>
          <a:bodyPr/>
          <a:lstStyle/>
          <a:p>
            <a:endParaRPr lang="en-US"/>
          </a:p>
        </p:txBody>
      </p:sp>
      <p:sp>
        <p:nvSpPr>
          <p:cNvPr id="209" name="NumText05"/>
          <p:cNvSpPr/>
          <p:nvPr/>
        </p:nvSpPr>
        <p:spPr>
          <a:xfrm>
            <a:off x="640080" y="3790000"/>
            <a:ext cx="411480" cy="411480"/>
          </a:xfrm>
          <a:prstGeom prst="rect">
            <a:avLst/>
          </a:prstGeom>
          <a:noFill/>
          <a:ln/>
        </p:spPr>
        <p:txBody>
          <a:bodyPr wrap="square" lIns="0" tIns="0" rIns="0" bIns="0" rtlCol="0" anchor="ctr"/>
          <a:lstStyle/>
          <a:p>
            <a:pPr marL="0" indent="0" algn="ctr">
              <a:buNone/>
            </a:pPr>
            <a:r>
              <a:rPr lang="en-US" sz="1400" b="1" kern="0" dirty="0">
                <a:solidFill>
                  <a:srgbClr val="121A47"/>
                </a:solidFill>
                <a:latin typeface="Georgia" pitchFamily="34" charset="0"/>
                <a:ea typeface="Georgia" pitchFamily="34" charset="-122"/>
                <a:cs typeface="Georgia" pitchFamily="34" charset="-120"/>
              </a:rPr>
              <a:t>03</a:t>
            </a:r>
          </a:p>
        </p:txBody>
      </p:sp>
      <p:sp>
        <p:nvSpPr>
          <p:cNvPr id="210" name="ItemTitle"/>
          <p:cNvSpPr/>
          <p:nvPr/>
        </p:nvSpPr>
        <p:spPr>
          <a:xfrm>
            <a:off x="1234440" y="3772000"/>
            <a:ext cx="4617720" cy="300000"/>
          </a:xfrm>
          <a:prstGeom prst="rect">
            <a:avLst/>
          </a:prstGeom>
          <a:noFill/>
          <a:ln/>
        </p:spPr>
        <p:txBody>
          <a:bodyPr wrap="square" lIns="0" tIns="0" rIns="0" bIns="0" rtlCol="0" anchor="b"/>
          <a:lstStyle/>
          <a:p>
            <a:pPr marL="0" indent="0" algn="l">
              <a:buNone/>
            </a:pPr>
            <a:r>
              <a:rPr lang="en-US" sz="1500" b="1" kern="0" dirty="0">
                <a:solidFill>
                  <a:srgbClr val="FFFFFF"/>
                </a:solidFill>
                <a:latin typeface="Calibri" pitchFamily="34" charset="0"/>
                <a:ea typeface="Calibri" pitchFamily="34" charset="-122"/>
                <a:cs typeface="Calibri" pitchFamily="34" charset="-120"/>
              </a:rPr>
              <a:t>Key questions</a:t>
            </a:r>
          </a:p>
        </p:txBody>
      </p:sp>
      <p:sp>
        <p:nvSpPr>
          <p:cNvPr id="211" name="ItemSub"/>
          <p:cNvSpPr/>
          <p:nvPr/>
        </p:nvSpPr>
        <p:spPr>
          <a:xfrm>
            <a:off x="1234440" y="4090000"/>
            <a:ext cx="4900000" cy="300000"/>
          </a:xfrm>
          <a:prstGeom prst="rect">
            <a:avLst/>
          </a:prstGeom>
          <a:noFill/>
          <a:ln/>
        </p:spPr>
        <p:txBody>
          <a:bodyPr wrap="square" lIns="0" tIns="0" rIns="0" bIns="0" rtlCol="0" anchor="t"/>
          <a:lstStyle/>
          <a:p>
            <a:pPr marL="0" indent="0" algn="l">
              <a:buNone/>
            </a:pPr>
            <a:r>
              <a:rPr lang="en-US" sz="1100" kern="0" dirty="0">
                <a:solidFill>
                  <a:srgbClr val="CADCFC"/>
                </a:solidFill>
                <a:latin typeface="Calibri" pitchFamily="34" charset="0"/>
                <a:ea typeface="Calibri" pitchFamily="34" charset="-122"/>
                <a:cs typeface="Calibri" pitchFamily="34" charset="-120"/>
              </a:rPr>
              <a:t>The seven questions the diagnostic answers</a:t>
            </a:r>
          </a:p>
        </p:txBody>
      </p:sp>
      <p:sp>
        <p:nvSpPr>
          <p:cNvPr id="212" name="NumCircle06"/>
          <p:cNvSpPr/>
          <p:nvPr/>
        </p:nvSpPr>
        <p:spPr>
          <a:xfrm>
            <a:off x="640080" y="4710000"/>
            <a:ext cx="411480" cy="411480"/>
          </a:xfrm>
          <a:prstGeom prst="ellipse">
            <a:avLst/>
          </a:prstGeom>
          <a:solidFill>
            <a:srgbClr val="D4A24C"/>
          </a:solidFill>
          <a:ln/>
        </p:spPr>
        <p:txBody>
          <a:bodyPr/>
          <a:lstStyle/>
          <a:p>
            <a:endParaRPr lang="en-US"/>
          </a:p>
        </p:txBody>
      </p:sp>
      <p:sp>
        <p:nvSpPr>
          <p:cNvPr id="213" name="NumText06"/>
          <p:cNvSpPr/>
          <p:nvPr/>
        </p:nvSpPr>
        <p:spPr>
          <a:xfrm>
            <a:off x="640080" y="4710000"/>
            <a:ext cx="411480" cy="411480"/>
          </a:xfrm>
          <a:prstGeom prst="rect">
            <a:avLst/>
          </a:prstGeom>
          <a:noFill/>
          <a:ln/>
        </p:spPr>
        <p:txBody>
          <a:bodyPr wrap="square" lIns="0" tIns="0" rIns="0" bIns="0" rtlCol="0" anchor="ctr"/>
          <a:lstStyle/>
          <a:p>
            <a:pPr marL="0" indent="0" algn="ctr">
              <a:buNone/>
            </a:pPr>
            <a:r>
              <a:rPr lang="en-US" sz="1400" b="1" kern="0" dirty="0">
                <a:solidFill>
                  <a:srgbClr val="121A47"/>
                </a:solidFill>
                <a:latin typeface="Georgia" pitchFamily="34" charset="0"/>
                <a:ea typeface="Georgia" pitchFamily="34" charset="-122"/>
                <a:cs typeface="Georgia" pitchFamily="34" charset="-120"/>
              </a:rPr>
              <a:t>04</a:t>
            </a:r>
          </a:p>
        </p:txBody>
      </p:sp>
      <p:sp>
        <p:nvSpPr>
          <p:cNvPr id="214" name="ItemTitle"/>
          <p:cNvSpPr/>
          <p:nvPr/>
        </p:nvSpPr>
        <p:spPr>
          <a:xfrm>
            <a:off x="1234440" y="4692000"/>
            <a:ext cx="4617720" cy="300000"/>
          </a:xfrm>
          <a:prstGeom prst="rect">
            <a:avLst/>
          </a:prstGeom>
          <a:noFill/>
          <a:ln/>
        </p:spPr>
        <p:txBody>
          <a:bodyPr wrap="square" lIns="0" tIns="0" rIns="0" bIns="0" rtlCol="0" anchor="b"/>
          <a:lstStyle/>
          <a:p>
            <a:pPr marL="0" indent="0" algn="l">
              <a:buNone/>
            </a:pPr>
            <a:r>
              <a:rPr lang="en-US" sz="1500" b="1" kern="0" dirty="0">
                <a:solidFill>
                  <a:srgbClr val="FFFFFF"/>
                </a:solidFill>
                <a:latin typeface="Calibri" pitchFamily="34" charset="0"/>
                <a:ea typeface="Calibri" pitchFamily="34" charset="-122"/>
                <a:cs typeface="Calibri" pitchFamily="34" charset="-120"/>
              </a:rPr>
              <a:t>Method</a:t>
            </a:r>
          </a:p>
        </p:txBody>
      </p:sp>
      <p:sp>
        <p:nvSpPr>
          <p:cNvPr id="215" name="ItemSub"/>
          <p:cNvSpPr/>
          <p:nvPr/>
        </p:nvSpPr>
        <p:spPr>
          <a:xfrm>
            <a:off x="1234440" y="5010000"/>
            <a:ext cx="4900000" cy="300000"/>
          </a:xfrm>
          <a:prstGeom prst="rect">
            <a:avLst/>
          </a:prstGeom>
          <a:noFill/>
          <a:ln/>
        </p:spPr>
        <p:txBody>
          <a:bodyPr wrap="square" lIns="0" tIns="0" rIns="0" bIns="0" rtlCol="0" anchor="t"/>
          <a:lstStyle/>
          <a:p>
            <a:pPr marL="0" indent="0" algn="l">
              <a:buNone/>
            </a:pPr>
            <a:r>
              <a:rPr lang="en-US" sz="1100" kern="0" dirty="0">
                <a:solidFill>
                  <a:srgbClr val="CADCFC"/>
                </a:solidFill>
                <a:latin typeface="Calibri" pitchFamily="34" charset="0"/>
                <a:ea typeface="Calibri" pitchFamily="34" charset="-122"/>
                <a:cs typeface="Calibri" pitchFamily="34" charset="-120"/>
              </a:rPr>
              <a:t>Typology, three measures, four-level report</a:t>
            </a:r>
          </a:p>
        </p:txBody>
      </p:sp>
      <p:sp>
        <p:nvSpPr>
          <p:cNvPr id="216" name="NumCircle07"/>
          <p:cNvSpPr/>
          <p:nvPr/>
        </p:nvSpPr>
        <p:spPr>
          <a:xfrm>
            <a:off x="640080" y="5630000"/>
            <a:ext cx="411480" cy="411480"/>
          </a:xfrm>
          <a:prstGeom prst="ellipse">
            <a:avLst/>
          </a:prstGeom>
          <a:solidFill>
            <a:srgbClr val="D4A24C"/>
          </a:solidFill>
          <a:ln/>
        </p:spPr>
        <p:txBody>
          <a:bodyPr/>
          <a:lstStyle/>
          <a:p>
            <a:endParaRPr lang="en-US"/>
          </a:p>
        </p:txBody>
      </p:sp>
      <p:sp>
        <p:nvSpPr>
          <p:cNvPr id="217" name="NumText07"/>
          <p:cNvSpPr/>
          <p:nvPr/>
        </p:nvSpPr>
        <p:spPr>
          <a:xfrm>
            <a:off x="640080" y="5630000"/>
            <a:ext cx="411480" cy="411480"/>
          </a:xfrm>
          <a:prstGeom prst="rect">
            <a:avLst/>
          </a:prstGeom>
          <a:noFill/>
          <a:ln/>
        </p:spPr>
        <p:txBody>
          <a:bodyPr wrap="square" lIns="0" tIns="0" rIns="0" bIns="0" rtlCol="0" anchor="ctr"/>
          <a:lstStyle/>
          <a:p>
            <a:pPr marL="0" indent="0" algn="ctr">
              <a:buNone/>
            </a:pPr>
            <a:r>
              <a:rPr lang="en-US" sz="1400" b="1" kern="0" dirty="0">
                <a:solidFill>
                  <a:srgbClr val="121A47"/>
                </a:solidFill>
                <a:latin typeface="Georgia" pitchFamily="34" charset="0"/>
                <a:ea typeface="Georgia" pitchFamily="34" charset="-122"/>
                <a:cs typeface="Georgia" pitchFamily="34" charset="-120"/>
              </a:rPr>
              <a:t>05</a:t>
            </a:r>
          </a:p>
        </p:txBody>
      </p:sp>
      <p:sp>
        <p:nvSpPr>
          <p:cNvPr id="218" name="ItemTitle"/>
          <p:cNvSpPr/>
          <p:nvPr/>
        </p:nvSpPr>
        <p:spPr>
          <a:xfrm>
            <a:off x="1234440" y="5612000"/>
            <a:ext cx="4617720" cy="300000"/>
          </a:xfrm>
          <a:prstGeom prst="rect">
            <a:avLst/>
          </a:prstGeom>
          <a:noFill/>
          <a:ln/>
        </p:spPr>
        <p:txBody>
          <a:bodyPr wrap="square" lIns="0" tIns="0" rIns="0" bIns="0" rtlCol="0" anchor="b"/>
          <a:lstStyle/>
          <a:p>
            <a:pPr marL="0" indent="0" algn="l">
              <a:buNone/>
            </a:pPr>
            <a:r>
              <a:rPr lang="en-US" sz="1500" b="1" kern="0" dirty="0">
                <a:solidFill>
                  <a:srgbClr val="FFFFFF"/>
                </a:solidFill>
                <a:latin typeface="Calibri" pitchFamily="34" charset="0"/>
                <a:ea typeface="Calibri" pitchFamily="34" charset="-122"/>
                <a:cs typeface="Calibri" pitchFamily="34" charset="-120"/>
              </a:rPr>
              <a:t>Examples</a:t>
            </a:r>
          </a:p>
        </p:txBody>
      </p:sp>
      <p:sp>
        <p:nvSpPr>
          <p:cNvPr id="219" name="ItemSub"/>
          <p:cNvSpPr/>
          <p:nvPr/>
        </p:nvSpPr>
        <p:spPr>
          <a:xfrm>
            <a:off x="1234440" y="5930000"/>
            <a:ext cx="4900000" cy="300000"/>
          </a:xfrm>
          <a:prstGeom prst="rect">
            <a:avLst/>
          </a:prstGeom>
          <a:noFill/>
          <a:ln/>
        </p:spPr>
        <p:txBody>
          <a:bodyPr wrap="square" lIns="0" tIns="0" rIns="0" bIns="0" rtlCol="0" anchor="t"/>
          <a:lstStyle/>
          <a:p>
            <a:pPr marL="0" indent="0" algn="l">
              <a:buNone/>
            </a:pPr>
            <a:r>
              <a:rPr lang="en-US" sz="1100" kern="0" dirty="0">
                <a:solidFill>
                  <a:srgbClr val="CADCFC"/>
                </a:solidFill>
                <a:latin typeface="Calibri" pitchFamily="34" charset="0"/>
                <a:ea typeface="Calibri" pitchFamily="34" charset="-122"/>
                <a:cs typeface="Calibri" pitchFamily="34" charset="-120"/>
              </a:rPr>
              <a:t>Two worked diagnostics — Uganda and Sierra Leone</a:t>
            </a:r>
          </a:p>
        </p:txBody>
      </p:sp>
      <p:sp>
        <p:nvSpPr>
          <p:cNvPr id="136" name="Footer"/>
          <p:cNvSpPr/>
          <p:nvPr/>
        </p:nvSpPr>
        <p:spPr>
          <a:xfrm>
            <a:off x="640080" y="6565392"/>
            <a:ext cx="10972800" cy="228600"/>
          </a:xfrm>
          <a:prstGeom prst="rect">
            <a:avLst/>
          </a:prstGeom>
          <a:noFill/>
          <a:ln/>
        </p:spPr>
        <p:txBody>
          <a:bodyPr wrap="square" lIns="0" tIns="0" rIns="0" bIns="0" rtlCol="0" anchor="ctr"/>
          <a:lstStyle/>
          <a:p>
            <a:pPr marL="0" indent="0" algn="l">
              <a:buNone/>
            </a:pPr>
            <a:r>
              <a:rPr lang="en-US" sz="900" kern="0" dirty="0">
                <a:solidFill>
                  <a:srgbClr val="CADCFC"/>
                </a:solidFill>
                <a:latin typeface="Calibri" pitchFamily="34" charset="0"/>
                <a:ea typeface="Calibri" pitchFamily="34" charset="-122"/>
                <a:cs typeface="Calibri" pitchFamily="34" charset="-120"/>
              </a:rPr>
              <a:t>Excise Diagnostic  ·  02 / 08</a:t>
            </a:r>
            <a:endParaRPr lang="en-US" dirty="0"/>
          </a:p>
        </p:txBody>
      </p:sp>
      <p:sp>
        <p:nvSpPr>
          <p:cNvPr id="1000" name="NumCircle05"/>
          <p:cNvSpPr/>
          <p:nvPr/>
        </p:nvSpPr>
        <p:spPr>
          <a:xfrm>
            <a:off x="640080" y="4521520"/>
            <a:ext cx="411480" cy="411480"/>
          </a:xfrm>
          <a:prstGeom prst="ellipse">
            <a:avLst/>
          </a:prstGeom>
          <a:solidFill>
            <a:srgbClr val="D4A24C"/>
          </a:solidFill>
          <a:ln/>
        </p:spPr>
        <p:txBody>
          <a:bodyPr/>
          <a:lstStyle/>
          <a:p>
            <a:endParaRPr lang="en-US"/>
          </a:p>
        </p:txBody>
      </p:sp>
      <p:sp>
        <p:nvSpPr>
          <p:cNvPr id="1001" name="NumText05"/>
          <p:cNvSpPr/>
          <p:nvPr/>
        </p:nvSpPr>
        <p:spPr>
          <a:xfrm>
            <a:off x="640080" y="4521520"/>
            <a:ext cx="411480" cy="411480"/>
          </a:xfrm>
          <a:prstGeom prst="rect">
            <a:avLst/>
          </a:prstGeom>
          <a:noFill/>
          <a:ln/>
        </p:spPr>
        <p:txBody>
          <a:bodyPr wrap="square" lIns="0" tIns="0" rIns="0" bIns="0" rtlCol="0" anchor="ctr"/>
          <a:lstStyle/>
          <a:p>
            <a:pPr marL="0" indent="0" algn="ctr">
              <a:buNone/>
            </a:pPr>
            <a:r>
              <a:rPr lang="en-US" sz="1400" b="1" kern="0" dirty="0">
                <a:solidFill>
                  <a:srgbClr val="121A47"/>
                </a:solidFill>
                <a:latin typeface="Georgia" pitchFamily="34" charset="0"/>
                <a:ea typeface="Georgia" pitchFamily="34" charset="-122"/>
                <a:cs typeface="Georgia" pitchFamily="34" charset="-120"/>
              </a:rPr>
              <a:t>06</a:t>
            </a:r>
          </a:p>
        </p:txBody>
      </p:sp>
      <p:sp>
        <p:nvSpPr>
          <p:cNvPr id="1002" name="ItemTitle"/>
          <p:cNvSpPr/>
          <p:nvPr/>
        </p:nvSpPr>
        <p:spPr>
          <a:xfrm>
            <a:off x="1234440" y="4503520"/>
            <a:ext cx="4617720" cy="300000"/>
          </a:xfrm>
          <a:prstGeom prst="rect">
            <a:avLst/>
          </a:prstGeom>
          <a:noFill/>
          <a:ln/>
        </p:spPr>
        <p:txBody>
          <a:bodyPr wrap="square" lIns="0" tIns="0" rIns="0" bIns="0" rtlCol="0" anchor="b"/>
          <a:lstStyle/>
          <a:p>
            <a:pPr marL="0" indent="0" algn="l">
              <a:buNone/>
            </a:pPr>
            <a:r>
              <a:rPr lang="en-US" sz="1500" b="1" kern="0" dirty="0">
                <a:solidFill>
                  <a:srgbClr val="FFFFFF"/>
                </a:solidFill>
                <a:latin typeface="Calibri" pitchFamily="34" charset="0"/>
                <a:ea typeface="Calibri" pitchFamily="34" charset="-122"/>
                <a:cs typeface="Calibri" pitchFamily="34" charset="-120"/>
              </a:rPr>
              <a:t>Conclusion</a:t>
            </a:r>
          </a:p>
        </p:txBody>
      </p:sp>
      <p:sp>
        <p:nvSpPr>
          <p:cNvPr id="1003" name="ItemSub"/>
          <p:cNvSpPr/>
          <p:nvPr/>
        </p:nvSpPr>
        <p:spPr>
          <a:xfrm>
            <a:off x="1234440" y="4821520"/>
            <a:ext cx="4900000" cy="300000"/>
          </a:xfrm>
          <a:prstGeom prst="rect">
            <a:avLst/>
          </a:prstGeom>
          <a:noFill/>
          <a:ln/>
        </p:spPr>
        <p:txBody>
          <a:bodyPr wrap="square" lIns="0" tIns="0" rIns="0" bIns="0" rtlCol="0" anchor="t"/>
          <a:lstStyle/>
          <a:p>
            <a:pPr marL="0" indent="0" algn="l">
              <a:buNone/>
            </a:pPr>
            <a:r>
              <a:rPr lang="en-US" sz="1100" kern="0" dirty="0">
                <a:solidFill>
                  <a:srgbClr val="CADCFC"/>
                </a:solidFill>
                <a:latin typeface="Calibri" pitchFamily="34" charset="0"/>
                <a:ea typeface="Calibri" pitchFamily="34" charset="-122"/>
                <a:cs typeface="Calibri" pitchFamily="34" charset="-120"/>
              </a:rPr>
              <a:t>Synthesis and next steps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B0C6AD9A-24DE-4BED-3D17-02D024ECA3A2}"/>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C03ECA43-349B-DC11-FA7A-4B37B2993369}"/>
              </a:ext>
            </a:extLst>
          </p:cNvPr>
          <p:cNvSpPr/>
          <p:nvPr/>
        </p:nvSpPr>
        <p:spPr>
          <a:xfrm>
            <a:off x="0" y="0"/>
            <a:ext cx="164592" cy="6858000"/>
          </a:xfrm>
          <a:prstGeom prst="rect">
            <a:avLst/>
          </a:prstGeom>
          <a:solidFill>
            <a:srgbClr val="D4A24C"/>
          </a:solidFill>
          <a:ln/>
        </p:spPr>
        <p:txBody>
          <a:bodyPr/>
          <a:lstStyle/>
          <a:p>
            <a:endParaRPr lang="en-US"/>
          </a:p>
        </p:txBody>
      </p:sp>
      <p:sp>
        <p:nvSpPr>
          <p:cNvPr id="3" name="Text 1">
            <a:extLst>
              <a:ext uri="{FF2B5EF4-FFF2-40B4-BE49-F238E27FC236}">
                <a16:creationId xmlns:a16="http://schemas.microsoft.com/office/drawing/2014/main" id="{835083E7-7E2B-EAB5-2F9E-416CD1E28246}"/>
              </a:ext>
            </a:extLst>
          </p:cNvPr>
          <p:cNvSpPr/>
          <p:nvPr/>
        </p:nvSpPr>
        <p:spPr>
          <a:xfrm>
            <a:off x="640080" y="411480"/>
            <a:ext cx="5486400" cy="274320"/>
          </a:xfrm>
          <a:prstGeom prst="rect">
            <a:avLst/>
          </a:prstGeom>
          <a:noFill/>
          <a:ln/>
        </p:spPr>
        <p:txBody>
          <a:bodyPr wrap="square" lIns="0" tIns="0" rIns="0" bIns="0" rtlCol="0" anchor="ctr"/>
          <a:lstStyle/>
          <a:p>
            <a:pPr marL="0" indent="0">
              <a:buNone/>
            </a:pPr>
            <a:r>
              <a:rPr lang="en-US" sz="1100" b="1" kern="0" spc="600" dirty="0">
                <a:solidFill>
                  <a:srgbClr val="D4A24C"/>
                </a:solidFill>
                <a:latin typeface="Calibri" pitchFamily="34" charset="0"/>
                <a:ea typeface="Calibri" pitchFamily="34" charset="-122"/>
                <a:cs typeface="Calibri" pitchFamily="34" charset="-120"/>
              </a:rPr>
              <a:t>01  — OVERVIEW</a:t>
            </a:r>
            <a:endParaRPr lang="en-US" sz="1100" dirty="0"/>
          </a:p>
        </p:txBody>
      </p:sp>
      <p:sp>
        <p:nvSpPr>
          <p:cNvPr id="4" name="Text 2">
            <a:extLst>
              <a:ext uri="{FF2B5EF4-FFF2-40B4-BE49-F238E27FC236}">
                <a16:creationId xmlns:a16="http://schemas.microsoft.com/office/drawing/2014/main" id="{F1ADFAA3-A96C-2BEC-D079-0AF2B0F6F94D}"/>
              </a:ext>
            </a:extLst>
          </p:cNvPr>
          <p:cNvSpPr/>
          <p:nvPr/>
        </p:nvSpPr>
        <p:spPr>
          <a:xfrm>
            <a:off x="640080" y="713232"/>
            <a:ext cx="10972800" cy="777240"/>
          </a:xfrm>
          <a:prstGeom prst="rect">
            <a:avLst/>
          </a:prstGeom>
          <a:noFill/>
          <a:ln/>
        </p:spPr>
        <p:txBody>
          <a:bodyPr wrap="square" lIns="0" tIns="0" rIns="0" bIns="0" rtlCol="0" anchor="ctr"/>
          <a:lstStyle/>
          <a:p>
            <a:pPr marL="0" indent="0">
              <a:buNone/>
            </a:pPr>
            <a:r>
              <a:rPr lang="en-US" sz="3200" b="1" dirty="0">
                <a:solidFill>
                  <a:srgbClr val="FFFFFF"/>
                </a:solidFill>
                <a:latin typeface="Georgia" pitchFamily="34" charset="0"/>
                <a:ea typeface="Georgia" pitchFamily="34" charset="-122"/>
                <a:cs typeface="Georgia" pitchFamily="34" charset="-120"/>
              </a:rPr>
              <a:t>Purpose, Context, Definition and Scope</a:t>
            </a:r>
            <a:endParaRPr lang="en-US" sz="3200" dirty="0"/>
          </a:p>
        </p:txBody>
      </p:sp>
      <p:sp>
        <p:nvSpPr>
          <p:cNvPr id="5" name="Text 3">
            <a:extLst>
              <a:ext uri="{FF2B5EF4-FFF2-40B4-BE49-F238E27FC236}">
                <a16:creationId xmlns:a16="http://schemas.microsoft.com/office/drawing/2014/main" id="{90387760-A346-0C68-5131-B6DF49F15C41}"/>
              </a:ext>
            </a:extLst>
          </p:cNvPr>
          <p:cNvSpPr/>
          <p:nvPr/>
        </p:nvSpPr>
        <p:spPr>
          <a:xfrm>
            <a:off x="640080" y="1691640"/>
            <a:ext cx="10607040" cy="1005840"/>
          </a:xfrm>
          <a:prstGeom prst="rect">
            <a:avLst/>
          </a:prstGeom>
          <a:noFill/>
          <a:ln/>
        </p:spPr>
        <p:txBody>
          <a:bodyPr wrap="square" lIns="0" tIns="0" rIns="0" bIns="0" rtlCol="0" anchor="ctr"/>
          <a:lstStyle/>
          <a:p>
            <a:r>
              <a:rPr lang="en-US" sz="1400" dirty="0">
                <a:solidFill>
                  <a:schemeClr val="bg1"/>
                </a:solidFill>
              </a:rPr>
              <a:t>The purpose of this project is to develop an AI-augmented tool that reads a country's excise schedule and turns it into a structured, standardised diagnostic. Given their corrective role, excise taxes can reduce economic distortions, improve price signals, expand fiscal space, and generate additional public revenue. The tool estimates both current revenue performance and the additional revenue potential associated with improved tax design, to support excise tax reforms.</a:t>
            </a:r>
            <a:r>
              <a:rPr lang="en-US" sz="1400" b="1" dirty="0">
                <a:solidFill>
                  <a:schemeClr val="bg1"/>
                </a:solidFill>
              </a:rPr>
              <a:t/>
            </a:r>
            <a:r>
              <a:rPr lang="en-US" sz="1400" dirty="0">
                <a:solidFill>
                  <a:schemeClr val="bg1"/>
                </a:solidFill>
              </a:rPr>
              <a:t/>
            </a:r>
          </a:p>
        </p:txBody>
      </p:sp>
      <p:sp>
        <p:nvSpPr>
          <p:cNvPr id="6" name="Shape 4">
            <a:extLst>
              <a:ext uri="{FF2B5EF4-FFF2-40B4-BE49-F238E27FC236}">
                <a16:creationId xmlns:a16="http://schemas.microsoft.com/office/drawing/2014/main" id="{97753FCE-81C2-0AD4-E14C-6C517BF5146B}"/>
              </a:ext>
            </a:extLst>
          </p:cNvPr>
          <p:cNvSpPr/>
          <p:nvPr/>
        </p:nvSpPr>
        <p:spPr>
          <a:xfrm>
            <a:off x="640080" y="2926080"/>
            <a:ext cx="3520440" cy="2286000"/>
          </a:xfrm>
          <a:prstGeom prst="rect">
            <a:avLst/>
          </a:prstGeom>
          <a:solidFill>
            <a:srgbClr val="1E2761"/>
          </a:solidFill>
          <a:ln w="6350">
            <a:solidFill>
              <a:srgbClr val="FFFFFF">
                <a:alpha val="40000"/>
              </a:srgbClr>
            </a:solidFill>
            <a:prstDash val="solid"/>
          </a:ln>
        </p:spPr>
        <p:txBody>
          <a:bodyPr/>
          <a:lstStyle/>
          <a:p>
            <a:endParaRPr lang="en-US"/>
          </a:p>
        </p:txBody>
      </p:sp>
      <p:sp>
        <p:nvSpPr>
          <p:cNvPr id="7" name="Shape 5">
            <a:extLst>
              <a:ext uri="{FF2B5EF4-FFF2-40B4-BE49-F238E27FC236}">
                <a16:creationId xmlns:a16="http://schemas.microsoft.com/office/drawing/2014/main" id="{4FB771B9-1D4A-A344-08D5-D340CC9D6513}"/>
              </a:ext>
            </a:extLst>
          </p:cNvPr>
          <p:cNvSpPr/>
          <p:nvPr/>
        </p:nvSpPr>
        <p:spPr>
          <a:xfrm>
            <a:off x="640080" y="2926080"/>
            <a:ext cx="3520440" cy="54864"/>
          </a:xfrm>
          <a:prstGeom prst="rect">
            <a:avLst/>
          </a:prstGeom>
          <a:solidFill>
            <a:srgbClr val="D4A24C"/>
          </a:solidFill>
          <a:ln/>
        </p:spPr>
        <p:txBody>
          <a:bodyPr/>
          <a:lstStyle/>
          <a:p>
            <a:endParaRPr lang="en-US"/>
          </a:p>
        </p:txBody>
      </p:sp>
      <p:pic>
        <p:nvPicPr>
          <p:cNvPr id="8" name="Image 0" descr="preencoded.png">
            <a:extLst>
              <a:ext uri="{FF2B5EF4-FFF2-40B4-BE49-F238E27FC236}">
                <a16:creationId xmlns:a16="http://schemas.microsoft.com/office/drawing/2014/main" id="{229B9C1D-DAA6-03A4-F85D-2C524D6AA2D8}"/>
              </a:ext>
            </a:extLst>
          </p:cNvPr>
          <p:cNvPicPr>
            <a:picLocks noChangeAspect="1"/>
          </p:cNvPicPr>
          <p:nvPr/>
        </p:nvPicPr>
        <p:blipFill>
          <a:blip r:embed="rId3"/>
          <a:stretch>
            <a:fillRect/>
          </a:stretch>
        </p:blipFill>
        <p:spPr>
          <a:xfrm>
            <a:off x="914400" y="3200400"/>
            <a:ext cx="411480" cy="411480"/>
          </a:xfrm>
          <a:prstGeom prst="rect">
            <a:avLst/>
          </a:prstGeom>
        </p:spPr>
      </p:pic>
      <p:sp>
        <p:nvSpPr>
          <p:cNvPr id="9" name="Text 6">
            <a:extLst>
              <a:ext uri="{FF2B5EF4-FFF2-40B4-BE49-F238E27FC236}">
                <a16:creationId xmlns:a16="http://schemas.microsoft.com/office/drawing/2014/main" id="{2A3ED7C0-3816-236D-E874-A880E69350F2}"/>
              </a:ext>
            </a:extLst>
          </p:cNvPr>
          <p:cNvSpPr/>
          <p:nvPr/>
        </p:nvSpPr>
        <p:spPr>
          <a:xfrm>
            <a:off x="914400" y="3703320"/>
            <a:ext cx="2971800" cy="365760"/>
          </a:xfrm>
          <a:prstGeom prst="rect">
            <a:avLst/>
          </a:prstGeom>
          <a:noFill/>
          <a:ln/>
        </p:spPr>
        <p:txBody>
          <a:bodyPr wrap="square" lIns="0" tIns="0" rIns="0" bIns="0" rtlCol="0" anchor="ctr"/>
          <a:lstStyle/>
          <a:p>
            <a:pPr marL="0" indent="0">
              <a:buNone/>
            </a:pPr>
            <a:r>
              <a:rPr lang="en-US" sz="1100" b="1" kern="0" spc="500" dirty="0">
                <a:solidFill>
                  <a:srgbClr val="D4A24C"/>
                </a:solidFill>
                <a:latin typeface="Calibri" pitchFamily="34" charset="0"/>
                <a:ea typeface="Calibri" pitchFamily="34" charset="-122"/>
                <a:cs typeface="Calibri" pitchFamily="34" charset="-120"/>
              </a:rPr>
              <a:t>CONTEXT</a:t>
            </a:r>
            <a:endParaRPr lang="en-US" sz="1100" dirty="0"/>
          </a:p>
        </p:txBody>
      </p:sp>
      <p:sp>
        <p:nvSpPr>
          <p:cNvPr id="10" name="Text 7">
            <a:extLst>
              <a:ext uri="{FF2B5EF4-FFF2-40B4-BE49-F238E27FC236}">
                <a16:creationId xmlns:a16="http://schemas.microsoft.com/office/drawing/2014/main" id="{2220F0E7-1E2E-812B-9A6B-289A107F6A10}"/>
              </a:ext>
            </a:extLst>
          </p:cNvPr>
          <p:cNvSpPr/>
          <p:nvPr/>
        </p:nvSpPr>
        <p:spPr>
          <a:xfrm>
            <a:off x="914400" y="4069080"/>
            <a:ext cx="2971800" cy="105156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Need to integrate health and climate related excise programs around inputs to the PFR. Excise diagnostic developed earlier as one-off for Sierra Leone (2023) provides inspiration.</a:t>
            </a:r>
            <a:endParaRPr lang="en-US" sz="1200" dirty="0"/>
          </a:p>
        </p:txBody>
      </p:sp>
      <p:sp>
        <p:nvSpPr>
          <p:cNvPr id="11" name="Shape 8">
            <a:extLst>
              <a:ext uri="{FF2B5EF4-FFF2-40B4-BE49-F238E27FC236}">
                <a16:creationId xmlns:a16="http://schemas.microsoft.com/office/drawing/2014/main" id="{2C1EF02A-8FC2-04AA-4AF2-A97DDF206BB2}"/>
              </a:ext>
            </a:extLst>
          </p:cNvPr>
          <p:cNvSpPr/>
          <p:nvPr/>
        </p:nvSpPr>
        <p:spPr>
          <a:xfrm>
            <a:off x="4343400" y="2926080"/>
            <a:ext cx="3520440" cy="2286000"/>
          </a:xfrm>
          <a:prstGeom prst="rect">
            <a:avLst/>
          </a:prstGeom>
          <a:solidFill>
            <a:srgbClr val="1E2761"/>
          </a:solidFill>
          <a:ln w="6350">
            <a:solidFill>
              <a:srgbClr val="FFFFFF">
                <a:alpha val="40000"/>
              </a:srgbClr>
            </a:solidFill>
            <a:prstDash val="solid"/>
          </a:ln>
        </p:spPr>
        <p:txBody>
          <a:bodyPr/>
          <a:lstStyle/>
          <a:p>
            <a:endParaRPr lang="en-US"/>
          </a:p>
        </p:txBody>
      </p:sp>
      <p:sp>
        <p:nvSpPr>
          <p:cNvPr id="12" name="Shape 9">
            <a:extLst>
              <a:ext uri="{FF2B5EF4-FFF2-40B4-BE49-F238E27FC236}">
                <a16:creationId xmlns:a16="http://schemas.microsoft.com/office/drawing/2014/main" id="{A4705832-C87A-1D3C-A681-57DDDD189B23}"/>
              </a:ext>
            </a:extLst>
          </p:cNvPr>
          <p:cNvSpPr/>
          <p:nvPr/>
        </p:nvSpPr>
        <p:spPr>
          <a:xfrm>
            <a:off x="4343400" y="2926080"/>
            <a:ext cx="3520440" cy="54864"/>
          </a:xfrm>
          <a:prstGeom prst="rect">
            <a:avLst/>
          </a:prstGeom>
          <a:solidFill>
            <a:srgbClr val="D4A24C"/>
          </a:solidFill>
          <a:ln/>
        </p:spPr>
        <p:txBody>
          <a:bodyPr/>
          <a:lstStyle/>
          <a:p>
            <a:endParaRPr lang="en-US"/>
          </a:p>
        </p:txBody>
      </p:sp>
      <p:pic>
        <p:nvPicPr>
          <p:cNvPr id="13" name="Image 1" descr="preencoded.png">
            <a:extLst>
              <a:ext uri="{FF2B5EF4-FFF2-40B4-BE49-F238E27FC236}">
                <a16:creationId xmlns:a16="http://schemas.microsoft.com/office/drawing/2014/main" id="{BC43369A-A433-C615-7406-1FD86239FEA5}"/>
              </a:ext>
            </a:extLst>
          </p:cNvPr>
          <p:cNvPicPr>
            <a:picLocks noChangeAspect="1"/>
          </p:cNvPicPr>
          <p:nvPr/>
        </p:nvPicPr>
        <p:blipFill>
          <a:blip r:embed="rId4"/>
          <a:stretch>
            <a:fillRect/>
          </a:stretch>
        </p:blipFill>
        <p:spPr>
          <a:xfrm>
            <a:off x="4617720" y="3200400"/>
            <a:ext cx="411480" cy="411480"/>
          </a:xfrm>
          <a:prstGeom prst="rect">
            <a:avLst/>
          </a:prstGeom>
        </p:spPr>
      </p:pic>
      <p:sp>
        <p:nvSpPr>
          <p:cNvPr id="14" name="Text 10">
            <a:extLst>
              <a:ext uri="{FF2B5EF4-FFF2-40B4-BE49-F238E27FC236}">
                <a16:creationId xmlns:a16="http://schemas.microsoft.com/office/drawing/2014/main" id="{53F34CFC-92BD-B02D-3425-B975D8D11D04}"/>
              </a:ext>
            </a:extLst>
          </p:cNvPr>
          <p:cNvSpPr/>
          <p:nvPr/>
        </p:nvSpPr>
        <p:spPr>
          <a:xfrm>
            <a:off x="4617720" y="3703320"/>
            <a:ext cx="2971800" cy="365760"/>
          </a:xfrm>
          <a:prstGeom prst="rect">
            <a:avLst/>
          </a:prstGeom>
          <a:noFill/>
          <a:ln/>
        </p:spPr>
        <p:txBody>
          <a:bodyPr wrap="square" lIns="0" tIns="0" rIns="0" bIns="0" rtlCol="0" anchor="ctr"/>
          <a:lstStyle/>
          <a:p>
            <a:pPr marL="0" indent="0">
              <a:buNone/>
            </a:pPr>
            <a:r>
              <a:rPr lang="en-US" sz="1100" b="1" kern="0" spc="500" dirty="0">
                <a:solidFill>
                  <a:srgbClr val="D4A24C"/>
                </a:solidFill>
                <a:latin typeface="Calibri" pitchFamily="34" charset="0"/>
                <a:ea typeface="Calibri" pitchFamily="34" charset="-122"/>
                <a:cs typeface="Calibri" pitchFamily="34" charset="-120"/>
              </a:rPr>
              <a:t>WHAT IT IS</a:t>
            </a:r>
            <a:endParaRPr lang="en-US" sz="1100" dirty="0"/>
          </a:p>
        </p:txBody>
      </p:sp>
      <p:sp>
        <p:nvSpPr>
          <p:cNvPr id="15" name="Text 11">
            <a:extLst>
              <a:ext uri="{FF2B5EF4-FFF2-40B4-BE49-F238E27FC236}">
                <a16:creationId xmlns:a16="http://schemas.microsoft.com/office/drawing/2014/main" id="{26A2C623-548E-EE54-F9E1-BD295DBA0E00}"/>
              </a:ext>
            </a:extLst>
          </p:cNvPr>
          <p:cNvSpPr/>
          <p:nvPr/>
        </p:nvSpPr>
        <p:spPr>
          <a:xfrm>
            <a:off x="4617720" y="4069080"/>
            <a:ext cx="2971800" cy="105156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An automated excise diagnostic — a structured, standardised read of a country's excise schedule, developed and tested on Uganda and Sierra Leone, that can then be tailored by humans to PFR and country context. Feeds the PFR Visualization tool with data.</a:t>
            </a:r>
          </a:p>
        </p:txBody>
      </p:sp>
      <p:sp>
        <p:nvSpPr>
          <p:cNvPr id="16" name="Shape 12">
            <a:extLst>
              <a:ext uri="{FF2B5EF4-FFF2-40B4-BE49-F238E27FC236}">
                <a16:creationId xmlns:a16="http://schemas.microsoft.com/office/drawing/2014/main" id="{952F58EF-2568-F4B4-CF0C-407FE3740331}"/>
              </a:ext>
            </a:extLst>
          </p:cNvPr>
          <p:cNvSpPr/>
          <p:nvPr/>
        </p:nvSpPr>
        <p:spPr>
          <a:xfrm>
            <a:off x="8046720" y="2926080"/>
            <a:ext cx="3520440" cy="2286000"/>
          </a:xfrm>
          <a:prstGeom prst="rect">
            <a:avLst/>
          </a:prstGeom>
          <a:solidFill>
            <a:srgbClr val="1E2761"/>
          </a:solidFill>
          <a:ln w="6350">
            <a:solidFill>
              <a:srgbClr val="FFFFFF">
                <a:alpha val="40000"/>
              </a:srgbClr>
            </a:solidFill>
            <a:prstDash val="solid"/>
          </a:ln>
        </p:spPr>
        <p:txBody>
          <a:bodyPr/>
          <a:lstStyle/>
          <a:p>
            <a:endParaRPr lang="en-US"/>
          </a:p>
        </p:txBody>
      </p:sp>
      <p:sp>
        <p:nvSpPr>
          <p:cNvPr id="17" name="Shape 13">
            <a:extLst>
              <a:ext uri="{FF2B5EF4-FFF2-40B4-BE49-F238E27FC236}">
                <a16:creationId xmlns:a16="http://schemas.microsoft.com/office/drawing/2014/main" id="{421A5B82-156D-E0C8-E908-59D79B329B07}"/>
              </a:ext>
            </a:extLst>
          </p:cNvPr>
          <p:cNvSpPr/>
          <p:nvPr/>
        </p:nvSpPr>
        <p:spPr>
          <a:xfrm>
            <a:off x="8046720" y="2926080"/>
            <a:ext cx="3520440" cy="54864"/>
          </a:xfrm>
          <a:prstGeom prst="rect">
            <a:avLst/>
          </a:prstGeom>
          <a:solidFill>
            <a:srgbClr val="D4A24C"/>
          </a:solidFill>
          <a:ln/>
        </p:spPr>
        <p:txBody>
          <a:bodyPr/>
          <a:lstStyle/>
          <a:p>
            <a:endParaRPr lang="en-US"/>
          </a:p>
        </p:txBody>
      </p:sp>
      <p:pic>
        <p:nvPicPr>
          <p:cNvPr id="18" name="Image 2" descr="preencoded.png">
            <a:extLst>
              <a:ext uri="{FF2B5EF4-FFF2-40B4-BE49-F238E27FC236}">
                <a16:creationId xmlns:a16="http://schemas.microsoft.com/office/drawing/2014/main" id="{BCB3ED0E-CC70-6B15-9782-FCB887891864}"/>
              </a:ext>
            </a:extLst>
          </p:cNvPr>
          <p:cNvPicPr>
            <a:picLocks noChangeAspect="1"/>
          </p:cNvPicPr>
          <p:nvPr/>
        </p:nvPicPr>
        <p:blipFill>
          <a:blip r:embed="rId5"/>
          <a:stretch>
            <a:fillRect/>
          </a:stretch>
        </p:blipFill>
        <p:spPr>
          <a:xfrm>
            <a:off x="8321040" y="3200400"/>
            <a:ext cx="411480" cy="411480"/>
          </a:xfrm>
          <a:prstGeom prst="rect">
            <a:avLst/>
          </a:prstGeom>
        </p:spPr>
      </p:pic>
      <p:sp>
        <p:nvSpPr>
          <p:cNvPr id="19" name="Text 14">
            <a:extLst>
              <a:ext uri="{FF2B5EF4-FFF2-40B4-BE49-F238E27FC236}">
                <a16:creationId xmlns:a16="http://schemas.microsoft.com/office/drawing/2014/main" id="{21FFBC34-8314-0873-FD8A-BD968E82408F}"/>
              </a:ext>
            </a:extLst>
          </p:cNvPr>
          <p:cNvSpPr/>
          <p:nvPr/>
        </p:nvSpPr>
        <p:spPr>
          <a:xfrm>
            <a:off x="8321040" y="3703320"/>
            <a:ext cx="2971800" cy="365760"/>
          </a:xfrm>
          <a:prstGeom prst="rect">
            <a:avLst/>
          </a:prstGeom>
          <a:noFill/>
          <a:ln/>
        </p:spPr>
        <p:txBody>
          <a:bodyPr wrap="square" lIns="0" tIns="0" rIns="0" bIns="0" rtlCol="0" anchor="ctr"/>
          <a:lstStyle/>
          <a:p>
            <a:pPr marL="0" indent="0">
              <a:buNone/>
            </a:pPr>
            <a:r>
              <a:rPr lang="en-US" sz="1100" b="1" kern="0" spc="500" dirty="0">
                <a:solidFill>
                  <a:srgbClr val="D4A24C"/>
                </a:solidFill>
                <a:latin typeface="Calibri" pitchFamily="34" charset="0"/>
                <a:ea typeface="Calibri" pitchFamily="34" charset="-122"/>
                <a:cs typeface="Calibri" pitchFamily="34" charset="-120"/>
              </a:rPr>
              <a:t>SCOPE</a:t>
            </a:r>
            <a:endParaRPr lang="en-US" sz="1100" dirty="0"/>
          </a:p>
        </p:txBody>
      </p:sp>
      <p:sp>
        <p:nvSpPr>
          <p:cNvPr id="20" name="Text 15">
            <a:extLst>
              <a:ext uri="{FF2B5EF4-FFF2-40B4-BE49-F238E27FC236}">
                <a16:creationId xmlns:a16="http://schemas.microsoft.com/office/drawing/2014/main" id="{3AB8C3F0-CE07-758F-2D7B-571BA29E2A40}"/>
              </a:ext>
            </a:extLst>
          </p:cNvPr>
          <p:cNvSpPr/>
          <p:nvPr/>
        </p:nvSpPr>
        <p:spPr>
          <a:xfrm>
            <a:off x="8321040" y="4069080"/>
            <a:ext cx="2971800" cy="105156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All excises but analytical focus on six major categories: fuel, vehicle, tobacco, alcohol, sugar sweetened beverages (SSBs), and gambling.</a:t>
            </a:r>
            <a:endParaRPr lang="en-US" sz="1200" dirty="0"/>
          </a:p>
        </p:txBody>
      </p:sp>
      <p:sp>
        <p:nvSpPr>
          <p:cNvPr id="21" name="Shape 16">
            <a:extLst>
              <a:ext uri="{FF2B5EF4-FFF2-40B4-BE49-F238E27FC236}">
                <a16:creationId xmlns:a16="http://schemas.microsoft.com/office/drawing/2014/main" id="{22FE4924-989F-D833-6E34-F6CCD5AE6D94}"/>
              </a:ext>
            </a:extLst>
          </p:cNvPr>
          <p:cNvSpPr/>
          <p:nvPr/>
        </p:nvSpPr>
        <p:spPr>
          <a:xfrm>
            <a:off x="640080" y="5577840"/>
            <a:ext cx="10972800" cy="777240"/>
          </a:xfrm>
          <a:prstGeom prst="rect">
            <a:avLst/>
          </a:prstGeom>
          <a:solidFill>
            <a:srgbClr val="1E2761"/>
          </a:solidFill>
          <a:ln w="12700">
            <a:solidFill>
              <a:srgbClr val="D4A24C"/>
            </a:solidFill>
            <a:prstDash val="solid"/>
          </a:ln>
        </p:spPr>
        <p:txBody>
          <a:bodyPr/>
          <a:lstStyle/>
          <a:p>
            <a:endParaRPr lang="en-US"/>
          </a:p>
        </p:txBody>
      </p:sp>
      <p:sp>
        <p:nvSpPr>
          <p:cNvPr id="22" name="Text 17">
            <a:extLst>
              <a:ext uri="{FF2B5EF4-FFF2-40B4-BE49-F238E27FC236}">
                <a16:creationId xmlns:a16="http://schemas.microsoft.com/office/drawing/2014/main" id="{32E8C82A-C7F5-765E-2A1A-30E87835FCB2}"/>
              </a:ext>
            </a:extLst>
          </p:cNvPr>
          <p:cNvSpPr/>
          <p:nvPr/>
        </p:nvSpPr>
        <p:spPr>
          <a:xfrm>
            <a:off x="868680" y="5605272"/>
            <a:ext cx="10515600" cy="731520"/>
          </a:xfrm>
          <a:prstGeom prst="rect">
            <a:avLst/>
          </a:prstGeom>
          <a:noFill/>
          <a:ln/>
        </p:spPr>
        <p:txBody>
          <a:bodyPr wrap="square" lIns="0" tIns="0" rIns="0" bIns="0" rtlCol="0" anchor="ctr"/>
          <a:lstStyle/>
          <a:p>
            <a:pPr marL="0" indent="0">
              <a:buNone/>
            </a:pPr>
            <a:r>
              <a:rPr lang="en-US" sz="1400" i="1" dirty="0">
                <a:solidFill>
                  <a:srgbClr val="FFFFFF"/>
                </a:solidFill>
                <a:latin typeface="Georgia" pitchFamily="34" charset="0"/>
                <a:ea typeface="Georgia" pitchFamily="34" charset="-122"/>
                <a:cs typeface="Georgia" pitchFamily="34" charset="-120"/>
              </a:rPr>
              <a:t>“The report shows the revenue mobilizing capabilities by country of simple and efficient excise systems that also tackle social costs”</a:t>
            </a:r>
            <a:endParaRPr lang="en-US" sz="1400" dirty="0"/>
          </a:p>
        </p:txBody>
      </p:sp>
      <p:sp>
        <p:nvSpPr>
          <p:cNvPr id="23" name="Text 18">
            <a:extLst>
              <a:ext uri="{FF2B5EF4-FFF2-40B4-BE49-F238E27FC236}">
                <a16:creationId xmlns:a16="http://schemas.microsoft.com/office/drawing/2014/main" id="{D58AC046-EE62-40C9-2DDD-9070B9241D3C}"/>
              </a:ext>
            </a:extLst>
          </p:cNvPr>
          <p:cNvSpPr/>
          <p:nvPr/>
        </p:nvSpPr>
        <p:spPr>
          <a:xfrm>
            <a:off x="640080" y="6565392"/>
            <a:ext cx="10972800" cy="228600"/>
          </a:xfrm>
          <a:prstGeom prst="rect">
            <a:avLst/>
          </a:prstGeom>
          <a:noFill/>
          <a:ln/>
        </p:spPr>
        <p:txBody>
          <a:bodyPr wrap="square" lIns="0" tIns="0" rIns="0" bIns="0" rtlCol="0" anchor="ctr"/>
          <a:lstStyle/>
          <a:p>
            <a:pPr marL="0" indent="0">
              <a:buNone/>
            </a:pPr>
            <a:r>
              <a:rPr lang="en-US" sz="900" dirty="0">
                <a:solidFill>
                  <a:srgbClr val="CADCFC">
                    <a:alpha val="70000"/>
                  </a:srgbClr>
                </a:solidFill>
                <a:latin typeface="Calibri" pitchFamily="34" charset="0"/>
                <a:ea typeface="Calibri" pitchFamily="34" charset="-122"/>
                <a:cs typeface="Calibri" pitchFamily="34" charset="-120"/>
              </a:rPr>
              <a:t>Excise Diagnostic  ·  03 / 08</a:t>
            </a:r>
            <a:endParaRPr lang="en-US" sz="900" dirty="0"/>
          </a:p>
        </p:txBody>
      </p:sp>
    </p:spTree>
    <p:extLst>
      <p:ext uri="{BB962C8B-B14F-4D97-AF65-F5344CB8AC3E}">
        <p14:creationId xmlns:p14="http://schemas.microsoft.com/office/powerpoint/2010/main" val="40602047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3657600" cy="274320"/>
          </a:xfrm>
          <a:prstGeom prst="rect">
            <a:avLst/>
          </a:prstGeom>
          <a:noFill/>
          <a:ln/>
        </p:spPr>
        <p:txBody>
          <a:bodyPr wrap="square" lIns="0" tIns="0" rIns="0" bIns="0" rtlCol="0" anchor="ctr"/>
          <a:lstStyle/>
          <a:p>
            <a:r>
              <a:rPr lang="en-US" sz="1100" b="1" kern="0" spc="600" dirty="0">
                <a:solidFill>
                  <a:srgbClr val="D4A24C"/>
                </a:solidFill>
                <a:latin typeface="Calibri" pitchFamily="34" charset="0"/>
                <a:ea typeface="Calibri" pitchFamily="34" charset="-122"/>
                <a:cs typeface="Calibri" pitchFamily="34" charset="-120"/>
              </a:rPr>
              <a:t>02 — WHY IT'S NEEDED</a:t>
            </a:r>
            <a:endParaRPr lang="en-US" sz="1100" dirty="0"/>
          </a:p>
        </p:txBody>
      </p:sp>
      <p:sp>
        <p:nvSpPr>
          <p:cNvPr id="3" name="Text 1"/>
          <p:cNvSpPr/>
          <p:nvPr/>
        </p:nvSpPr>
        <p:spPr>
          <a:xfrm>
            <a:off x="548640" y="658368"/>
            <a:ext cx="10972800" cy="640080"/>
          </a:xfrm>
          <a:prstGeom prst="rect">
            <a:avLst/>
          </a:prstGeom>
          <a:noFill/>
          <a:ln/>
        </p:spPr>
        <p:txBody>
          <a:bodyPr wrap="square" lIns="0" tIns="0" rIns="0" bIns="0" rtlCol="0" anchor="ctr"/>
          <a:lstStyle/>
          <a:p>
            <a:pPr marL="0" indent="0">
              <a:buNone/>
            </a:pPr>
            <a:r>
              <a:rPr lang="en-US" sz="3000" b="1" dirty="0">
                <a:solidFill>
                  <a:srgbClr val="1E2761"/>
                </a:solidFill>
                <a:latin typeface="Georgia" pitchFamily="34" charset="0"/>
                <a:ea typeface="Georgia" pitchFamily="34" charset="-122"/>
                <a:cs typeface="Georgia" pitchFamily="34" charset="-120"/>
              </a:rPr>
              <a:t>The instrument-legibility gap</a:t>
            </a:r>
            <a:endParaRPr lang="en-US" sz="3000" dirty="0"/>
          </a:p>
        </p:txBody>
      </p:sp>
      <p:sp>
        <p:nvSpPr>
          <p:cNvPr id="4" name="Text 2"/>
          <p:cNvSpPr/>
          <p:nvPr/>
        </p:nvSpPr>
        <p:spPr>
          <a:xfrm>
            <a:off x="548640" y="1371600"/>
            <a:ext cx="11064240" cy="594360"/>
          </a:xfrm>
          <a:prstGeom prst="rect">
            <a:avLst/>
          </a:prstGeom>
          <a:noFill/>
          <a:ln/>
        </p:spPr>
        <p:txBody>
          <a:bodyPr wrap="square" lIns="0" tIns="0" rIns="0" bIns="0" rtlCol="0" anchor="ctr"/>
          <a:lstStyle/>
          <a:p>
            <a:pPr marL="0" indent="0">
              <a:buNone/>
            </a:pPr>
            <a:r>
              <a:rPr lang="en-US" sz="1400" i="1" dirty="0">
                <a:solidFill>
                  <a:srgbClr val="1F2747"/>
                </a:solidFill>
                <a:latin typeface="Calibri" pitchFamily="34" charset="0"/>
                <a:ea typeface="Calibri" pitchFamily="34" charset="-122"/>
                <a:cs typeface="Calibri" pitchFamily="34" charset="-120"/>
              </a:rPr>
              <a:t>The PFR reads excise instrument-by-instrument. Schedules accrete line-by-line over decades; nobody fully owns them and few read them end-to-end.
The diagnostic closes this gap: a structured, standardised snapshot of every line, with rates scaled to feed standard global metrics.</a:t>
            </a:r>
          </a:p>
        </p:txBody>
      </p:sp>
      <p:sp>
        <p:nvSpPr>
          <p:cNvPr id="5" name="Shape 3"/>
          <p:cNvSpPr/>
          <p:nvPr/>
        </p:nvSpPr>
        <p:spPr>
          <a:xfrm>
            <a:off x="548640" y="2240280"/>
            <a:ext cx="10972800" cy="1463040"/>
          </a:xfrm>
          <a:prstGeom prst="rect">
            <a:avLst/>
          </a:prstGeom>
          <a:solidFill>
            <a:srgbClr val="F6F8FE"/>
          </a:solidFill>
          <a:ln/>
          <a:effectLst>
            <a:outerShdw blurRad="101600" dist="25400" dir="5400000" algn="bl" rotWithShape="0">
              <a:srgbClr val="000000">
                <a:alpha val="8000"/>
              </a:srgbClr>
            </a:outerShdw>
          </a:effectLst>
        </p:spPr>
        <p:txBody>
          <a:bodyPr/>
          <a:lstStyle/>
          <a:p>
            <a:endParaRPr lang="en-US"/>
          </a:p>
        </p:txBody>
      </p:sp>
      <p:sp>
        <p:nvSpPr>
          <p:cNvPr id="6" name="Shape 4"/>
          <p:cNvSpPr/>
          <p:nvPr/>
        </p:nvSpPr>
        <p:spPr>
          <a:xfrm>
            <a:off x="548640" y="2240280"/>
            <a:ext cx="73152" cy="1463040"/>
          </a:xfrm>
          <a:prstGeom prst="rect">
            <a:avLst/>
          </a:prstGeom>
          <a:solidFill>
            <a:srgbClr val="1E2761"/>
          </a:solidFill>
          <a:ln/>
        </p:spPr>
        <p:txBody>
          <a:bodyPr/>
          <a:lstStyle/>
          <a:p>
            <a:endParaRPr lang="en-US"/>
          </a:p>
        </p:txBody>
      </p:sp>
      <p:sp>
        <p:nvSpPr>
          <p:cNvPr id="7" name="Text 5"/>
          <p:cNvSpPr/>
          <p:nvPr/>
        </p:nvSpPr>
        <p:spPr>
          <a:xfrm>
            <a:off x="868680" y="2404872"/>
            <a:ext cx="5029200" cy="274320"/>
          </a:xfrm>
          <a:prstGeom prst="rect">
            <a:avLst/>
          </a:prstGeom>
          <a:noFill/>
          <a:ln/>
        </p:spPr>
        <p:txBody>
          <a:bodyPr wrap="square" lIns="0" tIns="0" rIns="0" bIns="0" rtlCol="0" anchor="ctr"/>
          <a:lstStyle/>
          <a:p>
            <a:pPr marL="0" indent="0">
              <a:buNone/>
            </a:pPr>
            <a:r>
              <a:rPr lang="en-US" sz="1000" b="1" kern="0" spc="500" dirty="0">
                <a:solidFill>
                  <a:srgbClr val="1E2761"/>
                </a:solidFill>
                <a:latin typeface="Calibri" pitchFamily="34" charset="0"/>
                <a:ea typeface="Calibri" pitchFamily="34" charset="-122"/>
                <a:cs typeface="Calibri" pitchFamily="34" charset="-120"/>
              </a:rPr>
              <a:t>GAP 1 — INSTRUMENT LEGIBILITY</a:t>
            </a:r>
            <a:endParaRPr lang="en-US" sz="1000" dirty="0"/>
          </a:p>
        </p:txBody>
      </p:sp>
      <p:sp>
        <p:nvSpPr>
          <p:cNvPr id="8" name="Text 6"/>
          <p:cNvSpPr/>
          <p:nvPr/>
        </p:nvSpPr>
        <p:spPr>
          <a:xfrm>
            <a:off x="868680" y="2660904"/>
            <a:ext cx="5029200" cy="365760"/>
          </a:xfrm>
          <a:prstGeom prst="rect">
            <a:avLst/>
          </a:prstGeom>
          <a:noFill/>
          <a:ln/>
        </p:spPr>
        <p:txBody>
          <a:bodyPr wrap="square" lIns="0" tIns="0" rIns="0" bIns="0" rtlCol="0" anchor="ctr"/>
          <a:lstStyle/>
          <a:p>
            <a:pPr marL="0" indent="0">
              <a:buNone/>
            </a:pPr>
            <a:r>
              <a:rPr lang="en-US" sz="1700" b="1" dirty="0">
                <a:solidFill>
                  <a:srgbClr val="121A47"/>
                </a:solidFill>
                <a:latin typeface="Georgia" pitchFamily="34" charset="0"/>
                <a:ea typeface="Georgia" pitchFamily="34" charset="-122"/>
                <a:cs typeface="Georgia" pitchFamily="34" charset="-120"/>
              </a:rPr>
              <a:t>PFR: By-instrument approach</a:t>
            </a:r>
            <a:endParaRPr lang="en-US" sz="1700" dirty="0"/>
          </a:p>
        </p:txBody>
      </p:sp>
      <p:sp>
        <p:nvSpPr>
          <p:cNvPr id="9" name="Text 7"/>
          <p:cNvSpPr/>
          <p:nvPr/>
        </p:nvSpPr>
        <p:spPr>
          <a:xfrm>
            <a:off x="868680" y="3081528"/>
            <a:ext cx="10607040" cy="594360"/>
          </a:xfrm>
          <a:prstGeom prst="rect">
            <a:avLst/>
          </a:prstGeom>
          <a:noFill/>
          <a:ln/>
        </p:spPr>
        <p:txBody>
          <a:bodyPr wrap="square" lIns="0" tIns="0" rIns="0" bIns="0" rtlCol="0" anchor="ctr"/>
          <a:lstStyle/>
          <a:p>
            <a:pPr marL="0" indent="0">
              <a:buNone/>
            </a:pPr>
            <a:r>
              <a:rPr lang="en-US" sz="1150" dirty="0">
                <a:solidFill>
                  <a:srgbClr val="1F2747"/>
                </a:solidFill>
                <a:latin typeface="Calibri" pitchFamily="34" charset="0"/>
                <a:ea typeface="Calibri" pitchFamily="34" charset="-122"/>
                <a:cs typeface="Calibri" pitchFamily="34" charset="-120"/>
              </a:rPr>
              <a:t>Schedules accrete line-by-line over decades. Nobody fully owns them; few read them end-to-end. We need a structured snapshot — categorised, standardised, with rates scaled to feed standard global metrics.</a:t>
            </a:r>
            <a:endParaRPr lang="en-US" sz="1150" dirty="0"/>
          </a:p>
        </p:txBody>
      </p:sp>
      <p:sp>
        <p:nvSpPr>
          <p:cNvPr id="15" name="Text 13"/>
          <p:cNvSpPr/>
          <p:nvPr/>
        </p:nvSpPr>
        <p:spPr>
          <a:xfrm>
            <a:off x="548640" y="3977640"/>
            <a:ext cx="7315200" cy="274320"/>
          </a:xfrm>
          <a:prstGeom prst="rect">
            <a:avLst/>
          </a:prstGeom>
          <a:noFill/>
          <a:ln/>
        </p:spPr>
        <p:txBody>
          <a:bodyPr wrap="square" lIns="0" tIns="0" rIns="0" bIns="0" rtlCol="0" anchor="ctr"/>
          <a:lstStyle/>
          <a:p>
            <a:pPr marL="0" indent="0">
              <a:buNone/>
            </a:pPr>
            <a:r>
              <a:rPr lang="en-US" sz="1000" b="1" kern="0" spc="500" dirty="0">
                <a:solidFill>
                  <a:srgbClr val="6B7693"/>
                </a:solidFill>
                <a:latin typeface="Calibri" pitchFamily="34" charset="0"/>
                <a:ea typeface="Calibri" pitchFamily="34" charset="-122"/>
                <a:cs typeface="Calibri" pitchFamily="34" charset="-120"/>
              </a:rPr>
              <a:t>WHAT THE DIAGNOSTIC DELIVERS</a:t>
            </a:r>
            <a:endParaRPr lang="en-US" sz="1000" dirty="0"/>
          </a:p>
        </p:txBody>
      </p:sp>
      <p:sp>
        <p:nvSpPr>
          <p:cNvPr id="16" name="Shape 14"/>
          <p:cNvSpPr/>
          <p:nvPr/>
        </p:nvSpPr>
        <p:spPr>
          <a:xfrm>
            <a:off x="548640" y="4370832"/>
            <a:ext cx="10972800" cy="502920"/>
          </a:xfrm>
          <a:prstGeom prst="rect">
            <a:avLst/>
          </a:prstGeom>
          <a:solidFill>
            <a:srgbClr val="1E2761"/>
          </a:solidFill>
          <a:ln/>
        </p:spPr>
        <p:txBody>
          <a:bodyPr/>
          <a:lstStyle/>
          <a:p>
            <a:endParaRPr lang="en-US"/>
          </a:p>
        </p:txBody>
      </p:sp>
      <p:sp>
        <p:nvSpPr>
          <p:cNvPr id="17" name="Shape 15"/>
          <p:cNvSpPr/>
          <p:nvPr/>
        </p:nvSpPr>
        <p:spPr>
          <a:xfrm>
            <a:off x="548640" y="4873752"/>
            <a:ext cx="10972800" cy="1508760"/>
          </a:xfrm>
          <a:prstGeom prst="rect">
            <a:avLst/>
          </a:prstGeom>
          <a:solidFill>
            <a:srgbClr val="FFFFFF"/>
          </a:solidFill>
          <a:ln w="9525">
            <a:solidFill>
              <a:srgbClr val="E3E8F4"/>
            </a:solidFill>
            <a:prstDash val="solid"/>
          </a:ln>
          <a:effectLst>
            <a:outerShdw blurRad="101600" dist="25400" dir="5400000" algn="bl" rotWithShape="0">
              <a:srgbClr val="000000">
                <a:alpha val="8000"/>
              </a:srgbClr>
            </a:outerShdw>
          </a:effectLst>
        </p:spPr>
        <p:txBody>
          <a:bodyPr/>
          <a:lstStyle/>
          <a:p>
            <a:endParaRPr lang="en-US"/>
          </a:p>
        </p:txBody>
      </p:sp>
      <p:sp>
        <p:nvSpPr>
          <p:cNvPr id="19" name="Text 17"/>
          <p:cNvSpPr/>
          <p:nvPr/>
        </p:nvSpPr>
        <p:spPr>
          <a:xfrm>
            <a:off x="777240" y="5010912"/>
            <a:ext cx="10607040" cy="411480"/>
          </a:xfrm>
          <a:prstGeom prst="rect">
            <a:avLst/>
          </a:prstGeom>
          <a:noFill/>
          <a:ln/>
        </p:spPr>
        <p:txBody>
          <a:bodyPr wrap="square" lIns="0" tIns="0" rIns="0" bIns="0" rtlCol="0" anchor="ctr"/>
          <a:lstStyle/>
          <a:p>
            <a:pPr marL="0" indent="0">
              <a:buNone/>
            </a:pPr>
            <a:r>
              <a:rPr lang="en-US" sz="1700" b="1" dirty="0">
                <a:solidFill>
                  <a:srgbClr val="121A47"/>
                </a:solidFill>
                <a:latin typeface="Georgia" pitchFamily="34" charset="0"/>
                <a:ea typeface="Georgia" pitchFamily="34" charset="-122"/>
                <a:cs typeface="Georgia" pitchFamily="34" charset="-120"/>
              </a:rPr>
              <a:t>Excise Diagnostic</a:t>
            </a:r>
            <a:endParaRPr lang="en-US" sz="1700" dirty="0"/>
          </a:p>
        </p:txBody>
      </p:sp>
      <p:sp>
        <p:nvSpPr>
          <p:cNvPr id="20" name="Text 18"/>
          <p:cNvSpPr/>
          <p:nvPr/>
        </p:nvSpPr>
        <p:spPr>
          <a:xfrm>
            <a:off x="777240" y="5404104"/>
            <a:ext cx="10607040" cy="274320"/>
          </a:xfrm>
          <a:prstGeom prst="rect">
            <a:avLst/>
          </a:prstGeom>
          <a:noFill/>
          <a:ln/>
        </p:spPr>
        <p:txBody>
          <a:bodyPr wrap="square" lIns="0" tIns="0" rIns="0" bIns="0" rtlCol="0" anchor="ctr"/>
          <a:lstStyle/>
          <a:p>
            <a:pPr marL="0" indent="0">
              <a:buNone/>
            </a:pPr>
            <a:r>
              <a:rPr lang="en-US" sz="1100" b="1" i="1" dirty="0">
                <a:solidFill>
                  <a:srgbClr val="D4A24C"/>
                </a:solidFill>
                <a:latin typeface="Calibri" pitchFamily="34" charset="0"/>
                <a:ea typeface="Calibri" pitchFamily="34" charset="-122"/>
                <a:cs typeface="Calibri" pitchFamily="34" charset="-120"/>
              </a:rPr>
              <a:t>Read the schedule</a:t>
            </a:r>
            <a:endParaRPr lang="en-US" sz="1100" dirty="0"/>
          </a:p>
        </p:txBody>
      </p:sp>
      <p:sp>
        <p:nvSpPr>
          <p:cNvPr id="21" name="Text 19"/>
          <p:cNvSpPr/>
          <p:nvPr/>
        </p:nvSpPr>
        <p:spPr>
          <a:xfrm>
            <a:off x="777240" y="5678424"/>
            <a:ext cx="10607040" cy="640080"/>
          </a:xfrm>
          <a:prstGeom prst="rect">
            <a:avLst/>
          </a:prstGeom>
          <a:noFill/>
          <a:ln/>
        </p:spPr>
        <p:txBody>
          <a:bodyPr wrap="square" lIns="0" tIns="0" rIns="0" bIns="0" rtlCol="0" anchor="ctr"/>
          <a:lstStyle/>
          <a:p>
            <a:pPr marL="0" indent="0">
              <a:buNone/>
            </a:pPr>
            <a:r>
              <a:rPr lang="en-US" sz="1100" dirty="0">
                <a:solidFill>
                  <a:srgbClr val="1F2747"/>
                </a:solidFill>
                <a:latin typeface="Calibri" pitchFamily="34" charset="0"/>
                <a:ea typeface="Calibri" pitchFamily="34" charset="-122"/>
                <a:cs typeface="Calibri" pitchFamily="34" charset="-120"/>
              </a:rPr>
              <a:t>Categorise every line. Standardise on three measures: $/unit, % of consumer price, % of GDP. Surface erosion, gaps, incoherence.</a:t>
            </a:r>
            <a:endParaRPr lang="en-US" sz="1100" dirty="0"/>
          </a:p>
        </p:txBody>
      </p:sp>
      <p:pic>
        <p:nvPicPr>
          <p:cNvPr id="34" name="Image 0" descr="preencoded.png"/>
          <p:cNvPicPr>
            <a:picLocks noChangeAspect="1"/>
          </p:cNvPicPr>
          <p:nvPr/>
        </p:nvPicPr>
        <p:blipFill>
          <a:blip r:embed="rId3"/>
          <a:stretch>
            <a:fillRect/>
          </a:stretch>
        </p:blipFill>
        <p:spPr>
          <a:xfrm>
            <a:off x="4160520" y="5239512"/>
            <a:ext cx="274320" cy="274320"/>
          </a:xfrm>
          <a:prstGeom prst="rect">
            <a:avLst/>
          </a:prstGeom>
        </p:spPr>
      </p:pic>
      <p:pic>
        <p:nvPicPr>
          <p:cNvPr id="35" name="Image 1" descr="preencoded.png"/>
          <p:cNvPicPr>
            <a:picLocks noChangeAspect="1"/>
          </p:cNvPicPr>
          <p:nvPr/>
        </p:nvPicPr>
        <p:blipFill>
          <a:blip r:embed="rId3"/>
          <a:stretch>
            <a:fillRect/>
          </a:stretch>
        </p:blipFill>
        <p:spPr>
          <a:xfrm>
            <a:off x="8046720" y="5239512"/>
            <a:ext cx="274320" cy="274320"/>
          </a:xfrm>
          <a:prstGeom prst="rect">
            <a:avLst/>
          </a:prstGeom>
        </p:spPr>
      </p:pic>
      <p:sp>
        <p:nvSpPr>
          <p:cNvPr id="36" name="Text 32"/>
          <p:cNvSpPr/>
          <p:nvPr/>
        </p:nvSpPr>
        <p:spPr>
          <a:xfrm>
            <a:off x="548640" y="6565392"/>
            <a:ext cx="10972800" cy="228600"/>
          </a:xfrm>
          <a:prstGeom prst="rect">
            <a:avLst/>
          </a:prstGeom>
          <a:noFill/>
          <a:ln/>
        </p:spPr>
        <p:txBody>
          <a:bodyPr wrap="square" lIns="0" tIns="0" rIns="0" bIns="0" rtlCol="0" anchor="ctr"/>
          <a:lstStyle/>
          <a:p>
            <a:pPr marL="0" indent="0">
              <a:buNone/>
            </a:pPr>
            <a:r>
              <a:rPr lang="en-US" sz="900" dirty="0">
                <a:solidFill>
                  <a:srgbClr val="6B7693"/>
                </a:solidFill>
                <a:latin typeface="Calibri" pitchFamily="34" charset="0"/>
                <a:ea typeface="Calibri" pitchFamily="34" charset="-122"/>
                <a:cs typeface="Calibri" pitchFamily="34" charset="-120"/>
              </a:rPr>
              <a:t>Excise Diagnostic  ·  04 / 08</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101" name="Text"/>
          <p:cNvSpPr/>
          <p:nvPr/>
        </p:nvSpPr>
        <p:spPr>
          <a:xfrm>
            <a:off x="548640" y="365760"/>
            <a:ext cx="5000000" cy="274320"/>
          </a:xfrm>
          <a:prstGeom prst="rect">
            <a:avLst/>
          </a:prstGeom>
          <a:noFill/>
          <a:ln/>
        </p:spPr>
        <p:txBody>
          <a:bodyPr wrap="square" lIns="0" tIns="0" rIns="0" bIns="0" rtlCol="0" anchor="ctr"/>
          <a:lstStyle/>
          <a:p>
            <a:pPr marL="0" indent="0" algn="l">
              <a:buNone/>
            </a:pPr>
            <a:r>
              <a:rPr lang="en-US" sz="1100" b="1" kern="0" spc="600" dirty="0">
                <a:solidFill>
                  <a:srgbClr val="D4A24C"/>
                </a:solidFill>
                <a:latin typeface="Calibri" pitchFamily="34" charset="0"/>
                <a:ea typeface="Calibri" pitchFamily="34" charset="-122"/>
                <a:cs typeface="Calibri" pitchFamily="34" charset="-120"/>
              </a:rPr>
              <a:t>03 — KEY QUESTIONS</a:t>
            </a:r>
          </a:p>
        </p:txBody>
      </p:sp>
      <p:sp>
        <p:nvSpPr>
          <p:cNvPr id="102" name="Text"/>
          <p:cNvSpPr/>
          <p:nvPr/>
        </p:nvSpPr>
        <p:spPr>
          <a:xfrm>
            <a:off x="548640" y="658368"/>
            <a:ext cx="11094720" cy="640080"/>
          </a:xfrm>
          <a:prstGeom prst="rect">
            <a:avLst/>
          </a:prstGeom>
          <a:noFill/>
          <a:ln/>
        </p:spPr>
        <p:txBody>
          <a:bodyPr wrap="square" lIns="0" tIns="0" rIns="0" bIns="0" rtlCol="0" anchor="ctr"/>
          <a:lstStyle/>
          <a:p>
            <a:pPr marL="0" indent="0" algn="l">
              <a:buNone/>
            </a:pPr>
            <a:r>
              <a:rPr lang="en-US" sz="3000" b="1" kern="0" dirty="0">
                <a:solidFill>
                  <a:srgbClr val="1E2761"/>
                </a:solidFill>
                <a:latin typeface="Georgia" pitchFamily="34" charset="0"/>
                <a:ea typeface="Georgia" pitchFamily="34" charset="-122"/>
                <a:cs typeface="Georgia" pitchFamily="34" charset="-120"/>
              </a:rPr>
              <a:t>The seven key questions</a:t>
            </a:r>
          </a:p>
        </p:txBody>
      </p:sp>
      <p:sp>
        <p:nvSpPr>
          <p:cNvPr id="103" name="Text"/>
          <p:cNvSpPr/>
          <p:nvPr/>
        </p:nvSpPr>
        <p:spPr>
          <a:xfrm>
            <a:off x="548640" y="1371600"/>
            <a:ext cx="11094720" cy="520700"/>
          </a:xfrm>
          <a:prstGeom prst="rect">
            <a:avLst/>
          </a:prstGeom>
          <a:noFill/>
          <a:ln/>
        </p:spPr>
        <p:txBody>
          <a:bodyPr wrap="square" lIns="0" tIns="0" rIns="0" bIns="0" rtlCol="0" anchor="ctr"/>
          <a:lstStyle/>
          <a:p>
            <a:pPr marL="0" indent="0" algn="l">
              <a:buNone/>
            </a:pPr>
            <a:r>
              <a:rPr lang="en-US" sz="1400" i="1" kern="0" dirty="0">
                <a:solidFill>
                  <a:srgbClr val="1F2747"/>
                </a:solidFill>
                <a:latin typeface="Calibri" pitchFamily="34" charset="0"/>
                <a:ea typeface="Calibri" pitchFamily="34" charset="-122"/>
                <a:cs typeface="Calibri" pitchFamily="34" charset="-120"/>
              </a:rPr>
              <a:t>Pre-analytical questions, answered by reading and standardising the excise schedule alone — without modelling behaviour.</a:t>
            </a:r>
          </a:p>
        </p:txBody>
      </p:sp>
      <p:sp>
        <p:nvSpPr>
          <p:cNvPr id="104" name="Shape"/>
          <p:cNvSpPr/>
          <p:nvPr/>
        </p:nvSpPr>
        <p:spPr>
          <a:xfrm>
            <a:off x="548640" y="2057400"/>
            <a:ext cx="10972800" cy="4300000"/>
          </a:xfrm>
          <a:prstGeom prst="roundRect">
            <a:avLst/>
          </a:prstGeom>
          <a:solidFill>
            <a:srgbClr val="F6F8FE"/>
          </a:solidFill>
          <a:ln w="12700">
            <a:solidFill>
              <a:srgbClr val="E3E8F4"/>
            </a:solidFill>
          </a:ln>
        </p:spPr>
        <p:txBody>
          <a:bodyPr/>
          <a:lstStyle/>
          <a:p>
            <a:endParaRPr lang="en-US"/>
          </a:p>
        </p:txBody>
      </p:sp>
      <p:sp>
        <p:nvSpPr>
          <p:cNvPr id="105" name="Shape"/>
          <p:cNvSpPr/>
          <p:nvPr/>
        </p:nvSpPr>
        <p:spPr>
          <a:xfrm>
            <a:off x="731520" y="2240280"/>
            <a:ext cx="10972800" cy="438912"/>
          </a:xfrm>
          <a:prstGeom prst="roundRect">
            <a:avLst/>
          </a:prstGeom>
          <a:solidFill>
            <a:srgbClr val="D4A24C"/>
          </a:solidFill>
          <a:ln/>
        </p:spPr>
        <p:txBody>
          <a:bodyPr/>
          <a:lstStyle/>
          <a:p>
            <a:endParaRPr lang="en-US"/>
          </a:p>
        </p:txBody>
      </p:sp>
      <p:sp>
        <p:nvSpPr>
          <p:cNvPr id="110" name="Text"/>
          <p:cNvSpPr/>
          <p:nvPr/>
        </p:nvSpPr>
        <p:spPr>
          <a:xfrm>
            <a:off x="731520" y="3108960"/>
            <a:ext cx="3185512" cy="548640"/>
          </a:xfrm>
          <a:prstGeom prst="rect">
            <a:avLst/>
          </a:prstGeom>
          <a:noFill/>
          <a:ln/>
        </p:spPr>
        <p:txBody>
          <a:bodyPr wrap="square" lIns="0" tIns="0" rIns="0" bIns="0" rtlCol="0" anchor="t"/>
          <a:lstStyle/>
          <a:p>
            <a:pPr marL="0" indent="0" algn="l">
              <a:buNone/>
            </a:pPr>
            <a:r>
              <a:rPr lang="en-US" sz="900" kern="0" dirty="0">
                <a:solidFill>
                  <a:srgbClr val="1F2747"/>
                </a:solidFill>
                <a:latin typeface="Calibri" pitchFamily="34" charset="0"/>
                <a:ea typeface="Calibri" pitchFamily="34" charset="-122"/>
                <a:cs typeface="Calibri" pitchFamily="34" charset="-120"/>
              </a:rPr>
              <a:t>Q1 Coverage — what does the schedule tax, and which priority categories (fuel, tobacco, alcohol, SSBs, vehicles, gambling) are absent?</a:t>
            </a:r>
          </a:p>
          <a:p>
            <a:pPr marL="0" indent="0" algn="l">
              <a:buNone/>
            </a:pPr>
            <a:r>
              <a:rPr lang="en-US" sz="900" kern="0" dirty="0">
                <a:solidFill>
                  <a:srgbClr val="1F2747"/>
                </a:solidFill>
                <a:latin typeface="Calibri" pitchFamily="34" charset="0"/>
                <a:ea typeface="Calibri" pitchFamily="34" charset="-122"/>
                <a:cs typeface="Calibri" pitchFamily="34" charset="-120"/>
              </a:rPr>
              <a:t>Q2 Structure — is each line specific, ad valorem or hybrid, and how differentiated by sub-category, strength or origin?</a:t>
            </a:r>
          </a:p>
          <a:p>
            <a:pPr marL="0" indent="0" algn="l">
              <a:buNone/>
            </a:pPr>
            <a:r>
              <a:rPr lang="en-US" sz="900" kern="0" dirty="0">
                <a:solidFill>
                  <a:srgbClr val="1F2747"/>
                </a:solidFill>
                <a:latin typeface="Calibri" pitchFamily="34" charset="0"/>
                <a:ea typeface="Calibri" pitchFamily="34" charset="-122"/>
                <a:cs typeface="Calibri" pitchFamily="34" charset="-120"/>
              </a:rPr>
              <a:t>Q3 Intensity — how heavily is each line taxed, expressed as $/unit, % of price and % of GDP?</a:t>
            </a:r>
          </a:p>
          <a:p>
            <a:pPr marL="0" indent="0" algn="l">
              <a:buNone/>
            </a:pPr>
            <a:r>
              <a:rPr lang="en-US" sz="900" kern="0" dirty="0">
                <a:solidFill>
                  <a:srgbClr val="1F2747"/>
                </a:solidFill>
                <a:latin typeface="Calibri" pitchFamily="34" charset="0"/>
                <a:ea typeface="Calibri" pitchFamily="34" charset="-122"/>
                <a:cs typeface="Calibri" pitchFamily="34" charset="-120"/>
              </a:rPr>
              <a:t>Q4 Benchmarking — how do those intensities compare with peer countries and WHO / IMF / OECD reference levels?</a:t>
            </a:r>
          </a:p>
          <a:p>
            <a:pPr marL="0" indent="0" algn="l">
              <a:buNone/>
            </a:pPr>
            <a:r>
              <a:rPr lang="en-US" sz="900" kern="0" dirty="0">
                <a:solidFill>
                  <a:srgbClr val="1F2747"/>
                </a:solidFill>
                <a:latin typeface="Calibri" pitchFamily="34" charset="0"/>
                <a:ea typeface="Calibri" pitchFamily="34" charset="-122"/>
                <a:cs typeface="Calibri" pitchFamily="34" charset="-120"/>
              </a:rPr>
              <a:t>Q5 Erosion — which specific rates are losing real value because they have not been adjusted for inflation?</a:t>
            </a:r>
          </a:p>
          <a:p>
            <a:pPr marL="0" indent="0" algn="l">
              <a:buNone/>
            </a:pPr>
            <a:r>
              <a:rPr lang="en-US" sz="900" kern="0" dirty="0">
                <a:solidFill>
                  <a:srgbClr val="1F2747"/>
                </a:solidFill>
                <a:latin typeface="Calibri" pitchFamily="34" charset="0"/>
                <a:ea typeface="Calibri" pitchFamily="34" charset="-122"/>
                <a:cs typeface="Calibri" pitchFamily="34" charset="-120"/>
              </a:rPr>
              <a:t>Q6 Coherence — where do differentiation devices stack up into rate inversions or administrative friction?</a:t>
            </a:r>
          </a:p>
          <a:p>
            <a:pPr marL="0" indent="0" algn="l">
              <a:buNone/>
            </a:pPr>
            <a:r>
              <a:rPr lang="en-US" sz="900" kern="0" dirty="0">
                <a:solidFill>
                  <a:srgbClr val="1F2747"/>
                </a:solidFill>
                <a:latin typeface="Calibri" pitchFamily="34" charset="0"/>
                <a:ea typeface="Calibri" pitchFamily="34" charset="-122"/>
                <a:cs typeface="Calibri" pitchFamily="34" charset="-120"/>
              </a:rPr>
              <a:t>Q7 Price tracking — how has the tax-inclusive price moved relative to CPI and incomes over time?</a:t>
            </a:r>
          </a:p>
          <a:p>
            <a:pPr marL="0" indent="0" algn="l">
              <a:buNone/>
            </a:pPr>
            <a:r>
              <a:rPr lang="en-US" sz="900" kern="0" dirty="0">
                <a:solidFill>
                  <a:srgbClr val="1F2747"/>
                </a:solidFill>
                <a:latin typeface="Calibri" pitchFamily="34" charset="0"/>
                <a:ea typeface="Calibri" pitchFamily="34" charset="-122"/>
                <a:cs typeface="Calibri" pitchFamily="34" charset="-120"/>
              </a:rPr>
              <a:t/>
            </a:r>
          </a:p>
          <a:p>
            <a:pPr marL="0" indent="0" algn="l">
              <a:buNone/>
            </a:pPr>
            <a:r>
              <a:rPr lang="en-US" sz="900" kern="0" dirty="0">
                <a:solidFill>
                  <a:srgbClr val="1F2747"/>
                </a:solidFill>
                <a:latin typeface="Calibri" pitchFamily="34" charset="0"/>
                <a:ea typeface="Calibri" pitchFamily="34" charset="-122"/>
                <a:cs typeface="Calibri" pitchFamily="34" charset="-120"/>
              </a:rPr>
              <a:t>Q1–Q3 and Q5 form the minimum viable diagnostic; Q4 and Q6 add benchmarking as data allow; Q7 needs a price series that is often unavailable.</a:t>
            </a:r>
          </a:p>
        </p:txBody>
      </p:sp>
      <p:sp>
        <p:nvSpPr>
          <p:cNvPr id="141" name="Text"/>
          <p:cNvSpPr/>
          <p:nvPr/>
        </p:nvSpPr>
        <p:spPr>
          <a:xfrm>
            <a:off x="548640" y="6565392"/>
            <a:ext cx="10972800" cy="228600"/>
          </a:xfrm>
          <a:prstGeom prst="rect">
            <a:avLst/>
          </a:prstGeom>
          <a:noFill/>
          <a:ln/>
        </p:spPr>
        <p:txBody>
          <a:bodyPr wrap="square" lIns="0" tIns="0" rIns="0" bIns="0" rtlCol="0" anchor="ctr"/>
          <a:lstStyle/>
          <a:p>
            <a:pPr marL="0" indent="0" algn="l">
              <a:buNone/>
            </a:pPr>
            <a:r>
              <a:rPr lang="en-US" sz="900" kern="0" dirty="0">
                <a:solidFill>
                  <a:srgbClr val="6B7693"/>
                </a:solidFill>
                <a:latin typeface="Calibri" pitchFamily="34" charset="0"/>
                <a:ea typeface="Calibri" pitchFamily="34" charset="-122"/>
                <a:cs typeface="Calibri" pitchFamily="34" charset="-120"/>
              </a:rPr>
              <a:t>Excise Diagnostic  ·  05 / 08</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3657600" cy="274320"/>
          </a:xfrm>
          <a:prstGeom prst="rect">
            <a:avLst/>
          </a:prstGeom>
          <a:noFill/>
          <a:ln/>
        </p:spPr>
        <p:txBody>
          <a:bodyPr wrap="square" lIns="0" tIns="0" rIns="0" bIns="0" rtlCol="0" anchor="ctr"/>
          <a:lstStyle/>
          <a:p>
            <a:pPr marL="0" indent="0">
              <a:buNone/>
            </a:pPr>
            <a:r>
              <a:rPr lang="en-US" sz="1100" b="1" kern="0" spc="600" dirty="0">
                <a:solidFill>
                  <a:srgbClr val="D4A24C"/>
                </a:solidFill>
                <a:latin typeface="Calibri" pitchFamily="34" charset="0"/>
                <a:ea typeface="Calibri" pitchFamily="34" charset="-122"/>
                <a:cs typeface="Calibri" pitchFamily="34" charset="-120"/>
              </a:rPr>
              <a:t>04 — METHOD</a:t>
            </a:r>
            <a:endParaRPr lang="en-US" sz="1100" dirty="0"/>
          </a:p>
        </p:txBody>
      </p:sp>
      <p:sp>
        <p:nvSpPr>
          <p:cNvPr id="3" name="Text 1"/>
          <p:cNvSpPr/>
          <p:nvPr/>
        </p:nvSpPr>
        <p:spPr>
          <a:xfrm>
            <a:off x="548640" y="658368"/>
            <a:ext cx="10972800" cy="640080"/>
          </a:xfrm>
          <a:prstGeom prst="rect">
            <a:avLst/>
          </a:prstGeom>
          <a:noFill/>
          <a:ln/>
        </p:spPr>
        <p:txBody>
          <a:bodyPr wrap="square" lIns="0" tIns="0" rIns="0" bIns="0" rtlCol="0" anchor="ctr"/>
          <a:lstStyle/>
          <a:p>
            <a:pPr marL="0" indent="0">
              <a:buNone/>
            </a:pPr>
            <a:r>
              <a:rPr lang="en-US" sz="3000" b="1" dirty="0">
                <a:solidFill>
                  <a:srgbClr val="1E2761"/>
                </a:solidFill>
                <a:latin typeface="Georgia" pitchFamily="34" charset="0"/>
                <a:ea typeface="Georgia" pitchFamily="34" charset="-122"/>
                <a:cs typeface="Georgia" pitchFamily="34" charset="-120"/>
              </a:rPr>
              <a:t>How the diagnostic reads a schedule</a:t>
            </a:r>
            <a:endParaRPr lang="en-US" sz="3000" dirty="0"/>
          </a:p>
        </p:txBody>
      </p:sp>
      <p:sp>
        <p:nvSpPr>
          <p:cNvPr id="4" name="Text 2"/>
          <p:cNvSpPr/>
          <p:nvPr/>
        </p:nvSpPr>
        <p:spPr>
          <a:xfrm>
            <a:off x="548640" y="1371600"/>
            <a:ext cx="11064240" cy="457200"/>
          </a:xfrm>
          <a:prstGeom prst="rect">
            <a:avLst/>
          </a:prstGeom>
          <a:noFill/>
          <a:ln/>
        </p:spPr>
        <p:txBody>
          <a:bodyPr wrap="square" lIns="0" tIns="0" rIns="0" bIns="0" rtlCol="0" anchor="ctr"/>
          <a:lstStyle/>
          <a:p>
            <a:pPr marL="0" indent="0">
              <a:buNone/>
            </a:pPr>
            <a:r>
              <a:rPr lang="en-US" sz="1300" i="1" dirty="0">
                <a:solidFill>
                  <a:srgbClr val="1F2747"/>
                </a:solidFill>
                <a:latin typeface="Calibri" pitchFamily="34" charset="0"/>
                <a:ea typeface="Calibri" pitchFamily="34" charset="-122"/>
                <a:cs typeface="Calibri" pitchFamily="34" charset="-120"/>
              </a:rPr>
              <a:t>Every line is categorised, standardised on three measures, and assembled into a four-level report. Country teams populate a parameter spreadsheet; the template renders the report.</a:t>
            </a:r>
            <a:endParaRPr lang="en-US" sz="1300" dirty="0"/>
          </a:p>
        </p:txBody>
      </p:sp>
      <p:sp>
        <p:nvSpPr>
          <p:cNvPr id="5" name="Shape 3"/>
          <p:cNvSpPr/>
          <p:nvPr/>
        </p:nvSpPr>
        <p:spPr>
          <a:xfrm>
            <a:off x="548640" y="1965960"/>
            <a:ext cx="3657600" cy="777240"/>
          </a:xfrm>
          <a:prstGeom prst="rect">
            <a:avLst/>
          </a:prstGeom>
          <a:solidFill>
            <a:srgbClr val="1E2761"/>
          </a:solidFill>
          <a:ln/>
        </p:spPr>
        <p:txBody>
          <a:bodyPr/>
          <a:lstStyle/>
          <a:p>
            <a:endParaRPr lang="en-US"/>
          </a:p>
        </p:txBody>
      </p:sp>
      <p:sp>
        <p:nvSpPr>
          <p:cNvPr id="6" name="Shape 4"/>
          <p:cNvSpPr/>
          <p:nvPr/>
        </p:nvSpPr>
        <p:spPr>
          <a:xfrm>
            <a:off x="548640" y="2801985"/>
            <a:ext cx="3657600" cy="2869900"/>
          </a:xfrm>
          <a:prstGeom prst="rect">
            <a:avLst/>
          </a:prstGeom>
          <a:solidFill>
            <a:srgbClr val="FFFFFF"/>
          </a:solidFill>
          <a:ln w="9525">
            <a:solidFill>
              <a:srgbClr val="E3E8F4"/>
            </a:solidFill>
            <a:prstDash val="solid"/>
          </a:ln>
          <a:effectLst>
            <a:outerShdw blurRad="101600" dist="25400" dir="5400000" algn="bl" rotWithShape="0">
              <a:srgbClr val="000000">
                <a:alpha val="8000"/>
              </a:srgbClr>
            </a:outerShdw>
          </a:effectLst>
        </p:spPr>
        <p:txBody>
          <a:bodyPr/>
          <a:lstStyle/>
          <a:p>
            <a:endParaRPr lang="en-US" sz="1100"/>
          </a:p>
        </p:txBody>
      </p:sp>
      <p:sp>
        <p:nvSpPr>
          <p:cNvPr id="7" name="Shape 5"/>
          <p:cNvSpPr/>
          <p:nvPr/>
        </p:nvSpPr>
        <p:spPr>
          <a:xfrm>
            <a:off x="777240" y="2130552"/>
            <a:ext cx="457200" cy="457200"/>
          </a:xfrm>
          <a:prstGeom prst="ellipse">
            <a:avLst/>
          </a:prstGeom>
          <a:solidFill>
            <a:srgbClr val="FFFFFF">
              <a:alpha val="20000"/>
            </a:srgbClr>
          </a:solidFill>
          <a:ln w="12700">
            <a:solidFill>
              <a:srgbClr val="FFFFFF"/>
            </a:solidFill>
            <a:prstDash val="solid"/>
          </a:ln>
        </p:spPr>
        <p:txBody>
          <a:bodyPr/>
          <a:lstStyle/>
          <a:p>
            <a:endParaRPr lang="en-US"/>
          </a:p>
        </p:txBody>
      </p:sp>
      <p:sp>
        <p:nvSpPr>
          <p:cNvPr id="9" name="Text 7"/>
          <p:cNvSpPr/>
          <p:nvPr/>
        </p:nvSpPr>
        <p:spPr>
          <a:xfrm>
            <a:off x="1325880" y="2167128"/>
            <a:ext cx="2743200" cy="457200"/>
          </a:xfrm>
          <a:prstGeom prst="rect">
            <a:avLst/>
          </a:prstGeom>
          <a:noFill/>
          <a:ln/>
        </p:spPr>
        <p:txBody>
          <a:bodyPr wrap="square" lIns="0" tIns="0" rIns="0" bIns="0" rtlCol="0" anchor="ctr"/>
          <a:lstStyle/>
          <a:p>
            <a:pPr marL="0" indent="0">
              <a:buNone/>
            </a:pPr>
            <a:r>
              <a:rPr lang="en-US" sz="1700" b="1" dirty="0">
                <a:solidFill>
                  <a:srgbClr val="FFFFFF"/>
                </a:solidFill>
                <a:latin typeface="Georgia" pitchFamily="34" charset="0"/>
                <a:ea typeface="Georgia" pitchFamily="34" charset="-122"/>
                <a:cs typeface="Georgia" pitchFamily="34" charset="-120"/>
              </a:rPr>
              <a:t>Typology</a:t>
            </a:r>
            <a:endParaRPr lang="en-US" sz="1700" dirty="0"/>
          </a:p>
        </p:txBody>
      </p:sp>
      <p:sp>
        <p:nvSpPr>
          <p:cNvPr id="10" name="Text 8"/>
          <p:cNvSpPr/>
          <p:nvPr/>
        </p:nvSpPr>
        <p:spPr>
          <a:xfrm>
            <a:off x="777240" y="2880360"/>
            <a:ext cx="3200400" cy="228600"/>
          </a:xfrm>
          <a:prstGeom prst="rect">
            <a:avLst/>
          </a:prstGeom>
          <a:noFill/>
          <a:ln/>
        </p:spPr>
        <p:txBody>
          <a:bodyPr wrap="square" lIns="0" tIns="0" rIns="0" bIns="0" rtlCol="0" anchor="ctr"/>
          <a:lstStyle/>
          <a:p>
            <a:pPr marL="0" indent="0">
              <a:buNone/>
            </a:pPr>
            <a:r>
              <a:rPr lang="en-US" sz="1100" b="1" kern="0" spc="500" dirty="0">
                <a:solidFill>
                  <a:srgbClr val="6B7693"/>
                </a:solidFill>
                <a:latin typeface="Calibri" pitchFamily="34" charset="0"/>
                <a:ea typeface="Calibri" pitchFamily="34" charset="-122"/>
                <a:cs typeface="Calibri" pitchFamily="34" charset="-120"/>
              </a:rPr>
              <a:t>SEVEN CATEGORIES</a:t>
            </a:r>
            <a:endParaRPr lang="en-US" sz="1100" dirty="0"/>
          </a:p>
        </p:txBody>
      </p:sp>
      <p:sp>
        <p:nvSpPr>
          <p:cNvPr id="11" name="Text 9"/>
          <p:cNvSpPr/>
          <p:nvPr/>
        </p:nvSpPr>
        <p:spPr>
          <a:xfrm>
            <a:off x="777240" y="3081528"/>
            <a:ext cx="3200400" cy="365760"/>
          </a:xfrm>
          <a:prstGeom prst="rect">
            <a:avLst/>
          </a:prstGeom>
          <a:noFill/>
          <a:ln/>
        </p:spPr>
        <p:txBody>
          <a:bodyPr wrap="square" lIns="0" tIns="0" rIns="0" bIns="0" rtlCol="0" anchor="ctr"/>
          <a:lstStyle/>
          <a:p>
            <a:pPr marL="0" indent="0">
              <a:buNone/>
            </a:pPr>
            <a:r>
              <a:rPr lang="en-US" sz="1100" i="1" dirty="0">
                <a:solidFill>
                  <a:srgbClr val="1F2747"/>
                </a:solidFill>
                <a:latin typeface="Calibri" pitchFamily="34" charset="0"/>
                <a:ea typeface="Calibri" pitchFamily="34" charset="-122"/>
                <a:cs typeface="Calibri" pitchFamily="34" charset="-120"/>
              </a:rPr>
              <a:t>Every line sorted into one class</a:t>
            </a:r>
            <a:endParaRPr lang="en-US" sz="1100" dirty="0"/>
          </a:p>
        </p:txBody>
      </p:sp>
      <p:sp>
        <p:nvSpPr>
          <p:cNvPr id="12" name="Text 10"/>
          <p:cNvSpPr/>
          <p:nvPr/>
        </p:nvSpPr>
        <p:spPr>
          <a:xfrm>
            <a:off x="777240" y="3440535"/>
            <a:ext cx="3200400" cy="228600"/>
          </a:xfrm>
          <a:prstGeom prst="rect">
            <a:avLst/>
          </a:prstGeom>
          <a:noFill/>
          <a:ln/>
        </p:spPr>
        <p:txBody>
          <a:bodyPr wrap="square" lIns="0" tIns="0" rIns="0" bIns="0" rtlCol="0" anchor="ctr"/>
          <a:lstStyle/>
          <a:p>
            <a:pPr marL="0" indent="0">
              <a:buNone/>
            </a:pPr>
            <a:r>
              <a:rPr lang="en-US" sz="1100" b="1" kern="0" spc="500" dirty="0">
                <a:solidFill>
                  <a:srgbClr val="6B7693"/>
                </a:solidFill>
                <a:latin typeface="Calibri" pitchFamily="34" charset="0"/>
                <a:ea typeface="Calibri" pitchFamily="34" charset="-122"/>
                <a:cs typeface="Calibri" pitchFamily="34" charset="-120"/>
              </a:rPr>
              <a:t>CLASSES</a:t>
            </a:r>
            <a:endParaRPr lang="en-US" sz="1100" dirty="0"/>
          </a:p>
        </p:txBody>
      </p:sp>
      <p:sp>
        <p:nvSpPr>
          <p:cNvPr id="13" name="Text 11"/>
          <p:cNvSpPr/>
          <p:nvPr/>
        </p:nvSpPr>
        <p:spPr>
          <a:xfrm>
            <a:off x="777240" y="3659991"/>
            <a:ext cx="3200400" cy="867809"/>
          </a:xfrm>
          <a:prstGeom prst="rect">
            <a:avLst/>
          </a:prstGeom>
          <a:noFill/>
          <a:ln/>
        </p:spPr>
        <p:txBody>
          <a:bodyPr wrap="square" lIns="0" tIns="0" rIns="0" bIns="0" rtlCol="0" anchor="ctr"/>
          <a:lstStyle/>
          <a:p>
            <a:pPr marL="342900" indent="-342900">
              <a:spcAft>
                <a:spcPts val="400"/>
              </a:spcAft>
              <a:buSzPct val="100000"/>
              <a:buChar char="▪"/>
            </a:pPr>
            <a:r>
              <a:rPr lang="en-US" sz="1100" dirty="0">
                <a:solidFill>
                  <a:srgbClr val="1F2747"/>
                </a:solidFill>
                <a:latin typeface="Calibri" pitchFamily="34" charset="0"/>
                <a:ea typeface="Calibri" pitchFamily="34" charset="-122"/>
                <a:cs typeface="Calibri" pitchFamily="34" charset="-120"/>
              </a:rPr>
              <a:t>Energy &amp; environment</a:t>
            </a:r>
            <a:endParaRPr lang="en-US" sz="1100" dirty="0"/>
          </a:p>
          <a:p>
            <a:pPr marL="342900" indent="-342900">
              <a:spcAft>
                <a:spcPts val="400"/>
              </a:spcAft>
              <a:buSzPct val="100000"/>
              <a:buChar char="▪"/>
            </a:pPr>
            <a:r>
              <a:rPr lang="en-US" sz="1100" dirty="0">
                <a:solidFill>
                  <a:srgbClr val="1F2747"/>
                </a:solidFill>
                <a:latin typeface="Calibri" pitchFamily="34" charset="0"/>
                <a:ea typeface="Calibri" pitchFamily="34" charset="-122"/>
                <a:cs typeface="Calibri" pitchFamily="34" charset="-120"/>
              </a:rPr>
              <a:t>Health (tobacco, alcohol, SSBs)</a:t>
            </a:r>
            <a:endParaRPr lang="en-US" sz="1100" dirty="0"/>
          </a:p>
          <a:p>
            <a:pPr marL="342900" indent="-342900">
              <a:spcAft>
                <a:spcPts val="400"/>
              </a:spcAft>
              <a:buSzPct val="100000"/>
              <a:buChar char="▪"/>
            </a:pPr>
            <a:r>
              <a:rPr lang="en-US" sz="1100" dirty="0">
                <a:solidFill>
                  <a:srgbClr val="1F2747"/>
                </a:solidFill>
                <a:latin typeface="Calibri" pitchFamily="34" charset="0"/>
                <a:ea typeface="Calibri" pitchFamily="34" charset="-122"/>
                <a:cs typeface="Calibri" pitchFamily="34" charset="-120"/>
              </a:rPr>
              <a:t>Vehicles &amp; transport</a:t>
            </a:r>
            <a:endParaRPr lang="en-US" sz="1100" dirty="0"/>
          </a:p>
          <a:p>
            <a:pPr marL="342900" indent="-342900">
              <a:spcAft>
                <a:spcPts val="400"/>
              </a:spcAft>
              <a:buSzPct val="100000"/>
              <a:buChar char="▪"/>
            </a:pPr>
            <a:r>
              <a:rPr lang="en-US" sz="1100" dirty="0">
                <a:solidFill>
                  <a:srgbClr val="1F2747"/>
                </a:solidFill>
                <a:latin typeface="Calibri" pitchFamily="34" charset="0"/>
                <a:ea typeface="Calibri" pitchFamily="34" charset="-122"/>
                <a:cs typeface="Calibri" pitchFamily="34" charset="-120"/>
              </a:rPr>
              <a:t>Luxury goods</a:t>
            </a:r>
            <a:endParaRPr lang="en-US" sz="1100" dirty="0"/>
          </a:p>
          <a:p>
            <a:pPr marL="342900" indent="-342900">
              <a:spcAft>
                <a:spcPts val="400"/>
              </a:spcAft>
              <a:buSzPct val="100000"/>
              <a:buChar char="▪"/>
            </a:pPr>
            <a:r>
              <a:rPr lang="en-US" sz="1100" dirty="0">
                <a:solidFill>
                  <a:srgbClr val="1F2747"/>
                </a:solidFill>
                <a:latin typeface="Calibri" pitchFamily="34" charset="0"/>
                <a:ea typeface="Calibri" pitchFamily="34" charset="-122"/>
                <a:cs typeface="Calibri" pitchFamily="34" charset="-120"/>
              </a:rPr>
              <a:t>Telecoms &amp; digital</a:t>
            </a:r>
            <a:endParaRPr lang="en-US" sz="1100" dirty="0"/>
          </a:p>
          <a:p>
            <a:pPr marL="342900" indent="-342900">
              <a:spcAft>
                <a:spcPts val="400"/>
              </a:spcAft>
              <a:buSzPct val="100000"/>
              <a:buChar char="▪"/>
            </a:pPr>
            <a:r>
              <a:rPr lang="en-US" sz="1100" dirty="0">
                <a:solidFill>
                  <a:srgbClr val="1F2747"/>
                </a:solidFill>
                <a:latin typeface="Calibri" pitchFamily="34" charset="0"/>
                <a:ea typeface="Calibri" pitchFamily="34" charset="-122"/>
                <a:cs typeface="Calibri" pitchFamily="34" charset="-120"/>
              </a:rPr>
              <a:t>Financial transactions</a:t>
            </a:r>
            <a:endParaRPr lang="en-US" sz="1100" dirty="0"/>
          </a:p>
          <a:p>
            <a:pPr marL="342900" indent="-342900">
              <a:spcAft>
                <a:spcPts val="400"/>
              </a:spcAft>
              <a:buSzPct val="100000"/>
              <a:buChar char="▪"/>
            </a:pPr>
            <a:r>
              <a:rPr lang="en-US" sz="1100" dirty="0">
                <a:solidFill>
                  <a:srgbClr val="1F2747"/>
                </a:solidFill>
                <a:latin typeface="Calibri" pitchFamily="34" charset="0"/>
                <a:ea typeface="Calibri" pitchFamily="34" charset="-122"/>
                <a:cs typeface="Calibri" pitchFamily="34" charset="-120"/>
              </a:rPr>
              <a:t>Resource &amp; extractive industries</a:t>
            </a:r>
            <a:endParaRPr lang="en-US" sz="1100" dirty="0"/>
          </a:p>
        </p:txBody>
      </p:sp>
      <p:sp>
        <p:nvSpPr>
          <p:cNvPr id="17" name="Shape 15"/>
          <p:cNvSpPr/>
          <p:nvPr/>
        </p:nvSpPr>
        <p:spPr>
          <a:xfrm>
            <a:off x="4434840" y="1965960"/>
            <a:ext cx="3657600" cy="777240"/>
          </a:xfrm>
          <a:prstGeom prst="rect">
            <a:avLst/>
          </a:prstGeom>
          <a:solidFill>
            <a:srgbClr val="3A4A8A"/>
          </a:solidFill>
          <a:ln/>
        </p:spPr>
        <p:txBody>
          <a:bodyPr/>
          <a:lstStyle/>
          <a:p>
            <a:endParaRPr lang="en-US"/>
          </a:p>
        </p:txBody>
      </p:sp>
      <p:sp>
        <p:nvSpPr>
          <p:cNvPr id="18" name="Shape 16"/>
          <p:cNvSpPr/>
          <p:nvPr/>
        </p:nvSpPr>
        <p:spPr>
          <a:xfrm>
            <a:off x="4434840" y="2743201"/>
            <a:ext cx="3657600" cy="2928684"/>
          </a:xfrm>
          <a:prstGeom prst="rect">
            <a:avLst/>
          </a:prstGeom>
          <a:solidFill>
            <a:srgbClr val="FFFFFF"/>
          </a:solidFill>
          <a:ln w="9525">
            <a:solidFill>
              <a:srgbClr val="E3E8F4"/>
            </a:solidFill>
            <a:prstDash val="solid"/>
          </a:ln>
          <a:effectLst>
            <a:outerShdw blurRad="101600" dist="25400" dir="5400000" algn="bl" rotWithShape="0">
              <a:srgbClr val="000000">
                <a:alpha val="8000"/>
              </a:srgbClr>
            </a:outerShdw>
          </a:effectLst>
        </p:spPr>
        <p:txBody>
          <a:bodyPr/>
          <a:lstStyle/>
          <a:p>
            <a:endParaRPr lang="en-US"/>
          </a:p>
        </p:txBody>
      </p:sp>
      <p:sp>
        <p:nvSpPr>
          <p:cNvPr id="19" name="Shape 17"/>
          <p:cNvSpPr/>
          <p:nvPr/>
        </p:nvSpPr>
        <p:spPr>
          <a:xfrm>
            <a:off x="4663440" y="2130552"/>
            <a:ext cx="457200" cy="457200"/>
          </a:xfrm>
          <a:prstGeom prst="ellipse">
            <a:avLst/>
          </a:prstGeom>
          <a:solidFill>
            <a:srgbClr val="FFFFFF">
              <a:alpha val="20000"/>
            </a:srgbClr>
          </a:solidFill>
          <a:ln w="12700">
            <a:solidFill>
              <a:srgbClr val="FFFFFF"/>
            </a:solidFill>
            <a:prstDash val="solid"/>
          </a:ln>
        </p:spPr>
        <p:txBody>
          <a:bodyPr/>
          <a:lstStyle/>
          <a:p>
            <a:endParaRPr lang="en-US"/>
          </a:p>
        </p:txBody>
      </p:sp>
      <p:sp>
        <p:nvSpPr>
          <p:cNvPr id="21" name="Text 19"/>
          <p:cNvSpPr/>
          <p:nvPr/>
        </p:nvSpPr>
        <p:spPr>
          <a:xfrm>
            <a:off x="5212080" y="2167128"/>
            <a:ext cx="2743200" cy="457200"/>
          </a:xfrm>
          <a:prstGeom prst="rect">
            <a:avLst/>
          </a:prstGeom>
          <a:noFill/>
          <a:ln/>
        </p:spPr>
        <p:txBody>
          <a:bodyPr wrap="square" lIns="0" tIns="0" rIns="0" bIns="0" rtlCol="0" anchor="ctr"/>
          <a:lstStyle/>
          <a:p>
            <a:pPr marL="0" indent="0">
              <a:buNone/>
            </a:pPr>
            <a:r>
              <a:rPr lang="en-US" sz="1700" b="1" dirty="0">
                <a:solidFill>
                  <a:srgbClr val="FFFFFF"/>
                </a:solidFill>
                <a:latin typeface="Georgia" pitchFamily="34" charset="0"/>
                <a:ea typeface="Georgia" pitchFamily="34" charset="-122"/>
                <a:cs typeface="Georgia" pitchFamily="34" charset="-120"/>
              </a:rPr>
              <a:t>Three measures</a:t>
            </a:r>
            <a:endParaRPr lang="en-US" sz="1700" dirty="0"/>
          </a:p>
        </p:txBody>
      </p:sp>
      <p:sp>
        <p:nvSpPr>
          <p:cNvPr id="22" name="Text 20"/>
          <p:cNvSpPr/>
          <p:nvPr/>
        </p:nvSpPr>
        <p:spPr>
          <a:xfrm>
            <a:off x="4663440" y="2880360"/>
            <a:ext cx="3200400" cy="228600"/>
          </a:xfrm>
          <a:prstGeom prst="rect">
            <a:avLst/>
          </a:prstGeom>
          <a:noFill/>
          <a:ln/>
        </p:spPr>
        <p:txBody>
          <a:bodyPr wrap="square" lIns="0" tIns="0" rIns="0" bIns="0" rtlCol="0" anchor="ctr"/>
          <a:lstStyle/>
          <a:p>
            <a:pPr marL="0" indent="0">
              <a:buNone/>
            </a:pPr>
            <a:r>
              <a:rPr lang="en-US" sz="1100" b="1" kern="0" spc="500" dirty="0">
                <a:solidFill>
                  <a:srgbClr val="6B7693"/>
                </a:solidFill>
                <a:latin typeface="Calibri" pitchFamily="34" charset="0"/>
                <a:ea typeface="Calibri" pitchFamily="34" charset="-122"/>
                <a:cs typeface="Calibri" pitchFamily="34" charset="-120"/>
              </a:rPr>
              <a:t>BASIS</a:t>
            </a:r>
            <a:endParaRPr lang="en-US" sz="1100" dirty="0"/>
          </a:p>
        </p:txBody>
      </p:sp>
      <p:sp>
        <p:nvSpPr>
          <p:cNvPr id="23" name="Text 21"/>
          <p:cNvSpPr/>
          <p:nvPr/>
        </p:nvSpPr>
        <p:spPr>
          <a:xfrm>
            <a:off x="4663440" y="3081528"/>
            <a:ext cx="3200400" cy="365760"/>
          </a:xfrm>
          <a:prstGeom prst="rect">
            <a:avLst/>
          </a:prstGeom>
          <a:noFill/>
          <a:ln/>
        </p:spPr>
        <p:txBody>
          <a:bodyPr wrap="square" lIns="0" tIns="0" rIns="0" bIns="0" rtlCol="0" anchor="ctr"/>
          <a:lstStyle/>
          <a:p>
            <a:pPr marL="0" indent="0">
              <a:buNone/>
            </a:pPr>
            <a:r>
              <a:rPr lang="en-US" sz="1100" i="1" dirty="0">
                <a:solidFill>
                  <a:srgbClr val="1F2747"/>
                </a:solidFill>
                <a:latin typeface="Calibri" pitchFamily="34" charset="0"/>
                <a:ea typeface="Calibri" pitchFamily="34" charset="-122"/>
                <a:cs typeface="Calibri" pitchFamily="34" charset="-120"/>
              </a:rPr>
              <a:t>Triangulating policy intensity</a:t>
            </a:r>
            <a:endParaRPr lang="en-US" sz="1100" dirty="0"/>
          </a:p>
        </p:txBody>
      </p:sp>
      <p:sp>
        <p:nvSpPr>
          <p:cNvPr id="24" name="Text 22"/>
          <p:cNvSpPr/>
          <p:nvPr/>
        </p:nvSpPr>
        <p:spPr>
          <a:xfrm>
            <a:off x="4663440" y="3440535"/>
            <a:ext cx="3200400" cy="228600"/>
          </a:xfrm>
          <a:prstGeom prst="rect">
            <a:avLst/>
          </a:prstGeom>
          <a:noFill/>
          <a:ln/>
        </p:spPr>
        <p:txBody>
          <a:bodyPr wrap="square" lIns="0" tIns="0" rIns="0" bIns="0" rtlCol="0" anchor="ctr"/>
          <a:lstStyle/>
          <a:p>
            <a:pPr marL="0" indent="0">
              <a:buNone/>
            </a:pPr>
            <a:r>
              <a:rPr lang="en-US" sz="1100" b="1" kern="0" spc="500" dirty="0">
                <a:solidFill>
                  <a:srgbClr val="6B7693"/>
                </a:solidFill>
                <a:latin typeface="Calibri" pitchFamily="34" charset="0"/>
                <a:ea typeface="Calibri" pitchFamily="34" charset="-122"/>
                <a:cs typeface="Calibri" pitchFamily="34" charset="-120"/>
              </a:rPr>
              <a:t>MEASURES</a:t>
            </a:r>
            <a:endParaRPr lang="en-US" sz="1100" dirty="0"/>
          </a:p>
        </p:txBody>
      </p:sp>
      <p:sp>
        <p:nvSpPr>
          <p:cNvPr id="25" name="Text 23"/>
          <p:cNvSpPr/>
          <p:nvPr/>
        </p:nvSpPr>
        <p:spPr>
          <a:xfrm>
            <a:off x="4663440" y="3739199"/>
            <a:ext cx="3200400" cy="1132344"/>
          </a:xfrm>
          <a:prstGeom prst="rect">
            <a:avLst/>
          </a:prstGeom>
          <a:noFill/>
          <a:ln/>
        </p:spPr>
        <p:txBody>
          <a:bodyPr wrap="square" lIns="0" tIns="0" rIns="0" bIns="0" rtlCol="0" anchor="ctr"/>
          <a:lstStyle/>
          <a:p>
            <a:pPr marL="342900" indent="-342900">
              <a:spcAft>
                <a:spcPts val="400"/>
              </a:spcAft>
              <a:buSzPct val="100000"/>
              <a:buChar char="▪"/>
            </a:pPr>
            <a:r>
              <a:rPr lang="en-US" sz="1100" dirty="0">
                <a:solidFill>
                  <a:srgbClr val="1F2747"/>
                </a:solidFill>
                <a:latin typeface="Calibri" pitchFamily="34" charset="0"/>
                <a:ea typeface="Calibri" pitchFamily="34" charset="-122"/>
                <a:cs typeface="Calibri" pitchFamily="34" charset="-120"/>
              </a:rPr>
              <a:t>$ / standard unit — the rate itself, comparable across countries</a:t>
            </a:r>
            <a:endParaRPr lang="en-US" sz="1100" dirty="0"/>
          </a:p>
          <a:p>
            <a:pPr marL="342900" indent="-342900">
              <a:spcAft>
                <a:spcPts val="400"/>
              </a:spcAft>
              <a:buSzPct val="100000"/>
              <a:buChar char="▪"/>
            </a:pPr>
            <a:r>
              <a:rPr lang="en-US" sz="1100" dirty="0">
                <a:solidFill>
                  <a:srgbClr val="1F2747"/>
                </a:solidFill>
                <a:latin typeface="Calibri" pitchFamily="34" charset="0"/>
                <a:ea typeface="Calibri" pitchFamily="34" charset="-122"/>
                <a:cs typeface="Calibri" pitchFamily="34" charset="-120"/>
              </a:rPr>
              <a:t>% of consumer price — the tax wedge the consumer actually faces</a:t>
            </a:r>
            <a:endParaRPr lang="en-US" sz="1100" dirty="0"/>
          </a:p>
          <a:p>
            <a:pPr marL="342900" indent="-342900">
              <a:spcAft>
                <a:spcPts val="400"/>
              </a:spcAft>
              <a:buSzPct val="100000"/>
              <a:buChar char="▪"/>
            </a:pPr>
            <a:r>
              <a:rPr lang="en-US" sz="1100" dirty="0">
                <a:solidFill>
                  <a:srgbClr val="1F2747"/>
                </a:solidFill>
                <a:latin typeface="Calibri" pitchFamily="34" charset="0"/>
                <a:ea typeface="Calibri" pitchFamily="34" charset="-122"/>
                <a:cs typeface="Calibri" pitchFamily="34" charset="-120"/>
              </a:rPr>
              <a:t>% of GDP — the aggregate fiscal weight of the line</a:t>
            </a:r>
            <a:endParaRPr lang="en-US" sz="1100" dirty="0"/>
          </a:p>
        </p:txBody>
      </p:sp>
      <p:sp>
        <p:nvSpPr>
          <p:cNvPr id="29" name="Shape 27"/>
          <p:cNvSpPr/>
          <p:nvPr/>
        </p:nvSpPr>
        <p:spPr>
          <a:xfrm>
            <a:off x="8321040" y="1965960"/>
            <a:ext cx="3291840" cy="777240"/>
          </a:xfrm>
          <a:prstGeom prst="rect">
            <a:avLst/>
          </a:prstGeom>
          <a:solidFill>
            <a:srgbClr val="D4A24C"/>
          </a:solidFill>
          <a:ln/>
        </p:spPr>
        <p:txBody>
          <a:bodyPr/>
          <a:lstStyle/>
          <a:p>
            <a:endParaRPr lang="en-US"/>
          </a:p>
        </p:txBody>
      </p:sp>
      <p:sp>
        <p:nvSpPr>
          <p:cNvPr id="30" name="Shape 28"/>
          <p:cNvSpPr/>
          <p:nvPr/>
        </p:nvSpPr>
        <p:spPr>
          <a:xfrm>
            <a:off x="8321040" y="2743200"/>
            <a:ext cx="3291840" cy="2928685"/>
          </a:xfrm>
          <a:prstGeom prst="rect">
            <a:avLst/>
          </a:prstGeom>
          <a:solidFill>
            <a:srgbClr val="FFFFFF"/>
          </a:solidFill>
          <a:ln w="9525">
            <a:solidFill>
              <a:srgbClr val="E3E8F4"/>
            </a:solidFill>
            <a:prstDash val="solid"/>
          </a:ln>
          <a:effectLst>
            <a:outerShdw blurRad="101600" dist="25400" dir="5400000" algn="bl" rotWithShape="0">
              <a:srgbClr val="000000">
                <a:alpha val="8000"/>
              </a:srgbClr>
            </a:outerShdw>
          </a:effectLst>
        </p:spPr>
        <p:txBody>
          <a:bodyPr/>
          <a:lstStyle/>
          <a:p>
            <a:endParaRPr lang="en-US"/>
          </a:p>
        </p:txBody>
      </p:sp>
      <p:sp>
        <p:nvSpPr>
          <p:cNvPr id="31" name="Shape 29"/>
          <p:cNvSpPr/>
          <p:nvPr/>
        </p:nvSpPr>
        <p:spPr>
          <a:xfrm>
            <a:off x="8549640" y="2130552"/>
            <a:ext cx="457200" cy="457200"/>
          </a:xfrm>
          <a:prstGeom prst="ellipse">
            <a:avLst/>
          </a:prstGeom>
          <a:solidFill>
            <a:srgbClr val="FFFFFF">
              <a:alpha val="20000"/>
            </a:srgbClr>
          </a:solidFill>
          <a:ln w="12700">
            <a:solidFill>
              <a:srgbClr val="FFFFFF"/>
            </a:solidFill>
            <a:prstDash val="solid"/>
          </a:ln>
        </p:spPr>
        <p:txBody>
          <a:bodyPr/>
          <a:lstStyle/>
          <a:p>
            <a:endParaRPr lang="en-US"/>
          </a:p>
        </p:txBody>
      </p:sp>
      <p:sp>
        <p:nvSpPr>
          <p:cNvPr id="33" name="Text 31"/>
          <p:cNvSpPr/>
          <p:nvPr/>
        </p:nvSpPr>
        <p:spPr>
          <a:xfrm>
            <a:off x="9098280" y="2167128"/>
            <a:ext cx="2377440" cy="457200"/>
          </a:xfrm>
          <a:prstGeom prst="rect">
            <a:avLst/>
          </a:prstGeom>
          <a:noFill/>
          <a:ln/>
        </p:spPr>
        <p:txBody>
          <a:bodyPr wrap="square" lIns="0" tIns="0" rIns="0" bIns="0" rtlCol="0" anchor="ctr"/>
          <a:lstStyle/>
          <a:p>
            <a:pPr marL="0" indent="0">
              <a:buNone/>
            </a:pPr>
            <a:r>
              <a:rPr lang="en-US" sz="1700" b="1" dirty="0">
                <a:solidFill>
                  <a:srgbClr val="FFFFFF"/>
                </a:solidFill>
                <a:latin typeface="Georgia" pitchFamily="34" charset="0"/>
                <a:ea typeface="Georgia" pitchFamily="34" charset="-122"/>
                <a:cs typeface="Georgia" pitchFamily="34" charset="-120"/>
              </a:rPr>
              <a:t>Four-level report</a:t>
            </a:r>
            <a:endParaRPr lang="en-US" sz="1700" dirty="0"/>
          </a:p>
        </p:txBody>
      </p:sp>
      <p:sp>
        <p:nvSpPr>
          <p:cNvPr id="34" name="Text 32"/>
          <p:cNvSpPr/>
          <p:nvPr/>
        </p:nvSpPr>
        <p:spPr>
          <a:xfrm>
            <a:off x="8549640" y="2880360"/>
            <a:ext cx="2834640" cy="228600"/>
          </a:xfrm>
          <a:prstGeom prst="rect">
            <a:avLst/>
          </a:prstGeom>
          <a:noFill/>
          <a:ln/>
        </p:spPr>
        <p:txBody>
          <a:bodyPr wrap="square" lIns="0" tIns="0" rIns="0" bIns="0" rtlCol="0" anchor="ctr"/>
          <a:lstStyle/>
          <a:p>
            <a:pPr marL="0" indent="0">
              <a:buNone/>
            </a:pPr>
            <a:r>
              <a:rPr lang="en-US" sz="1100" b="1" kern="0" spc="500" dirty="0">
                <a:solidFill>
                  <a:srgbClr val="6B7693"/>
                </a:solidFill>
                <a:latin typeface="Calibri" pitchFamily="34" charset="0"/>
                <a:ea typeface="Calibri" pitchFamily="34" charset="-122"/>
                <a:cs typeface="Calibri" pitchFamily="34" charset="-120"/>
              </a:rPr>
              <a:t>BASIS</a:t>
            </a:r>
            <a:endParaRPr lang="en-US" sz="1100" dirty="0"/>
          </a:p>
        </p:txBody>
      </p:sp>
      <p:sp>
        <p:nvSpPr>
          <p:cNvPr id="35" name="Text 33"/>
          <p:cNvSpPr/>
          <p:nvPr/>
        </p:nvSpPr>
        <p:spPr>
          <a:xfrm>
            <a:off x="8549640" y="3081528"/>
            <a:ext cx="2834640" cy="365760"/>
          </a:xfrm>
          <a:prstGeom prst="rect">
            <a:avLst/>
          </a:prstGeom>
          <a:noFill/>
          <a:ln/>
        </p:spPr>
        <p:txBody>
          <a:bodyPr wrap="square" lIns="0" tIns="0" rIns="0" bIns="0" rtlCol="0" anchor="ctr"/>
          <a:lstStyle/>
          <a:p>
            <a:r>
              <a:rPr lang="en-US" sz="1100" i="1" dirty="0">
                <a:solidFill>
                  <a:srgbClr val="1F2747"/>
                </a:solidFill>
                <a:latin typeface="Calibri" pitchFamily="34" charset="0"/>
                <a:ea typeface="Calibri" pitchFamily="34" charset="-122"/>
                <a:cs typeface="Calibri" pitchFamily="34" charset="-120"/>
              </a:rPr>
              <a:t>Read top-down, built bottom-up</a:t>
            </a:r>
            <a:endParaRPr lang="en-US" sz="1100" dirty="0"/>
          </a:p>
        </p:txBody>
      </p:sp>
      <p:sp>
        <p:nvSpPr>
          <p:cNvPr id="36" name="Text 34"/>
          <p:cNvSpPr/>
          <p:nvPr/>
        </p:nvSpPr>
        <p:spPr>
          <a:xfrm>
            <a:off x="8549640" y="3440535"/>
            <a:ext cx="2834640" cy="228600"/>
          </a:xfrm>
          <a:prstGeom prst="rect">
            <a:avLst/>
          </a:prstGeom>
          <a:noFill/>
          <a:ln/>
        </p:spPr>
        <p:txBody>
          <a:bodyPr wrap="square" lIns="0" tIns="0" rIns="0" bIns="0" rtlCol="0" anchor="ctr"/>
          <a:lstStyle/>
          <a:p>
            <a:pPr marL="0" indent="0">
              <a:buNone/>
            </a:pPr>
            <a:r>
              <a:rPr lang="en-US" sz="1100" b="1" kern="0" spc="500" dirty="0">
                <a:solidFill>
                  <a:srgbClr val="6B7693"/>
                </a:solidFill>
                <a:latin typeface="Calibri" pitchFamily="34" charset="0"/>
                <a:ea typeface="Calibri" pitchFamily="34" charset="-122"/>
                <a:cs typeface="Calibri" pitchFamily="34" charset="-120"/>
              </a:rPr>
              <a:t>LEVELS</a:t>
            </a:r>
            <a:endParaRPr lang="en-US" sz="1100" dirty="0"/>
          </a:p>
        </p:txBody>
      </p:sp>
      <p:sp>
        <p:nvSpPr>
          <p:cNvPr id="37" name="Text 35"/>
          <p:cNvSpPr/>
          <p:nvPr/>
        </p:nvSpPr>
        <p:spPr>
          <a:xfrm>
            <a:off x="8549640" y="3659991"/>
            <a:ext cx="2834640" cy="1011501"/>
          </a:xfrm>
          <a:prstGeom prst="rect">
            <a:avLst/>
          </a:prstGeom>
          <a:noFill/>
          <a:ln/>
        </p:spPr>
        <p:txBody>
          <a:bodyPr wrap="square" lIns="0" tIns="0" rIns="0" bIns="0" rtlCol="0" anchor="ctr"/>
          <a:lstStyle/>
          <a:p>
            <a:pPr marL="342900" indent="-342900">
              <a:spcAft>
                <a:spcPts val="400"/>
              </a:spcAft>
              <a:buSzPct val="100000"/>
              <a:buChar char="▪"/>
            </a:pPr>
            <a:r>
              <a:rPr lang="en-US" sz="1100" dirty="0">
                <a:solidFill>
                  <a:srgbClr val="1F2747"/>
                </a:solidFill>
                <a:latin typeface="Calibri" pitchFamily="34" charset="0"/>
                <a:ea typeface="Calibri" pitchFamily="34" charset="-122"/>
                <a:cs typeface="Calibri" pitchFamily="34" charset="-120"/>
              </a:rPr>
              <a:t>Level 1: top-line metrics</a:t>
            </a:r>
            <a:endParaRPr lang="en-US" sz="1100" dirty="0"/>
          </a:p>
          <a:p>
            <a:pPr marL="342900" indent="-342900">
              <a:spcAft>
                <a:spcPts val="400"/>
              </a:spcAft>
              <a:buSzPct val="100000"/>
              <a:buChar char="▪"/>
            </a:pPr>
            <a:r>
              <a:rPr lang="en-US" sz="1100" dirty="0">
                <a:solidFill>
                  <a:srgbClr val="1F2747"/>
                </a:solidFill>
                <a:latin typeface="Calibri" pitchFamily="34" charset="0"/>
                <a:ea typeface="Calibri" pitchFamily="34" charset="-122"/>
                <a:cs typeface="Calibri" pitchFamily="34" charset="-120"/>
              </a:rPr>
              <a:t>Level 2: standardised schedule</a:t>
            </a:r>
            <a:endParaRPr lang="en-US" sz="1100" dirty="0"/>
          </a:p>
          <a:p>
            <a:pPr marL="342900" indent="-342900">
              <a:spcAft>
                <a:spcPts val="400"/>
              </a:spcAft>
              <a:buSzPct val="100000"/>
              <a:buChar char="▪"/>
            </a:pPr>
            <a:r>
              <a:rPr lang="en-US" sz="1100" dirty="0">
                <a:solidFill>
                  <a:srgbClr val="1F2747"/>
                </a:solidFill>
                <a:latin typeface="Calibri" pitchFamily="34" charset="0"/>
                <a:ea typeface="Calibri" pitchFamily="34" charset="-122"/>
                <a:cs typeface="Calibri" pitchFamily="34" charset="-120"/>
              </a:rPr>
              <a:t>Level 3: country schedule detail</a:t>
            </a:r>
            <a:endParaRPr lang="en-US" sz="1100" dirty="0"/>
          </a:p>
          <a:p>
            <a:pPr marL="342900" indent="-342900">
              <a:spcAft>
                <a:spcPts val="400"/>
              </a:spcAft>
              <a:buSzPct val="100000"/>
              <a:buChar char="▪"/>
            </a:pPr>
            <a:r>
              <a:rPr lang="en-US" sz="1100" dirty="0">
                <a:solidFill>
                  <a:srgbClr val="1F2747"/>
                </a:solidFill>
                <a:latin typeface="Calibri" pitchFamily="34" charset="0"/>
                <a:ea typeface="Calibri" pitchFamily="34" charset="-122"/>
                <a:cs typeface="Calibri" pitchFamily="34" charset="-120"/>
              </a:rPr>
              <a:t>Level 4: raw source data</a:t>
            </a:r>
            <a:endParaRPr lang="en-US" sz="1100" dirty="0"/>
          </a:p>
        </p:txBody>
      </p:sp>
      <p:grpSp>
        <p:nvGrpSpPr>
          <p:cNvPr id="44" name="Group 43">
            <a:extLst>
              <a:ext uri="{FF2B5EF4-FFF2-40B4-BE49-F238E27FC236}">
                <a16:creationId xmlns:a16="http://schemas.microsoft.com/office/drawing/2014/main" id="{012048B2-39D0-E270-1BB2-25127F29FCC6}"/>
              </a:ext>
            </a:extLst>
          </p:cNvPr>
          <p:cNvGrpSpPr/>
          <p:nvPr/>
        </p:nvGrpSpPr>
        <p:grpSpPr>
          <a:xfrm>
            <a:off x="658368" y="4946903"/>
            <a:ext cx="10753344" cy="578451"/>
            <a:chOff x="694944" y="5577839"/>
            <a:chExt cx="10753344" cy="578451"/>
          </a:xfrm>
        </p:grpSpPr>
        <p:sp>
          <p:nvSpPr>
            <p:cNvPr id="14" name="Shape 12"/>
            <p:cNvSpPr/>
            <p:nvPr/>
          </p:nvSpPr>
          <p:spPr>
            <a:xfrm>
              <a:off x="694944" y="5577839"/>
              <a:ext cx="3328416" cy="578449"/>
            </a:xfrm>
            <a:prstGeom prst="rect">
              <a:avLst/>
            </a:prstGeom>
            <a:solidFill>
              <a:srgbClr val="F6F8FE"/>
            </a:solidFill>
            <a:ln/>
          </p:spPr>
          <p:txBody>
            <a:bodyPr/>
            <a:lstStyle/>
            <a:p>
              <a:endParaRPr lang="en-US" sz="1100"/>
            </a:p>
          </p:txBody>
        </p:sp>
        <p:sp>
          <p:nvSpPr>
            <p:cNvPr id="15" name="Text 13"/>
            <p:cNvSpPr/>
            <p:nvPr/>
          </p:nvSpPr>
          <p:spPr>
            <a:xfrm>
              <a:off x="822960" y="5596128"/>
              <a:ext cx="3200400" cy="182880"/>
            </a:xfrm>
            <a:prstGeom prst="rect">
              <a:avLst/>
            </a:prstGeom>
            <a:noFill/>
            <a:ln/>
          </p:spPr>
          <p:txBody>
            <a:bodyPr wrap="square" lIns="0" tIns="0" rIns="0" bIns="0" rtlCol="0" anchor="ctr"/>
            <a:lstStyle/>
            <a:p>
              <a:pPr marL="0" indent="0">
                <a:buNone/>
              </a:pPr>
              <a:r>
                <a:rPr lang="en-US" sz="1100" b="1" kern="0" spc="500" dirty="0">
                  <a:solidFill>
                    <a:srgbClr val="1E2761"/>
                  </a:solidFill>
                  <a:latin typeface="Calibri" pitchFamily="34" charset="0"/>
                  <a:ea typeface="Calibri" pitchFamily="34" charset="-122"/>
                  <a:cs typeface="Calibri" pitchFamily="34" charset="-120"/>
                </a:rPr>
                <a:t>OUTPUT</a:t>
              </a:r>
              <a:endParaRPr lang="en-US" sz="1100" dirty="0"/>
            </a:p>
          </p:txBody>
        </p:sp>
        <p:sp>
          <p:nvSpPr>
            <p:cNvPr id="16" name="Text 14"/>
            <p:cNvSpPr/>
            <p:nvPr/>
          </p:nvSpPr>
          <p:spPr>
            <a:xfrm>
              <a:off x="822960" y="5788152"/>
              <a:ext cx="3200400" cy="228600"/>
            </a:xfrm>
            <a:prstGeom prst="rect">
              <a:avLst/>
            </a:prstGeom>
            <a:noFill/>
            <a:ln/>
          </p:spPr>
          <p:txBody>
            <a:bodyPr wrap="square" lIns="0" tIns="0" rIns="0" bIns="0" rtlCol="0" anchor="ctr"/>
            <a:lstStyle/>
            <a:p>
              <a:pPr marL="0" indent="0">
                <a:buNone/>
              </a:pPr>
              <a:r>
                <a:rPr lang="en-US" sz="1100" b="1" dirty="0">
                  <a:solidFill>
                    <a:srgbClr val="121A47"/>
                  </a:solidFill>
                  <a:latin typeface="Calibri" pitchFamily="34" charset="0"/>
                  <a:ea typeface="Calibri" pitchFamily="34" charset="-122"/>
                  <a:cs typeface="Calibri" pitchFamily="34" charset="-120"/>
                </a:rPr>
                <a:t>Appendix-style structured tables + narrative summary</a:t>
              </a:r>
              <a:endParaRPr lang="en-US" sz="1100" dirty="0"/>
            </a:p>
          </p:txBody>
        </p:sp>
        <p:sp>
          <p:nvSpPr>
            <p:cNvPr id="26" name="Shape 24"/>
            <p:cNvSpPr/>
            <p:nvPr/>
          </p:nvSpPr>
          <p:spPr>
            <a:xfrm>
              <a:off x="4599432" y="5577840"/>
              <a:ext cx="3328416" cy="578450"/>
            </a:xfrm>
            <a:prstGeom prst="rect">
              <a:avLst/>
            </a:prstGeom>
            <a:solidFill>
              <a:srgbClr val="F6F8FE"/>
            </a:solidFill>
            <a:ln/>
          </p:spPr>
          <p:txBody>
            <a:bodyPr/>
            <a:lstStyle/>
            <a:p>
              <a:endParaRPr lang="en-US" sz="1100"/>
            </a:p>
          </p:txBody>
        </p:sp>
        <p:sp>
          <p:nvSpPr>
            <p:cNvPr id="27" name="Text 25"/>
            <p:cNvSpPr/>
            <p:nvPr/>
          </p:nvSpPr>
          <p:spPr>
            <a:xfrm>
              <a:off x="4709160" y="5596128"/>
              <a:ext cx="3200400" cy="182880"/>
            </a:xfrm>
            <a:prstGeom prst="rect">
              <a:avLst/>
            </a:prstGeom>
            <a:noFill/>
            <a:ln/>
          </p:spPr>
          <p:txBody>
            <a:bodyPr wrap="square" lIns="0" tIns="0" rIns="0" bIns="0" rtlCol="0" anchor="ctr"/>
            <a:lstStyle/>
            <a:p>
              <a:pPr marL="0" indent="0">
                <a:buNone/>
              </a:pPr>
              <a:r>
                <a:rPr lang="en-US" sz="1100" b="1" kern="0" spc="500" dirty="0">
                  <a:solidFill>
                    <a:srgbClr val="1E2761"/>
                  </a:solidFill>
                  <a:latin typeface="Calibri" pitchFamily="34" charset="0"/>
                  <a:ea typeface="Calibri" pitchFamily="34" charset="-122"/>
                  <a:cs typeface="Calibri" pitchFamily="34" charset="-120"/>
                </a:rPr>
                <a:t>OUTPUT</a:t>
              </a:r>
              <a:endParaRPr lang="en-US" sz="1100" dirty="0"/>
            </a:p>
          </p:txBody>
        </p:sp>
        <p:sp>
          <p:nvSpPr>
            <p:cNvPr id="28" name="Text 26"/>
            <p:cNvSpPr/>
            <p:nvPr/>
          </p:nvSpPr>
          <p:spPr>
            <a:xfrm>
              <a:off x="4709160" y="5788152"/>
              <a:ext cx="3200400" cy="228600"/>
            </a:xfrm>
            <a:prstGeom prst="rect">
              <a:avLst/>
            </a:prstGeom>
            <a:noFill/>
            <a:ln/>
          </p:spPr>
          <p:txBody>
            <a:bodyPr wrap="square" lIns="0" tIns="0" rIns="0" bIns="0" rtlCol="0" anchor="ctr"/>
            <a:lstStyle/>
            <a:p>
              <a:pPr marL="0" indent="0">
                <a:buNone/>
              </a:pPr>
              <a:r>
                <a:rPr lang="en-US" sz="1100" b="1" dirty="0">
                  <a:solidFill>
                    <a:srgbClr val="121A47"/>
                  </a:solidFill>
                  <a:latin typeface="Calibri" pitchFamily="34" charset="0"/>
                  <a:ea typeface="Calibri" pitchFamily="34" charset="-122"/>
                  <a:cs typeface="Calibri" pitchFamily="34" charset="-120"/>
                </a:rPr>
                <a:t>Standardised externality assessment with ranges</a:t>
              </a:r>
              <a:endParaRPr lang="en-US" sz="1100" dirty="0"/>
            </a:p>
          </p:txBody>
        </p:sp>
        <p:sp>
          <p:nvSpPr>
            <p:cNvPr id="38" name="Shape 36"/>
            <p:cNvSpPr/>
            <p:nvPr/>
          </p:nvSpPr>
          <p:spPr>
            <a:xfrm>
              <a:off x="8485632" y="5577839"/>
              <a:ext cx="2962656" cy="578451"/>
            </a:xfrm>
            <a:prstGeom prst="rect">
              <a:avLst/>
            </a:prstGeom>
            <a:solidFill>
              <a:srgbClr val="F6F8FE"/>
            </a:solidFill>
            <a:ln/>
          </p:spPr>
          <p:txBody>
            <a:bodyPr/>
            <a:lstStyle/>
            <a:p>
              <a:endParaRPr lang="en-US" sz="1100"/>
            </a:p>
          </p:txBody>
        </p:sp>
        <p:sp>
          <p:nvSpPr>
            <p:cNvPr id="39" name="Text 37"/>
            <p:cNvSpPr/>
            <p:nvPr/>
          </p:nvSpPr>
          <p:spPr>
            <a:xfrm>
              <a:off x="8595360" y="5596128"/>
              <a:ext cx="2834640" cy="182880"/>
            </a:xfrm>
            <a:prstGeom prst="rect">
              <a:avLst/>
            </a:prstGeom>
            <a:noFill/>
            <a:ln/>
          </p:spPr>
          <p:txBody>
            <a:bodyPr wrap="square" lIns="0" tIns="0" rIns="0" bIns="0" rtlCol="0" anchor="ctr"/>
            <a:lstStyle/>
            <a:p>
              <a:pPr marL="0" indent="0">
                <a:buNone/>
              </a:pPr>
              <a:r>
                <a:rPr lang="en-US" sz="1100" b="1" kern="0" spc="500" dirty="0">
                  <a:solidFill>
                    <a:srgbClr val="1E2761"/>
                  </a:solidFill>
                  <a:latin typeface="Calibri" pitchFamily="34" charset="0"/>
                  <a:ea typeface="Calibri" pitchFamily="34" charset="-122"/>
                  <a:cs typeface="Calibri" pitchFamily="34" charset="-120"/>
                </a:rPr>
                <a:t>OUTPUT</a:t>
              </a:r>
              <a:endParaRPr lang="en-US" sz="1100" dirty="0"/>
            </a:p>
          </p:txBody>
        </p:sp>
        <p:sp>
          <p:nvSpPr>
            <p:cNvPr id="40" name="Text 38"/>
            <p:cNvSpPr/>
            <p:nvPr/>
          </p:nvSpPr>
          <p:spPr>
            <a:xfrm>
              <a:off x="8595360" y="5788152"/>
              <a:ext cx="2834640" cy="228600"/>
            </a:xfrm>
            <a:prstGeom prst="rect">
              <a:avLst/>
            </a:prstGeom>
            <a:noFill/>
            <a:ln/>
          </p:spPr>
          <p:txBody>
            <a:bodyPr wrap="square" lIns="0" tIns="0" rIns="0" bIns="0" rtlCol="0" anchor="ctr"/>
            <a:lstStyle/>
            <a:p>
              <a:pPr marL="0" indent="0">
                <a:buNone/>
              </a:pPr>
              <a:r>
                <a:rPr lang="en-US" sz="1100" b="1" dirty="0">
                  <a:solidFill>
                    <a:srgbClr val="121A47"/>
                  </a:solidFill>
                  <a:latin typeface="Calibri" pitchFamily="34" charset="0"/>
                  <a:ea typeface="Calibri" pitchFamily="34" charset="-122"/>
                  <a:cs typeface="Calibri" pitchFamily="34" charset="-120"/>
                </a:rPr>
                <a:t>Sequenced reform package with comparators</a:t>
              </a:r>
              <a:endParaRPr lang="en-US" sz="1100" dirty="0"/>
            </a:p>
          </p:txBody>
        </p:sp>
      </p:grpSp>
      <p:pic>
        <p:nvPicPr>
          <p:cNvPr id="41" name="Image 0" descr="preencoded.png"/>
          <p:cNvPicPr>
            <a:picLocks noChangeAspect="1"/>
          </p:cNvPicPr>
          <p:nvPr/>
        </p:nvPicPr>
        <p:blipFill>
          <a:blip r:embed="rId3"/>
          <a:stretch>
            <a:fillRect/>
          </a:stretch>
        </p:blipFill>
        <p:spPr>
          <a:xfrm>
            <a:off x="4160520" y="3641703"/>
            <a:ext cx="274320" cy="274320"/>
          </a:xfrm>
          <a:prstGeom prst="rect">
            <a:avLst/>
          </a:prstGeom>
        </p:spPr>
      </p:pic>
      <p:pic>
        <p:nvPicPr>
          <p:cNvPr id="42" name="Image 1" descr="preencoded.png"/>
          <p:cNvPicPr>
            <a:picLocks noChangeAspect="1"/>
          </p:cNvPicPr>
          <p:nvPr/>
        </p:nvPicPr>
        <p:blipFill>
          <a:blip r:embed="rId3"/>
          <a:stretch>
            <a:fillRect/>
          </a:stretch>
        </p:blipFill>
        <p:spPr>
          <a:xfrm>
            <a:off x="8046720" y="3641703"/>
            <a:ext cx="274320" cy="274320"/>
          </a:xfrm>
          <a:prstGeom prst="rect">
            <a:avLst/>
          </a:prstGeom>
        </p:spPr>
      </p:pic>
      <p:sp>
        <p:nvSpPr>
          <p:cNvPr id="43" name="Text 39"/>
          <p:cNvSpPr/>
          <p:nvPr/>
        </p:nvSpPr>
        <p:spPr>
          <a:xfrm>
            <a:off x="548640" y="6565392"/>
            <a:ext cx="10972800" cy="228600"/>
          </a:xfrm>
          <a:prstGeom prst="rect">
            <a:avLst/>
          </a:prstGeom>
          <a:noFill/>
          <a:ln/>
        </p:spPr>
        <p:txBody>
          <a:bodyPr wrap="square" lIns="0" tIns="0" rIns="0" bIns="0" rtlCol="0" anchor="ctr"/>
          <a:lstStyle/>
          <a:p>
            <a:pPr marL="0" indent="0">
              <a:buNone/>
            </a:pPr>
            <a:r>
              <a:rPr lang="en-US" sz="900" dirty="0">
                <a:solidFill>
                  <a:srgbClr val="6B7693"/>
                </a:solidFill>
                <a:latin typeface="Calibri" pitchFamily="34" charset="0"/>
                <a:ea typeface="Calibri" pitchFamily="34" charset="-122"/>
                <a:cs typeface="Calibri" pitchFamily="34" charset="-120"/>
              </a:rPr>
              <a:t>Excise Diagnostic  ·  06 / 08</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3657600" cy="274320"/>
          </a:xfrm>
          <a:prstGeom prst="rect">
            <a:avLst/>
          </a:prstGeom>
          <a:noFill/>
          <a:ln/>
        </p:spPr>
        <p:txBody>
          <a:bodyPr wrap="square" lIns="0" tIns="0" rIns="0" bIns="0" rtlCol="0" anchor="ctr"/>
          <a:lstStyle/>
          <a:p>
            <a:pPr marL="0" indent="0">
              <a:buNone/>
            </a:pPr>
            <a:r>
              <a:rPr lang="en-US" sz="1100" b="1" kern="0" spc="600" dirty="0">
                <a:solidFill>
                  <a:srgbClr val="D4A24C"/>
                </a:solidFill>
                <a:latin typeface="Calibri" pitchFamily="34" charset="0"/>
                <a:ea typeface="Calibri" pitchFamily="34" charset="-122"/>
                <a:cs typeface="Calibri" pitchFamily="34" charset="-120"/>
              </a:rPr>
              <a:t>05 — EXAMPLES</a:t>
            </a:r>
            <a:endParaRPr lang="en-US" sz="1100" dirty="0"/>
          </a:p>
        </p:txBody>
      </p:sp>
      <p:sp>
        <p:nvSpPr>
          <p:cNvPr id="3" name="Text 1"/>
          <p:cNvSpPr/>
          <p:nvPr/>
        </p:nvSpPr>
        <p:spPr>
          <a:xfrm>
            <a:off x="548640" y="658368"/>
            <a:ext cx="10972800" cy="640080"/>
          </a:xfrm>
          <a:prstGeom prst="rect">
            <a:avLst/>
          </a:prstGeom>
          <a:noFill/>
          <a:ln/>
        </p:spPr>
        <p:txBody>
          <a:bodyPr wrap="square" lIns="0" tIns="0" rIns="0" bIns="0" rtlCol="0" anchor="ctr"/>
          <a:lstStyle/>
          <a:p>
            <a:pPr marL="0" indent="0">
              <a:buNone/>
            </a:pPr>
            <a:r>
              <a:rPr lang="en-US" sz="3000" b="1" dirty="0">
                <a:solidFill>
                  <a:srgbClr val="1E2761"/>
                </a:solidFill>
                <a:latin typeface="Georgia" pitchFamily="34" charset="0"/>
                <a:ea typeface="Georgia" pitchFamily="34" charset="-122"/>
                <a:cs typeface="Georgia" pitchFamily="34" charset="-120"/>
              </a:rPr>
              <a:t>Two worked diagnostics</a:t>
            </a:r>
            <a:endParaRPr lang="en-US" sz="3000" dirty="0"/>
          </a:p>
        </p:txBody>
      </p:sp>
      <p:sp>
        <p:nvSpPr>
          <p:cNvPr id="4" name="Text 2"/>
          <p:cNvSpPr/>
          <p:nvPr/>
        </p:nvSpPr>
        <p:spPr>
          <a:xfrm>
            <a:off x="548640" y="1371600"/>
            <a:ext cx="11064240" cy="457200"/>
          </a:xfrm>
          <a:prstGeom prst="rect">
            <a:avLst/>
          </a:prstGeom>
          <a:noFill/>
          <a:ln/>
        </p:spPr>
        <p:txBody>
          <a:bodyPr wrap="square" lIns="0" tIns="0" rIns="0" bIns="0" rtlCol="0" anchor="ctr"/>
          <a:lstStyle/>
          <a:p>
            <a:pPr marL="0" indent="0">
              <a:buNone/>
            </a:pPr>
            <a:r>
              <a:rPr lang="en-US" sz="2000" i="1" dirty="0">
                <a:solidFill>
                  <a:srgbClr val="1F2747"/>
                </a:solidFill>
                <a:latin typeface="Calibri" pitchFamily="34" charset="0"/>
                <a:ea typeface="Calibri" pitchFamily="34" charset="-122"/>
                <a:cs typeface="Calibri" pitchFamily="34" charset="-120"/>
              </a:rPr>
              <a:t>Drawn directly from the Excise Diagnostic working paper (Uganda benchmarked against Sierra Leone).</a:t>
            </a:r>
            <a:endParaRPr lang="en-US" sz="2000" dirty="0"/>
          </a:p>
        </p:txBody>
      </p:sp>
      <p:sp>
        <p:nvSpPr>
          <p:cNvPr id="5" name="Shape 3"/>
          <p:cNvSpPr/>
          <p:nvPr/>
        </p:nvSpPr>
        <p:spPr>
          <a:xfrm>
            <a:off x="548640" y="1965960"/>
            <a:ext cx="5532120" cy="640080"/>
          </a:xfrm>
          <a:prstGeom prst="rect">
            <a:avLst/>
          </a:prstGeom>
          <a:solidFill>
            <a:srgbClr val="1E2761"/>
          </a:solidFill>
          <a:ln/>
        </p:spPr>
        <p:txBody>
          <a:bodyPr/>
          <a:lstStyle/>
          <a:p>
            <a:endParaRPr lang="en-US"/>
          </a:p>
        </p:txBody>
      </p:sp>
      <p:sp>
        <p:nvSpPr>
          <p:cNvPr id="6" name="Shape 4"/>
          <p:cNvSpPr/>
          <p:nvPr/>
        </p:nvSpPr>
        <p:spPr>
          <a:xfrm>
            <a:off x="548640" y="2606040"/>
            <a:ext cx="5532120" cy="3520440"/>
          </a:xfrm>
          <a:prstGeom prst="rect">
            <a:avLst/>
          </a:prstGeom>
          <a:solidFill>
            <a:srgbClr val="FFFFFF"/>
          </a:solidFill>
          <a:ln w="9525">
            <a:solidFill>
              <a:srgbClr val="E3E8F4"/>
            </a:solidFill>
            <a:prstDash val="solid"/>
          </a:ln>
          <a:effectLst>
            <a:outerShdw blurRad="101600" dist="25400" dir="5400000" algn="bl" rotWithShape="0">
              <a:srgbClr val="000000">
                <a:alpha val="8000"/>
              </a:srgbClr>
            </a:outerShdw>
          </a:effectLst>
        </p:spPr>
        <p:txBody>
          <a:bodyPr/>
          <a:lstStyle/>
          <a:p>
            <a:endParaRPr lang="en-US"/>
          </a:p>
        </p:txBody>
      </p:sp>
      <p:sp>
        <p:nvSpPr>
          <p:cNvPr id="7" name="Text 5"/>
          <p:cNvSpPr/>
          <p:nvPr/>
        </p:nvSpPr>
        <p:spPr>
          <a:xfrm>
            <a:off x="822960" y="2130552"/>
            <a:ext cx="1828800" cy="365760"/>
          </a:xfrm>
          <a:prstGeom prst="rect">
            <a:avLst/>
          </a:prstGeom>
          <a:noFill/>
          <a:ln/>
        </p:spPr>
        <p:txBody>
          <a:bodyPr wrap="square" lIns="0" tIns="0" rIns="0" bIns="0" rtlCol="0" anchor="ctr"/>
          <a:lstStyle/>
          <a:p>
            <a:pPr marL="0" indent="0">
              <a:buNone/>
            </a:pPr>
            <a:r>
              <a:rPr lang="en-US" sz="1800" b="1" kern="0" spc="400" dirty="0">
                <a:solidFill>
                  <a:srgbClr val="FFFFFF"/>
                </a:solidFill>
                <a:latin typeface="Georgia" pitchFamily="34" charset="0"/>
                <a:ea typeface="Georgia" pitchFamily="34" charset="-122"/>
                <a:cs typeface="Georgia" pitchFamily="34" charset="-120"/>
              </a:rPr>
              <a:t>UGANDA</a:t>
            </a:r>
            <a:endParaRPr lang="en-US" sz="1800" dirty="0"/>
          </a:p>
        </p:txBody>
      </p:sp>
      <p:sp>
        <p:nvSpPr>
          <p:cNvPr id="8" name="Text 6"/>
          <p:cNvSpPr/>
          <p:nvPr/>
        </p:nvSpPr>
        <p:spPr>
          <a:xfrm>
            <a:off x="2651760" y="2130552"/>
            <a:ext cx="3154680" cy="365760"/>
          </a:xfrm>
          <a:prstGeom prst="rect">
            <a:avLst/>
          </a:prstGeom>
          <a:noFill/>
          <a:ln/>
        </p:spPr>
        <p:txBody>
          <a:bodyPr wrap="square" lIns="0" tIns="0" rIns="0" bIns="0" rtlCol="0" anchor="ctr"/>
          <a:lstStyle/>
          <a:p>
            <a:pPr marL="0" indent="0" algn="r">
              <a:buNone/>
            </a:pPr>
            <a:r>
              <a:rPr lang="en-US" sz="1400" i="1" dirty="0">
                <a:solidFill>
                  <a:srgbClr val="CADCFC"/>
                </a:solidFill>
                <a:latin typeface="Calibri" pitchFamily="34" charset="0"/>
                <a:ea typeface="Calibri" pitchFamily="34" charset="-122"/>
                <a:cs typeface="Calibri" pitchFamily="34" charset="-120"/>
              </a:rPr>
              <a:t>Excise diagnostic pilot (Tier 2)</a:t>
            </a:r>
            <a:endParaRPr lang="en-US" sz="1400" dirty="0"/>
          </a:p>
        </p:txBody>
      </p:sp>
      <p:sp>
        <p:nvSpPr>
          <p:cNvPr id="9" name="Text 7"/>
          <p:cNvSpPr/>
          <p:nvPr/>
        </p:nvSpPr>
        <p:spPr>
          <a:xfrm>
            <a:off x="822960" y="2834640"/>
            <a:ext cx="1691640" cy="594360"/>
          </a:xfrm>
          <a:prstGeom prst="rect">
            <a:avLst/>
          </a:prstGeom>
          <a:noFill/>
          <a:ln/>
        </p:spPr>
        <p:txBody>
          <a:bodyPr wrap="square" lIns="0" tIns="0" rIns="0" bIns="0" rtlCol="0" anchor="ctr"/>
          <a:lstStyle/>
          <a:p>
            <a:pPr marL="0" indent="0">
              <a:buNone/>
            </a:pPr>
            <a:r>
              <a:rPr lang="en-US" sz="2400" b="1" dirty="0">
                <a:solidFill>
                  <a:srgbClr val="1E2761"/>
                </a:solidFill>
                <a:latin typeface="Georgia" pitchFamily="34" charset="0"/>
                <a:ea typeface="Georgia" pitchFamily="34" charset="-122"/>
                <a:cs typeface="Georgia" pitchFamily="34" charset="-120"/>
              </a:rPr>
              <a:t>1.5–1.7%</a:t>
            </a:r>
            <a:endParaRPr lang="en-US" sz="2400" dirty="0"/>
          </a:p>
        </p:txBody>
      </p:sp>
      <p:sp>
        <p:nvSpPr>
          <p:cNvPr id="10" name="Text 8"/>
          <p:cNvSpPr/>
          <p:nvPr/>
        </p:nvSpPr>
        <p:spPr>
          <a:xfrm>
            <a:off x="822960" y="3447288"/>
            <a:ext cx="1691640" cy="777240"/>
          </a:xfrm>
          <a:prstGeom prst="rect">
            <a:avLst/>
          </a:prstGeom>
          <a:noFill/>
          <a:ln/>
        </p:spPr>
        <p:txBody>
          <a:bodyPr wrap="square" lIns="0" tIns="0" rIns="0" bIns="0" rtlCol="0" anchor="ctr"/>
          <a:lstStyle/>
          <a:p>
            <a:pPr marL="0" indent="0">
              <a:buNone/>
            </a:pPr>
            <a:r>
              <a:rPr lang="en-US" sz="950" dirty="0">
                <a:solidFill>
                  <a:srgbClr val="6B7693"/>
                </a:solidFill>
                <a:latin typeface="Calibri" pitchFamily="34" charset="0"/>
                <a:ea typeface="Calibri" pitchFamily="34" charset="-122"/>
                <a:cs typeface="Calibri" pitchFamily="34" charset="-120"/>
              </a:rPr>
              <a:t>of GDP from energy + tobacco + alcohol + SSB excise</a:t>
            </a:r>
            <a:endParaRPr lang="en-US" sz="950" dirty="0"/>
          </a:p>
        </p:txBody>
      </p:sp>
      <p:sp>
        <p:nvSpPr>
          <p:cNvPr id="11" name="Text 9"/>
          <p:cNvSpPr/>
          <p:nvPr/>
        </p:nvSpPr>
        <p:spPr>
          <a:xfrm>
            <a:off x="2651760" y="2834640"/>
            <a:ext cx="1508760" cy="594360"/>
          </a:xfrm>
          <a:prstGeom prst="rect">
            <a:avLst/>
          </a:prstGeom>
          <a:noFill/>
          <a:ln/>
        </p:spPr>
        <p:txBody>
          <a:bodyPr wrap="square" lIns="0" tIns="0" rIns="0" bIns="0" rtlCol="0" anchor="ctr"/>
          <a:lstStyle/>
          <a:p>
            <a:pPr marL="0" indent="0">
              <a:buNone/>
            </a:pPr>
            <a:r>
              <a:rPr lang="en-US" sz="2400" b="1" dirty="0">
                <a:solidFill>
                  <a:srgbClr val="1E2761"/>
                </a:solidFill>
                <a:latin typeface="Georgia" pitchFamily="34" charset="0"/>
                <a:ea typeface="Georgia" pitchFamily="34" charset="-122"/>
                <a:cs typeface="Georgia" pitchFamily="34" charset="-120"/>
              </a:rPr>
              <a:t>30%</a:t>
            </a:r>
            <a:endParaRPr lang="en-US" sz="2400" dirty="0"/>
          </a:p>
        </p:txBody>
      </p:sp>
      <p:sp>
        <p:nvSpPr>
          <p:cNvPr id="12" name="Text 10"/>
          <p:cNvSpPr/>
          <p:nvPr/>
        </p:nvSpPr>
        <p:spPr>
          <a:xfrm>
            <a:off x="2651760" y="3447288"/>
            <a:ext cx="1508760" cy="777240"/>
          </a:xfrm>
          <a:prstGeom prst="rect">
            <a:avLst/>
          </a:prstGeom>
          <a:noFill/>
          <a:ln/>
        </p:spPr>
        <p:txBody>
          <a:bodyPr wrap="square" lIns="0" tIns="0" rIns="0" bIns="0" rtlCol="0" anchor="ctr"/>
          <a:lstStyle/>
          <a:p>
            <a:pPr marL="0" indent="0">
              <a:buNone/>
            </a:pPr>
            <a:r>
              <a:rPr lang="en-US" sz="950" dirty="0">
                <a:solidFill>
                  <a:srgbClr val="6B7693"/>
                </a:solidFill>
                <a:latin typeface="Calibri" pitchFamily="34" charset="0"/>
                <a:ea typeface="Calibri" pitchFamily="34" charset="-122"/>
                <a:cs typeface="Calibri" pitchFamily="34" charset="-120"/>
              </a:rPr>
              <a:t>of pump price as petrol excise — close to OECD lower band</a:t>
            </a:r>
            <a:endParaRPr lang="en-US" sz="950" dirty="0"/>
          </a:p>
        </p:txBody>
      </p:sp>
      <p:sp>
        <p:nvSpPr>
          <p:cNvPr id="13" name="Text 11"/>
          <p:cNvSpPr/>
          <p:nvPr/>
        </p:nvSpPr>
        <p:spPr>
          <a:xfrm>
            <a:off x="4297680" y="2834640"/>
            <a:ext cx="1600200" cy="594360"/>
          </a:xfrm>
          <a:prstGeom prst="rect">
            <a:avLst/>
          </a:prstGeom>
          <a:noFill/>
          <a:ln/>
        </p:spPr>
        <p:txBody>
          <a:bodyPr wrap="square" lIns="0" tIns="0" rIns="0" bIns="0" rtlCol="0" anchor="ctr"/>
          <a:lstStyle/>
          <a:p>
            <a:pPr marL="0" indent="0">
              <a:buNone/>
            </a:pPr>
            <a:r>
              <a:rPr lang="en-US" sz="2400" b="1" dirty="0">
                <a:solidFill>
                  <a:srgbClr val="1E2761"/>
                </a:solidFill>
                <a:latin typeface="Georgia" pitchFamily="34" charset="0"/>
                <a:ea typeface="Georgia" pitchFamily="34" charset="-122"/>
                <a:cs typeface="Georgia" pitchFamily="34" charset="-120"/>
              </a:rPr>
              <a:t>0.05%</a:t>
            </a:r>
            <a:endParaRPr lang="en-US" sz="2400" dirty="0"/>
          </a:p>
        </p:txBody>
      </p:sp>
      <p:sp>
        <p:nvSpPr>
          <p:cNvPr id="14" name="Text 12"/>
          <p:cNvSpPr/>
          <p:nvPr/>
        </p:nvSpPr>
        <p:spPr>
          <a:xfrm>
            <a:off x="4297680" y="3447288"/>
            <a:ext cx="1600200" cy="777240"/>
          </a:xfrm>
          <a:prstGeom prst="rect">
            <a:avLst/>
          </a:prstGeom>
          <a:noFill/>
          <a:ln/>
        </p:spPr>
        <p:txBody>
          <a:bodyPr wrap="square" lIns="0" tIns="0" rIns="0" bIns="0" rtlCol="0" anchor="ctr"/>
          <a:lstStyle/>
          <a:p>
            <a:pPr marL="0" indent="0">
              <a:buNone/>
            </a:pPr>
            <a:r>
              <a:rPr lang="en-US" sz="950" dirty="0">
                <a:solidFill>
                  <a:srgbClr val="6B7693"/>
                </a:solidFill>
                <a:latin typeface="Calibri" pitchFamily="34" charset="0"/>
                <a:ea typeface="Calibri" pitchFamily="34" charset="-122"/>
                <a:cs typeface="Calibri" pitchFamily="34" charset="-120"/>
              </a:rPr>
              <a:t>of GDP from tobacco — below SA (0.4%) and EU (0.6%)</a:t>
            </a:r>
            <a:endParaRPr lang="en-US" sz="950" dirty="0"/>
          </a:p>
        </p:txBody>
      </p:sp>
      <p:sp>
        <p:nvSpPr>
          <p:cNvPr id="15" name="Text 13"/>
          <p:cNvSpPr/>
          <p:nvPr/>
        </p:nvSpPr>
        <p:spPr>
          <a:xfrm>
            <a:off x="822960" y="4251960"/>
            <a:ext cx="4983480" cy="228600"/>
          </a:xfrm>
          <a:prstGeom prst="rect">
            <a:avLst/>
          </a:prstGeom>
          <a:noFill/>
          <a:ln/>
        </p:spPr>
        <p:txBody>
          <a:bodyPr wrap="square" lIns="0" tIns="0" rIns="0" bIns="0" rtlCol="0" anchor="ctr"/>
          <a:lstStyle/>
          <a:p>
            <a:pPr marL="0" indent="0">
              <a:buNone/>
            </a:pPr>
            <a:r>
              <a:rPr lang="en-US" sz="1400" b="1" kern="0" spc="500" dirty="0">
                <a:solidFill>
                  <a:srgbClr val="1E2761"/>
                </a:solidFill>
                <a:latin typeface="Calibri" pitchFamily="34" charset="0"/>
                <a:ea typeface="Calibri" pitchFamily="34" charset="-122"/>
                <a:cs typeface="Calibri" pitchFamily="34" charset="-120"/>
              </a:rPr>
              <a:t>WHAT THE DIAGNOSTIC SURFACES</a:t>
            </a:r>
            <a:endParaRPr lang="en-US" sz="1400" dirty="0"/>
          </a:p>
        </p:txBody>
      </p:sp>
      <p:sp>
        <p:nvSpPr>
          <p:cNvPr id="16" name="Text 14"/>
          <p:cNvSpPr/>
          <p:nvPr/>
        </p:nvSpPr>
        <p:spPr>
          <a:xfrm>
            <a:off x="822960" y="4480560"/>
            <a:ext cx="4983480" cy="1508760"/>
          </a:xfrm>
          <a:prstGeom prst="rect">
            <a:avLst/>
          </a:prstGeom>
          <a:noFill/>
          <a:ln/>
        </p:spPr>
        <p:txBody>
          <a:bodyPr wrap="square" lIns="0" tIns="0" rIns="0" bIns="0" rtlCol="0" anchor="ctr"/>
          <a:lstStyle/>
          <a:p>
            <a:pPr marL="342900" indent="-342900">
              <a:spcAft>
                <a:spcPts val="400"/>
              </a:spcAft>
              <a:buSzPct val="100000"/>
              <a:buChar char="▪"/>
            </a:pPr>
            <a:r>
              <a:rPr lang="en-US" sz="1200" dirty="0">
                <a:solidFill>
                  <a:srgbClr val="1F2747"/>
                </a:solidFill>
                <a:latin typeface="Calibri" pitchFamily="34" charset="0"/>
                <a:ea typeface="Calibri" pitchFamily="34" charset="-122"/>
                <a:cs typeface="Calibri" pitchFamily="34" charset="-120"/>
              </a:rPr>
              <a:t>Kerosene at UGX 200/litre — under 5% of pump price, unchanged since 2018</a:t>
            </a:r>
            <a:endParaRPr lang="en-US" sz="1200" dirty="0"/>
          </a:p>
          <a:p>
            <a:pPr marL="342900" indent="-342900">
              <a:spcAft>
                <a:spcPts val="400"/>
              </a:spcAft>
              <a:buSzPct val="100000"/>
              <a:buChar char="▪"/>
            </a:pPr>
            <a:r>
              <a:rPr lang="en-US" sz="1200" dirty="0">
                <a:solidFill>
                  <a:srgbClr val="1F2747"/>
                </a:solidFill>
                <a:latin typeface="Calibri" pitchFamily="34" charset="0"/>
                <a:ea typeface="Calibri" pitchFamily="34" charset="-122"/>
                <a:cs typeface="Calibri" pitchFamily="34" charset="-120"/>
              </a:rPr>
              <a:t>SSB excise is flat 12% — no sugar-content differentiation</a:t>
            </a:r>
            <a:endParaRPr lang="en-US" sz="1200" dirty="0"/>
          </a:p>
        </p:txBody>
      </p:sp>
      <p:sp>
        <p:nvSpPr>
          <p:cNvPr id="17" name="Shape 15"/>
          <p:cNvSpPr/>
          <p:nvPr/>
        </p:nvSpPr>
        <p:spPr>
          <a:xfrm>
            <a:off x="6355080" y="1965960"/>
            <a:ext cx="5285232" cy="640080"/>
          </a:xfrm>
          <a:prstGeom prst="rect">
            <a:avLst/>
          </a:prstGeom>
          <a:solidFill>
            <a:srgbClr val="3A4A8A"/>
          </a:solidFill>
          <a:ln/>
        </p:spPr>
        <p:txBody>
          <a:bodyPr/>
          <a:lstStyle/>
          <a:p>
            <a:endParaRPr lang="en-US"/>
          </a:p>
        </p:txBody>
      </p:sp>
      <p:sp>
        <p:nvSpPr>
          <p:cNvPr id="18" name="Shape 16"/>
          <p:cNvSpPr/>
          <p:nvPr/>
        </p:nvSpPr>
        <p:spPr>
          <a:xfrm>
            <a:off x="6355080" y="2606040"/>
            <a:ext cx="5285232" cy="3520440"/>
          </a:xfrm>
          <a:prstGeom prst="rect">
            <a:avLst/>
          </a:prstGeom>
          <a:solidFill>
            <a:srgbClr val="FFFFFF"/>
          </a:solidFill>
          <a:ln w="9525">
            <a:solidFill>
              <a:srgbClr val="E3E8F4"/>
            </a:solidFill>
            <a:prstDash val="solid"/>
          </a:ln>
          <a:effectLst>
            <a:outerShdw blurRad="101600" dist="25400" dir="5400000" algn="bl" rotWithShape="0">
              <a:srgbClr val="000000">
                <a:alpha val="8000"/>
              </a:srgbClr>
            </a:outerShdw>
          </a:effectLst>
        </p:spPr>
        <p:txBody>
          <a:bodyPr/>
          <a:lstStyle/>
          <a:p>
            <a:endParaRPr lang="en-US"/>
          </a:p>
        </p:txBody>
      </p:sp>
      <p:sp>
        <p:nvSpPr>
          <p:cNvPr id="19" name="Text 17"/>
          <p:cNvSpPr/>
          <p:nvPr/>
        </p:nvSpPr>
        <p:spPr>
          <a:xfrm>
            <a:off x="6629400" y="2130552"/>
            <a:ext cx="2651760" cy="365760"/>
          </a:xfrm>
          <a:prstGeom prst="rect">
            <a:avLst/>
          </a:prstGeom>
          <a:noFill/>
          <a:ln/>
        </p:spPr>
        <p:txBody>
          <a:bodyPr wrap="square" lIns="0" tIns="0" rIns="0" bIns="0" rtlCol="0" anchor="ctr"/>
          <a:lstStyle/>
          <a:p>
            <a:pPr marL="0" indent="0">
              <a:buNone/>
            </a:pPr>
            <a:r>
              <a:rPr lang="en-US" sz="1800" b="1" kern="0" spc="400" dirty="0">
                <a:solidFill>
                  <a:srgbClr val="FFFFFF"/>
                </a:solidFill>
                <a:latin typeface="Georgia" pitchFamily="34" charset="0"/>
                <a:ea typeface="Georgia" pitchFamily="34" charset="-122"/>
                <a:cs typeface="Georgia" pitchFamily="34" charset="-120"/>
              </a:rPr>
              <a:t>SIERRA LEONE</a:t>
            </a:r>
            <a:endParaRPr lang="en-US" sz="1800" dirty="0"/>
          </a:p>
        </p:txBody>
      </p:sp>
      <p:sp>
        <p:nvSpPr>
          <p:cNvPr id="20" name="Text 18"/>
          <p:cNvSpPr/>
          <p:nvPr/>
        </p:nvSpPr>
        <p:spPr>
          <a:xfrm>
            <a:off x="9326880" y="2130552"/>
            <a:ext cx="2039112" cy="365760"/>
          </a:xfrm>
          <a:prstGeom prst="rect">
            <a:avLst/>
          </a:prstGeom>
          <a:noFill/>
          <a:ln/>
        </p:spPr>
        <p:txBody>
          <a:bodyPr wrap="square" lIns="0" tIns="0" rIns="0" bIns="0" rtlCol="0" anchor="ctr"/>
          <a:lstStyle/>
          <a:p>
            <a:pPr marL="0" indent="0" algn="r">
              <a:buNone/>
            </a:pPr>
            <a:r>
              <a:rPr lang="en-US" sz="1400" i="1" dirty="0">
                <a:solidFill>
                  <a:srgbClr val="CADCFC"/>
                </a:solidFill>
                <a:latin typeface="Calibri" pitchFamily="34" charset="0"/>
                <a:ea typeface="Calibri" pitchFamily="34" charset="-122"/>
                <a:cs typeface="Calibri" pitchFamily="34" charset="-120"/>
              </a:rPr>
              <a:t>Surfaces what schedules hide</a:t>
            </a:r>
            <a:endParaRPr lang="en-US" sz="1400" dirty="0"/>
          </a:p>
        </p:txBody>
      </p:sp>
      <p:sp>
        <p:nvSpPr>
          <p:cNvPr id="21" name="Shape 19"/>
          <p:cNvSpPr/>
          <p:nvPr/>
        </p:nvSpPr>
        <p:spPr>
          <a:xfrm>
            <a:off x="6629400" y="2834640"/>
            <a:ext cx="4736592" cy="1188720"/>
          </a:xfrm>
          <a:prstGeom prst="rect">
            <a:avLst/>
          </a:prstGeom>
          <a:solidFill>
            <a:srgbClr val="FBF4E2"/>
          </a:solidFill>
          <a:ln/>
        </p:spPr>
        <p:txBody>
          <a:bodyPr/>
          <a:lstStyle/>
          <a:p>
            <a:endParaRPr lang="en-US"/>
          </a:p>
        </p:txBody>
      </p:sp>
      <p:sp>
        <p:nvSpPr>
          <p:cNvPr id="22" name="Shape 20"/>
          <p:cNvSpPr/>
          <p:nvPr/>
        </p:nvSpPr>
        <p:spPr>
          <a:xfrm>
            <a:off x="6629400" y="2834640"/>
            <a:ext cx="64008" cy="1188720"/>
          </a:xfrm>
          <a:prstGeom prst="rect">
            <a:avLst/>
          </a:prstGeom>
          <a:solidFill>
            <a:srgbClr val="D4A24C"/>
          </a:solidFill>
          <a:ln/>
        </p:spPr>
        <p:txBody>
          <a:bodyPr/>
          <a:lstStyle/>
          <a:p>
            <a:endParaRPr lang="en-US"/>
          </a:p>
        </p:txBody>
      </p:sp>
      <p:sp>
        <p:nvSpPr>
          <p:cNvPr id="25" name="Text 22"/>
          <p:cNvSpPr/>
          <p:nvPr/>
        </p:nvSpPr>
        <p:spPr>
          <a:xfrm>
            <a:off x="6812280" y="2935224"/>
            <a:ext cx="4553712" cy="953564"/>
          </a:xfrm>
          <a:prstGeom prst="rect">
            <a:avLst/>
          </a:prstGeom>
          <a:noFill/>
          <a:ln/>
        </p:spPr>
        <p:txBody>
          <a:bodyPr wrap="square" lIns="0" tIns="0" rIns="0" bIns="0" rtlCol="0" anchor="ctr"/>
          <a:lstStyle/>
          <a:p>
            <a:r>
              <a:rPr lang="en-US" sz="1050" b="1" dirty="0"/>
              <a:t>Key Opportunity: Tobacco</a:t>
            </a:r>
          </a:p>
          <a:p>
            <a:r>
              <a:rPr lang="en-US" sz="1050" dirty="0"/>
              <a:t>Sierra Leone taxes cigarettes at ≈ USD 0.14/pack — 10–15% of retail, against a WHO benchmark of 75% and Uganda's USD 0.35. With no domestic tobacco industry to resist it, this is among the clearest revenue-and-health opportunities the diagnostic surfaces.</a:t>
            </a:r>
          </a:p>
        </p:txBody>
      </p:sp>
      <p:sp>
        <p:nvSpPr>
          <p:cNvPr id="26" name="Text 23"/>
          <p:cNvSpPr/>
          <p:nvPr/>
        </p:nvSpPr>
        <p:spPr>
          <a:xfrm>
            <a:off x="6629400" y="4251960"/>
            <a:ext cx="4736592" cy="228600"/>
          </a:xfrm>
          <a:prstGeom prst="rect">
            <a:avLst/>
          </a:prstGeom>
          <a:noFill/>
          <a:ln/>
        </p:spPr>
        <p:txBody>
          <a:bodyPr wrap="square" lIns="0" tIns="0" rIns="0" bIns="0" rtlCol="0" anchor="ctr"/>
          <a:lstStyle/>
          <a:p>
            <a:pPr marL="0" indent="0">
              <a:buNone/>
            </a:pPr>
            <a:r>
              <a:rPr lang="en-US" sz="1400" b="1" kern="0" spc="500" dirty="0">
                <a:solidFill>
                  <a:srgbClr val="1E2761"/>
                </a:solidFill>
                <a:latin typeface="Calibri" pitchFamily="34" charset="0"/>
                <a:ea typeface="Calibri" pitchFamily="34" charset="-122"/>
                <a:cs typeface="Calibri" pitchFamily="34" charset="-120"/>
              </a:rPr>
              <a:t>OTHER FINDINGS</a:t>
            </a:r>
            <a:endParaRPr lang="en-US" sz="1400" dirty="0"/>
          </a:p>
        </p:txBody>
      </p:sp>
      <p:sp>
        <p:nvSpPr>
          <p:cNvPr id="27" name="Text 24"/>
          <p:cNvSpPr/>
          <p:nvPr/>
        </p:nvSpPr>
        <p:spPr>
          <a:xfrm>
            <a:off x="6629400" y="4480560"/>
            <a:ext cx="4736592" cy="1135236"/>
          </a:xfrm>
          <a:prstGeom prst="rect">
            <a:avLst/>
          </a:prstGeom>
          <a:noFill/>
          <a:ln/>
        </p:spPr>
        <p:txBody>
          <a:bodyPr wrap="square" lIns="0" tIns="0" rIns="0" bIns="0" rtlCol="0" anchor="ctr"/>
          <a:lstStyle/>
          <a:p>
            <a:pPr marL="342900" indent="-342900">
              <a:spcAft>
                <a:spcPts val="400"/>
              </a:spcAft>
              <a:buSzPct val="100000"/>
              <a:buChar char="▪"/>
            </a:pPr>
            <a:r>
              <a:rPr lang="en-US" sz="1200" dirty="0">
                <a:solidFill>
                  <a:srgbClr val="1F2747"/>
                </a:solidFill>
                <a:latin typeface="Calibri" pitchFamily="34" charset="0"/>
                <a:ea typeface="Calibri" pitchFamily="34" charset="-122"/>
                <a:cs typeface="Calibri" pitchFamily="34" charset="-120"/>
              </a:rPr>
              <a:t>General soft drinks essentially untaxed by excise</a:t>
            </a:r>
            <a:endParaRPr lang="en-US" sz="1200" dirty="0"/>
          </a:p>
          <a:p>
            <a:pPr marL="342900" indent="-342900">
              <a:spcAft>
                <a:spcPts val="400"/>
              </a:spcAft>
              <a:buSzPct val="100000"/>
              <a:buChar char="▪"/>
            </a:pPr>
            <a:r>
              <a:rPr lang="en-US" sz="1200" dirty="0">
                <a:solidFill>
                  <a:srgbClr val="1F2747"/>
                </a:solidFill>
                <a:latin typeface="Calibri" pitchFamily="34" charset="0"/>
                <a:ea typeface="Calibri" pitchFamily="34" charset="-122"/>
                <a:cs typeface="Calibri" pitchFamily="34" charset="-120"/>
              </a:rPr>
              <a:t>Aggregate priority excise raises 0.7–0.9% of GDP — half of Uganda</a:t>
            </a:r>
            <a:endParaRPr lang="en-US" sz="1200" dirty="0"/>
          </a:p>
        </p:txBody>
      </p:sp>
      <p:sp>
        <p:nvSpPr>
          <p:cNvPr id="28" name="Text 25"/>
          <p:cNvSpPr/>
          <p:nvPr/>
        </p:nvSpPr>
        <p:spPr>
          <a:xfrm>
            <a:off x="548640" y="6565392"/>
            <a:ext cx="10972800" cy="228600"/>
          </a:xfrm>
          <a:prstGeom prst="rect">
            <a:avLst/>
          </a:prstGeom>
          <a:noFill/>
          <a:ln/>
        </p:spPr>
        <p:txBody>
          <a:bodyPr wrap="square" lIns="0" tIns="0" rIns="0" bIns="0" rtlCol="0" anchor="ctr"/>
          <a:lstStyle/>
          <a:p>
            <a:pPr marL="0" indent="0">
              <a:buNone/>
            </a:pPr>
            <a:r>
              <a:rPr lang="en-US" sz="900" dirty="0">
                <a:solidFill>
                  <a:srgbClr val="6B7693"/>
                </a:solidFill>
                <a:latin typeface="Calibri" pitchFamily="34" charset="0"/>
                <a:ea typeface="Calibri" pitchFamily="34" charset="-122"/>
                <a:cs typeface="Calibri" pitchFamily="34" charset="-120"/>
              </a:rPr>
              <a:t>Excise Diagnostic  ·  07 / 08</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5">
    <p:bg>
      <p:bgPr>
        <a:solidFill>
          <a:srgbClr val="121A47"/>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D4A24C"/>
          </a:solidFill>
          <a:ln/>
        </p:spPr>
        <p:txBody>
          <a:bodyPr/>
          <a:lstStyle/>
          <a:p>
            <a:endParaRPr lang="en-US"/>
          </a:p>
        </p:txBody>
      </p:sp>
      <p:sp>
        <p:nvSpPr>
          <p:cNvPr id="3" name="Text 1"/>
          <p:cNvSpPr/>
          <p:nvPr/>
        </p:nvSpPr>
        <p:spPr>
          <a:xfrm>
            <a:off x="640080" y="411480"/>
            <a:ext cx="5486400" cy="274320"/>
          </a:xfrm>
          <a:prstGeom prst="rect">
            <a:avLst/>
          </a:prstGeom>
          <a:noFill/>
          <a:ln/>
        </p:spPr>
        <p:txBody>
          <a:bodyPr wrap="square" lIns="0" tIns="0" rIns="0" bIns="0" rtlCol="0" anchor="ctr"/>
          <a:lstStyle/>
          <a:p>
            <a:pPr marL="0" indent="0">
              <a:buNone/>
            </a:pPr>
            <a:r>
              <a:rPr lang="en-US" sz="1100" b="1" kern="0" spc="600" dirty="0">
                <a:solidFill>
                  <a:srgbClr val="D4A24C"/>
                </a:solidFill>
                <a:latin typeface="Calibri" pitchFamily="34" charset="0"/>
                <a:ea typeface="Calibri" pitchFamily="34" charset="-122"/>
                <a:cs typeface="Calibri" pitchFamily="34" charset="-120"/>
              </a:rPr>
              <a:t>06 — CONCLUSION</a:t>
            </a:r>
            <a:endParaRPr lang="en-US" sz="1100" dirty="0"/>
          </a:p>
        </p:txBody>
      </p:sp>
      <p:sp>
        <p:nvSpPr>
          <p:cNvPr id="4" name="Text 2"/>
          <p:cNvSpPr/>
          <p:nvPr/>
        </p:nvSpPr>
        <p:spPr>
          <a:xfrm>
            <a:off x="640080" y="713232"/>
            <a:ext cx="10972800" cy="777240"/>
          </a:xfrm>
          <a:prstGeom prst="rect">
            <a:avLst/>
          </a:prstGeom>
          <a:noFill/>
          <a:ln/>
        </p:spPr>
        <p:txBody>
          <a:bodyPr wrap="square" lIns="0" tIns="0" rIns="0" bIns="0" rtlCol="0" anchor="ctr"/>
          <a:lstStyle/>
          <a:p>
            <a:pPr marL="0" indent="0">
              <a:buNone/>
            </a:pPr>
            <a:r>
              <a:rPr lang="en-US" sz="3200" b="1" dirty="0">
                <a:solidFill>
                  <a:srgbClr val="FFFFFF"/>
                </a:solidFill>
                <a:latin typeface="Georgia" pitchFamily="34" charset="0"/>
                <a:ea typeface="Georgia" pitchFamily="34" charset="-122"/>
                <a:cs typeface="Georgia" pitchFamily="34" charset="-120"/>
              </a:rPr>
              <a:t>A synthesis, not new modelling</a:t>
            </a:r>
            <a:endParaRPr lang="en-US" sz="3200" dirty="0"/>
          </a:p>
        </p:txBody>
      </p:sp>
      <p:sp>
        <p:nvSpPr>
          <p:cNvPr id="5" name="Text 3"/>
          <p:cNvSpPr/>
          <p:nvPr/>
        </p:nvSpPr>
        <p:spPr>
          <a:xfrm>
            <a:off x="640080" y="1691640"/>
            <a:ext cx="10607040" cy="1005840"/>
          </a:xfrm>
          <a:prstGeom prst="rect">
            <a:avLst/>
          </a:prstGeom>
          <a:noFill/>
          <a:ln/>
        </p:spPr>
        <p:txBody>
          <a:bodyPr wrap="square" lIns="0" tIns="0" rIns="0" bIns="0" rtlCol="0" anchor="ctr"/>
          <a:lstStyle/>
          <a:p>
            <a:pPr marL="0" indent="0">
              <a:buNone/>
            </a:pPr>
            <a:r>
              <a:rPr lang="en-US" sz="1400" dirty="0">
                <a:solidFill>
                  <a:srgbClr val="CADCFC"/>
                </a:solidFill>
                <a:latin typeface="Calibri" pitchFamily="34" charset="0"/>
                <a:ea typeface="Calibri" pitchFamily="34" charset="-122"/>
                <a:cs typeface="Calibri" pitchFamily="34" charset="-120"/>
              </a:rPr>
              <a:t>The diagnostic does not generate new estimates where existing tools already do. It turns a country's excise schedule into one structured report — categorised, standardised on three measures, and benchmarked — that a finance minister can read and act on. The discipline of fixed structure is the contribution.</a:t>
            </a:r>
            <a:endParaRPr lang="en-US" sz="1400" dirty="0"/>
          </a:p>
        </p:txBody>
      </p:sp>
      <p:sp>
        <p:nvSpPr>
          <p:cNvPr id="6" name="Shape 4"/>
          <p:cNvSpPr/>
          <p:nvPr/>
        </p:nvSpPr>
        <p:spPr>
          <a:xfrm>
            <a:off x="640080" y="2926080"/>
            <a:ext cx="3520440" cy="2286000"/>
          </a:xfrm>
          <a:prstGeom prst="rect">
            <a:avLst/>
          </a:prstGeom>
          <a:solidFill>
            <a:srgbClr val="1E2761"/>
          </a:solidFill>
          <a:ln w="6350">
            <a:solidFill>
              <a:srgbClr val="FFFFFF">
                <a:alpha val="40000"/>
              </a:srgbClr>
            </a:solidFill>
            <a:prstDash val="solid"/>
          </a:ln>
        </p:spPr>
        <p:txBody>
          <a:bodyPr/>
          <a:lstStyle/>
          <a:p>
            <a:endParaRPr lang="en-US"/>
          </a:p>
        </p:txBody>
      </p:sp>
      <p:sp>
        <p:nvSpPr>
          <p:cNvPr id="7" name="Shape 5"/>
          <p:cNvSpPr/>
          <p:nvPr/>
        </p:nvSpPr>
        <p:spPr>
          <a:xfrm>
            <a:off x="640080" y="2926080"/>
            <a:ext cx="3520440" cy="54864"/>
          </a:xfrm>
          <a:prstGeom prst="rect">
            <a:avLst/>
          </a:prstGeom>
          <a:solidFill>
            <a:srgbClr val="D4A24C"/>
          </a:solidFill>
          <a:ln/>
        </p:spPr>
        <p:txBody>
          <a:bodyPr/>
          <a:lstStyle/>
          <a:p>
            <a:endParaRPr lang="en-US"/>
          </a:p>
        </p:txBody>
      </p:sp>
      <p:pic>
        <p:nvPicPr>
          <p:cNvPr id="8" name="Image 0" descr="preencoded.png"/>
          <p:cNvPicPr>
            <a:picLocks noChangeAspect="1"/>
          </p:cNvPicPr>
          <p:nvPr/>
        </p:nvPicPr>
        <p:blipFill>
          <a:blip r:embed="rId3"/>
          <a:stretch>
            <a:fillRect/>
          </a:stretch>
        </p:blipFill>
        <p:spPr>
          <a:xfrm>
            <a:off x="914400" y="3200400"/>
            <a:ext cx="411480" cy="411480"/>
          </a:xfrm>
          <a:prstGeom prst="rect">
            <a:avLst/>
          </a:prstGeom>
        </p:spPr>
      </p:pic>
      <p:sp>
        <p:nvSpPr>
          <p:cNvPr id="9" name="Text 6"/>
          <p:cNvSpPr/>
          <p:nvPr/>
        </p:nvSpPr>
        <p:spPr>
          <a:xfrm>
            <a:off x="914400" y="3703320"/>
            <a:ext cx="2971800" cy="365760"/>
          </a:xfrm>
          <a:prstGeom prst="rect">
            <a:avLst/>
          </a:prstGeom>
          <a:noFill/>
          <a:ln/>
        </p:spPr>
        <p:txBody>
          <a:bodyPr wrap="square" lIns="0" tIns="0" rIns="0" bIns="0" rtlCol="0" anchor="ctr"/>
          <a:lstStyle/>
          <a:p>
            <a:pPr marL="0" indent="0">
              <a:buNone/>
            </a:pPr>
            <a:r>
              <a:rPr lang="en-US" sz="1100" b="1" kern="0" spc="500" dirty="0">
                <a:solidFill>
                  <a:srgbClr val="D4A24C"/>
                </a:solidFill>
                <a:latin typeface="Calibri" pitchFamily="34" charset="0"/>
                <a:ea typeface="Calibri" pitchFamily="34" charset="-122"/>
                <a:cs typeface="Calibri" pitchFamily="34" charset="-120"/>
              </a:rPr>
              <a:t>WORKING PAPER</a:t>
            </a:r>
            <a:endParaRPr lang="en-US" sz="1100" dirty="0"/>
          </a:p>
        </p:txBody>
      </p:sp>
      <p:sp>
        <p:nvSpPr>
          <p:cNvPr id="10" name="Text 7"/>
          <p:cNvSpPr/>
          <p:nvPr/>
        </p:nvSpPr>
        <p:spPr>
          <a:xfrm>
            <a:off x="914400" y="4069080"/>
            <a:ext cx="2971800" cy="105156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~30 pages. Fixes the typology, the three measures, the four-level report and the default valuation parameters.</a:t>
            </a:r>
            <a:endParaRPr lang="en-US" sz="1200" dirty="0"/>
          </a:p>
        </p:txBody>
      </p:sp>
      <p:sp>
        <p:nvSpPr>
          <p:cNvPr id="11" name="Shape 8"/>
          <p:cNvSpPr/>
          <p:nvPr/>
        </p:nvSpPr>
        <p:spPr>
          <a:xfrm>
            <a:off x="4343400" y="2926080"/>
            <a:ext cx="3520440" cy="2286000"/>
          </a:xfrm>
          <a:prstGeom prst="rect">
            <a:avLst/>
          </a:prstGeom>
          <a:solidFill>
            <a:srgbClr val="1E2761"/>
          </a:solidFill>
          <a:ln w="6350">
            <a:solidFill>
              <a:srgbClr val="FFFFFF">
                <a:alpha val="40000"/>
              </a:srgbClr>
            </a:solidFill>
            <a:prstDash val="solid"/>
          </a:ln>
        </p:spPr>
        <p:txBody>
          <a:bodyPr/>
          <a:lstStyle/>
          <a:p>
            <a:endParaRPr lang="en-US"/>
          </a:p>
        </p:txBody>
      </p:sp>
      <p:sp>
        <p:nvSpPr>
          <p:cNvPr id="12" name="Shape 9"/>
          <p:cNvSpPr/>
          <p:nvPr/>
        </p:nvSpPr>
        <p:spPr>
          <a:xfrm>
            <a:off x="4343400" y="2926080"/>
            <a:ext cx="3520440" cy="54864"/>
          </a:xfrm>
          <a:prstGeom prst="rect">
            <a:avLst/>
          </a:prstGeom>
          <a:solidFill>
            <a:srgbClr val="D4A24C"/>
          </a:solidFill>
          <a:ln/>
        </p:spPr>
        <p:txBody>
          <a:bodyPr/>
          <a:lstStyle/>
          <a:p>
            <a:endParaRPr lang="en-US"/>
          </a:p>
        </p:txBody>
      </p:sp>
      <p:pic>
        <p:nvPicPr>
          <p:cNvPr id="13" name="Image 1" descr="preencoded.png"/>
          <p:cNvPicPr>
            <a:picLocks noChangeAspect="1"/>
          </p:cNvPicPr>
          <p:nvPr/>
        </p:nvPicPr>
        <p:blipFill>
          <a:blip r:embed="rId4"/>
          <a:stretch>
            <a:fillRect/>
          </a:stretch>
        </p:blipFill>
        <p:spPr>
          <a:xfrm>
            <a:off x="4617720" y="3200400"/>
            <a:ext cx="411480" cy="411480"/>
          </a:xfrm>
          <a:prstGeom prst="rect">
            <a:avLst/>
          </a:prstGeom>
        </p:spPr>
      </p:pic>
      <p:sp>
        <p:nvSpPr>
          <p:cNvPr id="14" name="Text 10"/>
          <p:cNvSpPr/>
          <p:nvPr/>
        </p:nvSpPr>
        <p:spPr>
          <a:xfrm>
            <a:off x="4617720" y="3703320"/>
            <a:ext cx="2971800" cy="365760"/>
          </a:xfrm>
          <a:prstGeom prst="rect">
            <a:avLst/>
          </a:prstGeom>
          <a:noFill/>
          <a:ln/>
        </p:spPr>
        <p:txBody>
          <a:bodyPr wrap="square" lIns="0" tIns="0" rIns="0" bIns="0" rtlCol="0" anchor="ctr"/>
          <a:lstStyle/>
          <a:p>
            <a:pPr marL="0" indent="0">
              <a:buNone/>
            </a:pPr>
            <a:r>
              <a:rPr lang="en-US" sz="1100" b="1" kern="0" spc="500" dirty="0">
                <a:solidFill>
                  <a:srgbClr val="D4A24C"/>
                </a:solidFill>
                <a:latin typeface="Calibri" pitchFamily="34" charset="0"/>
                <a:ea typeface="Calibri" pitchFamily="34" charset="-122"/>
                <a:cs typeface="Calibri" pitchFamily="34" charset="-120"/>
              </a:rPr>
              <a:t>TEMPLATE + SPREADSHEET</a:t>
            </a:r>
            <a:endParaRPr lang="en-US" sz="1100" dirty="0"/>
          </a:p>
        </p:txBody>
      </p:sp>
      <p:sp>
        <p:nvSpPr>
          <p:cNvPr id="15" name="Text 11"/>
          <p:cNvSpPr/>
          <p:nvPr/>
        </p:nvSpPr>
        <p:spPr>
          <a:xfrm>
            <a:off x="4617720" y="4069080"/>
            <a:ext cx="2971800" cy="105156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A fixed Word template populated from a parameter spreadsheet. Country teams produce a draft report in 2–3 weeks using existing inputs.</a:t>
            </a:r>
            <a:endParaRPr lang="en-US" sz="1200" dirty="0"/>
          </a:p>
        </p:txBody>
      </p:sp>
      <p:sp>
        <p:nvSpPr>
          <p:cNvPr id="16" name="Shape 12"/>
          <p:cNvSpPr/>
          <p:nvPr/>
        </p:nvSpPr>
        <p:spPr>
          <a:xfrm>
            <a:off x="8046720" y="2926080"/>
            <a:ext cx="3520440" cy="2286000"/>
          </a:xfrm>
          <a:prstGeom prst="rect">
            <a:avLst/>
          </a:prstGeom>
          <a:solidFill>
            <a:srgbClr val="1E2761"/>
          </a:solidFill>
          <a:ln w="6350">
            <a:solidFill>
              <a:srgbClr val="FFFFFF">
                <a:alpha val="40000"/>
              </a:srgbClr>
            </a:solidFill>
            <a:prstDash val="solid"/>
          </a:ln>
        </p:spPr>
        <p:txBody>
          <a:bodyPr/>
          <a:lstStyle/>
          <a:p>
            <a:endParaRPr lang="en-US"/>
          </a:p>
        </p:txBody>
      </p:sp>
      <p:sp>
        <p:nvSpPr>
          <p:cNvPr id="17" name="Shape 13"/>
          <p:cNvSpPr/>
          <p:nvPr/>
        </p:nvSpPr>
        <p:spPr>
          <a:xfrm>
            <a:off x="8046720" y="2926080"/>
            <a:ext cx="3520440" cy="54864"/>
          </a:xfrm>
          <a:prstGeom prst="rect">
            <a:avLst/>
          </a:prstGeom>
          <a:solidFill>
            <a:srgbClr val="D4A24C"/>
          </a:solidFill>
          <a:ln/>
        </p:spPr>
        <p:txBody>
          <a:bodyPr/>
          <a:lstStyle/>
          <a:p>
            <a:endParaRPr lang="en-US"/>
          </a:p>
        </p:txBody>
      </p:sp>
      <p:pic>
        <p:nvPicPr>
          <p:cNvPr id="18" name="Image 2" descr="preencoded.png"/>
          <p:cNvPicPr>
            <a:picLocks noChangeAspect="1"/>
          </p:cNvPicPr>
          <p:nvPr/>
        </p:nvPicPr>
        <p:blipFill>
          <a:blip r:embed="rId5"/>
          <a:stretch>
            <a:fillRect/>
          </a:stretch>
        </p:blipFill>
        <p:spPr>
          <a:xfrm>
            <a:off x="8321040" y="3200400"/>
            <a:ext cx="411480" cy="411480"/>
          </a:xfrm>
          <a:prstGeom prst="rect">
            <a:avLst/>
          </a:prstGeom>
        </p:spPr>
      </p:pic>
      <p:sp>
        <p:nvSpPr>
          <p:cNvPr id="19" name="Text 14"/>
          <p:cNvSpPr/>
          <p:nvPr/>
        </p:nvSpPr>
        <p:spPr>
          <a:xfrm>
            <a:off x="8321040" y="3703320"/>
            <a:ext cx="2971800" cy="365760"/>
          </a:xfrm>
          <a:prstGeom prst="rect">
            <a:avLst/>
          </a:prstGeom>
          <a:noFill/>
          <a:ln/>
        </p:spPr>
        <p:txBody>
          <a:bodyPr wrap="square" lIns="0" tIns="0" rIns="0" bIns="0" rtlCol="0" anchor="ctr"/>
          <a:lstStyle/>
          <a:p>
            <a:pPr marL="0" indent="0">
              <a:buNone/>
            </a:pPr>
            <a:r>
              <a:rPr lang="en-US" sz="1100" b="1" kern="0" spc="500" dirty="0">
                <a:solidFill>
                  <a:srgbClr val="D4A24C"/>
                </a:solidFill>
                <a:latin typeface="Calibri" pitchFamily="34" charset="0"/>
                <a:ea typeface="Calibri" pitchFamily="34" charset="-122"/>
                <a:cs typeface="Calibri" pitchFamily="34" charset="-120"/>
              </a:rPr>
              <a:t>TWO PILOTS DONE</a:t>
            </a:r>
            <a:endParaRPr lang="en-US" sz="1100" dirty="0"/>
          </a:p>
        </p:txBody>
      </p:sp>
      <p:sp>
        <p:nvSpPr>
          <p:cNvPr id="20" name="Text 15"/>
          <p:cNvSpPr/>
          <p:nvPr/>
        </p:nvSpPr>
        <p:spPr>
          <a:xfrm>
            <a:off x="8321040" y="4069080"/>
            <a:ext cx="2971800" cy="105156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Uganda and Sierra Leone diagnostics are complete and cross-checked line-by-line against gazetted texts. A third country should take two to three weeks.</a:t>
            </a:r>
            <a:endParaRPr lang="en-US" sz="1200" dirty="0"/>
          </a:p>
        </p:txBody>
      </p:sp>
      <p:sp>
        <p:nvSpPr>
          <p:cNvPr id="21" name="Shape 16"/>
          <p:cNvSpPr/>
          <p:nvPr/>
        </p:nvSpPr>
        <p:spPr>
          <a:xfrm>
            <a:off x="640080" y="5577840"/>
            <a:ext cx="10972800" cy="777240"/>
          </a:xfrm>
          <a:prstGeom prst="rect">
            <a:avLst/>
          </a:prstGeom>
          <a:solidFill>
            <a:srgbClr val="1E2761"/>
          </a:solidFill>
          <a:ln w="12700">
            <a:solidFill>
              <a:srgbClr val="D4A24C"/>
            </a:solidFill>
            <a:prstDash val="solid"/>
          </a:ln>
        </p:spPr>
        <p:txBody>
          <a:bodyPr/>
          <a:lstStyle/>
          <a:p>
            <a:endParaRPr lang="en-US"/>
          </a:p>
        </p:txBody>
      </p:sp>
      <p:sp>
        <p:nvSpPr>
          <p:cNvPr id="22" name="Text 17"/>
          <p:cNvSpPr/>
          <p:nvPr/>
        </p:nvSpPr>
        <p:spPr>
          <a:xfrm>
            <a:off x="868680" y="5605272"/>
            <a:ext cx="10515600" cy="731520"/>
          </a:xfrm>
          <a:prstGeom prst="rect">
            <a:avLst/>
          </a:prstGeom>
          <a:noFill/>
          <a:ln/>
        </p:spPr>
        <p:txBody>
          <a:bodyPr wrap="square" lIns="0" tIns="0" rIns="0" bIns="0" rtlCol="0" anchor="ctr"/>
          <a:lstStyle/>
          <a:p>
            <a:pPr marL="0" indent="0">
              <a:buNone/>
            </a:pPr>
            <a:r>
              <a:rPr lang="en-US" sz="1400" i="1" dirty="0">
                <a:solidFill>
                  <a:srgbClr val="FFFFFF"/>
                </a:solidFill>
                <a:latin typeface="Georgia" pitchFamily="34" charset="0"/>
                <a:ea typeface="Georgia" pitchFamily="34" charset="-122"/>
                <a:cs typeface="Georgia" pitchFamily="34" charset="-120"/>
              </a:rPr>
              <a:t>“The diagnostic does not require new institutional architecture. It is a structured read of the schedule a country team can act on in two to three weeks.”</a:t>
            </a:r>
            <a:endParaRPr lang="en-US" sz="1400" dirty="0"/>
          </a:p>
        </p:txBody>
      </p:sp>
      <p:sp>
        <p:nvSpPr>
          <p:cNvPr id="23" name="Text 18"/>
          <p:cNvSpPr/>
          <p:nvPr/>
        </p:nvSpPr>
        <p:spPr>
          <a:xfrm>
            <a:off x="640080" y="6565392"/>
            <a:ext cx="10972800" cy="228600"/>
          </a:xfrm>
          <a:prstGeom prst="rect">
            <a:avLst/>
          </a:prstGeom>
          <a:noFill/>
          <a:ln/>
        </p:spPr>
        <p:txBody>
          <a:bodyPr wrap="square" lIns="0" tIns="0" rIns="0" bIns="0" rtlCol="0" anchor="ctr"/>
          <a:lstStyle/>
          <a:p>
            <a:pPr marL="0" indent="0">
              <a:buNone/>
            </a:pPr>
            <a:r>
              <a:rPr lang="en-US" sz="900" dirty="0">
                <a:solidFill>
                  <a:srgbClr val="CADCFC">
                    <a:alpha val="70000"/>
                  </a:srgbClr>
                </a:solidFill>
                <a:latin typeface="Calibri" pitchFamily="34" charset="0"/>
                <a:ea typeface="Calibri" pitchFamily="34" charset="-122"/>
                <a:cs typeface="Calibri" pitchFamily="34" charset="-120"/>
              </a:rPr>
              <a:t>Excise Diagnostic  ·  08 / 08</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Ion</Template>
  <TotalTime>135</TotalTime>
  <Words>2329</Words>
  <Application>Microsoft Office PowerPoint</Application>
  <PresentationFormat>Widescreen</PresentationFormat>
  <Paragraphs>256</Paragraphs>
  <Slides>11</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Automated Excise-Fiscal Reports</dc:title>
  <dc:subject>PptxGenJS Presentation</dc:subject>
  <dc:creator>Stephen — World Bank</dc:creator>
  <cp:lastModifiedBy>Stephen John Stretton</cp:lastModifiedBy>
  <cp:revision>6</cp:revision>
  <cp:lastPrinted>2026-05-21T16:58:06Z</cp:lastPrinted>
  <dcterms:created xsi:type="dcterms:W3CDTF">2026-05-07T22:14:14Z</dcterms:created>
  <dcterms:modified xsi:type="dcterms:W3CDTF">2026-05-21T21:13:43Z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89608d83-f952-409d-b7c5-456515bbbf5a_Enabled">
    <vt:lpwstr>true</vt:lpwstr>
  </property>
  <property fmtid="{D5CDD505-2E9C-101B-9397-08002B2CF9AE}" pid="3" name="MSIP_Label_89608d83-f952-409d-b7c5-456515bbbf5a_SetDate">
    <vt:lpwstr>2026-05-21T18:38:31Z</vt:lpwstr>
  </property>
  <property fmtid="{D5CDD505-2E9C-101B-9397-08002B2CF9AE}" pid="4" name="MSIP_Label_89608d83-f952-409d-b7c5-456515bbbf5a_Method">
    <vt:lpwstr>Privileged</vt:lpwstr>
  </property>
  <property fmtid="{D5CDD505-2E9C-101B-9397-08002B2CF9AE}" pid="5" name="MSIP_Label_89608d83-f952-409d-b7c5-456515bbbf5a_Name">
    <vt:lpwstr>Public</vt:lpwstr>
  </property>
  <property fmtid="{D5CDD505-2E9C-101B-9397-08002B2CF9AE}" pid="6" name="MSIP_Label_89608d83-f952-409d-b7c5-456515bbbf5a_SiteId">
    <vt:lpwstr>31a2fec0-266b-4c67-b56e-2796d8f59c36</vt:lpwstr>
  </property>
  <property fmtid="{D5CDD505-2E9C-101B-9397-08002B2CF9AE}" pid="7" name="MSIP_Label_89608d83-f952-409d-b7c5-456515bbbf5a_ActionId">
    <vt:lpwstr>4a398676-1ad7-4fc2-be92-53d8c175ee45</vt:lpwstr>
  </property>
  <property fmtid="{D5CDD505-2E9C-101B-9397-08002B2CF9AE}" pid="8" name="MSIP_Label_89608d83-f952-409d-b7c5-456515bbbf5a_ContentBits">
    <vt:lpwstr>0</vt:lpwstr>
  </property>
  <property fmtid="{D5CDD505-2E9C-101B-9397-08002B2CF9AE}" pid="9" name="MSIP_Label_89608d83-f952-409d-b7c5-456515bbbf5a_Tag">
    <vt:lpwstr>10, 0, 1, 1</vt:lpwstr>
  </property>
</Properties>
</file>