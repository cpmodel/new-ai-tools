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10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13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proposal for a standard fiscal layer that ships with every CCDR, not a new standalone diagnostic. Scope is mitigation finance.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if you have five minutes rather than twenty. The four findings map to the four things the module adds that a CCDR does not currently produce.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comparability point — it is a problem the CCDR team has already named publicly, so this is filling a stated gap rather than inventing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ordering is the argument: you cannot advise a country on financing before you know whether it is a fossil exporter with revenue to lose or an importer with a bill to cut.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maturity: frame as consolidation of existing tools, not a build from zero. Emphasize that comparability is a by-product of a shared core, not a separate workstream.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indicators is the ceiling, not the floor. If it grows past that it stops being a scorecard and starts being a report nobody refreshes.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original pitch was missing. It converts 'mitigation is a revenue problem' from an assertion into a split you can act 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turf question here, out loud. Position as an indexing layer over C-PIMA, PEFA's climate module and existing C-PEIRs.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pushback that this is standard. The novelty is the third column: making the fiscal footprint of derisking explicit and comparable across the portfolio.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small ask. A pilot on countries already in the drafting queue costs almost nothing to say yes 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1577C1-7E29-1F20-18BF-196B908D155A}"/>
              </a:ext>
            </a:extLst>
          </p:cNvPr>
          <p:cNvSpPr txBox="1"/>
          <p:nvPr userDrawn="1">
            <p:extLst>
              <p:ext uri="{1162E1C5-73C7-4A58-AE30-91384D911F3F}">
                <p184:classification xmlns:p184="http://schemas.microsoft.com/office/powerpoint/2018/4/main" val="ftr"/>
              </p:ext>
            </p:extLst>
          </p:nvPr>
        </p:nvSpPr>
        <p:spPr>
          <a:xfrm>
            <a:off x="11210925" y="6642100"/>
            <a:ext cx="9429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Official Use Only</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A"/>
        </a:solidFill>
        <a:effectLst/>
      </p:bgPr>
    </p:bg>
    <p:spTree>
      <p:nvGrpSpPr>
        <p:cNvPr id="1" name=""/>
        <p:cNvGrpSpPr/>
        <p:nvPr/>
      </p:nvGrpSpPr>
      <p:grpSpPr>
        <a:xfrm>
          <a:off x="0" y="0"/>
          <a:ext cx="0" cy="0"/>
          <a:chOff x="0" y="0"/>
          <a:chExt cx="0" cy="0"/>
        </a:xfrm>
      </p:grpSpPr>
      <p:sp>
        <p:nvSpPr>
          <p:cNvPr id="2" name="Text 0"/>
          <p:cNvSpPr txBox="1"/>
          <p:nvPr/>
        </p:nvSpPr>
        <p:spPr>
          <a:xfrm>
            <a:off x="640080" y="685800"/>
            <a:ext cx="7315200" cy="274320"/>
          </a:xfrm>
          <a:prstGeom prst="rect">
            <a:avLst/>
          </a:prstGeom>
          <a:noFill/>
          <a:ln/>
        </p:spPr>
        <p:txBody>
          <a:bodyPr wrap="square" lIns="0" tIns="0" rIns="0" bIns="0" rtlCol="0" anchor="ctr"/>
          <a:lstStyle/>
          <a:p>
            <a:pPr marL="0" indent="0">
              <a:buNone/>
            </a:pPr>
            <a:r>
              <a:rPr lang="en-US" sz="1000" b="1" kern="0" spc="200" dirty="0">
                <a:solidFill>
                  <a:srgbClr val="C05621"/>
                </a:solidFill>
                <a:latin typeface="Cambria" pitchFamily="34" charset="0"/>
                <a:ea typeface="Cambria" pitchFamily="34" charset="-122"/>
                <a:cs typeface="Cambria" pitchFamily="34" charset="-120"/>
              </a:rPr>
              <a:t>WORLD BANK GROUP  ·  CONCEPT NOTE</a:t>
            </a:r>
            <a:endParaRPr lang="en-US" sz="1000" dirty="0"/>
          </a:p>
        </p:txBody>
      </p:sp>
      <p:sp>
        <p:nvSpPr>
          <p:cNvPr id="3" name="Text 1"/>
          <p:cNvSpPr txBox="1"/>
          <p:nvPr/>
        </p:nvSpPr>
        <p:spPr>
          <a:xfrm>
            <a:off x="640080" y="1691640"/>
            <a:ext cx="7680960" cy="2011680"/>
          </a:xfrm>
          <a:prstGeom prst="rect">
            <a:avLst/>
          </a:prstGeom>
          <a:noFill/>
          <a:ln/>
        </p:spPr>
        <p:txBody>
          <a:bodyPr wrap="square" lIns="0" tIns="0" rIns="0" bIns="0" rtlCol="0" anchor="ctr"/>
          <a:lstStyle/>
          <a:p>
            <a:pPr>
              <a:lnSpc>
                <a:spcPts val="4800"/>
              </a:lnSpc>
            </a:pPr>
            <a:r>
              <a:rPr lang="en-US" sz="4000" b="1" dirty="0">
                <a:solidFill>
                  <a:srgbClr val="FFFFFF"/>
                </a:solidFill>
                <a:latin typeface="Century Schoolbook" pitchFamily="34" charset="0"/>
                <a:ea typeface="Century Schoolbook" pitchFamily="34" charset="-122"/>
                <a:cs typeface="Century Schoolbook" pitchFamily="34" charset="-120"/>
              </a:rPr>
              <a:t>Tax-Macro-Fiscal-Dashboard</a:t>
            </a:r>
            <a:endParaRPr lang="en-US" sz="4000" dirty="0"/>
          </a:p>
        </p:txBody>
      </p:sp>
      <p:sp>
        <p:nvSpPr>
          <p:cNvPr id="4" name="Text 2"/>
          <p:cNvSpPr txBox="1"/>
          <p:nvPr/>
        </p:nvSpPr>
        <p:spPr>
          <a:xfrm>
            <a:off x="640080" y="4069080"/>
            <a:ext cx="6949440" cy="640080"/>
          </a:xfrm>
          <a:prstGeom prst="rect">
            <a:avLst/>
          </a:prstGeom>
          <a:noFill/>
          <a:ln/>
        </p:spPr>
        <p:txBody>
          <a:bodyPr wrap="square" lIns="0" tIns="0" rIns="0" bIns="0" rtlCol="0" anchor="ctr"/>
          <a:lstStyle/>
          <a:p>
            <a:pPr marL="0" indent="0">
              <a:lnSpc>
                <a:spcPts val="2200"/>
              </a:lnSpc>
              <a:buNone/>
            </a:pPr>
            <a:r>
              <a:rPr lang="en-US" sz="1500" dirty="0">
                <a:solidFill>
                  <a:srgbClr val="AEBECD"/>
                </a:solidFill>
                <a:latin typeface="Cambria" pitchFamily="34" charset="0"/>
                <a:ea typeface="Cambria" pitchFamily="34" charset="-122"/>
                <a:cs typeface="Cambria" pitchFamily="34" charset="-120"/>
              </a:rPr>
              <a:t>A dashboard of tax and macro-fiscal indicators for </a:t>
            </a:r>
            <a:r>
              <a:rPr lang="en-US" sz="1500">
                <a:solidFill>
                  <a:srgbClr val="AEBECD"/>
                </a:solidFill>
                <a:latin typeface="Cambria" pitchFamily="34" charset="0"/>
                <a:ea typeface="Cambria" pitchFamily="34" charset="-122"/>
                <a:cs typeface="Cambria" pitchFamily="34" charset="-120"/>
              </a:rPr>
              <a:t>energy risk.</a:t>
            </a:r>
            <a:endParaRPr lang="en-US" sz="1500" dirty="0"/>
          </a:p>
        </p:txBody>
      </p:sp>
      <p:sp>
        <p:nvSpPr>
          <p:cNvPr id="5" name="Text 3"/>
          <p:cNvSpPr txBox="1"/>
          <p:nvPr/>
        </p:nvSpPr>
        <p:spPr>
          <a:xfrm>
            <a:off x="640080" y="6035040"/>
            <a:ext cx="8229600" cy="274320"/>
          </a:xfrm>
          <a:prstGeom prst="rect">
            <a:avLst/>
          </a:prstGeom>
          <a:noFill/>
          <a:ln/>
        </p:spPr>
        <p:txBody>
          <a:bodyPr wrap="square" lIns="0" tIns="0" rIns="0" bIns="0" rtlCol="0" anchor="ctr"/>
          <a:lstStyle/>
          <a:p>
            <a:pPr marL="0" indent="0">
              <a:buNone/>
            </a:pPr>
            <a:r>
              <a:rPr lang="en-US" sz="1000" dirty="0">
                <a:solidFill>
                  <a:srgbClr val="93A0AC"/>
                </a:solidFill>
                <a:latin typeface="Cambria" pitchFamily="34" charset="0"/>
                <a:ea typeface="Cambria" pitchFamily="34" charset="-122"/>
                <a:cs typeface="Cambria" pitchFamily="34" charset="-120"/>
              </a:rPr>
              <a:t>Stephen – Prepared for Stéphane Hallegatte, Chief Climate Economist – August 2026, updated September 2026: handover under way, tax indicators next</a:t>
            </a:r>
            <a:endParaRPr lang="en-US" sz="1000" dirty="0"/>
          </a:p>
        </p:txBody>
      </p:sp>
      <p:sp>
        <p:nvSpPr>
          <p:cNvPr id="6" name="Shape 4"/>
          <p:cNvSpPr/>
          <p:nvPr/>
        </p:nvSpPr>
        <p:spPr>
          <a:xfrm>
            <a:off x="8732520" y="2148840"/>
            <a:ext cx="54864" cy="310896"/>
          </a:xfrm>
          <a:prstGeom prst="rect">
            <a:avLst/>
          </a:prstGeom>
          <a:solidFill>
            <a:srgbClr val="4FA89F"/>
          </a:solidFill>
          <a:ln w="12700">
            <a:solidFill>
              <a:srgbClr val="333333"/>
            </a:solidFill>
            <a:prstDash val="solid"/>
          </a:ln>
        </p:spPr>
        <p:txBody>
          <a:bodyPr/>
          <a:lstStyle/>
          <a:p>
            <a:endParaRPr lang="en-US"/>
          </a:p>
        </p:txBody>
      </p:sp>
      <p:sp>
        <p:nvSpPr>
          <p:cNvPr id="7" name="Text 5"/>
          <p:cNvSpPr txBox="1"/>
          <p:nvPr/>
        </p:nvSpPr>
        <p:spPr>
          <a:xfrm>
            <a:off x="8942832" y="2148840"/>
            <a:ext cx="502920" cy="310896"/>
          </a:xfrm>
          <a:prstGeom prst="rect">
            <a:avLst/>
          </a:prstGeom>
          <a:noFill/>
          <a:ln/>
        </p:spPr>
        <p:txBody>
          <a:bodyPr wrap="square" lIns="0" tIns="0" rIns="0" bIns="0" rtlCol="0" anchor="ctr"/>
          <a:lstStyle/>
          <a:p>
            <a:pPr marL="0" indent="0">
              <a:buNone/>
            </a:pPr>
            <a:r>
              <a:rPr lang="en-US" sz="1200" b="1" dirty="0">
                <a:solidFill>
                  <a:srgbClr val="4FA89F"/>
                </a:solidFill>
                <a:latin typeface="Century Schoolbook" pitchFamily="34" charset="0"/>
                <a:ea typeface="Century Schoolbook" pitchFamily="34" charset="-122"/>
                <a:cs typeface="Century Schoolbook" pitchFamily="34" charset="-120"/>
              </a:rPr>
              <a:t>01</a:t>
            </a:r>
            <a:endParaRPr lang="en-US" sz="1200" dirty="0"/>
          </a:p>
        </p:txBody>
      </p:sp>
      <p:sp>
        <p:nvSpPr>
          <p:cNvPr id="8" name="Text 6"/>
          <p:cNvSpPr txBox="1"/>
          <p:nvPr/>
        </p:nvSpPr>
        <p:spPr>
          <a:xfrm>
            <a:off x="9418320" y="2148840"/>
            <a:ext cx="2377440" cy="310896"/>
          </a:xfrm>
          <a:prstGeom prst="rect">
            <a:avLst/>
          </a:prstGeom>
          <a:noFill/>
          <a:ln/>
        </p:spPr>
        <p:txBody>
          <a:bodyPr wrap="square" lIns="0" tIns="0" rIns="0" bIns="0" rtlCol="0" anchor="ctr"/>
          <a:lstStyle/>
          <a:p>
            <a:pPr marL="0" indent="0">
              <a:buNone/>
            </a:pPr>
            <a:r>
              <a:rPr lang="en-US" sz="1200" dirty="0">
                <a:solidFill>
                  <a:srgbClr val="C9D3DC"/>
                </a:solidFill>
                <a:latin typeface="Cambria" pitchFamily="34" charset="0"/>
                <a:ea typeface="Cambria" pitchFamily="34" charset="-122"/>
                <a:cs typeface="Cambria" pitchFamily="34" charset="-120"/>
              </a:rPr>
              <a:t>Integrated modelling stack</a:t>
            </a:r>
            <a:endParaRPr lang="en-US" sz="1200" dirty="0"/>
          </a:p>
        </p:txBody>
      </p:sp>
      <p:sp>
        <p:nvSpPr>
          <p:cNvPr id="9" name="Shape 7"/>
          <p:cNvSpPr/>
          <p:nvPr/>
        </p:nvSpPr>
        <p:spPr>
          <a:xfrm>
            <a:off x="8732520" y="2715768"/>
            <a:ext cx="54864" cy="310896"/>
          </a:xfrm>
          <a:prstGeom prst="rect">
            <a:avLst/>
          </a:prstGeom>
          <a:solidFill>
            <a:srgbClr val="4FA89F"/>
          </a:solidFill>
          <a:ln w="12700">
            <a:solidFill>
              <a:srgbClr val="333333"/>
            </a:solidFill>
            <a:prstDash val="solid"/>
          </a:ln>
        </p:spPr>
        <p:txBody>
          <a:bodyPr/>
          <a:lstStyle/>
          <a:p>
            <a:endParaRPr lang="en-US"/>
          </a:p>
        </p:txBody>
      </p:sp>
      <p:sp>
        <p:nvSpPr>
          <p:cNvPr id="10" name="Text 8"/>
          <p:cNvSpPr txBox="1"/>
          <p:nvPr/>
        </p:nvSpPr>
        <p:spPr>
          <a:xfrm>
            <a:off x="8942832" y="2715768"/>
            <a:ext cx="502920" cy="310896"/>
          </a:xfrm>
          <a:prstGeom prst="rect">
            <a:avLst/>
          </a:prstGeom>
          <a:noFill/>
          <a:ln/>
        </p:spPr>
        <p:txBody>
          <a:bodyPr wrap="square" lIns="0" tIns="0" rIns="0" bIns="0" rtlCol="0" anchor="ctr"/>
          <a:lstStyle/>
          <a:p>
            <a:pPr marL="0" indent="0">
              <a:buNone/>
            </a:pPr>
            <a:r>
              <a:rPr lang="en-US" sz="1200" b="1" dirty="0">
                <a:solidFill>
                  <a:srgbClr val="4FA89F"/>
                </a:solidFill>
                <a:latin typeface="Century Schoolbook" pitchFamily="34" charset="0"/>
                <a:ea typeface="Century Schoolbook" pitchFamily="34" charset="-122"/>
                <a:cs typeface="Century Schoolbook" pitchFamily="34" charset="-120"/>
              </a:rPr>
              <a:t>02</a:t>
            </a:r>
            <a:endParaRPr lang="en-US" sz="1200" dirty="0"/>
          </a:p>
        </p:txBody>
      </p:sp>
      <p:sp>
        <p:nvSpPr>
          <p:cNvPr id="11" name="Text 9"/>
          <p:cNvSpPr txBox="1"/>
          <p:nvPr/>
        </p:nvSpPr>
        <p:spPr>
          <a:xfrm>
            <a:off x="9418320" y="2715768"/>
            <a:ext cx="2377440" cy="310896"/>
          </a:xfrm>
          <a:prstGeom prst="rect">
            <a:avLst/>
          </a:prstGeom>
          <a:noFill/>
          <a:ln/>
        </p:spPr>
        <p:txBody>
          <a:bodyPr wrap="square" lIns="0" tIns="0" rIns="0" bIns="0" rtlCol="0" anchor="ctr"/>
          <a:lstStyle/>
          <a:p>
            <a:pPr marL="0" indent="0">
              <a:buNone/>
            </a:pPr>
            <a:r>
              <a:rPr lang="en-US" sz="1200" dirty="0">
                <a:solidFill>
                  <a:srgbClr val="C9D3DC"/>
                </a:solidFill>
                <a:latin typeface="Cambria" pitchFamily="34" charset="0"/>
                <a:ea typeface="Cambria" pitchFamily="34" charset="-122"/>
                <a:cs typeface="Cambria" pitchFamily="34" charset="-120"/>
              </a:rPr>
              <a:t>Comparable fiscal indicators</a:t>
            </a:r>
            <a:endParaRPr lang="en-US" sz="1200" dirty="0"/>
          </a:p>
        </p:txBody>
      </p:sp>
      <p:sp>
        <p:nvSpPr>
          <p:cNvPr id="12" name="Shape 10"/>
          <p:cNvSpPr/>
          <p:nvPr/>
        </p:nvSpPr>
        <p:spPr>
          <a:xfrm>
            <a:off x="8732520" y="3282696"/>
            <a:ext cx="54864" cy="310896"/>
          </a:xfrm>
          <a:prstGeom prst="rect">
            <a:avLst/>
          </a:prstGeom>
          <a:solidFill>
            <a:srgbClr val="C05621"/>
          </a:solidFill>
          <a:ln w="12700">
            <a:solidFill>
              <a:srgbClr val="333333"/>
            </a:solidFill>
            <a:prstDash val="solid"/>
          </a:ln>
        </p:spPr>
        <p:txBody>
          <a:bodyPr/>
          <a:lstStyle/>
          <a:p>
            <a:endParaRPr lang="en-US"/>
          </a:p>
        </p:txBody>
      </p:sp>
      <p:sp>
        <p:nvSpPr>
          <p:cNvPr id="13" name="Text 11"/>
          <p:cNvSpPr txBox="1"/>
          <p:nvPr/>
        </p:nvSpPr>
        <p:spPr>
          <a:xfrm>
            <a:off x="8942832" y="3282696"/>
            <a:ext cx="502920" cy="310896"/>
          </a:xfrm>
          <a:prstGeom prst="rect">
            <a:avLst/>
          </a:prstGeom>
          <a:noFill/>
          <a:ln/>
        </p:spPr>
        <p:txBody>
          <a:bodyPr wrap="square" lIns="0" tIns="0" rIns="0" bIns="0" rtlCol="0" anchor="ctr"/>
          <a:lstStyle/>
          <a:p>
            <a:pPr marL="0" indent="0">
              <a:buNone/>
            </a:pPr>
            <a:r>
              <a:rPr lang="en-US" sz="1200" b="1" dirty="0">
                <a:solidFill>
                  <a:srgbClr val="C05621"/>
                </a:solidFill>
                <a:latin typeface="Century Schoolbook" pitchFamily="34" charset="0"/>
                <a:ea typeface="Century Schoolbook" pitchFamily="34" charset="-122"/>
                <a:cs typeface="Century Schoolbook" pitchFamily="34" charset="-120"/>
              </a:rPr>
              <a:t>03</a:t>
            </a:r>
            <a:endParaRPr lang="en-US" sz="1200" dirty="0"/>
          </a:p>
        </p:txBody>
      </p:sp>
      <p:sp>
        <p:nvSpPr>
          <p:cNvPr id="14" name="Text 12"/>
          <p:cNvSpPr txBox="1"/>
          <p:nvPr/>
        </p:nvSpPr>
        <p:spPr>
          <a:xfrm>
            <a:off x="9418320" y="3282696"/>
            <a:ext cx="2377440" cy="310896"/>
          </a:xfrm>
          <a:prstGeom prst="rect">
            <a:avLst/>
          </a:prstGeom>
          <a:noFill/>
          <a:ln/>
        </p:spPr>
        <p:txBody>
          <a:bodyPr wrap="square" lIns="0" tIns="0" rIns="0" bIns="0" rtlCol="0" anchor="ctr"/>
          <a:lstStyle/>
          <a:p>
            <a:pPr marL="0" indent="0">
              <a:buNone/>
            </a:pPr>
            <a:r>
              <a:rPr lang="en-US" sz="1200" dirty="0">
                <a:solidFill>
                  <a:srgbClr val="C9D3DC"/>
                </a:solidFill>
                <a:latin typeface="Cambria" pitchFamily="34" charset="0"/>
                <a:ea typeface="Cambria" pitchFamily="34" charset="-122"/>
                <a:cs typeface="Cambria" pitchFamily="34" charset="-120"/>
              </a:rPr>
              <a:t>Energy fiscal risk and PIM</a:t>
            </a:r>
            <a:endParaRPr lang="en-US" sz="1200" dirty="0"/>
          </a:p>
        </p:txBody>
      </p:sp>
      <p:sp>
        <p:nvSpPr>
          <p:cNvPr id="15" name="Shape 13"/>
          <p:cNvSpPr/>
          <p:nvPr/>
        </p:nvSpPr>
        <p:spPr>
          <a:xfrm>
            <a:off x="8732520" y="3849624"/>
            <a:ext cx="54864" cy="310896"/>
          </a:xfrm>
          <a:prstGeom prst="rect">
            <a:avLst/>
          </a:prstGeom>
          <a:solidFill>
            <a:srgbClr val="C05621"/>
          </a:solidFill>
          <a:ln w="12700">
            <a:solidFill>
              <a:srgbClr val="333333"/>
            </a:solidFill>
            <a:prstDash val="solid"/>
          </a:ln>
        </p:spPr>
        <p:txBody>
          <a:bodyPr/>
          <a:lstStyle/>
          <a:p>
            <a:endParaRPr lang="en-US"/>
          </a:p>
        </p:txBody>
      </p:sp>
      <p:sp>
        <p:nvSpPr>
          <p:cNvPr id="16" name="Text 14"/>
          <p:cNvSpPr txBox="1"/>
          <p:nvPr/>
        </p:nvSpPr>
        <p:spPr>
          <a:xfrm>
            <a:off x="8942832" y="3849624"/>
            <a:ext cx="502920" cy="310896"/>
          </a:xfrm>
          <a:prstGeom prst="rect">
            <a:avLst/>
          </a:prstGeom>
          <a:noFill/>
          <a:ln/>
        </p:spPr>
        <p:txBody>
          <a:bodyPr wrap="square" lIns="0" tIns="0" rIns="0" bIns="0" rtlCol="0" anchor="ctr"/>
          <a:lstStyle/>
          <a:p>
            <a:pPr marL="0" indent="0">
              <a:buNone/>
            </a:pPr>
            <a:r>
              <a:rPr lang="en-US" sz="1200" b="1" dirty="0">
                <a:solidFill>
                  <a:srgbClr val="C05621"/>
                </a:solidFill>
                <a:latin typeface="Century Schoolbook" pitchFamily="34" charset="0"/>
                <a:ea typeface="Century Schoolbook" pitchFamily="34" charset="-122"/>
                <a:cs typeface="Century Schoolbook" pitchFamily="34" charset="-120"/>
              </a:rPr>
              <a:t>04</a:t>
            </a:r>
            <a:endParaRPr lang="en-US" sz="1200" dirty="0"/>
          </a:p>
        </p:txBody>
      </p:sp>
      <p:sp>
        <p:nvSpPr>
          <p:cNvPr id="17" name="Text 15"/>
          <p:cNvSpPr txBox="1"/>
          <p:nvPr/>
        </p:nvSpPr>
        <p:spPr>
          <a:xfrm>
            <a:off x="9418320" y="3849624"/>
            <a:ext cx="2377440" cy="310896"/>
          </a:xfrm>
          <a:prstGeom prst="rect">
            <a:avLst/>
          </a:prstGeom>
          <a:noFill/>
          <a:ln/>
        </p:spPr>
        <p:txBody>
          <a:bodyPr wrap="square" lIns="0" tIns="0" rIns="0" bIns="0" rtlCol="0" anchor="ctr"/>
          <a:lstStyle/>
          <a:p>
            <a:pPr marL="0" indent="0">
              <a:buNone/>
            </a:pPr>
            <a:r>
              <a:rPr lang="en-US" sz="1200" dirty="0">
                <a:solidFill>
                  <a:srgbClr val="C9D3DC"/>
                </a:solidFill>
                <a:latin typeface="Cambria" pitchFamily="34" charset="0"/>
                <a:ea typeface="Cambria" pitchFamily="34" charset="-122"/>
                <a:cs typeface="Cambria" pitchFamily="34" charset="-120"/>
              </a:rPr>
              <a:t>Derisking instrument menu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marL="0" indent="0" algn="l">
              <a:buNone/>
            </a:pPr>
            <a:r>
              <a:rPr lang="en-US" sz="1000" b="1" kern="0" spc="200" dirty="0">
                <a:solidFill>
                  <a:srgbClr val="C05621"/>
                </a:solidFill>
                <a:latin typeface="Cambria" pitchFamily="34" charset="0"/>
                <a:ea typeface="Cambria" pitchFamily="34" charset="-122"/>
                <a:cs typeface="Cambria" pitchFamily="34" charset="-120"/>
              </a:rPr>
              <a:t>EXECUTIVE SUMMARY</a:t>
            </a:r>
            <a:endParaRPr lang="en-US" sz="1000" dirty="0"/>
          </a:p>
        </p:txBody>
      </p:sp>
      <p:sp>
        <p:nvSpPr>
          <p:cNvPr id="3" name="Text 1"/>
          <p:cNvSpPr txBox="1"/>
          <p:nvPr/>
        </p:nvSpPr>
        <p:spPr>
          <a:xfrm>
            <a:off x="640080" y="713232"/>
            <a:ext cx="10881360" cy="868680"/>
          </a:xfrm>
          <a:prstGeom prst="rect">
            <a:avLst/>
          </a:prstGeom>
          <a:noFill/>
          <a:ln/>
        </p:spPr>
        <p:txBody>
          <a:bodyPr wrap="square" lIns="0" tIns="0" rIns="0" bIns="0" rtlCol="0" anchor="t"/>
          <a:lstStyle/>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A comparable fiscal and opportunity layer now exists for</a:t>
            </a:r>
            <a:endParaRPr lang="en-US" sz="2700" dirty="0"/>
          </a:p>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all 98 CCDR economies – built, tested, and now being handed to the team</a:t>
            </a:r>
            <a:endParaRPr lang="en-US" sz="2700" dirty="0"/>
          </a:p>
        </p:txBody>
      </p:sp>
      <p:sp>
        <p:nvSpPr>
          <p:cNvPr id="4" name="Text 2"/>
          <p:cNvSpPr txBox="1"/>
          <p:nvPr/>
        </p:nvSpPr>
        <p:spPr>
          <a:xfrm>
            <a:off x="640080" y="1828800"/>
            <a:ext cx="2560320" cy="640080"/>
          </a:xfrm>
          <a:prstGeom prst="rect">
            <a:avLst/>
          </a:prstGeom>
          <a:noFill/>
          <a:ln/>
        </p:spPr>
        <p:txBody>
          <a:bodyPr wrap="square" lIns="0" tIns="0" rIns="0" bIns="0" rtlCol="0" anchor="ctr"/>
          <a:lstStyle/>
          <a:p>
            <a:pPr marL="0" indent="0">
              <a:buNone/>
            </a:pPr>
            <a:r>
              <a:rPr lang="en-US" sz="4000" b="1" dirty="0">
                <a:solidFill>
                  <a:srgbClr val="1F6F6B"/>
                </a:solidFill>
                <a:latin typeface="Century Schoolbook" pitchFamily="34" charset="0"/>
                <a:ea typeface="Century Schoolbook" pitchFamily="34" charset="-122"/>
                <a:cs typeface="Century Schoolbook" pitchFamily="34" charset="-120"/>
              </a:rPr>
              <a:t>98</a:t>
            </a:r>
            <a:endParaRPr lang="en-US" sz="4000" dirty="0"/>
          </a:p>
        </p:txBody>
      </p:sp>
      <p:sp>
        <p:nvSpPr>
          <p:cNvPr id="5" name="Text 3"/>
          <p:cNvSpPr txBox="1"/>
          <p:nvPr/>
        </p:nvSpPr>
        <p:spPr>
          <a:xfrm>
            <a:off x="640080" y="2487168"/>
            <a:ext cx="256032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CCDR economies</a:t>
            </a:r>
            <a:endParaRPr lang="en-US" sz="1100" dirty="0"/>
          </a:p>
        </p:txBody>
      </p:sp>
      <p:sp>
        <p:nvSpPr>
          <p:cNvPr id="6" name="Text 4"/>
          <p:cNvSpPr txBox="1"/>
          <p:nvPr/>
        </p:nvSpPr>
        <p:spPr>
          <a:xfrm>
            <a:off x="3429000" y="1828800"/>
            <a:ext cx="2560320" cy="640080"/>
          </a:xfrm>
          <a:prstGeom prst="rect">
            <a:avLst/>
          </a:prstGeom>
          <a:noFill/>
          <a:ln/>
        </p:spPr>
        <p:txBody>
          <a:bodyPr wrap="square" lIns="0" tIns="0" rIns="0" bIns="0" rtlCol="0" anchor="ctr"/>
          <a:lstStyle/>
          <a:p>
            <a:pPr marL="0" indent="0">
              <a:buNone/>
            </a:pPr>
            <a:r>
              <a:rPr lang="en-US" sz="4000" b="1" dirty="0">
                <a:solidFill>
                  <a:srgbClr val="1F6F6B"/>
                </a:solidFill>
                <a:latin typeface="Century Schoolbook" pitchFamily="34" charset="0"/>
                <a:ea typeface="Century Schoolbook" pitchFamily="34" charset="-122"/>
                <a:cs typeface="Century Schoolbook" pitchFamily="34" charset="-120"/>
              </a:rPr>
              <a:t>35</a:t>
            </a:r>
            <a:endParaRPr lang="en-US" sz="4000" dirty="0"/>
          </a:p>
        </p:txBody>
      </p:sp>
      <p:sp>
        <p:nvSpPr>
          <p:cNvPr id="7" name="Text 5"/>
          <p:cNvSpPr txBox="1"/>
          <p:nvPr/>
        </p:nvSpPr>
        <p:spPr>
          <a:xfrm>
            <a:off x="3429000" y="2487168"/>
            <a:ext cx="256032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indicators</a:t>
            </a:r>
            <a:endParaRPr lang="en-US" sz="1100" dirty="0"/>
          </a:p>
        </p:txBody>
      </p:sp>
      <p:sp>
        <p:nvSpPr>
          <p:cNvPr id="8" name="Text 6"/>
          <p:cNvSpPr txBox="1"/>
          <p:nvPr/>
        </p:nvSpPr>
        <p:spPr>
          <a:xfrm>
            <a:off x="6217920" y="1828800"/>
            <a:ext cx="2560320" cy="640080"/>
          </a:xfrm>
          <a:prstGeom prst="rect">
            <a:avLst/>
          </a:prstGeom>
          <a:noFill/>
          <a:ln/>
        </p:spPr>
        <p:txBody>
          <a:bodyPr wrap="square" lIns="0" tIns="0" rIns="0" bIns="0" rtlCol="0" anchor="ctr"/>
          <a:lstStyle/>
          <a:p>
            <a:pPr marL="0" indent="0">
              <a:buNone/>
            </a:pPr>
            <a:r>
              <a:rPr lang="en-US" sz="4000" b="1" dirty="0">
                <a:solidFill>
                  <a:srgbClr val="C05621"/>
                </a:solidFill>
                <a:latin typeface="Century Schoolbook" pitchFamily="34" charset="0"/>
                <a:ea typeface="Century Schoolbook" pitchFamily="34" charset="-122"/>
                <a:cs typeface="Century Schoolbook" pitchFamily="34" charset="-120"/>
              </a:rPr>
              <a:t>16</a:t>
            </a:r>
            <a:endParaRPr lang="en-US" sz="4000" dirty="0"/>
          </a:p>
        </p:txBody>
      </p:sp>
      <p:sp>
        <p:nvSpPr>
          <p:cNvPr id="9" name="Text 7"/>
          <p:cNvSpPr txBox="1"/>
          <p:nvPr/>
        </p:nvSpPr>
        <p:spPr>
          <a:xfrm>
            <a:off x="6217920" y="2487168"/>
            <a:ext cx="256032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public datasets</a:t>
            </a:r>
            <a:endParaRPr lang="en-US" sz="1100" dirty="0"/>
          </a:p>
        </p:txBody>
      </p:sp>
      <p:sp>
        <p:nvSpPr>
          <p:cNvPr id="10" name="Text 8"/>
          <p:cNvSpPr txBox="1"/>
          <p:nvPr/>
        </p:nvSpPr>
        <p:spPr>
          <a:xfrm>
            <a:off x="9006840" y="1828800"/>
            <a:ext cx="2560320" cy="640080"/>
          </a:xfrm>
          <a:prstGeom prst="rect">
            <a:avLst/>
          </a:prstGeom>
          <a:noFill/>
          <a:ln/>
        </p:spPr>
        <p:txBody>
          <a:bodyPr wrap="square" lIns="0" tIns="0" rIns="0" bIns="0" rtlCol="0" anchor="ctr"/>
          <a:lstStyle/>
          <a:p>
            <a:pPr marL="0" indent="0">
              <a:buNone/>
            </a:pPr>
            <a:r>
              <a:rPr lang="en-US" sz="4000" b="1" dirty="0">
                <a:solidFill>
                  <a:srgbClr val="C05621"/>
                </a:solidFill>
                <a:latin typeface="Century Schoolbook" pitchFamily="34" charset="0"/>
                <a:ea typeface="Century Schoolbook" pitchFamily="34" charset="-122"/>
                <a:cs typeface="Century Schoolbook" pitchFamily="34" charset="-120"/>
              </a:rPr>
              <a:t>6</a:t>
            </a:r>
            <a:endParaRPr lang="en-US" sz="4000" dirty="0"/>
          </a:p>
        </p:txBody>
      </p:sp>
      <p:sp>
        <p:nvSpPr>
          <p:cNvPr id="11" name="Text 9"/>
          <p:cNvSpPr txBox="1"/>
          <p:nvPr/>
        </p:nvSpPr>
        <p:spPr>
          <a:xfrm>
            <a:off x="9006840" y="2487168"/>
            <a:ext cx="256032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diagnostic blocks</a:t>
            </a:r>
            <a:endParaRPr lang="en-US" sz="1100" dirty="0"/>
          </a:p>
        </p:txBody>
      </p:sp>
      <p:sp>
        <p:nvSpPr>
          <p:cNvPr id="12" name="Shape 10"/>
          <p:cNvSpPr/>
          <p:nvPr/>
        </p:nvSpPr>
        <p:spPr>
          <a:xfrm>
            <a:off x="640080" y="2944368"/>
            <a:ext cx="10881360" cy="0"/>
          </a:xfrm>
          <a:prstGeom prst="line">
            <a:avLst/>
          </a:prstGeom>
          <a:noFill/>
          <a:ln w="9525">
            <a:solidFill>
              <a:srgbClr val="DCE1E6"/>
            </a:solidFill>
            <a:prstDash val="solid"/>
          </a:ln>
        </p:spPr>
        <p:txBody>
          <a:bodyPr/>
          <a:lstStyle/>
          <a:p>
            <a:endParaRPr lang="en-US"/>
          </a:p>
        </p:txBody>
      </p:sp>
      <p:sp>
        <p:nvSpPr>
          <p:cNvPr id="13" name="Shape 11"/>
          <p:cNvSpPr/>
          <p:nvPr/>
        </p:nvSpPr>
        <p:spPr>
          <a:xfrm>
            <a:off x="640080" y="3145536"/>
            <a:ext cx="310896" cy="310896"/>
          </a:xfrm>
          <a:prstGeom prst="rect">
            <a:avLst/>
          </a:prstGeom>
          <a:solidFill>
            <a:srgbClr val="1F6F6B"/>
          </a:solidFill>
          <a:ln w="12700">
            <a:solidFill>
              <a:srgbClr val="333333"/>
            </a:solidFill>
            <a:prstDash val="solid"/>
          </a:ln>
        </p:spPr>
        <p:txBody>
          <a:bodyPr/>
          <a:lstStyle/>
          <a:p>
            <a:endParaRPr lang="en-US"/>
          </a:p>
        </p:txBody>
      </p:sp>
      <p:sp>
        <p:nvSpPr>
          <p:cNvPr id="14" name="Text 12"/>
          <p:cNvSpPr txBox="1"/>
          <p:nvPr/>
        </p:nvSpPr>
        <p:spPr>
          <a:xfrm>
            <a:off x="640080" y="314553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01</a:t>
            </a:r>
            <a:endParaRPr lang="en-US" sz="1200" dirty="0"/>
          </a:p>
        </p:txBody>
      </p:sp>
      <p:sp>
        <p:nvSpPr>
          <p:cNvPr id="15" name="Text 13"/>
          <p:cNvSpPr txBox="1"/>
          <p:nvPr/>
        </p:nvSpPr>
        <p:spPr>
          <a:xfrm>
            <a:off x="1097280" y="3127248"/>
            <a:ext cx="10332720" cy="256032"/>
          </a:xfrm>
          <a:prstGeom prst="rect">
            <a:avLst/>
          </a:prstGeom>
          <a:noFill/>
          <a:ln/>
        </p:spPr>
        <p:txBody>
          <a:bodyPr wrap="square" lIns="0" tIns="0" rIns="0" bIns="0" rtlCol="0" anchor="ctr"/>
          <a:lstStyle/>
          <a:p>
            <a:pPr marL="0" indent="0">
              <a:buNone/>
            </a:pPr>
            <a:r>
              <a:rPr lang="en-US" sz="1300" b="1" dirty="0">
                <a:solidFill>
                  <a:srgbClr val="0E1B2A"/>
                </a:solidFill>
                <a:latin typeface="Century Schoolbook" pitchFamily="34" charset="0"/>
                <a:ea typeface="Century Schoolbook" pitchFamily="34" charset="-122"/>
                <a:cs typeface="Century Schoolbook" pitchFamily="34" charset="-120"/>
              </a:rPr>
              <a:t>Delivery is the binding constraint, and it is measurable</a:t>
            </a:r>
            <a:endParaRPr lang="en-US" sz="1300" dirty="0"/>
          </a:p>
        </p:txBody>
      </p:sp>
      <p:sp>
        <p:nvSpPr>
          <p:cNvPr id="16" name="Text 14"/>
          <p:cNvSpPr txBox="1"/>
          <p:nvPr/>
        </p:nvSpPr>
        <p:spPr>
          <a:xfrm>
            <a:off x="1097280" y="3392424"/>
            <a:ext cx="10332720" cy="438912"/>
          </a:xfrm>
          <a:prstGeom prst="rect">
            <a:avLst/>
          </a:prstGeom>
          <a:noFill/>
          <a:ln/>
        </p:spPr>
        <p:txBody>
          <a:bodyPr wrap="square" lIns="0" tIns="0" rIns="0" bIns="0" rtlCol="0" anchor="t"/>
          <a:lstStyle/>
          <a:p>
            <a:pPr marL="0" indent="0">
              <a:lnSpc>
                <a:spcPts val="1400"/>
              </a:lnSpc>
              <a:buNone/>
            </a:pPr>
            <a:r>
              <a:rPr lang="en-US" sz="1050" dirty="0">
                <a:solidFill>
                  <a:srgbClr val="5A6B7B"/>
                </a:solidFill>
                <a:latin typeface="Cambria" pitchFamily="34" charset="0"/>
                <a:ea typeface="Cambria" pitchFamily="34" charset="-122"/>
                <a:cs typeface="Cambria" pitchFamily="34" charset="-120"/>
              </a:rPr>
              <a:t>Median PEFA public investment management score is 1.5 of 4. Of 61 assessed economies, 35 sit at or below that and only 2 score above 3. Capital budget execution has a median of 87% but eleven economies spend under half of what they approve.</a:t>
            </a:r>
            <a:endParaRPr lang="en-US" sz="1050" dirty="0"/>
          </a:p>
        </p:txBody>
      </p:sp>
      <p:sp>
        <p:nvSpPr>
          <p:cNvPr id="17" name="Shape 15"/>
          <p:cNvSpPr/>
          <p:nvPr/>
        </p:nvSpPr>
        <p:spPr>
          <a:xfrm>
            <a:off x="640080" y="3913632"/>
            <a:ext cx="310896" cy="310896"/>
          </a:xfrm>
          <a:prstGeom prst="rect">
            <a:avLst/>
          </a:prstGeom>
          <a:solidFill>
            <a:srgbClr val="1F6F6B"/>
          </a:solidFill>
          <a:ln w="12700">
            <a:solidFill>
              <a:srgbClr val="333333"/>
            </a:solidFill>
            <a:prstDash val="solid"/>
          </a:ln>
        </p:spPr>
        <p:txBody>
          <a:bodyPr/>
          <a:lstStyle/>
          <a:p>
            <a:endParaRPr lang="en-US"/>
          </a:p>
        </p:txBody>
      </p:sp>
      <p:sp>
        <p:nvSpPr>
          <p:cNvPr id="18" name="Text 16"/>
          <p:cNvSpPr txBox="1"/>
          <p:nvPr/>
        </p:nvSpPr>
        <p:spPr>
          <a:xfrm>
            <a:off x="640080" y="391363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02</a:t>
            </a:r>
            <a:endParaRPr lang="en-US" sz="1200" dirty="0"/>
          </a:p>
        </p:txBody>
      </p:sp>
      <p:sp>
        <p:nvSpPr>
          <p:cNvPr id="19" name="Text 17"/>
          <p:cNvSpPr txBox="1"/>
          <p:nvPr/>
        </p:nvSpPr>
        <p:spPr>
          <a:xfrm>
            <a:off x="1097280" y="3895344"/>
            <a:ext cx="10332720" cy="256032"/>
          </a:xfrm>
          <a:prstGeom prst="rect">
            <a:avLst/>
          </a:prstGeom>
          <a:noFill/>
          <a:ln/>
        </p:spPr>
        <p:txBody>
          <a:bodyPr wrap="square" lIns="0" tIns="0" rIns="0" bIns="0" rtlCol="0" anchor="ctr"/>
          <a:lstStyle/>
          <a:p>
            <a:pPr marL="0" indent="0">
              <a:buNone/>
            </a:pPr>
            <a:r>
              <a:rPr lang="en-US" sz="1300" b="1" dirty="0">
                <a:solidFill>
                  <a:srgbClr val="0E1B2A"/>
                </a:solidFill>
                <a:latin typeface="Century Schoolbook" pitchFamily="34" charset="0"/>
                <a:ea typeface="Century Schoolbook" pitchFamily="34" charset="-122"/>
                <a:cs typeface="Century Schoolbook" pitchFamily="34" charset="-120"/>
              </a:rPr>
              <a:t>Two different countries, two different pitches</a:t>
            </a:r>
            <a:endParaRPr lang="en-US" sz="1300" dirty="0"/>
          </a:p>
        </p:txBody>
      </p:sp>
      <p:sp>
        <p:nvSpPr>
          <p:cNvPr id="20" name="Text 18"/>
          <p:cNvSpPr txBox="1"/>
          <p:nvPr/>
        </p:nvSpPr>
        <p:spPr>
          <a:xfrm>
            <a:off x="1097280" y="4160520"/>
            <a:ext cx="10332720" cy="438912"/>
          </a:xfrm>
          <a:prstGeom prst="rect">
            <a:avLst/>
          </a:prstGeom>
          <a:noFill/>
          <a:ln/>
        </p:spPr>
        <p:txBody>
          <a:bodyPr wrap="square" lIns="0" tIns="0" rIns="0" bIns="0" rtlCol="0" anchor="t"/>
          <a:lstStyle/>
          <a:p>
            <a:pPr marL="0" indent="0">
              <a:lnSpc>
                <a:spcPts val="1400"/>
              </a:lnSpc>
              <a:buNone/>
            </a:pPr>
            <a:r>
              <a:rPr lang="en-US" sz="1050" dirty="0">
                <a:solidFill>
                  <a:srgbClr val="5A6B7B"/>
                </a:solidFill>
                <a:latin typeface="Cambria" pitchFamily="34" charset="0"/>
                <a:ea typeface="Cambria" pitchFamily="34" charset="-122"/>
                <a:cs typeface="Cambria" pitchFamily="34" charset="-120"/>
              </a:rPr>
              <a:t>19 of the set are net fuel exporters and 76 are importers. For exporters the transition is a revenue cliff; for importers it is balance-of-payments relief. The same slide cannot serve both — now it does not have to.</a:t>
            </a:r>
            <a:endParaRPr lang="en-US" sz="1050" dirty="0"/>
          </a:p>
        </p:txBody>
      </p:sp>
      <p:sp>
        <p:nvSpPr>
          <p:cNvPr id="21" name="Shape 19"/>
          <p:cNvSpPr/>
          <p:nvPr/>
        </p:nvSpPr>
        <p:spPr>
          <a:xfrm>
            <a:off x="640080" y="4681728"/>
            <a:ext cx="310896" cy="310896"/>
          </a:xfrm>
          <a:prstGeom prst="rect">
            <a:avLst/>
          </a:prstGeom>
          <a:solidFill>
            <a:srgbClr val="C05621"/>
          </a:solidFill>
          <a:ln w="12700">
            <a:solidFill>
              <a:srgbClr val="333333"/>
            </a:solidFill>
            <a:prstDash val="solid"/>
          </a:ln>
        </p:spPr>
        <p:txBody>
          <a:bodyPr/>
          <a:lstStyle/>
          <a:p>
            <a:endParaRPr lang="en-US"/>
          </a:p>
        </p:txBody>
      </p:sp>
      <p:sp>
        <p:nvSpPr>
          <p:cNvPr id="22" name="Text 20"/>
          <p:cNvSpPr txBox="1"/>
          <p:nvPr/>
        </p:nvSpPr>
        <p:spPr>
          <a:xfrm>
            <a:off x="640080" y="468172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03</a:t>
            </a:r>
            <a:endParaRPr lang="en-US" sz="1200" dirty="0"/>
          </a:p>
        </p:txBody>
      </p:sp>
      <p:sp>
        <p:nvSpPr>
          <p:cNvPr id="23" name="Text 21"/>
          <p:cNvSpPr txBox="1"/>
          <p:nvPr/>
        </p:nvSpPr>
        <p:spPr>
          <a:xfrm>
            <a:off x="1097280" y="4663440"/>
            <a:ext cx="10332720" cy="256032"/>
          </a:xfrm>
          <a:prstGeom prst="rect">
            <a:avLst/>
          </a:prstGeom>
          <a:noFill/>
          <a:ln/>
        </p:spPr>
        <p:txBody>
          <a:bodyPr wrap="square" lIns="0" tIns="0" rIns="0" bIns="0" rtlCol="0" anchor="ctr"/>
          <a:lstStyle/>
          <a:p>
            <a:pPr marL="0" indent="0">
              <a:buNone/>
            </a:pPr>
            <a:r>
              <a:rPr lang="en-US" sz="1300" b="1" dirty="0">
                <a:solidFill>
                  <a:srgbClr val="0E1B2A"/>
                </a:solidFill>
                <a:latin typeface="Century Schoolbook" pitchFamily="34" charset="0"/>
                <a:ea typeface="Century Schoolbook" pitchFamily="34" charset="-122"/>
                <a:cs typeface="Century Schoolbook" pitchFamily="34" charset="-120"/>
              </a:rPr>
              <a:t>The cheapest abatement is where the data was thinnest</a:t>
            </a:r>
            <a:endParaRPr lang="en-US" sz="1300" dirty="0"/>
          </a:p>
        </p:txBody>
      </p:sp>
      <p:sp>
        <p:nvSpPr>
          <p:cNvPr id="24" name="Text 22"/>
          <p:cNvSpPr txBox="1"/>
          <p:nvPr/>
        </p:nvSpPr>
        <p:spPr>
          <a:xfrm>
            <a:off x="1097280" y="4928616"/>
            <a:ext cx="10332720" cy="438912"/>
          </a:xfrm>
          <a:prstGeom prst="rect">
            <a:avLst/>
          </a:prstGeom>
          <a:noFill/>
          <a:ln/>
        </p:spPr>
        <p:txBody>
          <a:bodyPr wrap="square" lIns="0" tIns="0" rIns="0" bIns="0" rtlCol="0" anchor="t"/>
          <a:lstStyle/>
          <a:p>
            <a:pPr marL="0" indent="0">
              <a:lnSpc>
                <a:spcPts val="1400"/>
              </a:lnSpc>
              <a:buNone/>
            </a:pPr>
            <a:r>
              <a:rPr lang="en-US" sz="1050" dirty="0">
                <a:solidFill>
                  <a:srgbClr val="5A6B7B"/>
                </a:solidFill>
                <a:latin typeface="Cambria" pitchFamily="34" charset="0"/>
                <a:ea typeface="Cambria" pitchFamily="34" charset="-122"/>
                <a:cs typeface="Cambria" pitchFamily="34" charset="-120"/>
              </a:rPr>
              <a:t>23 economies generate over half their electricity from oil, 14 over 80%. Solar already beats oil-fired power on unsubsidised cost, so this is negative-cost abatement needing no carbon price — and it is concentrated in the small states that had almost no other data.</a:t>
            </a:r>
            <a:endParaRPr lang="en-US" sz="1050" dirty="0"/>
          </a:p>
        </p:txBody>
      </p:sp>
      <p:sp>
        <p:nvSpPr>
          <p:cNvPr id="25" name="Shape 23"/>
          <p:cNvSpPr/>
          <p:nvPr/>
        </p:nvSpPr>
        <p:spPr>
          <a:xfrm>
            <a:off x="640080" y="5449824"/>
            <a:ext cx="310896" cy="310896"/>
          </a:xfrm>
          <a:prstGeom prst="rect">
            <a:avLst/>
          </a:prstGeom>
          <a:solidFill>
            <a:srgbClr val="C05621"/>
          </a:solidFill>
          <a:ln w="12700">
            <a:solidFill>
              <a:srgbClr val="333333"/>
            </a:solidFill>
            <a:prstDash val="solid"/>
          </a:ln>
        </p:spPr>
        <p:txBody>
          <a:bodyPr/>
          <a:lstStyle/>
          <a:p>
            <a:endParaRPr lang="en-US"/>
          </a:p>
        </p:txBody>
      </p:sp>
      <p:sp>
        <p:nvSpPr>
          <p:cNvPr id="26" name="Text 24"/>
          <p:cNvSpPr txBox="1"/>
          <p:nvPr/>
        </p:nvSpPr>
        <p:spPr>
          <a:xfrm>
            <a:off x="640080" y="544982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04</a:t>
            </a:r>
            <a:endParaRPr lang="en-US" sz="1200" dirty="0"/>
          </a:p>
        </p:txBody>
      </p:sp>
      <p:sp>
        <p:nvSpPr>
          <p:cNvPr id="27" name="Text 25"/>
          <p:cNvSpPr txBox="1"/>
          <p:nvPr/>
        </p:nvSpPr>
        <p:spPr>
          <a:xfrm>
            <a:off x="1097280" y="5431536"/>
            <a:ext cx="10332720" cy="256032"/>
          </a:xfrm>
          <a:prstGeom prst="rect">
            <a:avLst/>
          </a:prstGeom>
          <a:noFill/>
          <a:ln/>
        </p:spPr>
        <p:txBody>
          <a:bodyPr wrap="square" lIns="0" tIns="0" rIns="0" bIns="0" rtlCol="0" anchor="ctr"/>
          <a:lstStyle/>
          <a:p>
            <a:pPr marL="0" indent="0">
              <a:buNone/>
            </a:pPr>
            <a:r>
              <a:rPr lang="en-US" sz="1300" b="1" dirty="0">
                <a:solidFill>
                  <a:srgbClr val="0E1B2A"/>
                </a:solidFill>
                <a:latin typeface="Century Schoolbook" pitchFamily="34" charset="0"/>
                <a:ea typeface="Century Schoolbook" pitchFamily="34" charset="-122"/>
                <a:cs typeface="Century Schoolbook" pitchFamily="34" charset="-120"/>
              </a:rPr>
              <a:t>Derisking is addressed to a market half of them cannot reach</a:t>
            </a:r>
            <a:endParaRPr lang="en-US" sz="1300" dirty="0"/>
          </a:p>
        </p:txBody>
      </p:sp>
      <p:sp>
        <p:nvSpPr>
          <p:cNvPr id="28" name="Text 26"/>
          <p:cNvSpPr txBox="1"/>
          <p:nvPr/>
        </p:nvSpPr>
        <p:spPr>
          <a:xfrm>
            <a:off x="1097280" y="5696712"/>
            <a:ext cx="10332720" cy="438912"/>
          </a:xfrm>
          <a:prstGeom prst="rect">
            <a:avLst/>
          </a:prstGeom>
          <a:noFill/>
          <a:ln/>
        </p:spPr>
        <p:txBody>
          <a:bodyPr wrap="square" lIns="0" tIns="0" rIns="0" bIns="0" rtlCol="0" anchor="t"/>
          <a:lstStyle/>
          <a:p>
            <a:pPr marL="0" indent="0">
              <a:lnSpc>
                <a:spcPts val="1400"/>
              </a:lnSpc>
              <a:buNone/>
            </a:pPr>
            <a:r>
              <a:rPr lang="en-US" sz="1050" dirty="0">
                <a:solidFill>
                  <a:srgbClr val="5A6B7B"/>
                </a:solidFill>
                <a:latin typeface="Cambria" pitchFamily="34" charset="0"/>
                <a:ea typeface="Cambria" pitchFamily="34" charset="-122"/>
                <a:cs typeface="Cambria" pitchFamily="34" charset="-120"/>
              </a:rPr>
              <a:t>Median official-to-private borrowing spread is 2.1pp, reaching 8.7pp. Median PEFA score for reporting contingent liabilities is 1.0 — instruments that create guarantee exposure are being offered to governments with no capacity to disclose it.</a:t>
            </a:r>
            <a:endParaRPr lang="en-US" sz="1050" dirty="0"/>
          </a:p>
        </p:txBody>
      </p:sp>
      <p:sp>
        <p:nvSpPr>
          <p:cNvPr id="29" name="Text 27"/>
          <p:cNvSpPr txBox="1"/>
          <p:nvPr/>
        </p:nvSpPr>
        <p:spPr>
          <a:xfrm>
            <a:off x="640080" y="6272784"/>
            <a:ext cx="10881360" cy="274320"/>
          </a:xfrm>
          <a:prstGeom prst="rect">
            <a:avLst/>
          </a:prstGeom>
          <a:noFill/>
          <a:ln/>
        </p:spPr>
        <p:txBody>
          <a:bodyPr wrap="square" lIns="0" tIns="0" rIns="0" bIns="0" rtlCol="0" anchor="ctr"/>
          <a:lstStyle/>
          <a:p>
            <a:pPr marL="0" indent="0" algn="l">
              <a:buNone/>
            </a:pPr>
            <a:r>
              <a:rPr lang="en-US" sz="900" dirty="0">
                <a:solidFill>
                  <a:srgbClr val="93A0AC"/>
                </a:solidFill>
                <a:latin typeface="Cambria" pitchFamily="34" charset="0"/>
                <a:ea typeface="Cambria" pitchFamily="34" charset="-122"/>
                <a:cs typeface="Cambria" pitchFamily="34" charset="-120"/>
              </a:rPr>
              <a:t>Coverage: 97 of 98 economies on interest-to-revenue, 96 on gross debt and oil-fired generation share, 95 on net fuel trade, 94 on mitigation finance received, 93 on fossil fuel subsidies. Weakest column is WACC at 42. Next: new tax indicators, and a handover pack so the wider team can run and extend the dashboard.</a:t>
            </a:r>
            <a:endParaRPr lang="en-US" sz="900" dirty="0"/>
          </a:p>
        </p:txBody>
      </p:sp>
      <p:sp>
        <p:nvSpPr>
          <p:cNvPr id="30" name="Text 28"/>
          <p:cNvSpPr txBox="1"/>
          <p:nvPr/>
        </p:nvSpPr>
        <p:spPr>
          <a:xfrm>
            <a:off x="11338560" y="6272784"/>
            <a:ext cx="365760" cy="274320"/>
          </a:xfrm>
          <a:prstGeom prst="rect">
            <a:avLst/>
          </a:prstGeom>
          <a:noFill/>
          <a:ln/>
        </p:spPr>
        <p:txBody>
          <a:bodyPr wrap="square" lIns="0" tIns="0" rIns="0" bIns="0" rtlCol="0" anchor="ctr"/>
          <a:lstStyle/>
          <a:p>
            <a:pPr marL="0" indent="0" algn="r">
              <a:buNone/>
            </a:pPr>
            <a:r>
              <a:rPr lang="en-US" sz="900" dirty="0">
                <a:solidFill>
                  <a:srgbClr val="93A0AC"/>
                </a:solidFill>
                <a:latin typeface="Cambria" pitchFamily="34" charset="0"/>
                <a:ea typeface="Cambria" pitchFamily="34" charset="-122"/>
                <a:cs typeface="Cambria"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marL="0" indent="0" algn="l">
              <a:buNone/>
            </a:pPr>
            <a:r>
              <a:rPr lang="en-US" sz="1000" b="1" kern="0" spc="200" dirty="0">
                <a:solidFill>
                  <a:srgbClr val="C05621"/>
                </a:solidFill>
                <a:latin typeface="Cambria" pitchFamily="34" charset="0"/>
                <a:ea typeface="Cambria" pitchFamily="34" charset="-122"/>
                <a:cs typeface="Cambria" pitchFamily="34" charset="-120"/>
              </a:rPr>
              <a:t>THE GAP</a:t>
            </a:r>
            <a:endParaRPr lang="en-US" sz="1000" dirty="0"/>
          </a:p>
        </p:txBody>
      </p:sp>
      <p:sp>
        <p:nvSpPr>
          <p:cNvPr id="3" name="Text 1"/>
          <p:cNvSpPr txBox="1"/>
          <p:nvPr/>
        </p:nvSpPr>
        <p:spPr>
          <a:xfrm>
            <a:off x="640080" y="713232"/>
            <a:ext cx="10881360" cy="868680"/>
          </a:xfrm>
          <a:prstGeom prst="rect">
            <a:avLst/>
          </a:prstGeom>
          <a:noFill/>
          <a:ln/>
        </p:spPr>
        <p:txBody>
          <a:bodyPr wrap="square" lIns="0" tIns="0" rIns="0" bIns="0" rtlCol="0" anchor="t"/>
          <a:lstStyle/>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CCDRs size the investment need — they say much less</a:t>
            </a:r>
            <a:endParaRPr lang="en-US" sz="2700" dirty="0"/>
          </a:p>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about the capacity to finance it or to deliver it</a:t>
            </a:r>
            <a:endParaRPr lang="en-US" sz="2700" dirty="0"/>
          </a:p>
        </p:txBody>
      </p:sp>
      <p:sp>
        <p:nvSpPr>
          <p:cNvPr id="4" name="Text 2"/>
          <p:cNvSpPr txBox="1"/>
          <p:nvPr/>
        </p:nvSpPr>
        <p:spPr>
          <a:xfrm>
            <a:off x="640080" y="1755648"/>
            <a:ext cx="10881360" cy="365760"/>
          </a:xfrm>
          <a:prstGeom prst="rect">
            <a:avLst/>
          </a:prstGeom>
          <a:noFill/>
          <a:ln/>
        </p:spPr>
        <p:txBody>
          <a:bodyPr wrap="square" lIns="0" tIns="0" rIns="0" bIns="0" rtlCol="0" anchor="ctr"/>
          <a:lstStyle/>
          <a:p>
            <a:pPr marL="0" indent="0" algn="l">
              <a:buNone/>
            </a:pPr>
            <a:r>
              <a:rPr lang="en-US" sz="1300" i="1" dirty="0">
                <a:solidFill>
                  <a:srgbClr val="5A6B7B"/>
                </a:solidFill>
                <a:latin typeface="Cambria" pitchFamily="34" charset="0"/>
                <a:ea typeface="Cambria" pitchFamily="34" charset="-122"/>
                <a:cs typeface="Cambria" pitchFamily="34" charset="-120"/>
              </a:rPr>
              <a:t>Mitigation finance is where the gap bites hardest: the numbers are large, the instruments are fiscal, and the constraints are country-specific.</a:t>
            </a:r>
            <a:endParaRPr lang="en-US" sz="1300" dirty="0"/>
          </a:p>
        </p:txBody>
      </p:sp>
      <p:sp>
        <p:nvSpPr>
          <p:cNvPr id="5" name="Shape 3"/>
          <p:cNvSpPr/>
          <p:nvPr/>
        </p:nvSpPr>
        <p:spPr>
          <a:xfrm>
            <a:off x="640080" y="2423160"/>
            <a:ext cx="3383280" cy="3566160"/>
          </a:xfrm>
          <a:prstGeom prst="rect">
            <a:avLst/>
          </a:prstGeom>
          <a:solidFill>
            <a:srgbClr val="F4F6F8"/>
          </a:solidFill>
          <a:ln w="12700">
            <a:solidFill>
              <a:srgbClr val="333333"/>
            </a:solidFill>
            <a:prstDash val="solid"/>
          </a:ln>
        </p:spPr>
        <p:txBody>
          <a:bodyPr/>
          <a:lstStyle/>
          <a:p>
            <a:endParaRPr lang="en-US"/>
          </a:p>
        </p:txBody>
      </p:sp>
      <p:sp>
        <p:nvSpPr>
          <p:cNvPr id="6" name="Text 4"/>
          <p:cNvSpPr txBox="1"/>
          <p:nvPr/>
        </p:nvSpPr>
        <p:spPr>
          <a:xfrm>
            <a:off x="932688" y="2697480"/>
            <a:ext cx="2798064" cy="228600"/>
          </a:xfrm>
          <a:prstGeom prst="rect">
            <a:avLst/>
          </a:prstGeom>
          <a:noFill/>
          <a:ln/>
        </p:spPr>
        <p:txBody>
          <a:bodyPr wrap="square" lIns="0" tIns="0" rIns="0" bIns="0" rtlCol="0" anchor="ctr"/>
          <a:lstStyle/>
          <a:p>
            <a:pPr marL="0" indent="0">
              <a:buNone/>
            </a:pPr>
            <a:r>
              <a:rPr lang="en-US" sz="900" b="1" kern="0" spc="150" dirty="0">
                <a:solidFill>
                  <a:srgbClr val="1F6F6B"/>
                </a:solidFill>
                <a:latin typeface="Cambria" pitchFamily="34" charset="0"/>
                <a:ea typeface="Cambria" pitchFamily="34" charset="-122"/>
                <a:cs typeface="Cambria" pitchFamily="34" charset="-120"/>
              </a:rPr>
              <a:t>WELL COVERED</a:t>
            </a:r>
            <a:endParaRPr lang="en-US" sz="900" dirty="0"/>
          </a:p>
        </p:txBody>
      </p:sp>
      <p:sp>
        <p:nvSpPr>
          <p:cNvPr id="7" name="Text 5"/>
          <p:cNvSpPr txBox="1"/>
          <p:nvPr/>
        </p:nvSpPr>
        <p:spPr>
          <a:xfrm>
            <a:off x="932688" y="2999232"/>
            <a:ext cx="2798064" cy="658368"/>
          </a:xfrm>
          <a:prstGeom prst="rect">
            <a:avLst/>
          </a:prstGeom>
          <a:noFill/>
          <a:ln/>
        </p:spPr>
        <p:txBody>
          <a:bodyPr wrap="square" lIns="0" tIns="0" rIns="0" bIns="0" rtlCol="0" anchor="t"/>
          <a:lstStyle/>
          <a:p>
            <a:pPr marL="0" indent="0">
              <a:lnSpc>
                <a:spcPts val="2100"/>
              </a:lnSpc>
              <a:buNone/>
            </a:pPr>
            <a:r>
              <a:rPr lang="en-US" sz="1600" b="1" dirty="0">
                <a:solidFill>
                  <a:srgbClr val="0E1B2A"/>
                </a:solidFill>
                <a:latin typeface="Century Schoolbook" pitchFamily="34" charset="0"/>
                <a:ea typeface="Century Schoolbook" pitchFamily="34" charset="-122"/>
                <a:cs typeface="Century Schoolbook" pitchFamily="34" charset="-120"/>
              </a:rPr>
              <a:t>Scenario and needs analysis</a:t>
            </a:r>
            <a:endParaRPr lang="en-US" sz="1600" dirty="0"/>
          </a:p>
        </p:txBody>
      </p:sp>
      <p:sp>
        <p:nvSpPr>
          <p:cNvPr id="8" name="Shape 6"/>
          <p:cNvSpPr/>
          <p:nvPr/>
        </p:nvSpPr>
        <p:spPr>
          <a:xfrm>
            <a:off x="932688" y="3730752"/>
            <a:ext cx="2798064" cy="0"/>
          </a:xfrm>
          <a:prstGeom prst="line">
            <a:avLst/>
          </a:prstGeom>
          <a:noFill/>
          <a:ln w="9525">
            <a:solidFill>
              <a:srgbClr val="DCE1E6"/>
            </a:solidFill>
            <a:prstDash val="solid"/>
          </a:ln>
        </p:spPr>
        <p:txBody>
          <a:bodyPr/>
          <a:lstStyle/>
          <a:p>
            <a:endParaRPr lang="en-US"/>
          </a:p>
        </p:txBody>
      </p:sp>
      <p:sp>
        <p:nvSpPr>
          <p:cNvPr id="9" name="Text 7"/>
          <p:cNvSpPr txBox="1"/>
          <p:nvPr/>
        </p:nvSpPr>
        <p:spPr>
          <a:xfrm>
            <a:off x="932688" y="3886200"/>
            <a:ext cx="2798064" cy="19202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Sector decarbonization pathways</a:t>
            </a:r>
            <a:endParaRPr lang="en-US" sz="1150" dirty="0"/>
          </a:p>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Investment needs as a share of GDP</a:t>
            </a:r>
            <a:endParaRPr lang="en-US" sz="1150" dirty="0"/>
          </a:p>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Macro impacts of climate and policy</a:t>
            </a:r>
            <a:endParaRPr lang="en-US" sz="1150" dirty="0"/>
          </a:p>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Distributional effects of reform</a:t>
            </a:r>
            <a:endParaRPr lang="en-US" sz="1150" dirty="0"/>
          </a:p>
        </p:txBody>
      </p:sp>
      <p:sp>
        <p:nvSpPr>
          <p:cNvPr id="10" name="Shape 8"/>
          <p:cNvSpPr/>
          <p:nvPr/>
        </p:nvSpPr>
        <p:spPr>
          <a:xfrm>
            <a:off x="4389120" y="2423160"/>
            <a:ext cx="3383280" cy="3566160"/>
          </a:xfrm>
          <a:prstGeom prst="rect">
            <a:avLst/>
          </a:prstGeom>
          <a:solidFill>
            <a:srgbClr val="F4F6F8"/>
          </a:solidFill>
          <a:ln w="12700">
            <a:solidFill>
              <a:srgbClr val="333333"/>
            </a:solidFill>
            <a:prstDash val="solid"/>
          </a:ln>
        </p:spPr>
        <p:txBody>
          <a:bodyPr/>
          <a:lstStyle/>
          <a:p>
            <a:endParaRPr lang="en-US"/>
          </a:p>
        </p:txBody>
      </p:sp>
      <p:sp>
        <p:nvSpPr>
          <p:cNvPr id="11" name="Text 9"/>
          <p:cNvSpPr txBox="1"/>
          <p:nvPr/>
        </p:nvSpPr>
        <p:spPr>
          <a:xfrm>
            <a:off x="4681728" y="2697480"/>
            <a:ext cx="2798064" cy="228600"/>
          </a:xfrm>
          <a:prstGeom prst="rect">
            <a:avLst/>
          </a:prstGeom>
          <a:noFill/>
          <a:ln/>
        </p:spPr>
        <p:txBody>
          <a:bodyPr wrap="square" lIns="0" tIns="0" rIns="0" bIns="0" rtlCol="0" anchor="ctr"/>
          <a:lstStyle/>
          <a:p>
            <a:pPr marL="0" indent="0">
              <a:buNone/>
            </a:pPr>
            <a:r>
              <a:rPr lang="en-US" sz="900" b="1" kern="0" spc="150" dirty="0">
                <a:solidFill>
                  <a:srgbClr val="C05621"/>
                </a:solidFill>
                <a:latin typeface="Cambria" pitchFamily="34" charset="0"/>
                <a:ea typeface="Cambria" pitchFamily="34" charset="-122"/>
                <a:cs typeface="Cambria" pitchFamily="34" charset="-120"/>
              </a:rPr>
              <a:t>THIN</a:t>
            </a:r>
            <a:endParaRPr lang="en-US" sz="900" dirty="0"/>
          </a:p>
        </p:txBody>
      </p:sp>
      <p:sp>
        <p:nvSpPr>
          <p:cNvPr id="12" name="Text 10"/>
          <p:cNvSpPr txBox="1"/>
          <p:nvPr/>
        </p:nvSpPr>
        <p:spPr>
          <a:xfrm>
            <a:off x="4681728" y="2999232"/>
            <a:ext cx="2798064" cy="658368"/>
          </a:xfrm>
          <a:prstGeom prst="rect">
            <a:avLst/>
          </a:prstGeom>
          <a:noFill/>
          <a:ln/>
        </p:spPr>
        <p:txBody>
          <a:bodyPr wrap="square" lIns="0" tIns="0" rIns="0" bIns="0" rtlCol="0" anchor="t"/>
          <a:lstStyle/>
          <a:p>
            <a:pPr marL="0" indent="0">
              <a:lnSpc>
                <a:spcPts val="2100"/>
              </a:lnSpc>
              <a:buNone/>
            </a:pPr>
            <a:r>
              <a:rPr lang="en-US" sz="1600" b="1" dirty="0">
                <a:solidFill>
                  <a:srgbClr val="0E1B2A"/>
                </a:solidFill>
                <a:latin typeface="Century Schoolbook" pitchFamily="34" charset="0"/>
                <a:ea typeface="Century Schoolbook" pitchFamily="34" charset="-122"/>
                <a:cs typeface="Century Schoolbook" pitchFamily="34" charset="-120"/>
              </a:rPr>
              <a:t>Fiscal capacity and delivery</a:t>
            </a:r>
            <a:endParaRPr lang="en-US" sz="1600" dirty="0"/>
          </a:p>
        </p:txBody>
      </p:sp>
      <p:sp>
        <p:nvSpPr>
          <p:cNvPr id="13" name="Shape 11"/>
          <p:cNvSpPr/>
          <p:nvPr/>
        </p:nvSpPr>
        <p:spPr>
          <a:xfrm>
            <a:off x="4681728" y="3730752"/>
            <a:ext cx="2798064" cy="0"/>
          </a:xfrm>
          <a:prstGeom prst="line">
            <a:avLst/>
          </a:prstGeom>
          <a:noFill/>
          <a:ln w="9525">
            <a:solidFill>
              <a:srgbClr val="DCE1E6"/>
            </a:solidFill>
            <a:prstDash val="solid"/>
          </a:ln>
        </p:spPr>
        <p:txBody>
          <a:bodyPr/>
          <a:lstStyle/>
          <a:p>
            <a:endParaRPr lang="en-US"/>
          </a:p>
        </p:txBody>
      </p:sp>
      <p:sp>
        <p:nvSpPr>
          <p:cNvPr id="14" name="Text 12"/>
          <p:cNvSpPr txBox="1"/>
          <p:nvPr/>
        </p:nvSpPr>
        <p:spPr>
          <a:xfrm>
            <a:off x="4681728" y="3886200"/>
            <a:ext cx="2798064" cy="19202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Revenue potential from energy and carbon pricing</a:t>
            </a:r>
            <a:endParaRPr lang="en-US" sz="1150" dirty="0"/>
          </a:p>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Exposure of the budget to the transition itself</a:t>
            </a:r>
            <a:endParaRPr lang="en-US" sz="1150" dirty="0"/>
          </a:p>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Whether capital budgets actually execute</a:t>
            </a:r>
            <a:endParaRPr lang="en-US" sz="1150" dirty="0"/>
          </a:p>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Which instrument fits which constraint</a:t>
            </a:r>
            <a:endParaRPr lang="en-US" sz="1150" dirty="0"/>
          </a:p>
        </p:txBody>
      </p:sp>
      <p:sp>
        <p:nvSpPr>
          <p:cNvPr id="15" name="Shape 13"/>
          <p:cNvSpPr/>
          <p:nvPr/>
        </p:nvSpPr>
        <p:spPr>
          <a:xfrm>
            <a:off x="8138160" y="2423160"/>
            <a:ext cx="3383280" cy="3566160"/>
          </a:xfrm>
          <a:prstGeom prst="rect">
            <a:avLst/>
          </a:prstGeom>
          <a:solidFill>
            <a:srgbClr val="F4F6F8"/>
          </a:solidFill>
          <a:ln w="12700">
            <a:solidFill>
              <a:srgbClr val="333333"/>
            </a:solidFill>
            <a:prstDash val="solid"/>
          </a:ln>
        </p:spPr>
        <p:txBody>
          <a:bodyPr/>
          <a:lstStyle/>
          <a:p>
            <a:endParaRPr lang="en-US"/>
          </a:p>
        </p:txBody>
      </p:sp>
      <p:sp>
        <p:nvSpPr>
          <p:cNvPr id="16" name="Text 14"/>
          <p:cNvSpPr txBox="1"/>
          <p:nvPr/>
        </p:nvSpPr>
        <p:spPr>
          <a:xfrm>
            <a:off x="8430768" y="2697480"/>
            <a:ext cx="2798064" cy="228600"/>
          </a:xfrm>
          <a:prstGeom prst="rect">
            <a:avLst/>
          </a:prstGeom>
          <a:noFill/>
          <a:ln/>
        </p:spPr>
        <p:txBody>
          <a:bodyPr wrap="square" lIns="0" tIns="0" rIns="0" bIns="0" rtlCol="0" anchor="ctr"/>
          <a:lstStyle/>
          <a:p>
            <a:pPr marL="0" indent="0">
              <a:buNone/>
            </a:pPr>
            <a:r>
              <a:rPr lang="en-US" sz="900" b="1" kern="0" spc="150" dirty="0">
                <a:solidFill>
                  <a:srgbClr val="0E1B2A"/>
                </a:solidFill>
                <a:latin typeface="Cambria" pitchFamily="34" charset="0"/>
                <a:ea typeface="Cambria" pitchFamily="34" charset="-122"/>
                <a:cs typeface="Cambria" pitchFamily="34" charset="-120"/>
              </a:rPr>
              <a:t>CONSEQUENCE</a:t>
            </a:r>
            <a:endParaRPr lang="en-US" sz="900" dirty="0"/>
          </a:p>
        </p:txBody>
      </p:sp>
      <p:sp>
        <p:nvSpPr>
          <p:cNvPr id="17" name="Text 15"/>
          <p:cNvSpPr txBox="1"/>
          <p:nvPr/>
        </p:nvSpPr>
        <p:spPr>
          <a:xfrm>
            <a:off x="8430768" y="2999232"/>
            <a:ext cx="2798064" cy="658368"/>
          </a:xfrm>
          <a:prstGeom prst="rect">
            <a:avLst/>
          </a:prstGeom>
          <a:noFill/>
          <a:ln/>
        </p:spPr>
        <p:txBody>
          <a:bodyPr wrap="square" lIns="0" tIns="0" rIns="0" bIns="0" rtlCol="0" anchor="t"/>
          <a:lstStyle/>
          <a:p>
            <a:pPr marL="0" indent="0">
              <a:lnSpc>
                <a:spcPts val="2100"/>
              </a:lnSpc>
              <a:buNone/>
            </a:pPr>
            <a:r>
              <a:rPr lang="en-US" sz="1600" b="1" dirty="0">
                <a:solidFill>
                  <a:srgbClr val="0E1B2A"/>
                </a:solidFill>
                <a:latin typeface="Century Schoolbook" pitchFamily="34" charset="0"/>
                <a:ea typeface="Century Schoolbook" pitchFamily="34" charset="-122"/>
                <a:cs typeface="Century Schoolbook" pitchFamily="34" charset="-120"/>
              </a:rPr>
              <a:t>Results resist comparison</a:t>
            </a:r>
            <a:endParaRPr lang="en-US" sz="1600" dirty="0"/>
          </a:p>
        </p:txBody>
      </p:sp>
      <p:sp>
        <p:nvSpPr>
          <p:cNvPr id="18" name="Shape 16"/>
          <p:cNvSpPr/>
          <p:nvPr/>
        </p:nvSpPr>
        <p:spPr>
          <a:xfrm>
            <a:off x="8430768" y="3730752"/>
            <a:ext cx="2798064" cy="0"/>
          </a:xfrm>
          <a:prstGeom prst="line">
            <a:avLst/>
          </a:prstGeom>
          <a:noFill/>
          <a:ln w="9525">
            <a:solidFill>
              <a:srgbClr val="DCE1E6"/>
            </a:solidFill>
            <a:prstDash val="solid"/>
          </a:ln>
        </p:spPr>
        <p:txBody>
          <a:bodyPr/>
          <a:lstStyle/>
          <a:p>
            <a:endParaRPr lang="en-US"/>
          </a:p>
        </p:txBody>
      </p:sp>
      <p:sp>
        <p:nvSpPr>
          <p:cNvPr id="19" name="Text 17"/>
          <p:cNvSpPr txBox="1"/>
          <p:nvPr/>
        </p:nvSpPr>
        <p:spPr>
          <a:xfrm>
            <a:off x="8430768" y="3886200"/>
            <a:ext cx="2798064" cy="19202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Methods are chosen country by country</a:t>
            </a:r>
            <a:endParaRPr lang="en-US" sz="1150" dirty="0"/>
          </a:p>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Outputs are hard to aggregate across the portfolio</a:t>
            </a:r>
            <a:endParaRPr lang="en-US" sz="1150" dirty="0"/>
          </a:p>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Financing sections default to a generic menu</a:t>
            </a:r>
            <a:endParaRPr lang="en-US" sz="1150" dirty="0"/>
          </a:p>
          <a:p>
            <a:pPr marL="342900" indent="-342900">
              <a:lnSpc>
                <a:spcPts val="1600"/>
              </a:lnSpc>
              <a:spcAft>
                <a:spcPts val="700"/>
              </a:spcAft>
              <a:buSzPct val="100000"/>
              <a:buChar char="•"/>
            </a:pPr>
            <a:r>
              <a:rPr lang="en-US" sz="1150" dirty="0">
                <a:solidFill>
                  <a:srgbClr val="5A6B7B"/>
                </a:solidFill>
                <a:latin typeface="Cambria" pitchFamily="34" charset="0"/>
                <a:ea typeface="Cambria" pitchFamily="34" charset="-122"/>
                <a:cs typeface="Cambria" pitchFamily="34" charset="-120"/>
              </a:rPr>
              <a:t>Operations inherit an unpriced instrument choice</a:t>
            </a:r>
            <a:endParaRPr lang="en-US" sz="1150" dirty="0"/>
          </a:p>
        </p:txBody>
      </p:sp>
      <p:sp>
        <p:nvSpPr>
          <p:cNvPr id="20" name="Text 18"/>
          <p:cNvSpPr txBox="1"/>
          <p:nvPr/>
        </p:nvSpPr>
        <p:spPr>
          <a:xfrm>
            <a:off x="640080" y="6272784"/>
            <a:ext cx="10881360" cy="274320"/>
          </a:xfrm>
          <a:prstGeom prst="rect">
            <a:avLst/>
          </a:prstGeom>
          <a:noFill/>
          <a:ln/>
        </p:spPr>
        <p:txBody>
          <a:bodyPr wrap="square" lIns="0" tIns="0" rIns="0" bIns="0" rtlCol="0" anchor="ctr"/>
          <a:lstStyle/>
          <a:p>
            <a:pPr marL="0" indent="0" algn="l">
              <a:buNone/>
            </a:pPr>
            <a:r>
              <a:rPr lang="en-US" sz="900" dirty="0">
                <a:solidFill>
                  <a:srgbClr val="93A0AC"/>
                </a:solidFill>
                <a:latin typeface="Cambria" pitchFamily="34" charset="0"/>
                <a:ea typeface="Cambria" pitchFamily="34" charset="-122"/>
                <a:cs typeface="Cambria" pitchFamily="34" charset="-120"/>
              </a:rPr>
              <a:t>CCDR methodology is deliberately tailored to each country, which supports in-country policy debate but makes portfolio-level aggregation and comparison harder.</a:t>
            </a:r>
            <a:endParaRPr lang="en-US" sz="900" dirty="0"/>
          </a:p>
        </p:txBody>
      </p:sp>
      <p:sp>
        <p:nvSpPr>
          <p:cNvPr id="21" name="Text 19"/>
          <p:cNvSpPr txBox="1"/>
          <p:nvPr/>
        </p:nvSpPr>
        <p:spPr>
          <a:xfrm>
            <a:off x="11338560" y="6272784"/>
            <a:ext cx="365760" cy="274320"/>
          </a:xfrm>
          <a:prstGeom prst="rect">
            <a:avLst/>
          </a:prstGeom>
          <a:noFill/>
          <a:ln/>
        </p:spPr>
        <p:txBody>
          <a:bodyPr wrap="square" lIns="0" tIns="0" rIns="0" bIns="0" rtlCol="0" anchor="ctr"/>
          <a:lstStyle/>
          <a:p>
            <a:pPr marL="0" indent="0" algn="r">
              <a:buNone/>
            </a:pPr>
            <a:r>
              <a:rPr lang="en-US" sz="900" dirty="0">
                <a:solidFill>
                  <a:srgbClr val="93A0AC"/>
                </a:solidFill>
                <a:latin typeface="Cambria" pitchFamily="34" charset="0"/>
                <a:ea typeface="Cambria" pitchFamily="34" charset="-122"/>
                <a:cs typeface="Cambria"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marL="0" indent="0" algn="l">
              <a:buNone/>
            </a:pPr>
            <a:r>
              <a:rPr lang="en-US" sz="1000" b="1" kern="0" spc="200" dirty="0">
                <a:solidFill>
                  <a:srgbClr val="C05621"/>
                </a:solidFill>
                <a:latin typeface="Cambria" pitchFamily="34" charset="0"/>
                <a:ea typeface="Cambria" pitchFamily="34" charset="-122"/>
                <a:cs typeface="Cambria" pitchFamily="34" charset="-120"/>
              </a:rPr>
              <a:t>THE FRAMEWORK</a:t>
            </a:r>
            <a:endParaRPr lang="en-US" sz="1000" dirty="0"/>
          </a:p>
        </p:txBody>
      </p:sp>
      <p:sp>
        <p:nvSpPr>
          <p:cNvPr id="3" name="Text 1"/>
          <p:cNvSpPr txBox="1"/>
          <p:nvPr/>
        </p:nvSpPr>
        <p:spPr>
          <a:xfrm>
            <a:off x="640080" y="713232"/>
            <a:ext cx="10881360" cy="868680"/>
          </a:xfrm>
          <a:prstGeom prst="rect">
            <a:avLst/>
          </a:prstGeom>
          <a:noFill/>
          <a:ln/>
        </p:spPr>
        <p:txBody>
          <a:bodyPr wrap="square" lIns="0" tIns="0" rIns="0" bIns="0" rtlCol="0" anchor="t"/>
          <a:lstStyle/>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Six questions, asked in order: context before verdict,</a:t>
            </a:r>
            <a:endParaRPr lang="en-US" sz="2700" dirty="0"/>
          </a:p>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opportunity before constraint</a:t>
            </a:r>
            <a:endParaRPr lang="en-US" sz="2700" dirty="0"/>
          </a:p>
        </p:txBody>
      </p:sp>
      <p:sp>
        <p:nvSpPr>
          <p:cNvPr id="4" name="Text 2"/>
          <p:cNvSpPr txBox="1"/>
          <p:nvPr/>
        </p:nvSpPr>
        <p:spPr>
          <a:xfrm>
            <a:off x="640080" y="1755648"/>
            <a:ext cx="10881360" cy="365760"/>
          </a:xfrm>
          <a:prstGeom prst="rect">
            <a:avLst/>
          </a:prstGeom>
          <a:noFill/>
          <a:ln/>
        </p:spPr>
        <p:txBody>
          <a:bodyPr wrap="square" lIns="0" tIns="0" rIns="0" bIns="0" rtlCol="0" anchor="ctr"/>
          <a:lstStyle/>
          <a:p>
            <a:pPr marL="0" indent="0" algn="l">
              <a:buNone/>
            </a:pPr>
            <a:r>
              <a:rPr lang="en-US" sz="1300" i="1" dirty="0">
                <a:solidFill>
                  <a:srgbClr val="5A6B7B"/>
                </a:solidFill>
                <a:latin typeface="Cambria" pitchFamily="34" charset="0"/>
                <a:ea typeface="Cambria" pitchFamily="34" charset="-122"/>
                <a:cs typeface="Cambria" pitchFamily="34" charset="-120"/>
              </a:rPr>
              <a:t>Two context blocks frame the country. Four judgement blocks then say what it can pay for, build and finance.</a:t>
            </a:r>
            <a:endParaRPr lang="en-US" sz="1300" dirty="0"/>
          </a:p>
        </p:txBody>
      </p:sp>
      <p:sp>
        <p:nvSpPr>
          <p:cNvPr id="5" name="Shape 3"/>
          <p:cNvSpPr/>
          <p:nvPr/>
        </p:nvSpPr>
        <p:spPr>
          <a:xfrm>
            <a:off x="640080" y="2286000"/>
            <a:ext cx="3383280" cy="1737360"/>
          </a:xfrm>
          <a:prstGeom prst="rect">
            <a:avLst/>
          </a:prstGeom>
          <a:solidFill>
            <a:srgbClr val="F4F6F8"/>
          </a:solidFill>
          <a:ln w="12700">
            <a:solidFill>
              <a:srgbClr val="333333"/>
            </a:solidFill>
            <a:prstDash val="solid"/>
          </a:ln>
        </p:spPr>
        <p:txBody>
          <a:bodyPr/>
          <a:lstStyle/>
          <a:p>
            <a:endParaRPr lang="en-US"/>
          </a:p>
        </p:txBody>
      </p:sp>
      <p:sp>
        <p:nvSpPr>
          <p:cNvPr id="6" name="Shape 4"/>
          <p:cNvSpPr/>
          <p:nvPr/>
        </p:nvSpPr>
        <p:spPr>
          <a:xfrm>
            <a:off x="896112" y="2523744"/>
            <a:ext cx="310896" cy="310896"/>
          </a:xfrm>
          <a:prstGeom prst="rect">
            <a:avLst/>
          </a:prstGeom>
          <a:solidFill>
            <a:srgbClr val="C05621"/>
          </a:solidFill>
          <a:ln w="12700">
            <a:solidFill>
              <a:srgbClr val="333333"/>
            </a:solidFill>
            <a:prstDash val="solid"/>
          </a:ln>
        </p:spPr>
        <p:txBody>
          <a:bodyPr/>
          <a:lstStyle/>
          <a:p>
            <a:endParaRPr lang="en-US"/>
          </a:p>
        </p:txBody>
      </p:sp>
      <p:sp>
        <p:nvSpPr>
          <p:cNvPr id="7" name="Text 5"/>
          <p:cNvSpPr txBox="1"/>
          <p:nvPr/>
        </p:nvSpPr>
        <p:spPr>
          <a:xfrm>
            <a:off x="896112" y="252374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C1</a:t>
            </a:r>
            <a:endParaRPr lang="en-US" sz="1200" dirty="0"/>
          </a:p>
        </p:txBody>
      </p:sp>
      <p:sp>
        <p:nvSpPr>
          <p:cNvPr id="8" name="Text 6"/>
          <p:cNvSpPr txBox="1"/>
          <p:nvPr/>
        </p:nvSpPr>
        <p:spPr>
          <a:xfrm>
            <a:off x="1316736" y="2542032"/>
            <a:ext cx="2468880" cy="219456"/>
          </a:xfrm>
          <a:prstGeom prst="rect">
            <a:avLst/>
          </a:prstGeom>
          <a:noFill/>
          <a:ln/>
        </p:spPr>
        <p:txBody>
          <a:bodyPr wrap="square" lIns="0" tIns="0" rIns="0" bIns="0" rtlCol="0" anchor="ctr"/>
          <a:lstStyle/>
          <a:p>
            <a:pPr marL="0" indent="0">
              <a:buNone/>
            </a:pPr>
            <a:r>
              <a:rPr lang="en-US" sz="850" b="1" kern="0" spc="150" dirty="0">
                <a:solidFill>
                  <a:srgbClr val="C05621"/>
                </a:solidFill>
                <a:latin typeface="Cambria" pitchFamily="34" charset="0"/>
                <a:ea typeface="Cambria" pitchFamily="34" charset="-122"/>
                <a:cs typeface="Cambria" pitchFamily="34" charset="-120"/>
              </a:rPr>
              <a:t>CONTEXT</a:t>
            </a:r>
            <a:endParaRPr lang="en-US" sz="850" dirty="0"/>
          </a:p>
        </p:txBody>
      </p:sp>
      <p:sp>
        <p:nvSpPr>
          <p:cNvPr id="9" name="Text 7"/>
          <p:cNvSpPr txBox="1"/>
          <p:nvPr/>
        </p:nvSpPr>
        <p:spPr>
          <a:xfrm>
            <a:off x="896112" y="2889504"/>
            <a:ext cx="2871216" cy="457200"/>
          </a:xfrm>
          <a:prstGeom prst="rect">
            <a:avLst/>
          </a:prstGeom>
          <a:noFill/>
          <a:ln/>
        </p:spPr>
        <p:txBody>
          <a:bodyPr wrap="square" lIns="0" tIns="0" rIns="0" bIns="0" rtlCol="0" anchor="t"/>
          <a:lstStyle/>
          <a:p>
            <a:pPr marL="0" indent="0">
              <a:lnSpc>
                <a:spcPts val="1700"/>
              </a:lnSpc>
              <a:buNone/>
            </a:pPr>
            <a:r>
              <a:rPr lang="en-US" sz="1300" b="1" dirty="0">
                <a:solidFill>
                  <a:srgbClr val="0E1B2A"/>
                </a:solidFill>
                <a:latin typeface="Century Schoolbook" pitchFamily="34" charset="0"/>
                <a:ea typeface="Century Schoolbook" pitchFamily="34" charset="-122"/>
                <a:cs typeface="Century Schoolbook" pitchFamily="34" charset="-120"/>
              </a:rPr>
              <a:t>How much fossil revenue is in play?</a:t>
            </a:r>
            <a:endParaRPr lang="en-US" sz="1300" dirty="0"/>
          </a:p>
        </p:txBody>
      </p:sp>
      <p:sp>
        <p:nvSpPr>
          <p:cNvPr id="10" name="Text 8"/>
          <p:cNvSpPr txBox="1"/>
          <p:nvPr/>
        </p:nvSpPr>
        <p:spPr>
          <a:xfrm>
            <a:off x="896112" y="3364992"/>
            <a:ext cx="2871216" cy="548640"/>
          </a:xfrm>
          <a:prstGeom prst="rect">
            <a:avLst/>
          </a:prstGeom>
          <a:noFill/>
          <a:ln/>
        </p:spPr>
        <p:txBody>
          <a:bodyPr wrap="square" lIns="0" tIns="0" rIns="0" bIns="0" rtlCol="0" anchor="t"/>
          <a:lstStyle/>
          <a:p>
            <a:pPr marL="0" indent="0">
              <a:lnSpc>
                <a:spcPts val="1250"/>
              </a:lnSpc>
              <a:buNone/>
            </a:pPr>
            <a:r>
              <a:rPr lang="en-US" sz="950" dirty="0">
                <a:solidFill>
                  <a:srgbClr val="5A6B7B"/>
                </a:solidFill>
                <a:latin typeface="Cambria" pitchFamily="34" charset="0"/>
                <a:ea typeface="Cambria" pitchFamily="34" charset="-122"/>
                <a:cs typeface="Cambria" pitchFamily="34" charset="-120"/>
              </a:rPr>
              <a:t>Energy taxes already levied, export earnings, and revenue forgone through subsidies. A magnitude, not a verdict.</a:t>
            </a:r>
            <a:endParaRPr lang="en-US" sz="950" dirty="0"/>
          </a:p>
        </p:txBody>
      </p:sp>
      <p:sp>
        <p:nvSpPr>
          <p:cNvPr id="11" name="Shape 9"/>
          <p:cNvSpPr/>
          <p:nvPr/>
        </p:nvSpPr>
        <p:spPr>
          <a:xfrm>
            <a:off x="4389120" y="2286000"/>
            <a:ext cx="3383280" cy="1737360"/>
          </a:xfrm>
          <a:prstGeom prst="rect">
            <a:avLst/>
          </a:prstGeom>
          <a:solidFill>
            <a:srgbClr val="F4F6F8"/>
          </a:solidFill>
          <a:ln w="12700">
            <a:solidFill>
              <a:srgbClr val="333333"/>
            </a:solidFill>
            <a:prstDash val="solid"/>
          </a:ln>
        </p:spPr>
        <p:txBody>
          <a:bodyPr/>
          <a:lstStyle/>
          <a:p>
            <a:endParaRPr lang="en-US"/>
          </a:p>
        </p:txBody>
      </p:sp>
      <p:sp>
        <p:nvSpPr>
          <p:cNvPr id="12" name="Shape 10"/>
          <p:cNvSpPr/>
          <p:nvPr/>
        </p:nvSpPr>
        <p:spPr>
          <a:xfrm>
            <a:off x="4645152" y="2523744"/>
            <a:ext cx="310896" cy="310896"/>
          </a:xfrm>
          <a:prstGeom prst="rect">
            <a:avLst/>
          </a:prstGeom>
          <a:solidFill>
            <a:srgbClr val="C05621"/>
          </a:solidFill>
          <a:ln w="12700">
            <a:solidFill>
              <a:srgbClr val="333333"/>
            </a:solidFill>
            <a:prstDash val="solid"/>
          </a:ln>
        </p:spPr>
        <p:txBody>
          <a:bodyPr/>
          <a:lstStyle/>
          <a:p>
            <a:endParaRPr lang="en-US"/>
          </a:p>
        </p:txBody>
      </p:sp>
      <p:sp>
        <p:nvSpPr>
          <p:cNvPr id="13" name="Text 11"/>
          <p:cNvSpPr txBox="1"/>
          <p:nvPr/>
        </p:nvSpPr>
        <p:spPr>
          <a:xfrm>
            <a:off x="4645152" y="252374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C2</a:t>
            </a:r>
            <a:endParaRPr lang="en-US" sz="1200" dirty="0"/>
          </a:p>
        </p:txBody>
      </p:sp>
      <p:sp>
        <p:nvSpPr>
          <p:cNvPr id="14" name="Text 12"/>
          <p:cNvSpPr txBox="1"/>
          <p:nvPr/>
        </p:nvSpPr>
        <p:spPr>
          <a:xfrm>
            <a:off x="5065776" y="2542032"/>
            <a:ext cx="2468880" cy="219456"/>
          </a:xfrm>
          <a:prstGeom prst="rect">
            <a:avLst/>
          </a:prstGeom>
          <a:noFill/>
          <a:ln/>
        </p:spPr>
        <p:txBody>
          <a:bodyPr wrap="square" lIns="0" tIns="0" rIns="0" bIns="0" rtlCol="0" anchor="ctr"/>
          <a:lstStyle/>
          <a:p>
            <a:pPr marL="0" indent="0">
              <a:buNone/>
            </a:pPr>
            <a:r>
              <a:rPr lang="en-US" sz="850" b="1" kern="0" spc="150" dirty="0">
                <a:solidFill>
                  <a:srgbClr val="C05621"/>
                </a:solidFill>
                <a:latin typeface="Cambria" pitchFamily="34" charset="0"/>
                <a:ea typeface="Cambria" pitchFamily="34" charset="-122"/>
                <a:cs typeface="Cambria" pitchFamily="34" charset="-120"/>
              </a:rPr>
              <a:t>CONTEXT</a:t>
            </a:r>
            <a:endParaRPr lang="en-US" sz="850" dirty="0"/>
          </a:p>
        </p:txBody>
      </p:sp>
      <p:sp>
        <p:nvSpPr>
          <p:cNvPr id="15" name="Text 13"/>
          <p:cNvSpPr txBox="1"/>
          <p:nvPr/>
        </p:nvSpPr>
        <p:spPr>
          <a:xfrm>
            <a:off x="4645152" y="2889504"/>
            <a:ext cx="2871216" cy="457200"/>
          </a:xfrm>
          <a:prstGeom prst="rect">
            <a:avLst/>
          </a:prstGeom>
          <a:noFill/>
          <a:ln/>
        </p:spPr>
        <p:txBody>
          <a:bodyPr wrap="square" lIns="0" tIns="0" rIns="0" bIns="0" rtlCol="0" anchor="t"/>
          <a:lstStyle/>
          <a:p>
            <a:pPr marL="0" indent="0">
              <a:lnSpc>
                <a:spcPts val="1700"/>
              </a:lnSpc>
              <a:buNone/>
            </a:pPr>
            <a:r>
              <a:rPr lang="en-US" sz="1300" b="1" dirty="0">
                <a:solidFill>
                  <a:srgbClr val="0E1B2A"/>
                </a:solidFill>
                <a:latin typeface="Century Schoolbook" pitchFamily="34" charset="0"/>
                <a:ea typeface="Century Schoolbook" pitchFamily="34" charset="-122"/>
                <a:cs typeface="Century Schoolbook" pitchFamily="34" charset="-120"/>
              </a:rPr>
              <a:t>Where is mitigation cheapest?</a:t>
            </a:r>
            <a:endParaRPr lang="en-US" sz="1300" dirty="0"/>
          </a:p>
        </p:txBody>
      </p:sp>
      <p:sp>
        <p:nvSpPr>
          <p:cNvPr id="16" name="Text 14"/>
          <p:cNvSpPr txBox="1"/>
          <p:nvPr/>
        </p:nvSpPr>
        <p:spPr>
          <a:xfrm>
            <a:off x="4645152" y="3364992"/>
            <a:ext cx="2871216" cy="548640"/>
          </a:xfrm>
          <a:prstGeom prst="rect">
            <a:avLst/>
          </a:prstGeom>
          <a:noFill/>
          <a:ln/>
        </p:spPr>
        <p:txBody>
          <a:bodyPr wrap="square" lIns="0" tIns="0" rIns="0" bIns="0" rtlCol="0" anchor="t"/>
          <a:lstStyle/>
          <a:p>
            <a:pPr marL="0" indent="0">
              <a:lnSpc>
                <a:spcPts val="1250"/>
              </a:lnSpc>
              <a:buNone/>
            </a:pPr>
            <a:r>
              <a:rPr lang="en-US" sz="950" dirty="0">
                <a:solidFill>
                  <a:srgbClr val="5A6B7B"/>
                </a:solidFill>
                <a:latin typeface="Cambria" pitchFamily="34" charset="0"/>
                <a:ea typeface="Cambria" pitchFamily="34" charset="-122"/>
                <a:cs typeface="Cambria" pitchFamily="34" charset="-120"/>
              </a:rPr>
              <a:t>Oil-fired generation, renewable share and the net fuel trade position. Where abatement pays for itself.</a:t>
            </a:r>
            <a:endParaRPr lang="en-US" sz="950" dirty="0"/>
          </a:p>
        </p:txBody>
      </p:sp>
      <p:sp>
        <p:nvSpPr>
          <p:cNvPr id="17" name="Shape 15"/>
          <p:cNvSpPr/>
          <p:nvPr/>
        </p:nvSpPr>
        <p:spPr>
          <a:xfrm>
            <a:off x="8138160" y="2286000"/>
            <a:ext cx="3383280" cy="1737360"/>
          </a:xfrm>
          <a:prstGeom prst="rect">
            <a:avLst/>
          </a:prstGeom>
          <a:solidFill>
            <a:srgbClr val="F4F6F8"/>
          </a:solidFill>
          <a:ln w="12700">
            <a:solidFill>
              <a:srgbClr val="333333"/>
            </a:solidFill>
            <a:prstDash val="solid"/>
          </a:ln>
        </p:spPr>
        <p:txBody>
          <a:bodyPr/>
          <a:lstStyle/>
          <a:p>
            <a:endParaRPr lang="en-US"/>
          </a:p>
        </p:txBody>
      </p:sp>
      <p:sp>
        <p:nvSpPr>
          <p:cNvPr id="18" name="Shape 16"/>
          <p:cNvSpPr/>
          <p:nvPr/>
        </p:nvSpPr>
        <p:spPr>
          <a:xfrm>
            <a:off x="8394192" y="2523744"/>
            <a:ext cx="310896" cy="310896"/>
          </a:xfrm>
          <a:prstGeom prst="rect">
            <a:avLst/>
          </a:prstGeom>
          <a:solidFill>
            <a:srgbClr val="1F6F6B"/>
          </a:solidFill>
          <a:ln w="12700">
            <a:solidFill>
              <a:srgbClr val="333333"/>
            </a:solidFill>
            <a:prstDash val="solid"/>
          </a:ln>
        </p:spPr>
        <p:txBody>
          <a:bodyPr/>
          <a:lstStyle/>
          <a:p>
            <a:endParaRPr lang="en-US"/>
          </a:p>
        </p:txBody>
      </p:sp>
      <p:sp>
        <p:nvSpPr>
          <p:cNvPr id="19" name="Text 17"/>
          <p:cNvSpPr txBox="1"/>
          <p:nvPr/>
        </p:nvSpPr>
        <p:spPr>
          <a:xfrm>
            <a:off x="8394192" y="252374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F1</a:t>
            </a:r>
            <a:endParaRPr lang="en-US" sz="1200" dirty="0"/>
          </a:p>
        </p:txBody>
      </p:sp>
      <p:sp>
        <p:nvSpPr>
          <p:cNvPr id="20" name="Text 18"/>
          <p:cNvSpPr txBox="1"/>
          <p:nvPr/>
        </p:nvSpPr>
        <p:spPr>
          <a:xfrm>
            <a:off x="8814816" y="2542032"/>
            <a:ext cx="2468880" cy="219456"/>
          </a:xfrm>
          <a:prstGeom prst="rect">
            <a:avLst/>
          </a:prstGeom>
          <a:noFill/>
          <a:ln/>
        </p:spPr>
        <p:txBody>
          <a:bodyPr wrap="square" lIns="0" tIns="0" rIns="0" bIns="0" rtlCol="0" anchor="ctr"/>
          <a:lstStyle/>
          <a:p>
            <a:pPr marL="0" indent="0">
              <a:buNone/>
            </a:pPr>
            <a:r>
              <a:rPr lang="en-US" sz="850" b="1" kern="0" spc="150" dirty="0">
                <a:solidFill>
                  <a:srgbClr val="1F6F6B"/>
                </a:solidFill>
                <a:latin typeface="Cambria" pitchFamily="34" charset="0"/>
                <a:ea typeface="Cambria" pitchFamily="34" charset="-122"/>
                <a:cs typeface="Cambria" pitchFamily="34" charset="-120"/>
              </a:rPr>
              <a:t>FISCAL</a:t>
            </a:r>
            <a:endParaRPr lang="en-US" sz="850" dirty="0"/>
          </a:p>
        </p:txBody>
      </p:sp>
      <p:sp>
        <p:nvSpPr>
          <p:cNvPr id="21" name="Text 19"/>
          <p:cNvSpPr txBox="1"/>
          <p:nvPr/>
        </p:nvSpPr>
        <p:spPr>
          <a:xfrm>
            <a:off x="8394192" y="2889504"/>
            <a:ext cx="2871216" cy="457200"/>
          </a:xfrm>
          <a:prstGeom prst="rect">
            <a:avLst/>
          </a:prstGeom>
          <a:noFill/>
          <a:ln/>
        </p:spPr>
        <p:txBody>
          <a:bodyPr wrap="square" lIns="0" tIns="0" rIns="0" bIns="0" rtlCol="0" anchor="t"/>
          <a:lstStyle/>
          <a:p>
            <a:pPr marL="0" indent="0">
              <a:lnSpc>
                <a:spcPts val="1700"/>
              </a:lnSpc>
              <a:buNone/>
            </a:pPr>
            <a:r>
              <a:rPr lang="en-US" sz="1300" b="1" dirty="0">
                <a:solidFill>
                  <a:srgbClr val="0E1B2A"/>
                </a:solidFill>
                <a:latin typeface="Century Schoolbook" pitchFamily="34" charset="0"/>
                <a:ea typeface="Century Schoolbook" pitchFamily="34" charset="-122"/>
                <a:cs typeface="Century Schoolbook" pitchFamily="34" charset="-120"/>
              </a:rPr>
              <a:t>Can they pay for it?</a:t>
            </a:r>
            <a:endParaRPr lang="en-US" sz="1300" dirty="0"/>
          </a:p>
        </p:txBody>
      </p:sp>
      <p:sp>
        <p:nvSpPr>
          <p:cNvPr id="22" name="Text 20"/>
          <p:cNvSpPr txBox="1"/>
          <p:nvPr/>
        </p:nvSpPr>
        <p:spPr>
          <a:xfrm>
            <a:off x="8394192" y="3364992"/>
            <a:ext cx="2871216" cy="548640"/>
          </a:xfrm>
          <a:prstGeom prst="rect">
            <a:avLst/>
          </a:prstGeom>
          <a:noFill/>
          <a:ln/>
        </p:spPr>
        <p:txBody>
          <a:bodyPr wrap="square" lIns="0" tIns="0" rIns="0" bIns="0" rtlCol="0" anchor="t"/>
          <a:lstStyle/>
          <a:p>
            <a:pPr marL="0" indent="0">
              <a:lnSpc>
                <a:spcPts val="1250"/>
              </a:lnSpc>
              <a:buNone/>
            </a:pPr>
            <a:r>
              <a:rPr lang="en-US" sz="950" dirty="0">
                <a:solidFill>
                  <a:srgbClr val="5A6B7B"/>
                </a:solidFill>
                <a:latin typeface="Cambria" pitchFamily="34" charset="0"/>
                <a:ea typeface="Cambria" pitchFamily="34" charset="-122"/>
                <a:cs typeface="Cambria" pitchFamily="34" charset="-120"/>
              </a:rPr>
              <a:t>Interest-to-revenue, gross debt and the tax base. The binding constraint in most IDA countries.</a:t>
            </a:r>
            <a:endParaRPr lang="en-US" sz="950" dirty="0"/>
          </a:p>
        </p:txBody>
      </p:sp>
      <p:sp>
        <p:nvSpPr>
          <p:cNvPr id="23" name="Shape 21"/>
          <p:cNvSpPr/>
          <p:nvPr/>
        </p:nvSpPr>
        <p:spPr>
          <a:xfrm>
            <a:off x="640080" y="4251960"/>
            <a:ext cx="3383280" cy="1737360"/>
          </a:xfrm>
          <a:prstGeom prst="rect">
            <a:avLst/>
          </a:prstGeom>
          <a:solidFill>
            <a:srgbClr val="F4F6F8"/>
          </a:solidFill>
          <a:ln w="12700">
            <a:solidFill>
              <a:srgbClr val="333333"/>
            </a:solidFill>
            <a:prstDash val="solid"/>
          </a:ln>
        </p:spPr>
        <p:txBody>
          <a:bodyPr/>
          <a:lstStyle/>
          <a:p>
            <a:endParaRPr lang="en-US"/>
          </a:p>
        </p:txBody>
      </p:sp>
      <p:sp>
        <p:nvSpPr>
          <p:cNvPr id="24" name="Shape 22"/>
          <p:cNvSpPr/>
          <p:nvPr/>
        </p:nvSpPr>
        <p:spPr>
          <a:xfrm>
            <a:off x="896112" y="4489704"/>
            <a:ext cx="310896" cy="310896"/>
          </a:xfrm>
          <a:prstGeom prst="rect">
            <a:avLst/>
          </a:prstGeom>
          <a:solidFill>
            <a:srgbClr val="1F6F6B"/>
          </a:solidFill>
          <a:ln w="12700">
            <a:solidFill>
              <a:srgbClr val="333333"/>
            </a:solidFill>
            <a:prstDash val="solid"/>
          </a:ln>
        </p:spPr>
        <p:txBody>
          <a:bodyPr/>
          <a:lstStyle/>
          <a:p>
            <a:endParaRPr lang="en-US"/>
          </a:p>
        </p:txBody>
      </p:sp>
      <p:sp>
        <p:nvSpPr>
          <p:cNvPr id="25" name="Text 23"/>
          <p:cNvSpPr txBox="1"/>
          <p:nvPr/>
        </p:nvSpPr>
        <p:spPr>
          <a:xfrm>
            <a:off x="896112" y="44897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P1</a:t>
            </a:r>
            <a:endParaRPr lang="en-US" sz="1200" dirty="0"/>
          </a:p>
        </p:txBody>
      </p:sp>
      <p:sp>
        <p:nvSpPr>
          <p:cNvPr id="26" name="Text 24"/>
          <p:cNvSpPr txBox="1"/>
          <p:nvPr/>
        </p:nvSpPr>
        <p:spPr>
          <a:xfrm>
            <a:off x="1316736" y="4507992"/>
            <a:ext cx="2468880" cy="219456"/>
          </a:xfrm>
          <a:prstGeom prst="rect">
            <a:avLst/>
          </a:prstGeom>
          <a:noFill/>
          <a:ln/>
        </p:spPr>
        <p:txBody>
          <a:bodyPr wrap="square" lIns="0" tIns="0" rIns="0" bIns="0" rtlCol="0" anchor="ctr"/>
          <a:lstStyle/>
          <a:p>
            <a:pPr marL="0" indent="0">
              <a:buNone/>
            </a:pPr>
            <a:r>
              <a:rPr lang="en-US" sz="850" b="1" kern="0" spc="150" dirty="0">
                <a:solidFill>
                  <a:srgbClr val="1F6F6B"/>
                </a:solidFill>
                <a:latin typeface="Cambria" pitchFamily="34" charset="0"/>
                <a:ea typeface="Cambria" pitchFamily="34" charset="-122"/>
                <a:cs typeface="Cambria" pitchFamily="34" charset="-120"/>
              </a:rPr>
              <a:t>DELIVERY</a:t>
            </a:r>
            <a:endParaRPr lang="en-US" sz="850" dirty="0"/>
          </a:p>
        </p:txBody>
      </p:sp>
      <p:sp>
        <p:nvSpPr>
          <p:cNvPr id="27" name="Text 25"/>
          <p:cNvSpPr txBox="1"/>
          <p:nvPr/>
        </p:nvSpPr>
        <p:spPr>
          <a:xfrm>
            <a:off x="896112" y="4855464"/>
            <a:ext cx="2871216" cy="457200"/>
          </a:xfrm>
          <a:prstGeom prst="rect">
            <a:avLst/>
          </a:prstGeom>
          <a:noFill/>
          <a:ln/>
        </p:spPr>
        <p:txBody>
          <a:bodyPr wrap="square" lIns="0" tIns="0" rIns="0" bIns="0" rtlCol="0" anchor="t"/>
          <a:lstStyle/>
          <a:p>
            <a:pPr marL="0" indent="0">
              <a:lnSpc>
                <a:spcPts val="1700"/>
              </a:lnSpc>
              <a:buNone/>
            </a:pPr>
            <a:r>
              <a:rPr lang="en-US" sz="1300" b="1" dirty="0">
                <a:solidFill>
                  <a:srgbClr val="0E1B2A"/>
                </a:solidFill>
                <a:latin typeface="Century Schoolbook" pitchFamily="34" charset="0"/>
                <a:ea typeface="Century Schoolbook" pitchFamily="34" charset="-122"/>
                <a:cs typeface="Century Schoolbook" pitchFamily="34" charset="-120"/>
              </a:rPr>
              <a:t>Can they build it?</a:t>
            </a:r>
            <a:endParaRPr lang="en-US" sz="1300" dirty="0"/>
          </a:p>
        </p:txBody>
      </p:sp>
      <p:sp>
        <p:nvSpPr>
          <p:cNvPr id="28" name="Text 26"/>
          <p:cNvSpPr txBox="1"/>
          <p:nvPr/>
        </p:nvSpPr>
        <p:spPr>
          <a:xfrm>
            <a:off x="896112" y="5330952"/>
            <a:ext cx="2871216" cy="548640"/>
          </a:xfrm>
          <a:prstGeom prst="rect">
            <a:avLst/>
          </a:prstGeom>
          <a:noFill/>
          <a:ln/>
        </p:spPr>
        <p:txBody>
          <a:bodyPr wrap="square" lIns="0" tIns="0" rIns="0" bIns="0" rtlCol="0" anchor="t"/>
          <a:lstStyle/>
          <a:p>
            <a:pPr marL="0" indent="0">
              <a:lnSpc>
                <a:spcPts val="1250"/>
              </a:lnSpc>
              <a:buNone/>
            </a:pPr>
            <a:r>
              <a:rPr lang="en-US" sz="950" dirty="0">
                <a:solidFill>
                  <a:srgbClr val="5A6B7B"/>
                </a:solidFill>
                <a:latin typeface="Cambria" pitchFamily="34" charset="0"/>
                <a:ea typeface="Cambria" pitchFamily="34" charset="-122"/>
                <a:cs typeface="Cambria" pitchFamily="34" charset="-120"/>
              </a:rPr>
              <a:t>Capital budget execution and PEFA public investment management. Whether finance becomes assets.</a:t>
            </a:r>
            <a:endParaRPr lang="en-US" sz="950" dirty="0"/>
          </a:p>
        </p:txBody>
      </p:sp>
      <p:sp>
        <p:nvSpPr>
          <p:cNvPr id="29" name="Shape 27"/>
          <p:cNvSpPr/>
          <p:nvPr/>
        </p:nvSpPr>
        <p:spPr>
          <a:xfrm>
            <a:off x="4389120" y="4251960"/>
            <a:ext cx="3383280" cy="1737360"/>
          </a:xfrm>
          <a:prstGeom prst="rect">
            <a:avLst/>
          </a:prstGeom>
          <a:solidFill>
            <a:srgbClr val="F4F6F8"/>
          </a:solidFill>
          <a:ln w="12700">
            <a:solidFill>
              <a:srgbClr val="333333"/>
            </a:solidFill>
            <a:prstDash val="solid"/>
          </a:ln>
        </p:spPr>
        <p:txBody>
          <a:bodyPr/>
          <a:lstStyle/>
          <a:p>
            <a:endParaRPr lang="en-US"/>
          </a:p>
        </p:txBody>
      </p:sp>
      <p:sp>
        <p:nvSpPr>
          <p:cNvPr id="30" name="Shape 28"/>
          <p:cNvSpPr/>
          <p:nvPr/>
        </p:nvSpPr>
        <p:spPr>
          <a:xfrm>
            <a:off x="4645152" y="4489704"/>
            <a:ext cx="310896" cy="310896"/>
          </a:xfrm>
          <a:prstGeom prst="rect">
            <a:avLst/>
          </a:prstGeom>
          <a:solidFill>
            <a:srgbClr val="0E1B2A"/>
          </a:solidFill>
          <a:ln w="12700">
            <a:solidFill>
              <a:srgbClr val="333333"/>
            </a:solidFill>
            <a:prstDash val="solid"/>
          </a:ln>
        </p:spPr>
        <p:txBody>
          <a:bodyPr/>
          <a:lstStyle/>
          <a:p>
            <a:endParaRPr lang="en-US"/>
          </a:p>
        </p:txBody>
      </p:sp>
      <p:sp>
        <p:nvSpPr>
          <p:cNvPr id="31" name="Text 29"/>
          <p:cNvSpPr txBox="1"/>
          <p:nvPr/>
        </p:nvSpPr>
        <p:spPr>
          <a:xfrm>
            <a:off x="4645152" y="44897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M1</a:t>
            </a:r>
            <a:endParaRPr lang="en-US" sz="1200" dirty="0"/>
          </a:p>
        </p:txBody>
      </p:sp>
      <p:sp>
        <p:nvSpPr>
          <p:cNvPr id="32" name="Text 30"/>
          <p:cNvSpPr txBox="1"/>
          <p:nvPr/>
        </p:nvSpPr>
        <p:spPr>
          <a:xfrm>
            <a:off x="5065776" y="4507992"/>
            <a:ext cx="2468880" cy="219456"/>
          </a:xfrm>
          <a:prstGeom prst="rect">
            <a:avLst/>
          </a:prstGeom>
          <a:noFill/>
          <a:ln/>
        </p:spPr>
        <p:txBody>
          <a:bodyPr wrap="square" lIns="0" tIns="0" rIns="0" bIns="0" rtlCol="0" anchor="ctr"/>
          <a:lstStyle/>
          <a:p>
            <a:pPr marL="0" indent="0">
              <a:buNone/>
            </a:pPr>
            <a:r>
              <a:rPr lang="en-US" sz="850" b="1" kern="0" spc="150" dirty="0">
                <a:solidFill>
                  <a:srgbClr val="0E1B2A"/>
                </a:solidFill>
                <a:latin typeface="Cambria" pitchFamily="34" charset="0"/>
                <a:ea typeface="Cambria" pitchFamily="34" charset="-122"/>
                <a:cs typeface="Cambria" pitchFamily="34" charset="-120"/>
              </a:rPr>
              <a:t>FINANCE</a:t>
            </a:r>
            <a:endParaRPr lang="en-US" sz="850" dirty="0"/>
          </a:p>
        </p:txBody>
      </p:sp>
      <p:sp>
        <p:nvSpPr>
          <p:cNvPr id="33" name="Text 31"/>
          <p:cNvSpPr txBox="1"/>
          <p:nvPr/>
        </p:nvSpPr>
        <p:spPr>
          <a:xfrm>
            <a:off x="4645152" y="4855464"/>
            <a:ext cx="2871216" cy="457200"/>
          </a:xfrm>
          <a:prstGeom prst="rect">
            <a:avLst/>
          </a:prstGeom>
          <a:noFill/>
          <a:ln/>
        </p:spPr>
        <p:txBody>
          <a:bodyPr wrap="square" lIns="0" tIns="0" rIns="0" bIns="0" rtlCol="0" anchor="t"/>
          <a:lstStyle/>
          <a:p>
            <a:pPr marL="0" indent="0">
              <a:lnSpc>
                <a:spcPts val="1700"/>
              </a:lnSpc>
              <a:buNone/>
            </a:pPr>
            <a:r>
              <a:rPr lang="en-US" sz="1300" b="1" dirty="0">
                <a:solidFill>
                  <a:srgbClr val="0E1B2A"/>
                </a:solidFill>
                <a:latin typeface="Century Schoolbook" pitchFamily="34" charset="0"/>
                <a:ea typeface="Century Schoolbook" pitchFamily="34" charset="-122"/>
                <a:cs typeface="Century Schoolbook" pitchFamily="34" charset="-120"/>
              </a:rPr>
              <a:t>What does capital cost them?</a:t>
            </a:r>
            <a:endParaRPr lang="en-US" sz="1300" dirty="0"/>
          </a:p>
        </p:txBody>
      </p:sp>
      <p:sp>
        <p:nvSpPr>
          <p:cNvPr id="34" name="Text 32"/>
          <p:cNvSpPr txBox="1"/>
          <p:nvPr/>
        </p:nvSpPr>
        <p:spPr>
          <a:xfrm>
            <a:off x="4645152" y="5330952"/>
            <a:ext cx="2871216" cy="548640"/>
          </a:xfrm>
          <a:prstGeom prst="rect">
            <a:avLst/>
          </a:prstGeom>
          <a:noFill/>
          <a:ln/>
        </p:spPr>
        <p:txBody>
          <a:bodyPr wrap="square" lIns="0" tIns="0" rIns="0" bIns="0" rtlCol="0" anchor="t"/>
          <a:lstStyle/>
          <a:p>
            <a:pPr marL="0" indent="0">
              <a:lnSpc>
                <a:spcPts val="1250"/>
              </a:lnSpc>
              <a:buNone/>
            </a:pPr>
            <a:r>
              <a:rPr lang="en-US" sz="950" dirty="0">
                <a:solidFill>
                  <a:srgbClr val="5A6B7B"/>
                </a:solidFill>
                <a:latin typeface="Cambria" pitchFamily="34" charset="0"/>
                <a:ea typeface="Cambria" pitchFamily="34" charset="-122"/>
                <a:cs typeface="Cambria" pitchFamily="34" charset="-120"/>
              </a:rPr>
              <a:t>Project WACC, the official-to-private spread and borrowing tenor. What derisking is actually worth.</a:t>
            </a:r>
            <a:endParaRPr lang="en-US" sz="950" dirty="0"/>
          </a:p>
        </p:txBody>
      </p:sp>
      <p:sp>
        <p:nvSpPr>
          <p:cNvPr id="35" name="Shape 33"/>
          <p:cNvSpPr/>
          <p:nvPr/>
        </p:nvSpPr>
        <p:spPr>
          <a:xfrm>
            <a:off x="8138160" y="4251960"/>
            <a:ext cx="3383280" cy="1737360"/>
          </a:xfrm>
          <a:prstGeom prst="rect">
            <a:avLst/>
          </a:prstGeom>
          <a:solidFill>
            <a:srgbClr val="F4F6F8"/>
          </a:solidFill>
          <a:ln w="12700">
            <a:solidFill>
              <a:srgbClr val="333333"/>
            </a:solidFill>
            <a:prstDash val="solid"/>
          </a:ln>
        </p:spPr>
        <p:txBody>
          <a:bodyPr/>
          <a:lstStyle/>
          <a:p>
            <a:endParaRPr lang="en-US"/>
          </a:p>
        </p:txBody>
      </p:sp>
      <p:sp>
        <p:nvSpPr>
          <p:cNvPr id="36" name="Shape 34"/>
          <p:cNvSpPr/>
          <p:nvPr/>
        </p:nvSpPr>
        <p:spPr>
          <a:xfrm>
            <a:off x="8394192" y="4489704"/>
            <a:ext cx="310896" cy="310896"/>
          </a:xfrm>
          <a:prstGeom prst="rect">
            <a:avLst/>
          </a:prstGeom>
          <a:solidFill>
            <a:srgbClr val="0E1B2A"/>
          </a:solidFill>
          <a:ln w="12700">
            <a:solidFill>
              <a:srgbClr val="333333"/>
            </a:solidFill>
            <a:prstDash val="solid"/>
          </a:ln>
        </p:spPr>
        <p:txBody>
          <a:bodyPr/>
          <a:lstStyle/>
          <a:p>
            <a:endParaRPr lang="en-US"/>
          </a:p>
        </p:txBody>
      </p:sp>
      <p:sp>
        <p:nvSpPr>
          <p:cNvPr id="37" name="Text 35"/>
          <p:cNvSpPr txBox="1"/>
          <p:nvPr/>
        </p:nvSpPr>
        <p:spPr>
          <a:xfrm>
            <a:off x="8394192" y="44897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M2</a:t>
            </a:r>
            <a:endParaRPr lang="en-US" sz="1200" dirty="0"/>
          </a:p>
        </p:txBody>
      </p:sp>
      <p:sp>
        <p:nvSpPr>
          <p:cNvPr id="38" name="Text 36"/>
          <p:cNvSpPr txBox="1"/>
          <p:nvPr/>
        </p:nvSpPr>
        <p:spPr>
          <a:xfrm>
            <a:off x="8814816" y="4507992"/>
            <a:ext cx="2468880" cy="219456"/>
          </a:xfrm>
          <a:prstGeom prst="rect">
            <a:avLst/>
          </a:prstGeom>
          <a:noFill/>
          <a:ln/>
        </p:spPr>
        <p:txBody>
          <a:bodyPr wrap="square" lIns="0" tIns="0" rIns="0" bIns="0" rtlCol="0" anchor="ctr"/>
          <a:lstStyle/>
          <a:p>
            <a:pPr marL="0" indent="0">
              <a:buNone/>
            </a:pPr>
            <a:r>
              <a:rPr lang="en-US" sz="850" b="1" kern="0" spc="150" dirty="0">
                <a:solidFill>
                  <a:srgbClr val="0E1B2A"/>
                </a:solidFill>
                <a:latin typeface="Cambria" pitchFamily="34" charset="0"/>
                <a:ea typeface="Cambria" pitchFamily="34" charset="-122"/>
                <a:cs typeface="Cambria" pitchFamily="34" charset="-120"/>
              </a:rPr>
              <a:t>FINANCE</a:t>
            </a:r>
            <a:endParaRPr lang="en-US" sz="850" dirty="0"/>
          </a:p>
        </p:txBody>
      </p:sp>
      <p:sp>
        <p:nvSpPr>
          <p:cNvPr id="39" name="Text 37"/>
          <p:cNvSpPr txBox="1"/>
          <p:nvPr/>
        </p:nvSpPr>
        <p:spPr>
          <a:xfrm>
            <a:off x="8394192" y="4855464"/>
            <a:ext cx="2871216" cy="457200"/>
          </a:xfrm>
          <a:prstGeom prst="rect">
            <a:avLst/>
          </a:prstGeom>
          <a:noFill/>
          <a:ln/>
        </p:spPr>
        <p:txBody>
          <a:bodyPr wrap="square" lIns="0" tIns="0" rIns="0" bIns="0" rtlCol="0" anchor="t"/>
          <a:lstStyle/>
          <a:p>
            <a:pPr marL="0" indent="0">
              <a:lnSpc>
                <a:spcPts val="1700"/>
              </a:lnSpc>
              <a:buNone/>
            </a:pPr>
            <a:r>
              <a:rPr lang="en-US" sz="1300" b="1" dirty="0">
                <a:solidFill>
                  <a:srgbClr val="0E1B2A"/>
                </a:solidFill>
                <a:latin typeface="Century Schoolbook" pitchFamily="34" charset="0"/>
                <a:ea typeface="Century Schoolbook" pitchFamily="34" charset="-122"/>
                <a:cs typeface="Century Schoolbook" pitchFamily="34" charset="-120"/>
              </a:rPr>
              <a:t>Who finances it, and what risk is carried?</a:t>
            </a:r>
            <a:endParaRPr lang="en-US" sz="1300" dirty="0"/>
          </a:p>
        </p:txBody>
      </p:sp>
      <p:sp>
        <p:nvSpPr>
          <p:cNvPr id="40" name="Text 38"/>
          <p:cNvSpPr txBox="1"/>
          <p:nvPr/>
        </p:nvSpPr>
        <p:spPr>
          <a:xfrm>
            <a:off x="8394192" y="5330952"/>
            <a:ext cx="2871216" cy="548640"/>
          </a:xfrm>
          <a:prstGeom prst="rect">
            <a:avLst/>
          </a:prstGeom>
          <a:noFill/>
          <a:ln/>
        </p:spPr>
        <p:txBody>
          <a:bodyPr wrap="square" lIns="0" tIns="0" rIns="0" bIns="0" rtlCol="0" anchor="t"/>
          <a:lstStyle/>
          <a:p>
            <a:pPr marL="0" indent="0">
              <a:lnSpc>
                <a:spcPts val="1250"/>
              </a:lnSpc>
              <a:buNone/>
            </a:pPr>
            <a:r>
              <a:rPr lang="en-US" sz="950" dirty="0">
                <a:solidFill>
                  <a:srgbClr val="5A6B7B"/>
                </a:solidFill>
                <a:latin typeface="Cambria" pitchFamily="34" charset="0"/>
                <a:ea typeface="Cambria" pitchFamily="34" charset="-122"/>
                <a:cs typeface="Cambria" pitchFamily="34" charset="-120"/>
              </a:rPr>
              <a:t>Creditor mix, FX exposure, disclosure capacity and private mobilisation. Which instrument fits.</a:t>
            </a:r>
            <a:endParaRPr lang="en-US" sz="950" dirty="0"/>
          </a:p>
        </p:txBody>
      </p:sp>
      <p:sp>
        <p:nvSpPr>
          <p:cNvPr id="41" name="Text 39"/>
          <p:cNvSpPr txBox="1"/>
          <p:nvPr/>
        </p:nvSpPr>
        <p:spPr>
          <a:xfrm>
            <a:off x="640080" y="6272784"/>
            <a:ext cx="10881360" cy="274320"/>
          </a:xfrm>
          <a:prstGeom prst="rect">
            <a:avLst/>
          </a:prstGeom>
          <a:noFill/>
          <a:ln/>
        </p:spPr>
        <p:txBody>
          <a:bodyPr wrap="square" lIns="0" tIns="0" rIns="0" bIns="0" rtlCol="0" anchor="ctr"/>
          <a:lstStyle/>
          <a:p>
            <a:pPr marL="0" indent="0" algn="l">
              <a:buNone/>
            </a:pPr>
            <a:r>
              <a:rPr lang="en-US" sz="900" dirty="0">
                <a:solidFill>
                  <a:srgbClr val="93A0AC"/>
                </a:solidFill>
                <a:latin typeface="Cambria" pitchFamily="34" charset="0"/>
                <a:ea typeface="Cambria" pitchFamily="34" charset="-122"/>
                <a:cs typeface="Cambria" pitchFamily="34" charset="-120"/>
              </a:rPr>
              <a:t>Each block carries a 1-10 score and a plain-word evaluation. Context blocks read High / Medium / Low; judgement blocks read Good / Medium / Bad.</a:t>
            </a:r>
            <a:endParaRPr lang="en-US" sz="900" dirty="0"/>
          </a:p>
        </p:txBody>
      </p:sp>
      <p:sp>
        <p:nvSpPr>
          <p:cNvPr id="42" name="Text 40"/>
          <p:cNvSpPr txBox="1"/>
          <p:nvPr/>
        </p:nvSpPr>
        <p:spPr>
          <a:xfrm>
            <a:off x="11338560" y="6272784"/>
            <a:ext cx="365760" cy="274320"/>
          </a:xfrm>
          <a:prstGeom prst="rect">
            <a:avLst/>
          </a:prstGeom>
          <a:noFill/>
          <a:ln/>
        </p:spPr>
        <p:txBody>
          <a:bodyPr wrap="square" lIns="0" tIns="0" rIns="0" bIns="0" rtlCol="0" anchor="ctr"/>
          <a:lstStyle/>
          <a:p>
            <a:pPr marL="0" indent="0" algn="r">
              <a:buNone/>
            </a:pPr>
            <a:r>
              <a:rPr lang="en-US" sz="900" dirty="0">
                <a:solidFill>
                  <a:srgbClr val="93A0AC"/>
                </a:solidFill>
                <a:latin typeface="Cambria" pitchFamily="34" charset="0"/>
                <a:ea typeface="Cambria" pitchFamily="34" charset="-122"/>
                <a:cs typeface="Cambria"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marL="0" indent="0" algn="l">
              <a:buNone/>
            </a:pPr>
            <a:r>
              <a:rPr lang="en-US" sz="1000" b="1" kern="0" spc="200" dirty="0">
                <a:solidFill>
                  <a:srgbClr val="1F6F6B"/>
                </a:solidFill>
                <a:latin typeface="Cambria" pitchFamily="34" charset="0"/>
                <a:ea typeface="Cambria" pitchFamily="34" charset="-122"/>
                <a:cs typeface="Cambria" pitchFamily="34" charset="-120"/>
              </a:rPr>
              <a:t>01  ·  MODEL</a:t>
            </a:r>
            <a:endParaRPr lang="en-US" sz="1000" dirty="0"/>
          </a:p>
        </p:txBody>
      </p:sp>
      <p:sp>
        <p:nvSpPr>
          <p:cNvPr id="3" name="Text 1"/>
          <p:cNvSpPr txBox="1"/>
          <p:nvPr/>
        </p:nvSpPr>
        <p:spPr>
          <a:xfrm>
            <a:off x="640080" y="713232"/>
            <a:ext cx="10881360" cy="868680"/>
          </a:xfrm>
          <a:prstGeom prst="rect">
            <a:avLst/>
          </a:prstGeom>
          <a:noFill/>
          <a:ln/>
        </p:spPr>
        <p:txBody>
          <a:bodyPr wrap="square" lIns="0" tIns="0" rIns="0" bIns="0" rtlCol="0" anchor="t"/>
          <a:lstStyle/>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A single Python framework replaces bespoke country</a:t>
            </a:r>
            <a:endParaRPr lang="en-US" sz="2700" dirty="0"/>
          </a:p>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tooling — and makes CCDR outputs comparable</a:t>
            </a:r>
            <a:endParaRPr lang="en-US" sz="2700" dirty="0"/>
          </a:p>
        </p:txBody>
      </p:sp>
      <p:sp>
        <p:nvSpPr>
          <p:cNvPr id="4" name="Shape 2"/>
          <p:cNvSpPr/>
          <p:nvPr/>
        </p:nvSpPr>
        <p:spPr>
          <a:xfrm>
            <a:off x="640080" y="2002536"/>
            <a:ext cx="310896" cy="310896"/>
          </a:xfrm>
          <a:prstGeom prst="rect">
            <a:avLst/>
          </a:prstGeom>
          <a:solidFill>
            <a:srgbClr val="1F6F6B"/>
          </a:solidFill>
          <a:ln w="12700">
            <a:solidFill>
              <a:srgbClr val="333333"/>
            </a:solidFill>
            <a:prstDash val="solid"/>
          </a:ln>
        </p:spPr>
        <p:txBody>
          <a:bodyPr/>
          <a:lstStyle/>
          <a:p>
            <a:endParaRPr lang="en-US"/>
          </a:p>
        </p:txBody>
      </p:sp>
      <p:sp>
        <p:nvSpPr>
          <p:cNvPr id="5" name="Text 3"/>
          <p:cNvSpPr txBox="1"/>
          <p:nvPr/>
        </p:nvSpPr>
        <p:spPr>
          <a:xfrm>
            <a:off x="640080" y="200253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01</a:t>
            </a:r>
            <a:endParaRPr lang="en-US" sz="1200" dirty="0"/>
          </a:p>
        </p:txBody>
      </p:sp>
      <p:sp>
        <p:nvSpPr>
          <p:cNvPr id="6" name="Text 4"/>
          <p:cNvSpPr txBox="1"/>
          <p:nvPr/>
        </p:nvSpPr>
        <p:spPr>
          <a:xfrm>
            <a:off x="1097280" y="1965960"/>
            <a:ext cx="5760720" cy="320040"/>
          </a:xfrm>
          <a:prstGeom prst="rect">
            <a:avLst/>
          </a:prstGeom>
          <a:noFill/>
          <a:ln/>
        </p:spPr>
        <p:txBody>
          <a:bodyPr wrap="square" lIns="0" tIns="0" rIns="0" bIns="0" rtlCol="0" anchor="ctr"/>
          <a:lstStyle/>
          <a:p>
            <a:pPr marL="0" indent="0">
              <a:buNone/>
            </a:pPr>
            <a:r>
              <a:rPr lang="en-US" sz="1500" b="1" dirty="0">
                <a:solidFill>
                  <a:srgbClr val="0E1B2A"/>
                </a:solidFill>
                <a:latin typeface="Century Schoolbook" pitchFamily="34" charset="0"/>
                <a:ea typeface="Century Schoolbook" pitchFamily="34" charset="-122"/>
                <a:cs typeface="Century Schoolbook" pitchFamily="34" charset="-120"/>
              </a:rPr>
              <a:t>Shared input layer</a:t>
            </a:r>
            <a:endParaRPr lang="en-US" sz="1500" dirty="0"/>
          </a:p>
        </p:txBody>
      </p:sp>
      <p:sp>
        <p:nvSpPr>
          <p:cNvPr id="7" name="Text 5"/>
          <p:cNvSpPr txBox="1"/>
          <p:nvPr/>
        </p:nvSpPr>
        <p:spPr>
          <a:xfrm>
            <a:off x="1097280" y="2295144"/>
            <a:ext cx="5760720" cy="685800"/>
          </a:xfrm>
          <a:prstGeom prst="rect">
            <a:avLst/>
          </a:prstGeom>
          <a:noFill/>
          <a:ln/>
        </p:spPr>
        <p:txBody>
          <a:bodyPr wrap="square" lIns="0" tIns="0" rIns="0" bIns="0" rtlCol="0" anchor="t"/>
          <a:lstStyle/>
          <a:p>
            <a:pPr marL="0" indent="0">
              <a:lnSpc>
                <a:spcPts val="1600"/>
              </a:lnSpc>
              <a:buNone/>
            </a:pPr>
            <a:r>
              <a:rPr lang="en-US" sz="1150" dirty="0">
                <a:solidFill>
                  <a:srgbClr val="5A6B7B"/>
                </a:solidFill>
                <a:latin typeface="Cambria" pitchFamily="34" charset="0"/>
                <a:ea typeface="Cambria" pitchFamily="34" charset="-122"/>
                <a:cs typeface="Cambria" pitchFamily="34" charset="-120"/>
              </a:rPr>
              <a:t>One set of energy balances, price, tax and macro inputs feeding every module — so scenarios differ by assumption, not by data vintage.</a:t>
            </a:r>
            <a:endParaRPr lang="en-US" sz="1150" dirty="0"/>
          </a:p>
        </p:txBody>
      </p:sp>
      <p:sp>
        <p:nvSpPr>
          <p:cNvPr id="8" name="Shape 6"/>
          <p:cNvSpPr/>
          <p:nvPr/>
        </p:nvSpPr>
        <p:spPr>
          <a:xfrm>
            <a:off x="640080" y="3081528"/>
            <a:ext cx="310896" cy="310896"/>
          </a:xfrm>
          <a:prstGeom prst="rect">
            <a:avLst/>
          </a:prstGeom>
          <a:solidFill>
            <a:srgbClr val="1F6F6B"/>
          </a:solidFill>
          <a:ln w="12700">
            <a:solidFill>
              <a:srgbClr val="333333"/>
            </a:solidFill>
            <a:prstDash val="solid"/>
          </a:ln>
        </p:spPr>
        <p:txBody>
          <a:bodyPr/>
          <a:lstStyle/>
          <a:p>
            <a:endParaRPr lang="en-US"/>
          </a:p>
        </p:txBody>
      </p:sp>
      <p:sp>
        <p:nvSpPr>
          <p:cNvPr id="9" name="Text 7"/>
          <p:cNvSpPr txBox="1"/>
          <p:nvPr/>
        </p:nvSpPr>
        <p:spPr>
          <a:xfrm>
            <a:off x="640080" y="308152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02</a:t>
            </a:r>
            <a:endParaRPr lang="en-US" sz="1200" dirty="0"/>
          </a:p>
        </p:txBody>
      </p:sp>
      <p:sp>
        <p:nvSpPr>
          <p:cNvPr id="10" name="Text 8"/>
          <p:cNvSpPr txBox="1"/>
          <p:nvPr/>
        </p:nvSpPr>
        <p:spPr>
          <a:xfrm>
            <a:off x="1097280" y="3044952"/>
            <a:ext cx="5760720" cy="320040"/>
          </a:xfrm>
          <a:prstGeom prst="rect">
            <a:avLst/>
          </a:prstGeom>
          <a:noFill/>
          <a:ln/>
        </p:spPr>
        <p:txBody>
          <a:bodyPr wrap="square" lIns="0" tIns="0" rIns="0" bIns="0" rtlCol="0" anchor="ctr"/>
          <a:lstStyle/>
          <a:p>
            <a:pPr marL="0" indent="0">
              <a:buNone/>
            </a:pPr>
            <a:r>
              <a:rPr lang="en-US" sz="1500" b="1" dirty="0">
                <a:solidFill>
                  <a:srgbClr val="0E1B2A"/>
                </a:solidFill>
                <a:latin typeface="Century Schoolbook" pitchFamily="34" charset="0"/>
                <a:ea typeface="Century Schoolbook" pitchFamily="34" charset="-122"/>
                <a:cs typeface="Century Schoolbook" pitchFamily="34" charset="-120"/>
              </a:rPr>
              <a:t>Consistent scenario logic</a:t>
            </a:r>
            <a:endParaRPr lang="en-US" sz="1500" dirty="0"/>
          </a:p>
        </p:txBody>
      </p:sp>
      <p:sp>
        <p:nvSpPr>
          <p:cNvPr id="11" name="Text 9"/>
          <p:cNvSpPr txBox="1"/>
          <p:nvPr/>
        </p:nvSpPr>
        <p:spPr>
          <a:xfrm>
            <a:off x="1097280" y="3374136"/>
            <a:ext cx="5760720" cy="685800"/>
          </a:xfrm>
          <a:prstGeom prst="rect">
            <a:avLst/>
          </a:prstGeom>
          <a:noFill/>
          <a:ln/>
        </p:spPr>
        <p:txBody>
          <a:bodyPr wrap="square" lIns="0" tIns="0" rIns="0" bIns="0" rtlCol="0" anchor="t"/>
          <a:lstStyle/>
          <a:p>
            <a:pPr marL="0" indent="0">
              <a:lnSpc>
                <a:spcPts val="1600"/>
              </a:lnSpc>
              <a:buNone/>
            </a:pPr>
            <a:r>
              <a:rPr lang="en-US" sz="1150" dirty="0">
                <a:solidFill>
                  <a:srgbClr val="5A6B7B"/>
                </a:solidFill>
                <a:latin typeface="Cambria" pitchFamily="34" charset="0"/>
                <a:ea typeface="Cambria" pitchFamily="34" charset="-122"/>
                <a:cs typeface="Cambria" pitchFamily="34" charset="-120"/>
              </a:rPr>
              <a:t>The same policy definitions (carbon price, subsidy reform, standards, incentives) run across countries and can be re-run when parameters move.</a:t>
            </a:r>
            <a:endParaRPr lang="en-US" sz="1150" dirty="0"/>
          </a:p>
        </p:txBody>
      </p:sp>
      <p:sp>
        <p:nvSpPr>
          <p:cNvPr id="12" name="Shape 10"/>
          <p:cNvSpPr/>
          <p:nvPr/>
        </p:nvSpPr>
        <p:spPr>
          <a:xfrm>
            <a:off x="640080" y="4160520"/>
            <a:ext cx="310896" cy="310896"/>
          </a:xfrm>
          <a:prstGeom prst="rect">
            <a:avLst/>
          </a:prstGeom>
          <a:solidFill>
            <a:srgbClr val="1F6F6B"/>
          </a:solidFill>
          <a:ln w="12700">
            <a:solidFill>
              <a:srgbClr val="333333"/>
            </a:solidFill>
            <a:prstDash val="solid"/>
          </a:ln>
        </p:spPr>
        <p:txBody>
          <a:bodyPr/>
          <a:lstStyle/>
          <a:p>
            <a:endParaRPr lang="en-US"/>
          </a:p>
        </p:txBody>
      </p:sp>
      <p:sp>
        <p:nvSpPr>
          <p:cNvPr id="13" name="Text 11"/>
          <p:cNvSpPr txBox="1"/>
          <p:nvPr/>
        </p:nvSpPr>
        <p:spPr>
          <a:xfrm>
            <a:off x="640080" y="416052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03</a:t>
            </a:r>
            <a:endParaRPr lang="en-US" sz="1200" dirty="0"/>
          </a:p>
        </p:txBody>
      </p:sp>
      <p:sp>
        <p:nvSpPr>
          <p:cNvPr id="14" name="Text 12"/>
          <p:cNvSpPr txBox="1"/>
          <p:nvPr/>
        </p:nvSpPr>
        <p:spPr>
          <a:xfrm>
            <a:off x="1097280" y="4123944"/>
            <a:ext cx="5760720" cy="320040"/>
          </a:xfrm>
          <a:prstGeom prst="rect">
            <a:avLst/>
          </a:prstGeom>
          <a:noFill/>
          <a:ln/>
        </p:spPr>
        <p:txBody>
          <a:bodyPr wrap="square" lIns="0" tIns="0" rIns="0" bIns="0" rtlCol="0" anchor="ctr"/>
          <a:lstStyle/>
          <a:p>
            <a:pPr marL="0" indent="0">
              <a:buNone/>
            </a:pPr>
            <a:r>
              <a:rPr lang="en-US" sz="1500" b="1" dirty="0">
                <a:solidFill>
                  <a:srgbClr val="0E1B2A"/>
                </a:solidFill>
                <a:latin typeface="Century Schoolbook" pitchFamily="34" charset="0"/>
                <a:ea typeface="Century Schoolbook" pitchFamily="34" charset="-122"/>
                <a:cs typeface="Century Schoolbook" pitchFamily="34" charset="-120"/>
              </a:rPr>
              <a:t>Fiscal flows as first-class output</a:t>
            </a:r>
            <a:endParaRPr lang="en-US" sz="1500" dirty="0"/>
          </a:p>
        </p:txBody>
      </p:sp>
      <p:sp>
        <p:nvSpPr>
          <p:cNvPr id="15" name="Text 13"/>
          <p:cNvSpPr txBox="1"/>
          <p:nvPr/>
        </p:nvSpPr>
        <p:spPr>
          <a:xfrm>
            <a:off x="1097280" y="4453128"/>
            <a:ext cx="5760720" cy="685800"/>
          </a:xfrm>
          <a:prstGeom prst="rect">
            <a:avLst/>
          </a:prstGeom>
          <a:noFill/>
          <a:ln/>
        </p:spPr>
        <p:txBody>
          <a:bodyPr wrap="square" lIns="0" tIns="0" rIns="0" bIns="0" rtlCol="0" anchor="t"/>
          <a:lstStyle/>
          <a:p>
            <a:pPr marL="0" indent="0">
              <a:lnSpc>
                <a:spcPts val="1600"/>
              </a:lnSpc>
              <a:buNone/>
            </a:pPr>
            <a:r>
              <a:rPr lang="en-US" sz="1150" dirty="0">
                <a:solidFill>
                  <a:srgbClr val="5A6B7B"/>
                </a:solidFill>
                <a:latin typeface="Cambria" pitchFamily="34" charset="0"/>
                <a:ea typeface="Cambria" pitchFamily="34" charset="-122"/>
                <a:cs typeface="Cambria" pitchFamily="34" charset="-120"/>
              </a:rPr>
              <a:t>Revenue, subsidy cost and expenditure are produced alongside emissions rather than reconstructed afterwards.</a:t>
            </a:r>
            <a:endParaRPr lang="en-US" sz="1150" dirty="0"/>
          </a:p>
        </p:txBody>
      </p:sp>
      <p:sp>
        <p:nvSpPr>
          <p:cNvPr id="16" name="Shape 14"/>
          <p:cNvSpPr/>
          <p:nvPr/>
        </p:nvSpPr>
        <p:spPr>
          <a:xfrm>
            <a:off x="640080" y="5239512"/>
            <a:ext cx="310896" cy="310896"/>
          </a:xfrm>
          <a:prstGeom prst="rect">
            <a:avLst/>
          </a:prstGeom>
          <a:solidFill>
            <a:srgbClr val="1F6F6B"/>
          </a:solidFill>
          <a:ln w="12700">
            <a:solidFill>
              <a:srgbClr val="333333"/>
            </a:solidFill>
            <a:prstDash val="solid"/>
          </a:ln>
        </p:spPr>
        <p:txBody>
          <a:bodyPr/>
          <a:lstStyle/>
          <a:p>
            <a:endParaRPr lang="en-US"/>
          </a:p>
        </p:txBody>
      </p:sp>
      <p:sp>
        <p:nvSpPr>
          <p:cNvPr id="17" name="Text 15"/>
          <p:cNvSpPr txBox="1"/>
          <p:nvPr/>
        </p:nvSpPr>
        <p:spPr>
          <a:xfrm>
            <a:off x="640080" y="52395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04</a:t>
            </a:r>
            <a:endParaRPr lang="en-US" sz="1200" dirty="0"/>
          </a:p>
        </p:txBody>
      </p:sp>
      <p:sp>
        <p:nvSpPr>
          <p:cNvPr id="18" name="Text 16"/>
          <p:cNvSpPr txBox="1"/>
          <p:nvPr/>
        </p:nvSpPr>
        <p:spPr>
          <a:xfrm>
            <a:off x="1097280" y="5202936"/>
            <a:ext cx="5760720" cy="320040"/>
          </a:xfrm>
          <a:prstGeom prst="rect">
            <a:avLst/>
          </a:prstGeom>
          <a:noFill/>
          <a:ln/>
        </p:spPr>
        <p:txBody>
          <a:bodyPr wrap="square" lIns="0" tIns="0" rIns="0" bIns="0" rtlCol="0" anchor="ctr"/>
          <a:lstStyle/>
          <a:p>
            <a:pPr marL="0" indent="0">
              <a:buNone/>
            </a:pPr>
            <a:r>
              <a:rPr lang="en-US" sz="1500" b="1" dirty="0">
                <a:solidFill>
                  <a:srgbClr val="0E1B2A"/>
                </a:solidFill>
                <a:latin typeface="Century Schoolbook" pitchFamily="34" charset="0"/>
                <a:ea typeface="Century Schoolbook" pitchFamily="34" charset="-122"/>
                <a:cs typeface="Century Schoolbook" pitchFamily="34" charset="-120"/>
              </a:rPr>
              <a:t>Open and reproducible</a:t>
            </a:r>
            <a:endParaRPr lang="en-US" sz="1500" dirty="0"/>
          </a:p>
        </p:txBody>
      </p:sp>
      <p:sp>
        <p:nvSpPr>
          <p:cNvPr id="19" name="Text 17"/>
          <p:cNvSpPr txBox="1"/>
          <p:nvPr/>
        </p:nvSpPr>
        <p:spPr>
          <a:xfrm>
            <a:off x="1097280" y="5532120"/>
            <a:ext cx="5760720" cy="685800"/>
          </a:xfrm>
          <a:prstGeom prst="rect">
            <a:avLst/>
          </a:prstGeom>
          <a:noFill/>
          <a:ln/>
        </p:spPr>
        <p:txBody>
          <a:bodyPr wrap="square" lIns="0" tIns="0" rIns="0" bIns="0" rtlCol="0" anchor="t"/>
          <a:lstStyle/>
          <a:p>
            <a:pPr marL="0" indent="0">
              <a:lnSpc>
                <a:spcPts val="1600"/>
              </a:lnSpc>
              <a:buNone/>
            </a:pPr>
            <a:r>
              <a:rPr lang="en-US" sz="1150" dirty="0">
                <a:solidFill>
                  <a:srgbClr val="5A6B7B"/>
                </a:solidFill>
                <a:latin typeface="Cambria" pitchFamily="34" charset="0"/>
                <a:ea typeface="Cambria" pitchFamily="34" charset="-122"/>
                <a:cs typeface="Cambria" pitchFamily="34" charset="-120"/>
              </a:rPr>
              <a:t>Python end to end: version-controlled, auditable, and handed to counterparts rather than kept in a consultant's spreadsheet.</a:t>
            </a:r>
            <a:endParaRPr lang="en-US" sz="1150" dirty="0"/>
          </a:p>
        </p:txBody>
      </p:sp>
      <p:sp>
        <p:nvSpPr>
          <p:cNvPr id="20" name="Shape 18"/>
          <p:cNvSpPr/>
          <p:nvPr/>
        </p:nvSpPr>
        <p:spPr>
          <a:xfrm>
            <a:off x="7360920" y="1920240"/>
            <a:ext cx="4160520" cy="3977640"/>
          </a:xfrm>
          <a:prstGeom prst="rect">
            <a:avLst/>
          </a:prstGeom>
          <a:solidFill>
            <a:srgbClr val="F4F6F8"/>
          </a:solidFill>
          <a:ln w="12700">
            <a:solidFill>
              <a:srgbClr val="333333"/>
            </a:solidFill>
            <a:prstDash val="solid"/>
          </a:ln>
        </p:spPr>
        <p:txBody>
          <a:bodyPr/>
          <a:lstStyle/>
          <a:p>
            <a:endParaRPr lang="en-US"/>
          </a:p>
        </p:txBody>
      </p:sp>
      <p:sp>
        <p:nvSpPr>
          <p:cNvPr id="21" name="Text 19"/>
          <p:cNvSpPr txBox="1"/>
          <p:nvPr/>
        </p:nvSpPr>
        <p:spPr>
          <a:xfrm>
            <a:off x="7680960" y="2194560"/>
            <a:ext cx="3520440" cy="228600"/>
          </a:xfrm>
          <a:prstGeom prst="rect">
            <a:avLst/>
          </a:prstGeom>
          <a:noFill/>
          <a:ln/>
        </p:spPr>
        <p:txBody>
          <a:bodyPr wrap="square" lIns="0" tIns="0" rIns="0" bIns="0" rtlCol="0" anchor="ctr"/>
          <a:lstStyle/>
          <a:p>
            <a:pPr marL="0" indent="0">
              <a:buNone/>
            </a:pPr>
            <a:r>
              <a:rPr lang="en-US" sz="900" b="1" kern="0" spc="150" dirty="0">
                <a:solidFill>
                  <a:srgbClr val="1F6F6B"/>
                </a:solidFill>
                <a:latin typeface="Cambria" pitchFamily="34" charset="0"/>
                <a:ea typeface="Cambria" pitchFamily="34" charset="-122"/>
                <a:cs typeface="Cambria" pitchFamily="34" charset="-120"/>
              </a:rPr>
              <a:t>THE STACK</a:t>
            </a:r>
            <a:endParaRPr lang="en-US" sz="900" dirty="0"/>
          </a:p>
        </p:txBody>
      </p:sp>
      <p:sp>
        <p:nvSpPr>
          <p:cNvPr id="22" name="Shape 20"/>
          <p:cNvSpPr/>
          <p:nvPr/>
        </p:nvSpPr>
        <p:spPr>
          <a:xfrm>
            <a:off x="7680960" y="2542032"/>
            <a:ext cx="3520440" cy="841248"/>
          </a:xfrm>
          <a:prstGeom prst="rect">
            <a:avLst/>
          </a:prstGeom>
          <a:solidFill>
            <a:srgbClr val="FFFFFF"/>
          </a:solidFill>
          <a:ln w="9525">
            <a:solidFill>
              <a:srgbClr val="DCE1E6"/>
            </a:solidFill>
            <a:prstDash val="solid"/>
          </a:ln>
        </p:spPr>
        <p:txBody>
          <a:bodyPr/>
          <a:lstStyle/>
          <a:p>
            <a:endParaRPr lang="en-US"/>
          </a:p>
        </p:txBody>
      </p:sp>
      <p:sp>
        <p:nvSpPr>
          <p:cNvPr id="23" name="Text 21"/>
          <p:cNvSpPr txBox="1"/>
          <p:nvPr/>
        </p:nvSpPr>
        <p:spPr>
          <a:xfrm>
            <a:off x="7863840" y="2633472"/>
            <a:ext cx="3154680" cy="274320"/>
          </a:xfrm>
          <a:prstGeom prst="rect">
            <a:avLst/>
          </a:prstGeom>
          <a:noFill/>
          <a:ln/>
        </p:spPr>
        <p:txBody>
          <a:bodyPr wrap="square" lIns="0" tIns="0" rIns="0" bIns="0" rtlCol="0" anchor="ctr"/>
          <a:lstStyle/>
          <a:p>
            <a:pPr marL="0" indent="0">
              <a:buNone/>
            </a:pPr>
            <a:r>
              <a:rPr lang="en-US" sz="1400" b="1" dirty="0">
                <a:solidFill>
                  <a:srgbClr val="1F6F6B"/>
                </a:solidFill>
                <a:latin typeface="Century Schoolbook" pitchFamily="34" charset="0"/>
                <a:ea typeface="Century Schoolbook" pitchFamily="34" charset="-122"/>
                <a:cs typeface="Century Schoolbook" pitchFamily="34" charset="-120"/>
              </a:rPr>
              <a:t>CPAT</a:t>
            </a:r>
            <a:endParaRPr lang="en-US" sz="1400" dirty="0"/>
          </a:p>
        </p:txBody>
      </p:sp>
      <p:sp>
        <p:nvSpPr>
          <p:cNvPr id="24" name="Text 22"/>
          <p:cNvSpPr txBox="1"/>
          <p:nvPr/>
        </p:nvSpPr>
        <p:spPr>
          <a:xfrm>
            <a:off x="7863840" y="2907792"/>
            <a:ext cx="3154680" cy="411480"/>
          </a:xfrm>
          <a:prstGeom prst="rect">
            <a:avLst/>
          </a:prstGeom>
          <a:noFill/>
          <a:ln/>
        </p:spPr>
        <p:txBody>
          <a:bodyPr wrap="square" lIns="0" tIns="0" rIns="0" bIns="0" rtlCol="0" anchor="t"/>
          <a:lstStyle/>
          <a:p>
            <a:pPr marL="0" indent="0">
              <a:lnSpc>
                <a:spcPts val="1300"/>
              </a:lnSpc>
              <a:buNone/>
            </a:pPr>
            <a:r>
              <a:rPr lang="en-US" sz="1000" dirty="0">
                <a:solidFill>
                  <a:srgbClr val="5A6B7B"/>
                </a:solidFill>
                <a:latin typeface="Cambria" pitchFamily="34" charset="0"/>
                <a:ea typeface="Cambria" pitchFamily="34" charset="-122"/>
                <a:cs typeface="Cambria" pitchFamily="34" charset="-120"/>
              </a:rPr>
              <a:t>Carbon pricing, energy taxes, subsidy reform, fiscal and welfare incidence</a:t>
            </a:r>
            <a:endParaRPr lang="en-US" sz="1000" dirty="0"/>
          </a:p>
        </p:txBody>
      </p:sp>
      <p:sp>
        <p:nvSpPr>
          <p:cNvPr id="25" name="Shape 23"/>
          <p:cNvSpPr/>
          <p:nvPr/>
        </p:nvSpPr>
        <p:spPr>
          <a:xfrm>
            <a:off x="7680960" y="3511296"/>
            <a:ext cx="3520440" cy="841248"/>
          </a:xfrm>
          <a:prstGeom prst="rect">
            <a:avLst/>
          </a:prstGeom>
          <a:solidFill>
            <a:srgbClr val="FFFFFF"/>
          </a:solidFill>
          <a:ln w="9525">
            <a:solidFill>
              <a:srgbClr val="DCE1E6"/>
            </a:solidFill>
            <a:prstDash val="solid"/>
          </a:ln>
        </p:spPr>
        <p:txBody>
          <a:bodyPr/>
          <a:lstStyle/>
          <a:p>
            <a:endParaRPr lang="en-US"/>
          </a:p>
        </p:txBody>
      </p:sp>
      <p:sp>
        <p:nvSpPr>
          <p:cNvPr id="26" name="Text 24"/>
          <p:cNvSpPr txBox="1"/>
          <p:nvPr/>
        </p:nvSpPr>
        <p:spPr>
          <a:xfrm>
            <a:off x="7863840" y="3602736"/>
            <a:ext cx="3154680" cy="274320"/>
          </a:xfrm>
          <a:prstGeom prst="rect">
            <a:avLst/>
          </a:prstGeom>
          <a:noFill/>
          <a:ln/>
        </p:spPr>
        <p:txBody>
          <a:bodyPr wrap="square" lIns="0" tIns="0" rIns="0" bIns="0" rtlCol="0" anchor="ctr"/>
          <a:lstStyle/>
          <a:p>
            <a:pPr marL="0" indent="0">
              <a:buNone/>
            </a:pPr>
            <a:r>
              <a:rPr lang="en-US" sz="1400" b="1" dirty="0">
                <a:solidFill>
                  <a:srgbClr val="1F6F6B"/>
                </a:solidFill>
                <a:latin typeface="Century Schoolbook" pitchFamily="34" charset="0"/>
                <a:ea typeface="Century Schoolbook" pitchFamily="34" charset="-122"/>
                <a:cs typeface="Century Schoolbook" pitchFamily="34" charset="-120"/>
              </a:rPr>
              <a:t>SISEPUEDE</a:t>
            </a:r>
            <a:endParaRPr lang="en-US" sz="1400" dirty="0"/>
          </a:p>
        </p:txBody>
      </p:sp>
      <p:sp>
        <p:nvSpPr>
          <p:cNvPr id="27" name="Text 25"/>
          <p:cNvSpPr txBox="1"/>
          <p:nvPr/>
        </p:nvSpPr>
        <p:spPr>
          <a:xfrm>
            <a:off x="7863840" y="3877056"/>
            <a:ext cx="3154680" cy="411480"/>
          </a:xfrm>
          <a:prstGeom prst="rect">
            <a:avLst/>
          </a:prstGeom>
          <a:noFill/>
          <a:ln/>
        </p:spPr>
        <p:txBody>
          <a:bodyPr wrap="square" lIns="0" tIns="0" rIns="0" bIns="0" rtlCol="0" anchor="t"/>
          <a:lstStyle/>
          <a:p>
            <a:pPr marL="0" indent="0">
              <a:lnSpc>
                <a:spcPts val="1300"/>
              </a:lnSpc>
              <a:buNone/>
            </a:pPr>
            <a:r>
              <a:rPr lang="en-US" sz="1000" dirty="0">
                <a:solidFill>
                  <a:srgbClr val="5A6B7B"/>
                </a:solidFill>
                <a:latin typeface="Cambria" pitchFamily="34" charset="0"/>
                <a:ea typeface="Cambria" pitchFamily="34" charset="-122"/>
                <a:cs typeface="Cambria" pitchFamily="34" charset="-120"/>
              </a:rPr>
              <a:t>Cross-sector emissions accounting, AFOLU, circular economy, transformation pathways</a:t>
            </a:r>
            <a:endParaRPr lang="en-US" sz="1000" dirty="0"/>
          </a:p>
        </p:txBody>
      </p:sp>
      <p:sp>
        <p:nvSpPr>
          <p:cNvPr id="28" name="Shape 26"/>
          <p:cNvSpPr/>
          <p:nvPr/>
        </p:nvSpPr>
        <p:spPr>
          <a:xfrm>
            <a:off x="7680960" y="4480560"/>
            <a:ext cx="3520440" cy="841248"/>
          </a:xfrm>
          <a:prstGeom prst="rect">
            <a:avLst/>
          </a:prstGeom>
          <a:solidFill>
            <a:srgbClr val="FFFFFF"/>
          </a:solidFill>
          <a:ln w="9525">
            <a:solidFill>
              <a:srgbClr val="DCE1E6"/>
            </a:solidFill>
            <a:prstDash val="solid"/>
          </a:ln>
        </p:spPr>
        <p:txBody>
          <a:bodyPr/>
          <a:lstStyle/>
          <a:p>
            <a:endParaRPr lang="en-US"/>
          </a:p>
        </p:txBody>
      </p:sp>
      <p:sp>
        <p:nvSpPr>
          <p:cNvPr id="29" name="Text 27"/>
          <p:cNvSpPr txBox="1"/>
          <p:nvPr/>
        </p:nvSpPr>
        <p:spPr>
          <a:xfrm>
            <a:off x="7863840" y="4572000"/>
            <a:ext cx="3154680" cy="274320"/>
          </a:xfrm>
          <a:prstGeom prst="rect">
            <a:avLst/>
          </a:prstGeom>
          <a:noFill/>
          <a:ln/>
        </p:spPr>
        <p:txBody>
          <a:bodyPr wrap="square" lIns="0" tIns="0" rIns="0" bIns="0" rtlCol="0" anchor="ctr"/>
          <a:lstStyle/>
          <a:p>
            <a:pPr marL="0" indent="0">
              <a:buNone/>
            </a:pPr>
            <a:r>
              <a:rPr lang="en-US" sz="1400" b="1" dirty="0">
                <a:solidFill>
                  <a:srgbClr val="1F6F6B"/>
                </a:solidFill>
                <a:latin typeface="Century Schoolbook" pitchFamily="34" charset="0"/>
                <a:ea typeface="Century Schoolbook" pitchFamily="34" charset="-122"/>
                <a:cs typeface="Century Schoolbook" pitchFamily="34" charset="-120"/>
              </a:rPr>
              <a:t>FTT</a:t>
            </a:r>
            <a:endParaRPr lang="en-US" sz="1400" dirty="0"/>
          </a:p>
        </p:txBody>
      </p:sp>
      <p:sp>
        <p:nvSpPr>
          <p:cNvPr id="30" name="Text 28"/>
          <p:cNvSpPr txBox="1"/>
          <p:nvPr/>
        </p:nvSpPr>
        <p:spPr>
          <a:xfrm>
            <a:off x="7863840" y="4846320"/>
            <a:ext cx="3154680" cy="411480"/>
          </a:xfrm>
          <a:prstGeom prst="rect">
            <a:avLst/>
          </a:prstGeom>
          <a:noFill/>
          <a:ln/>
        </p:spPr>
        <p:txBody>
          <a:bodyPr wrap="square" lIns="0" tIns="0" rIns="0" bIns="0" rtlCol="0" anchor="t"/>
          <a:lstStyle/>
          <a:p>
            <a:pPr marL="0" indent="0">
              <a:lnSpc>
                <a:spcPts val="1300"/>
              </a:lnSpc>
              <a:buNone/>
            </a:pPr>
            <a:r>
              <a:rPr lang="en-US" sz="1000" dirty="0">
                <a:solidFill>
                  <a:srgbClr val="5A6B7B"/>
                </a:solidFill>
                <a:latin typeface="Cambria" pitchFamily="34" charset="0"/>
                <a:ea typeface="Cambria" pitchFamily="34" charset="-122"/>
                <a:cs typeface="Cambria" pitchFamily="34" charset="-120"/>
              </a:rPr>
              <a:t>Technology diffusion and investment dynamics in power, transport and industry</a:t>
            </a:r>
            <a:endParaRPr lang="en-US" sz="1000" dirty="0"/>
          </a:p>
        </p:txBody>
      </p:sp>
      <p:sp>
        <p:nvSpPr>
          <p:cNvPr id="31" name="Shape 29"/>
          <p:cNvSpPr/>
          <p:nvPr/>
        </p:nvSpPr>
        <p:spPr>
          <a:xfrm>
            <a:off x="7680960" y="5449824"/>
            <a:ext cx="3520440" cy="219456"/>
          </a:xfrm>
          <a:prstGeom prst="rect">
            <a:avLst/>
          </a:prstGeom>
          <a:solidFill>
            <a:srgbClr val="0E1B2A"/>
          </a:solidFill>
          <a:ln w="12700">
            <a:solidFill>
              <a:srgbClr val="333333"/>
            </a:solidFill>
            <a:prstDash val="solid"/>
          </a:ln>
        </p:spPr>
        <p:txBody>
          <a:bodyPr/>
          <a:lstStyle/>
          <a:p>
            <a:endParaRPr lang="en-US"/>
          </a:p>
        </p:txBody>
      </p:sp>
      <p:sp>
        <p:nvSpPr>
          <p:cNvPr id="32" name="Text 30"/>
          <p:cNvSpPr txBox="1"/>
          <p:nvPr/>
        </p:nvSpPr>
        <p:spPr>
          <a:xfrm>
            <a:off x="7680960" y="5449824"/>
            <a:ext cx="3520440" cy="219456"/>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mbria" pitchFamily="34" charset="0"/>
                <a:ea typeface="Cambria" pitchFamily="34" charset="-122"/>
                <a:cs typeface="Cambria" pitchFamily="34" charset="-120"/>
              </a:rPr>
              <a:t>SHARED CORE  ·  DATA, SCENARIOS, CALIBRATION</a:t>
            </a:r>
            <a:endParaRPr lang="en-US" sz="850" dirty="0"/>
          </a:p>
        </p:txBody>
      </p:sp>
      <p:sp>
        <p:nvSpPr>
          <p:cNvPr id="33" name="Text 31"/>
          <p:cNvSpPr txBox="1"/>
          <p:nvPr/>
        </p:nvSpPr>
        <p:spPr>
          <a:xfrm>
            <a:off x="640080" y="6272784"/>
            <a:ext cx="10881360" cy="274320"/>
          </a:xfrm>
          <a:prstGeom prst="rect">
            <a:avLst/>
          </a:prstGeom>
          <a:noFill/>
          <a:ln/>
        </p:spPr>
        <p:txBody>
          <a:bodyPr wrap="square" lIns="0" tIns="0" rIns="0" bIns="0" rtlCol="0" anchor="ctr"/>
          <a:lstStyle/>
          <a:p>
            <a:pPr marL="0" indent="0" algn="l">
              <a:buNone/>
            </a:pPr>
            <a:r>
              <a:rPr lang="en-US" sz="900" dirty="0">
                <a:solidFill>
                  <a:srgbClr val="93A0AC"/>
                </a:solidFill>
                <a:latin typeface="Cambria" pitchFamily="34" charset="0"/>
                <a:ea typeface="Cambria" pitchFamily="34" charset="-122"/>
                <a:cs typeface="Cambria" pitchFamily="34" charset="-120"/>
              </a:rPr>
              <a:t>Integration work is already under way; the ask is to point it at the CCDR pipeline rather than at individual country engagements.</a:t>
            </a:r>
            <a:endParaRPr lang="en-US" sz="900" dirty="0"/>
          </a:p>
        </p:txBody>
      </p:sp>
      <p:sp>
        <p:nvSpPr>
          <p:cNvPr id="34" name="Text 32"/>
          <p:cNvSpPr txBox="1"/>
          <p:nvPr/>
        </p:nvSpPr>
        <p:spPr>
          <a:xfrm>
            <a:off x="11338560" y="6272784"/>
            <a:ext cx="365760" cy="274320"/>
          </a:xfrm>
          <a:prstGeom prst="rect">
            <a:avLst/>
          </a:prstGeom>
          <a:noFill/>
          <a:ln/>
        </p:spPr>
        <p:txBody>
          <a:bodyPr wrap="square" lIns="0" tIns="0" rIns="0" bIns="0" rtlCol="0" anchor="ctr"/>
          <a:lstStyle/>
          <a:p>
            <a:pPr marL="0" indent="0" algn="r">
              <a:buNone/>
            </a:pPr>
            <a:r>
              <a:rPr lang="en-US" sz="900" dirty="0">
                <a:solidFill>
                  <a:srgbClr val="93A0AC"/>
                </a:solidFill>
                <a:latin typeface="Cambria" pitchFamily="34" charset="0"/>
                <a:ea typeface="Cambria" pitchFamily="34" charset="-122"/>
                <a:cs typeface="Cambria"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marL="0" indent="0" algn="l">
              <a:buNone/>
            </a:pPr>
            <a:r>
              <a:rPr lang="en-US" sz="1000" b="1" kern="0" spc="200" dirty="0">
                <a:solidFill>
                  <a:srgbClr val="1F6F6B"/>
                </a:solidFill>
                <a:latin typeface="Cambria" pitchFamily="34" charset="0"/>
                <a:ea typeface="Cambria" pitchFamily="34" charset="-122"/>
                <a:cs typeface="Cambria" pitchFamily="34" charset="-120"/>
              </a:rPr>
              <a:t>02  ·  MEASURE</a:t>
            </a:r>
            <a:endParaRPr lang="en-US" sz="1000" dirty="0"/>
          </a:p>
        </p:txBody>
      </p:sp>
      <p:sp>
        <p:nvSpPr>
          <p:cNvPr id="3" name="Text 1"/>
          <p:cNvSpPr txBox="1"/>
          <p:nvPr/>
        </p:nvSpPr>
        <p:spPr>
          <a:xfrm>
            <a:off x="640080" y="713232"/>
            <a:ext cx="10881360" cy="868680"/>
          </a:xfrm>
          <a:prstGeom prst="rect">
            <a:avLst/>
          </a:prstGeom>
          <a:noFill/>
          <a:ln/>
        </p:spPr>
        <p:txBody>
          <a:bodyPr wrap="square" lIns="0" tIns="0" rIns="0" bIns="0" rtlCol="0" anchor="t"/>
          <a:lstStyle/>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Six questions, thirty-five indicators, one page</a:t>
            </a:r>
            <a:endParaRPr lang="en-US" sz="2700" dirty="0"/>
          </a:p>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in every CCDR</a:t>
            </a:r>
            <a:endParaRPr lang="en-US" sz="2700" dirty="0"/>
          </a:p>
        </p:txBody>
      </p:sp>
      <p:sp>
        <p:nvSpPr>
          <p:cNvPr id="4" name="Text 2"/>
          <p:cNvSpPr txBox="1"/>
          <p:nvPr/>
        </p:nvSpPr>
        <p:spPr>
          <a:xfrm>
            <a:off x="640080" y="1755648"/>
            <a:ext cx="10881360" cy="365760"/>
          </a:xfrm>
          <a:prstGeom prst="rect">
            <a:avLst/>
          </a:prstGeom>
          <a:noFill/>
          <a:ln/>
        </p:spPr>
        <p:txBody>
          <a:bodyPr wrap="square" lIns="0" tIns="0" rIns="0" bIns="0" rtlCol="0" anchor="ctr"/>
          <a:lstStyle/>
          <a:p>
            <a:pPr marL="0" indent="0" algn="l">
              <a:buNone/>
            </a:pPr>
            <a:r>
              <a:rPr lang="en-US" sz="1300" i="1" dirty="0">
                <a:solidFill>
                  <a:srgbClr val="5A6B7B"/>
                </a:solidFill>
                <a:latin typeface="Cambria" pitchFamily="34" charset="0"/>
                <a:ea typeface="Cambria" pitchFamily="34" charset="-122"/>
                <a:cs typeface="Cambria" pitchFamily="34" charset="-120"/>
              </a:rPr>
              <a:t>Fixed definitions, central refresh, and an observation year against every value. Built and populated for all 98 economies.</a:t>
            </a:r>
            <a:endParaRPr lang="en-US" sz="1300" dirty="0"/>
          </a:p>
        </p:txBody>
      </p:sp>
      <p:sp>
        <p:nvSpPr>
          <p:cNvPr id="5" name="Text 3"/>
          <p:cNvSpPr txBox="1"/>
          <p:nvPr/>
        </p:nvSpPr>
        <p:spPr>
          <a:xfrm>
            <a:off x="640080" y="2148840"/>
            <a:ext cx="2743200" cy="365760"/>
          </a:xfrm>
          <a:prstGeom prst="rect">
            <a:avLst/>
          </a:prstGeom>
          <a:noFill/>
          <a:ln/>
        </p:spPr>
        <p:txBody>
          <a:bodyPr wrap="square" lIns="0" tIns="0" rIns="0" bIns="0" rtlCol="0" anchor="t"/>
          <a:lstStyle/>
          <a:p>
            <a:pPr marL="0" indent="0">
              <a:buNone/>
            </a:pPr>
            <a:r>
              <a:rPr lang="en-US" sz="1500" b="1" dirty="0">
                <a:solidFill>
                  <a:srgbClr val="C05621"/>
                </a:solidFill>
                <a:latin typeface="Century Schoolbook" pitchFamily="34" charset="0"/>
                <a:ea typeface="Century Schoolbook" pitchFamily="34" charset="-122"/>
                <a:cs typeface="Century Schoolbook" pitchFamily="34" charset="-120"/>
              </a:rPr>
              <a:t>Context: what is in play?</a:t>
            </a:r>
            <a:endParaRPr lang="en-US" sz="1500" dirty="0"/>
          </a:p>
        </p:txBody>
      </p:sp>
      <p:sp>
        <p:nvSpPr>
          <p:cNvPr id="6" name="Text 4"/>
          <p:cNvSpPr txBox="1"/>
          <p:nvPr/>
        </p:nvSpPr>
        <p:spPr>
          <a:xfrm>
            <a:off x="3520440" y="2148840"/>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Excise revenue, % of revenue</a:t>
            </a:r>
            <a:endParaRPr lang="en-US" sz="1150" dirty="0"/>
          </a:p>
        </p:txBody>
      </p:sp>
      <p:sp>
        <p:nvSpPr>
          <p:cNvPr id="7" name="Text 5"/>
          <p:cNvSpPr txBox="1"/>
          <p:nvPr/>
        </p:nvSpPr>
        <p:spPr>
          <a:xfrm>
            <a:off x="7635240" y="2148840"/>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Energy tax already levied — 84 economies</a:t>
            </a:r>
            <a:endParaRPr lang="en-US" sz="1100" dirty="0"/>
          </a:p>
        </p:txBody>
      </p:sp>
      <p:sp>
        <p:nvSpPr>
          <p:cNvPr id="8" name="Text 6"/>
          <p:cNvSpPr txBox="1"/>
          <p:nvPr/>
        </p:nvSpPr>
        <p:spPr>
          <a:xfrm>
            <a:off x="3520440" y="2455164"/>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Fossil rents and fuel exports</a:t>
            </a:r>
            <a:endParaRPr lang="en-US" sz="1150" dirty="0"/>
          </a:p>
        </p:txBody>
      </p:sp>
      <p:sp>
        <p:nvSpPr>
          <p:cNvPr id="9" name="Text 7"/>
          <p:cNvSpPr txBox="1"/>
          <p:nvPr/>
        </p:nvSpPr>
        <p:spPr>
          <a:xfrm>
            <a:off x="7635240" y="2455164"/>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Export earnings at stake — 94 to 95</a:t>
            </a:r>
            <a:endParaRPr lang="en-US" sz="1100" dirty="0"/>
          </a:p>
        </p:txBody>
      </p:sp>
      <p:sp>
        <p:nvSpPr>
          <p:cNvPr id="10" name="Text 8"/>
          <p:cNvSpPr txBox="1"/>
          <p:nvPr/>
        </p:nvSpPr>
        <p:spPr>
          <a:xfrm>
            <a:off x="3520440" y="2761488"/>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Fossil fuel subsidies, % GDP</a:t>
            </a:r>
            <a:endParaRPr lang="en-US" sz="1150" dirty="0"/>
          </a:p>
        </p:txBody>
      </p:sp>
      <p:sp>
        <p:nvSpPr>
          <p:cNvPr id="11" name="Text 9"/>
          <p:cNvSpPr txBox="1"/>
          <p:nvPr/>
        </p:nvSpPr>
        <p:spPr>
          <a:xfrm>
            <a:off x="7635240" y="2761488"/>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Revenue forgone at home — 93</a:t>
            </a:r>
            <a:endParaRPr lang="en-US" sz="1100" dirty="0"/>
          </a:p>
        </p:txBody>
      </p:sp>
      <p:sp>
        <p:nvSpPr>
          <p:cNvPr id="12" name="Text 10"/>
          <p:cNvSpPr txBox="1"/>
          <p:nvPr/>
        </p:nvSpPr>
        <p:spPr>
          <a:xfrm>
            <a:off x="3520440" y="3067812"/>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Oil-fired share of generation</a:t>
            </a:r>
            <a:endParaRPr lang="en-US" sz="1150" dirty="0"/>
          </a:p>
        </p:txBody>
      </p:sp>
      <p:sp>
        <p:nvSpPr>
          <p:cNvPr id="13" name="Text 11"/>
          <p:cNvSpPr txBox="1"/>
          <p:nvPr/>
        </p:nvSpPr>
        <p:spPr>
          <a:xfrm>
            <a:off x="7635240" y="3067812"/>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Where abatement pays for itself — 96</a:t>
            </a:r>
            <a:endParaRPr lang="en-US" sz="1100" dirty="0"/>
          </a:p>
        </p:txBody>
      </p:sp>
      <p:sp>
        <p:nvSpPr>
          <p:cNvPr id="14" name="Shape 12"/>
          <p:cNvSpPr/>
          <p:nvPr/>
        </p:nvSpPr>
        <p:spPr>
          <a:xfrm>
            <a:off x="640080" y="3364992"/>
            <a:ext cx="10881360" cy="0"/>
          </a:xfrm>
          <a:prstGeom prst="line">
            <a:avLst/>
          </a:prstGeom>
          <a:noFill/>
          <a:ln w="9525">
            <a:solidFill>
              <a:srgbClr val="DCE1E6"/>
            </a:solidFill>
            <a:prstDash val="solid"/>
          </a:ln>
        </p:spPr>
        <p:txBody>
          <a:bodyPr/>
          <a:lstStyle/>
          <a:p>
            <a:endParaRPr lang="en-US"/>
          </a:p>
        </p:txBody>
      </p:sp>
      <p:sp>
        <p:nvSpPr>
          <p:cNvPr id="15" name="Text 13"/>
          <p:cNvSpPr txBox="1"/>
          <p:nvPr/>
        </p:nvSpPr>
        <p:spPr>
          <a:xfrm>
            <a:off x="640080" y="3538728"/>
            <a:ext cx="2743200" cy="365760"/>
          </a:xfrm>
          <a:prstGeom prst="rect">
            <a:avLst/>
          </a:prstGeom>
          <a:noFill/>
          <a:ln/>
        </p:spPr>
        <p:txBody>
          <a:bodyPr wrap="square" lIns="0" tIns="0" rIns="0" bIns="0" rtlCol="0" anchor="t"/>
          <a:lstStyle/>
          <a:p>
            <a:pPr marL="0" indent="0">
              <a:buNone/>
            </a:pPr>
            <a:r>
              <a:rPr lang="en-US" sz="1500" b="1" dirty="0">
                <a:solidFill>
                  <a:srgbClr val="1F6F6B"/>
                </a:solidFill>
                <a:latin typeface="Century Schoolbook" pitchFamily="34" charset="0"/>
                <a:ea typeface="Century Schoolbook" pitchFamily="34" charset="-122"/>
                <a:cs typeface="Century Schoolbook" pitchFamily="34" charset="-120"/>
              </a:rPr>
              <a:t>Fiscal and delivery</a:t>
            </a:r>
            <a:endParaRPr lang="en-US" sz="1500" dirty="0"/>
          </a:p>
        </p:txBody>
      </p:sp>
      <p:sp>
        <p:nvSpPr>
          <p:cNvPr id="16" name="Text 14"/>
          <p:cNvSpPr txBox="1"/>
          <p:nvPr/>
        </p:nvSpPr>
        <p:spPr>
          <a:xfrm>
            <a:off x="3520440" y="3538728"/>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Interest-to-revenue ratio</a:t>
            </a:r>
            <a:endParaRPr lang="en-US" sz="1150" dirty="0"/>
          </a:p>
        </p:txBody>
      </p:sp>
      <p:sp>
        <p:nvSpPr>
          <p:cNvPr id="17" name="Text 15"/>
          <p:cNvSpPr txBox="1"/>
          <p:nvPr/>
        </p:nvSpPr>
        <p:spPr>
          <a:xfrm>
            <a:off x="7635240" y="3538728"/>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The binding constraint — 97 economies</a:t>
            </a:r>
            <a:endParaRPr lang="en-US" sz="1100" dirty="0"/>
          </a:p>
        </p:txBody>
      </p:sp>
      <p:sp>
        <p:nvSpPr>
          <p:cNvPr id="18" name="Text 16"/>
          <p:cNvSpPr txBox="1"/>
          <p:nvPr/>
        </p:nvSpPr>
        <p:spPr>
          <a:xfrm>
            <a:off x="3520440" y="3845052"/>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Gross debt, % of GDP</a:t>
            </a:r>
            <a:endParaRPr lang="en-US" sz="1150" dirty="0"/>
          </a:p>
        </p:txBody>
      </p:sp>
      <p:sp>
        <p:nvSpPr>
          <p:cNvPr id="19" name="Text 17"/>
          <p:cNvSpPr txBox="1"/>
          <p:nvPr/>
        </p:nvSpPr>
        <p:spPr>
          <a:xfrm>
            <a:off x="7635240" y="3845052"/>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Fiscal space — 96</a:t>
            </a:r>
            <a:endParaRPr lang="en-US" sz="1100" dirty="0"/>
          </a:p>
        </p:txBody>
      </p:sp>
      <p:sp>
        <p:nvSpPr>
          <p:cNvPr id="20" name="Text 18"/>
          <p:cNvSpPr txBox="1"/>
          <p:nvPr/>
        </p:nvSpPr>
        <p:spPr>
          <a:xfrm>
            <a:off x="3520440" y="4151376"/>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Capital budget execution rate</a:t>
            </a:r>
            <a:endParaRPr lang="en-US" sz="1150" dirty="0"/>
          </a:p>
        </p:txBody>
      </p:sp>
      <p:sp>
        <p:nvSpPr>
          <p:cNvPr id="21" name="Text 19"/>
          <p:cNvSpPr txBox="1"/>
          <p:nvPr/>
        </p:nvSpPr>
        <p:spPr>
          <a:xfrm>
            <a:off x="7635240" y="4151376"/>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Does the money get spent — 72</a:t>
            </a:r>
            <a:endParaRPr lang="en-US" sz="1100" dirty="0"/>
          </a:p>
        </p:txBody>
      </p:sp>
      <p:sp>
        <p:nvSpPr>
          <p:cNvPr id="22" name="Text 20"/>
          <p:cNvSpPr txBox="1"/>
          <p:nvPr/>
        </p:nvSpPr>
        <p:spPr>
          <a:xfrm>
            <a:off x="3520440" y="4457700"/>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PEFA PI-11, public investment management</a:t>
            </a:r>
            <a:endParaRPr lang="en-US" sz="1150" dirty="0"/>
          </a:p>
        </p:txBody>
      </p:sp>
      <p:sp>
        <p:nvSpPr>
          <p:cNvPr id="23" name="Text 21"/>
          <p:cNvSpPr txBox="1"/>
          <p:nvPr/>
        </p:nvSpPr>
        <p:spPr>
          <a:xfrm>
            <a:off x="7635240" y="4457700"/>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Median 1.5 of 4 across 61 economies</a:t>
            </a:r>
            <a:endParaRPr lang="en-US" sz="1100" dirty="0"/>
          </a:p>
        </p:txBody>
      </p:sp>
      <p:sp>
        <p:nvSpPr>
          <p:cNvPr id="24" name="Shape 22"/>
          <p:cNvSpPr/>
          <p:nvPr/>
        </p:nvSpPr>
        <p:spPr>
          <a:xfrm>
            <a:off x="640080" y="4754880"/>
            <a:ext cx="10881360" cy="0"/>
          </a:xfrm>
          <a:prstGeom prst="line">
            <a:avLst/>
          </a:prstGeom>
          <a:noFill/>
          <a:ln w="9525">
            <a:solidFill>
              <a:srgbClr val="DCE1E6"/>
            </a:solidFill>
            <a:prstDash val="solid"/>
          </a:ln>
        </p:spPr>
        <p:txBody>
          <a:bodyPr/>
          <a:lstStyle/>
          <a:p>
            <a:endParaRPr lang="en-US"/>
          </a:p>
        </p:txBody>
      </p:sp>
      <p:sp>
        <p:nvSpPr>
          <p:cNvPr id="25" name="Text 23"/>
          <p:cNvSpPr txBox="1"/>
          <p:nvPr/>
        </p:nvSpPr>
        <p:spPr>
          <a:xfrm>
            <a:off x="640080" y="4928616"/>
            <a:ext cx="2743200" cy="365760"/>
          </a:xfrm>
          <a:prstGeom prst="rect">
            <a:avLst/>
          </a:prstGeom>
          <a:noFill/>
          <a:ln/>
        </p:spPr>
        <p:txBody>
          <a:bodyPr wrap="square" lIns="0" tIns="0" rIns="0" bIns="0" rtlCol="0" anchor="t"/>
          <a:lstStyle/>
          <a:p>
            <a:pPr marL="0" indent="0">
              <a:buNone/>
            </a:pPr>
            <a:r>
              <a:rPr lang="en-US" sz="1500" b="1" dirty="0">
                <a:solidFill>
                  <a:srgbClr val="0E1B2A"/>
                </a:solidFill>
                <a:latin typeface="Century Schoolbook" pitchFamily="34" charset="0"/>
                <a:ea typeface="Century Schoolbook" pitchFamily="34" charset="-122"/>
                <a:cs typeface="Century Schoolbook" pitchFamily="34" charset="-120"/>
              </a:rPr>
              <a:t>Financing and risk</a:t>
            </a:r>
            <a:endParaRPr lang="en-US" sz="1500" dirty="0"/>
          </a:p>
        </p:txBody>
      </p:sp>
      <p:sp>
        <p:nvSpPr>
          <p:cNvPr id="26" name="Text 24"/>
          <p:cNvSpPr txBox="1"/>
          <p:nvPr/>
        </p:nvSpPr>
        <p:spPr>
          <a:xfrm>
            <a:off x="3520440" y="4928616"/>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WACC and official-private spread</a:t>
            </a:r>
            <a:endParaRPr lang="en-US" sz="1150" dirty="0"/>
          </a:p>
        </p:txBody>
      </p:sp>
      <p:sp>
        <p:nvSpPr>
          <p:cNvPr id="27" name="Text 25"/>
          <p:cNvSpPr txBox="1"/>
          <p:nvPr/>
        </p:nvSpPr>
        <p:spPr>
          <a:xfrm>
            <a:off x="7635240" y="4928616"/>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What derisking is worth — 42 and 69</a:t>
            </a:r>
            <a:endParaRPr lang="en-US" sz="1100" dirty="0"/>
          </a:p>
        </p:txBody>
      </p:sp>
      <p:sp>
        <p:nvSpPr>
          <p:cNvPr id="28" name="Text 26"/>
          <p:cNvSpPr txBox="1"/>
          <p:nvPr/>
        </p:nvSpPr>
        <p:spPr>
          <a:xfrm>
            <a:off x="3520440" y="5234940"/>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USD share of PPG debt</a:t>
            </a:r>
            <a:endParaRPr lang="en-US" sz="1150" dirty="0"/>
          </a:p>
        </p:txBody>
      </p:sp>
      <p:sp>
        <p:nvSpPr>
          <p:cNvPr id="29" name="Text 27"/>
          <p:cNvSpPr txBox="1"/>
          <p:nvPr/>
        </p:nvSpPr>
        <p:spPr>
          <a:xfrm>
            <a:off x="7635240" y="5234940"/>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FX exposure — 87 economies</a:t>
            </a:r>
            <a:endParaRPr lang="en-US" sz="1100" dirty="0"/>
          </a:p>
        </p:txBody>
      </p:sp>
      <p:sp>
        <p:nvSpPr>
          <p:cNvPr id="30" name="Text 28"/>
          <p:cNvSpPr txBox="1"/>
          <p:nvPr/>
        </p:nvSpPr>
        <p:spPr>
          <a:xfrm>
            <a:off x="3520440" y="5541264"/>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Creditor composition</a:t>
            </a:r>
            <a:endParaRPr lang="en-US" sz="1150" dirty="0"/>
          </a:p>
        </p:txBody>
      </p:sp>
      <p:sp>
        <p:nvSpPr>
          <p:cNvPr id="31" name="Text 29"/>
          <p:cNvSpPr txBox="1"/>
          <p:nvPr/>
        </p:nvSpPr>
        <p:spPr>
          <a:xfrm>
            <a:off x="7635240" y="5541264"/>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Which instrument even applies — 82 to 87</a:t>
            </a:r>
            <a:endParaRPr lang="en-US" sz="1100" dirty="0"/>
          </a:p>
        </p:txBody>
      </p:sp>
      <p:sp>
        <p:nvSpPr>
          <p:cNvPr id="32" name="Text 30"/>
          <p:cNvSpPr txBox="1"/>
          <p:nvPr/>
        </p:nvSpPr>
        <p:spPr>
          <a:xfrm>
            <a:off x="3520440" y="5847588"/>
            <a:ext cx="3977640" cy="274320"/>
          </a:xfrm>
          <a:prstGeom prst="rect">
            <a:avLst/>
          </a:prstGeom>
          <a:noFill/>
          <a:ln/>
        </p:spPr>
        <p:txBody>
          <a:bodyPr wrap="square" lIns="0" tIns="0" rIns="0" bIns="0" rtlCol="0" anchor="ctr"/>
          <a:lstStyle/>
          <a:p>
            <a:pPr marL="0" indent="0">
              <a:buNone/>
            </a:pPr>
            <a:r>
              <a:rPr lang="en-US" sz="1150" b="1" dirty="0">
                <a:solidFill>
                  <a:srgbClr val="0E1B2A"/>
                </a:solidFill>
                <a:latin typeface="Cambria" pitchFamily="34" charset="0"/>
                <a:ea typeface="Cambria" pitchFamily="34" charset="-122"/>
                <a:cs typeface="Cambria" pitchFamily="34" charset="-120"/>
              </a:rPr>
              <a:t>Mitigation finance received, % GDP</a:t>
            </a:r>
            <a:endParaRPr lang="en-US" sz="1150" dirty="0"/>
          </a:p>
        </p:txBody>
      </p:sp>
      <p:sp>
        <p:nvSpPr>
          <p:cNvPr id="33" name="Text 31"/>
          <p:cNvSpPr txBox="1"/>
          <p:nvPr/>
        </p:nvSpPr>
        <p:spPr>
          <a:xfrm>
            <a:off x="7635240" y="5847588"/>
            <a:ext cx="3886200" cy="274320"/>
          </a:xfrm>
          <a:prstGeom prst="rect">
            <a:avLst/>
          </a:prstGeom>
          <a:noFill/>
          <a:ln/>
        </p:spPr>
        <p:txBody>
          <a:bodyPr wrap="square" lIns="0" tIns="0" rIns="0" bIns="0" rtlCol="0" anchor="ctr"/>
          <a:lstStyle/>
          <a:p>
            <a:pPr marL="0" indent="0">
              <a:buNone/>
            </a:pPr>
            <a:r>
              <a:rPr lang="en-US" sz="1100" dirty="0">
                <a:solidFill>
                  <a:srgbClr val="5A6B7B"/>
                </a:solidFill>
                <a:latin typeface="Cambria" pitchFamily="34" charset="0"/>
                <a:ea typeface="Cambria" pitchFamily="34" charset="-122"/>
                <a:cs typeface="Cambria" pitchFamily="34" charset="-120"/>
              </a:rPr>
              <a:t>What is already arriving — 94</a:t>
            </a:r>
            <a:endParaRPr lang="en-US" sz="1100" dirty="0"/>
          </a:p>
        </p:txBody>
      </p:sp>
      <p:sp>
        <p:nvSpPr>
          <p:cNvPr id="34" name="Text 32"/>
          <p:cNvSpPr txBox="1"/>
          <p:nvPr/>
        </p:nvSpPr>
        <p:spPr>
          <a:xfrm>
            <a:off x="640080" y="6272784"/>
            <a:ext cx="10881360" cy="274320"/>
          </a:xfrm>
          <a:prstGeom prst="rect">
            <a:avLst/>
          </a:prstGeom>
          <a:noFill/>
          <a:ln/>
        </p:spPr>
        <p:txBody>
          <a:bodyPr wrap="square" lIns="0" tIns="0" rIns="0" bIns="0" rtlCol="0" anchor="ctr"/>
          <a:lstStyle/>
          <a:p>
            <a:pPr marL="0" indent="0" algn="l">
              <a:buNone/>
            </a:pPr>
            <a:r>
              <a:rPr lang="en-US" sz="900" dirty="0">
                <a:solidFill>
                  <a:srgbClr val="93A0AC"/>
                </a:solidFill>
                <a:latin typeface="Cambria" pitchFamily="34" charset="0"/>
                <a:ea typeface="Cambria" pitchFamily="34" charset="-122"/>
                <a:cs typeface="Cambria" pitchFamily="34" charset="-120"/>
              </a:rPr>
              <a:t>Sixteen public datasets: IMF WEO, WoRLD and Fossil Fuel Subsidies; World Bank BOOST, IDS, PPI and WDI; PEFA; OECD CRDF; Ember; IRENA. Every value carries its observation year.</a:t>
            </a:r>
            <a:endParaRPr lang="en-US" sz="900" dirty="0"/>
          </a:p>
        </p:txBody>
      </p:sp>
      <p:sp>
        <p:nvSpPr>
          <p:cNvPr id="35" name="Text 33"/>
          <p:cNvSpPr txBox="1"/>
          <p:nvPr/>
        </p:nvSpPr>
        <p:spPr>
          <a:xfrm>
            <a:off x="11338560" y="6272784"/>
            <a:ext cx="365760" cy="274320"/>
          </a:xfrm>
          <a:prstGeom prst="rect">
            <a:avLst/>
          </a:prstGeom>
          <a:noFill/>
          <a:ln/>
        </p:spPr>
        <p:txBody>
          <a:bodyPr wrap="square" lIns="0" tIns="0" rIns="0" bIns="0" rtlCol="0" anchor="ctr"/>
          <a:lstStyle/>
          <a:p>
            <a:pPr marL="0" indent="0" algn="r">
              <a:buNone/>
            </a:pPr>
            <a:r>
              <a:rPr lang="en-US" sz="900" dirty="0">
                <a:solidFill>
                  <a:srgbClr val="93A0AC"/>
                </a:solidFill>
                <a:latin typeface="Cambria" pitchFamily="34" charset="0"/>
                <a:ea typeface="Cambria" pitchFamily="34" charset="-122"/>
                <a:cs typeface="Cambria"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marL="0" indent="0" algn="l">
              <a:buNone/>
            </a:pPr>
            <a:r>
              <a:rPr lang="en-US" sz="1000" b="1" kern="0" spc="200" dirty="0">
                <a:solidFill>
                  <a:srgbClr val="C05621"/>
                </a:solidFill>
                <a:latin typeface="Cambria" pitchFamily="34" charset="0"/>
                <a:ea typeface="Cambria" pitchFamily="34" charset="-122"/>
                <a:cs typeface="Cambria" pitchFamily="34" charset="-120"/>
              </a:rPr>
              <a:t>CONTEXT  ·  OPPORTUNITY ANALYSIS</a:t>
            </a:r>
            <a:endParaRPr lang="en-US" sz="1000" dirty="0"/>
          </a:p>
        </p:txBody>
      </p:sp>
      <p:sp>
        <p:nvSpPr>
          <p:cNvPr id="3" name="Text 1"/>
          <p:cNvSpPr txBox="1"/>
          <p:nvPr/>
        </p:nvSpPr>
        <p:spPr>
          <a:xfrm>
            <a:off x="640080" y="713232"/>
            <a:ext cx="10881360" cy="868680"/>
          </a:xfrm>
          <a:prstGeom prst="rect">
            <a:avLst/>
          </a:prstGeom>
          <a:noFill/>
          <a:ln/>
        </p:spPr>
        <p:txBody>
          <a:bodyPr wrap="square" lIns="0" tIns="0" rIns="0" bIns="0" rtlCol="0" anchor="t"/>
          <a:lstStyle/>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The same transition is a revenue cliff for 19 economies</a:t>
            </a:r>
            <a:endParaRPr lang="en-US" sz="2700" dirty="0"/>
          </a:p>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and balance-of-payments relief for 76</a:t>
            </a:r>
            <a:endParaRPr lang="en-US" sz="2700" dirty="0"/>
          </a:p>
        </p:txBody>
      </p:sp>
      <p:sp>
        <p:nvSpPr>
          <p:cNvPr id="4" name="Shape 2"/>
          <p:cNvSpPr/>
          <p:nvPr/>
        </p:nvSpPr>
        <p:spPr>
          <a:xfrm>
            <a:off x="640080" y="2148840"/>
            <a:ext cx="5257800" cy="2286000"/>
          </a:xfrm>
          <a:prstGeom prst="rect">
            <a:avLst/>
          </a:prstGeom>
          <a:solidFill>
            <a:srgbClr val="F4F6F8"/>
          </a:solidFill>
          <a:ln w="12700">
            <a:solidFill>
              <a:srgbClr val="333333"/>
            </a:solidFill>
            <a:prstDash val="solid"/>
          </a:ln>
        </p:spPr>
        <p:txBody>
          <a:bodyPr/>
          <a:lstStyle/>
          <a:p>
            <a:endParaRPr lang="en-US"/>
          </a:p>
        </p:txBody>
      </p:sp>
      <p:sp>
        <p:nvSpPr>
          <p:cNvPr id="5" name="Text 3"/>
          <p:cNvSpPr txBox="1"/>
          <p:nvPr/>
        </p:nvSpPr>
        <p:spPr>
          <a:xfrm>
            <a:off x="932688" y="2377440"/>
            <a:ext cx="4663440" cy="237744"/>
          </a:xfrm>
          <a:prstGeom prst="rect">
            <a:avLst/>
          </a:prstGeom>
          <a:noFill/>
          <a:ln/>
        </p:spPr>
        <p:txBody>
          <a:bodyPr wrap="square" lIns="0" tIns="0" rIns="0" bIns="0" rtlCol="0" anchor="ctr"/>
          <a:lstStyle/>
          <a:p>
            <a:pPr marL="0" indent="0">
              <a:buNone/>
            </a:pPr>
            <a:r>
              <a:rPr lang="en-US" sz="900" b="1" kern="0" spc="150" dirty="0">
                <a:solidFill>
                  <a:srgbClr val="C05621"/>
                </a:solidFill>
                <a:latin typeface="Cambria" pitchFamily="34" charset="0"/>
                <a:ea typeface="Cambria" pitchFamily="34" charset="-122"/>
                <a:cs typeface="Cambria" pitchFamily="34" charset="-120"/>
              </a:rPr>
              <a:t>19 NET EXPORTERS</a:t>
            </a:r>
            <a:endParaRPr lang="en-US" sz="900" dirty="0"/>
          </a:p>
        </p:txBody>
      </p:sp>
      <p:sp>
        <p:nvSpPr>
          <p:cNvPr id="6" name="Text 4"/>
          <p:cNvSpPr txBox="1"/>
          <p:nvPr/>
        </p:nvSpPr>
        <p:spPr>
          <a:xfrm>
            <a:off x="932688" y="2651760"/>
            <a:ext cx="4663440" cy="347472"/>
          </a:xfrm>
          <a:prstGeom prst="rect">
            <a:avLst/>
          </a:prstGeom>
          <a:noFill/>
          <a:ln/>
        </p:spPr>
        <p:txBody>
          <a:bodyPr wrap="square" lIns="0" tIns="0" rIns="0" bIns="0" rtlCol="0" anchor="ctr"/>
          <a:lstStyle/>
          <a:p>
            <a:pPr marL="0" indent="0">
              <a:buNone/>
            </a:pPr>
            <a:r>
              <a:rPr lang="en-US" sz="1700" b="1" dirty="0">
                <a:solidFill>
                  <a:srgbClr val="0E1B2A"/>
                </a:solidFill>
                <a:latin typeface="Century Schoolbook" pitchFamily="34" charset="0"/>
                <a:ea typeface="Century Schoolbook" pitchFamily="34" charset="-122"/>
                <a:cs typeface="Century Schoolbook" pitchFamily="34" charset="-120"/>
              </a:rPr>
              <a:t>Revenue at stake</a:t>
            </a:r>
            <a:endParaRPr lang="en-US" sz="1700" dirty="0"/>
          </a:p>
        </p:txBody>
      </p:sp>
      <p:sp>
        <p:nvSpPr>
          <p:cNvPr id="7" name="Shape 5"/>
          <p:cNvSpPr/>
          <p:nvPr/>
        </p:nvSpPr>
        <p:spPr>
          <a:xfrm>
            <a:off x="932688" y="3072384"/>
            <a:ext cx="4663440" cy="0"/>
          </a:xfrm>
          <a:prstGeom prst="line">
            <a:avLst/>
          </a:prstGeom>
          <a:noFill/>
          <a:ln w="9525">
            <a:solidFill>
              <a:srgbClr val="DCE1E6"/>
            </a:solidFill>
            <a:prstDash val="solid"/>
          </a:ln>
        </p:spPr>
        <p:txBody>
          <a:bodyPr/>
          <a:lstStyle/>
          <a:p>
            <a:endParaRPr lang="en-US"/>
          </a:p>
        </p:txBody>
      </p:sp>
      <p:sp>
        <p:nvSpPr>
          <p:cNvPr id="8" name="Text 6"/>
          <p:cNvSpPr txBox="1"/>
          <p:nvPr/>
        </p:nvSpPr>
        <p:spPr>
          <a:xfrm>
            <a:off x="932688" y="3200400"/>
            <a:ext cx="4663440" cy="109728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00" dirty="0">
                <a:solidFill>
                  <a:srgbClr val="5A6B7B"/>
                </a:solidFill>
                <a:latin typeface="Cambria" pitchFamily="34" charset="0"/>
                <a:ea typeface="Cambria" pitchFamily="34" charset="-122"/>
                <a:cs typeface="Cambria" pitchFamily="34" charset="-120"/>
              </a:rPr>
              <a:t>Fossil rents above 5% of GDP in 15 economies</a:t>
            </a:r>
            <a:endParaRPr lang="en-US" sz="1100" dirty="0"/>
          </a:p>
          <a:p>
            <a:pPr marL="342900" indent="-342900">
              <a:lnSpc>
                <a:spcPts val="1500"/>
              </a:lnSpc>
              <a:spcAft>
                <a:spcPts val="600"/>
              </a:spcAft>
              <a:buSzPct val="100000"/>
              <a:buChar char="•"/>
            </a:pPr>
            <a:r>
              <a:rPr lang="en-US" sz="1100" dirty="0">
                <a:solidFill>
                  <a:srgbClr val="5A6B7B"/>
                </a:solidFill>
                <a:latin typeface="Cambria" pitchFamily="34" charset="0"/>
                <a:ea typeface="Cambria" pitchFamily="34" charset="-122"/>
                <a:cs typeface="Cambria" pitchFamily="34" charset="-120"/>
              </a:rPr>
              <a:t>Fuel exports reach 81% of merchandise exports</a:t>
            </a:r>
            <a:endParaRPr lang="en-US" sz="1100" dirty="0"/>
          </a:p>
          <a:p>
            <a:pPr marL="342900" indent="-342900">
              <a:lnSpc>
                <a:spcPts val="1500"/>
              </a:lnSpc>
              <a:spcAft>
                <a:spcPts val="600"/>
              </a:spcAft>
              <a:buSzPct val="100000"/>
              <a:buChar char="•"/>
            </a:pPr>
            <a:r>
              <a:rPr lang="en-US" sz="1100" dirty="0">
                <a:solidFill>
                  <a:srgbClr val="5A6B7B"/>
                </a:solidFill>
                <a:latin typeface="Cambria" pitchFamily="34" charset="0"/>
                <a:ea typeface="Cambria" pitchFamily="34" charset="-122"/>
                <a:cs typeface="Cambria" pitchFamily="34" charset="-120"/>
              </a:rPr>
              <a:t>Transition erodes the base faster than rates can rise</a:t>
            </a:r>
            <a:endParaRPr lang="en-US" sz="1100" dirty="0"/>
          </a:p>
          <a:p>
            <a:pPr marL="342900" indent="-342900">
              <a:lnSpc>
                <a:spcPts val="1500"/>
              </a:lnSpc>
              <a:spcAft>
                <a:spcPts val="600"/>
              </a:spcAft>
              <a:buSzPct val="100000"/>
              <a:buChar char="•"/>
            </a:pPr>
            <a:r>
              <a:rPr lang="en-US" sz="1100" dirty="0">
                <a:solidFill>
                  <a:srgbClr val="5A6B7B"/>
                </a:solidFill>
                <a:latin typeface="Cambria" pitchFamily="34" charset="0"/>
                <a:ea typeface="Cambria" pitchFamily="34" charset="-122"/>
                <a:cs typeface="Cambria" pitchFamily="34" charset="-120"/>
              </a:rPr>
              <a:t>Pitch: revenue replacement and diversification</a:t>
            </a:r>
            <a:endParaRPr lang="en-US" sz="1100" dirty="0"/>
          </a:p>
        </p:txBody>
      </p:sp>
      <p:sp>
        <p:nvSpPr>
          <p:cNvPr id="9" name="Shape 7"/>
          <p:cNvSpPr/>
          <p:nvPr/>
        </p:nvSpPr>
        <p:spPr>
          <a:xfrm>
            <a:off x="6263640" y="2148840"/>
            <a:ext cx="5257800" cy="2286000"/>
          </a:xfrm>
          <a:prstGeom prst="rect">
            <a:avLst/>
          </a:prstGeom>
          <a:solidFill>
            <a:srgbClr val="F4F6F8"/>
          </a:solidFill>
          <a:ln w="12700">
            <a:solidFill>
              <a:srgbClr val="333333"/>
            </a:solidFill>
            <a:prstDash val="solid"/>
          </a:ln>
        </p:spPr>
        <p:txBody>
          <a:bodyPr/>
          <a:lstStyle/>
          <a:p>
            <a:endParaRPr lang="en-US"/>
          </a:p>
        </p:txBody>
      </p:sp>
      <p:sp>
        <p:nvSpPr>
          <p:cNvPr id="10" name="Text 8"/>
          <p:cNvSpPr txBox="1"/>
          <p:nvPr/>
        </p:nvSpPr>
        <p:spPr>
          <a:xfrm>
            <a:off x="6556248" y="2377440"/>
            <a:ext cx="4663440" cy="237744"/>
          </a:xfrm>
          <a:prstGeom prst="rect">
            <a:avLst/>
          </a:prstGeom>
          <a:noFill/>
          <a:ln/>
        </p:spPr>
        <p:txBody>
          <a:bodyPr wrap="square" lIns="0" tIns="0" rIns="0" bIns="0" rtlCol="0" anchor="ctr"/>
          <a:lstStyle/>
          <a:p>
            <a:pPr marL="0" indent="0">
              <a:buNone/>
            </a:pPr>
            <a:r>
              <a:rPr lang="en-US" sz="900" b="1" kern="0" spc="150" dirty="0">
                <a:solidFill>
                  <a:srgbClr val="1F6F6B"/>
                </a:solidFill>
                <a:latin typeface="Cambria" pitchFamily="34" charset="0"/>
                <a:ea typeface="Cambria" pitchFamily="34" charset="-122"/>
                <a:cs typeface="Cambria" pitchFamily="34" charset="-120"/>
              </a:rPr>
              <a:t>76 NET IMPORTERS</a:t>
            </a:r>
            <a:endParaRPr lang="en-US" sz="900" dirty="0"/>
          </a:p>
        </p:txBody>
      </p:sp>
      <p:sp>
        <p:nvSpPr>
          <p:cNvPr id="11" name="Text 9"/>
          <p:cNvSpPr txBox="1"/>
          <p:nvPr/>
        </p:nvSpPr>
        <p:spPr>
          <a:xfrm>
            <a:off x="6556248" y="2651760"/>
            <a:ext cx="4663440" cy="347472"/>
          </a:xfrm>
          <a:prstGeom prst="rect">
            <a:avLst/>
          </a:prstGeom>
          <a:noFill/>
          <a:ln/>
        </p:spPr>
        <p:txBody>
          <a:bodyPr wrap="square" lIns="0" tIns="0" rIns="0" bIns="0" rtlCol="0" anchor="ctr"/>
          <a:lstStyle/>
          <a:p>
            <a:pPr marL="0" indent="0">
              <a:buNone/>
            </a:pPr>
            <a:r>
              <a:rPr lang="en-US" sz="1700" b="1" dirty="0">
                <a:solidFill>
                  <a:srgbClr val="0E1B2A"/>
                </a:solidFill>
                <a:latin typeface="Century Schoolbook" pitchFamily="34" charset="0"/>
                <a:ea typeface="Century Schoolbook" pitchFamily="34" charset="-122"/>
                <a:cs typeface="Century Schoolbook" pitchFamily="34" charset="-120"/>
              </a:rPr>
              <a:t>Bill to be cut</a:t>
            </a:r>
            <a:endParaRPr lang="en-US" sz="1700" dirty="0"/>
          </a:p>
        </p:txBody>
      </p:sp>
      <p:sp>
        <p:nvSpPr>
          <p:cNvPr id="12" name="Shape 10"/>
          <p:cNvSpPr/>
          <p:nvPr/>
        </p:nvSpPr>
        <p:spPr>
          <a:xfrm>
            <a:off x="6556248" y="3072384"/>
            <a:ext cx="4663440" cy="0"/>
          </a:xfrm>
          <a:prstGeom prst="line">
            <a:avLst/>
          </a:prstGeom>
          <a:noFill/>
          <a:ln w="9525">
            <a:solidFill>
              <a:srgbClr val="DCE1E6"/>
            </a:solidFill>
            <a:prstDash val="solid"/>
          </a:ln>
        </p:spPr>
        <p:txBody>
          <a:bodyPr/>
          <a:lstStyle/>
          <a:p>
            <a:endParaRPr lang="en-US"/>
          </a:p>
        </p:txBody>
      </p:sp>
      <p:sp>
        <p:nvSpPr>
          <p:cNvPr id="13" name="Text 11"/>
          <p:cNvSpPr txBox="1"/>
          <p:nvPr/>
        </p:nvSpPr>
        <p:spPr>
          <a:xfrm>
            <a:off x="6556248" y="3200400"/>
            <a:ext cx="4663440" cy="109728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00" dirty="0">
                <a:solidFill>
                  <a:srgbClr val="5A6B7B"/>
                </a:solidFill>
                <a:latin typeface="Cambria" pitchFamily="34" charset="0"/>
                <a:ea typeface="Cambria" pitchFamily="34" charset="-122"/>
                <a:cs typeface="Cambria" pitchFamily="34" charset="-120"/>
              </a:rPr>
              <a:t>Fuel imports up to 41% of merchandise imports</a:t>
            </a:r>
            <a:endParaRPr lang="en-US" sz="1100" dirty="0"/>
          </a:p>
          <a:p>
            <a:pPr marL="342900" indent="-342900">
              <a:lnSpc>
                <a:spcPts val="1500"/>
              </a:lnSpc>
              <a:spcAft>
                <a:spcPts val="600"/>
              </a:spcAft>
              <a:buSzPct val="100000"/>
              <a:buChar char="•"/>
            </a:pPr>
            <a:r>
              <a:rPr lang="en-US" sz="1100" dirty="0">
                <a:solidFill>
                  <a:srgbClr val="5A6B7B"/>
                </a:solidFill>
                <a:latin typeface="Cambria" pitchFamily="34" charset="0"/>
                <a:ea typeface="Cambria" pitchFamily="34" charset="-122"/>
                <a:cs typeface="Cambria" pitchFamily="34" charset="-120"/>
              </a:rPr>
              <a:t>23 economies generate over half their power from oil</a:t>
            </a:r>
            <a:endParaRPr lang="en-US" sz="1100" dirty="0"/>
          </a:p>
          <a:p>
            <a:pPr marL="342900" indent="-342900">
              <a:lnSpc>
                <a:spcPts val="1500"/>
              </a:lnSpc>
              <a:spcAft>
                <a:spcPts val="600"/>
              </a:spcAft>
              <a:buSzPct val="100000"/>
              <a:buChar char="•"/>
            </a:pPr>
            <a:r>
              <a:rPr lang="en-US" sz="1100" dirty="0">
                <a:solidFill>
                  <a:srgbClr val="5A6B7B"/>
                </a:solidFill>
                <a:latin typeface="Cambria" pitchFamily="34" charset="0"/>
                <a:ea typeface="Cambria" pitchFamily="34" charset="-122"/>
                <a:cs typeface="Cambria" pitchFamily="34" charset="-120"/>
              </a:rPr>
              <a:t>Solar already beats oil-fired power unsubsidised</a:t>
            </a:r>
            <a:endParaRPr lang="en-US" sz="1100" dirty="0"/>
          </a:p>
          <a:p>
            <a:pPr marL="342900" indent="-342900">
              <a:lnSpc>
                <a:spcPts val="1500"/>
              </a:lnSpc>
              <a:spcAft>
                <a:spcPts val="600"/>
              </a:spcAft>
              <a:buSzPct val="100000"/>
              <a:buChar char="•"/>
            </a:pPr>
            <a:r>
              <a:rPr lang="en-US" sz="1100" dirty="0">
                <a:solidFill>
                  <a:srgbClr val="5A6B7B"/>
                </a:solidFill>
                <a:latin typeface="Cambria" pitchFamily="34" charset="0"/>
                <a:ea typeface="Cambria" pitchFamily="34" charset="-122"/>
                <a:cs typeface="Cambria" pitchFamily="34" charset="-120"/>
              </a:rPr>
              <a:t>Pitch: negative-cost abatement, no carbon price needed</a:t>
            </a:r>
            <a:endParaRPr lang="en-US" sz="1100" dirty="0"/>
          </a:p>
        </p:txBody>
      </p:sp>
      <p:sp>
        <p:nvSpPr>
          <p:cNvPr id="14" name="Shape 12"/>
          <p:cNvSpPr/>
          <p:nvPr/>
        </p:nvSpPr>
        <p:spPr>
          <a:xfrm>
            <a:off x="640080" y="4709160"/>
            <a:ext cx="10881360" cy="1280160"/>
          </a:xfrm>
          <a:prstGeom prst="rect">
            <a:avLst/>
          </a:prstGeom>
          <a:solidFill>
            <a:srgbClr val="0E1B2A"/>
          </a:solidFill>
          <a:ln w="12700">
            <a:solidFill>
              <a:srgbClr val="333333"/>
            </a:solidFill>
            <a:prstDash val="solid"/>
          </a:ln>
        </p:spPr>
        <p:txBody>
          <a:bodyPr/>
          <a:lstStyle/>
          <a:p>
            <a:endParaRPr lang="en-US"/>
          </a:p>
        </p:txBody>
      </p:sp>
      <p:sp>
        <p:nvSpPr>
          <p:cNvPr id="15" name="Text 13"/>
          <p:cNvSpPr txBox="1"/>
          <p:nvPr/>
        </p:nvSpPr>
        <p:spPr>
          <a:xfrm>
            <a:off x="1005840" y="4892040"/>
            <a:ext cx="4937760" cy="292608"/>
          </a:xfrm>
          <a:prstGeom prst="rect">
            <a:avLst/>
          </a:prstGeom>
          <a:noFill/>
          <a:ln/>
        </p:spPr>
        <p:txBody>
          <a:bodyPr wrap="square" lIns="0" tIns="0" rIns="0" bIns="0" rtlCol="0" anchor="ctr"/>
          <a:lstStyle/>
          <a:p>
            <a:pPr marL="0" indent="0">
              <a:buNone/>
            </a:pPr>
            <a:r>
              <a:rPr lang="en-US" sz="1500" b="1" dirty="0">
                <a:solidFill>
                  <a:srgbClr val="FFFFFF"/>
                </a:solidFill>
                <a:latin typeface="Century Schoolbook" pitchFamily="34" charset="0"/>
                <a:ea typeface="Century Schoolbook" pitchFamily="34" charset="-122"/>
                <a:cs typeface="Century Schoolbook" pitchFamily="34" charset="-120"/>
              </a:rPr>
              <a:t>Where abatement pays for itself</a:t>
            </a:r>
            <a:endParaRPr lang="en-US" sz="1500" dirty="0"/>
          </a:p>
        </p:txBody>
      </p:sp>
      <p:sp>
        <p:nvSpPr>
          <p:cNvPr id="16" name="Text 14"/>
          <p:cNvSpPr txBox="1"/>
          <p:nvPr/>
        </p:nvSpPr>
        <p:spPr>
          <a:xfrm>
            <a:off x="1005840" y="5230368"/>
            <a:ext cx="10149840" cy="640080"/>
          </a:xfrm>
          <a:prstGeom prst="rect">
            <a:avLst/>
          </a:prstGeom>
          <a:noFill/>
          <a:ln/>
        </p:spPr>
        <p:txBody>
          <a:bodyPr wrap="square" lIns="0" tIns="0" rIns="0" bIns="0" rtlCol="0" anchor="t"/>
          <a:lstStyle/>
          <a:p>
            <a:pPr marL="0" indent="0">
              <a:lnSpc>
                <a:spcPts val="1500"/>
              </a:lnSpc>
              <a:buNone/>
            </a:pPr>
            <a:r>
              <a:rPr lang="en-US" sz="1100" dirty="0">
                <a:solidFill>
                  <a:srgbClr val="AEBECD"/>
                </a:solidFill>
                <a:latin typeface="Cambria" pitchFamily="34" charset="0"/>
                <a:ea typeface="Cambria" pitchFamily="34" charset="-122"/>
                <a:cs typeface="Cambria" pitchFamily="34" charset="-120"/>
              </a:rPr>
              <a:t>14 economies generate more than 80% of their electricity from oil — Comoros, The Gambia, Guinea-Bissau and Grenada at 100%. These are the same small states that had almost no other fiscal data. The cheapest mitigation in the portfolio sits exactly where the diagnostics were thinnest.</a:t>
            </a:r>
            <a:endParaRPr lang="en-US" sz="1100" dirty="0"/>
          </a:p>
        </p:txBody>
      </p:sp>
      <p:sp>
        <p:nvSpPr>
          <p:cNvPr id="17" name="Text 15"/>
          <p:cNvSpPr txBox="1"/>
          <p:nvPr/>
        </p:nvSpPr>
        <p:spPr>
          <a:xfrm>
            <a:off x="640080" y="6272784"/>
            <a:ext cx="10881360" cy="274320"/>
          </a:xfrm>
          <a:prstGeom prst="rect">
            <a:avLst/>
          </a:prstGeom>
          <a:noFill/>
          <a:ln/>
        </p:spPr>
        <p:txBody>
          <a:bodyPr wrap="square" lIns="0" tIns="0" rIns="0" bIns="0" rtlCol="0" anchor="ctr"/>
          <a:lstStyle/>
          <a:p>
            <a:pPr marL="0" indent="0" algn="l">
              <a:buNone/>
            </a:pPr>
            <a:r>
              <a:rPr lang="en-US" sz="900" dirty="0">
                <a:solidFill>
                  <a:srgbClr val="93A0AC"/>
                </a:solidFill>
                <a:latin typeface="Cambria" pitchFamily="34" charset="0"/>
                <a:ea typeface="Cambria" pitchFamily="34" charset="-122"/>
                <a:cs typeface="Cambria" pitchFamily="34" charset="-120"/>
              </a:rPr>
              <a:t>Sources: WDI fuel trade and resource rents; Ember Yearly Electricity Data. Net fuel trade covers 95 of 98 economies, oil-fired generation share 96.</a:t>
            </a:r>
            <a:endParaRPr lang="en-US" sz="900" dirty="0"/>
          </a:p>
        </p:txBody>
      </p:sp>
      <p:sp>
        <p:nvSpPr>
          <p:cNvPr id="18" name="Text 16"/>
          <p:cNvSpPr txBox="1"/>
          <p:nvPr/>
        </p:nvSpPr>
        <p:spPr>
          <a:xfrm>
            <a:off x="11338560" y="6272784"/>
            <a:ext cx="365760" cy="274320"/>
          </a:xfrm>
          <a:prstGeom prst="rect">
            <a:avLst/>
          </a:prstGeom>
          <a:noFill/>
          <a:ln/>
        </p:spPr>
        <p:txBody>
          <a:bodyPr wrap="square" lIns="0" tIns="0" rIns="0" bIns="0" rtlCol="0" anchor="ctr"/>
          <a:lstStyle/>
          <a:p>
            <a:pPr marL="0" indent="0" algn="r">
              <a:buNone/>
            </a:pPr>
            <a:r>
              <a:rPr lang="en-US" sz="900" dirty="0">
                <a:solidFill>
                  <a:srgbClr val="93A0AC"/>
                </a:solidFill>
                <a:latin typeface="Cambria" pitchFamily="34" charset="0"/>
                <a:ea typeface="Cambria" pitchFamily="34" charset="-122"/>
                <a:cs typeface="Cambria"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marL="0" indent="0" algn="l">
              <a:buNone/>
            </a:pPr>
            <a:r>
              <a:rPr lang="en-US" sz="1000" b="1" kern="0" spc="200" dirty="0">
                <a:solidFill>
                  <a:srgbClr val="C05621"/>
                </a:solidFill>
                <a:latin typeface="Cambria" pitchFamily="34" charset="0"/>
                <a:ea typeface="Cambria" pitchFamily="34" charset="-122"/>
                <a:cs typeface="Cambria" pitchFamily="34" charset="-120"/>
              </a:rPr>
              <a:t>03  ·  STRESS</a:t>
            </a:r>
            <a:endParaRPr lang="en-US" sz="1000" dirty="0"/>
          </a:p>
        </p:txBody>
      </p:sp>
      <p:sp>
        <p:nvSpPr>
          <p:cNvPr id="3" name="Text 1"/>
          <p:cNvSpPr txBox="1"/>
          <p:nvPr/>
        </p:nvSpPr>
        <p:spPr>
          <a:xfrm>
            <a:off x="640080" y="713232"/>
            <a:ext cx="10881360" cy="868680"/>
          </a:xfrm>
          <a:prstGeom prst="rect">
            <a:avLst/>
          </a:prstGeom>
          <a:noFill/>
          <a:ln/>
        </p:spPr>
        <p:txBody>
          <a:bodyPr wrap="square" lIns="0" tIns="0" rIns="0" bIns="0" rtlCol="0" anchor="t"/>
          <a:lstStyle/>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Public investment management decides whether</a:t>
            </a:r>
            <a:endParaRPr lang="en-US" sz="2700" dirty="0"/>
          </a:p>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finance becomes assets — and reform is finance</a:t>
            </a:r>
            <a:endParaRPr lang="en-US" sz="2700" dirty="0"/>
          </a:p>
        </p:txBody>
      </p:sp>
      <p:sp>
        <p:nvSpPr>
          <p:cNvPr id="4" name="Shape 2"/>
          <p:cNvSpPr/>
          <p:nvPr/>
        </p:nvSpPr>
        <p:spPr>
          <a:xfrm>
            <a:off x="640080" y="2048256"/>
            <a:ext cx="310896" cy="310896"/>
          </a:xfrm>
          <a:prstGeom prst="rect">
            <a:avLst/>
          </a:prstGeom>
          <a:solidFill>
            <a:srgbClr val="C05621"/>
          </a:solidFill>
          <a:ln w="12700">
            <a:solidFill>
              <a:srgbClr val="333333"/>
            </a:solidFill>
            <a:prstDash val="solid"/>
          </a:ln>
        </p:spPr>
        <p:txBody>
          <a:bodyPr/>
          <a:lstStyle/>
          <a:p>
            <a:endParaRPr lang="en-US"/>
          </a:p>
        </p:txBody>
      </p:sp>
      <p:sp>
        <p:nvSpPr>
          <p:cNvPr id="5" name="Text 3"/>
          <p:cNvSpPr txBox="1"/>
          <p:nvPr/>
        </p:nvSpPr>
        <p:spPr>
          <a:xfrm>
            <a:off x="640080" y="204825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01</a:t>
            </a:r>
            <a:endParaRPr lang="en-US" sz="1200" dirty="0"/>
          </a:p>
        </p:txBody>
      </p:sp>
      <p:sp>
        <p:nvSpPr>
          <p:cNvPr id="6" name="Text 4"/>
          <p:cNvSpPr txBox="1"/>
          <p:nvPr/>
        </p:nvSpPr>
        <p:spPr>
          <a:xfrm>
            <a:off x="1097280" y="2011680"/>
            <a:ext cx="6035040" cy="320040"/>
          </a:xfrm>
          <a:prstGeom prst="rect">
            <a:avLst/>
          </a:prstGeom>
          <a:noFill/>
          <a:ln/>
        </p:spPr>
        <p:txBody>
          <a:bodyPr wrap="square" lIns="0" tIns="0" rIns="0" bIns="0" rtlCol="0" anchor="ctr"/>
          <a:lstStyle/>
          <a:p>
            <a:pPr marL="0" indent="0">
              <a:buNone/>
            </a:pPr>
            <a:r>
              <a:rPr lang="en-US" sz="1500" b="1" dirty="0">
                <a:solidFill>
                  <a:srgbClr val="0E1B2A"/>
                </a:solidFill>
                <a:latin typeface="Century Schoolbook" pitchFamily="34" charset="0"/>
                <a:ea typeface="Century Schoolbook" pitchFamily="34" charset="-122"/>
                <a:cs typeface="Century Schoolbook" pitchFamily="34" charset="-120"/>
              </a:rPr>
              <a:t>Use the gap, not the headline score</a:t>
            </a:r>
            <a:endParaRPr lang="en-US" sz="1500" dirty="0"/>
          </a:p>
        </p:txBody>
      </p:sp>
      <p:sp>
        <p:nvSpPr>
          <p:cNvPr id="7" name="Text 5"/>
          <p:cNvSpPr txBox="1"/>
          <p:nvPr/>
        </p:nvSpPr>
        <p:spPr>
          <a:xfrm>
            <a:off x="1097280" y="2350008"/>
            <a:ext cx="6035040" cy="1051560"/>
          </a:xfrm>
          <a:prstGeom prst="rect">
            <a:avLst/>
          </a:prstGeom>
          <a:noFill/>
          <a:ln/>
        </p:spPr>
        <p:txBody>
          <a:bodyPr wrap="square" lIns="0" tIns="0" rIns="0" bIns="0" rtlCol="0" anchor="t"/>
          <a:lstStyle/>
          <a:p>
            <a:pPr marL="0" indent="0">
              <a:lnSpc>
                <a:spcPts val="1600"/>
              </a:lnSpc>
              <a:buNone/>
            </a:pPr>
            <a:r>
              <a:rPr lang="en-US" sz="1150" dirty="0">
                <a:solidFill>
                  <a:srgbClr val="5A6B7B"/>
                </a:solidFill>
                <a:latin typeface="Cambria" pitchFamily="34" charset="0"/>
                <a:ea typeface="Cambria" pitchFamily="34" charset="-122"/>
                <a:cs typeface="Cambria" pitchFamily="34" charset="-120"/>
              </a:rPr>
              <a:t>Measured, not asserted: median PEFA public investment management score is 1.5 of 4 across 61 economies. Thirty-five sit at or below that; only two score above 3. Public investment management is failing almost everywhere in the CCDR set.</a:t>
            </a:r>
            <a:endParaRPr lang="en-US" sz="1150" dirty="0"/>
          </a:p>
        </p:txBody>
      </p:sp>
      <p:sp>
        <p:nvSpPr>
          <p:cNvPr id="8" name="Shape 6"/>
          <p:cNvSpPr/>
          <p:nvPr/>
        </p:nvSpPr>
        <p:spPr>
          <a:xfrm>
            <a:off x="640080" y="3493008"/>
            <a:ext cx="310896" cy="310896"/>
          </a:xfrm>
          <a:prstGeom prst="rect">
            <a:avLst/>
          </a:prstGeom>
          <a:solidFill>
            <a:srgbClr val="C05621"/>
          </a:solidFill>
          <a:ln w="12700">
            <a:solidFill>
              <a:srgbClr val="333333"/>
            </a:solidFill>
            <a:prstDash val="solid"/>
          </a:ln>
        </p:spPr>
        <p:txBody>
          <a:bodyPr/>
          <a:lstStyle/>
          <a:p>
            <a:endParaRPr lang="en-US"/>
          </a:p>
        </p:txBody>
      </p:sp>
      <p:sp>
        <p:nvSpPr>
          <p:cNvPr id="9" name="Text 7"/>
          <p:cNvSpPr txBox="1"/>
          <p:nvPr/>
        </p:nvSpPr>
        <p:spPr>
          <a:xfrm>
            <a:off x="640080" y="349300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02</a:t>
            </a:r>
            <a:endParaRPr lang="en-US" sz="1200" dirty="0"/>
          </a:p>
        </p:txBody>
      </p:sp>
      <p:sp>
        <p:nvSpPr>
          <p:cNvPr id="10" name="Text 8"/>
          <p:cNvSpPr txBox="1"/>
          <p:nvPr/>
        </p:nvSpPr>
        <p:spPr>
          <a:xfrm>
            <a:off x="1097280" y="3456432"/>
            <a:ext cx="6035040" cy="320040"/>
          </a:xfrm>
          <a:prstGeom prst="rect">
            <a:avLst/>
          </a:prstGeom>
          <a:noFill/>
          <a:ln/>
        </p:spPr>
        <p:txBody>
          <a:bodyPr wrap="square" lIns="0" tIns="0" rIns="0" bIns="0" rtlCol="0" anchor="ctr"/>
          <a:lstStyle/>
          <a:p>
            <a:pPr marL="0" indent="0">
              <a:buNone/>
            </a:pPr>
            <a:r>
              <a:rPr lang="en-US" sz="1500" b="1" dirty="0">
                <a:solidFill>
                  <a:srgbClr val="0E1B2A"/>
                </a:solidFill>
                <a:latin typeface="Century Schoolbook" pitchFamily="34" charset="0"/>
                <a:ea typeface="Century Schoolbook" pitchFamily="34" charset="-122"/>
                <a:cs typeface="Century Schoolbook" pitchFamily="34" charset="-120"/>
              </a:rPr>
              <a:t>Pair institutions with execution</a:t>
            </a:r>
            <a:endParaRPr lang="en-US" sz="1500" dirty="0"/>
          </a:p>
        </p:txBody>
      </p:sp>
      <p:sp>
        <p:nvSpPr>
          <p:cNvPr id="11" name="Text 9"/>
          <p:cNvSpPr txBox="1"/>
          <p:nvPr/>
        </p:nvSpPr>
        <p:spPr>
          <a:xfrm>
            <a:off x="1097280" y="3794760"/>
            <a:ext cx="6035040" cy="1051560"/>
          </a:xfrm>
          <a:prstGeom prst="rect">
            <a:avLst/>
          </a:prstGeom>
          <a:noFill/>
          <a:ln/>
        </p:spPr>
        <p:txBody>
          <a:bodyPr wrap="square" lIns="0" tIns="0" rIns="0" bIns="0" rtlCol="0" anchor="t"/>
          <a:lstStyle/>
          <a:p>
            <a:pPr marL="0" indent="0">
              <a:lnSpc>
                <a:spcPts val="1600"/>
              </a:lnSpc>
              <a:buNone/>
            </a:pPr>
            <a:r>
              <a:rPr lang="en-US" sz="1150" dirty="0">
                <a:solidFill>
                  <a:srgbClr val="5A6B7B"/>
                </a:solidFill>
                <a:latin typeface="Cambria" pitchFamily="34" charset="0"/>
                <a:ea typeface="Cambria" pitchFamily="34" charset="-122"/>
                <a:cs typeface="Cambria" pitchFamily="34" charset="-120"/>
              </a:rPr>
              <a:t>Median capital budget execution is 87%, but eleven economies spend less than half of what they approve — Somalia 3%, The Gambia 9%, Central African Republic 10%. That is not a financing problem.</a:t>
            </a:r>
            <a:endParaRPr lang="en-US" sz="1150" dirty="0"/>
          </a:p>
        </p:txBody>
      </p:sp>
      <p:sp>
        <p:nvSpPr>
          <p:cNvPr id="12" name="Shape 10"/>
          <p:cNvSpPr/>
          <p:nvPr/>
        </p:nvSpPr>
        <p:spPr>
          <a:xfrm>
            <a:off x="640080" y="4937760"/>
            <a:ext cx="310896" cy="310896"/>
          </a:xfrm>
          <a:prstGeom prst="rect">
            <a:avLst/>
          </a:prstGeom>
          <a:solidFill>
            <a:srgbClr val="C05621"/>
          </a:solidFill>
          <a:ln w="12700">
            <a:solidFill>
              <a:srgbClr val="333333"/>
            </a:solidFill>
            <a:prstDash val="solid"/>
          </a:ln>
        </p:spPr>
        <p:txBody>
          <a:bodyPr/>
          <a:lstStyle/>
          <a:p>
            <a:endParaRPr lang="en-US"/>
          </a:p>
        </p:txBody>
      </p:sp>
      <p:sp>
        <p:nvSpPr>
          <p:cNvPr id="13" name="Text 11"/>
          <p:cNvSpPr txBox="1"/>
          <p:nvPr/>
        </p:nvSpPr>
        <p:spPr>
          <a:xfrm>
            <a:off x="640080" y="493776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Schoolbook" pitchFamily="34" charset="0"/>
                <a:ea typeface="Century Schoolbook" pitchFamily="34" charset="-122"/>
                <a:cs typeface="Century Schoolbook" pitchFamily="34" charset="-120"/>
              </a:rPr>
              <a:t>03</a:t>
            </a:r>
            <a:endParaRPr lang="en-US" sz="1200" dirty="0"/>
          </a:p>
        </p:txBody>
      </p:sp>
      <p:sp>
        <p:nvSpPr>
          <p:cNvPr id="14" name="Text 12"/>
          <p:cNvSpPr txBox="1"/>
          <p:nvPr/>
        </p:nvSpPr>
        <p:spPr>
          <a:xfrm>
            <a:off x="1097280" y="4901184"/>
            <a:ext cx="6035040" cy="320040"/>
          </a:xfrm>
          <a:prstGeom prst="rect">
            <a:avLst/>
          </a:prstGeom>
          <a:noFill/>
          <a:ln/>
        </p:spPr>
        <p:txBody>
          <a:bodyPr wrap="square" lIns="0" tIns="0" rIns="0" bIns="0" rtlCol="0" anchor="ctr"/>
          <a:lstStyle/>
          <a:p>
            <a:pPr marL="0" indent="0">
              <a:buNone/>
            </a:pPr>
            <a:r>
              <a:rPr lang="en-US" sz="1500" b="1" dirty="0">
                <a:solidFill>
                  <a:srgbClr val="0E1B2A"/>
                </a:solidFill>
                <a:latin typeface="Century Schoolbook" pitchFamily="34" charset="0"/>
                <a:ea typeface="Century Schoolbook" pitchFamily="34" charset="-122"/>
                <a:cs typeface="Century Schoolbook" pitchFamily="34" charset="-120"/>
              </a:rPr>
              <a:t>Reform is finance at negative cost</a:t>
            </a:r>
            <a:endParaRPr lang="en-US" sz="1500" dirty="0"/>
          </a:p>
        </p:txBody>
      </p:sp>
      <p:sp>
        <p:nvSpPr>
          <p:cNvPr id="15" name="Text 13"/>
          <p:cNvSpPr txBox="1"/>
          <p:nvPr/>
        </p:nvSpPr>
        <p:spPr>
          <a:xfrm>
            <a:off x="1097280" y="5239512"/>
            <a:ext cx="6035040" cy="1051560"/>
          </a:xfrm>
          <a:prstGeom prst="rect">
            <a:avLst/>
          </a:prstGeom>
          <a:noFill/>
          <a:ln/>
        </p:spPr>
        <p:txBody>
          <a:bodyPr wrap="square" lIns="0" tIns="0" rIns="0" bIns="0" rtlCol="0" anchor="t"/>
          <a:lstStyle/>
          <a:p>
            <a:pPr marL="0" indent="0">
              <a:lnSpc>
                <a:spcPts val="1600"/>
              </a:lnSpc>
              <a:buNone/>
            </a:pPr>
            <a:r>
              <a:rPr lang="en-US" sz="1150" dirty="0">
                <a:solidFill>
                  <a:srgbClr val="5A6B7B"/>
                </a:solidFill>
                <a:latin typeface="Cambria" pitchFamily="34" charset="0"/>
                <a:ea typeface="Cambria" pitchFamily="34" charset="-122"/>
                <a:cs typeface="Cambria" pitchFamily="34" charset="-120"/>
              </a:rPr>
              <a:t>Closing part of the efficiency loss delivers assets without incremental borrowing. It belongs in the financing options table, not in a governance annex.</a:t>
            </a:r>
            <a:endParaRPr lang="en-US" sz="1150" dirty="0"/>
          </a:p>
        </p:txBody>
      </p:sp>
      <p:sp>
        <p:nvSpPr>
          <p:cNvPr id="16" name="Shape 14"/>
          <p:cNvSpPr/>
          <p:nvPr/>
        </p:nvSpPr>
        <p:spPr>
          <a:xfrm>
            <a:off x="7360920" y="1965960"/>
            <a:ext cx="4160520" cy="3246120"/>
          </a:xfrm>
          <a:prstGeom prst="rect">
            <a:avLst/>
          </a:prstGeom>
          <a:solidFill>
            <a:srgbClr val="F4F6F8"/>
          </a:solidFill>
          <a:ln w="12700">
            <a:solidFill>
              <a:srgbClr val="333333"/>
            </a:solidFill>
            <a:prstDash val="solid"/>
          </a:ln>
        </p:spPr>
        <p:txBody>
          <a:bodyPr/>
          <a:lstStyle/>
          <a:p>
            <a:endParaRPr lang="en-US"/>
          </a:p>
        </p:txBody>
      </p:sp>
      <p:sp>
        <p:nvSpPr>
          <p:cNvPr id="17" name="Text 15"/>
          <p:cNvSpPr txBox="1"/>
          <p:nvPr/>
        </p:nvSpPr>
        <p:spPr>
          <a:xfrm>
            <a:off x="7680960" y="2240280"/>
            <a:ext cx="3520440" cy="228600"/>
          </a:xfrm>
          <a:prstGeom prst="rect">
            <a:avLst/>
          </a:prstGeom>
          <a:noFill/>
          <a:ln/>
        </p:spPr>
        <p:txBody>
          <a:bodyPr wrap="square" lIns="0" tIns="0" rIns="0" bIns="0" rtlCol="0" anchor="ctr"/>
          <a:lstStyle/>
          <a:p>
            <a:pPr marL="0" indent="0">
              <a:buNone/>
            </a:pPr>
            <a:r>
              <a:rPr lang="en-US" sz="900" b="1" kern="0" spc="150" dirty="0">
                <a:solidFill>
                  <a:srgbClr val="C05621"/>
                </a:solidFill>
                <a:latin typeface="Cambria" pitchFamily="34" charset="0"/>
                <a:ea typeface="Cambria" pitchFamily="34" charset="-122"/>
                <a:cs typeface="Cambria" pitchFamily="34" charset="-120"/>
              </a:rPr>
              <a:t>THE DIAGNOSTIC SIGNAL</a:t>
            </a:r>
            <a:endParaRPr lang="en-US" sz="900" dirty="0"/>
          </a:p>
        </p:txBody>
      </p:sp>
      <p:sp>
        <p:nvSpPr>
          <p:cNvPr id="18" name="Text 16"/>
          <p:cNvSpPr txBox="1"/>
          <p:nvPr/>
        </p:nvSpPr>
        <p:spPr>
          <a:xfrm>
            <a:off x="7680960" y="2743200"/>
            <a:ext cx="3520440" cy="256032"/>
          </a:xfrm>
          <a:prstGeom prst="rect">
            <a:avLst/>
          </a:prstGeom>
          <a:noFill/>
          <a:ln/>
        </p:spPr>
        <p:txBody>
          <a:bodyPr wrap="square" lIns="0" tIns="0" rIns="0" bIns="0" rtlCol="0" anchor="ctr"/>
          <a:lstStyle/>
          <a:p>
            <a:pPr marL="0" indent="0">
              <a:buNone/>
            </a:pPr>
            <a:r>
              <a:rPr lang="en-US" sz="1100" b="1" dirty="0">
                <a:solidFill>
                  <a:srgbClr val="0E1B2A"/>
                </a:solidFill>
                <a:latin typeface="Cambria" pitchFamily="34" charset="0"/>
                <a:ea typeface="Cambria" pitchFamily="34" charset="-122"/>
                <a:cs typeface="Cambria" pitchFamily="34" charset="-120"/>
              </a:rPr>
              <a:t>Institutional design</a:t>
            </a:r>
            <a:endParaRPr lang="en-US" sz="1100" dirty="0"/>
          </a:p>
        </p:txBody>
      </p:sp>
      <p:sp>
        <p:nvSpPr>
          <p:cNvPr id="19" name="Shape 17"/>
          <p:cNvSpPr/>
          <p:nvPr/>
        </p:nvSpPr>
        <p:spPr>
          <a:xfrm>
            <a:off x="7680960" y="3035808"/>
            <a:ext cx="3520440" cy="237744"/>
          </a:xfrm>
          <a:prstGeom prst="rect">
            <a:avLst/>
          </a:prstGeom>
          <a:solidFill>
            <a:srgbClr val="E4E9ED"/>
          </a:solidFill>
          <a:ln w="12700">
            <a:solidFill>
              <a:srgbClr val="333333"/>
            </a:solidFill>
            <a:prstDash val="solid"/>
          </a:ln>
        </p:spPr>
        <p:txBody>
          <a:bodyPr/>
          <a:lstStyle/>
          <a:p>
            <a:endParaRPr lang="en-US"/>
          </a:p>
        </p:txBody>
      </p:sp>
      <p:sp>
        <p:nvSpPr>
          <p:cNvPr id="20" name="Shape 18"/>
          <p:cNvSpPr/>
          <p:nvPr/>
        </p:nvSpPr>
        <p:spPr>
          <a:xfrm>
            <a:off x="7680960" y="3035808"/>
            <a:ext cx="2743200" cy="237744"/>
          </a:xfrm>
          <a:prstGeom prst="rect">
            <a:avLst/>
          </a:prstGeom>
          <a:solidFill>
            <a:srgbClr val="1F6F6B"/>
          </a:solidFill>
          <a:ln w="12700">
            <a:solidFill>
              <a:srgbClr val="333333"/>
            </a:solidFill>
            <a:prstDash val="solid"/>
          </a:ln>
        </p:spPr>
        <p:txBody>
          <a:bodyPr/>
          <a:lstStyle/>
          <a:p>
            <a:endParaRPr lang="en-US"/>
          </a:p>
        </p:txBody>
      </p:sp>
      <p:sp>
        <p:nvSpPr>
          <p:cNvPr id="21" name="Text 19"/>
          <p:cNvSpPr txBox="1"/>
          <p:nvPr/>
        </p:nvSpPr>
        <p:spPr>
          <a:xfrm>
            <a:off x="7680960" y="3611880"/>
            <a:ext cx="3520440" cy="256032"/>
          </a:xfrm>
          <a:prstGeom prst="rect">
            <a:avLst/>
          </a:prstGeom>
          <a:noFill/>
          <a:ln/>
        </p:spPr>
        <p:txBody>
          <a:bodyPr wrap="square" lIns="0" tIns="0" rIns="0" bIns="0" rtlCol="0" anchor="ctr"/>
          <a:lstStyle/>
          <a:p>
            <a:pPr marL="0" indent="0">
              <a:buNone/>
            </a:pPr>
            <a:r>
              <a:rPr lang="en-US" sz="1100" b="1" dirty="0">
                <a:solidFill>
                  <a:srgbClr val="0E1B2A"/>
                </a:solidFill>
                <a:latin typeface="Cambria" pitchFamily="34" charset="0"/>
                <a:ea typeface="Cambria" pitchFamily="34" charset="-122"/>
                <a:cs typeface="Cambria" pitchFamily="34" charset="-120"/>
              </a:rPr>
              <a:t>Effectiveness in practice</a:t>
            </a:r>
            <a:endParaRPr lang="en-US" sz="1100" dirty="0"/>
          </a:p>
        </p:txBody>
      </p:sp>
      <p:sp>
        <p:nvSpPr>
          <p:cNvPr id="22" name="Shape 20"/>
          <p:cNvSpPr/>
          <p:nvPr/>
        </p:nvSpPr>
        <p:spPr>
          <a:xfrm>
            <a:off x="7680960" y="3904488"/>
            <a:ext cx="3520440" cy="237744"/>
          </a:xfrm>
          <a:prstGeom prst="rect">
            <a:avLst/>
          </a:prstGeom>
          <a:solidFill>
            <a:srgbClr val="E4E9ED"/>
          </a:solidFill>
          <a:ln w="12700">
            <a:solidFill>
              <a:srgbClr val="333333"/>
            </a:solidFill>
            <a:prstDash val="solid"/>
          </a:ln>
        </p:spPr>
        <p:txBody>
          <a:bodyPr/>
          <a:lstStyle/>
          <a:p>
            <a:endParaRPr lang="en-US"/>
          </a:p>
        </p:txBody>
      </p:sp>
      <p:sp>
        <p:nvSpPr>
          <p:cNvPr id="23" name="Shape 21"/>
          <p:cNvSpPr/>
          <p:nvPr/>
        </p:nvSpPr>
        <p:spPr>
          <a:xfrm>
            <a:off x="7680960" y="3904488"/>
            <a:ext cx="1417320" cy="237744"/>
          </a:xfrm>
          <a:prstGeom prst="rect">
            <a:avLst/>
          </a:prstGeom>
          <a:solidFill>
            <a:srgbClr val="C05621"/>
          </a:solidFill>
          <a:ln w="12700">
            <a:solidFill>
              <a:srgbClr val="333333"/>
            </a:solidFill>
            <a:prstDash val="solid"/>
          </a:ln>
        </p:spPr>
        <p:txBody>
          <a:bodyPr/>
          <a:lstStyle/>
          <a:p>
            <a:endParaRPr lang="en-US"/>
          </a:p>
        </p:txBody>
      </p:sp>
      <p:sp>
        <p:nvSpPr>
          <p:cNvPr id="24" name="Text 22"/>
          <p:cNvSpPr txBox="1"/>
          <p:nvPr/>
        </p:nvSpPr>
        <p:spPr>
          <a:xfrm>
            <a:off x="7680960" y="4480560"/>
            <a:ext cx="3520440" cy="640080"/>
          </a:xfrm>
          <a:prstGeom prst="rect">
            <a:avLst/>
          </a:prstGeom>
          <a:noFill/>
          <a:ln/>
        </p:spPr>
        <p:txBody>
          <a:bodyPr wrap="square" lIns="0" tIns="0" rIns="0" bIns="0" rtlCol="0" anchor="ctr"/>
          <a:lstStyle/>
          <a:p>
            <a:pPr marL="0" indent="0">
              <a:lnSpc>
                <a:spcPts val="1500"/>
              </a:lnSpc>
              <a:buNone/>
            </a:pPr>
            <a:r>
              <a:rPr lang="en-US" sz="1100" i="1" dirty="0">
                <a:solidFill>
                  <a:srgbClr val="5A6B7B"/>
                </a:solidFill>
                <a:latin typeface="Cambria" pitchFamily="34" charset="0"/>
                <a:ea typeface="Cambria" pitchFamily="34" charset="-122"/>
                <a:cs typeface="Cambria" pitchFamily="34" charset="-120"/>
              </a:rPr>
              <a:t>The distance between the two bars is the whole finding: it tells you whether to write a law or to build a capability.</a:t>
            </a:r>
            <a:endParaRPr lang="en-US" sz="1100" dirty="0"/>
          </a:p>
        </p:txBody>
      </p:sp>
      <p:sp>
        <p:nvSpPr>
          <p:cNvPr id="25" name="Text 23"/>
          <p:cNvSpPr txBox="1"/>
          <p:nvPr/>
        </p:nvSpPr>
        <p:spPr>
          <a:xfrm>
            <a:off x="7360920" y="5321808"/>
            <a:ext cx="4160520" cy="274320"/>
          </a:xfrm>
          <a:prstGeom prst="rect">
            <a:avLst/>
          </a:prstGeom>
          <a:noFill/>
          <a:ln/>
        </p:spPr>
        <p:txBody>
          <a:bodyPr wrap="square" lIns="0" tIns="0" rIns="0" bIns="0" rtlCol="0" anchor="ctr"/>
          <a:lstStyle/>
          <a:p>
            <a:pPr marL="0" indent="0" algn="l">
              <a:buNone/>
            </a:pPr>
            <a:r>
              <a:rPr lang="en-US" sz="950" dirty="0">
                <a:solidFill>
                  <a:srgbClr val="93A0AC"/>
                </a:solidFill>
                <a:latin typeface="Cambria" pitchFamily="34" charset="0"/>
                <a:ea typeface="Cambria" pitchFamily="34" charset="-122"/>
                <a:cs typeface="Cambria" pitchFamily="34" charset="-120"/>
              </a:rPr>
              <a:t>PEFA PI-11, 61 economies. Median 1.5 of 4.</a:t>
            </a:r>
            <a:endParaRPr lang="en-US" sz="950" dirty="0"/>
          </a:p>
        </p:txBody>
      </p:sp>
      <p:sp>
        <p:nvSpPr>
          <p:cNvPr id="26" name="Text 24"/>
          <p:cNvSpPr txBox="1"/>
          <p:nvPr/>
        </p:nvSpPr>
        <p:spPr>
          <a:xfrm>
            <a:off x="640080" y="6272784"/>
            <a:ext cx="10881360" cy="274320"/>
          </a:xfrm>
          <a:prstGeom prst="rect">
            <a:avLst/>
          </a:prstGeom>
          <a:noFill/>
          <a:ln/>
        </p:spPr>
        <p:txBody>
          <a:bodyPr wrap="square" lIns="0" tIns="0" rIns="0" bIns="0" rtlCol="0" anchor="ctr"/>
          <a:lstStyle/>
          <a:p>
            <a:pPr marL="0" indent="0" algn="l">
              <a:buNone/>
            </a:pPr>
            <a:r>
              <a:rPr lang="en-US" sz="900" dirty="0">
                <a:solidFill>
                  <a:srgbClr val="93A0AC"/>
                </a:solidFill>
                <a:latin typeface="Cambria" pitchFamily="34" charset="0"/>
                <a:ea typeface="Cambria" pitchFamily="34" charset="-122"/>
                <a:cs typeface="Cambria" pitchFamily="34" charset="-120"/>
              </a:rPr>
              <a:t>PEFA rather than C-PIMA: PEFA scores are published by default, C-PIMA only with country consent, so the published C-PIMA subsample self-selects toward stronger performers.</a:t>
            </a:r>
            <a:endParaRPr lang="en-US" sz="900" dirty="0"/>
          </a:p>
        </p:txBody>
      </p:sp>
      <p:sp>
        <p:nvSpPr>
          <p:cNvPr id="27" name="Text 25"/>
          <p:cNvSpPr txBox="1"/>
          <p:nvPr/>
        </p:nvSpPr>
        <p:spPr>
          <a:xfrm>
            <a:off x="11338560" y="6272784"/>
            <a:ext cx="365760" cy="274320"/>
          </a:xfrm>
          <a:prstGeom prst="rect">
            <a:avLst/>
          </a:prstGeom>
          <a:noFill/>
          <a:ln/>
        </p:spPr>
        <p:txBody>
          <a:bodyPr wrap="square" lIns="0" tIns="0" rIns="0" bIns="0" rtlCol="0" anchor="ctr"/>
          <a:lstStyle/>
          <a:p>
            <a:pPr marL="0" indent="0" algn="r">
              <a:buNone/>
            </a:pPr>
            <a:r>
              <a:rPr lang="en-US" sz="900" dirty="0">
                <a:solidFill>
                  <a:srgbClr val="93A0AC"/>
                </a:solidFill>
                <a:latin typeface="Cambria" pitchFamily="34" charset="0"/>
                <a:ea typeface="Cambria" pitchFamily="34" charset="-122"/>
                <a:cs typeface="Cambria"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84048"/>
            <a:ext cx="10881360" cy="228600"/>
          </a:xfrm>
          <a:prstGeom prst="rect">
            <a:avLst/>
          </a:prstGeom>
          <a:noFill/>
          <a:ln/>
        </p:spPr>
        <p:txBody>
          <a:bodyPr wrap="square" lIns="0" tIns="0" rIns="0" bIns="0" rtlCol="0" anchor="ctr"/>
          <a:lstStyle/>
          <a:p>
            <a:pPr marL="0" indent="0" algn="l">
              <a:buNone/>
            </a:pPr>
            <a:r>
              <a:rPr lang="en-US" sz="1000" b="1" kern="0" spc="200" dirty="0">
                <a:solidFill>
                  <a:srgbClr val="C05621"/>
                </a:solidFill>
                <a:latin typeface="Cambria" pitchFamily="34" charset="0"/>
                <a:ea typeface="Cambria" pitchFamily="34" charset="-122"/>
                <a:cs typeface="Cambria" pitchFamily="34" charset="-120"/>
              </a:rPr>
              <a:t>04  ·  PRICE</a:t>
            </a:r>
            <a:endParaRPr lang="en-US" sz="1000" dirty="0"/>
          </a:p>
        </p:txBody>
      </p:sp>
      <p:sp>
        <p:nvSpPr>
          <p:cNvPr id="3" name="Text 1"/>
          <p:cNvSpPr txBox="1"/>
          <p:nvPr/>
        </p:nvSpPr>
        <p:spPr>
          <a:xfrm>
            <a:off x="640080" y="713232"/>
            <a:ext cx="10881360" cy="868680"/>
          </a:xfrm>
          <a:prstGeom prst="rect">
            <a:avLst/>
          </a:prstGeom>
          <a:noFill/>
          <a:ln/>
        </p:spPr>
        <p:txBody>
          <a:bodyPr wrap="square" lIns="0" tIns="0" rIns="0" bIns="0" rtlCol="0" anchor="t"/>
          <a:lstStyle/>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Derisking is a fiscal act: each instrument removes</a:t>
            </a:r>
            <a:endParaRPr lang="en-US" sz="2700" dirty="0"/>
          </a:p>
          <a:p>
            <a:pPr marL="0" indent="0" algn="l">
              <a:lnSpc>
                <a:spcPts val="3200"/>
              </a:lnSpc>
              <a:buNone/>
            </a:pPr>
            <a:r>
              <a:rPr lang="en-US" sz="2700" b="1" dirty="0">
                <a:solidFill>
                  <a:srgbClr val="0E1B2A"/>
                </a:solidFill>
                <a:latin typeface="Century Schoolbook" pitchFamily="34" charset="0"/>
                <a:ea typeface="Century Schoolbook" pitchFamily="34" charset="-122"/>
                <a:cs typeface="Century Schoolbook" pitchFamily="34" charset="-120"/>
              </a:rPr>
              <a:t>a risk and leaves a liability behind</a:t>
            </a:r>
            <a:endParaRPr lang="en-US" sz="2700" dirty="0"/>
          </a:p>
        </p:txBody>
      </p:sp>
      <p:sp>
        <p:nvSpPr>
          <p:cNvPr id="4" name="Text 2"/>
          <p:cNvSpPr txBox="1"/>
          <p:nvPr/>
        </p:nvSpPr>
        <p:spPr>
          <a:xfrm>
            <a:off x="640080" y="1755648"/>
            <a:ext cx="10881360" cy="365760"/>
          </a:xfrm>
          <a:prstGeom prst="rect">
            <a:avLst/>
          </a:prstGeom>
          <a:noFill/>
          <a:ln/>
        </p:spPr>
        <p:txBody>
          <a:bodyPr wrap="square" lIns="0" tIns="0" rIns="0" bIns="0" rtlCol="0" anchor="ctr"/>
          <a:lstStyle/>
          <a:p>
            <a:pPr marL="0" indent="0" algn="l">
              <a:buNone/>
            </a:pPr>
            <a:r>
              <a:rPr lang="en-US" sz="1300" i="1" dirty="0">
                <a:solidFill>
                  <a:srgbClr val="5A6B7B"/>
                </a:solidFill>
                <a:latin typeface="Cambria" pitchFamily="34" charset="0"/>
                <a:ea typeface="Cambria" pitchFamily="34" charset="-122"/>
                <a:cs typeface="Cambria" pitchFamily="34" charset="-120"/>
              </a:rPr>
              <a:t>The menu is well known. What is usually missing is the mapping from country constraint to instrument, and the price the budget pays for it.</a:t>
            </a:r>
            <a:endParaRPr lang="en-US" sz="1300" dirty="0"/>
          </a:p>
        </p:txBody>
      </p:sp>
      <p:sp>
        <p:nvSpPr>
          <p:cNvPr id="5" name="Text 3"/>
          <p:cNvSpPr txBox="1"/>
          <p:nvPr/>
        </p:nvSpPr>
        <p:spPr>
          <a:xfrm>
            <a:off x="640080" y="2212848"/>
            <a:ext cx="4206240" cy="256032"/>
          </a:xfrm>
          <a:prstGeom prst="rect">
            <a:avLst/>
          </a:prstGeom>
          <a:noFill/>
          <a:ln/>
        </p:spPr>
        <p:txBody>
          <a:bodyPr wrap="square" lIns="0" tIns="0" rIns="0" bIns="0" rtlCol="0" anchor="ctr"/>
          <a:lstStyle/>
          <a:p>
            <a:pPr marL="0" indent="0">
              <a:buNone/>
            </a:pPr>
            <a:r>
              <a:rPr lang="en-US" sz="900" b="1" kern="0" spc="120" dirty="0">
                <a:solidFill>
                  <a:srgbClr val="C05621"/>
                </a:solidFill>
                <a:latin typeface="Cambria" pitchFamily="34" charset="0"/>
                <a:ea typeface="Cambria" pitchFamily="34" charset="-122"/>
                <a:cs typeface="Cambria" pitchFamily="34" charset="-120"/>
              </a:rPr>
              <a:t>INSTRUMENT</a:t>
            </a:r>
            <a:endParaRPr lang="en-US" sz="900" dirty="0"/>
          </a:p>
        </p:txBody>
      </p:sp>
      <p:sp>
        <p:nvSpPr>
          <p:cNvPr id="6" name="Text 4"/>
          <p:cNvSpPr txBox="1"/>
          <p:nvPr/>
        </p:nvSpPr>
        <p:spPr>
          <a:xfrm>
            <a:off x="5120640" y="2212848"/>
            <a:ext cx="3200400" cy="256032"/>
          </a:xfrm>
          <a:prstGeom prst="rect">
            <a:avLst/>
          </a:prstGeom>
          <a:noFill/>
          <a:ln/>
        </p:spPr>
        <p:txBody>
          <a:bodyPr wrap="square" lIns="0" tIns="0" rIns="0" bIns="0" rtlCol="0" anchor="ctr"/>
          <a:lstStyle/>
          <a:p>
            <a:pPr marL="0" indent="0">
              <a:buNone/>
            </a:pPr>
            <a:r>
              <a:rPr lang="en-US" sz="900" b="1" kern="0" spc="120" dirty="0">
                <a:solidFill>
                  <a:srgbClr val="C05621"/>
                </a:solidFill>
                <a:latin typeface="Cambria" pitchFamily="34" charset="0"/>
                <a:ea typeface="Cambria" pitchFamily="34" charset="-122"/>
                <a:cs typeface="Cambria" pitchFamily="34" charset="-120"/>
              </a:rPr>
              <a:t>RISK IT REMOVES</a:t>
            </a:r>
            <a:endParaRPr lang="en-US" sz="900" dirty="0"/>
          </a:p>
        </p:txBody>
      </p:sp>
      <p:sp>
        <p:nvSpPr>
          <p:cNvPr id="7" name="Text 5"/>
          <p:cNvSpPr txBox="1"/>
          <p:nvPr/>
        </p:nvSpPr>
        <p:spPr>
          <a:xfrm>
            <a:off x="8458200" y="2212848"/>
            <a:ext cx="3063240" cy="256032"/>
          </a:xfrm>
          <a:prstGeom prst="rect">
            <a:avLst/>
          </a:prstGeom>
          <a:noFill/>
          <a:ln/>
        </p:spPr>
        <p:txBody>
          <a:bodyPr wrap="square" lIns="0" tIns="0" rIns="0" bIns="0" rtlCol="0" anchor="ctr"/>
          <a:lstStyle/>
          <a:p>
            <a:pPr marL="0" indent="0">
              <a:buNone/>
            </a:pPr>
            <a:r>
              <a:rPr lang="en-US" sz="900" b="1" kern="0" spc="120" dirty="0">
                <a:solidFill>
                  <a:srgbClr val="C05621"/>
                </a:solidFill>
                <a:latin typeface="Cambria" pitchFamily="34" charset="0"/>
                <a:ea typeface="Cambria" pitchFamily="34" charset="-122"/>
                <a:cs typeface="Cambria" pitchFamily="34" charset="-120"/>
              </a:rPr>
              <a:t>WHAT THE BUDGET CARRIES</a:t>
            </a:r>
            <a:endParaRPr lang="en-US" sz="900" dirty="0"/>
          </a:p>
        </p:txBody>
      </p:sp>
      <p:sp>
        <p:nvSpPr>
          <p:cNvPr id="8" name="Shape 6"/>
          <p:cNvSpPr/>
          <p:nvPr/>
        </p:nvSpPr>
        <p:spPr>
          <a:xfrm>
            <a:off x="640080" y="2523744"/>
            <a:ext cx="10881360" cy="0"/>
          </a:xfrm>
          <a:prstGeom prst="line">
            <a:avLst/>
          </a:prstGeom>
          <a:noFill/>
          <a:ln w="9525">
            <a:solidFill>
              <a:srgbClr val="DCE1E6"/>
            </a:solidFill>
            <a:prstDash val="solid"/>
          </a:ln>
        </p:spPr>
        <p:txBody>
          <a:bodyPr/>
          <a:lstStyle/>
          <a:p>
            <a:endParaRPr lang="en-US"/>
          </a:p>
        </p:txBody>
      </p:sp>
      <p:sp>
        <p:nvSpPr>
          <p:cNvPr id="9" name="Text 7"/>
          <p:cNvSpPr txBox="1"/>
          <p:nvPr/>
        </p:nvSpPr>
        <p:spPr>
          <a:xfrm>
            <a:off x="640080" y="2615184"/>
            <a:ext cx="4206240" cy="402336"/>
          </a:xfrm>
          <a:prstGeom prst="rect">
            <a:avLst/>
          </a:prstGeom>
          <a:noFill/>
          <a:ln/>
        </p:spPr>
        <p:txBody>
          <a:bodyPr wrap="square" lIns="0" tIns="0" rIns="0" bIns="0" rtlCol="0" anchor="ctr"/>
          <a:lstStyle/>
          <a:p>
            <a:pPr marL="0" indent="0">
              <a:lnSpc>
                <a:spcPts val="1500"/>
              </a:lnSpc>
              <a:buNone/>
            </a:pPr>
            <a:r>
              <a:rPr lang="en-US" sz="1150" b="1" dirty="0">
                <a:solidFill>
                  <a:srgbClr val="0E1B2A"/>
                </a:solidFill>
                <a:latin typeface="Cambria" pitchFamily="34" charset="0"/>
                <a:ea typeface="Cambria" pitchFamily="34" charset="-122"/>
                <a:cs typeface="Cambria" pitchFamily="34" charset="-120"/>
              </a:rPr>
              <a:t>Local currency and FX hedging facilities</a:t>
            </a:r>
            <a:endParaRPr lang="en-US" sz="1150" dirty="0"/>
          </a:p>
        </p:txBody>
      </p:sp>
      <p:sp>
        <p:nvSpPr>
          <p:cNvPr id="10" name="Text 8"/>
          <p:cNvSpPr txBox="1"/>
          <p:nvPr/>
        </p:nvSpPr>
        <p:spPr>
          <a:xfrm>
            <a:off x="5120640" y="2615184"/>
            <a:ext cx="320040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Currency mismatch on long-dated assets</a:t>
            </a:r>
            <a:endParaRPr lang="en-US" sz="1150" dirty="0"/>
          </a:p>
        </p:txBody>
      </p:sp>
      <p:sp>
        <p:nvSpPr>
          <p:cNvPr id="11" name="Text 9"/>
          <p:cNvSpPr txBox="1"/>
          <p:nvPr/>
        </p:nvSpPr>
        <p:spPr>
          <a:xfrm>
            <a:off x="8458200" y="2615184"/>
            <a:ext cx="306324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Low direct cost; facility capitalization</a:t>
            </a:r>
            <a:endParaRPr lang="en-US" sz="1150" dirty="0"/>
          </a:p>
        </p:txBody>
      </p:sp>
      <p:sp>
        <p:nvSpPr>
          <p:cNvPr id="12" name="Shape 10"/>
          <p:cNvSpPr/>
          <p:nvPr/>
        </p:nvSpPr>
        <p:spPr>
          <a:xfrm>
            <a:off x="640080" y="3044952"/>
            <a:ext cx="10881360" cy="0"/>
          </a:xfrm>
          <a:prstGeom prst="line">
            <a:avLst/>
          </a:prstGeom>
          <a:noFill/>
          <a:ln w="9525">
            <a:solidFill>
              <a:srgbClr val="DCE1E6"/>
            </a:solidFill>
            <a:prstDash val="solid"/>
          </a:ln>
        </p:spPr>
        <p:txBody>
          <a:bodyPr/>
          <a:lstStyle/>
          <a:p>
            <a:endParaRPr lang="en-US"/>
          </a:p>
        </p:txBody>
      </p:sp>
      <p:sp>
        <p:nvSpPr>
          <p:cNvPr id="13" name="Text 11"/>
          <p:cNvSpPr txBox="1"/>
          <p:nvPr/>
        </p:nvSpPr>
        <p:spPr>
          <a:xfrm>
            <a:off x="640080" y="3090672"/>
            <a:ext cx="4206240" cy="402336"/>
          </a:xfrm>
          <a:prstGeom prst="rect">
            <a:avLst/>
          </a:prstGeom>
          <a:noFill/>
          <a:ln/>
        </p:spPr>
        <p:txBody>
          <a:bodyPr wrap="square" lIns="0" tIns="0" rIns="0" bIns="0" rtlCol="0" anchor="ctr"/>
          <a:lstStyle/>
          <a:p>
            <a:pPr marL="0" indent="0">
              <a:lnSpc>
                <a:spcPts val="1500"/>
              </a:lnSpc>
              <a:buNone/>
            </a:pPr>
            <a:r>
              <a:rPr lang="en-US" sz="1150" b="1" dirty="0">
                <a:solidFill>
                  <a:srgbClr val="0E1B2A"/>
                </a:solidFill>
                <a:latin typeface="Cambria" pitchFamily="34" charset="0"/>
                <a:ea typeface="Cambria" pitchFamily="34" charset="-122"/>
                <a:cs typeface="Cambria" pitchFamily="34" charset="-120"/>
              </a:rPr>
              <a:t>Partial risk and credit guarantees</a:t>
            </a:r>
            <a:endParaRPr lang="en-US" sz="1150" dirty="0"/>
          </a:p>
        </p:txBody>
      </p:sp>
      <p:sp>
        <p:nvSpPr>
          <p:cNvPr id="14" name="Text 12"/>
          <p:cNvSpPr txBox="1"/>
          <p:nvPr/>
        </p:nvSpPr>
        <p:spPr>
          <a:xfrm>
            <a:off x="5120640" y="3090672"/>
            <a:ext cx="320040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Offtaker and payment default risk</a:t>
            </a:r>
            <a:endParaRPr lang="en-US" sz="1150" dirty="0"/>
          </a:p>
        </p:txBody>
      </p:sp>
      <p:sp>
        <p:nvSpPr>
          <p:cNvPr id="15" name="Text 13"/>
          <p:cNvSpPr txBox="1"/>
          <p:nvPr/>
        </p:nvSpPr>
        <p:spPr>
          <a:xfrm>
            <a:off x="8458200" y="3090672"/>
            <a:ext cx="306324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Contingent liability; needs disclosure</a:t>
            </a:r>
            <a:endParaRPr lang="en-US" sz="1150" dirty="0"/>
          </a:p>
        </p:txBody>
      </p:sp>
      <p:sp>
        <p:nvSpPr>
          <p:cNvPr id="16" name="Shape 14"/>
          <p:cNvSpPr/>
          <p:nvPr/>
        </p:nvSpPr>
        <p:spPr>
          <a:xfrm>
            <a:off x="640080" y="3520440"/>
            <a:ext cx="10881360" cy="0"/>
          </a:xfrm>
          <a:prstGeom prst="line">
            <a:avLst/>
          </a:prstGeom>
          <a:noFill/>
          <a:ln w="9525">
            <a:solidFill>
              <a:srgbClr val="DCE1E6"/>
            </a:solidFill>
            <a:prstDash val="solid"/>
          </a:ln>
        </p:spPr>
        <p:txBody>
          <a:bodyPr/>
          <a:lstStyle/>
          <a:p>
            <a:endParaRPr lang="en-US"/>
          </a:p>
        </p:txBody>
      </p:sp>
      <p:sp>
        <p:nvSpPr>
          <p:cNvPr id="17" name="Text 15"/>
          <p:cNvSpPr txBox="1"/>
          <p:nvPr/>
        </p:nvSpPr>
        <p:spPr>
          <a:xfrm>
            <a:off x="640080" y="3566160"/>
            <a:ext cx="4206240" cy="402336"/>
          </a:xfrm>
          <a:prstGeom prst="rect">
            <a:avLst/>
          </a:prstGeom>
          <a:noFill/>
          <a:ln/>
        </p:spPr>
        <p:txBody>
          <a:bodyPr wrap="square" lIns="0" tIns="0" rIns="0" bIns="0" rtlCol="0" anchor="ctr"/>
          <a:lstStyle/>
          <a:p>
            <a:pPr marL="0" indent="0">
              <a:lnSpc>
                <a:spcPts val="1500"/>
              </a:lnSpc>
              <a:buNone/>
            </a:pPr>
            <a:r>
              <a:rPr lang="en-US" sz="1150" b="1" dirty="0">
                <a:solidFill>
                  <a:srgbClr val="0E1B2A"/>
                </a:solidFill>
                <a:latin typeface="Cambria" pitchFamily="34" charset="0"/>
                <a:ea typeface="Cambria" pitchFamily="34" charset="-122"/>
                <a:cs typeface="Cambria" pitchFamily="34" charset="-120"/>
              </a:rPr>
              <a:t>First-loss and blended concessional layers</a:t>
            </a:r>
            <a:endParaRPr lang="en-US" sz="1150" dirty="0"/>
          </a:p>
        </p:txBody>
      </p:sp>
      <p:sp>
        <p:nvSpPr>
          <p:cNvPr id="18" name="Text 16"/>
          <p:cNvSpPr txBox="1"/>
          <p:nvPr/>
        </p:nvSpPr>
        <p:spPr>
          <a:xfrm>
            <a:off x="5120640" y="3566160"/>
            <a:ext cx="320040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Early-mover and technology risk</a:t>
            </a:r>
            <a:endParaRPr lang="en-US" sz="1150" dirty="0"/>
          </a:p>
        </p:txBody>
      </p:sp>
      <p:sp>
        <p:nvSpPr>
          <p:cNvPr id="19" name="Text 17"/>
          <p:cNvSpPr txBox="1"/>
          <p:nvPr/>
        </p:nvSpPr>
        <p:spPr>
          <a:xfrm>
            <a:off x="8458200" y="3566160"/>
            <a:ext cx="306324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Concessional resources consumed up front</a:t>
            </a:r>
            <a:endParaRPr lang="en-US" sz="1150" dirty="0"/>
          </a:p>
        </p:txBody>
      </p:sp>
      <p:sp>
        <p:nvSpPr>
          <p:cNvPr id="20" name="Shape 18"/>
          <p:cNvSpPr/>
          <p:nvPr/>
        </p:nvSpPr>
        <p:spPr>
          <a:xfrm>
            <a:off x="640080" y="3995928"/>
            <a:ext cx="10881360" cy="0"/>
          </a:xfrm>
          <a:prstGeom prst="line">
            <a:avLst/>
          </a:prstGeom>
          <a:noFill/>
          <a:ln w="9525">
            <a:solidFill>
              <a:srgbClr val="DCE1E6"/>
            </a:solidFill>
            <a:prstDash val="solid"/>
          </a:ln>
        </p:spPr>
        <p:txBody>
          <a:bodyPr/>
          <a:lstStyle/>
          <a:p>
            <a:endParaRPr lang="en-US"/>
          </a:p>
        </p:txBody>
      </p:sp>
      <p:sp>
        <p:nvSpPr>
          <p:cNvPr id="21" name="Text 19"/>
          <p:cNvSpPr txBox="1"/>
          <p:nvPr/>
        </p:nvSpPr>
        <p:spPr>
          <a:xfrm>
            <a:off x="640080" y="4041648"/>
            <a:ext cx="4206240" cy="402336"/>
          </a:xfrm>
          <a:prstGeom prst="rect">
            <a:avLst/>
          </a:prstGeom>
          <a:noFill/>
          <a:ln/>
        </p:spPr>
        <p:txBody>
          <a:bodyPr wrap="square" lIns="0" tIns="0" rIns="0" bIns="0" rtlCol="0" anchor="ctr"/>
          <a:lstStyle/>
          <a:p>
            <a:pPr marL="0" indent="0">
              <a:lnSpc>
                <a:spcPts val="1500"/>
              </a:lnSpc>
              <a:buNone/>
            </a:pPr>
            <a:r>
              <a:rPr lang="en-US" sz="1150" b="1" dirty="0">
                <a:solidFill>
                  <a:srgbClr val="0E1B2A"/>
                </a:solidFill>
                <a:latin typeface="Cambria" pitchFamily="34" charset="0"/>
                <a:ea typeface="Cambria" pitchFamily="34" charset="-122"/>
                <a:cs typeface="Cambria" pitchFamily="34" charset="-120"/>
              </a:rPr>
              <a:t>Contracts for difference and auction design</a:t>
            </a:r>
            <a:endParaRPr lang="en-US" sz="1150" dirty="0"/>
          </a:p>
        </p:txBody>
      </p:sp>
      <p:sp>
        <p:nvSpPr>
          <p:cNvPr id="22" name="Text 20"/>
          <p:cNvSpPr txBox="1"/>
          <p:nvPr/>
        </p:nvSpPr>
        <p:spPr>
          <a:xfrm>
            <a:off x="5120640" y="4041648"/>
            <a:ext cx="320040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Merchant price risk in power</a:t>
            </a:r>
            <a:endParaRPr lang="en-US" sz="1150" dirty="0"/>
          </a:p>
        </p:txBody>
      </p:sp>
      <p:sp>
        <p:nvSpPr>
          <p:cNvPr id="23" name="Text 21"/>
          <p:cNvSpPr txBox="1"/>
          <p:nvPr/>
        </p:nvSpPr>
        <p:spPr>
          <a:xfrm>
            <a:off x="8458200" y="4041648"/>
            <a:ext cx="306324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Long-dated fiscal commitment</a:t>
            </a:r>
            <a:endParaRPr lang="en-US" sz="1150" dirty="0"/>
          </a:p>
        </p:txBody>
      </p:sp>
      <p:sp>
        <p:nvSpPr>
          <p:cNvPr id="24" name="Shape 22"/>
          <p:cNvSpPr/>
          <p:nvPr/>
        </p:nvSpPr>
        <p:spPr>
          <a:xfrm>
            <a:off x="640080" y="4471416"/>
            <a:ext cx="10881360" cy="0"/>
          </a:xfrm>
          <a:prstGeom prst="line">
            <a:avLst/>
          </a:prstGeom>
          <a:noFill/>
          <a:ln w="9525">
            <a:solidFill>
              <a:srgbClr val="DCE1E6"/>
            </a:solidFill>
            <a:prstDash val="solid"/>
          </a:ln>
        </p:spPr>
        <p:txBody>
          <a:bodyPr/>
          <a:lstStyle/>
          <a:p>
            <a:endParaRPr lang="en-US"/>
          </a:p>
        </p:txBody>
      </p:sp>
      <p:sp>
        <p:nvSpPr>
          <p:cNvPr id="25" name="Text 23"/>
          <p:cNvSpPr txBox="1"/>
          <p:nvPr/>
        </p:nvSpPr>
        <p:spPr>
          <a:xfrm>
            <a:off x="640080" y="4517136"/>
            <a:ext cx="4206240" cy="402336"/>
          </a:xfrm>
          <a:prstGeom prst="rect">
            <a:avLst/>
          </a:prstGeom>
          <a:noFill/>
          <a:ln/>
        </p:spPr>
        <p:txBody>
          <a:bodyPr wrap="square" lIns="0" tIns="0" rIns="0" bIns="0" rtlCol="0" anchor="ctr"/>
          <a:lstStyle/>
          <a:p>
            <a:pPr marL="0" indent="0">
              <a:lnSpc>
                <a:spcPts val="1500"/>
              </a:lnSpc>
              <a:buNone/>
            </a:pPr>
            <a:r>
              <a:rPr lang="en-US" sz="1150" b="1" dirty="0">
                <a:solidFill>
                  <a:srgbClr val="0E1B2A"/>
                </a:solidFill>
                <a:latin typeface="Cambria" pitchFamily="34" charset="0"/>
                <a:ea typeface="Cambria" pitchFamily="34" charset="-122"/>
                <a:cs typeface="Cambria" pitchFamily="34" charset="-120"/>
              </a:rPr>
              <a:t>Political risk insurance</a:t>
            </a:r>
            <a:endParaRPr lang="en-US" sz="1150" dirty="0"/>
          </a:p>
        </p:txBody>
      </p:sp>
      <p:sp>
        <p:nvSpPr>
          <p:cNvPr id="26" name="Text 24"/>
          <p:cNvSpPr txBox="1"/>
          <p:nvPr/>
        </p:nvSpPr>
        <p:spPr>
          <a:xfrm>
            <a:off x="5120640" y="4517136"/>
            <a:ext cx="320040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Expropriation, transfer, breach of contract</a:t>
            </a:r>
            <a:endParaRPr lang="en-US" sz="1150" dirty="0"/>
          </a:p>
        </p:txBody>
      </p:sp>
      <p:sp>
        <p:nvSpPr>
          <p:cNvPr id="27" name="Text 25"/>
          <p:cNvSpPr txBox="1"/>
          <p:nvPr/>
        </p:nvSpPr>
        <p:spPr>
          <a:xfrm>
            <a:off x="8458200" y="4517136"/>
            <a:ext cx="306324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Premium-funded; off the sovereign balance sheet</a:t>
            </a:r>
            <a:endParaRPr lang="en-US" sz="1150" dirty="0"/>
          </a:p>
        </p:txBody>
      </p:sp>
      <p:sp>
        <p:nvSpPr>
          <p:cNvPr id="28" name="Shape 26"/>
          <p:cNvSpPr/>
          <p:nvPr/>
        </p:nvSpPr>
        <p:spPr>
          <a:xfrm>
            <a:off x="640080" y="4946904"/>
            <a:ext cx="10881360" cy="0"/>
          </a:xfrm>
          <a:prstGeom prst="line">
            <a:avLst/>
          </a:prstGeom>
          <a:noFill/>
          <a:ln w="9525">
            <a:solidFill>
              <a:srgbClr val="DCE1E6"/>
            </a:solidFill>
            <a:prstDash val="solid"/>
          </a:ln>
        </p:spPr>
        <p:txBody>
          <a:bodyPr/>
          <a:lstStyle/>
          <a:p>
            <a:endParaRPr lang="en-US"/>
          </a:p>
        </p:txBody>
      </p:sp>
      <p:sp>
        <p:nvSpPr>
          <p:cNvPr id="29" name="Text 27"/>
          <p:cNvSpPr txBox="1"/>
          <p:nvPr/>
        </p:nvSpPr>
        <p:spPr>
          <a:xfrm>
            <a:off x="640080" y="4992624"/>
            <a:ext cx="4206240" cy="402336"/>
          </a:xfrm>
          <a:prstGeom prst="rect">
            <a:avLst/>
          </a:prstGeom>
          <a:noFill/>
          <a:ln/>
        </p:spPr>
        <p:txBody>
          <a:bodyPr wrap="square" lIns="0" tIns="0" rIns="0" bIns="0" rtlCol="0" anchor="ctr"/>
          <a:lstStyle/>
          <a:p>
            <a:pPr marL="0" indent="0">
              <a:lnSpc>
                <a:spcPts val="1500"/>
              </a:lnSpc>
              <a:buNone/>
            </a:pPr>
            <a:r>
              <a:rPr lang="en-US" sz="1150" b="1" dirty="0">
                <a:solidFill>
                  <a:srgbClr val="0E1B2A"/>
                </a:solidFill>
                <a:latin typeface="Cambria" pitchFamily="34" charset="0"/>
                <a:ea typeface="Cambria" pitchFamily="34" charset="-122"/>
                <a:cs typeface="Cambria" pitchFamily="34" charset="-120"/>
              </a:rPr>
              <a:t>Carbon credit offtake under Article 6</a:t>
            </a:r>
            <a:endParaRPr lang="en-US" sz="1150" dirty="0"/>
          </a:p>
        </p:txBody>
      </p:sp>
      <p:sp>
        <p:nvSpPr>
          <p:cNvPr id="30" name="Text 28"/>
          <p:cNvSpPr txBox="1"/>
          <p:nvPr/>
        </p:nvSpPr>
        <p:spPr>
          <a:xfrm>
            <a:off x="5120640" y="4992624"/>
            <a:ext cx="320040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Revenue uncertainty on abatement projects</a:t>
            </a:r>
            <a:endParaRPr lang="en-US" sz="1150" dirty="0"/>
          </a:p>
        </p:txBody>
      </p:sp>
      <p:sp>
        <p:nvSpPr>
          <p:cNvPr id="31" name="Text 29"/>
          <p:cNvSpPr txBox="1"/>
          <p:nvPr/>
        </p:nvSpPr>
        <p:spPr>
          <a:xfrm>
            <a:off x="8458200" y="4992624"/>
            <a:ext cx="3063240" cy="402336"/>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mbria" pitchFamily="34" charset="0"/>
                <a:ea typeface="Cambria" pitchFamily="34" charset="-122"/>
                <a:cs typeface="Cambria" pitchFamily="34" charset="-120"/>
              </a:rPr>
              <a:t>Forgone future compliance headroom</a:t>
            </a:r>
            <a:endParaRPr lang="en-US" sz="1150" dirty="0"/>
          </a:p>
        </p:txBody>
      </p:sp>
      <p:sp>
        <p:nvSpPr>
          <p:cNvPr id="32" name="Shape 30"/>
          <p:cNvSpPr/>
          <p:nvPr/>
        </p:nvSpPr>
        <p:spPr>
          <a:xfrm>
            <a:off x="640080" y="5623560"/>
            <a:ext cx="10881360" cy="548640"/>
          </a:xfrm>
          <a:prstGeom prst="rect">
            <a:avLst/>
          </a:prstGeom>
          <a:solidFill>
            <a:srgbClr val="F4F6F8"/>
          </a:solidFill>
          <a:ln w="12700">
            <a:solidFill>
              <a:srgbClr val="333333"/>
            </a:solidFill>
            <a:prstDash val="solid"/>
          </a:ln>
        </p:spPr>
        <p:txBody>
          <a:bodyPr/>
          <a:lstStyle/>
          <a:p>
            <a:endParaRPr lang="en-US"/>
          </a:p>
        </p:txBody>
      </p:sp>
      <p:sp>
        <p:nvSpPr>
          <p:cNvPr id="33" name="Text 31"/>
          <p:cNvSpPr txBox="1"/>
          <p:nvPr/>
        </p:nvSpPr>
        <p:spPr>
          <a:xfrm>
            <a:off x="932688" y="5623560"/>
            <a:ext cx="10296144" cy="548640"/>
          </a:xfrm>
          <a:prstGeom prst="rect">
            <a:avLst/>
          </a:prstGeom>
          <a:noFill/>
          <a:ln/>
        </p:spPr>
        <p:txBody>
          <a:bodyPr wrap="square" lIns="0" tIns="0" rIns="0" bIns="0" rtlCol="0" anchor="ctr"/>
          <a:lstStyle/>
          <a:p>
            <a:pPr marL="0" indent="0">
              <a:buNone/>
            </a:pPr>
            <a:r>
              <a:rPr lang="en-US" sz="1200" b="1" dirty="0">
                <a:solidFill>
                  <a:srgbClr val="0E1B2A"/>
                </a:solidFill>
                <a:latin typeface="Cambria" pitchFamily="34" charset="0"/>
                <a:ea typeface="Cambria" pitchFamily="34" charset="-122"/>
                <a:cs typeface="Cambria" pitchFamily="34" charset="-120"/>
              </a:rPr>
              <a:t>The link back:  </a:t>
            </a:r>
            <a:r>
              <a:rPr lang="en-US" sz="1200" dirty="0">
                <a:solidFill>
                  <a:srgbClr val="5A6B7B"/>
                </a:solidFill>
                <a:latin typeface="Cambria" pitchFamily="34" charset="0"/>
                <a:ea typeface="Cambria" pitchFamily="34" charset="-122"/>
                <a:cs typeface="Cambria" pitchFamily="34" charset="-120"/>
              </a:rPr>
              <a:t>the right column is a fiscal indicator. Derisking choices should be scored against the contingent liability stock from block 02, not chosen from a list.</a:t>
            </a:r>
            <a:endParaRPr lang="en-US" sz="1200" dirty="0"/>
          </a:p>
        </p:txBody>
      </p:sp>
      <p:sp>
        <p:nvSpPr>
          <p:cNvPr id="34" name="Text 32"/>
          <p:cNvSpPr txBox="1"/>
          <p:nvPr/>
        </p:nvSpPr>
        <p:spPr>
          <a:xfrm>
            <a:off x="11338560" y="6272784"/>
            <a:ext cx="365760" cy="274320"/>
          </a:xfrm>
          <a:prstGeom prst="rect">
            <a:avLst/>
          </a:prstGeom>
          <a:noFill/>
          <a:ln/>
        </p:spPr>
        <p:txBody>
          <a:bodyPr wrap="square" lIns="0" tIns="0" rIns="0" bIns="0" rtlCol="0" anchor="ctr"/>
          <a:lstStyle/>
          <a:p>
            <a:pPr marL="0" indent="0" algn="r">
              <a:buNone/>
            </a:pPr>
            <a:r>
              <a:rPr lang="en-US" sz="900" dirty="0">
                <a:solidFill>
                  <a:srgbClr val="93A0AC"/>
                </a:solidFill>
                <a:latin typeface="Cambria" pitchFamily="34" charset="0"/>
                <a:ea typeface="Cambria" pitchFamily="34" charset="-122"/>
                <a:cs typeface="Cambria"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B2A"/>
        </a:solidFill>
        <a:effectLst/>
      </p:bgPr>
    </p:bg>
    <p:spTree>
      <p:nvGrpSpPr>
        <p:cNvPr id="1" name=""/>
        <p:cNvGrpSpPr/>
        <p:nvPr/>
      </p:nvGrpSpPr>
      <p:grpSpPr>
        <a:xfrm>
          <a:off x="0" y="0"/>
          <a:ext cx="0" cy="0"/>
          <a:chOff x="0" y="0"/>
          <a:chExt cx="0" cy="0"/>
        </a:xfrm>
      </p:grpSpPr>
      <p:sp>
        <p:nvSpPr>
          <p:cNvPr id="2" name="Text 0"/>
          <p:cNvSpPr txBox="1"/>
          <p:nvPr/>
        </p:nvSpPr>
        <p:spPr>
          <a:xfrm>
            <a:off x="640080" y="685800"/>
            <a:ext cx="5486400" cy="274320"/>
          </a:xfrm>
          <a:prstGeom prst="rect">
            <a:avLst/>
          </a:prstGeom>
          <a:noFill/>
          <a:ln/>
        </p:spPr>
        <p:txBody>
          <a:bodyPr wrap="square" lIns="0" tIns="0" rIns="0" bIns="0" rtlCol="0" anchor="ctr"/>
          <a:lstStyle/>
          <a:p>
            <a:pPr marL="0" indent="0">
              <a:buNone/>
            </a:pPr>
            <a:r>
              <a:rPr lang="en-US" sz="1000" b="1" kern="0" spc="200" dirty="0">
                <a:solidFill>
                  <a:srgbClr val="C05621"/>
                </a:solidFill>
                <a:latin typeface="Cambria" pitchFamily="34" charset="0"/>
                <a:ea typeface="Cambria" pitchFamily="34" charset="-122"/>
                <a:cs typeface="Cambria" pitchFamily="34" charset="-120"/>
              </a:rPr>
              <a:t>NEXT STEPS</a:t>
            </a:r>
            <a:endParaRPr lang="en-US" sz="1000" dirty="0"/>
          </a:p>
        </p:txBody>
      </p:sp>
      <p:sp>
        <p:nvSpPr>
          <p:cNvPr id="3" name="Text 1"/>
          <p:cNvSpPr txBox="1"/>
          <p:nvPr/>
        </p:nvSpPr>
        <p:spPr>
          <a:xfrm>
            <a:off x="640080" y="1234440"/>
            <a:ext cx="9601200" cy="1234440"/>
          </a:xfrm>
          <a:prstGeom prst="rect">
            <a:avLst/>
          </a:prstGeom>
          <a:noFill/>
          <a:ln/>
        </p:spPr>
        <p:txBody>
          <a:bodyPr wrap="square" lIns="0" tIns="0" rIns="0" bIns="0" rtlCol="0" anchor="ctr"/>
          <a:lstStyle/>
          <a:p>
            <a:pPr marL="0" indent="0">
              <a:lnSpc>
                <a:spcPts val="3800"/>
              </a:lnSpc>
              <a:buNone/>
            </a:pPr>
            <a:r>
              <a:rPr lang="en-US" sz="3000" b="1" dirty="0">
                <a:solidFill>
                  <a:srgbClr val="FFFFFF"/>
                </a:solidFill>
                <a:latin typeface="Century Schoolbook" pitchFamily="34" charset="0"/>
                <a:ea typeface="Century Schoolbook" pitchFamily="34" charset="-122"/>
                <a:cs typeface="Century Schoolbook" pitchFamily="34" charset="-120"/>
              </a:rPr>
              <a:t>Handover under way, with tax indicators next –</a:t>
            </a:r>
            <a:endParaRPr lang="en-US" sz="3000" dirty="0"/>
          </a:p>
          <a:p>
            <a:pPr marL="0" indent="0">
              <a:lnSpc>
                <a:spcPts val="3800"/>
              </a:lnSpc>
              <a:buNone/>
            </a:pPr>
            <a:r>
              <a:rPr lang="en-US" sz="3000" b="1" dirty="0">
                <a:solidFill>
                  <a:srgbClr val="FFFFFF"/>
                </a:solidFill>
                <a:latin typeface="Century Schoolbook" pitchFamily="34" charset="0"/>
                <a:ea typeface="Century Schoolbook" pitchFamily="34" charset="-122"/>
                <a:cs typeface="Century Schoolbook" pitchFamily="34" charset="-120"/>
              </a:rPr>
              <a:t>an indexing layer, not a new diagnostic</a:t>
            </a:r>
            <a:endParaRPr lang="en-US" sz="3000" dirty="0"/>
          </a:p>
        </p:txBody>
      </p:sp>
      <p:sp>
        <p:nvSpPr>
          <p:cNvPr id="4" name="Text 2"/>
          <p:cNvSpPr txBox="1"/>
          <p:nvPr/>
        </p:nvSpPr>
        <p:spPr>
          <a:xfrm>
            <a:off x="640080" y="2971800"/>
            <a:ext cx="3429000" cy="457200"/>
          </a:xfrm>
          <a:prstGeom prst="rect">
            <a:avLst/>
          </a:prstGeom>
          <a:noFill/>
          <a:ln/>
        </p:spPr>
        <p:txBody>
          <a:bodyPr wrap="square" lIns="0" tIns="0" rIns="0" bIns="0" rtlCol="0" anchor="ctr"/>
          <a:lstStyle/>
          <a:p>
            <a:pPr marL="0" indent="0">
              <a:buNone/>
            </a:pPr>
            <a:r>
              <a:rPr lang="en-US" sz="2600" b="1" dirty="0">
                <a:solidFill>
                  <a:srgbClr val="C05621"/>
                </a:solidFill>
                <a:latin typeface="Century Schoolbook" pitchFamily="34" charset="0"/>
                <a:ea typeface="Century Schoolbook" pitchFamily="34" charset="-122"/>
                <a:cs typeface="Century Schoolbook" pitchFamily="34" charset="-120"/>
              </a:rPr>
              <a:t>01</a:t>
            </a:r>
            <a:endParaRPr lang="en-US" sz="2600" dirty="0"/>
          </a:p>
        </p:txBody>
      </p:sp>
      <p:sp>
        <p:nvSpPr>
          <p:cNvPr id="5" name="Text 3"/>
          <p:cNvSpPr txBox="1"/>
          <p:nvPr/>
        </p:nvSpPr>
        <p:spPr>
          <a:xfrm>
            <a:off x="640080" y="3493008"/>
            <a:ext cx="3429000" cy="365760"/>
          </a:xfrm>
          <a:prstGeom prst="rect">
            <a:avLst/>
          </a:prstGeom>
          <a:noFill/>
          <a:ln/>
        </p:spPr>
        <p:txBody>
          <a:bodyPr wrap="square" lIns="0" tIns="0" rIns="0" bIns="0" rtlCol="0" anchor="ctr"/>
          <a:lstStyle/>
          <a:p>
            <a:pPr marL="0" indent="0">
              <a:buNone/>
            </a:pPr>
            <a:r>
              <a:rPr lang="en-US" sz="1800" b="1" dirty="0">
                <a:solidFill>
                  <a:srgbClr val="FFFFFF"/>
                </a:solidFill>
                <a:latin typeface="Century Schoolbook" pitchFamily="34" charset="0"/>
                <a:ea typeface="Century Schoolbook" pitchFamily="34" charset="-122"/>
                <a:cs typeface="Century Schoolbook" pitchFamily="34" charset="-120"/>
              </a:rPr>
              <a:t>Build</a:t>
            </a:r>
            <a:endParaRPr lang="en-US" sz="1800" dirty="0"/>
          </a:p>
        </p:txBody>
      </p:sp>
      <p:sp>
        <p:nvSpPr>
          <p:cNvPr id="6" name="Shape 4"/>
          <p:cNvSpPr/>
          <p:nvPr/>
        </p:nvSpPr>
        <p:spPr>
          <a:xfrm>
            <a:off x="640080" y="3950208"/>
            <a:ext cx="3429000" cy="0"/>
          </a:xfrm>
          <a:prstGeom prst="line">
            <a:avLst/>
          </a:prstGeom>
          <a:noFill/>
          <a:ln w="9525">
            <a:solidFill>
              <a:srgbClr val="2C3F52"/>
            </a:solidFill>
            <a:prstDash val="solid"/>
          </a:ln>
        </p:spPr>
        <p:txBody>
          <a:bodyPr/>
          <a:lstStyle/>
          <a:p>
            <a:endParaRPr lang="en-US"/>
          </a:p>
        </p:txBody>
      </p:sp>
      <p:sp>
        <p:nvSpPr>
          <p:cNvPr id="7" name="Text 5"/>
          <p:cNvSpPr txBox="1"/>
          <p:nvPr/>
        </p:nvSpPr>
        <p:spPr>
          <a:xfrm>
            <a:off x="640080" y="4096512"/>
            <a:ext cx="3429000" cy="914400"/>
          </a:xfrm>
          <a:prstGeom prst="rect">
            <a:avLst/>
          </a:prstGeom>
          <a:noFill/>
          <a:ln/>
        </p:spPr>
        <p:txBody>
          <a:bodyPr wrap="square" lIns="0" tIns="0" rIns="0" bIns="0" rtlCol="0" anchor="ctr"/>
          <a:lstStyle/>
          <a:p>
            <a:pPr marL="0" indent="0">
              <a:lnSpc>
                <a:spcPts val="1700"/>
              </a:lnSpc>
              <a:buNone/>
            </a:pPr>
            <a:r>
              <a:rPr lang="en-US" sz="1200" dirty="0">
                <a:solidFill>
                  <a:srgbClr val="AEBECD"/>
                </a:solidFill>
                <a:latin typeface="Cambria" pitchFamily="34" charset="0"/>
                <a:ea typeface="Cambria" pitchFamily="34" charset="-122"/>
                <a:cs typeface="Cambria" pitchFamily="34" charset="-120"/>
              </a:rPr>
              <a:t>Indicator definitions fixed and the modelling stack wired to the CCDR pipeline. 90% complete.</a:t>
            </a:r>
            <a:endParaRPr lang="en-US" sz="1200" dirty="0"/>
          </a:p>
        </p:txBody>
      </p:sp>
      <p:sp>
        <p:nvSpPr>
          <p:cNvPr id="8" name="Text 6"/>
          <p:cNvSpPr txBox="1"/>
          <p:nvPr/>
        </p:nvSpPr>
        <p:spPr>
          <a:xfrm>
            <a:off x="640080" y="5029200"/>
            <a:ext cx="3429000" cy="274320"/>
          </a:xfrm>
          <a:prstGeom prst="rect">
            <a:avLst/>
          </a:prstGeom>
          <a:noFill/>
          <a:ln/>
        </p:spPr>
        <p:txBody>
          <a:bodyPr wrap="square" lIns="0" tIns="0" rIns="0" bIns="0" rtlCol="0" anchor="ctr"/>
          <a:lstStyle/>
          <a:p>
            <a:pPr marL="0" indent="0">
              <a:buNone/>
            </a:pPr>
            <a:r>
              <a:rPr lang="en-US" sz="1000" b="1" kern="0" spc="120" dirty="0">
                <a:solidFill>
                  <a:srgbClr val="4FA89F"/>
                </a:solidFill>
                <a:latin typeface="Cambria" pitchFamily="34" charset="0"/>
                <a:ea typeface="Cambria" pitchFamily="34" charset="-122"/>
                <a:cs typeface="Cambria" pitchFamily="34" charset="-120"/>
              </a:rPr>
              <a:t>To 23 Oct</a:t>
            </a:r>
            <a:endParaRPr lang="en-US" sz="1000" dirty="0"/>
          </a:p>
        </p:txBody>
      </p:sp>
      <p:sp>
        <p:nvSpPr>
          <p:cNvPr id="9" name="Text 7"/>
          <p:cNvSpPr txBox="1"/>
          <p:nvPr/>
        </p:nvSpPr>
        <p:spPr>
          <a:xfrm>
            <a:off x="4526280" y="2971800"/>
            <a:ext cx="3429000" cy="457200"/>
          </a:xfrm>
          <a:prstGeom prst="rect">
            <a:avLst/>
          </a:prstGeom>
          <a:noFill/>
          <a:ln/>
        </p:spPr>
        <p:txBody>
          <a:bodyPr wrap="square" lIns="0" tIns="0" rIns="0" bIns="0" rtlCol="0" anchor="ctr"/>
          <a:lstStyle/>
          <a:p>
            <a:pPr marL="0" indent="0">
              <a:buNone/>
            </a:pPr>
            <a:r>
              <a:rPr lang="en-US" sz="2600" b="1" dirty="0">
                <a:solidFill>
                  <a:srgbClr val="C05621"/>
                </a:solidFill>
                <a:latin typeface="Century Schoolbook" pitchFamily="34" charset="0"/>
                <a:ea typeface="Century Schoolbook" pitchFamily="34" charset="-122"/>
                <a:cs typeface="Century Schoolbook" pitchFamily="34" charset="-120"/>
              </a:rPr>
              <a:t>02</a:t>
            </a:r>
            <a:endParaRPr lang="en-US" sz="2600" dirty="0"/>
          </a:p>
        </p:txBody>
      </p:sp>
      <p:sp>
        <p:nvSpPr>
          <p:cNvPr id="10" name="Text 8"/>
          <p:cNvSpPr txBox="1"/>
          <p:nvPr/>
        </p:nvSpPr>
        <p:spPr>
          <a:xfrm>
            <a:off x="4526280" y="3493008"/>
            <a:ext cx="3429000" cy="365760"/>
          </a:xfrm>
          <a:prstGeom prst="rect">
            <a:avLst/>
          </a:prstGeom>
          <a:noFill/>
          <a:ln/>
        </p:spPr>
        <p:txBody>
          <a:bodyPr wrap="square" lIns="0" tIns="0" rIns="0" bIns="0" rtlCol="0" anchor="ctr"/>
          <a:lstStyle/>
          <a:p>
            <a:pPr marL="0" indent="0">
              <a:buNone/>
            </a:pPr>
            <a:r>
              <a:rPr lang="en-US" sz="1800" b="1" dirty="0">
                <a:solidFill>
                  <a:srgbClr val="FFFFFF"/>
                </a:solidFill>
                <a:latin typeface="Century Schoolbook" pitchFamily="34" charset="0"/>
                <a:ea typeface="Century Schoolbook" pitchFamily="34" charset="-122"/>
                <a:cs typeface="Century Schoolbook" pitchFamily="34" charset="-120"/>
              </a:rPr>
              <a:t>Transfer</a:t>
            </a:r>
            <a:endParaRPr lang="en-US" sz="1800" dirty="0"/>
          </a:p>
        </p:txBody>
      </p:sp>
      <p:sp>
        <p:nvSpPr>
          <p:cNvPr id="11" name="Shape 9"/>
          <p:cNvSpPr/>
          <p:nvPr/>
        </p:nvSpPr>
        <p:spPr>
          <a:xfrm>
            <a:off x="4526280" y="3950208"/>
            <a:ext cx="3429000" cy="0"/>
          </a:xfrm>
          <a:prstGeom prst="line">
            <a:avLst/>
          </a:prstGeom>
          <a:noFill/>
          <a:ln w="9525">
            <a:solidFill>
              <a:srgbClr val="2C3F52"/>
            </a:solidFill>
            <a:prstDash val="solid"/>
          </a:ln>
        </p:spPr>
        <p:txBody>
          <a:bodyPr/>
          <a:lstStyle/>
          <a:p>
            <a:endParaRPr lang="en-US"/>
          </a:p>
        </p:txBody>
      </p:sp>
      <p:sp>
        <p:nvSpPr>
          <p:cNvPr id="12" name="Text 10"/>
          <p:cNvSpPr txBox="1"/>
          <p:nvPr/>
        </p:nvSpPr>
        <p:spPr>
          <a:xfrm>
            <a:off x="4526280" y="4096512"/>
            <a:ext cx="3429000" cy="914400"/>
          </a:xfrm>
          <a:prstGeom prst="rect">
            <a:avLst/>
          </a:prstGeom>
          <a:noFill/>
          <a:ln/>
        </p:spPr>
        <p:txBody>
          <a:bodyPr wrap="square" lIns="0" tIns="0" rIns="0" bIns="0" rtlCol="0" anchor="ctr"/>
          <a:lstStyle/>
          <a:p>
            <a:pPr marL="0" indent="0">
              <a:lnSpc>
                <a:spcPts val="1700"/>
              </a:lnSpc>
              <a:buNone/>
            </a:pPr>
            <a:r>
              <a:rPr lang="en-US" sz="1200" dirty="0">
                <a:solidFill>
                  <a:srgbClr val="AEBECD"/>
                </a:solidFill>
                <a:latin typeface="Cambria" pitchFamily="34" charset="0"/>
                <a:ea typeface="Cambria" pitchFamily="34" charset="-122"/>
                <a:cs typeface="Cambria" pitchFamily="34" charset="-120"/>
              </a:rPr>
              <a:t>Handover pack – code, data, audit trail, user guide and example scripts – to Dirk and the team, so others can run, maintain and extend it. Follow-up support 8–12 Mar.</a:t>
            </a:r>
            <a:endParaRPr lang="en-US" sz="1200" dirty="0"/>
          </a:p>
        </p:txBody>
      </p:sp>
      <p:sp>
        <p:nvSpPr>
          <p:cNvPr id="13" name="Text 11"/>
          <p:cNvSpPr txBox="1"/>
          <p:nvPr/>
        </p:nvSpPr>
        <p:spPr>
          <a:xfrm>
            <a:off x="4526280" y="5029200"/>
            <a:ext cx="3429000" cy="274320"/>
          </a:xfrm>
          <a:prstGeom prst="rect">
            <a:avLst/>
          </a:prstGeom>
          <a:noFill/>
          <a:ln/>
        </p:spPr>
        <p:txBody>
          <a:bodyPr wrap="square" lIns="0" tIns="0" rIns="0" bIns="0" rtlCol="0" anchor="ctr"/>
          <a:lstStyle/>
          <a:p>
            <a:pPr marL="0" indent="0">
              <a:buNone/>
            </a:pPr>
            <a:r>
              <a:rPr lang="en-US" sz="1000" b="1" kern="0" spc="120" dirty="0">
                <a:solidFill>
                  <a:srgbClr val="4FA89F"/>
                </a:solidFill>
                <a:latin typeface="Cambria" pitchFamily="34" charset="0"/>
                <a:ea typeface="Cambria" pitchFamily="34" charset="-122"/>
                <a:cs typeface="Cambria" pitchFamily="34" charset="-120"/>
              </a:rPr>
              <a:t>Oct–Mar</a:t>
            </a:r>
            <a:endParaRPr lang="en-US" sz="1000" dirty="0"/>
          </a:p>
        </p:txBody>
      </p:sp>
      <p:sp>
        <p:nvSpPr>
          <p:cNvPr id="14" name="Text 12"/>
          <p:cNvSpPr txBox="1"/>
          <p:nvPr/>
        </p:nvSpPr>
        <p:spPr>
          <a:xfrm>
            <a:off x="8412480" y="2971800"/>
            <a:ext cx="3429000" cy="457200"/>
          </a:xfrm>
          <a:prstGeom prst="rect">
            <a:avLst/>
          </a:prstGeom>
          <a:noFill/>
          <a:ln/>
        </p:spPr>
        <p:txBody>
          <a:bodyPr wrap="square" lIns="0" tIns="0" rIns="0" bIns="0" rtlCol="0" anchor="ctr"/>
          <a:lstStyle/>
          <a:p>
            <a:pPr marL="0" indent="0">
              <a:buNone/>
            </a:pPr>
            <a:r>
              <a:rPr lang="en-US" sz="2600" b="1" dirty="0">
                <a:solidFill>
                  <a:srgbClr val="C05621"/>
                </a:solidFill>
                <a:latin typeface="Century Schoolbook" pitchFamily="34" charset="0"/>
                <a:ea typeface="Century Schoolbook" pitchFamily="34" charset="-122"/>
                <a:cs typeface="Century Schoolbook" pitchFamily="34" charset="-120"/>
              </a:rPr>
              <a:t>03</a:t>
            </a:r>
            <a:endParaRPr lang="en-US" sz="2600" dirty="0"/>
          </a:p>
        </p:txBody>
      </p:sp>
      <p:sp>
        <p:nvSpPr>
          <p:cNvPr id="15" name="Text 13"/>
          <p:cNvSpPr txBox="1"/>
          <p:nvPr/>
        </p:nvSpPr>
        <p:spPr>
          <a:xfrm>
            <a:off x="8412480" y="3493008"/>
            <a:ext cx="3429000" cy="365760"/>
          </a:xfrm>
          <a:prstGeom prst="rect">
            <a:avLst/>
          </a:prstGeom>
          <a:noFill/>
          <a:ln/>
        </p:spPr>
        <p:txBody>
          <a:bodyPr wrap="square" lIns="0" tIns="0" rIns="0" bIns="0" rtlCol="0" anchor="ctr"/>
          <a:lstStyle/>
          <a:p>
            <a:pPr marL="0" indent="0">
              <a:buNone/>
            </a:pPr>
            <a:r>
              <a:rPr lang="en-US" sz="1800" b="1" dirty="0">
                <a:solidFill>
                  <a:srgbClr val="FFFFFF"/>
                </a:solidFill>
                <a:latin typeface="Century Schoolbook" pitchFamily="34" charset="0"/>
                <a:ea typeface="Century Schoolbook" pitchFamily="34" charset="-122"/>
                <a:cs typeface="Century Schoolbook" pitchFamily="34" charset="-120"/>
              </a:rPr>
              <a:t>Extend</a:t>
            </a:r>
            <a:endParaRPr lang="en-US" sz="1800" dirty="0"/>
          </a:p>
        </p:txBody>
      </p:sp>
      <p:sp>
        <p:nvSpPr>
          <p:cNvPr id="16" name="Shape 14"/>
          <p:cNvSpPr/>
          <p:nvPr/>
        </p:nvSpPr>
        <p:spPr>
          <a:xfrm>
            <a:off x="8412480" y="3950208"/>
            <a:ext cx="3429000" cy="0"/>
          </a:xfrm>
          <a:prstGeom prst="line">
            <a:avLst/>
          </a:prstGeom>
          <a:noFill/>
          <a:ln w="9525">
            <a:solidFill>
              <a:srgbClr val="2C3F52"/>
            </a:solidFill>
            <a:prstDash val="solid"/>
          </a:ln>
        </p:spPr>
        <p:txBody>
          <a:bodyPr/>
          <a:lstStyle/>
          <a:p>
            <a:endParaRPr lang="en-US"/>
          </a:p>
        </p:txBody>
      </p:sp>
      <p:sp>
        <p:nvSpPr>
          <p:cNvPr id="17" name="Text 15"/>
          <p:cNvSpPr txBox="1"/>
          <p:nvPr/>
        </p:nvSpPr>
        <p:spPr>
          <a:xfrm>
            <a:off x="8412480" y="4096512"/>
            <a:ext cx="3429000" cy="914400"/>
          </a:xfrm>
          <a:prstGeom prst="rect">
            <a:avLst/>
          </a:prstGeom>
          <a:noFill/>
          <a:ln/>
        </p:spPr>
        <p:txBody>
          <a:bodyPr wrap="square" lIns="0" tIns="0" rIns="0" bIns="0" rtlCol="0" anchor="ctr"/>
          <a:lstStyle/>
          <a:p>
            <a:pPr marL="0" indent="0">
              <a:lnSpc>
                <a:spcPts val="1700"/>
              </a:lnSpc>
              <a:buNone/>
            </a:pPr>
            <a:r>
              <a:rPr lang="en-US" sz="1200" dirty="0">
                <a:solidFill>
                  <a:srgbClr val="AEBECD"/>
                </a:solidFill>
                <a:latin typeface="Cambria" pitchFamily="34" charset="0"/>
                <a:ea typeface="Cambria" pitchFamily="34" charset="-122"/>
                <a:cs typeface="Cambria" pitchFamily="34" charset="-120"/>
              </a:rPr>
              <a:t>Add new tax indicators to the dashboard, and pilot on six to eight CCDRs already in the drafting queue.</a:t>
            </a:r>
            <a:endParaRPr lang="en-US" sz="1200" dirty="0"/>
          </a:p>
        </p:txBody>
      </p:sp>
      <p:sp>
        <p:nvSpPr>
          <p:cNvPr id="18" name="Text 16"/>
          <p:cNvSpPr txBox="1"/>
          <p:nvPr/>
        </p:nvSpPr>
        <p:spPr>
          <a:xfrm>
            <a:off x="8412480" y="5029200"/>
            <a:ext cx="3429000" cy="274320"/>
          </a:xfrm>
          <a:prstGeom prst="rect">
            <a:avLst/>
          </a:prstGeom>
          <a:noFill/>
          <a:ln/>
        </p:spPr>
        <p:txBody>
          <a:bodyPr wrap="square" lIns="0" tIns="0" rIns="0" bIns="0" rtlCol="0" anchor="ctr"/>
          <a:lstStyle/>
          <a:p>
            <a:pPr marL="0" indent="0">
              <a:buNone/>
            </a:pPr>
            <a:r>
              <a:rPr lang="en-US" sz="1000" b="1" kern="0" spc="120" dirty="0">
                <a:solidFill>
                  <a:srgbClr val="4FA89F"/>
                </a:solidFill>
                <a:latin typeface="Cambria" pitchFamily="34" charset="0"/>
                <a:ea typeface="Cambria" pitchFamily="34" charset="-122"/>
                <a:cs typeface="Cambria" pitchFamily="34" charset="-120"/>
              </a:rPr>
              <a:t>From Mar</a:t>
            </a:r>
            <a:endParaRPr lang="en-US" sz="1000" dirty="0"/>
          </a:p>
        </p:txBody>
      </p:sp>
      <p:sp>
        <p:nvSpPr>
          <p:cNvPr id="19" name="Text 17"/>
          <p:cNvSpPr txBox="1"/>
          <p:nvPr/>
        </p:nvSpPr>
        <p:spPr>
          <a:xfrm>
            <a:off x="640080" y="5989320"/>
            <a:ext cx="10058400" cy="320040"/>
          </a:xfrm>
          <a:prstGeom prst="rect">
            <a:avLst/>
          </a:prstGeom>
          <a:noFill/>
          <a:ln/>
        </p:spPr>
        <p:txBody>
          <a:bodyPr wrap="square" lIns="0" tIns="0" rIns="0" bIns="0" rtlCol="0" anchor="ctr"/>
          <a:lstStyle/>
          <a:p>
            <a:pPr marL="0" indent="0">
              <a:buNone/>
            </a:pPr>
            <a:r>
              <a:rPr lang="en-US" sz="1100" i="1" dirty="0">
                <a:solidFill>
                  <a:srgbClr val="93A0AC"/>
                </a:solidFill>
                <a:latin typeface="Cambria" pitchFamily="34" charset="0"/>
                <a:ea typeface="Cambria" pitchFamily="34" charset="-122"/>
                <a:cs typeface="Cambria" pitchFamily="34" charset="-120"/>
              </a:rPr>
              <a:t>Scope is mitigation finance; tax indicators are the next addition, owned by Dirk and the wider team after final handover on 15–19 Mar. Adaptation and disaster risk financing use the same chain and can follow.</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2114</Words>
  <Application>Microsoft Office PowerPoint</Application>
  <PresentationFormat>Widescreen</PresentationFormat>
  <Paragraphs>250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Cambria</vt:lpstr>
      <vt:lpstr>Century Schoolbook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Fiscal diagnostics and mitigation finance for CCDRs</dc:title>
  <dc:subject>PptxGenJS Presentation</dc:subject>
  <dc:creator>Stephen</dc:creator>
  <cp:lastModifiedBy>Stephen John Stretton</cp:lastModifiedBy>
  <cp:revision>2</cp:revision>
  <dcterms:created xsi:type="dcterms:W3CDTF">2026-08-26T15:57:12Z</dcterms:created>
  <dcterms:modified xsi:type="dcterms:W3CDTF">2026-09-30T21:45:06Z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1bf45b6-5649-4236-82a3-f45024cd282e_Enabled">
    <vt:lpwstr>true</vt:lpwstr>
  </property>
  <property fmtid="{D5CDD505-2E9C-101B-9397-08002B2CF9AE}" pid="3" name="MSIP_Label_f1bf45b6-5649-4236-82a3-f45024cd282e_SetDate">
    <vt:lpwstr>2026-09-30T21:45:06Z</vt:lpwstr>
  </property>
  <property fmtid="{D5CDD505-2E9C-101B-9397-08002B2CF9AE}" pid="4" name="MSIP_Label_f1bf45b6-5649-4236-82a3-f45024cd282e_Method">
    <vt:lpwstr>Standard</vt:lpwstr>
  </property>
  <property fmtid="{D5CDD505-2E9C-101B-9397-08002B2CF9AE}" pid="5" name="MSIP_Label_f1bf45b6-5649-4236-82a3-f45024cd282e_Name">
    <vt:lpwstr>Official Use Only</vt:lpwstr>
  </property>
  <property fmtid="{D5CDD505-2E9C-101B-9397-08002B2CF9AE}" pid="6" name="MSIP_Label_f1bf45b6-5649-4236-82a3-f45024cd282e_SiteId">
    <vt:lpwstr>31a2fec0-266b-4c67-b56e-2796d8f59c36</vt:lpwstr>
  </property>
  <property fmtid="{D5CDD505-2E9C-101B-9397-08002B2CF9AE}" pid="7" name="MSIP_Label_f1bf45b6-5649-4236-82a3-f45024cd282e_ActionId">
    <vt:lpwstr>0aefcd78-2980-4ecb-9ce7-ac0eb2fd8a85</vt:lpwstr>
  </property>
  <property fmtid="{D5CDD505-2E9C-101B-9397-08002B2CF9AE}" pid="8" name="MSIP_Label_f1bf45b6-5649-4236-82a3-f45024cd282e_ContentBits">
    <vt:lpwstr>2</vt:lpwstr>
  </property>
  <property fmtid="{D5CDD505-2E9C-101B-9397-08002B2CF9AE}" pid="9" name="MSIP_Label_f1bf45b6-5649-4236-82a3-f45024cd282e_Tag">
    <vt:lpwstr>10, 3, 0, 1</vt:lpwstr>
  </property>
  <property fmtid="{D5CDD505-2E9C-101B-9397-08002B2CF9AE}" pid="10" name="ClassificationContentMarkingFooterLocations">
    <vt:lpwstr>Office Theme:3</vt:lpwstr>
  </property>
  <property fmtid="{D5CDD505-2E9C-101B-9397-08002B2CF9AE}" pid="11" name="ClassificationContentMarkingFooterText">
    <vt:lpwstr>Official Use Only</vt:lpwstr>
  </property>
</Properties>
</file>