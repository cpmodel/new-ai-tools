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validation: most of the panel estimation was done before on the WB side, but it did not change anything and was not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part of the solution: prices, shadow prices and net tax or subsidy for every sector and fuel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MVP proves the approach cheaply: if the coded and AI-Excel versions match on mitigation basics, power, air pollution and transport follow on the same pattern. Current timing is in Appendix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914525"/>
            <a:ext cx="105664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spc="200" kern="0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417366"/>
            <a:ext cx="981075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with CPAT and Options for Remediation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4097734"/>
            <a:ext cx="9156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engine needs recoding, and a plan to get there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694634"/>
            <a:ext cx="105664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presented April 2026 · Revised September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Stretton · World Bank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20"/>
            <a:ext cx="5080000" cy="38100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2800" y="1851620"/>
            <a:ext cx="5232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14 APRIL · SLIDES 3–13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191941"/>
            <a:ext cx="52324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the proposed engine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593181"/>
            <a:ext cx="52324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problems, three solutions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2857302"/>
            <a:ext cx="52324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components of the module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121422"/>
            <a:ext cx="52324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coding issues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3385542"/>
            <a:ext cx="52324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by component; Lambda functions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3649663"/>
            <a:ext cx="52324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proposal and proof of concept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2800" y="3913783"/>
            <a:ext cx="52324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next steps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99200" y="1635720"/>
            <a:ext cx="5080000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99200" y="1851620"/>
            <a:ext cx="50800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28 APRIL · SLIDES 14–20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99200" y="2191941"/>
            <a:ext cx="50800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99200" y="2593181"/>
            <a:ext cx="50800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the three issues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99200" y="2857302"/>
            <a:ext cx="50800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coding proposals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99200" y="3121422"/>
            <a:ext cx="50800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proposals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99200" y="3385542"/>
            <a:ext cx="50800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core engine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99200" y="3649663"/>
            <a:ext cx="5080000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99200" y="4040783"/>
            <a:ext cx="5080000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Slides 21–23: status in September 2026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99200" y="4449663"/>
            <a:ext cx="50800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Slides 24–26: this year's WP (April 2026)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151459"/>
            <a:ext cx="105664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spc="200" kern="0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14 APRIL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639120"/>
            <a:ext cx="9810750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the proposed engine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4183360"/>
            <a:ext cx="91567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problems, a deep dive on the engine, and a proof of concept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CPAT's mitigation module has three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0641"/>
            <a:ext cx="3386634" cy="1937841"/>
          </a:xfrm>
          <a:prstGeom prst="roundRect">
            <a:avLst>
              <a:gd name="adj" fmla="val 262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641"/>
            <a:ext cx="3386634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242741"/>
            <a:ext cx="2964993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2603401"/>
            <a:ext cx="296499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is large, slow, heavy and hard to maintain. No user can understand or validate 250,000+ spreadsheet cells.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950641"/>
            <a:ext cx="3386634" cy="1937841"/>
          </a:xfrm>
          <a:prstGeom prst="roundRect">
            <a:avLst>
              <a:gd name="adj" fmla="val 262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34" y="1950641"/>
            <a:ext cx="3386634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6634" y="2242741"/>
            <a:ext cx="2964993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validation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56634" y="2603401"/>
            <a:ext cx="296499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WB side has not published CPAT. The IMF publication relies mostly on an elasticity meta-analysis.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467" y="1950641"/>
            <a:ext cx="3386634" cy="1937841"/>
          </a:xfrm>
          <a:prstGeom prst="roundRect">
            <a:avLst>
              <a:gd name="adj" fmla="val 262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2467" y="1950641"/>
            <a:ext cx="3386634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6467" y="2242741"/>
            <a:ext cx="2964993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usability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46467" y="2603401"/>
            <a:ext cx="296499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bugs, and hard to demonstrate: it can take ten minutes to load. This limits its use in country work.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response to each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3386634" cy="2557959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A852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5850" y="2172891"/>
            <a:ext cx="292575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A85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85850" y="2680891"/>
            <a:ext cx="29257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the engine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85850" y="3026271"/>
            <a:ext cx="2925750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the main fuel use equations with AI-assisted coding, Lambda functions and arrays.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85850" y="3845818"/>
            <a:ext cx="292575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today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2634" y="1899841"/>
            <a:ext cx="3386634" cy="2557959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6634" y="2153841"/>
            <a:ext cx="296499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A85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56634" y="2661841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56634" y="3007221"/>
            <a:ext cx="2964993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paper drawing on the IMF elasticity approach. Later: check global projections, back-test, and estimate CPAT equations with panel regressions.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92467" y="1899841"/>
            <a:ext cx="3386634" cy="2557959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6467" y="2153841"/>
            <a:ext cx="296499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A85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246467" y="2661841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country tool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46467" y="3007221"/>
            <a:ext cx="296499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tool with basic MT-like functions. MT itself is too large and unwieldy to demo.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ON THE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module has eight components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9041"/>
            <a:ext cx="58864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Processing inputs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17341"/>
            <a:ext cx="58864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Price tables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585641"/>
            <a:ext cx="5715000" cy="1638300"/>
          </a:xfrm>
          <a:prstGeom prst="roundRect">
            <a:avLst>
              <a:gd name="adj" fmla="val 2326"/>
            </a:avLst>
          </a:prstGeom>
          <a:solidFill>
            <a:srgbClr val="F6E1C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2585641"/>
            <a:ext cx="38100" cy="1638300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5200" y="2687241"/>
            <a:ext cx="56117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Main fuel use model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5200" y="2979341"/>
            <a:ext cx="56117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Engineering power model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5200" y="3271441"/>
            <a:ext cx="56117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Engineering transport model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5200" y="3563541"/>
            <a:ext cx="56117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Revenue and GDP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5200" y="3855641"/>
            <a:ext cx="56117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Emissions accounting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4274741"/>
            <a:ext cx="58864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Processing results for presentation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32600" y="2674541"/>
            <a:ext cx="4546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calculation engine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32600" y="3050381"/>
            <a:ext cx="454660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3–7, repeated twice: once for the baseline and once for the policy scenario.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CODING ISSUES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Heavy, slow and hard to keep consistent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49041"/>
            <a:ext cx="10566400" cy="2801144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2386806"/>
            <a:ext cx="10058400" cy="6350"/>
          </a:xfrm>
          <a:prstGeom prst="rect">
            <a:avLst/>
          </a:prstGeom>
          <a:solidFill>
            <a:srgbClr val="E1DE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014141"/>
            <a:ext cx="24853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83000" y="2033191"/>
            <a:ext cx="7665466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mitigation module is the largest part of CPAT.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66800" y="2880122"/>
            <a:ext cx="10058400" cy="6350"/>
          </a:xfrm>
          <a:prstGeom prst="rect">
            <a:avLst/>
          </a:prstGeom>
          <a:solidFill>
            <a:srgbClr val="E1DE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6800" y="2507456"/>
            <a:ext cx="24853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83000" y="2526506"/>
            <a:ext cx="7665466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modules depend on it, so they wait for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66800" y="3373438"/>
            <a:ext cx="10058400" cy="6350"/>
          </a:xfrm>
          <a:prstGeom prst="rect">
            <a:avLst/>
          </a:prstGeom>
          <a:solidFill>
            <a:srgbClr val="E1DE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6800" y="3000772"/>
            <a:ext cx="24853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83000" y="3019822"/>
            <a:ext cx="7665466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250,000+ cells are hard to understand and validate.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66800" y="4106069"/>
            <a:ext cx="10058400" cy="6350"/>
          </a:xfrm>
          <a:prstGeom prst="rect">
            <a:avLst/>
          </a:prstGeom>
          <a:solidFill>
            <a:srgbClr val="E1DE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6800" y="3494088"/>
            <a:ext cx="24853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keep consistent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83000" y="3513138"/>
            <a:ext cx="766546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Python CPAT and documentation drift apart; a spreadsheet is hard to publish in a peer-reviewed journal.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66800" y="4226719"/>
            <a:ext cx="24853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fit for the new UI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83000" y="4245769"/>
            <a:ext cx="7665466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mixes need every sector and fuel combination handled properly: a fully consistent approach.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WAY FORWARD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module in two, and update the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0641"/>
            <a:ext cx="5207000" cy="1915021"/>
          </a:xfrm>
          <a:prstGeom prst="roundRect">
            <a:avLst>
              <a:gd name="adj" fmla="val 3979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7600" y="2255441"/>
            <a:ext cx="4735322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1 · update with AI and Lambdas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2613521"/>
            <a:ext cx="4735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3045321"/>
            <a:ext cx="473532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predicts emissions reductions: part A, and most of parts B (baseline) and C (policy).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50641"/>
            <a:ext cx="5207000" cy="1915021"/>
          </a:xfrm>
          <a:prstGeom prst="roundRect">
            <a:avLst>
              <a:gd name="adj" fmla="val 397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77000" y="2255441"/>
            <a:ext cx="4735322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2 · largely as now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77000" y="2613521"/>
            <a:ext cx="4735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77000" y="3045321"/>
            <a:ext cx="473532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else: the parts that turn engine results into outputs.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AND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Recode the fuel use model first, then power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9041"/>
          <a:ext cx="10566400" cy="914400"/>
        </p:xfrm>
        <a:graphic>
          <a:graphicData uri="http://schemas.openxmlformats.org/drawingml/2006/table">
            <a:tbl>
              <a:tblPr/>
              <a:tblGrid>
                <a:gridCol w="4226520"/>
                <a:gridCol w="633988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inputs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(depends on the main model)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Largely as now; recoded with AI for proof of concept and checking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fuel use model (main focus)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1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recoding with Lambda functions and arrays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1CF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power model (secondary)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1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recoding with Lambda functions and arrays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1CF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transport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Emissions accounting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pollution array calculation: a major chance to automate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results for presentation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Largely as now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LAMBDA FUNCTION?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fuel use formula once, reuse it everywhere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38100" cy="537766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3300" y="1899841"/>
            <a:ext cx="54024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the Name Manager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3300" y="2198291"/>
            <a:ext cx="540245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reused formula with a name, set in one place.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590006"/>
            <a:ext cx="38100" cy="537766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3300" y="2590006"/>
            <a:ext cx="54024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VBA function, but better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3300" y="2888456"/>
            <a:ext cx="540245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Quicker, and without the security concerns of macros.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280172"/>
            <a:ext cx="38100" cy="777081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3300" y="3280172"/>
            <a:ext cx="54024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arrays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3300" y="3578622"/>
            <a:ext cx="540245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apply it across fuels and sectors at once. The main fuel use equation suits both.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53200" y="1899841"/>
            <a:ext cx="4826000" cy="2382441"/>
          </a:xfrm>
          <a:prstGeom prst="roundRect">
            <a:avLst>
              <a:gd name="adj" fmla="val 3198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2204641"/>
            <a:ext cx="43428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Manager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519561"/>
            <a:ext cx="43428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FuelUse = LAMBDA(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Price_t-1, Price_t,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FuelUse_t-1, …,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formula)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764161"/>
            <a:ext cx="43428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 a cell: =FuelUse(…)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PROPOSAL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Recode the main engine, starting with fuel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10566400" cy="520700"/>
          </a:xfrm>
          <a:prstGeom prst="roundRect">
            <a:avLst>
              <a:gd name="adj" fmla="val 9756"/>
            </a:avLst>
          </a:prstGeom>
          <a:solidFill>
            <a:srgbClr val="F6E1C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1899841"/>
            <a:ext cx="10566400" cy="520700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current code is hard to maintain and cannot fully handle policy mixes.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725341"/>
            <a:ext cx="3386634" cy="1613892"/>
          </a:xfrm>
          <a:prstGeom prst="roundRect">
            <a:avLst>
              <a:gd name="adj" fmla="val 3148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2725341"/>
            <a:ext cx="3386634" cy="38100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6800" y="3017441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fuel use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66800" y="3362821"/>
            <a:ext cx="296499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the fuel use equations, with simplified prices.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634" y="2725341"/>
            <a:ext cx="3386634" cy="1613892"/>
          </a:xfrm>
          <a:prstGeom prst="roundRect">
            <a:avLst>
              <a:gd name="adj" fmla="val 314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402634" y="2725341"/>
            <a:ext cx="3386634" cy="38100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56634" y="3017441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every combination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56634" y="3362821"/>
            <a:ext cx="296499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mixes need the full Cartesian product of retail prices, direct pricing and ETS permits.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2467" y="2725341"/>
            <a:ext cx="3386634" cy="1613892"/>
          </a:xfrm>
          <a:prstGeom prst="roundRect">
            <a:avLst>
              <a:gd name="adj" fmla="val 3148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467" y="2725341"/>
            <a:ext cx="3386634" cy="38100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6467" y="3017441"/>
            <a:ext cx="296499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reform via the interface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46467" y="3606602"/>
            <a:ext cx="296499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fuel subsidy reform in through the new interface, not through prices.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RECODING AND PROOF OF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keeps code, Excel and documentation consistent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5156200" cy="242570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2200" y="2179241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560241"/>
            <a:ext cx="47353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consistency between the coded version, the Excel version and the documentation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2200" y="305554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check the Excel version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2200" y="330319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with Cowork is efficient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3550841"/>
            <a:ext cx="47353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Positron (Posit's VS Code-based IDE) works well for coding with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3000" y="1899841"/>
            <a:ext cx="5156200" cy="2425700"/>
          </a:xfrm>
          <a:prstGeom prst="roundRect">
            <a:avLst>
              <a:gd name="adj" fmla="val 3141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400" y="2179241"/>
            <a:ext cx="473532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02400" y="2494161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matrix proof of concept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02400" y="287516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AI coding in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02400" y="312281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we can match CPAT formats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02400" y="3472061"/>
            <a:ext cx="4735322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Lambdas in this proof of concept: not needed here, and a LibreOffice issue was not easily fixed.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lighter, cleaner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3386634" cy="1534120"/>
          </a:xfrm>
          <a:prstGeom prst="roundRect">
            <a:avLst>
              <a:gd name="adj" fmla="val 49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17600" y="2204641"/>
            <a:ext cx="304800" cy="304800"/>
          </a:xfrm>
          <a:prstGeom prst="ellipse">
            <a:avLst/>
          </a:prstGeom>
          <a:ln w="25400">
            <a:solidFill>
              <a:srgbClr val="A852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0733" y="2297774"/>
            <a:ext cx="118533" cy="118533"/>
          </a:xfrm>
          <a:prstGeom prst="ellipse">
            <a:avLst/>
          </a:prstGeom>
          <a:solidFill>
            <a:srgbClr val="A852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2200" y="263644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lighter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02634" y="1899841"/>
            <a:ext cx="3386634" cy="1534120"/>
          </a:xfrm>
          <a:prstGeom prst="roundRect">
            <a:avLst>
              <a:gd name="adj" fmla="val 496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07434" y="2204641"/>
            <a:ext cx="304800" cy="304800"/>
          </a:xfrm>
          <a:prstGeom prst="ellipse">
            <a:avLst/>
          </a:prstGeom>
          <a:ln w="25400">
            <a:solidFill>
              <a:srgbClr val="A852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567" y="2297774"/>
            <a:ext cx="118533" cy="118533"/>
          </a:xfrm>
          <a:prstGeom prst="ellipse">
            <a:avLst/>
          </a:prstGeom>
          <a:solidFill>
            <a:srgbClr val="A852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2034" y="263644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consistent, fewer bugs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92467" y="1899841"/>
            <a:ext cx="3386634" cy="1534120"/>
          </a:xfrm>
          <a:prstGeom prst="roundRect">
            <a:avLst>
              <a:gd name="adj" fmla="val 496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97267" y="2204641"/>
            <a:ext cx="304800" cy="304800"/>
          </a:xfrm>
          <a:prstGeom prst="ellipse">
            <a:avLst/>
          </a:prstGeom>
          <a:ln w="25400">
            <a:solidFill>
              <a:srgbClr val="A852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0401" y="2297774"/>
            <a:ext cx="118533" cy="118533"/>
          </a:xfrm>
          <a:prstGeom prst="ellipse">
            <a:avLst/>
          </a:prstGeom>
          <a:solidFill>
            <a:srgbClr val="A852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1867" y="2636441"/>
            <a:ext cx="2912669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separate from the rest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2800" y="3738761"/>
            <a:ext cx="10566400" cy="774700"/>
          </a:xfrm>
          <a:prstGeom prst="roundRect">
            <a:avLst>
              <a:gd name="adj" fmla="val 9836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7600" y="4010521"/>
            <a:ext cx="49053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spc="100" kern="0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797050" y="3992761"/>
            <a:ext cx="4957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the main fuel use equations, then the power model.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486720"/>
            <a:ext cx="105664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28 APRIL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974380"/>
            <a:ext cx="981075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848100"/>
            <a:ext cx="91567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fix: a planned approach across both teams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LAST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issues, each with a partial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49041"/>
            <a:ext cx="3403600" cy="282158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9041"/>
            <a:ext cx="3403600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1400" y="2115741"/>
            <a:ext cx="303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validation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41400" y="2433241"/>
            <a:ext cx="303479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WB work in 2022/23; it advised separating short- and long-run responses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41400" y="3073202"/>
            <a:ext cx="30347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flexible, ideally coded, version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41400" y="3286522"/>
            <a:ext cx="303479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term: own time-series estimates, back-testing, WB write-up of the IMF meta-analysis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1400" y="4015383"/>
            <a:ext cx="30347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solution: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paper on the mitigation module, with Carolyn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4200" y="1849041"/>
            <a:ext cx="3403600" cy="282158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4200" y="1849041"/>
            <a:ext cx="3403600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22800" y="2115741"/>
            <a:ext cx="303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22800" y="2433241"/>
            <a:ext cx="30347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demo: MT is large, and CPAT with MT is very slow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22800" y="2859881"/>
            <a:ext cx="30347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bugs to fix; the power model is too complex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22800" y="3375422"/>
            <a:ext cx="30347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solution: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slice version and a cut-down MT (country tool) for demos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75600" y="1849041"/>
            <a:ext cx="3403600" cy="282158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975600" y="1849041"/>
            <a:ext cx="3403600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04200" y="2115741"/>
            <a:ext cx="303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04200" y="2433241"/>
            <a:ext cx="30347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cells, never checked for bugs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04200" y="2646561"/>
            <a:ext cx="30347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fast engine for policy mixes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04200" y="2859881"/>
            <a:ext cx="30347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try new functional forms, e.g. for ETS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4200" y="3375422"/>
            <a:ext cx="303479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solution: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series of steps, core engine and policy mixes first; use the coded version to check Excel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4648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quick fix: one FY27 plan across both teams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99841"/>
            <a:ext cx="981075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problems cannot be fully solved within current constraints and need a management plan. A coded solution helps, but departs from the spreadsheet form. In Excel, policy mixes need an upgraded core engine, which will not fix everything.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977952"/>
            <a:ext cx="3386634" cy="107940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977952"/>
            <a:ext cx="3386634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66800" y="3270052"/>
            <a:ext cx="296499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66800" y="3559572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coded and AI-Excel engine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2634" y="2977952"/>
            <a:ext cx="3386634" cy="107940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34" y="2977952"/>
            <a:ext cx="3386634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6634" y="3270052"/>
            <a:ext cx="296499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56634" y="3559572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proposals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92467" y="2977952"/>
            <a:ext cx="3386634" cy="107940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67" y="2977952"/>
            <a:ext cx="3386634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46467" y="3270052"/>
            <a:ext cx="296499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46467" y="3559572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core engine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PROPOSALS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steps help, even without a full fix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4483596" cy="2513211"/>
          </a:xfrm>
          <a:prstGeom prst="roundRect">
            <a:avLst>
              <a:gd name="adj" fmla="val 2021"/>
            </a:avLst>
          </a:prstGeom>
          <a:solidFill>
            <a:srgbClr val="EFEDE6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99841"/>
            <a:ext cx="4483596" cy="38100"/>
          </a:xfrm>
          <a:prstGeom prst="rect">
            <a:avLst/>
          </a:prstGeom>
          <a:solidFill>
            <a:srgbClr val="7A84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2200" y="2217341"/>
            <a:ext cx="40425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issues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2200" y="2598341"/>
            <a:ext cx="4042540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2200" y="2854226"/>
            <a:ext cx="4042540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(memory)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3110111"/>
            <a:ext cx="4042540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Unmanageable: many cells, hard to code flexibly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3365996"/>
            <a:ext cx="4042540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not set up for policy mixes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2200" y="3621881"/>
            <a:ext cx="4042540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 to keep the spreadsheet 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50396" y="1899841"/>
            <a:ext cx="5828804" cy="2513211"/>
          </a:xfrm>
          <a:prstGeom prst="roundRect">
            <a:avLst>
              <a:gd name="adj" fmla="val 202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50396" y="1899841"/>
            <a:ext cx="5828804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29796" y="2217341"/>
            <a:ext cx="542810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helps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829796" y="2598341"/>
            <a:ext cx="5428104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operationalizing coded CPAT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829796" y="2854226"/>
            <a:ext cx="5428104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 engine that handles multiple policies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29796" y="3110111"/>
            <a:ext cx="5428104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elasticity model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829796" y="3365996"/>
            <a:ext cx="5428104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model: simplify and recode with AI, once done in coded form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829796" y="3621881"/>
            <a:ext cx="5428104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 end, so a file holds one country's data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29796" y="3877766"/>
            <a:ext cx="5428104" cy="2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functions; arrays for emissions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PROPOSALS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to put CPAT on a sound footing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99841"/>
            <a:ext cx="3662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F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988741"/>
            <a:ext cx="2236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paper about CPAT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443361"/>
            <a:ext cx="3662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F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532261"/>
            <a:ext cx="3126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funding for CPAT maintenance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2986881"/>
            <a:ext cx="3662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F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75781"/>
            <a:ext cx="87577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up the mitigation module, with an owner and a second for each part, on both WB and IMF sides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3530402"/>
            <a:ext cx="3662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F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9302"/>
            <a:ext cx="7142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coded conversion seriously: it can validate CPAT and give serious results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4073922"/>
            <a:ext cx="3662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F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62822"/>
            <a:ext cx="84634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main module first (Lambdas if available), then the power model; simplify over a year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CORE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the main engine in a new tab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23641"/>
            <a:ext cx="10203180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mitigation module is a beast. Improving it needs a planned approach that builds on what we have.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10011"/>
          <a:ext cx="10566400" cy="914400"/>
        </p:xfrm>
        <a:graphic>
          <a:graphicData uri="http://schemas.openxmlformats.org/drawingml/2006/table">
            <a:tbl>
              <a:tblPr/>
              <a:tblGrid>
                <a:gridCol w="2747169"/>
                <a:gridCol w="3592513"/>
                <a:gridCol w="4226719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projected retail price per sector and fuel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simpler price projection, easy to explain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Taxes, subsidies, ETS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tax or subsidy change per fuel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mixes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mitigation equation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use of the formulae; smaller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Simplify and publish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3649861"/>
            <a:ext cx="10566400" cy="459680"/>
          </a:xfrm>
          <a:prstGeom prst="roundRect">
            <a:avLst>
              <a:gd name="adj" fmla="val 11051"/>
            </a:avLst>
          </a:prstGeom>
          <a:solidFill>
            <a:srgbClr val="DCE8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2800" y="3649861"/>
            <a:ext cx="10566400" cy="459680"/>
          </a:xfrm>
          <a:prstGeom prst="rect">
            <a:avLst/>
          </a:prstGeom>
          <a:noFill/>
          <a:ln/>
        </p:spPr>
        <p:txBody>
          <a:bodyPr wrap="square" lIns="177800" tIns="114300" rIns="177800" bIns="1143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CPAT not much faster or smaller, but a consistent, more flexible engine that can do policy mixes.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A85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FB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464800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B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engine twice, in code and AI-Excel, starting with an MVP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41761"/>
            <a:ext cx="5105400" cy="19050"/>
          </a:xfrm>
          <a:prstGeom prst="rect">
            <a:avLst/>
          </a:prstGeom>
          <a:solidFill>
            <a:srgbClr val="FBE3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2513211"/>
            <a:ext cx="525856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B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code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848471"/>
            <a:ext cx="525856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B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engine replaces 250,000+ cells. Every figure traces to an equation, a parameter and a source.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3800" y="2341761"/>
            <a:ext cx="5105400" cy="19050"/>
          </a:xfrm>
          <a:prstGeom prst="rect">
            <a:avLst/>
          </a:prstGeom>
          <a:solidFill>
            <a:srgbClr val="FBE3C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73800" y="2513211"/>
            <a:ext cx="510540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B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spreadsheet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273800" y="2848471"/>
            <a:ext cx="510540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B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AI-Excel keeps the form users want. The coded version adds speed, testing and a cross-check.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592612"/>
            <a:ext cx="5105400" cy="19050"/>
          </a:xfrm>
          <a:prstGeom prst="rect">
            <a:avLst/>
          </a:prstGeom>
          <a:solidFill>
            <a:srgbClr val="FBE3C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2800" y="3764062"/>
            <a:ext cx="525856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B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policy mixes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4099322"/>
            <a:ext cx="525856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B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sector, fuel and policy combination from the start, as the new UI needs.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3800" y="3592612"/>
            <a:ext cx="5105400" cy="19050"/>
          </a:xfrm>
          <a:prstGeom prst="rect">
            <a:avLst/>
          </a:prstGeom>
          <a:solidFill>
            <a:srgbClr val="FBE3C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73800" y="3764062"/>
            <a:ext cx="510540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B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step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73800" y="4099322"/>
            <a:ext cx="510540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B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updates code, Excel and documentation together, so one model can be kept long term.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894263"/>
            <a:ext cx="10566400" cy="787400"/>
          </a:xfrm>
          <a:prstGeom prst="roundRect">
            <a:avLst>
              <a:gd name="adj" fmla="val 6452"/>
            </a:avLst>
          </a:prstGeom>
          <a:solidFill>
            <a:srgbClr val="FBE3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2800" y="4894263"/>
            <a:ext cx="10566400" cy="787400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small: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MVP of mitigation basics in code and AI-Excel, then add modules one by one, and apply it in a country project (to be defined).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B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326680"/>
            <a:ext cx="105664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spc="200" kern="0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STATUS IN SEPTEMBER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814340"/>
            <a:ext cx="981075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upgrades stand now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688060"/>
            <a:ext cx="91567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recoding is now the Coded CPAT and AI-Excel project, with an MVP due in October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STATUS OF ENGINE UPGRADES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is being rebuilt in code and AI-Excel together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65201"/>
          <a:ext cx="10566400" cy="914400"/>
        </p:xfrm>
        <a:graphic>
          <a:graphicData uri="http://schemas.openxmlformats.org/drawingml/2006/table">
            <a:tbl>
              <a:tblPr/>
              <a:tblGrid>
                <a:gridCol w="3169841"/>
                <a:gridCol w="1901924"/>
                <a:gridCol w="5494635"/>
              </a:tblGrid>
              <a:tr h="2063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in April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tables proof of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and proof of concept on prices, July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Recode main fuel use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Set-up done; AI-Excel begun. Mitigation basics and Excel MVP due 16 Oct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Recode power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and code, weeks of 9 and 16 Nov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pollution (arrays)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and code, late Nov to early Dec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and code, February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for policy mixes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into the new engine; policy crediting and FFI in February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tool for demos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MVP and Shiny, week of 19 Oct; Shiny prototype in January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FY27 work plan v1.1 and master timeline, 28 Sept 2026 · Issues with CPAT and Options for Remediation ·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STATUS OF THE WIDER WORK PROGRAM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Coded CPAT now runs on the SiSePuede side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65201"/>
          <a:ext cx="10566400" cy="914400"/>
        </p:xfrm>
        <a:graphic>
          <a:graphicData uri="http://schemas.openxmlformats.org/drawingml/2006/table">
            <a:tbl>
              <a:tblPr/>
              <a:tblGrid>
                <a:gridCol w="3169841"/>
                <a:gridCol w="1901924"/>
                <a:gridCol w="5494635"/>
              </a:tblGrid>
              <a:tr h="2063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in April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Operationalize coded CPAT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 full on the SiSePuede side; prices and policies partly in; air pollution translation in January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public investment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from CCDR data; enters the pathways tool as the CPAT-LTS investment approach (V1)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the ETS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FY27 work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 working paper on CPAT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FY27 work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 industrial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FY27 work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legacy CPAT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 of the FY27 plan; see the CPAT Validation 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defined: a country application of the new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FY27 work plan v1.1, 28 Sept 2026 · Issues with CPAT and Options for Remediation · 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326680"/>
            <a:ext cx="105664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AS AT APRIL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814340"/>
            <a:ext cx="981075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year's WP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688060"/>
            <a:ext cx="91567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program and statuses as presented in April 2026. Appendix A has the current status.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THIS YEAR’S WP, AS AT APRIL 2026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ETS pilot, coded CPAT and a working paper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9041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1796256"/>
                <a:gridCol w="1584920"/>
                <a:gridCol w="4649291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the ETS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(one week)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Test, including the link to the power model; improve macro; send to countries with a basic user 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Operationalize coded CPAT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(consultants, TdM Mexico)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mitigation to SiSePuede, later import to the CPAT team; code power with AI; soft-link air pollution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a WB working paper on CPAT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the power investment equation (Medium-Low); draft and circulate; Egypt 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THIS YEAR’S WP, AS AT APRIL 2026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investment and industrial pricing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9041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1796256"/>
                <a:gridCol w="1584920"/>
                <a:gridCol w="4649291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the green public investment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done (same as the WB-side UI prototype); uses CCDR data; SiSePuede emulator July–Nov 2026; apply in Uganda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downstream industrial 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facility-level downstream emissions data; examples in Egypt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3417491"/>
            <a:ext cx="10566400" cy="57150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2800" y="3417491"/>
            <a:ext cx="10566400" cy="571500"/>
          </a:xfrm>
          <a:prstGeom prst="rect">
            <a:avLst/>
          </a:prstGeom>
          <a:noFill/>
          <a:ln/>
        </p:spPr>
        <p:txBody>
          <a:bodyPr wrap="square" lIns="228600" tIns="152400" rIns="228600" bIns="1524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to do more this fiscal year.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CPAT and Options for Remediation · 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Issues with CPAT and Options for Remediation</dc:title>
  <dc:subject>PptxGenJS Presentation</dc:subject>
  <dc:creator>Stephen Stretton</dc:creator>
  <cp:lastModifiedBy>Stephen Stretton</cp:lastModifiedBy>
  <cp:revision>1</cp:revision>
  <dcterms:created xsi:type="dcterms:W3CDTF">2026-09-28T21:41:26Z</dcterms:created>
  <dcterms:modified xsi:type="dcterms:W3CDTF">2026-09-28T21:41:26Z</dcterms:modified>
</cp:coreProperties>
</file>