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set out the plan for converting CPAT into two AI-built products — a coded engine and an AI-Excel version — compare them, and propose other AI tools built on the same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follows Section A of the FY27 work plan. Every figure should be traceable to an equation, a parameter and a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point: an AI-codable engine lets us keep code, Excel and documentation in step automatically. That is what makes two forms affordable now, and one model possible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forms share one set of equations and are kept equivalent by script. Each is built component by component, together: distribution, mitigation basics, power, other mitigation and GDP, air pollution, transport.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AI-Excel also lowers the risk of building a new user interface on an archaic back end. It is not meant to replace legacy CPAT yet; that is for later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Joint working with AI: rather than passing around long context, we keep small generative files and concise scripts. Anyone, with any AI tool, can regenerate the Excel, the code and the documentation from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room: what other issues should we plan for? These points come from discussion with Dirk.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master plan. Mitigation basics and the Excel MVP take the weeks of 5 and 12 October, covering both AI-Excel and code. Then one week on the code MVP and Shiny, followed by two-week blocks: distribution, power, air pollution, and the remainder of mitigation before the Christmas leave. After leave: Shiny prototype, GHG accounting, transport, then policy crediting and FFI (assumed one week), macro-fiscal dashboard updates and policy reports, finishing in the week of 15 March, before the contract ends on 20 March.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point of this section: none of these is a new build. Each starts from a prototype, tool or integration that already exists, and the work is a small adjustment. The main effort this FY stays on the coded conversion and AI-Excel.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Proof of concept done in July. Every fact carries a source, so country teams can check it. The metrics listed are examples; the final set is to be agreed.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AI-built dashboard proof of concept, with a full data audit trail. The tax indicators from the Excise Diagnostic join this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prototypes exist. Bringing them together gives one dashboard, which now carries tax indicators alongside macro-fiscal ones, and a written policy issue report drawn from the same sourced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says what is there; the policy issue report says what to do next. Together they give a fast, sourced starting point for policy dialogue.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Objective 2 of the work plan. The coded engine itself is built in Part 1; this task is supervision of the CPM team, not new model building.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Objective 2 of the work plan: a common Python platform for CPAT, MFMod-Python and FTT, with Zoe, in February. The value is access: teams can pick up and run the models we already have.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inviting potential issues. The Excel MVP on 16 October is the next checkpoint.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1859855"/>
            <a:ext cx="10566400" cy="248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spc="200" kern="0" dirty="0">
                <a:solidFill>
                  <a:srgbClr val="E3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DISCUSSION · 28 SEPTEMBER 2026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2362696"/>
            <a:ext cx="9810750" cy="1426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7F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Coded CPAT and other AI tools</a:t>
            </a:r>
            <a:endParaRPr lang="en-US" sz="5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4043065"/>
            <a:ext cx="91567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coded conversion and AI-Excel, and the AI tools we can build on them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12800" y="4639965"/>
            <a:ext cx="1987550" cy="358080"/>
          </a:xfrm>
          <a:prstGeom prst="roundRect">
            <a:avLst>
              <a:gd name="adj" fmla="val 51072"/>
            </a:avLst>
          </a:prstGeom>
          <a:solidFill>
            <a:srgbClr val="8FB8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12800" y="4639965"/>
            <a:ext cx="2047176" cy="358080"/>
          </a:xfrm>
          <a:prstGeom prst="rect">
            <a:avLst/>
          </a:prstGeom>
          <a:noFill/>
          <a:ln/>
        </p:spPr>
        <p:txBody>
          <a:bodyPr wrap="square" lIns="152400" tIns="63500" rIns="152400" bIns="6350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Coded: Python + Shiny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52750" y="4639965"/>
            <a:ext cx="927100" cy="358080"/>
          </a:xfrm>
          <a:prstGeom prst="roundRect">
            <a:avLst>
              <a:gd name="adj" fmla="val 51072"/>
            </a:avLst>
          </a:prstGeom>
          <a:solidFill>
            <a:srgbClr val="E3A36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952750" y="4639965"/>
            <a:ext cx="954913" cy="358080"/>
          </a:xfrm>
          <a:prstGeom prst="rect">
            <a:avLst/>
          </a:prstGeom>
          <a:noFill/>
          <a:ln/>
        </p:spPr>
        <p:txBody>
          <a:bodyPr wrap="square" lIns="152400" tIns="63500" rIns="152400" bIns="6350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AI-Excel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32250" y="4639965"/>
            <a:ext cx="1346200" cy="358080"/>
          </a:xfrm>
          <a:prstGeom prst="roundRect">
            <a:avLst>
              <a:gd name="adj" fmla="val 51072"/>
            </a:avLst>
          </a:prstGeom>
          <a:solidFill>
            <a:srgbClr val="C9D3E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032250" y="4639965"/>
            <a:ext cx="1386586" cy="358080"/>
          </a:xfrm>
          <a:prstGeom prst="rect">
            <a:avLst/>
          </a:prstGeom>
          <a:noFill/>
          <a:ln/>
        </p:spPr>
        <p:txBody>
          <a:bodyPr wrap="square" lIns="152400" tIns="63500" rIns="152400" bIns="6350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AI tools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Stephen Stretton · World Bank · FY27 work plan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635720"/>
            <a:ext cx="3318867" cy="38100"/>
          </a:xfrm>
          <a:prstGeom prst="rect">
            <a:avLst/>
          </a:prstGeom>
          <a:solidFill>
            <a:srgbClr val="7A849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12800" y="1851620"/>
            <a:ext cx="3418433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191941"/>
            <a:ext cx="341843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and scope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593181"/>
            <a:ext cx="3418433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6467" y="1635720"/>
            <a:ext cx="3318966" cy="38100"/>
          </a:xfrm>
          <a:prstGeom prst="rect">
            <a:avLst/>
          </a:prstGeom>
          <a:solidFill>
            <a:srgbClr val="A852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36467" y="1851620"/>
            <a:ext cx="3418535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A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SLIDES 4–11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436467" y="2191941"/>
            <a:ext cx="341853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conversion and AI-Excel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436467" y="2593181"/>
            <a:ext cx="3418535" cy="26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convert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436467" y="2857302"/>
            <a:ext cx="3418535" cy="26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products compared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436467" y="3121422"/>
            <a:ext cx="3418535" cy="26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purposes of AI-Excel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436467" y="3385542"/>
            <a:ext cx="3418535" cy="26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436467" y="3649663"/>
            <a:ext cx="3418535" cy="26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and resolutions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36467" y="3913783"/>
            <a:ext cx="3418535" cy="26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436467" y="4177903"/>
            <a:ext cx="3418535" cy="26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timeline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060234" y="1635720"/>
            <a:ext cx="3318966" cy="38100"/>
          </a:xfrm>
          <a:prstGeom prst="rect">
            <a:avLst/>
          </a:prstGeom>
          <a:solidFill>
            <a:srgbClr val="1F5A9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60234" y="1851620"/>
            <a:ext cx="331896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SLIDES 12–20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060234" y="2191941"/>
            <a:ext cx="331896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AI tools and integration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060234" y="2593181"/>
            <a:ext cx="3318966" cy="26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(13)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060234" y="2857302"/>
            <a:ext cx="3318966" cy="26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Dashboard (14–16)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060234" y="3121422"/>
            <a:ext cx="3318966" cy="26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Policy issue report (17)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060234" y="3385542"/>
            <a:ext cx="3318966" cy="26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Total Carbon Price (18)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060234" y="3649663"/>
            <a:ext cx="3318966" cy="26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CPAT–SiSePuede (19)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060234" y="3913783"/>
            <a:ext cx="3318966" cy="264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6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Python platform (20)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060234" y="4304903"/>
            <a:ext cx="3318966" cy="332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· Slides 21–22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CPAT and other AI tools ·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AND SCOPE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464800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coded CPAT engine with AI, in two forms kept equal, and apply 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250281"/>
            <a:ext cx="5156200" cy="2711450"/>
          </a:xfrm>
          <a:prstGeom prst="roundRect">
            <a:avLst>
              <a:gd name="adj" fmla="val 1874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2250281"/>
            <a:ext cx="5156200" cy="381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92200" y="2567781"/>
            <a:ext cx="473532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92200" y="2948781"/>
            <a:ext cx="47353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engine (Python + Shiny) and AI-Excel, at MVP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92200" y="3196431"/>
            <a:ext cx="473532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Distribution, mitigation basics, power, other mitigation and GDP, air pollution, transport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2200" y="3691731"/>
            <a:ext cx="47353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agreed approach to the WB–IMF CPAT process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92200" y="3939381"/>
            <a:ext cx="47353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accounting, and other AI tools on the same base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2200" y="4187031"/>
            <a:ext cx="473532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Supervising CPAT–SiSePuede integration; a single Python platform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23000" y="2250281"/>
            <a:ext cx="5156200" cy="2711450"/>
          </a:xfrm>
          <a:prstGeom prst="roundRect">
            <a:avLst>
              <a:gd name="adj" fmla="val 1874"/>
            </a:avLst>
          </a:prstGeom>
          <a:solidFill>
            <a:srgbClr val="EFEDE6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3000" y="2250281"/>
            <a:ext cx="5156200" cy="38100"/>
          </a:xfrm>
          <a:prstGeom prst="rect">
            <a:avLst/>
          </a:prstGeom>
          <a:solidFill>
            <a:srgbClr val="7A849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02400" y="2567781"/>
            <a:ext cx="473532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502400" y="2948781"/>
            <a:ext cx="47353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Validating the legacy CPAT Excel file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02400" y="3196431"/>
            <a:ext cx="47353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all of Excel CPAT (for later discussion)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02400" y="3444081"/>
            <a:ext cx="47353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new models for the pathways tool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02400" y="3691731"/>
            <a:ext cx="47353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development of MFMod-Python or FTT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CPAT and other AI tools ·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2151459"/>
            <a:ext cx="1056640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1" spc="200" kern="0" dirty="0">
                <a:solidFill>
                  <a:srgbClr val="E3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2639120"/>
            <a:ext cx="9810750" cy="1341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7F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coded conversion and AI-Excel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4183360"/>
            <a:ext cx="9156700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convert, the two products, how they stay equal, the issues and the milestones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CPAT and other AI tools ·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A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CONVERT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front end is being built on an old back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50641"/>
            <a:ext cx="3386634" cy="2196902"/>
          </a:xfrm>
          <a:prstGeom prst="roundRect">
            <a:avLst>
              <a:gd name="adj" fmla="val 231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950641"/>
            <a:ext cx="3386634" cy="381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6800" y="2242741"/>
            <a:ext cx="2964993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is hard to change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66800" y="2603401"/>
            <a:ext cx="2964993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WB–IMF user interface is new, but the calculations sit in one large legacy Excel file. Formulae are hard to trace and adjust.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2634" y="1950641"/>
            <a:ext cx="3386634" cy="2196902"/>
          </a:xfrm>
          <a:prstGeom prst="roundRect">
            <a:avLst>
              <a:gd name="adj" fmla="val 2312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402634" y="1950641"/>
            <a:ext cx="3386634" cy="381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56634" y="2242741"/>
            <a:ext cx="2964993" cy="51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uses need a clear engine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56634" y="2862461"/>
            <a:ext cx="2964993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accounting for DPFs and policy crediting need every figure traced to an equation, a parameter and a source.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2467" y="1950641"/>
            <a:ext cx="3386634" cy="2196902"/>
          </a:xfrm>
          <a:prstGeom prst="roundRect">
            <a:avLst>
              <a:gd name="adj" fmla="val 2312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992467" y="1950641"/>
            <a:ext cx="3386634" cy="381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46467" y="2242741"/>
            <a:ext cx="2964993" cy="51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makes one model cheap to keep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46467" y="2862461"/>
            <a:ext cx="2964993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AI, code, Excel and documentation can be updated at once. In the long run we want one Excel, not several.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CPAT and other AI tools · 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A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PRODUCTS, COMPARED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set of equations, two forms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99841"/>
          <a:ext cx="10566400" cy="914400"/>
        </p:xfrm>
        <a:graphic>
          <a:graphicData uri="http://schemas.openxmlformats.org/drawingml/2006/table">
            <a:tbl>
              <a:tblPr/>
              <a:tblGrid>
                <a:gridCol w="2324596"/>
                <a:gridCol w="4120852"/>
                <a:gridCol w="4120952"/>
              </a:tblGrid>
              <a:tr h="219075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8FB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Coded (Python + Shiny)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E3A3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AI-Excel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core engine in Python, with an online Shiny interface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cut-down CPAT in Excel, built from scratch with 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uses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comparison; full country work once complete; SiSePuede and pathways 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GHG accounting; a clean back end for the new WB–IMF interface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Modelers and teams who run code; web users via Shiny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Economists who work in Excel; IMF and WB CPAT teams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Scales, tests and links to other Python models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Familiar, transparent cell by cell, easy to audit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open to non-coders without Shiny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Harder to scale; LAMBDA needs a recent Excel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CPAT and other AI tools · 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A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FOR AI-EXCEL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AI-Excel serves three purposes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50641"/>
            <a:ext cx="3386634" cy="2819202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2200" y="2230041"/>
            <a:ext cx="29126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A85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092200" y="2814241"/>
            <a:ext cx="2912669" cy="51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to the WB–IMF process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92200" y="3459361"/>
            <a:ext cx="2912669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with Dirk: a contributor to future development, not yet the full CPAT. A base for one maintainable model.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2634" y="1950641"/>
            <a:ext cx="3386634" cy="2819202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82034" y="2230041"/>
            <a:ext cx="29126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A85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4682034" y="2814241"/>
            <a:ext cx="2912669" cy="51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accounting and policy crediting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82034" y="3459361"/>
            <a:ext cx="2912669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transparent Excel tool for ex-ante DPF accounting and crediting, where each figure is traceable.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2467" y="1950641"/>
            <a:ext cx="3386634" cy="2819202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71867" y="2230041"/>
            <a:ext cx="29126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A85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8271867" y="2814241"/>
            <a:ext cx="2912669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Cross-checking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71867" y="3200301"/>
            <a:ext cx="2912669" cy="1031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check on the coded engine and on legacy CPAT. Differences point to errors on either side.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CPAT and other AI tools · 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A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Scripts keep code, Excel and docs equal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080716"/>
            <a:ext cx="2286000" cy="1093391"/>
          </a:xfrm>
          <a:prstGeom prst="roundRect">
            <a:avLst>
              <a:gd name="adj" fmla="val 5808"/>
            </a:avLst>
          </a:prstGeom>
          <a:solidFill>
            <a:srgbClr val="FFFFFF"/>
          </a:solidFill>
          <a:ln w="12700">
            <a:solidFill>
              <a:srgbClr val="7A849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3300" y="2271216"/>
            <a:ext cx="19621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CPAT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3300" y="2556966"/>
            <a:ext cx="1962150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data and parameters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2627412"/>
            <a:ext cx="4064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708400" y="2080716"/>
            <a:ext cx="2286000" cy="1093391"/>
          </a:xfrm>
          <a:prstGeom prst="roundRect">
            <a:avLst>
              <a:gd name="adj" fmla="val 5808"/>
            </a:avLst>
          </a:prstGeom>
          <a:solidFill>
            <a:srgbClr val="FFFFFF"/>
          </a:solidFill>
          <a:ln w="12700">
            <a:solidFill>
              <a:srgbClr val="7A849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98900" y="2271216"/>
            <a:ext cx="19621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scripts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898900" y="2556966"/>
            <a:ext cx="1962150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data out, with a source trail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6000" y="2627412"/>
            <a:ext cx="4064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604000" y="2200077"/>
            <a:ext cx="2260600" cy="854670"/>
          </a:xfrm>
          <a:prstGeom prst="roundRect">
            <a:avLst>
              <a:gd name="adj" fmla="val 7430"/>
            </a:avLst>
          </a:prstGeom>
          <a:solidFill>
            <a:srgbClr val="1421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81800" y="2377877"/>
            <a:ext cx="196215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files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781800" y="2663627"/>
            <a:ext cx="196215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script + pseudocode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6200" y="2627412"/>
            <a:ext cx="406400" cy="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474200" y="1899841"/>
            <a:ext cx="1905000" cy="434280"/>
          </a:xfrm>
          <a:prstGeom prst="roundRect">
            <a:avLst>
              <a:gd name="adj" fmla="val 11698"/>
            </a:avLst>
          </a:prstGeom>
          <a:solidFill>
            <a:srgbClr val="DCE8F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474200" y="1899841"/>
            <a:ext cx="1905000" cy="434280"/>
          </a:xfrm>
          <a:prstGeom prst="rect">
            <a:avLst/>
          </a:prstGeom>
          <a:noFill/>
          <a:ln/>
        </p:spPr>
        <p:txBody>
          <a:bodyPr wrap="square" lIns="127000" tIns="101600" rIns="127000" bIns="10160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engine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474200" y="2410321"/>
            <a:ext cx="1905000" cy="434280"/>
          </a:xfrm>
          <a:prstGeom prst="roundRect">
            <a:avLst>
              <a:gd name="adj" fmla="val 11698"/>
            </a:avLst>
          </a:prstGeom>
          <a:solidFill>
            <a:srgbClr val="F6E1C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474200" y="2410321"/>
            <a:ext cx="1905000" cy="434280"/>
          </a:xfrm>
          <a:prstGeom prst="rect">
            <a:avLst/>
          </a:prstGeom>
          <a:noFill/>
          <a:ln/>
        </p:spPr>
        <p:txBody>
          <a:bodyPr wrap="square" lIns="127000" tIns="101600" rIns="127000" bIns="10160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AI-Excel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474200" y="2920802"/>
            <a:ext cx="1905000" cy="434280"/>
          </a:xfrm>
          <a:prstGeom prst="roundRect">
            <a:avLst>
              <a:gd name="adj" fmla="val 11698"/>
            </a:avLst>
          </a:prstGeom>
          <a:solidFill>
            <a:srgbClr val="E4E2D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474200" y="2920802"/>
            <a:ext cx="1905000" cy="434280"/>
          </a:xfrm>
          <a:prstGeom prst="rect">
            <a:avLst/>
          </a:prstGeom>
          <a:noFill/>
          <a:ln/>
        </p:spPr>
        <p:txBody>
          <a:bodyPr wrap="square" lIns="127000" tIns="101600" rIns="127000" bIns="10160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12800" y="3659882"/>
            <a:ext cx="38100" cy="904081"/>
          </a:xfrm>
          <a:prstGeom prst="rect">
            <a:avLst/>
          </a:prstGeom>
          <a:solidFill>
            <a:srgbClr val="A8521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28700" y="3710682"/>
            <a:ext cx="511467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generators, not context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28700" y="4034532"/>
            <a:ext cx="5114671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builds the Excel through a Python script. We save (a) that full script and (b) a readable pseudocode version that produces it.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97600" y="3659882"/>
            <a:ext cx="38100" cy="904081"/>
          </a:xfrm>
          <a:prstGeom prst="rect">
            <a:avLst/>
          </a:prstGeom>
          <a:solidFill>
            <a:srgbClr val="A8521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13500" y="3710682"/>
            <a:ext cx="49657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Claude or Copilot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413500" y="4034532"/>
            <a:ext cx="4965700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AI coding tool can pick it up. Proprietary data stays ring-fenced outside the shared files.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CPAT and other AI tools ·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A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ISSUES AND RESOLUTIONS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main risks are known and manageable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849041"/>
          <a:ext cx="10566400" cy="914400"/>
        </p:xfrm>
        <a:graphic>
          <a:graphicData uri="http://schemas.openxmlformats.org/drawingml/2006/table">
            <a:tbl>
              <a:tblPr/>
              <a:tblGrid>
                <a:gridCol w="1901924"/>
                <a:gridCol w="4332188"/>
                <a:gridCol w="4332288"/>
              </a:tblGrid>
              <a:tr h="206375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IMF ownership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IMF may want to take control, and could build its own version.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Agree the WB side first, then bring the IMF in early. Their version may look like ours.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Compatibility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LAMBDA functions need recent Excel; older copies, e.g. in finance ministries, may fail.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 ministries are not the first audience. LAMBDAs can be turned back into direct formulae.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 CPAT holds many ad hoc changes; the new model will not match them all at first.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a sound, maintainable base; extend it once code and AI-Excel are adequate.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of two Excel models to maintain in the long run.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contributor to the WB–IMF process, not yet the full CPAT. Long-term, keep one Excel.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Accessibility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 use different AI tools, and some data is proprietary.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with Claude or GitHub Copilot; proprietary data kept ring-fenced.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CPAT and other AI tools · 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A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 · 28 SEPTEMBER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weeks spent; the proofs of concept are done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99841"/>
            <a:ext cx="3386634" cy="2402979"/>
          </a:xfrm>
          <a:prstGeom prst="roundRect">
            <a:avLst>
              <a:gd name="adj" fmla="val 2114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99841"/>
            <a:ext cx="3386634" cy="38100"/>
          </a:xfrm>
          <a:prstGeom prst="rect">
            <a:avLst/>
          </a:prstGeom>
          <a:solidFill>
            <a:srgbClr val="A8521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66800" y="2191941"/>
            <a:ext cx="2964993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A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· 2 weeks · done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66800" y="2506861"/>
            <a:ext cx="2964993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Proofs of concept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66800" y="2852241"/>
            <a:ext cx="2964993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CPAT prototype, proof of concept on prices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66800" y="3330873"/>
            <a:ext cx="2964993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dashboard, with full data audit trail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66800" y="3809504"/>
            <a:ext cx="2964993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Excise Diagnostic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402634" y="1899841"/>
            <a:ext cx="3386634" cy="2402979"/>
          </a:xfrm>
          <a:prstGeom prst="roundRect">
            <a:avLst>
              <a:gd name="adj" fmla="val 2114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402634" y="1899841"/>
            <a:ext cx="3386634" cy="38100"/>
          </a:xfrm>
          <a:prstGeom prst="rect">
            <a:avLst/>
          </a:prstGeom>
          <a:solidFill>
            <a:srgbClr val="A8521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56634" y="2191941"/>
            <a:ext cx="2964993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A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· 3 weeks · done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56634" y="2506861"/>
            <a:ext cx="2964993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Set-up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56634" y="2852241"/>
            <a:ext cx="2964993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and scope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656634" y="3091557"/>
            <a:ext cx="2964993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set-up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656634" y="3330873"/>
            <a:ext cx="2964993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AI-Excel form begun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92467" y="1899841"/>
            <a:ext cx="3386634" cy="2402979"/>
          </a:xfrm>
          <a:prstGeom prst="roundRect">
            <a:avLst>
              <a:gd name="adj" fmla="val 2114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7992467" y="1899841"/>
            <a:ext cx="3386634" cy="38100"/>
          </a:xfrm>
          <a:prstGeom prst="rect">
            <a:avLst/>
          </a:prstGeom>
          <a:solidFill>
            <a:srgbClr val="1F5A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46467" y="2191941"/>
            <a:ext cx="2964993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Pathways tool · in progress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46467" y="2506861"/>
            <a:ext cx="2964993" cy="243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CPAT and SiSePuede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246467" y="2852241"/>
            <a:ext cx="2964993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reconciled; variables mapped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46467" y="3330873"/>
            <a:ext cx="2964993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CPAT run in full on the SiSePuede side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8246467" y="3809504"/>
            <a:ext cx="2964993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45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and policies partly brought in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12800" y="4607620"/>
            <a:ext cx="10566400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by leave to 14 July and through August (leave without pay). </a:t>
            </a:r>
            <a:pPr algn="l" indent="0" marL="0">
              <a:lnSpc>
                <a:spcPct val="145000"/>
              </a:lnSpc>
              <a:buNone/>
            </a:pPr>
            <a:r>
              <a:rPr lang="en-US" sz="1300" b="1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mitigation basics and the Excel MVP, from 5 October.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FY27 work plan v1.1 · Coded CPAT and other AI tools · 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A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TIMELINE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MVP by 16 October; all modules by February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156200" y="1879600"/>
            <a:ext cx="1587500" cy="3886200"/>
          </a:xfrm>
          <a:prstGeom prst="rect">
            <a:avLst/>
          </a:prstGeom>
          <a:solidFill>
            <a:srgbClr val="ECE9E1"/>
          </a:solidFill>
          <a:ln/>
        </p:spPr>
      </p:sp>
      <p:sp>
        <p:nvSpPr>
          <p:cNvPr id="5" name="Shape 3"/>
          <p:cNvSpPr/>
          <p:nvPr/>
        </p:nvSpPr>
        <p:spPr>
          <a:xfrm>
            <a:off x="7886700" y="1879600"/>
            <a:ext cx="1270000" cy="3886200"/>
          </a:xfrm>
          <a:prstGeom prst="rect">
            <a:avLst/>
          </a:prstGeom>
          <a:solidFill>
            <a:srgbClr val="ECE9E1"/>
          </a:solidFill>
          <a:ln/>
        </p:spPr>
      </p:sp>
      <p:sp>
        <p:nvSpPr>
          <p:cNvPr id="6" name="Shape 4"/>
          <p:cNvSpPr/>
          <p:nvPr/>
        </p:nvSpPr>
        <p:spPr>
          <a:xfrm>
            <a:off x="10426700" y="1879600"/>
            <a:ext cx="952500" cy="3886200"/>
          </a:xfrm>
          <a:prstGeom prst="rect">
            <a:avLst/>
          </a:prstGeom>
          <a:solidFill>
            <a:srgbClr val="ECE9E1"/>
          </a:solidFill>
          <a:ln/>
        </p:spPr>
      </p:sp>
      <p:sp>
        <p:nvSpPr>
          <p:cNvPr id="7" name="Shape 5"/>
          <p:cNvSpPr/>
          <p:nvPr/>
        </p:nvSpPr>
        <p:spPr>
          <a:xfrm>
            <a:off x="7378700" y="1879600"/>
            <a:ext cx="508000" cy="3886200"/>
          </a:xfrm>
          <a:prstGeom prst="rect">
            <a:avLst/>
          </a:prstGeom>
          <a:solidFill>
            <a:srgbClr val="E2DED3"/>
          </a:solidFill>
          <a:ln/>
        </p:spPr>
      </p:sp>
      <p:sp>
        <p:nvSpPr>
          <p:cNvPr id="8" name="Shape 6"/>
          <p:cNvSpPr/>
          <p:nvPr/>
        </p:nvSpPr>
        <p:spPr>
          <a:xfrm>
            <a:off x="812800" y="1916410"/>
            <a:ext cx="139700" cy="139700"/>
          </a:xfrm>
          <a:prstGeom prst="roundRect">
            <a:avLst>
              <a:gd name="adj" fmla="val 18182"/>
            </a:avLst>
          </a:prstGeom>
          <a:solidFill>
            <a:srgbClr val="A8521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16000" y="1879600"/>
            <a:ext cx="12034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AI-Excel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311400" y="1916410"/>
            <a:ext cx="139700" cy="139700"/>
          </a:xfrm>
          <a:prstGeom prst="roundRect">
            <a:avLst>
              <a:gd name="adj" fmla="val 18182"/>
            </a:avLst>
          </a:prstGeom>
          <a:solidFill>
            <a:srgbClr val="1F5A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14600" y="1879600"/>
            <a:ext cx="902589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 + code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800" y="2157710"/>
            <a:ext cx="139700" cy="139700"/>
          </a:xfrm>
          <a:prstGeom prst="roundRect">
            <a:avLst>
              <a:gd name="adj" fmla="val 18182"/>
            </a:avLst>
          </a:prstGeom>
          <a:solidFill>
            <a:srgbClr val="1421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16000" y="2120900"/>
            <a:ext cx="797941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968500" y="2157710"/>
            <a:ext cx="139700" cy="139700"/>
          </a:xfrm>
          <a:prstGeom prst="roundRect">
            <a:avLst>
              <a:gd name="adj" fmla="val 18182"/>
            </a:avLst>
          </a:prstGeom>
          <a:solidFill>
            <a:srgbClr val="3D7A7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171700" y="2120900"/>
            <a:ext cx="987616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AI tools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911600" y="1879600"/>
            <a:ext cx="1242695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181600" y="1879600"/>
            <a:ext cx="156972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69100" y="1879600"/>
            <a:ext cx="588645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378700" y="1879600"/>
            <a:ext cx="52324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912100" y="1879600"/>
            <a:ext cx="1242695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182100" y="1879600"/>
            <a:ext cx="1242695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452100" y="1879600"/>
            <a:ext cx="91567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3886200" y="2120900"/>
            <a:ext cx="327025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203700" y="2120900"/>
            <a:ext cx="327025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521200" y="2120900"/>
            <a:ext cx="327025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4838700" y="2120900"/>
            <a:ext cx="327025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156200" y="2120900"/>
            <a:ext cx="327025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73700" y="2120900"/>
            <a:ext cx="327025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791200" y="2120900"/>
            <a:ext cx="327025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108700" y="2120900"/>
            <a:ext cx="327025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26200" y="2120900"/>
            <a:ext cx="327025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743700" y="2120900"/>
            <a:ext cx="327025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061200" y="2120900"/>
            <a:ext cx="327025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7886700" y="2120900"/>
            <a:ext cx="327025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204200" y="2120900"/>
            <a:ext cx="327025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521700" y="2120900"/>
            <a:ext cx="327025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839200" y="2120900"/>
            <a:ext cx="327025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156700" y="2120900"/>
            <a:ext cx="327025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9474200" y="2120900"/>
            <a:ext cx="327025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9791700" y="2120900"/>
            <a:ext cx="327025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0109200" y="2120900"/>
            <a:ext cx="327025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0426700" y="2120900"/>
            <a:ext cx="327025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0744200" y="2120900"/>
            <a:ext cx="327025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1061700" y="2120900"/>
            <a:ext cx="3175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812800" y="2413000"/>
            <a:ext cx="306095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83333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basics + Excel MVP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812800" y="2692400"/>
            <a:ext cx="306095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83333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MVP + Shiny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812800" y="2971800"/>
            <a:ext cx="306095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83333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812800" y="3251200"/>
            <a:ext cx="306095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83333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12800" y="3530600"/>
            <a:ext cx="306095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83333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pollution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812800" y="3810000"/>
            <a:ext cx="306095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83333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Remainder of mitigation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812800" y="4089400"/>
            <a:ext cx="306095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83333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Shiny prototype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812800" y="4368800"/>
            <a:ext cx="306095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83333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GHG accounting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812800" y="4648200"/>
            <a:ext cx="306095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83333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54" name="Text 52"/>
          <p:cNvSpPr txBox="1"/>
          <p:nvPr/>
        </p:nvSpPr>
        <p:spPr>
          <a:xfrm>
            <a:off x="812800" y="4927600"/>
            <a:ext cx="306095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83333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crediting and FFI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812800" y="5207000"/>
            <a:ext cx="306095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83333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Macro-fiscal dashboard updates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812800" y="5486400"/>
            <a:ext cx="3060954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83333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reports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905250" y="2463800"/>
            <a:ext cx="596900" cy="177800"/>
          </a:xfrm>
          <a:prstGeom prst="roundRect">
            <a:avLst>
              <a:gd name="adj" fmla="val 21429"/>
            </a:avLst>
          </a:prstGeom>
          <a:solidFill>
            <a:srgbClr val="A8521A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4572000" y="2413000"/>
            <a:ext cx="170053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83333"/>
              </a:lnSpc>
              <a:buNone/>
            </a:pPr>
            <a:r>
              <a:rPr lang="en-US" sz="1200" b="1" dirty="0">
                <a:solidFill>
                  <a:srgbClr val="A85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· 16 Oct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540250" y="2743200"/>
            <a:ext cx="279400" cy="177800"/>
          </a:xfrm>
          <a:prstGeom prst="roundRect">
            <a:avLst>
              <a:gd name="adj" fmla="val 21429"/>
            </a:avLst>
          </a:prstGeom>
          <a:solidFill>
            <a:srgbClr val="1F5A96"/>
          </a:solidFill>
          <a:ln/>
        </p:spPr>
      </p:sp>
      <p:sp>
        <p:nvSpPr>
          <p:cNvPr id="60" name="Shape 58"/>
          <p:cNvSpPr/>
          <p:nvPr/>
        </p:nvSpPr>
        <p:spPr>
          <a:xfrm>
            <a:off x="4857750" y="3022600"/>
            <a:ext cx="596900" cy="177800"/>
          </a:xfrm>
          <a:prstGeom prst="roundRect">
            <a:avLst>
              <a:gd name="adj" fmla="val 21429"/>
            </a:avLst>
          </a:prstGeom>
          <a:solidFill>
            <a:srgbClr val="A8521A"/>
          </a:solidFill>
          <a:ln/>
        </p:spPr>
      </p:sp>
      <p:sp>
        <p:nvSpPr>
          <p:cNvPr id="61" name="Shape 59"/>
          <p:cNvSpPr/>
          <p:nvPr/>
        </p:nvSpPr>
        <p:spPr>
          <a:xfrm>
            <a:off x="5492750" y="3302000"/>
            <a:ext cx="596900" cy="177800"/>
          </a:xfrm>
          <a:prstGeom prst="roundRect">
            <a:avLst>
              <a:gd name="adj" fmla="val 21429"/>
            </a:avLst>
          </a:prstGeom>
          <a:solidFill>
            <a:srgbClr val="A8521A"/>
          </a:solidFill>
          <a:ln/>
        </p:spPr>
      </p:sp>
      <p:sp>
        <p:nvSpPr>
          <p:cNvPr id="62" name="Shape 60"/>
          <p:cNvSpPr/>
          <p:nvPr/>
        </p:nvSpPr>
        <p:spPr>
          <a:xfrm>
            <a:off x="6127750" y="3581400"/>
            <a:ext cx="596900" cy="177800"/>
          </a:xfrm>
          <a:prstGeom prst="roundRect">
            <a:avLst>
              <a:gd name="adj" fmla="val 21429"/>
            </a:avLst>
          </a:prstGeom>
          <a:solidFill>
            <a:srgbClr val="A8521A"/>
          </a:solidFill>
          <a:ln/>
        </p:spPr>
      </p:sp>
      <p:sp>
        <p:nvSpPr>
          <p:cNvPr id="63" name="Shape 61"/>
          <p:cNvSpPr/>
          <p:nvPr/>
        </p:nvSpPr>
        <p:spPr>
          <a:xfrm>
            <a:off x="6762750" y="3860800"/>
            <a:ext cx="419100" cy="177800"/>
          </a:xfrm>
          <a:prstGeom prst="roundRect">
            <a:avLst>
              <a:gd name="adj" fmla="val 21429"/>
            </a:avLst>
          </a:prstGeom>
          <a:solidFill>
            <a:srgbClr val="A8521A"/>
          </a:solidFill>
          <a:ln/>
        </p:spPr>
      </p:sp>
      <p:sp>
        <p:nvSpPr>
          <p:cNvPr id="64" name="Shape 62"/>
          <p:cNvSpPr/>
          <p:nvPr/>
        </p:nvSpPr>
        <p:spPr>
          <a:xfrm>
            <a:off x="7905750" y="4140200"/>
            <a:ext cx="596900" cy="177800"/>
          </a:xfrm>
          <a:prstGeom prst="roundRect">
            <a:avLst>
              <a:gd name="adj" fmla="val 21429"/>
            </a:avLst>
          </a:prstGeom>
          <a:solidFill>
            <a:srgbClr val="1F5A96"/>
          </a:solidFill>
          <a:ln/>
        </p:spPr>
      </p:sp>
      <p:sp>
        <p:nvSpPr>
          <p:cNvPr id="65" name="Shape 63"/>
          <p:cNvSpPr/>
          <p:nvPr/>
        </p:nvSpPr>
        <p:spPr>
          <a:xfrm>
            <a:off x="8540750" y="4419600"/>
            <a:ext cx="596900" cy="177800"/>
          </a:xfrm>
          <a:prstGeom prst="roundRect">
            <a:avLst>
              <a:gd name="adj" fmla="val 21429"/>
            </a:avLst>
          </a:prstGeom>
          <a:solidFill>
            <a:srgbClr val="14213D"/>
          </a:solidFill>
          <a:ln/>
        </p:spPr>
      </p:sp>
      <p:sp>
        <p:nvSpPr>
          <p:cNvPr id="66" name="Shape 64"/>
          <p:cNvSpPr/>
          <p:nvPr/>
        </p:nvSpPr>
        <p:spPr>
          <a:xfrm>
            <a:off x="9175750" y="4699000"/>
            <a:ext cx="596900" cy="177800"/>
          </a:xfrm>
          <a:prstGeom prst="roundRect">
            <a:avLst>
              <a:gd name="adj" fmla="val 21429"/>
            </a:avLst>
          </a:prstGeom>
          <a:solidFill>
            <a:srgbClr val="A8521A"/>
          </a:solidFill>
          <a:ln/>
        </p:spPr>
      </p:sp>
      <p:sp>
        <p:nvSpPr>
          <p:cNvPr id="67" name="Shape 65"/>
          <p:cNvSpPr/>
          <p:nvPr/>
        </p:nvSpPr>
        <p:spPr>
          <a:xfrm>
            <a:off x="9810750" y="4978400"/>
            <a:ext cx="279400" cy="177800"/>
          </a:xfrm>
          <a:prstGeom prst="roundRect">
            <a:avLst>
              <a:gd name="adj" fmla="val 21429"/>
            </a:avLst>
          </a:prstGeom>
          <a:solidFill>
            <a:srgbClr val="14213D"/>
          </a:solidFill>
          <a:ln/>
        </p:spPr>
      </p:sp>
      <p:sp>
        <p:nvSpPr>
          <p:cNvPr id="68" name="Shape 66"/>
          <p:cNvSpPr/>
          <p:nvPr/>
        </p:nvSpPr>
        <p:spPr>
          <a:xfrm>
            <a:off x="10128250" y="5257800"/>
            <a:ext cx="596900" cy="177800"/>
          </a:xfrm>
          <a:prstGeom prst="roundRect">
            <a:avLst>
              <a:gd name="adj" fmla="val 21429"/>
            </a:avLst>
          </a:prstGeom>
          <a:solidFill>
            <a:srgbClr val="3D7A73"/>
          </a:solidFill>
          <a:ln/>
        </p:spPr>
      </p:sp>
      <p:sp>
        <p:nvSpPr>
          <p:cNvPr id="69" name="Shape 67"/>
          <p:cNvSpPr/>
          <p:nvPr/>
        </p:nvSpPr>
        <p:spPr>
          <a:xfrm>
            <a:off x="10763250" y="5537200"/>
            <a:ext cx="596900" cy="177800"/>
          </a:xfrm>
          <a:prstGeom prst="roundRect">
            <a:avLst>
              <a:gd name="adj" fmla="val 21429"/>
            </a:avLst>
          </a:prstGeom>
          <a:solidFill>
            <a:srgbClr val="3D7A73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Week-of dates · Leave 15–31 Dec · Coded CPAT and other AI tools · 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2326680"/>
            <a:ext cx="10566400" cy="284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b="1" spc="200" kern="0" dirty="0">
                <a:solidFill>
                  <a:srgbClr val="8FB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2814340"/>
            <a:ext cx="9810750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7F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AI tools and integration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3688060"/>
            <a:ext cx="9156700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tasks built on what exists: a dashboard, a policy issue report, a Total Carbon Price update, CPAT in SiSePuede and a single Python platform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CPAT and other AI tools · 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PART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tasks, built on what already exists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72841"/>
            <a:ext cx="10566400" cy="452041"/>
          </a:xfrm>
          <a:prstGeom prst="roundRect">
            <a:avLst>
              <a:gd name="adj" fmla="val 11238"/>
            </a:avLst>
          </a:prstGeom>
          <a:solidFill>
            <a:srgbClr val="DCE8F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12800" y="1772841"/>
            <a:ext cx="10566400" cy="452041"/>
          </a:xfrm>
          <a:prstGeom prst="rect">
            <a:avLst/>
          </a:prstGeom>
          <a:noFill/>
          <a:ln/>
        </p:spPr>
        <p:txBody>
          <a:bodyPr wrap="square" lIns="177800" tIns="101600" rIns="177800" bIns="10160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change is proposed, as there is not time this FY: </a:t>
            </a:r>
            <a:pPr algn="l"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tweaks to what is already there.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402681"/>
          <a:ext cx="10566400" cy="914400"/>
        </p:xfrm>
        <a:graphic>
          <a:graphicData uri="http://schemas.openxmlformats.org/drawingml/2006/table">
            <a:tbl>
              <a:tblPr/>
              <a:tblGrid>
                <a:gridCol w="528241"/>
                <a:gridCol w="2218928"/>
                <a:gridCol w="3064173"/>
                <a:gridCol w="3698280"/>
                <a:gridCol w="1056779"/>
              </a:tblGrid>
              <a:tr h="206375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Starting point (exists)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Tweak proposed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7F6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Excise Diagnostic; AI macro-fiscal dashboard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excise and other tax indicators, and the Total Carbon 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14–16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issue report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Excise Diagnostic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 as one issue: situation, best practice, reform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Carbon Price update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Total Carbon 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to the GHG accounting metric; standalone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CPAT–SiSePuede integration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Coded CPAT runs in full on the SiSePuede side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 the CPM team: prices, policies, air pollution; Morocco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DE6"/>
                    </a:solidFill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Python platform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CPAT, MFMod-Python and FTT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place to run them, with one user guide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ct val="12000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F4A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0" marR="0" marT="0" marB="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8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CPAT and other AI tools · 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DASHBOARD · PROTOTYPE A: EXCISE DIAGNOSTIC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maps a country's energy tax system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50641"/>
            <a:ext cx="4851400" cy="2184301"/>
          </a:xfrm>
          <a:prstGeom prst="roundRect">
            <a:avLst>
              <a:gd name="adj" fmla="val 348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7600" y="2255441"/>
            <a:ext cx="4369054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17600" y="2613521"/>
            <a:ext cx="4369054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tax system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117600" y="3030041"/>
            <a:ext cx="4369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4470" indent="-20447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Excises on fuels and energy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17600" y="3296741"/>
            <a:ext cx="4369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4470" indent="-20447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Fossil fuel subsidies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17600" y="3563441"/>
            <a:ext cx="4369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4470" indent="-20447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pricing arrangements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16600" y="2890341"/>
            <a:ext cx="558800" cy="304800"/>
          </a:xfrm>
          <a:prstGeom prst="rightArrow">
            <a:avLst/>
          </a:prstGeom>
          <a:solidFill>
            <a:srgbClr val="1F5A96"/>
          </a:solidFill>
          <a:ln/>
        </p:spPr>
      </p:sp>
      <p:sp>
        <p:nvSpPr>
          <p:cNvPr id="11" name="Shape 9"/>
          <p:cNvSpPr/>
          <p:nvPr/>
        </p:nvSpPr>
        <p:spPr>
          <a:xfrm>
            <a:off x="6527800" y="1950641"/>
            <a:ext cx="4851400" cy="2184301"/>
          </a:xfrm>
          <a:prstGeom prst="roundRect">
            <a:avLst>
              <a:gd name="adj" fmla="val 3489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32600" y="2255441"/>
            <a:ext cx="4369054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32600" y="2613521"/>
            <a:ext cx="4369054" cy="289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metrics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832600" y="3030041"/>
            <a:ext cx="4369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4470" indent="-20447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example: effective carbon rates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32600" y="3296741"/>
            <a:ext cx="4369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4470" indent="-20447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gaps and subsidy costs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32600" y="3563441"/>
            <a:ext cx="436905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04470" indent="-20447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stake, run through the engine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CPAT and other AI tools · 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A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DASHBOARD · PROTOTYPE B: MACRO-FISCAL INDICATORS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interface in development</a:t>
            </a:r>
            <a:endParaRPr lang="en-US" sz="3200" dirty="0"/>
          </a:p>
        </p:txBody>
      </p:sp>
      <p:pic>
        <p:nvPicPr>
          <p:cNvPr id="4" name="Image 0" descr="Country profil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477" y="1849041"/>
            <a:ext cx="6094645" cy="38163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62800" y="1849041"/>
            <a:ext cx="38100" cy="537766"/>
          </a:xfrm>
          <a:prstGeom prst="rect">
            <a:avLst/>
          </a:prstGeom>
          <a:solidFill>
            <a:srgbClr val="1F5A96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53300" y="1849041"/>
            <a:ext cx="4025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country profile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53300" y="2147491"/>
            <a:ext cx="4025900" cy="239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shown: 35 of 35 indicators with data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162800" y="2564606"/>
            <a:ext cx="38100" cy="777081"/>
          </a:xfrm>
          <a:prstGeom prst="rect">
            <a:avLst/>
          </a:prstGeom>
          <a:solidFill>
            <a:srgbClr val="1F5A9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53300" y="2564606"/>
            <a:ext cx="4025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by question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53300" y="2863056"/>
            <a:ext cx="4025900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Fossil revenue, mitigation cost, fiscal space, investment, cost of capital, finance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162800" y="3519488"/>
            <a:ext cx="38100" cy="777081"/>
          </a:xfrm>
          <a:prstGeom prst="rect">
            <a:avLst/>
          </a:prstGeom>
          <a:solidFill>
            <a:srgbClr val="1F5A9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353300" y="3519488"/>
            <a:ext cx="4025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and sourced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353300" y="3817938"/>
            <a:ext cx="4025900" cy="478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indicator rated, scored out of 10, with year and coverage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CPAT and other AI tools · 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DASHBOARD · BRINGING THE PROTOTYPES TOGETHER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prototypes become two products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349500"/>
            <a:ext cx="3302000" cy="1407021"/>
          </a:xfrm>
          <a:prstGeom prst="roundRect">
            <a:avLst>
              <a:gd name="adj" fmla="val 4513"/>
            </a:avLst>
          </a:prstGeom>
          <a:solidFill>
            <a:srgbClr val="FFFFFF"/>
          </a:solidFill>
          <a:ln w="12700">
            <a:solidFill>
              <a:srgbClr val="7A849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3300" y="2540000"/>
            <a:ext cx="300863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· done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3300" y="2816820"/>
            <a:ext cx="3008630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Excise Diagnostic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03300" y="3139380"/>
            <a:ext cx="3008630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tax system: excises, subsidies, electricity pricing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800" y="4127500"/>
            <a:ext cx="3302000" cy="1193701"/>
          </a:xfrm>
          <a:prstGeom prst="roundRect">
            <a:avLst>
              <a:gd name="adj" fmla="val 5320"/>
            </a:avLst>
          </a:prstGeom>
          <a:solidFill>
            <a:srgbClr val="FFFFFF"/>
          </a:solidFill>
          <a:ln w="12700">
            <a:solidFill>
              <a:srgbClr val="7A849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3300" y="4318000"/>
            <a:ext cx="300863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· done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03300" y="4594820"/>
            <a:ext cx="3008630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Macro-fiscal indicators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003300" y="4917380"/>
            <a:ext cx="300863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dashboard with a full data audit trail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26000" y="3460750"/>
            <a:ext cx="1778000" cy="812800"/>
          </a:xfrm>
          <a:prstGeom prst="roundRect">
            <a:avLst>
              <a:gd name="adj" fmla="val 7813"/>
            </a:avLst>
          </a:prstGeom>
          <a:solidFill>
            <a:srgbClr val="1421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003800" y="3638550"/>
            <a:ext cx="1465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Brought together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114800" y="2984500"/>
            <a:ext cx="711200" cy="69850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V="1">
            <a:off x="4114800" y="3937000"/>
            <a:ext cx="711200" cy="825500"/>
          </a:xfrm>
          <a:prstGeom prst="line">
            <a:avLst/>
          </a:prstGeom>
          <a:noFill/>
          <a:ln w="25400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6604000" y="2952750"/>
            <a:ext cx="711200" cy="730250"/>
          </a:xfrm>
          <a:prstGeom prst="line">
            <a:avLst/>
          </a:prstGeom>
          <a:noFill/>
          <a:ln w="25400">
            <a:solidFill>
              <a:srgbClr val="1F5A96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604000" y="3937000"/>
            <a:ext cx="711200" cy="920750"/>
          </a:xfrm>
          <a:prstGeom prst="line">
            <a:avLst/>
          </a:prstGeom>
          <a:noFill/>
          <a:ln w="25400">
            <a:solidFill>
              <a:srgbClr val="1F5A9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15200" y="2159000"/>
            <a:ext cx="4064000" cy="1419721"/>
          </a:xfrm>
          <a:prstGeom prst="roundRect">
            <a:avLst>
              <a:gd name="adj" fmla="val 4473"/>
            </a:avLst>
          </a:prstGeom>
          <a:solidFill>
            <a:srgbClr val="DCE8F5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0" y="2159000"/>
            <a:ext cx="4064000" cy="38100"/>
          </a:xfrm>
          <a:prstGeom prst="rect">
            <a:avLst/>
          </a:prstGeom>
          <a:solidFill>
            <a:srgbClr val="1F5A9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493000" y="2374900"/>
            <a:ext cx="38196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1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493000" y="2651720"/>
            <a:ext cx="3819652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493000" y="2974280"/>
            <a:ext cx="3819652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Macro-fiscal indicators, now with excise and other tax indicators, and the Total Carbon Price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0" y="4191000"/>
            <a:ext cx="4064000" cy="1419721"/>
          </a:xfrm>
          <a:prstGeom prst="roundRect">
            <a:avLst>
              <a:gd name="adj" fmla="val 4473"/>
            </a:avLst>
          </a:prstGeom>
          <a:solidFill>
            <a:srgbClr val="DCE8F5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0" y="4191000"/>
            <a:ext cx="4064000" cy="38100"/>
          </a:xfrm>
          <a:prstGeom prst="rect">
            <a:avLst/>
          </a:prstGeom>
          <a:solidFill>
            <a:srgbClr val="1F5A96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493000" y="4406900"/>
            <a:ext cx="381965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2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493000" y="4683720"/>
            <a:ext cx="3819652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issue report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493000" y="5006280"/>
            <a:ext cx="3819652" cy="426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one issue in one country: the situation, best practice and reform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CPAT and other AI tools · 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A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POLICY ISSUE REPORT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issue, one country, for example feebates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50641"/>
            <a:ext cx="3386634" cy="2302371"/>
          </a:xfrm>
          <a:prstGeom prst="roundRect">
            <a:avLst>
              <a:gd name="adj" fmla="val 3310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92200" y="2230041"/>
            <a:ext cx="29126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F5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1092200" y="2814241"/>
            <a:ext cx="2912669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092200" y="3200301"/>
            <a:ext cx="2912669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country stands on the issue, drawn from the dashboard and diagnostic.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2634" y="1950641"/>
            <a:ext cx="3386634" cy="2302371"/>
          </a:xfrm>
          <a:prstGeom prst="roundRect">
            <a:avLst>
              <a:gd name="adj" fmla="val 331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82034" y="2230041"/>
            <a:ext cx="29126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F5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4682034" y="2814241"/>
            <a:ext cx="2912669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82034" y="3200301"/>
            <a:ext cx="2912669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policy design, and what other countries did and learned.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2467" y="1950641"/>
            <a:ext cx="3386634" cy="2302371"/>
          </a:xfrm>
          <a:prstGeom prst="roundRect">
            <a:avLst>
              <a:gd name="adj" fmla="val 331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71867" y="2230041"/>
            <a:ext cx="29126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1F5A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8271867" y="2814241"/>
            <a:ext cx="2912669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71867" y="3200301"/>
            <a:ext cx="2912669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opportunities for reform in that country, and how to get there.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CPAT and other AI tools · 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TOTAL CARBON PRICE UPDATE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464800" cy="934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the Total Carbon Price to link with the GHG accounting metric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417961"/>
            <a:ext cx="3386634" cy="1943001"/>
          </a:xfrm>
          <a:prstGeom prst="roundRect">
            <a:avLst>
              <a:gd name="adj" fmla="val 3922"/>
            </a:avLst>
          </a:prstGeom>
          <a:solidFill>
            <a:srgbClr val="14213D"/>
          </a:solidFill>
          <a:ln/>
        </p:spPr>
      </p:sp>
      <p:sp>
        <p:nvSpPr>
          <p:cNvPr id="5" name="Shape 3"/>
          <p:cNvSpPr/>
          <p:nvPr/>
        </p:nvSpPr>
        <p:spPr>
          <a:xfrm>
            <a:off x="1117600" y="2722761"/>
            <a:ext cx="304800" cy="304800"/>
          </a:xfrm>
          <a:prstGeom prst="ellipse">
            <a:avLst/>
          </a:prstGeom>
          <a:ln w="25400">
            <a:solidFill>
              <a:srgbClr val="E3A3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0733" y="2815894"/>
            <a:ext cx="118533" cy="118533"/>
          </a:xfrm>
          <a:prstGeom prst="ellipse">
            <a:avLst/>
          </a:prstGeom>
          <a:solidFill>
            <a:srgbClr val="E3A36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2200" y="3179961"/>
            <a:ext cx="2912669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7F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standalone product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092200" y="3566021"/>
            <a:ext cx="2912669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on its own, not as part of Coded CPAT.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02634" y="2417961"/>
            <a:ext cx="3386634" cy="1943001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707434" y="2722761"/>
            <a:ext cx="304800" cy="304800"/>
          </a:xfrm>
          <a:prstGeom prst="ellipse">
            <a:avLst/>
          </a:prstGeom>
          <a:ln w="25400">
            <a:solidFill>
              <a:srgbClr val="1F5A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567" y="2815894"/>
            <a:ext cx="118533" cy="118533"/>
          </a:xfrm>
          <a:prstGeom prst="ellipse">
            <a:avLst/>
          </a:prstGeom>
          <a:solidFill>
            <a:srgbClr val="1F5A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82034" y="3179961"/>
            <a:ext cx="2912669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GHG accounting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682034" y="3566021"/>
            <a:ext cx="2912669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the GHG accounting metric.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92467" y="2417961"/>
            <a:ext cx="3386634" cy="1943001"/>
          </a:xfrm>
          <a:prstGeom prst="roundRect">
            <a:avLst>
              <a:gd name="adj" fmla="val 3922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7267" y="2722761"/>
            <a:ext cx="304800" cy="304800"/>
          </a:xfrm>
          <a:prstGeom prst="ellipse">
            <a:avLst/>
          </a:prstGeom>
          <a:ln w="25400">
            <a:solidFill>
              <a:srgbClr val="1F5A9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90401" y="2815894"/>
            <a:ext cx="118533" cy="118533"/>
          </a:xfrm>
          <a:prstGeom prst="ellipse">
            <a:avLst/>
          </a:prstGeom>
          <a:solidFill>
            <a:srgbClr val="1F5A9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71867" y="3179961"/>
            <a:ext cx="2912669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in the dashboard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271867" y="3566021"/>
            <a:ext cx="2912669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alongside the macro-fiscal and tax indicators.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CPAT and other AI tools · 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A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CPAT–SISEPUEDE INTEGRATION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coded CPAT into the country pathways tool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23641"/>
            <a:ext cx="10464800" cy="515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David Groves: CPAT, CPM (formerly SiSePuede), MANAGE and MINDSET combined into one country policy analysis tool, first used in Libya, Egypt and Morocco.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2567781"/>
            <a:ext cx="5156200" cy="2217341"/>
          </a:xfrm>
          <a:prstGeom prst="roundRect">
            <a:avLst>
              <a:gd name="adj" fmla="val 2291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2567781"/>
            <a:ext cx="5156200" cy="38100"/>
          </a:xfrm>
          <a:prstGeom prst="rect">
            <a:avLst/>
          </a:prstGeom>
          <a:solidFill>
            <a:srgbClr val="7A849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2200" y="2885281"/>
            <a:ext cx="473532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· first phase, to July 2026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092200" y="3200202"/>
            <a:ext cx="47353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assumptions and outputs reconciled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92200" y="3447852"/>
            <a:ext cx="47353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mapped and outputs compared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92200" y="3695502"/>
            <a:ext cx="47353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CPAT runs in full on the SiSePuede side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92200" y="3943152"/>
            <a:ext cx="47353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and policies partly brought 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23000" y="2567781"/>
            <a:ext cx="5156200" cy="2217341"/>
          </a:xfrm>
          <a:prstGeom prst="roundRect">
            <a:avLst>
              <a:gd name="adj" fmla="val 2291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223000" y="2567781"/>
            <a:ext cx="5156200" cy="38100"/>
          </a:xfrm>
          <a:prstGeom prst="rect">
            <a:avLst/>
          </a:prstGeom>
          <a:solidFill>
            <a:srgbClr val="1F5A9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02400" y="2885281"/>
            <a:ext cx="473532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year · supervising the CPM team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02400" y="3200202"/>
            <a:ext cx="47353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prices, policies and the air pollution translation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502400" y="3447852"/>
            <a:ext cx="4735322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CPAT-LTS investment approach and a policy interface for carbon tax and public investment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02400" y="3943152"/>
            <a:ext cx="473532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89865" indent="-189865">
              <a:lnSpc>
                <a:spcPct val="150000"/>
              </a:lnSpc>
              <a:buSzPct val="100000"/>
              <a:buChar char="•"/>
            </a:pPr>
            <a:r>
              <a:rPr lang="en-US" sz="13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Morocco application of the integrated tool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502400" y="4292402"/>
            <a:ext cx="4735322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touch: about half a day a week, a day a week in January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CPAT and other AI tools · 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AEE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1F5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SINGLE PYTHON PLATFORM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464800" cy="934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aim is to make existing models easy to use, not to develop them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2367161"/>
            <a:ext cx="3386634" cy="2238871"/>
          </a:xfrm>
          <a:prstGeom prst="roundRect">
            <a:avLst>
              <a:gd name="adj" fmla="val 2269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2367161"/>
            <a:ext cx="3386634" cy="38100"/>
          </a:xfrm>
          <a:prstGeom prst="rect">
            <a:avLst/>
          </a:prstGeom>
          <a:solidFill>
            <a:srgbClr val="1F5A96"/>
          </a:solidFill>
          <a:ln/>
        </p:spPr>
      </p:sp>
      <p:sp>
        <p:nvSpPr>
          <p:cNvPr id="6" name="Shape 4"/>
          <p:cNvSpPr/>
          <p:nvPr/>
        </p:nvSpPr>
        <p:spPr>
          <a:xfrm>
            <a:off x="1117600" y="2710061"/>
            <a:ext cx="304800" cy="304800"/>
          </a:xfrm>
          <a:prstGeom prst="ellipse">
            <a:avLst/>
          </a:prstGeom>
          <a:ln w="25400">
            <a:solidFill>
              <a:srgbClr val="1F5A9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0733" y="2803194"/>
            <a:ext cx="118533" cy="118533"/>
          </a:xfrm>
          <a:prstGeom prst="ellipse">
            <a:avLst/>
          </a:prstGeom>
          <a:solidFill>
            <a:srgbClr val="1F5A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92200" y="3167261"/>
            <a:ext cx="2912669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92200" y="3553321"/>
            <a:ext cx="2912669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CPAT, MFMod-Python and FTT, as they are today, on one common platform.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02634" y="2367161"/>
            <a:ext cx="3386634" cy="2238871"/>
          </a:xfrm>
          <a:prstGeom prst="roundRect">
            <a:avLst>
              <a:gd name="adj" fmla="val 2269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402634" y="2367161"/>
            <a:ext cx="3386634" cy="38100"/>
          </a:xfrm>
          <a:prstGeom prst="rect">
            <a:avLst/>
          </a:prstGeom>
          <a:solidFill>
            <a:srgbClr val="1F5A96"/>
          </a:solidFill>
          <a:ln/>
        </p:spPr>
      </p:sp>
      <p:sp>
        <p:nvSpPr>
          <p:cNvPr id="12" name="Shape 10"/>
          <p:cNvSpPr/>
          <p:nvPr/>
        </p:nvSpPr>
        <p:spPr>
          <a:xfrm>
            <a:off x="4707434" y="2710061"/>
            <a:ext cx="304800" cy="304800"/>
          </a:xfrm>
          <a:prstGeom prst="ellipse">
            <a:avLst/>
          </a:prstGeom>
          <a:ln w="25400">
            <a:solidFill>
              <a:srgbClr val="1F5A9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567" y="2803194"/>
            <a:ext cx="118533" cy="118533"/>
          </a:xfrm>
          <a:prstGeom prst="ellipse">
            <a:avLst/>
          </a:prstGeom>
          <a:solidFill>
            <a:srgbClr val="1F5A9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82034" y="3167261"/>
            <a:ext cx="2912669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82034" y="3553321"/>
            <a:ext cx="2912669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shared set-up and one user guide. FTT made ready to run, with data aligned to CPAT countries.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992467" y="2367161"/>
            <a:ext cx="3386634" cy="2238871"/>
          </a:xfrm>
          <a:prstGeom prst="roundRect">
            <a:avLst>
              <a:gd name="adj" fmla="val 2269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992467" y="2367161"/>
            <a:ext cx="3386634" cy="38100"/>
          </a:xfrm>
          <a:prstGeom prst="rect">
            <a:avLst/>
          </a:prstGeom>
          <a:solidFill>
            <a:srgbClr val="7A8494"/>
          </a:solidFill>
          <a:ln/>
        </p:spPr>
      </p:sp>
      <p:sp>
        <p:nvSpPr>
          <p:cNvPr id="18" name="Shape 16"/>
          <p:cNvSpPr/>
          <p:nvPr/>
        </p:nvSpPr>
        <p:spPr>
          <a:xfrm>
            <a:off x="8297267" y="2710061"/>
            <a:ext cx="304800" cy="304800"/>
          </a:xfrm>
          <a:prstGeom prst="ellipse">
            <a:avLst/>
          </a:prstGeom>
          <a:ln w="25400">
            <a:solidFill>
              <a:srgbClr val="5B65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90401" y="2803194"/>
            <a:ext cx="118533" cy="118533"/>
          </a:xfrm>
          <a:prstGeom prst="ellipse">
            <a:avLst/>
          </a:prstGeom>
          <a:solidFill>
            <a:srgbClr val="5B657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71867" y="3167261"/>
            <a:ext cx="2912669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271867" y="3553321"/>
            <a:ext cx="2912669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F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further model development, and no full merging of FTT or MFMod into CPAT.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7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CPAT and other AI tools · 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A85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FB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B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AI-built base, several products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950641"/>
            <a:ext cx="3318867" cy="19050"/>
          </a:xfrm>
          <a:prstGeom prst="rect">
            <a:avLst/>
          </a:prstGeom>
          <a:solidFill>
            <a:srgbClr val="FBE3C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12800" y="2147491"/>
            <a:ext cx="3418433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B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forms of one engine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508151"/>
            <a:ext cx="3418433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B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for model work; AI-Excel for the WB–IMF process, GHG accounting and cross-checks.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36467" y="1950641"/>
            <a:ext cx="3318966" cy="19050"/>
          </a:xfrm>
          <a:prstGeom prst="rect">
            <a:avLst/>
          </a:prstGeom>
          <a:solidFill>
            <a:srgbClr val="FBE3C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36467" y="2147491"/>
            <a:ext cx="3418535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B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equal by script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436467" y="2508151"/>
            <a:ext cx="3418535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B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files keep code, Excel and docs in step, so one model can be kept long-term.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60234" y="1950641"/>
            <a:ext cx="3318966" cy="19050"/>
          </a:xfrm>
          <a:prstGeom prst="rect">
            <a:avLst/>
          </a:prstGeom>
          <a:solidFill>
            <a:srgbClr val="FBE3C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060234" y="2147491"/>
            <a:ext cx="3318966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FB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AI tools follow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060234" y="2508151"/>
            <a:ext cx="3318966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FBEA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tweaks to existing prototypes, CPAT inside SiSePuede, and one Python platform for existing models.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FBE3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CPAT and other AI tools · 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2800" y="81280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b="1" spc="150" kern="0" dirty="0">
                <a:solidFill>
                  <a:srgbClr val="E3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12800" y="1127720"/>
            <a:ext cx="10566400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7F6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to agree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50641"/>
            <a:ext cx="41859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E3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22400" y="1956991"/>
            <a:ext cx="4853051" cy="308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 chats in the office before 16 October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2448421"/>
            <a:ext cx="41859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E3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22400" y="2454771"/>
            <a:ext cx="4591431" cy="308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the WB side, then bring the IMF in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12800" y="2946202"/>
            <a:ext cx="41859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E3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22400" y="2952552"/>
            <a:ext cx="6193853" cy="308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GHG accounting and policy crediting requirements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12800" y="3443982"/>
            <a:ext cx="41859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E3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22400" y="3450332"/>
            <a:ext cx="7972869" cy="308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on the dashboard, policy issue report and Total Carbon Price update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12800" y="3941763"/>
            <a:ext cx="41859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b="1" dirty="0">
                <a:solidFill>
                  <a:srgbClr val="E3A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422400" y="3948112"/>
            <a:ext cx="7371144" cy="308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E6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country project (to be defined) to apply the engine and tools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12800" y="6238280"/>
            <a:ext cx="10566400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AA8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Coded CPAT and other AI tools · 22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Coded CPAT and other AI tools</dc:title>
  <dc:subject>PptxGenJS Presentation</dc:subject>
  <dc:creator>Stephen Stretton</dc:creator>
  <cp:lastModifiedBy>Stephen Stretton</cp:lastModifiedBy>
  <cp:revision>1</cp:revision>
  <dcterms:created xsi:type="dcterms:W3CDTF">2026-09-28T21:41:26Z</dcterms:created>
  <dcterms:modified xsi:type="dcterms:W3CDTF">2026-09-28T21:41:26Z</dcterms:modified>
</cp:coreProperties>
</file>