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summary of two decks: Issues with CPAT and Options for Remediation (first presented April 2026) and the Coded CPAT and AI-Excel plan (September 2026), plus a keep-or-drop review against the FY27 work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share one set of equations and are built component by component, together: mitigation basics, distribution, power, air pollution, the rest of mitigation,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so far (July and September, five weeks): prices proof of concept, AI dashboard and Excise Diagnostic proofs of concept, requirements and AI coding set-up, and the AI-Excel form begun. The week of 26 October is now leave, so distribution takes one week (2 November); all later dates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to Part 3. The coded engine is the input to the CPAT–SiSePuede project and sits on the single Python platform. AI-Excel goes to the WB–IMF process, GHG accounting and cross-checking. Part 3 starts with the two places the code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discussion. The work plan selects GHG accounting (3a) and marks policy crediting (3b) and the tax/fiscal dashboard (3c) as possibly dropped, at five weeks each. The master timeline gives them much less: one week for policy crediting and FFI, two weeks each for the dashboard and policy reports. The Energy GP coding help (3d, two weeks) is in the work plan but not on the master timeline, so it needs a slot or should go. The April items (ETS pilot, downstream industrial pricing, CPAT working paper) do not appear in the FY27 plan; confirm whether they are done, handed over or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CPAT · CONSOLIDATED SUMMARY · SEPTEMBER 2026</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A new CPAT engine, and what we build on it</a:t>
            </a:r>
            <a:endParaRPr lang="en-US" sz="5200" dirty="0"/>
          </a:p>
        </p:txBody>
      </p:sp>
      <p:sp>
        <p:nvSpPr>
          <p:cNvPr id="4" name="Text 2"/>
          <p:cNvSpPr txBox="1"/>
          <p:nvPr/>
        </p:nvSpPr>
        <p:spPr>
          <a:xfrm>
            <a:off x="812800" y="3871615"/>
            <a:ext cx="9156700" cy="6858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The problem, the coded and AI-Excel conversion, other products, and what to keep</a:t>
            </a:r>
            <a:endParaRPr lang="en-US" sz="2000" dirty="0"/>
          </a:p>
        </p:txBody>
      </p:sp>
      <p:sp>
        <p:nvSpPr>
          <p:cNvPr id="5" name="Shape 3"/>
          <p:cNvSpPr/>
          <p:nvPr/>
        </p:nvSpPr>
        <p:spPr>
          <a:xfrm>
            <a:off x="812800" y="4811415"/>
            <a:ext cx="927100" cy="358080"/>
          </a:xfrm>
          <a:prstGeom prst="roundRect">
            <a:avLst>
              <a:gd name="adj" fmla="val 51072"/>
            </a:avLst>
          </a:prstGeom>
          <a:solidFill>
            <a:srgbClr val="E3A36B"/>
          </a:solidFill>
          <a:ln/>
        </p:spPr>
      </p:sp>
      <p:sp>
        <p:nvSpPr>
          <p:cNvPr id="6" name="Text 4"/>
          <p:cNvSpPr txBox="1"/>
          <p:nvPr/>
        </p:nvSpPr>
        <p:spPr>
          <a:xfrm>
            <a:off x="812800" y="4811415"/>
            <a:ext cx="954913"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AI-Excel</a:t>
            </a:r>
            <a:endParaRPr lang="en-US" sz="1300" dirty="0"/>
          </a:p>
        </p:txBody>
      </p:sp>
      <p:sp>
        <p:nvSpPr>
          <p:cNvPr id="7" name="Shape 5"/>
          <p:cNvSpPr/>
          <p:nvPr/>
        </p:nvSpPr>
        <p:spPr>
          <a:xfrm>
            <a:off x="1892300" y="4811415"/>
            <a:ext cx="1987550" cy="358080"/>
          </a:xfrm>
          <a:prstGeom prst="roundRect">
            <a:avLst>
              <a:gd name="adj" fmla="val 51072"/>
            </a:avLst>
          </a:prstGeom>
          <a:solidFill>
            <a:srgbClr val="8FB8E8"/>
          </a:solidFill>
          <a:ln/>
        </p:spPr>
      </p:sp>
      <p:sp>
        <p:nvSpPr>
          <p:cNvPr id="8" name="Text 6"/>
          <p:cNvSpPr txBox="1"/>
          <p:nvPr/>
        </p:nvSpPr>
        <p:spPr>
          <a:xfrm>
            <a:off x="1892300" y="4811415"/>
            <a:ext cx="2047176"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Coded: Python + Shiny</a:t>
            </a:r>
            <a:endParaRPr lang="en-US" sz="1300" dirty="0"/>
          </a:p>
        </p:txBody>
      </p:sp>
      <p:sp>
        <p:nvSpPr>
          <p:cNvPr id="9" name="Shape 7"/>
          <p:cNvSpPr/>
          <p:nvPr/>
        </p:nvSpPr>
        <p:spPr>
          <a:xfrm>
            <a:off x="4032250" y="4811415"/>
            <a:ext cx="1428750" cy="358080"/>
          </a:xfrm>
          <a:prstGeom prst="roundRect">
            <a:avLst>
              <a:gd name="adj" fmla="val 51072"/>
            </a:avLst>
          </a:prstGeom>
          <a:solidFill>
            <a:srgbClr val="C9D3E0"/>
          </a:solidFill>
          <a:ln/>
        </p:spPr>
      </p:sp>
      <p:sp>
        <p:nvSpPr>
          <p:cNvPr id="10" name="Text 8"/>
          <p:cNvSpPr txBox="1"/>
          <p:nvPr/>
        </p:nvSpPr>
        <p:spPr>
          <a:xfrm>
            <a:off x="4032250" y="4811415"/>
            <a:ext cx="1471613"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Other products</a:t>
            </a:r>
            <a:endParaRPr lang="en-US" sz="13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Stephen Stretton · World Bank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Contents</a:t>
            </a:r>
            <a:endParaRPr lang="en-US" sz="3200" dirty="0"/>
          </a:p>
        </p:txBody>
      </p:sp>
      <p:sp>
        <p:nvSpPr>
          <p:cNvPr id="3" name="Shape 1"/>
          <p:cNvSpPr/>
          <p:nvPr/>
        </p:nvSpPr>
        <p:spPr>
          <a:xfrm>
            <a:off x="812800" y="1584920"/>
            <a:ext cx="5080000" cy="38100"/>
          </a:xfrm>
          <a:prstGeom prst="rect">
            <a:avLst/>
          </a:prstGeom>
          <a:solidFill>
            <a:srgbClr val="7A8494"/>
          </a:solidFill>
          <a:ln/>
        </p:spPr>
      </p:sp>
      <p:sp>
        <p:nvSpPr>
          <p:cNvPr id="4" name="Text 2"/>
          <p:cNvSpPr txBox="1"/>
          <p:nvPr/>
        </p:nvSpPr>
        <p:spPr>
          <a:xfrm>
            <a:off x="812800" y="1775420"/>
            <a:ext cx="5232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SLIDES 3–4</a:t>
            </a:r>
            <a:endParaRPr lang="en-US" sz="1200" dirty="0"/>
          </a:p>
        </p:txBody>
      </p:sp>
      <p:sp>
        <p:nvSpPr>
          <p:cNvPr id="5" name="Text 3"/>
          <p:cNvSpPr txBox="1"/>
          <p:nvPr/>
        </p:nvSpPr>
        <p:spPr>
          <a:xfrm>
            <a:off x="812800" y="2064941"/>
            <a:ext cx="523240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The problem</a:t>
            </a:r>
            <a:endParaRPr lang="en-US" sz="1700" dirty="0"/>
          </a:p>
        </p:txBody>
      </p:sp>
      <p:sp>
        <p:nvSpPr>
          <p:cNvPr id="6" name="Text 4"/>
          <p:cNvSpPr txBox="1"/>
          <p:nvPr/>
        </p:nvSpPr>
        <p:spPr>
          <a:xfrm>
            <a:off x="812800" y="2400201"/>
            <a:ext cx="52324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Why CPAT's mitigation module needs a new engine</a:t>
            </a:r>
            <a:endParaRPr lang="en-US" sz="1300" dirty="0"/>
          </a:p>
        </p:txBody>
      </p:sp>
      <p:sp>
        <p:nvSpPr>
          <p:cNvPr id="7" name="Shape 5"/>
          <p:cNvSpPr/>
          <p:nvPr/>
        </p:nvSpPr>
        <p:spPr>
          <a:xfrm>
            <a:off x="6299200" y="1584920"/>
            <a:ext cx="5080000" cy="38100"/>
          </a:xfrm>
          <a:prstGeom prst="rect">
            <a:avLst/>
          </a:prstGeom>
          <a:solidFill>
            <a:srgbClr val="A8521A"/>
          </a:solidFill>
          <a:ln/>
        </p:spPr>
      </p:sp>
      <p:sp>
        <p:nvSpPr>
          <p:cNvPr id="8" name="Text 6"/>
          <p:cNvSpPr txBox="1"/>
          <p:nvPr/>
        </p:nvSpPr>
        <p:spPr>
          <a:xfrm>
            <a:off x="6299200" y="1775420"/>
            <a:ext cx="50800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SLIDES 5–10</a:t>
            </a:r>
            <a:endParaRPr lang="en-US" sz="1200" dirty="0"/>
          </a:p>
        </p:txBody>
      </p:sp>
      <p:sp>
        <p:nvSpPr>
          <p:cNvPr id="9" name="Text 7"/>
          <p:cNvSpPr txBox="1"/>
          <p:nvPr/>
        </p:nvSpPr>
        <p:spPr>
          <a:xfrm>
            <a:off x="6299200" y="2064941"/>
            <a:ext cx="508000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Coded CPAT and AI-Excel</a:t>
            </a:r>
            <a:endParaRPr lang="en-US" sz="1700" dirty="0"/>
          </a:p>
        </p:txBody>
      </p:sp>
      <p:sp>
        <p:nvSpPr>
          <p:cNvPr id="10" name="Text 8"/>
          <p:cNvSpPr txBox="1"/>
          <p:nvPr/>
        </p:nvSpPr>
        <p:spPr>
          <a:xfrm>
            <a:off x="6299200" y="2400201"/>
            <a:ext cx="50800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Two forms of one engine, how they stay equal, risks, timeline, and where each goes</a:t>
            </a:r>
            <a:endParaRPr lang="en-US" sz="1300" dirty="0"/>
          </a:p>
        </p:txBody>
      </p:sp>
      <p:sp>
        <p:nvSpPr>
          <p:cNvPr id="11" name="Shape 9"/>
          <p:cNvSpPr/>
          <p:nvPr/>
        </p:nvSpPr>
        <p:spPr>
          <a:xfrm>
            <a:off x="812800" y="3132832"/>
            <a:ext cx="5080000" cy="38100"/>
          </a:xfrm>
          <a:prstGeom prst="rect">
            <a:avLst/>
          </a:prstGeom>
          <a:solidFill>
            <a:srgbClr val="1F5A96"/>
          </a:solidFill>
          <a:ln/>
        </p:spPr>
      </p:sp>
      <p:sp>
        <p:nvSpPr>
          <p:cNvPr id="12" name="Text 10"/>
          <p:cNvSpPr txBox="1"/>
          <p:nvPr/>
        </p:nvSpPr>
        <p:spPr>
          <a:xfrm>
            <a:off x="812800" y="3323332"/>
            <a:ext cx="5232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SLIDES 11–15</a:t>
            </a:r>
            <a:endParaRPr lang="en-US" sz="1200" dirty="0"/>
          </a:p>
        </p:txBody>
      </p:sp>
      <p:sp>
        <p:nvSpPr>
          <p:cNvPr id="13" name="Text 11"/>
          <p:cNvSpPr txBox="1"/>
          <p:nvPr/>
        </p:nvSpPr>
        <p:spPr>
          <a:xfrm>
            <a:off x="812800" y="3612852"/>
            <a:ext cx="523240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Other products</a:t>
            </a:r>
            <a:endParaRPr lang="en-US" sz="1700" dirty="0"/>
          </a:p>
        </p:txBody>
      </p:sp>
      <p:sp>
        <p:nvSpPr>
          <p:cNvPr id="14" name="Text 12"/>
          <p:cNvSpPr txBox="1"/>
          <p:nvPr/>
        </p:nvSpPr>
        <p:spPr>
          <a:xfrm>
            <a:off x="812800" y="3948112"/>
            <a:ext cx="52324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CPAT–SiSePuede, a single Python platform, a dashboard and policy report, and the Total Carbon Price into GHG accounting</a:t>
            </a:r>
            <a:endParaRPr lang="en-US" sz="1300" dirty="0"/>
          </a:p>
        </p:txBody>
      </p:sp>
      <p:sp>
        <p:nvSpPr>
          <p:cNvPr id="15" name="Shape 13"/>
          <p:cNvSpPr/>
          <p:nvPr/>
        </p:nvSpPr>
        <p:spPr>
          <a:xfrm>
            <a:off x="6299200" y="3132832"/>
            <a:ext cx="5080000" cy="38100"/>
          </a:xfrm>
          <a:prstGeom prst="rect">
            <a:avLst/>
          </a:prstGeom>
          <a:solidFill>
            <a:srgbClr val="14213D"/>
          </a:solidFill>
          <a:ln/>
        </p:spPr>
      </p:sp>
      <p:sp>
        <p:nvSpPr>
          <p:cNvPr id="16" name="Text 14"/>
          <p:cNvSpPr txBox="1"/>
          <p:nvPr/>
        </p:nvSpPr>
        <p:spPr>
          <a:xfrm>
            <a:off x="6299200" y="3323332"/>
            <a:ext cx="50800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SLIDE 16 · CONCLUSION · 17</a:t>
            </a:r>
            <a:endParaRPr lang="en-US" sz="1200" dirty="0"/>
          </a:p>
        </p:txBody>
      </p:sp>
      <p:sp>
        <p:nvSpPr>
          <p:cNvPr id="17" name="Text 15"/>
          <p:cNvSpPr txBox="1"/>
          <p:nvPr/>
        </p:nvSpPr>
        <p:spPr>
          <a:xfrm>
            <a:off x="6299200" y="3612852"/>
            <a:ext cx="508000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What to keep and what to drop</a:t>
            </a:r>
            <a:endParaRPr lang="en-US" sz="1700" dirty="0"/>
          </a:p>
        </p:txBody>
      </p:sp>
      <p:sp>
        <p:nvSpPr>
          <p:cNvPr id="18" name="Text 16"/>
          <p:cNvSpPr txBox="1"/>
          <p:nvPr/>
        </p:nvSpPr>
        <p:spPr>
          <a:xfrm>
            <a:off x="6299200" y="3948112"/>
            <a:ext cx="50800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A review against the FY27 work plan, then the conclusion and next steps</a:t>
            </a:r>
            <a:endParaRPr lang="en-US" sz="1300" dirty="0"/>
          </a:p>
        </p:txBody>
      </p:sp>
      <p:sp>
        <p:nvSpPr>
          <p:cNvPr id="19" name="Text 17"/>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THE PROBLEM</a:t>
            </a:r>
            <a:endParaRPr lang="en-US" sz="1200" dirty="0"/>
          </a:p>
        </p:txBody>
      </p:sp>
      <p:sp>
        <p:nvSpPr>
          <p:cNvPr id="3" name="Text 1"/>
          <p:cNvSpPr txBox="1"/>
          <p:nvPr/>
        </p:nvSpPr>
        <p:spPr>
          <a:xfrm>
            <a:off x="812800" y="1127720"/>
            <a:ext cx="105664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mitigation module is heavy, slow and hard to trust</a:t>
            </a:r>
            <a:endParaRPr lang="en-US" sz="3200" dirty="0"/>
          </a:p>
        </p:txBody>
      </p:sp>
      <p:sp>
        <p:nvSpPr>
          <p:cNvPr id="4" name="Shape 2"/>
          <p:cNvSpPr/>
          <p:nvPr/>
        </p:nvSpPr>
        <p:spPr>
          <a:xfrm>
            <a:off x="812800" y="2367161"/>
            <a:ext cx="3386634" cy="2145010"/>
          </a:xfrm>
          <a:prstGeom prst="roundRect">
            <a:avLst>
              <a:gd name="adj" fmla="val 2368"/>
            </a:avLst>
          </a:prstGeom>
          <a:solidFill>
            <a:srgbClr val="FFFFFF"/>
          </a:solidFill>
          <a:ln/>
        </p:spPr>
      </p:sp>
      <p:sp>
        <p:nvSpPr>
          <p:cNvPr id="5" name="Shape 3"/>
          <p:cNvSpPr/>
          <p:nvPr/>
        </p:nvSpPr>
        <p:spPr>
          <a:xfrm>
            <a:off x="812800" y="2367161"/>
            <a:ext cx="3386634" cy="38100"/>
          </a:xfrm>
          <a:prstGeom prst="rect">
            <a:avLst/>
          </a:prstGeom>
          <a:solidFill>
            <a:srgbClr val="14213D"/>
          </a:solidFill>
          <a:ln/>
        </p:spPr>
      </p:sp>
      <p:sp>
        <p:nvSpPr>
          <p:cNvPr id="6" name="Text 4"/>
          <p:cNvSpPr txBox="1"/>
          <p:nvPr/>
        </p:nvSpPr>
        <p:spPr>
          <a:xfrm>
            <a:off x="1066800" y="265926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Code quality</a:t>
            </a:r>
            <a:endParaRPr lang="en-US" sz="1700" dirty="0"/>
          </a:p>
        </p:txBody>
      </p:sp>
      <p:sp>
        <p:nvSpPr>
          <p:cNvPr id="7" name="Text 5"/>
          <p:cNvSpPr txBox="1"/>
          <p:nvPr/>
        </p:nvSpPr>
        <p:spPr>
          <a:xfrm>
            <a:off x="1066800" y="3019921"/>
            <a:ext cx="2964993" cy="49530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250,000+ cells, never checked for bugs</a:t>
            </a:r>
            <a:endParaRPr lang="en-US" sz="1300" dirty="0"/>
          </a:p>
        </p:txBody>
      </p:sp>
      <p:sp>
        <p:nvSpPr>
          <p:cNvPr id="8" name="Text 6"/>
          <p:cNvSpPr txBox="1"/>
          <p:nvPr/>
        </p:nvSpPr>
        <p:spPr>
          <a:xfrm>
            <a:off x="1066800" y="3515221"/>
            <a:ext cx="2964993" cy="49530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The largest module; others wait on it</a:t>
            </a:r>
            <a:endParaRPr lang="en-US" sz="1300" dirty="0"/>
          </a:p>
        </p:txBody>
      </p:sp>
      <p:sp>
        <p:nvSpPr>
          <p:cNvPr id="9" name="Text 7"/>
          <p:cNvSpPr txBox="1"/>
          <p:nvPr/>
        </p:nvSpPr>
        <p:spPr>
          <a:xfrm>
            <a:off x="1066800" y="4010521"/>
            <a:ext cx="2964993"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Excel, Python and docs drift apart</a:t>
            </a:r>
            <a:endParaRPr lang="en-US" sz="1300" dirty="0"/>
          </a:p>
        </p:txBody>
      </p:sp>
      <p:sp>
        <p:nvSpPr>
          <p:cNvPr id="10" name="Shape 8"/>
          <p:cNvSpPr/>
          <p:nvPr/>
        </p:nvSpPr>
        <p:spPr>
          <a:xfrm>
            <a:off x="4402634" y="2367161"/>
            <a:ext cx="3386634" cy="2145010"/>
          </a:xfrm>
          <a:prstGeom prst="roundRect">
            <a:avLst>
              <a:gd name="adj" fmla="val 2368"/>
            </a:avLst>
          </a:prstGeom>
          <a:solidFill>
            <a:srgbClr val="FFFFFF"/>
          </a:solidFill>
          <a:ln/>
        </p:spPr>
      </p:sp>
      <p:sp>
        <p:nvSpPr>
          <p:cNvPr id="11" name="Shape 9"/>
          <p:cNvSpPr/>
          <p:nvPr/>
        </p:nvSpPr>
        <p:spPr>
          <a:xfrm>
            <a:off x="4402634" y="2367161"/>
            <a:ext cx="3386634" cy="38100"/>
          </a:xfrm>
          <a:prstGeom prst="rect">
            <a:avLst/>
          </a:prstGeom>
          <a:solidFill>
            <a:srgbClr val="14213D"/>
          </a:solidFill>
          <a:ln/>
        </p:spPr>
      </p:sp>
      <p:sp>
        <p:nvSpPr>
          <p:cNvPr id="12" name="Text 10"/>
          <p:cNvSpPr txBox="1"/>
          <p:nvPr/>
        </p:nvSpPr>
        <p:spPr>
          <a:xfrm>
            <a:off x="4656634" y="265926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Validation</a:t>
            </a:r>
            <a:endParaRPr lang="en-US" sz="1700" dirty="0"/>
          </a:p>
        </p:txBody>
      </p:sp>
      <p:sp>
        <p:nvSpPr>
          <p:cNvPr id="13" name="Text 11"/>
          <p:cNvSpPr txBox="1"/>
          <p:nvPr/>
        </p:nvSpPr>
        <p:spPr>
          <a:xfrm>
            <a:off x="4656634" y="3019921"/>
            <a:ext cx="2964993"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Not published on the WB side</a:t>
            </a:r>
            <a:endParaRPr lang="en-US" sz="1300" dirty="0"/>
          </a:p>
        </p:txBody>
      </p:sp>
      <p:sp>
        <p:nvSpPr>
          <p:cNvPr id="14" name="Text 12"/>
          <p:cNvSpPr txBox="1"/>
          <p:nvPr/>
        </p:nvSpPr>
        <p:spPr>
          <a:xfrm>
            <a:off x="4656634" y="3267571"/>
            <a:ext cx="2964993" cy="49530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IMF side rests mostly on an elasticity meta-analysis</a:t>
            </a:r>
            <a:endParaRPr lang="en-US" sz="1300" dirty="0"/>
          </a:p>
        </p:txBody>
      </p:sp>
      <p:sp>
        <p:nvSpPr>
          <p:cNvPr id="15" name="Text 13"/>
          <p:cNvSpPr txBox="1"/>
          <p:nvPr/>
        </p:nvSpPr>
        <p:spPr>
          <a:xfrm>
            <a:off x="4656634" y="3762871"/>
            <a:ext cx="2964993" cy="49530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Last WB validation work was in 2022/23</a:t>
            </a:r>
            <a:endParaRPr lang="en-US" sz="1300" dirty="0"/>
          </a:p>
        </p:txBody>
      </p:sp>
      <p:sp>
        <p:nvSpPr>
          <p:cNvPr id="16" name="Shape 14"/>
          <p:cNvSpPr/>
          <p:nvPr/>
        </p:nvSpPr>
        <p:spPr>
          <a:xfrm>
            <a:off x="7992467" y="2367161"/>
            <a:ext cx="3386634" cy="2145010"/>
          </a:xfrm>
          <a:prstGeom prst="roundRect">
            <a:avLst>
              <a:gd name="adj" fmla="val 2368"/>
            </a:avLst>
          </a:prstGeom>
          <a:solidFill>
            <a:srgbClr val="FFFFFF"/>
          </a:solidFill>
          <a:ln/>
        </p:spPr>
      </p:sp>
      <p:sp>
        <p:nvSpPr>
          <p:cNvPr id="17" name="Shape 15"/>
          <p:cNvSpPr/>
          <p:nvPr/>
        </p:nvSpPr>
        <p:spPr>
          <a:xfrm>
            <a:off x="7992467" y="2367161"/>
            <a:ext cx="3386634" cy="38100"/>
          </a:xfrm>
          <a:prstGeom prst="rect">
            <a:avLst/>
          </a:prstGeom>
          <a:solidFill>
            <a:srgbClr val="14213D"/>
          </a:solidFill>
          <a:ln/>
        </p:spPr>
      </p:sp>
      <p:sp>
        <p:nvSpPr>
          <p:cNvPr id="18" name="Text 16"/>
          <p:cNvSpPr txBox="1"/>
          <p:nvPr/>
        </p:nvSpPr>
        <p:spPr>
          <a:xfrm>
            <a:off x="8246467" y="265926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Usability</a:t>
            </a:r>
            <a:endParaRPr lang="en-US" sz="1700" dirty="0"/>
          </a:p>
        </p:txBody>
      </p:sp>
      <p:sp>
        <p:nvSpPr>
          <p:cNvPr id="19" name="Text 17"/>
          <p:cNvSpPr txBox="1"/>
          <p:nvPr/>
        </p:nvSpPr>
        <p:spPr>
          <a:xfrm>
            <a:off x="8246467" y="3019921"/>
            <a:ext cx="2964993"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Can take ten minutes to load</a:t>
            </a:r>
            <a:endParaRPr lang="en-US" sz="1300" dirty="0"/>
          </a:p>
        </p:txBody>
      </p:sp>
      <p:sp>
        <p:nvSpPr>
          <p:cNvPr id="20" name="Text 18"/>
          <p:cNvSpPr txBox="1"/>
          <p:nvPr/>
        </p:nvSpPr>
        <p:spPr>
          <a:xfrm>
            <a:off x="8246467" y="3267571"/>
            <a:ext cx="2964993"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Hard to demo; some bugs</a:t>
            </a:r>
            <a:endParaRPr lang="en-US" sz="1300" dirty="0"/>
          </a:p>
        </p:txBody>
      </p:sp>
      <p:sp>
        <p:nvSpPr>
          <p:cNvPr id="21" name="Text 19"/>
          <p:cNvSpPr txBox="1"/>
          <p:nvPr/>
        </p:nvSpPr>
        <p:spPr>
          <a:xfrm>
            <a:off x="8246467" y="3515221"/>
            <a:ext cx="2964993"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Power model too complex</a:t>
            </a:r>
            <a:endParaRPr lang="en-US" sz="13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Issues with CPAT and Options for Remediation (April 2026) · CPAT consolidated summary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THE PROBLEM</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Patching the old Excel will not be enough</a:t>
            </a:r>
            <a:endParaRPr lang="en-US" sz="3200" dirty="0"/>
          </a:p>
        </p:txBody>
      </p:sp>
      <p:sp>
        <p:nvSpPr>
          <p:cNvPr id="4" name="Shape 2"/>
          <p:cNvSpPr/>
          <p:nvPr/>
        </p:nvSpPr>
        <p:spPr>
          <a:xfrm>
            <a:off x="812800" y="1874441"/>
            <a:ext cx="5156200" cy="1751112"/>
          </a:xfrm>
          <a:prstGeom prst="roundRect">
            <a:avLst>
              <a:gd name="adj" fmla="val 2901"/>
            </a:avLst>
          </a:prstGeom>
          <a:solidFill>
            <a:srgbClr val="FFFFFF"/>
          </a:solidFill>
          <a:ln/>
        </p:spPr>
      </p:sp>
      <p:sp>
        <p:nvSpPr>
          <p:cNvPr id="5" name="Shape 3"/>
          <p:cNvSpPr/>
          <p:nvPr/>
        </p:nvSpPr>
        <p:spPr>
          <a:xfrm>
            <a:off x="812800" y="1874441"/>
            <a:ext cx="5156200" cy="38100"/>
          </a:xfrm>
          <a:prstGeom prst="rect">
            <a:avLst/>
          </a:prstGeom>
          <a:solidFill>
            <a:srgbClr val="7A8494"/>
          </a:solidFill>
          <a:ln/>
        </p:spPr>
      </p:sp>
      <p:sp>
        <p:nvSpPr>
          <p:cNvPr id="6" name="Text 4"/>
          <p:cNvSpPr txBox="1"/>
          <p:nvPr/>
        </p:nvSpPr>
        <p:spPr>
          <a:xfrm>
            <a:off x="1092200" y="219194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The April option</a:t>
            </a:r>
            <a:endParaRPr lang="en-US" sz="1200" dirty="0"/>
          </a:p>
        </p:txBody>
      </p:sp>
      <p:sp>
        <p:nvSpPr>
          <p:cNvPr id="7" name="Text 5"/>
          <p:cNvSpPr txBox="1"/>
          <p:nvPr/>
        </p:nvSpPr>
        <p:spPr>
          <a:xfrm>
            <a:off x="1092200" y="2506861"/>
            <a:ext cx="473532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 new engine tab in legacy CPAT</a:t>
            </a:r>
            <a:endParaRPr lang="en-US" sz="1700" dirty="0"/>
          </a:p>
        </p:txBody>
      </p:sp>
      <p:sp>
        <p:nvSpPr>
          <p:cNvPr id="8" name="Text 6"/>
          <p:cNvSpPr txBox="1"/>
          <p:nvPr/>
        </p:nvSpPr>
        <p:spPr>
          <a:xfrm>
            <a:off x="1092200" y="2867521"/>
            <a:ext cx="4735322"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Lambda functions, arrays and simpler prices. Result: a more consistent engine, but CPAT not much faster or smaller.</a:t>
            </a:r>
            <a:endParaRPr lang="en-US" sz="1300" dirty="0"/>
          </a:p>
        </p:txBody>
      </p:sp>
      <p:sp>
        <p:nvSpPr>
          <p:cNvPr id="9" name="Shape 7"/>
          <p:cNvSpPr/>
          <p:nvPr/>
        </p:nvSpPr>
        <p:spPr>
          <a:xfrm>
            <a:off x="6223000" y="1874441"/>
            <a:ext cx="5156200" cy="1751112"/>
          </a:xfrm>
          <a:prstGeom prst="roundRect">
            <a:avLst>
              <a:gd name="adj" fmla="val 2901"/>
            </a:avLst>
          </a:prstGeom>
          <a:solidFill>
            <a:srgbClr val="FFFFFF"/>
          </a:solidFill>
          <a:ln/>
        </p:spPr>
      </p:sp>
      <p:sp>
        <p:nvSpPr>
          <p:cNvPr id="10" name="Shape 8"/>
          <p:cNvSpPr/>
          <p:nvPr/>
        </p:nvSpPr>
        <p:spPr>
          <a:xfrm>
            <a:off x="6223000" y="1874441"/>
            <a:ext cx="5156200" cy="38100"/>
          </a:xfrm>
          <a:prstGeom prst="rect">
            <a:avLst/>
          </a:prstGeom>
          <a:solidFill>
            <a:srgbClr val="14213D"/>
          </a:solidFill>
          <a:ln/>
        </p:spPr>
      </p:sp>
      <p:sp>
        <p:nvSpPr>
          <p:cNvPr id="11" name="Text 9"/>
          <p:cNvSpPr txBox="1"/>
          <p:nvPr/>
        </p:nvSpPr>
        <p:spPr>
          <a:xfrm>
            <a:off x="6502400" y="219194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What the engine must now do</a:t>
            </a:r>
            <a:endParaRPr lang="en-US" sz="1200" dirty="0"/>
          </a:p>
        </p:txBody>
      </p:sp>
      <p:sp>
        <p:nvSpPr>
          <p:cNvPr id="12" name="Text 10"/>
          <p:cNvSpPr txBox="1"/>
          <p:nvPr/>
        </p:nvSpPr>
        <p:spPr>
          <a:xfrm>
            <a:off x="6502400" y="250686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Policy mixes across every sector, fuel and policy</a:t>
            </a:r>
            <a:endParaRPr lang="en-US" sz="1300" dirty="0"/>
          </a:p>
        </p:txBody>
      </p:sp>
      <p:sp>
        <p:nvSpPr>
          <p:cNvPr id="13" name="Text 11"/>
          <p:cNvSpPr txBox="1"/>
          <p:nvPr/>
        </p:nvSpPr>
        <p:spPr>
          <a:xfrm>
            <a:off x="6502400" y="275451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 clean back end for the new WB–IMF interface</a:t>
            </a:r>
            <a:endParaRPr lang="en-US" sz="1300" dirty="0"/>
          </a:p>
        </p:txBody>
      </p:sp>
      <p:sp>
        <p:nvSpPr>
          <p:cNvPr id="14" name="Text 12"/>
          <p:cNvSpPr txBox="1"/>
          <p:nvPr/>
        </p:nvSpPr>
        <p:spPr>
          <a:xfrm>
            <a:off x="6502400" y="300216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GHG accounting, with every figure traceable</a:t>
            </a:r>
            <a:endParaRPr lang="en-US" sz="1300" dirty="0"/>
          </a:p>
        </p:txBody>
      </p:sp>
      <p:sp>
        <p:nvSpPr>
          <p:cNvPr id="15" name="Shape 13"/>
          <p:cNvSpPr/>
          <p:nvPr/>
        </p:nvSpPr>
        <p:spPr>
          <a:xfrm>
            <a:off x="812800" y="3904952"/>
            <a:ext cx="10566400" cy="571500"/>
          </a:xfrm>
          <a:prstGeom prst="roundRect">
            <a:avLst>
              <a:gd name="adj" fmla="val 8889"/>
            </a:avLst>
          </a:prstGeom>
          <a:solidFill>
            <a:srgbClr val="14213D"/>
          </a:solidFill>
          <a:ln/>
        </p:spPr>
      </p:sp>
      <p:sp>
        <p:nvSpPr>
          <p:cNvPr id="16" name="Text 14"/>
          <p:cNvSpPr txBox="1"/>
          <p:nvPr/>
        </p:nvSpPr>
        <p:spPr>
          <a:xfrm>
            <a:off x="812800" y="3904952"/>
            <a:ext cx="10566400" cy="57150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rebuild the engine with AI, in code and in Excel, and keep them equal.</a:t>
            </a:r>
            <a:endParaRPr lang="en-US" sz="1500" dirty="0"/>
          </a:p>
        </p:txBody>
      </p:sp>
      <p:sp>
        <p:nvSpPr>
          <p:cNvPr id="17" name="Text 15"/>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CODED CPAT AND AI-EXCEL</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set of equations, two forms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899841"/>
          <a:ext cx="10566400" cy="914400"/>
        </p:xfrm>
        <a:graphic>
          <a:graphicData uri="http://schemas.openxmlformats.org/drawingml/2006/table">
            <a:tbl>
              <a:tblPr/>
              <a:tblGrid>
                <a:gridCol w="2324596"/>
                <a:gridCol w="4120852"/>
                <a:gridCol w="4120952"/>
              </a:tblGrid>
              <a:tr h="219075">
                <a:tc>
                  <a:txBody>
                    <a:bodyPr/>
                    <a:lstStyle/>
                    <a:p>
                      <a:pPr algn="l" indent="0" marL="0">
                        <a:lnSpc>
                          <a:spcPct val="120000"/>
                        </a:lnSpc>
                        <a:buNone/>
                      </a:pP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8FB8E8"/>
                          </a:solidFill>
                          <a:latin typeface="Calibri" pitchFamily="34" charset="0"/>
                          <a:ea typeface="Calibri" pitchFamily="34" charset="-122"/>
                          <a:cs typeface="Calibri" pitchFamily="34" charset="-120"/>
                        </a:rPr>
                        <a:t>Coded (Python +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E3A36B"/>
                          </a:solidFill>
                          <a:latin typeface="Calibri" pitchFamily="34" charset="0"/>
                          <a:ea typeface="Calibri" pitchFamily="34" charset="-122"/>
                          <a:cs typeface="Calibri" pitchFamily="34" charset="-120"/>
                        </a:rPr>
                        <a:t>AI-Excel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The core engine in Python, with an online Shiny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A cut-down CPAT in Excel, built from scratch with AI</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Users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Modelers and teams who run code; web users via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Economists who work in Excel; IMF and WB CPAT teams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Scales, tests and links to other Python models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Familiar, transparent cell by cell, easy to audit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Limit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Not open to non-coders without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Harder to scale; LAMBDA needs a recent 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THE CASE FOR AI-EXCEL</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AI-Excel serves three purposes</a:t>
            </a:r>
            <a:endParaRPr lang="en-US" sz="3200" dirty="0"/>
          </a:p>
        </p:txBody>
      </p:sp>
      <p:sp>
        <p:nvSpPr>
          <p:cNvPr id="4" name="Shape 2"/>
          <p:cNvSpPr/>
          <p:nvPr/>
        </p:nvSpPr>
        <p:spPr>
          <a:xfrm>
            <a:off x="812800" y="1950641"/>
            <a:ext cx="3386634" cy="2561431"/>
          </a:xfrm>
          <a:prstGeom prst="roundRect">
            <a:avLst>
              <a:gd name="adj" fmla="val 2975"/>
            </a:avLst>
          </a:prstGeom>
          <a:solidFill>
            <a:srgbClr val="FFFFFF"/>
          </a:solidFill>
          <a:ln/>
        </p:spPr>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Input to the WB–IMF process</a:t>
            </a:r>
            <a:endParaRPr lang="en-US" sz="1700" dirty="0"/>
          </a:p>
        </p:txBody>
      </p:sp>
      <p:sp>
        <p:nvSpPr>
          <p:cNvPr id="7" name="Text 5"/>
          <p:cNvSpPr txBox="1"/>
          <p:nvPr/>
        </p:nvSpPr>
        <p:spPr>
          <a:xfrm>
            <a:off x="1092200" y="345936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Agreed with Dirk: a contributor to future development, not yet the full CPAT.</a:t>
            </a:r>
            <a:endParaRPr lang="en-US" sz="1400" dirty="0"/>
          </a:p>
        </p:txBody>
      </p:sp>
      <p:sp>
        <p:nvSpPr>
          <p:cNvPr id="8" name="Shape 6"/>
          <p:cNvSpPr/>
          <p:nvPr/>
        </p:nvSpPr>
        <p:spPr>
          <a:xfrm>
            <a:off x="4402634" y="1950641"/>
            <a:ext cx="3386634" cy="2561431"/>
          </a:xfrm>
          <a:prstGeom prst="roundRect">
            <a:avLst>
              <a:gd name="adj" fmla="val 2975"/>
            </a:avLst>
          </a:prstGeom>
          <a:solidFill>
            <a:srgbClr val="FFFFFF"/>
          </a:solidFill>
          <a:ln/>
        </p:spPr>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GHG accounting and policy crediting</a:t>
            </a:r>
            <a:endParaRPr lang="en-US" sz="1700" dirty="0"/>
          </a:p>
        </p:txBody>
      </p:sp>
      <p:sp>
        <p:nvSpPr>
          <p:cNvPr id="11" name="Text 9"/>
          <p:cNvSpPr txBox="1"/>
          <p:nvPr/>
        </p:nvSpPr>
        <p:spPr>
          <a:xfrm>
            <a:off x="4682034" y="345936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transparent tool for ex-ante DPF accounting, where each figure is traceable.</a:t>
            </a:r>
            <a:endParaRPr lang="en-US" sz="1400" dirty="0"/>
          </a:p>
        </p:txBody>
      </p:sp>
      <p:sp>
        <p:nvSpPr>
          <p:cNvPr id="12" name="Shape 10"/>
          <p:cNvSpPr/>
          <p:nvPr/>
        </p:nvSpPr>
        <p:spPr>
          <a:xfrm>
            <a:off x="7992467" y="1950641"/>
            <a:ext cx="3386634" cy="2561431"/>
          </a:xfrm>
          <a:prstGeom prst="roundRect">
            <a:avLst>
              <a:gd name="adj" fmla="val 2975"/>
            </a:avLst>
          </a:prstGeom>
          <a:solidFill>
            <a:srgbClr val="FFFFFF"/>
          </a:solidFill>
          <a:ln/>
        </p:spPr>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Cross-checking</a:t>
            </a:r>
            <a:endParaRPr lang="en-US" sz="1700" dirty="0"/>
          </a:p>
        </p:txBody>
      </p:sp>
      <p:sp>
        <p:nvSpPr>
          <p:cNvPr id="15" name="Text 13"/>
          <p:cNvSpPr txBox="1"/>
          <p:nvPr/>
        </p:nvSpPr>
        <p:spPr>
          <a:xfrm>
            <a:off x="8271867" y="32003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independent check on the coded engine and on legacy CPAT.</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MAINTAINABILITY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Scripts keep code, Excel and docs equal</a:t>
            </a:r>
            <a:endParaRPr lang="en-US" sz="3200" dirty="0"/>
          </a:p>
        </p:txBody>
      </p:sp>
      <p:sp>
        <p:nvSpPr>
          <p:cNvPr id="4" name="Shape 2"/>
          <p:cNvSpPr/>
          <p:nvPr/>
        </p:nvSpPr>
        <p:spPr>
          <a:xfrm>
            <a:off x="812800" y="2080716"/>
            <a:ext cx="2286000" cy="1093391"/>
          </a:xfrm>
          <a:prstGeom prst="roundRect">
            <a:avLst>
              <a:gd name="adj" fmla="val 5808"/>
            </a:avLst>
          </a:prstGeom>
          <a:solidFill>
            <a:srgbClr val="FFFFFF"/>
          </a:solidFill>
          <a:ln w="12700">
            <a:solidFill>
              <a:srgbClr val="7A8494"/>
            </a:solidFill>
            <a:prstDash val="solid"/>
          </a:ln>
        </p:spPr>
      </p:sp>
      <p:sp>
        <p:nvSpPr>
          <p:cNvPr id="5" name="Text 3"/>
          <p:cNvSpPr txBox="1"/>
          <p:nvPr/>
        </p:nvSpPr>
        <p:spPr>
          <a:xfrm>
            <a:off x="10033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Excel CPAT</a:t>
            </a:r>
            <a:endParaRPr lang="en-US" sz="1400" dirty="0"/>
          </a:p>
        </p:txBody>
      </p:sp>
      <p:sp>
        <p:nvSpPr>
          <p:cNvPr id="6" name="Text 4"/>
          <p:cNvSpPr txBox="1"/>
          <p:nvPr/>
        </p:nvSpPr>
        <p:spPr>
          <a:xfrm>
            <a:off x="10033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Legacy data and parameters</a:t>
            </a:r>
            <a:endParaRPr lang="en-US" sz="1200" dirty="0"/>
          </a:p>
        </p:txBody>
      </p:sp>
      <p:sp>
        <p:nvSpPr>
          <p:cNvPr id="7" name="Shape 5"/>
          <p:cNvSpPr/>
          <p:nvPr/>
        </p:nvSpPr>
        <p:spPr>
          <a:xfrm>
            <a:off x="3200400" y="2627412"/>
            <a:ext cx="406400" cy="0"/>
          </a:xfrm>
          <a:prstGeom prst="line">
            <a:avLst/>
          </a:prstGeom>
          <a:noFill/>
          <a:ln w="25400">
            <a:solidFill>
              <a:srgbClr val="14213D"/>
            </a:solidFill>
            <a:prstDash val="solid"/>
            <a:tailEnd type="triangle"/>
          </a:ln>
        </p:spPr>
      </p:sp>
      <p:sp>
        <p:nvSpPr>
          <p:cNvPr id="8" name="Shape 6"/>
          <p:cNvSpPr/>
          <p:nvPr/>
        </p:nvSpPr>
        <p:spPr>
          <a:xfrm>
            <a:off x="3708400" y="2080716"/>
            <a:ext cx="2286000" cy="1093391"/>
          </a:xfrm>
          <a:prstGeom prst="roundRect">
            <a:avLst>
              <a:gd name="adj" fmla="val 5808"/>
            </a:avLst>
          </a:prstGeom>
          <a:solidFill>
            <a:srgbClr val="FFFFFF"/>
          </a:solidFill>
          <a:ln w="12700">
            <a:solidFill>
              <a:srgbClr val="7A8494"/>
            </a:solidFill>
            <a:prstDash val="solid"/>
          </a:ln>
        </p:spPr>
      </p:sp>
      <p:sp>
        <p:nvSpPr>
          <p:cNvPr id="9" name="Text 7"/>
          <p:cNvSpPr txBox="1"/>
          <p:nvPr/>
        </p:nvSpPr>
        <p:spPr>
          <a:xfrm>
            <a:off x="38989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Extraction scripts</a:t>
            </a:r>
            <a:endParaRPr lang="en-US" sz="1400" dirty="0"/>
          </a:p>
        </p:txBody>
      </p:sp>
      <p:sp>
        <p:nvSpPr>
          <p:cNvPr id="10" name="Text 8"/>
          <p:cNvSpPr txBox="1"/>
          <p:nvPr/>
        </p:nvSpPr>
        <p:spPr>
          <a:xfrm>
            <a:off x="38989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Pull data out, with a source trail</a:t>
            </a:r>
            <a:endParaRPr lang="en-US" sz="1200" dirty="0"/>
          </a:p>
        </p:txBody>
      </p:sp>
      <p:sp>
        <p:nvSpPr>
          <p:cNvPr id="11" name="Shape 9"/>
          <p:cNvSpPr/>
          <p:nvPr/>
        </p:nvSpPr>
        <p:spPr>
          <a:xfrm>
            <a:off x="6096000" y="2627412"/>
            <a:ext cx="406400" cy="0"/>
          </a:xfrm>
          <a:prstGeom prst="line">
            <a:avLst/>
          </a:prstGeom>
          <a:noFill/>
          <a:ln w="25400">
            <a:solidFill>
              <a:srgbClr val="14213D"/>
            </a:solidFill>
            <a:prstDash val="solid"/>
            <a:tailEnd type="triangle"/>
          </a:ln>
        </p:spPr>
      </p:sp>
      <p:sp>
        <p:nvSpPr>
          <p:cNvPr id="12" name="Shape 10"/>
          <p:cNvSpPr/>
          <p:nvPr/>
        </p:nvSpPr>
        <p:spPr>
          <a:xfrm>
            <a:off x="6604000" y="2200077"/>
            <a:ext cx="2260600" cy="854670"/>
          </a:xfrm>
          <a:prstGeom prst="roundRect">
            <a:avLst>
              <a:gd name="adj" fmla="val 7430"/>
            </a:avLst>
          </a:prstGeom>
          <a:solidFill>
            <a:srgbClr val="14213D"/>
          </a:solidFill>
          <a:ln/>
        </p:spPr>
      </p:sp>
      <p:sp>
        <p:nvSpPr>
          <p:cNvPr id="13" name="Text 11"/>
          <p:cNvSpPr txBox="1"/>
          <p:nvPr/>
        </p:nvSpPr>
        <p:spPr>
          <a:xfrm>
            <a:off x="6781800" y="2377877"/>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F7F6F1"/>
                </a:solidFill>
                <a:latin typeface="Calibri" pitchFamily="34" charset="0"/>
                <a:ea typeface="Calibri" pitchFamily="34" charset="-122"/>
                <a:cs typeface="Calibri" pitchFamily="34" charset="-120"/>
              </a:rPr>
              <a:t>Generative files</a:t>
            </a:r>
            <a:endParaRPr lang="en-US" sz="1400" dirty="0"/>
          </a:p>
        </p:txBody>
      </p:sp>
      <p:sp>
        <p:nvSpPr>
          <p:cNvPr id="14" name="Text 12"/>
          <p:cNvSpPr txBox="1"/>
          <p:nvPr/>
        </p:nvSpPr>
        <p:spPr>
          <a:xfrm>
            <a:off x="6781800" y="2663627"/>
            <a:ext cx="1962150" cy="213320"/>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Build script + pseudocode</a:t>
            </a:r>
            <a:endParaRPr lang="en-US" sz="1200" dirty="0"/>
          </a:p>
        </p:txBody>
      </p:sp>
      <p:sp>
        <p:nvSpPr>
          <p:cNvPr id="15" name="Shape 13"/>
          <p:cNvSpPr/>
          <p:nvPr/>
        </p:nvSpPr>
        <p:spPr>
          <a:xfrm>
            <a:off x="8966200" y="2627412"/>
            <a:ext cx="406400" cy="0"/>
          </a:xfrm>
          <a:prstGeom prst="line">
            <a:avLst/>
          </a:prstGeom>
          <a:noFill/>
          <a:ln w="25400">
            <a:solidFill>
              <a:srgbClr val="14213D"/>
            </a:solidFill>
            <a:prstDash val="solid"/>
            <a:tailEnd type="triangle"/>
          </a:ln>
        </p:spPr>
      </p:sp>
      <p:sp>
        <p:nvSpPr>
          <p:cNvPr id="16" name="Shape 14"/>
          <p:cNvSpPr/>
          <p:nvPr/>
        </p:nvSpPr>
        <p:spPr>
          <a:xfrm>
            <a:off x="9474200" y="1899841"/>
            <a:ext cx="1905000" cy="434280"/>
          </a:xfrm>
          <a:prstGeom prst="roundRect">
            <a:avLst>
              <a:gd name="adj" fmla="val 11698"/>
            </a:avLst>
          </a:prstGeom>
          <a:solidFill>
            <a:srgbClr val="DCE8F5"/>
          </a:solidFill>
          <a:ln/>
        </p:spPr>
      </p:sp>
      <p:sp>
        <p:nvSpPr>
          <p:cNvPr id="17" name="Text 15"/>
          <p:cNvSpPr txBox="1"/>
          <p:nvPr/>
        </p:nvSpPr>
        <p:spPr>
          <a:xfrm>
            <a:off x="9474200" y="189984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Python engine</a:t>
            </a:r>
            <a:endParaRPr lang="en-US" sz="1300" dirty="0"/>
          </a:p>
        </p:txBody>
      </p:sp>
      <p:sp>
        <p:nvSpPr>
          <p:cNvPr id="18" name="Shape 16"/>
          <p:cNvSpPr/>
          <p:nvPr/>
        </p:nvSpPr>
        <p:spPr>
          <a:xfrm>
            <a:off x="9474200" y="2410321"/>
            <a:ext cx="1905000" cy="434280"/>
          </a:xfrm>
          <a:prstGeom prst="roundRect">
            <a:avLst>
              <a:gd name="adj" fmla="val 11698"/>
            </a:avLst>
          </a:prstGeom>
          <a:solidFill>
            <a:srgbClr val="F6E1CF"/>
          </a:solidFill>
          <a:ln/>
        </p:spPr>
      </p:sp>
      <p:sp>
        <p:nvSpPr>
          <p:cNvPr id="19" name="Text 17"/>
          <p:cNvSpPr txBox="1"/>
          <p:nvPr/>
        </p:nvSpPr>
        <p:spPr>
          <a:xfrm>
            <a:off x="9474200" y="241032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AI-Excel</a:t>
            </a:r>
            <a:endParaRPr lang="en-US" sz="1300" dirty="0"/>
          </a:p>
        </p:txBody>
      </p:sp>
      <p:sp>
        <p:nvSpPr>
          <p:cNvPr id="20" name="Shape 18"/>
          <p:cNvSpPr/>
          <p:nvPr/>
        </p:nvSpPr>
        <p:spPr>
          <a:xfrm>
            <a:off x="9474200" y="2920802"/>
            <a:ext cx="1905000" cy="434280"/>
          </a:xfrm>
          <a:prstGeom prst="roundRect">
            <a:avLst>
              <a:gd name="adj" fmla="val 11698"/>
            </a:avLst>
          </a:prstGeom>
          <a:solidFill>
            <a:srgbClr val="E4E2DA"/>
          </a:solidFill>
          <a:ln/>
        </p:spPr>
      </p:sp>
      <p:sp>
        <p:nvSpPr>
          <p:cNvPr id="21" name="Text 19"/>
          <p:cNvSpPr txBox="1"/>
          <p:nvPr/>
        </p:nvSpPr>
        <p:spPr>
          <a:xfrm>
            <a:off x="9474200" y="2920802"/>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Documentation</a:t>
            </a:r>
            <a:endParaRPr lang="en-US" sz="1300" dirty="0"/>
          </a:p>
        </p:txBody>
      </p:sp>
      <p:sp>
        <p:nvSpPr>
          <p:cNvPr id="22" name="Shape 20"/>
          <p:cNvSpPr/>
          <p:nvPr/>
        </p:nvSpPr>
        <p:spPr>
          <a:xfrm>
            <a:off x="812800" y="3659882"/>
            <a:ext cx="38100" cy="904081"/>
          </a:xfrm>
          <a:prstGeom prst="rect">
            <a:avLst/>
          </a:prstGeom>
          <a:solidFill>
            <a:srgbClr val="A8521A"/>
          </a:solidFill>
          <a:ln/>
        </p:spPr>
      </p:sp>
      <p:sp>
        <p:nvSpPr>
          <p:cNvPr id="23" name="Text 21"/>
          <p:cNvSpPr txBox="1"/>
          <p:nvPr/>
        </p:nvSpPr>
        <p:spPr>
          <a:xfrm>
            <a:off x="1028700" y="3710682"/>
            <a:ext cx="5114671"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Share generators, not context</a:t>
            </a:r>
            <a:endParaRPr lang="en-US" sz="1500" dirty="0"/>
          </a:p>
        </p:txBody>
      </p:sp>
      <p:sp>
        <p:nvSpPr>
          <p:cNvPr id="24" name="Text 22"/>
          <p:cNvSpPr txBox="1"/>
          <p:nvPr/>
        </p:nvSpPr>
        <p:spPr>
          <a:xfrm>
            <a:off x="1028700" y="4034532"/>
            <a:ext cx="5114671"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We save the full build script and a readable pseudocode version that produces it.</a:t>
            </a:r>
            <a:endParaRPr lang="en-US" sz="1300" dirty="0"/>
          </a:p>
        </p:txBody>
      </p:sp>
      <p:sp>
        <p:nvSpPr>
          <p:cNvPr id="25" name="Shape 23"/>
          <p:cNvSpPr/>
          <p:nvPr/>
        </p:nvSpPr>
        <p:spPr>
          <a:xfrm>
            <a:off x="6197600" y="3659882"/>
            <a:ext cx="38100" cy="904081"/>
          </a:xfrm>
          <a:prstGeom prst="rect">
            <a:avLst/>
          </a:prstGeom>
          <a:solidFill>
            <a:srgbClr val="A8521A"/>
          </a:solidFill>
          <a:ln/>
        </p:spPr>
      </p:sp>
      <p:sp>
        <p:nvSpPr>
          <p:cNvPr id="26" name="Text 24"/>
          <p:cNvSpPr txBox="1"/>
          <p:nvPr/>
        </p:nvSpPr>
        <p:spPr>
          <a:xfrm>
            <a:off x="6413500" y="3710682"/>
            <a:ext cx="49657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Works with Claude or Copilot</a:t>
            </a:r>
            <a:endParaRPr lang="en-US" sz="1500" dirty="0"/>
          </a:p>
        </p:txBody>
      </p:sp>
      <p:sp>
        <p:nvSpPr>
          <p:cNvPr id="27" name="Text 25"/>
          <p:cNvSpPr txBox="1"/>
          <p:nvPr/>
        </p:nvSpPr>
        <p:spPr>
          <a:xfrm>
            <a:off x="6413500" y="4034532"/>
            <a:ext cx="49657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Any AI coding tool can pick it up; proprietary data stays ring-fenced.</a:t>
            </a:r>
            <a:endParaRPr lang="en-US" sz="13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ISSUES AND RESOLUTIONS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main risks are known and manageable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1849041"/>
          <a:ext cx="10566400" cy="914400"/>
        </p:xfrm>
        <a:graphic>
          <a:graphicData uri="http://schemas.openxmlformats.org/drawingml/2006/table">
            <a:tbl>
              <a:tblPr/>
              <a:tblGrid>
                <a:gridCol w="1901924"/>
                <a:gridCol w="4332188"/>
                <a:gridCol w="4332288"/>
              </a:tblGrid>
              <a:tr h="206375">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IMF ownership</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The IMF may want to take control, and could build its own version.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Agree the WB side first, then bring the IMF in early. Their version may look like ours.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Compatibility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LAMBDA functions need recent Excel; older copies, e.g. in finance ministries, may fail.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Finance ministries are not the first audience. LAMBDAs can be turned back into direct formulae.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Functionality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Excel CPAT holds many ad hoc changes; the new model will not match them all at first.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Build a sound, maintainable base; extend it once code and AI-Excel are adequate.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Risk of two Excel models to maintain in the long run.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 contributor to the WB–IMF process, not yet the full CPAT. Long-term, keep one Excel.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Teams use different AI tools, and some data is proprietary.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Works with Claude or GitHub Copilot; proprietary data kept ring-fenced.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MASTER TIMELINE²</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Excel MVP¹ by 16 October; all modules by February</a:t>
            </a:r>
            <a:endParaRPr lang="en-US" sz="3200" dirty="0"/>
          </a:p>
        </p:txBody>
      </p:sp>
      <p:sp>
        <p:nvSpPr>
          <p:cNvPr id="4" name="Shape 2"/>
          <p:cNvSpPr/>
          <p:nvPr/>
        </p:nvSpPr>
        <p:spPr>
          <a:xfrm>
            <a:off x="5156200" y="1879600"/>
            <a:ext cx="1587500" cy="3276600"/>
          </a:xfrm>
          <a:prstGeom prst="rect">
            <a:avLst/>
          </a:prstGeom>
          <a:solidFill>
            <a:srgbClr val="ECE9E1"/>
          </a:solidFill>
          <a:ln/>
        </p:spPr>
      </p:sp>
      <p:sp>
        <p:nvSpPr>
          <p:cNvPr id="5" name="Shape 3"/>
          <p:cNvSpPr/>
          <p:nvPr/>
        </p:nvSpPr>
        <p:spPr>
          <a:xfrm>
            <a:off x="7886700" y="1879600"/>
            <a:ext cx="1270000" cy="3276600"/>
          </a:xfrm>
          <a:prstGeom prst="rect">
            <a:avLst/>
          </a:prstGeom>
          <a:solidFill>
            <a:srgbClr val="ECE9E1"/>
          </a:solidFill>
          <a:ln/>
        </p:spPr>
      </p:sp>
      <p:sp>
        <p:nvSpPr>
          <p:cNvPr id="6" name="Shape 4"/>
          <p:cNvSpPr/>
          <p:nvPr/>
        </p:nvSpPr>
        <p:spPr>
          <a:xfrm>
            <a:off x="10426700" y="1879600"/>
            <a:ext cx="952500" cy="3276600"/>
          </a:xfrm>
          <a:prstGeom prst="rect">
            <a:avLst/>
          </a:prstGeom>
          <a:solidFill>
            <a:srgbClr val="ECE9E1"/>
          </a:solidFill>
          <a:ln/>
        </p:spPr>
      </p:sp>
      <p:sp>
        <p:nvSpPr>
          <p:cNvPr id="7" name="Shape 5"/>
          <p:cNvSpPr/>
          <p:nvPr/>
        </p:nvSpPr>
        <p:spPr>
          <a:xfrm>
            <a:off x="4838700" y="2120900"/>
            <a:ext cx="317500" cy="3035300"/>
          </a:xfrm>
          <a:prstGeom prst="rect">
            <a:avLst/>
          </a:prstGeom>
          <a:solidFill>
            <a:srgbClr val="E2DED3"/>
          </a:solidFill>
          <a:ln/>
        </p:spPr>
      </p:sp>
      <p:sp>
        <p:nvSpPr>
          <p:cNvPr id="8" name="Shape 6"/>
          <p:cNvSpPr/>
          <p:nvPr/>
        </p:nvSpPr>
        <p:spPr>
          <a:xfrm>
            <a:off x="7378700" y="1879600"/>
            <a:ext cx="508000" cy="3276600"/>
          </a:xfrm>
          <a:prstGeom prst="rect">
            <a:avLst/>
          </a:prstGeom>
          <a:solidFill>
            <a:srgbClr val="E2DED3"/>
          </a:solidFill>
          <a:ln/>
        </p:spPr>
      </p:sp>
      <p:sp>
        <p:nvSpPr>
          <p:cNvPr id="9" name="Shape 7"/>
          <p:cNvSpPr/>
          <p:nvPr/>
        </p:nvSpPr>
        <p:spPr>
          <a:xfrm>
            <a:off x="812800" y="1916410"/>
            <a:ext cx="139700" cy="139700"/>
          </a:xfrm>
          <a:prstGeom prst="roundRect">
            <a:avLst>
              <a:gd name="adj" fmla="val 18182"/>
            </a:avLst>
          </a:prstGeom>
          <a:solidFill>
            <a:srgbClr val="A8521A"/>
          </a:solidFill>
          <a:ln/>
        </p:spPr>
      </p:sp>
      <p:sp>
        <p:nvSpPr>
          <p:cNvPr id="10" name="Text 8"/>
          <p:cNvSpPr txBox="1"/>
          <p:nvPr/>
        </p:nvSpPr>
        <p:spPr>
          <a:xfrm>
            <a:off x="1016000" y="1879600"/>
            <a:ext cx="120345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Model + AI-Excel</a:t>
            </a:r>
            <a:endParaRPr lang="en-US" sz="1200" dirty="0"/>
          </a:p>
        </p:txBody>
      </p:sp>
      <p:sp>
        <p:nvSpPr>
          <p:cNvPr id="11" name="Shape 9"/>
          <p:cNvSpPr/>
          <p:nvPr/>
        </p:nvSpPr>
        <p:spPr>
          <a:xfrm>
            <a:off x="2311400" y="1916410"/>
            <a:ext cx="139700" cy="139700"/>
          </a:xfrm>
          <a:prstGeom prst="roundRect">
            <a:avLst>
              <a:gd name="adj" fmla="val 18182"/>
            </a:avLst>
          </a:prstGeom>
          <a:solidFill>
            <a:srgbClr val="1F5A96"/>
          </a:solidFill>
          <a:ln/>
        </p:spPr>
      </p:sp>
      <p:sp>
        <p:nvSpPr>
          <p:cNvPr id="12" name="Text 10"/>
          <p:cNvSpPr txBox="1"/>
          <p:nvPr/>
        </p:nvSpPr>
        <p:spPr>
          <a:xfrm>
            <a:off x="2514600" y="1879600"/>
            <a:ext cx="902589"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Shiny + code</a:t>
            </a:r>
            <a:endParaRPr lang="en-US" sz="1200" dirty="0"/>
          </a:p>
        </p:txBody>
      </p:sp>
      <p:sp>
        <p:nvSpPr>
          <p:cNvPr id="13" name="Shape 11"/>
          <p:cNvSpPr/>
          <p:nvPr/>
        </p:nvSpPr>
        <p:spPr>
          <a:xfrm>
            <a:off x="812800" y="2157710"/>
            <a:ext cx="139700" cy="139700"/>
          </a:xfrm>
          <a:prstGeom prst="roundRect">
            <a:avLst>
              <a:gd name="adj" fmla="val 18182"/>
            </a:avLst>
          </a:prstGeom>
          <a:solidFill>
            <a:srgbClr val="14213D"/>
          </a:solidFill>
          <a:ln/>
        </p:spPr>
      </p:sp>
      <p:sp>
        <p:nvSpPr>
          <p:cNvPr id="14" name="Text 12"/>
          <p:cNvSpPr txBox="1"/>
          <p:nvPr/>
        </p:nvSpPr>
        <p:spPr>
          <a:xfrm>
            <a:off x="1016000" y="2120900"/>
            <a:ext cx="797941"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Application</a:t>
            </a:r>
            <a:endParaRPr lang="en-US" sz="1200" dirty="0"/>
          </a:p>
        </p:txBody>
      </p:sp>
      <p:sp>
        <p:nvSpPr>
          <p:cNvPr id="15" name="Shape 13"/>
          <p:cNvSpPr/>
          <p:nvPr/>
        </p:nvSpPr>
        <p:spPr>
          <a:xfrm>
            <a:off x="1968500" y="2157710"/>
            <a:ext cx="139700" cy="139700"/>
          </a:xfrm>
          <a:prstGeom prst="roundRect">
            <a:avLst>
              <a:gd name="adj" fmla="val 18182"/>
            </a:avLst>
          </a:prstGeom>
          <a:solidFill>
            <a:srgbClr val="3D7A73"/>
          </a:solidFill>
          <a:ln/>
        </p:spPr>
      </p:sp>
      <p:sp>
        <p:nvSpPr>
          <p:cNvPr id="16" name="Text 14"/>
          <p:cNvSpPr txBox="1"/>
          <p:nvPr/>
        </p:nvSpPr>
        <p:spPr>
          <a:xfrm>
            <a:off x="2171700" y="2120900"/>
            <a:ext cx="106610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Other products</a:t>
            </a:r>
            <a:endParaRPr lang="en-US" sz="1200" dirty="0"/>
          </a:p>
        </p:txBody>
      </p:sp>
      <p:sp>
        <p:nvSpPr>
          <p:cNvPr id="17" name="Text 15"/>
          <p:cNvSpPr txBox="1"/>
          <p:nvPr/>
        </p:nvSpPr>
        <p:spPr>
          <a:xfrm>
            <a:off x="39116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Oct</a:t>
            </a:r>
            <a:endParaRPr lang="en-US" sz="1200" dirty="0"/>
          </a:p>
        </p:txBody>
      </p:sp>
      <p:sp>
        <p:nvSpPr>
          <p:cNvPr id="18" name="Text 16"/>
          <p:cNvSpPr txBox="1"/>
          <p:nvPr/>
        </p:nvSpPr>
        <p:spPr>
          <a:xfrm>
            <a:off x="5181600" y="1879600"/>
            <a:ext cx="156972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Nov</a:t>
            </a:r>
            <a:endParaRPr lang="en-US" sz="1200" dirty="0"/>
          </a:p>
        </p:txBody>
      </p:sp>
      <p:sp>
        <p:nvSpPr>
          <p:cNvPr id="19" name="Text 17"/>
          <p:cNvSpPr txBox="1"/>
          <p:nvPr/>
        </p:nvSpPr>
        <p:spPr>
          <a:xfrm>
            <a:off x="6769100" y="1879600"/>
            <a:ext cx="58864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Dec</a:t>
            </a:r>
            <a:endParaRPr lang="en-US" sz="1200" dirty="0"/>
          </a:p>
        </p:txBody>
      </p:sp>
      <p:sp>
        <p:nvSpPr>
          <p:cNvPr id="20" name="Text 18"/>
          <p:cNvSpPr txBox="1"/>
          <p:nvPr/>
        </p:nvSpPr>
        <p:spPr>
          <a:xfrm>
            <a:off x="7378700" y="1879600"/>
            <a:ext cx="523240" cy="213320"/>
          </a:xfrm>
          <a:prstGeom prst="rect">
            <a:avLst/>
          </a:prstGeom>
          <a:noFill/>
          <a:ln/>
        </p:spPr>
        <p:txBody>
          <a:bodyPr wrap="square" lIns="0" tIns="0" rIns="0" bIns="0" rtlCol="0" anchor="t"/>
          <a:lstStyle/>
          <a:p>
            <a:pPr algn="ctr" indent="0" marL="0">
              <a:lnSpc>
                <a:spcPct val="140000"/>
              </a:lnSpc>
              <a:buNone/>
            </a:pPr>
            <a:r>
              <a:rPr lang="en-US" sz="1200" b="1" dirty="0">
                <a:solidFill>
                  <a:srgbClr val="5B6573"/>
                </a:solidFill>
                <a:latin typeface="Calibri" pitchFamily="34" charset="0"/>
                <a:ea typeface="Calibri" pitchFamily="34" charset="-122"/>
                <a:cs typeface="Calibri" pitchFamily="34" charset="-120"/>
              </a:rPr>
              <a:t>Leave</a:t>
            </a:r>
            <a:endParaRPr lang="en-US" sz="1200" dirty="0"/>
          </a:p>
        </p:txBody>
      </p:sp>
      <p:sp>
        <p:nvSpPr>
          <p:cNvPr id="21" name="Text 19"/>
          <p:cNvSpPr txBox="1"/>
          <p:nvPr/>
        </p:nvSpPr>
        <p:spPr>
          <a:xfrm>
            <a:off x="79121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Jan</a:t>
            </a:r>
            <a:endParaRPr lang="en-US" sz="1200" dirty="0"/>
          </a:p>
        </p:txBody>
      </p:sp>
      <p:sp>
        <p:nvSpPr>
          <p:cNvPr id="22" name="Text 20"/>
          <p:cNvSpPr txBox="1"/>
          <p:nvPr/>
        </p:nvSpPr>
        <p:spPr>
          <a:xfrm>
            <a:off x="91821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Feb</a:t>
            </a:r>
            <a:endParaRPr lang="en-US" sz="1200" dirty="0"/>
          </a:p>
        </p:txBody>
      </p:sp>
      <p:sp>
        <p:nvSpPr>
          <p:cNvPr id="23" name="Text 21"/>
          <p:cNvSpPr txBox="1"/>
          <p:nvPr/>
        </p:nvSpPr>
        <p:spPr>
          <a:xfrm>
            <a:off x="10452100" y="1879600"/>
            <a:ext cx="91567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Mar</a:t>
            </a:r>
            <a:endParaRPr lang="en-US" sz="1200" dirty="0"/>
          </a:p>
        </p:txBody>
      </p:sp>
      <p:sp>
        <p:nvSpPr>
          <p:cNvPr id="24" name="Text 22"/>
          <p:cNvSpPr txBox="1"/>
          <p:nvPr/>
        </p:nvSpPr>
        <p:spPr>
          <a:xfrm>
            <a:off x="388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420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12</a:t>
            </a:r>
            <a:endParaRPr lang="en-US" sz="1200" dirty="0"/>
          </a:p>
        </p:txBody>
      </p:sp>
      <p:sp>
        <p:nvSpPr>
          <p:cNvPr id="26" name="Text 24"/>
          <p:cNvSpPr txBox="1"/>
          <p:nvPr/>
        </p:nvSpPr>
        <p:spPr>
          <a:xfrm>
            <a:off x="452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19</a:t>
            </a:r>
            <a:endParaRPr lang="en-US" sz="1200" dirty="0"/>
          </a:p>
        </p:txBody>
      </p:sp>
      <p:sp>
        <p:nvSpPr>
          <p:cNvPr id="27" name="Text 25"/>
          <p:cNvSpPr txBox="1"/>
          <p:nvPr/>
        </p:nvSpPr>
        <p:spPr>
          <a:xfrm>
            <a:off x="4838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26</a:t>
            </a:r>
            <a:endParaRPr lang="en-US" sz="1200" dirty="0"/>
          </a:p>
        </p:txBody>
      </p:sp>
      <p:sp>
        <p:nvSpPr>
          <p:cNvPr id="28" name="Text 26"/>
          <p:cNvSpPr txBox="1"/>
          <p:nvPr/>
        </p:nvSpPr>
        <p:spPr>
          <a:xfrm>
            <a:off x="515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a:t>
            </a:r>
            <a:endParaRPr lang="en-US" sz="1200" dirty="0"/>
          </a:p>
        </p:txBody>
      </p:sp>
      <p:sp>
        <p:nvSpPr>
          <p:cNvPr id="29" name="Text 27"/>
          <p:cNvSpPr txBox="1"/>
          <p:nvPr/>
        </p:nvSpPr>
        <p:spPr>
          <a:xfrm>
            <a:off x="547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9</a:t>
            </a:r>
            <a:endParaRPr lang="en-US" sz="1200" dirty="0"/>
          </a:p>
        </p:txBody>
      </p:sp>
      <p:sp>
        <p:nvSpPr>
          <p:cNvPr id="30" name="Text 28"/>
          <p:cNvSpPr txBox="1"/>
          <p:nvPr/>
        </p:nvSpPr>
        <p:spPr>
          <a:xfrm>
            <a:off x="579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16</a:t>
            </a:r>
            <a:endParaRPr lang="en-US" sz="1200" dirty="0"/>
          </a:p>
        </p:txBody>
      </p:sp>
      <p:sp>
        <p:nvSpPr>
          <p:cNvPr id="31" name="Text 29"/>
          <p:cNvSpPr txBox="1"/>
          <p:nvPr/>
        </p:nvSpPr>
        <p:spPr>
          <a:xfrm>
            <a:off x="6108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23</a:t>
            </a:r>
            <a:endParaRPr lang="en-US" sz="1200" dirty="0"/>
          </a:p>
        </p:txBody>
      </p:sp>
      <p:sp>
        <p:nvSpPr>
          <p:cNvPr id="32" name="Text 30"/>
          <p:cNvSpPr txBox="1"/>
          <p:nvPr/>
        </p:nvSpPr>
        <p:spPr>
          <a:xfrm>
            <a:off x="642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30</a:t>
            </a:r>
            <a:endParaRPr lang="en-US" sz="1200" dirty="0"/>
          </a:p>
        </p:txBody>
      </p:sp>
      <p:sp>
        <p:nvSpPr>
          <p:cNvPr id="33" name="Text 31"/>
          <p:cNvSpPr txBox="1"/>
          <p:nvPr/>
        </p:nvSpPr>
        <p:spPr>
          <a:xfrm>
            <a:off x="674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7</a:t>
            </a:r>
            <a:endParaRPr lang="en-US" sz="1200" dirty="0"/>
          </a:p>
        </p:txBody>
      </p:sp>
      <p:sp>
        <p:nvSpPr>
          <p:cNvPr id="34" name="Text 32"/>
          <p:cNvSpPr txBox="1"/>
          <p:nvPr/>
        </p:nvSpPr>
        <p:spPr>
          <a:xfrm>
            <a:off x="706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14</a:t>
            </a:r>
            <a:endParaRPr lang="en-US" sz="1200" dirty="0"/>
          </a:p>
        </p:txBody>
      </p:sp>
      <p:sp>
        <p:nvSpPr>
          <p:cNvPr id="35" name="Text 33"/>
          <p:cNvSpPr txBox="1"/>
          <p:nvPr/>
        </p:nvSpPr>
        <p:spPr>
          <a:xfrm>
            <a:off x="788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4</a:t>
            </a:r>
            <a:endParaRPr lang="en-US" sz="1200" dirty="0"/>
          </a:p>
        </p:txBody>
      </p:sp>
      <p:sp>
        <p:nvSpPr>
          <p:cNvPr id="36" name="Text 34"/>
          <p:cNvSpPr txBox="1"/>
          <p:nvPr/>
        </p:nvSpPr>
        <p:spPr>
          <a:xfrm>
            <a:off x="820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11</a:t>
            </a:r>
            <a:endParaRPr lang="en-US" sz="1200" dirty="0"/>
          </a:p>
        </p:txBody>
      </p:sp>
      <p:sp>
        <p:nvSpPr>
          <p:cNvPr id="37" name="Text 35"/>
          <p:cNvSpPr txBox="1"/>
          <p:nvPr/>
        </p:nvSpPr>
        <p:spPr>
          <a:xfrm>
            <a:off x="8521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18</a:t>
            </a:r>
            <a:endParaRPr lang="en-US" sz="1200" dirty="0"/>
          </a:p>
        </p:txBody>
      </p:sp>
      <p:sp>
        <p:nvSpPr>
          <p:cNvPr id="38" name="Text 36"/>
          <p:cNvSpPr txBox="1"/>
          <p:nvPr/>
        </p:nvSpPr>
        <p:spPr>
          <a:xfrm>
            <a:off x="8839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25</a:t>
            </a:r>
            <a:endParaRPr lang="en-US" sz="1200" dirty="0"/>
          </a:p>
        </p:txBody>
      </p:sp>
      <p:sp>
        <p:nvSpPr>
          <p:cNvPr id="39" name="Text 37"/>
          <p:cNvSpPr txBox="1"/>
          <p:nvPr/>
        </p:nvSpPr>
        <p:spPr>
          <a:xfrm>
            <a:off x="915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a:t>
            </a:r>
            <a:endParaRPr lang="en-US" sz="1200" dirty="0"/>
          </a:p>
        </p:txBody>
      </p:sp>
      <p:sp>
        <p:nvSpPr>
          <p:cNvPr id="40" name="Text 38"/>
          <p:cNvSpPr txBox="1"/>
          <p:nvPr/>
        </p:nvSpPr>
        <p:spPr>
          <a:xfrm>
            <a:off x="947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8</a:t>
            </a:r>
            <a:endParaRPr lang="en-US" sz="1200" dirty="0"/>
          </a:p>
        </p:txBody>
      </p:sp>
      <p:sp>
        <p:nvSpPr>
          <p:cNvPr id="41" name="Text 39"/>
          <p:cNvSpPr txBox="1"/>
          <p:nvPr/>
        </p:nvSpPr>
        <p:spPr>
          <a:xfrm>
            <a:off x="9791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15</a:t>
            </a:r>
            <a:endParaRPr lang="en-US" sz="1200" dirty="0"/>
          </a:p>
        </p:txBody>
      </p:sp>
      <p:sp>
        <p:nvSpPr>
          <p:cNvPr id="42" name="Text 40"/>
          <p:cNvSpPr txBox="1"/>
          <p:nvPr/>
        </p:nvSpPr>
        <p:spPr>
          <a:xfrm>
            <a:off x="10109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22</a:t>
            </a:r>
            <a:endParaRPr lang="en-US" sz="1200" dirty="0"/>
          </a:p>
        </p:txBody>
      </p:sp>
      <p:sp>
        <p:nvSpPr>
          <p:cNvPr id="43" name="Text 41"/>
          <p:cNvSpPr txBox="1"/>
          <p:nvPr/>
        </p:nvSpPr>
        <p:spPr>
          <a:xfrm>
            <a:off x="1042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a:t>
            </a:r>
            <a:endParaRPr lang="en-US" sz="1200" dirty="0"/>
          </a:p>
        </p:txBody>
      </p:sp>
      <p:sp>
        <p:nvSpPr>
          <p:cNvPr id="44" name="Text 42"/>
          <p:cNvSpPr txBox="1"/>
          <p:nvPr/>
        </p:nvSpPr>
        <p:spPr>
          <a:xfrm>
            <a:off x="1074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8</a:t>
            </a:r>
            <a:endParaRPr lang="en-US" sz="1200" dirty="0"/>
          </a:p>
        </p:txBody>
      </p:sp>
      <p:sp>
        <p:nvSpPr>
          <p:cNvPr id="45" name="Text 43"/>
          <p:cNvSpPr txBox="1"/>
          <p:nvPr/>
        </p:nvSpPr>
        <p:spPr>
          <a:xfrm>
            <a:off x="11061700" y="2120900"/>
            <a:ext cx="317500"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15</a:t>
            </a:r>
            <a:endParaRPr lang="en-US" sz="1200" dirty="0"/>
          </a:p>
        </p:txBody>
      </p:sp>
      <p:sp>
        <p:nvSpPr>
          <p:cNvPr id="46" name="Text 44"/>
          <p:cNvSpPr txBox="1"/>
          <p:nvPr/>
        </p:nvSpPr>
        <p:spPr>
          <a:xfrm>
            <a:off x="812800" y="2413000"/>
            <a:ext cx="3060954" cy="228600"/>
          </a:xfrm>
          <a:prstGeom prst="rect">
            <a:avLst/>
          </a:prstGeom>
          <a:noFill/>
          <a:ln/>
        </p:spPr>
        <p:txBody>
          <a:bodyPr wrap="square" lIns="0" tIns="0" rIns="0" bIns="0" rtlCol="0" anchor="t"/>
          <a:lstStyle/>
          <a:p>
            <a:pPr algn="l" indent="0" marL="0">
              <a:lnSpc>
                <a:spcPct val="150000"/>
              </a:lnSpc>
              <a:buNone/>
            </a:pPr>
            <a:r>
              <a:rPr lang="en-US" sz="1200" b="1" dirty="0">
                <a:solidFill>
                  <a:srgbClr val="14213D"/>
                </a:solidFill>
                <a:latin typeface="Calibri" pitchFamily="34" charset="0"/>
                <a:ea typeface="Calibri" pitchFamily="34" charset="-122"/>
                <a:cs typeface="Calibri" pitchFamily="34" charset="-120"/>
              </a:rPr>
              <a:t>Mitigation basics + Excel MVP¹</a:t>
            </a:r>
            <a:endParaRPr lang="en-US" sz="1200" dirty="0"/>
          </a:p>
        </p:txBody>
      </p:sp>
      <p:sp>
        <p:nvSpPr>
          <p:cNvPr id="47" name="Text 45"/>
          <p:cNvSpPr txBox="1"/>
          <p:nvPr/>
        </p:nvSpPr>
        <p:spPr>
          <a:xfrm>
            <a:off x="812800" y="2641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Code MVP + Shiny</a:t>
            </a:r>
            <a:endParaRPr lang="en-US" sz="1200" dirty="0"/>
          </a:p>
        </p:txBody>
      </p:sp>
      <p:sp>
        <p:nvSpPr>
          <p:cNvPr id="48" name="Text 46"/>
          <p:cNvSpPr txBox="1"/>
          <p:nvPr/>
        </p:nvSpPr>
        <p:spPr>
          <a:xfrm>
            <a:off x="812800" y="28702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Distribution</a:t>
            </a:r>
            <a:endParaRPr lang="en-US" sz="1200" dirty="0"/>
          </a:p>
        </p:txBody>
      </p:sp>
      <p:sp>
        <p:nvSpPr>
          <p:cNvPr id="49" name="Text 47"/>
          <p:cNvSpPr txBox="1"/>
          <p:nvPr/>
        </p:nvSpPr>
        <p:spPr>
          <a:xfrm>
            <a:off x="812800" y="30988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Power</a:t>
            </a:r>
            <a:endParaRPr lang="en-US" sz="1200" dirty="0"/>
          </a:p>
        </p:txBody>
      </p:sp>
      <p:sp>
        <p:nvSpPr>
          <p:cNvPr id="50" name="Text 48"/>
          <p:cNvSpPr txBox="1"/>
          <p:nvPr/>
        </p:nvSpPr>
        <p:spPr>
          <a:xfrm>
            <a:off x="812800" y="33274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Air pollution</a:t>
            </a:r>
            <a:endParaRPr lang="en-US" sz="1200" dirty="0"/>
          </a:p>
        </p:txBody>
      </p:sp>
      <p:sp>
        <p:nvSpPr>
          <p:cNvPr id="51" name="Text 49"/>
          <p:cNvSpPr txBox="1"/>
          <p:nvPr/>
        </p:nvSpPr>
        <p:spPr>
          <a:xfrm>
            <a:off x="812800" y="35560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Remainder of mitigation</a:t>
            </a:r>
            <a:endParaRPr lang="en-US" sz="1200" dirty="0"/>
          </a:p>
        </p:txBody>
      </p:sp>
      <p:sp>
        <p:nvSpPr>
          <p:cNvPr id="52" name="Text 50"/>
          <p:cNvSpPr txBox="1"/>
          <p:nvPr/>
        </p:nvSpPr>
        <p:spPr>
          <a:xfrm>
            <a:off x="812800" y="3784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Shiny prototype</a:t>
            </a:r>
            <a:endParaRPr lang="en-US" sz="1200" dirty="0"/>
          </a:p>
        </p:txBody>
      </p:sp>
      <p:sp>
        <p:nvSpPr>
          <p:cNvPr id="53" name="Text 51"/>
          <p:cNvSpPr txBox="1"/>
          <p:nvPr/>
        </p:nvSpPr>
        <p:spPr>
          <a:xfrm>
            <a:off x="812800" y="40132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GHG accounting</a:t>
            </a:r>
            <a:endParaRPr lang="en-US" sz="1200" dirty="0"/>
          </a:p>
        </p:txBody>
      </p:sp>
      <p:sp>
        <p:nvSpPr>
          <p:cNvPr id="54" name="Text 52"/>
          <p:cNvSpPr txBox="1"/>
          <p:nvPr/>
        </p:nvSpPr>
        <p:spPr>
          <a:xfrm>
            <a:off x="812800" y="42418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Transport</a:t>
            </a:r>
            <a:endParaRPr lang="en-US" sz="1200" dirty="0"/>
          </a:p>
        </p:txBody>
      </p:sp>
      <p:sp>
        <p:nvSpPr>
          <p:cNvPr id="55" name="Text 53"/>
          <p:cNvSpPr txBox="1"/>
          <p:nvPr/>
        </p:nvSpPr>
        <p:spPr>
          <a:xfrm>
            <a:off x="812800" y="44704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Policy crediting and FFI</a:t>
            </a:r>
            <a:endParaRPr lang="en-US" sz="1200" dirty="0"/>
          </a:p>
        </p:txBody>
      </p:sp>
      <p:sp>
        <p:nvSpPr>
          <p:cNvPr id="56" name="Text 54"/>
          <p:cNvSpPr txBox="1"/>
          <p:nvPr/>
        </p:nvSpPr>
        <p:spPr>
          <a:xfrm>
            <a:off x="812800" y="46990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Macro-fiscal dashboard updates</a:t>
            </a:r>
            <a:endParaRPr lang="en-US" sz="1200" dirty="0"/>
          </a:p>
        </p:txBody>
      </p:sp>
      <p:sp>
        <p:nvSpPr>
          <p:cNvPr id="57" name="Text 55"/>
          <p:cNvSpPr txBox="1"/>
          <p:nvPr/>
        </p:nvSpPr>
        <p:spPr>
          <a:xfrm>
            <a:off x="812800" y="4927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Policy reports</a:t>
            </a:r>
            <a:endParaRPr lang="en-US" sz="1200" dirty="0"/>
          </a:p>
        </p:txBody>
      </p:sp>
      <p:sp>
        <p:nvSpPr>
          <p:cNvPr id="58" name="Shape 56"/>
          <p:cNvSpPr/>
          <p:nvPr/>
        </p:nvSpPr>
        <p:spPr>
          <a:xfrm>
            <a:off x="3905250" y="2451100"/>
            <a:ext cx="596900" cy="152400"/>
          </a:xfrm>
          <a:prstGeom prst="roundRect">
            <a:avLst>
              <a:gd name="adj" fmla="val 25000"/>
            </a:avLst>
          </a:prstGeom>
          <a:solidFill>
            <a:srgbClr val="A8521A"/>
          </a:solidFill>
          <a:ln/>
        </p:spPr>
      </p:sp>
      <p:sp>
        <p:nvSpPr>
          <p:cNvPr id="59" name="Text 57"/>
          <p:cNvSpPr txBox="1"/>
          <p:nvPr/>
        </p:nvSpPr>
        <p:spPr>
          <a:xfrm>
            <a:off x="5207000" y="2413000"/>
            <a:ext cx="1569720" cy="228600"/>
          </a:xfrm>
          <a:prstGeom prst="rect">
            <a:avLst/>
          </a:prstGeom>
          <a:noFill/>
          <a:ln/>
        </p:spPr>
        <p:txBody>
          <a:bodyPr wrap="square" lIns="0" tIns="0" rIns="0" bIns="0" rtlCol="0" anchor="t"/>
          <a:lstStyle/>
          <a:p>
            <a:pPr algn="l" indent="0" marL="0">
              <a:lnSpc>
                <a:spcPct val="150000"/>
              </a:lnSpc>
              <a:buNone/>
            </a:pPr>
            <a:r>
              <a:rPr lang="en-US" sz="1200" b="1" dirty="0">
                <a:solidFill>
                  <a:srgbClr val="A8521A"/>
                </a:solidFill>
                <a:latin typeface="Calibri" pitchFamily="34" charset="0"/>
                <a:ea typeface="Calibri" pitchFamily="34" charset="-122"/>
                <a:cs typeface="Calibri" pitchFamily="34" charset="-120"/>
              </a:rPr>
              <a:t>MVP · 16 Oct</a:t>
            </a:r>
            <a:endParaRPr lang="en-US" sz="1200" dirty="0"/>
          </a:p>
        </p:txBody>
      </p:sp>
      <p:sp>
        <p:nvSpPr>
          <p:cNvPr id="60" name="Shape 58"/>
          <p:cNvSpPr/>
          <p:nvPr/>
        </p:nvSpPr>
        <p:spPr>
          <a:xfrm>
            <a:off x="4540250" y="2679700"/>
            <a:ext cx="279400" cy="152400"/>
          </a:xfrm>
          <a:prstGeom prst="roundRect">
            <a:avLst>
              <a:gd name="adj" fmla="val 25000"/>
            </a:avLst>
          </a:prstGeom>
          <a:solidFill>
            <a:srgbClr val="1F5A96"/>
          </a:solidFill>
          <a:ln/>
        </p:spPr>
      </p:sp>
      <p:sp>
        <p:nvSpPr>
          <p:cNvPr id="61" name="Shape 59"/>
          <p:cNvSpPr/>
          <p:nvPr/>
        </p:nvSpPr>
        <p:spPr>
          <a:xfrm>
            <a:off x="5175250" y="2908300"/>
            <a:ext cx="279400" cy="152400"/>
          </a:xfrm>
          <a:prstGeom prst="roundRect">
            <a:avLst>
              <a:gd name="adj" fmla="val 25000"/>
            </a:avLst>
          </a:prstGeom>
          <a:solidFill>
            <a:srgbClr val="A8521A"/>
          </a:solidFill>
          <a:ln/>
        </p:spPr>
      </p:sp>
      <p:sp>
        <p:nvSpPr>
          <p:cNvPr id="62" name="Shape 60"/>
          <p:cNvSpPr/>
          <p:nvPr/>
        </p:nvSpPr>
        <p:spPr>
          <a:xfrm>
            <a:off x="5492750" y="3136900"/>
            <a:ext cx="596900" cy="152400"/>
          </a:xfrm>
          <a:prstGeom prst="roundRect">
            <a:avLst>
              <a:gd name="adj" fmla="val 25000"/>
            </a:avLst>
          </a:prstGeom>
          <a:solidFill>
            <a:srgbClr val="A8521A"/>
          </a:solidFill>
          <a:ln/>
        </p:spPr>
      </p:sp>
      <p:sp>
        <p:nvSpPr>
          <p:cNvPr id="63" name="Shape 61"/>
          <p:cNvSpPr/>
          <p:nvPr/>
        </p:nvSpPr>
        <p:spPr>
          <a:xfrm>
            <a:off x="6127750" y="3365500"/>
            <a:ext cx="596900" cy="152400"/>
          </a:xfrm>
          <a:prstGeom prst="roundRect">
            <a:avLst>
              <a:gd name="adj" fmla="val 25000"/>
            </a:avLst>
          </a:prstGeom>
          <a:solidFill>
            <a:srgbClr val="A8521A"/>
          </a:solidFill>
          <a:ln/>
        </p:spPr>
      </p:sp>
      <p:sp>
        <p:nvSpPr>
          <p:cNvPr id="64" name="Shape 62"/>
          <p:cNvSpPr/>
          <p:nvPr/>
        </p:nvSpPr>
        <p:spPr>
          <a:xfrm>
            <a:off x="6762750" y="3594100"/>
            <a:ext cx="419100" cy="152400"/>
          </a:xfrm>
          <a:prstGeom prst="roundRect">
            <a:avLst>
              <a:gd name="adj" fmla="val 25000"/>
            </a:avLst>
          </a:prstGeom>
          <a:solidFill>
            <a:srgbClr val="A8521A"/>
          </a:solidFill>
          <a:ln/>
        </p:spPr>
      </p:sp>
      <p:sp>
        <p:nvSpPr>
          <p:cNvPr id="65" name="Shape 63"/>
          <p:cNvSpPr/>
          <p:nvPr/>
        </p:nvSpPr>
        <p:spPr>
          <a:xfrm>
            <a:off x="7905750" y="3822700"/>
            <a:ext cx="596900" cy="152400"/>
          </a:xfrm>
          <a:prstGeom prst="roundRect">
            <a:avLst>
              <a:gd name="adj" fmla="val 25000"/>
            </a:avLst>
          </a:prstGeom>
          <a:solidFill>
            <a:srgbClr val="1F5A96"/>
          </a:solidFill>
          <a:ln/>
        </p:spPr>
      </p:sp>
      <p:sp>
        <p:nvSpPr>
          <p:cNvPr id="66" name="Shape 64"/>
          <p:cNvSpPr/>
          <p:nvPr/>
        </p:nvSpPr>
        <p:spPr>
          <a:xfrm>
            <a:off x="8540750" y="4051300"/>
            <a:ext cx="596900" cy="152400"/>
          </a:xfrm>
          <a:prstGeom prst="roundRect">
            <a:avLst>
              <a:gd name="adj" fmla="val 25000"/>
            </a:avLst>
          </a:prstGeom>
          <a:solidFill>
            <a:srgbClr val="14213D"/>
          </a:solidFill>
          <a:ln/>
        </p:spPr>
      </p:sp>
      <p:sp>
        <p:nvSpPr>
          <p:cNvPr id="67" name="Shape 65"/>
          <p:cNvSpPr/>
          <p:nvPr/>
        </p:nvSpPr>
        <p:spPr>
          <a:xfrm>
            <a:off x="9175750" y="4279900"/>
            <a:ext cx="596900" cy="152400"/>
          </a:xfrm>
          <a:prstGeom prst="roundRect">
            <a:avLst>
              <a:gd name="adj" fmla="val 25000"/>
            </a:avLst>
          </a:prstGeom>
          <a:solidFill>
            <a:srgbClr val="A8521A"/>
          </a:solidFill>
          <a:ln/>
        </p:spPr>
      </p:sp>
      <p:sp>
        <p:nvSpPr>
          <p:cNvPr id="68" name="Shape 66"/>
          <p:cNvSpPr/>
          <p:nvPr/>
        </p:nvSpPr>
        <p:spPr>
          <a:xfrm>
            <a:off x="9810750" y="4508500"/>
            <a:ext cx="279400" cy="152400"/>
          </a:xfrm>
          <a:prstGeom prst="roundRect">
            <a:avLst>
              <a:gd name="adj" fmla="val 25000"/>
            </a:avLst>
          </a:prstGeom>
          <a:solidFill>
            <a:srgbClr val="14213D"/>
          </a:solidFill>
          <a:ln/>
        </p:spPr>
      </p:sp>
      <p:sp>
        <p:nvSpPr>
          <p:cNvPr id="69" name="Shape 67"/>
          <p:cNvSpPr/>
          <p:nvPr/>
        </p:nvSpPr>
        <p:spPr>
          <a:xfrm>
            <a:off x="10128250" y="4737100"/>
            <a:ext cx="596900" cy="152400"/>
          </a:xfrm>
          <a:prstGeom prst="roundRect">
            <a:avLst>
              <a:gd name="adj" fmla="val 25000"/>
            </a:avLst>
          </a:prstGeom>
          <a:solidFill>
            <a:srgbClr val="3D7A73"/>
          </a:solidFill>
          <a:ln/>
        </p:spPr>
      </p:sp>
      <p:sp>
        <p:nvSpPr>
          <p:cNvPr id="70" name="Shape 68"/>
          <p:cNvSpPr/>
          <p:nvPr/>
        </p:nvSpPr>
        <p:spPr>
          <a:xfrm>
            <a:off x="10763250" y="4965700"/>
            <a:ext cx="596900" cy="152400"/>
          </a:xfrm>
          <a:prstGeom prst="roundRect">
            <a:avLst>
              <a:gd name="adj" fmla="val 25000"/>
            </a:avLst>
          </a:prstGeom>
          <a:solidFill>
            <a:srgbClr val="3D7A73"/>
          </a:solidFill>
          <a:ln/>
        </p:spPr>
      </p:sp>
      <p:sp>
        <p:nvSpPr>
          <p:cNvPr id="71" name="Shape 69"/>
          <p:cNvSpPr/>
          <p:nvPr/>
        </p:nvSpPr>
        <p:spPr>
          <a:xfrm>
            <a:off x="812800" y="5270500"/>
            <a:ext cx="10566400" cy="6350"/>
          </a:xfrm>
          <a:prstGeom prst="rect">
            <a:avLst/>
          </a:prstGeom>
          <a:solidFill>
            <a:srgbClr val="C9CCD1"/>
          </a:solidFill>
          <a:ln/>
        </p:spPr>
      </p:sp>
      <p:sp>
        <p:nvSpPr>
          <p:cNvPr id="72" name="Text 70"/>
          <p:cNvSpPr txBox="1"/>
          <p:nvPr/>
        </p:nvSpPr>
        <p:spPr>
          <a:xfrm>
            <a:off x="812800" y="5340350"/>
            <a:ext cx="10566400" cy="205680"/>
          </a:xfrm>
          <a:prstGeom prst="rect">
            <a:avLst/>
          </a:prstGeom>
          <a:noFill/>
          <a:ln/>
        </p:spPr>
        <p:txBody>
          <a:bodyPr wrap="square" lIns="0" tIns="0" rIns="0" bIns="0" rtlCol="0" anchor="t"/>
          <a:lstStyle/>
          <a:p>
            <a:pPr algn="l" indent="0" marL="0">
              <a:lnSpc>
                <a:spcPct val="135000"/>
              </a:lnSpc>
              <a:buNone/>
            </a:pPr>
            <a:r>
              <a:rPr lang="en-US" sz="1200" dirty="0">
                <a:solidFill>
                  <a:srgbClr val="5B6573"/>
                </a:solidFill>
                <a:latin typeface="Calibri" pitchFamily="34" charset="0"/>
                <a:ea typeface="Calibri" pitchFamily="34" charset="-122"/>
                <a:cs typeface="Calibri" pitchFamily="34" charset="-120"/>
              </a:rPr>
              <a:t>¹ MVP = minimum viable product: mitigation basics working, and matching, in code and AI-Excel. Hatched = leave.</a:t>
            </a:r>
            <a:endParaRPr lang="en-US" sz="1200" dirty="0"/>
          </a:p>
        </p:txBody>
      </p:sp>
      <p:sp>
        <p:nvSpPr>
          <p:cNvPr id="73" name="Text 71"/>
          <p:cNvSpPr txBox="1"/>
          <p:nvPr/>
        </p:nvSpPr>
        <p:spPr>
          <a:xfrm>
            <a:off x="812800" y="5571430"/>
            <a:ext cx="10566400" cy="411361"/>
          </a:xfrm>
          <a:prstGeom prst="rect">
            <a:avLst/>
          </a:prstGeom>
          <a:noFill/>
          <a:ln/>
        </p:spPr>
        <p:txBody>
          <a:bodyPr wrap="square" lIns="0" tIns="0" rIns="0" bIns="0" rtlCol="0" anchor="t"/>
          <a:lstStyle/>
          <a:p>
            <a:pPr algn="l" indent="0" marL="0">
              <a:lnSpc>
                <a:spcPct val="135000"/>
              </a:lnSpc>
              <a:buNone/>
            </a:pPr>
            <a:r>
              <a:rPr lang="en-US" sz="1200" dirty="0">
                <a:solidFill>
                  <a:srgbClr val="5B6573"/>
                </a:solidFill>
                <a:latin typeface="Calibri" pitchFamily="34" charset="0"/>
                <a:ea typeface="Calibri" pitchFamily="34" charset="-122"/>
                <a:cs typeface="Calibri" pitchFamily="34" charset="-120"/>
              </a:rPr>
              <a:t>² In parallel, not shown: CPAT–SiSePuede supervision (half a day a week to mid-Dec, a day a week in Jan); Python platform with Zoe (Feb, about half of each week); Energy GP finance model review (two weeks, late Jan–Feb, not yet slotted).</a:t>
            </a:r>
            <a:endParaRPr lang="en-US" sz="1200" dirty="0"/>
          </a:p>
        </p:txBody>
      </p:sp>
      <p:sp>
        <p:nvSpPr>
          <p:cNvPr id="74" name="Text 7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 CPAT consolidated summary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WHERE THE CODE AND THE EXCEL GO</a:t>
            </a:r>
            <a:endParaRPr lang="en-US" sz="1200" dirty="0"/>
          </a:p>
        </p:txBody>
      </p:sp>
      <p:sp>
        <p:nvSpPr>
          <p:cNvPr id="3" name="Text 1"/>
          <p:cNvSpPr txBox="1"/>
          <p:nvPr/>
        </p:nvSpPr>
        <p:spPr>
          <a:xfrm>
            <a:off x="812800" y="1127720"/>
            <a:ext cx="10566400" cy="379710"/>
          </a:xfrm>
          <a:prstGeom prst="rect">
            <a:avLst/>
          </a:prstGeom>
          <a:noFill/>
          <a:ln/>
        </p:spPr>
        <p:txBody>
          <a:bodyPr wrap="square" lIns="0" tIns="0" rIns="0" bIns="0" rtlCol="0" anchor="t"/>
          <a:lstStyle/>
          <a:p>
            <a:pPr algn="l" indent="0" marL="0">
              <a:lnSpc>
                <a:spcPct val="115000"/>
              </a:lnSpc>
              <a:buNone/>
            </a:pPr>
            <a:r>
              <a:rPr lang="en-US" sz="2600" b="1" dirty="0">
                <a:solidFill>
                  <a:srgbClr val="14213D"/>
                </a:solidFill>
                <a:latin typeface="Cambria" pitchFamily="34" charset="0"/>
                <a:ea typeface="Cambria" pitchFamily="34" charset="-122"/>
                <a:cs typeface="Cambria" pitchFamily="34" charset="-120"/>
              </a:rPr>
              <a:t>The code feeds SiSePuede; the Excel feeds the WB–IMF process</a:t>
            </a:r>
            <a:endParaRPr lang="en-US" sz="2600" dirty="0"/>
          </a:p>
        </p:txBody>
      </p:sp>
      <p:sp>
        <p:nvSpPr>
          <p:cNvPr id="4" name="Shape 2"/>
          <p:cNvSpPr/>
          <p:nvPr/>
        </p:nvSpPr>
        <p:spPr>
          <a:xfrm>
            <a:off x="812800" y="3175000"/>
            <a:ext cx="1905000" cy="1074341"/>
          </a:xfrm>
          <a:prstGeom prst="roundRect">
            <a:avLst>
              <a:gd name="adj" fmla="val 5911"/>
            </a:avLst>
          </a:prstGeom>
          <a:solidFill>
            <a:srgbClr val="14213D"/>
          </a:solidFill>
          <a:ln/>
        </p:spPr>
      </p:sp>
      <p:sp>
        <p:nvSpPr>
          <p:cNvPr id="5" name="Text 3"/>
          <p:cNvSpPr txBox="1"/>
          <p:nvPr/>
        </p:nvSpPr>
        <p:spPr>
          <a:xfrm>
            <a:off x="990600" y="3352800"/>
            <a:ext cx="1595882" cy="228600"/>
          </a:xfrm>
          <a:prstGeom prst="rect">
            <a:avLst/>
          </a:prstGeom>
          <a:noFill/>
          <a:ln/>
        </p:spPr>
        <p:txBody>
          <a:bodyPr wrap="square" lIns="0" tIns="0" rIns="0" bIns="0" rtlCol="0" anchor="t"/>
          <a:lstStyle/>
          <a:p>
            <a:pPr algn="l" indent="0" marL="0">
              <a:lnSpc>
                <a:spcPct val="120000"/>
              </a:lnSpc>
              <a:buNone/>
            </a:pPr>
            <a:r>
              <a:rPr lang="en-US" sz="1500" b="1" dirty="0">
                <a:solidFill>
                  <a:srgbClr val="F7F6F1"/>
                </a:solidFill>
                <a:latin typeface="Calibri" pitchFamily="34" charset="0"/>
                <a:ea typeface="Calibri" pitchFamily="34" charset="-122"/>
                <a:cs typeface="Calibri" pitchFamily="34" charset="-120"/>
              </a:rPr>
              <a:t>One engine</a:t>
            </a:r>
            <a:endParaRPr lang="en-US" sz="1500" dirty="0"/>
          </a:p>
        </p:txBody>
      </p:sp>
      <p:sp>
        <p:nvSpPr>
          <p:cNvPr id="6" name="Text 4"/>
          <p:cNvSpPr txBox="1"/>
          <p:nvPr/>
        </p:nvSpPr>
        <p:spPr>
          <a:xfrm>
            <a:off x="990600" y="3644900"/>
            <a:ext cx="1595882" cy="426641"/>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One set of equations, kept equal by script</a:t>
            </a:r>
            <a:endParaRPr lang="en-US" sz="1200" dirty="0"/>
          </a:p>
        </p:txBody>
      </p:sp>
      <p:sp>
        <p:nvSpPr>
          <p:cNvPr id="7" name="Shape 5"/>
          <p:cNvSpPr/>
          <p:nvPr/>
        </p:nvSpPr>
        <p:spPr>
          <a:xfrm>
            <a:off x="3302000" y="2241550"/>
            <a:ext cx="2286000" cy="924520"/>
          </a:xfrm>
          <a:prstGeom prst="roundRect">
            <a:avLst>
              <a:gd name="adj" fmla="val 6868"/>
            </a:avLst>
          </a:prstGeom>
          <a:solidFill>
            <a:srgbClr val="DCE8F5"/>
          </a:solidFill>
          <a:ln/>
        </p:spPr>
      </p:sp>
      <p:sp>
        <p:nvSpPr>
          <p:cNvPr id="8" name="Shape 6"/>
          <p:cNvSpPr/>
          <p:nvPr/>
        </p:nvSpPr>
        <p:spPr>
          <a:xfrm>
            <a:off x="3302000" y="2241550"/>
            <a:ext cx="2286000" cy="38100"/>
          </a:xfrm>
          <a:prstGeom prst="rect">
            <a:avLst/>
          </a:prstGeom>
          <a:solidFill>
            <a:srgbClr val="1F5A96"/>
          </a:solidFill>
          <a:ln/>
        </p:spPr>
      </p:sp>
      <p:sp>
        <p:nvSpPr>
          <p:cNvPr id="9" name="Text 7"/>
          <p:cNvSpPr txBox="1"/>
          <p:nvPr/>
        </p:nvSpPr>
        <p:spPr>
          <a:xfrm>
            <a:off x="3479800" y="2457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(Python)</a:t>
            </a:r>
            <a:endParaRPr lang="en-US" sz="1600" dirty="0"/>
          </a:p>
        </p:txBody>
      </p:sp>
      <p:sp>
        <p:nvSpPr>
          <p:cNvPr id="10" name="Text 8"/>
          <p:cNvSpPr txBox="1"/>
          <p:nvPr/>
        </p:nvSpPr>
        <p:spPr>
          <a:xfrm>
            <a:off x="3479800" y="2774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With a Shiny web interface</a:t>
            </a:r>
            <a:endParaRPr lang="en-US" sz="1200" dirty="0"/>
          </a:p>
        </p:txBody>
      </p:sp>
      <p:sp>
        <p:nvSpPr>
          <p:cNvPr id="11" name="Shape 9"/>
          <p:cNvSpPr/>
          <p:nvPr/>
        </p:nvSpPr>
        <p:spPr>
          <a:xfrm>
            <a:off x="3302000" y="4273550"/>
            <a:ext cx="2286000" cy="924520"/>
          </a:xfrm>
          <a:prstGeom prst="roundRect">
            <a:avLst>
              <a:gd name="adj" fmla="val 6868"/>
            </a:avLst>
          </a:prstGeom>
          <a:solidFill>
            <a:srgbClr val="F6E1CF"/>
          </a:solidFill>
          <a:ln/>
        </p:spPr>
      </p:sp>
      <p:sp>
        <p:nvSpPr>
          <p:cNvPr id="12" name="Shape 10"/>
          <p:cNvSpPr/>
          <p:nvPr/>
        </p:nvSpPr>
        <p:spPr>
          <a:xfrm>
            <a:off x="3302000" y="4273550"/>
            <a:ext cx="2286000" cy="38100"/>
          </a:xfrm>
          <a:prstGeom prst="rect">
            <a:avLst/>
          </a:prstGeom>
          <a:solidFill>
            <a:srgbClr val="A8521A"/>
          </a:solidFill>
          <a:ln/>
        </p:spPr>
      </p:sp>
      <p:sp>
        <p:nvSpPr>
          <p:cNvPr id="13" name="Text 11"/>
          <p:cNvSpPr txBox="1"/>
          <p:nvPr/>
        </p:nvSpPr>
        <p:spPr>
          <a:xfrm>
            <a:off x="3479800" y="4489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AI-Excel</a:t>
            </a:r>
            <a:endParaRPr lang="en-US" sz="1600" dirty="0"/>
          </a:p>
        </p:txBody>
      </p:sp>
      <p:sp>
        <p:nvSpPr>
          <p:cNvPr id="14" name="Text 12"/>
          <p:cNvSpPr txBox="1"/>
          <p:nvPr/>
        </p:nvSpPr>
        <p:spPr>
          <a:xfrm>
            <a:off x="3479800" y="4806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 cut-down CPAT in Excel</a:t>
            </a:r>
            <a:endParaRPr lang="en-US" sz="1200" dirty="0"/>
          </a:p>
        </p:txBody>
      </p:sp>
      <p:sp>
        <p:nvSpPr>
          <p:cNvPr id="15" name="Shape 13"/>
          <p:cNvSpPr/>
          <p:nvPr/>
        </p:nvSpPr>
        <p:spPr>
          <a:xfrm flipV="1">
            <a:off x="2717800" y="2673350"/>
            <a:ext cx="584200" cy="882650"/>
          </a:xfrm>
          <a:prstGeom prst="line">
            <a:avLst/>
          </a:prstGeom>
          <a:noFill/>
          <a:ln w="25400">
            <a:solidFill>
              <a:srgbClr val="1F5A96"/>
            </a:solidFill>
            <a:prstDash val="solid"/>
            <a:tailEnd type="triangle"/>
          </a:ln>
        </p:spPr>
      </p:sp>
      <p:sp>
        <p:nvSpPr>
          <p:cNvPr id="16" name="Shape 14"/>
          <p:cNvSpPr/>
          <p:nvPr/>
        </p:nvSpPr>
        <p:spPr>
          <a:xfrm>
            <a:off x="2717800" y="3810000"/>
            <a:ext cx="584200" cy="895350"/>
          </a:xfrm>
          <a:prstGeom prst="line">
            <a:avLst/>
          </a:prstGeom>
          <a:noFill/>
          <a:ln w="25400">
            <a:solidFill>
              <a:srgbClr val="A8521A"/>
            </a:solidFill>
            <a:prstDash val="solid"/>
            <a:tailEnd type="triangle"/>
          </a:ln>
        </p:spPr>
      </p:sp>
      <p:sp>
        <p:nvSpPr>
          <p:cNvPr id="17" name="Shape 15"/>
          <p:cNvSpPr/>
          <p:nvPr/>
        </p:nvSpPr>
        <p:spPr>
          <a:xfrm>
            <a:off x="6350000" y="1905000"/>
            <a:ext cx="5029200" cy="434280"/>
          </a:xfrm>
          <a:prstGeom prst="rect">
            <a:avLst/>
          </a:prstGeom>
          <a:solidFill>
            <a:srgbClr val="FFFFFF"/>
          </a:solidFill>
          <a:ln/>
        </p:spPr>
      </p:sp>
      <p:sp>
        <p:nvSpPr>
          <p:cNvPr id="18" name="Shape 16"/>
          <p:cNvSpPr/>
          <p:nvPr/>
        </p:nvSpPr>
        <p:spPr>
          <a:xfrm>
            <a:off x="6350000" y="1905000"/>
            <a:ext cx="38100" cy="434280"/>
          </a:xfrm>
          <a:prstGeom prst="rect">
            <a:avLst/>
          </a:prstGeom>
          <a:solidFill>
            <a:srgbClr val="1F5A96"/>
          </a:solidFill>
          <a:ln/>
        </p:spPr>
      </p:sp>
      <p:sp>
        <p:nvSpPr>
          <p:cNvPr id="19" name="Text 17"/>
          <p:cNvSpPr txBox="1"/>
          <p:nvPr/>
        </p:nvSpPr>
        <p:spPr>
          <a:xfrm>
            <a:off x="6350000" y="1905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CPAT–SiSePuede pathways tool</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 slide 12</a:t>
            </a:r>
            <a:endParaRPr lang="en-US" sz="1300" dirty="0"/>
          </a:p>
        </p:txBody>
      </p:sp>
      <p:sp>
        <p:nvSpPr>
          <p:cNvPr id="20" name="Shape 18"/>
          <p:cNvSpPr/>
          <p:nvPr/>
        </p:nvSpPr>
        <p:spPr>
          <a:xfrm>
            <a:off x="6350000" y="2451100"/>
            <a:ext cx="5029200" cy="434280"/>
          </a:xfrm>
          <a:prstGeom prst="rect">
            <a:avLst/>
          </a:prstGeom>
          <a:solidFill>
            <a:srgbClr val="FFFFFF"/>
          </a:solidFill>
          <a:ln/>
        </p:spPr>
      </p:sp>
      <p:sp>
        <p:nvSpPr>
          <p:cNvPr id="21" name="Shape 19"/>
          <p:cNvSpPr/>
          <p:nvPr/>
        </p:nvSpPr>
        <p:spPr>
          <a:xfrm>
            <a:off x="6350000" y="2451100"/>
            <a:ext cx="38100" cy="434280"/>
          </a:xfrm>
          <a:prstGeom prst="rect">
            <a:avLst/>
          </a:prstGeom>
          <a:solidFill>
            <a:srgbClr val="1F5A96"/>
          </a:solidFill>
          <a:ln/>
        </p:spPr>
      </p:sp>
      <p:sp>
        <p:nvSpPr>
          <p:cNvPr id="22" name="Text 20"/>
          <p:cNvSpPr txBox="1"/>
          <p:nvPr/>
        </p:nvSpPr>
        <p:spPr>
          <a:xfrm>
            <a:off x="6350000" y="2451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Single Python platform</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with MFMod and FTT · slide 13</a:t>
            </a:r>
            <a:endParaRPr lang="en-US" sz="1300" dirty="0"/>
          </a:p>
        </p:txBody>
      </p:sp>
      <p:sp>
        <p:nvSpPr>
          <p:cNvPr id="23" name="Shape 21"/>
          <p:cNvSpPr/>
          <p:nvPr/>
        </p:nvSpPr>
        <p:spPr>
          <a:xfrm>
            <a:off x="6350000" y="2997200"/>
            <a:ext cx="5029200" cy="434280"/>
          </a:xfrm>
          <a:prstGeom prst="rect">
            <a:avLst/>
          </a:prstGeom>
          <a:solidFill>
            <a:srgbClr val="FFFFFF"/>
          </a:solidFill>
          <a:ln/>
        </p:spPr>
      </p:sp>
      <p:sp>
        <p:nvSpPr>
          <p:cNvPr id="24" name="Shape 22"/>
          <p:cNvSpPr/>
          <p:nvPr/>
        </p:nvSpPr>
        <p:spPr>
          <a:xfrm>
            <a:off x="6350000" y="2997200"/>
            <a:ext cx="38100" cy="434280"/>
          </a:xfrm>
          <a:prstGeom prst="rect">
            <a:avLst/>
          </a:prstGeom>
          <a:solidFill>
            <a:srgbClr val="1F5A96"/>
          </a:solidFill>
          <a:ln/>
        </p:spPr>
      </p:sp>
      <p:sp>
        <p:nvSpPr>
          <p:cNvPr id="25" name="Text 23"/>
          <p:cNvSpPr txBox="1"/>
          <p:nvPr/>
        </p:nvSpPr>
        <p:spPr>
          <a:xfrm>
            <a:off x="6350000" y="2997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Model comparison</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web users via Shiny</a:t>
            </a:r>
            <a:endParaRPr lang="en-US" sz="1300" dirty="0"/>
          </a:p>
        </p:txBody>
      </p:sp>
      <p:sp>
        <p:nvSpPr>
          <p:cNvPr id="26" name="Shape 24"/>
          <p:cNvSpPr/>
          <p:nvPr/>
        </p:nvSpPr>
        <p:spPr>
          <a:xfrm flipV="1">
            <a:off x="5588000" y="2127250"/>
            <a:ext cx="762000" cy="546100"/>
          </a:xfrm>
          <a:prstGeom prst="line">
            <a:avLst/>
          </a:prstGeom>
          <a:noFill/>
          <a:ln w="25400">
            <a:solidFill>
              <a:srgbClr val="1F5A96"/>
            </a:solidFill>
            <a:prstDash val="solid"/>
            <a:tailEnd type="triangle"/>
          </a:ln>
        </p:spPr>
      </p:sp>
      <p:sp>
        <p:nvSpPr>
          <p:cNvPr id="27" name="Shape 25"/>
          <p:cNvSpPr/>
          <p:nvPr/>
        </p:nvSpPr>
        <p:spPr>
          <a:xfrm>
            <a:off x="5588000" y="2673350"/>
            <a:ext cx="762000" cy="0"/>
          </a:xfrm>
          <a:prstGeom prst="line">
            <a:avLst/>
          </a:prstGeom>
          <a:noFill/>
          <a:ln w="25400">
            <a:solidFill>
              <a:srgbClr val="1F5A96"/>
            </a:solidFill>
            <a:prstDash val="solid"/>
            <a:tailEnd type="triangle"/>
          </a:ln>
        </p:spPr>
      </p:sp>
      <p:sp>
        <p:nvSpPr>
          <p:cNvPr id="28" name="Shape 26"/>
          <p:cNvSpPr/>
          <p:nvPr/>
        </p:nvSpPr>
        <p:spPr>
          <a:xfrm>
            <a:off x="5588000" y="2673350"/>
            <a:ext cx="762000" cy="546100"/>
          </a:xfrm>
          <a:prstGeom prst="line">
            <a:avLst/>
          </a:prstGeom>
          <a:noFill/>
          <a:ln w="25400">
            <a:solidFill>
              <a:srgbClr val="1F5A96"/>
            </a:solidFill>
            <a:prstDash val="solid"/>
            <a:tailEnd type="triangle"/>
          </a:ln>
        </p:spPr>
      </p:sp>
      <p:sp>
        <p:nvSpPr>
          <p:cNvPr id="29" name="Shape 27"/>
          <p:cNvSpPr/>
          <p:nvPr/>
        </p:nvSpPr>
        <p:spPr>
          <a:xfrm>
            <a:off x="6350000" y="3937000"/>
            <a:ext cx="5029200" cy="434280"/>
          </a:xfrm>
          <a:prstGeom prst="rect">
            <a:avLst/>
          </a:prstGeom>
          <a:solidFill>
            <a:srgbClr val="FFFFFF"/>
          </a:solidFill>
          <a:ln/>
        </p:spPr>
      </p:sp>
      <p:sp>
        <p:nvSpPr>
          <p:cNvPr id="30" name="Shape 28"/>
          <p:cNvSpPr/>
          <p:nvPr/>
        </p:nvSpPr>
        <p:spPr>
          <a:xfrm>
            <a:off x="6350000" y="3937000"/>
            <a:ext cx="38100" cy="434280"/>
          </a:xfrm>
          <a:prstGeom prst="rect">
            <a:avLst/>
          </a:prstGeom>
          <a:solidFill>
            <a:srgbClr val="A8521A"/>
          </a:solidFill>
          <a:ln/>
        </p:spPr>
      </p:sp>
      <p:sp>
        <p:nvSpPr>
          <p:cNvPr id="31" name="Text 29"/>
          <p:cNvSpPr txBox="1"/>
          <p:nvPr/>
        </p:nvSpPr>
        <p:spPr>
          <a:xfrm>
            <a:off x="6350000" y="3937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WB–IMF CPAT process</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as a contributor</a:t>
            </a:r>
            <a:endParaRPr lang="en-US" sz="1300" dirty="0"/>
          </a:p>
        </p:txBody>
      </p:sp>
      <p:sp>
        <p:nvSpPr>
          <p:cNvPr id="32" name="Shape 30"/>
          <p:cNvSpPr/>
          <p:nvPr/>
        </p:nvSpPr>
        <p:spPr>
          <a:xfrm>
            <a:off x="6350000" y="4483100"/>
            <a:ext cx="5029200" cy="434280"/>
          </a:xfrm>
          <a:prstGeom prst="rect">
            <a:avLst/>
          </a:prstGeom>
          <a:solidFill>
            <a:srgbClr val="FFFFFF"/>
          </a:solidFill>
          <a:ln/>
        </p:spPr>
      </p:sp>
      <p:sp>
        <p:nvSpPr>
          <p:cNvPr id="33" name="Shape 31"/>
          <p:cNvSpPr/>
          <p:nvPr/>
        </p:nvSpPr>
        <p:spPr>
          <a:xfrm>
            <a:off x="6350000" y="4483100"/>
            <a:ext cx="38100" cy="434280"/>
          </a:xfrm>
          <a:prstGeom prst="rect">
            <a:avLst/>
          </a:prstGeom>
          <a:solidFill>
            <a:srgbClr val="A8521A"/>
          </a:solidFill>
          <a:ln/>
        </p:spPr>
      </p:sp>
      <p:sp>
        <p:nvSpPr>
          <p:cNvPr id="34" name="Text 32"/>
          <p:cNvSpPr txBox="1"/>
          <p:nvPr/>
        </p:nvSpPr>
        <p:spPr>
          <a:xfrm>
            <a:off x="6350000" y="4483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GHG accounting</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policy crediting tool</a:t>
            </a:r>
            <a:endParaRPr lang="en-US" sz="1300" dirty="0"/>
          </a:p>
        </p:txBody>
      </p:sp>
      <p:sp>
        <p:nvSpPr>
          <p:cNvPr id="35" name="Shape 33"/>
          <p:cNvSpPr/>
          <p:nvPr/>
        </p:nvSpPr>
        <p:spPr>
          <a:xfrm>
            <a:off x="6350000" y="5029200"/>
            <a:ext cx="5029200" cy="434280"/>
          </a:xfrm>
          <a:prstGeom prst="rect">
            <a:avLst/>
          </a:prstGeom>
          <a:solidFill>
            <a:srgbClr val="FFFFFF"/>
          </a:solidFill>
          <a:ln/>
        </p:spPr>
      </p:sp>
      <p:sp>
        <p:nvSpPr>
          <p:cNvPr id="36" name="Shape 34"/>
          <p:cNvSpPr/>
          <p:nvPr/>
        </p:nvSpPr>
        <p:spPr>
          <a:xfrm>
            <a:off x="6350000" y="5029200"/>
            <a:ext cx="38100" cy="434280"/>
          </a:xfrm>
          <a:prstGeom prst="rect">
            <a:avLst/>
          </a:prstGeom>
          <a:solidFill>
            <a:srgbClr val="A8521A"/>
          </a:solidFill>
          <a:ln/>
        </p:spPr>
      </p:sp>
      <p:sp>
        <p:nvSpPr>
          <p:cNvPr id="37" name="Text 35"/>
          <p:cNvSpPr txBox="1"/>
          <p:nvPr/>
        </p:nvSpPr>
        <p:spPr>
          <a:xfrm>
            <a:off x="6350000" y="5029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Cross-check</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of the code and legacy CPAT</a:t>
            </a:r>
            <a:endParaRPr lang="en-US" sz="1300" dirty="0"/>
          </a:p>
        </p:txBody>
      </p:sp>
      <p:sp>
        <p:nvSpPr>
          <p:cNvPr id="38" name="Shape 36"/>
          <p:cNvSpPr/>
          <p:nvPr/>
        </p:nvSpPr>
        <p:spPr>
          <a:xfrm flipV="1">
            <a:off x="5588000" y="4159250"/>
            <a:ext cx="762000" cy="546100"/>
          </a:xfrm>
          <a:prstGeom prst="line">
            <a:avLst/>
          </a:prstGeom>
          <a:noFill/>
          <a:ln w="25400">
            <a:solidFill>
              <a:srgbClr val="A8521A"/>
            </a:solidFill>
            <a:prstDash val="solid"/>
            <a:tailEnd type="triangle"/>
          </a:ln>
        </p:spPr>
      </p:sp>
      <p:sp>
        <p:nvSpPr>
          <p:cNvPr id="39" name="Shape 37"/>
          <p:cNvSpPr/>
          <p:nvPr/>
        </p:nvSpPr>
        <p:spPr>
          <a:xfrm>
            <a:off x="5588000" y="4705350"/>
            <a:ext cx="762000" cy="0"/>
          </a:xfrm>
          <a:prstGeom prst="line">
            <a:avLst/>
          </a:prstGeom>
          <a:noFill/>
          <a:ln w="25400">
            <a:solidFill>
              <a:srgbClr val="A8521A"/>
            </a:solidFill>
            <a:prstDash val="solid"/>
            <a:tailEnd type="triangle"/>
          </a:ln>
        </p:spPr>
      </p:sp>
      <p:sp>
        <p:nvSpPr>
          <p:cNvPr id="40" name="Shape 38"/>
          <p:cNvSpPr/>
          <p:nvPr/>
        </p:nvSpPr>
        <p:spPr>
          <a:xfrm>
            <a:off x="5588000" y="4705350"/>
            <a:ext cx="762000" cy="546100"/>
          </a:xfrm>
          <a:prstGeom prst="line">
            <a:avLst/>
          </a:prstGeom>
          <a:noFill/>
          <a:ln w="25400">
            <a:solidFill>
              <a:srgbClr val="A8521A"/>
            </a:solidFill>
            <a:prstDash val="solid"/>
            <a:tailEnd type="triangle"/>
          </a:ln>
        </p:spPr>
      </p:sp>
      <p:sp>
        <p:nvSpPr>
          <p:cNvPr id="41" name="Text 3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OTHER PRODUCTS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Small tasks, built on what already exists</a:t>
            </a:r>
            <a:endParaRPr lang="en-US" sz="3200" dirty="0"/>
          </a:p>
        </p:txBody>
      </p:sp>
      <p:sp>
        <p:nvSpPr>
          <p:cNvPr id="4" name="Shape 2"/>
          <p:cNvSpPr/>
          <p:nvPr/>
        </p:nvSpPr>
        <p:spPr>
          <a:xfrm>
            <a:off x="812800" y="1798241"/>
            <a:ext cx="10566400" cy="452041"/>
          </a:xfrm>
          <a:prstGeom prst="roundRect">
            <a:avLst>
              <a:gd name="adj" fmla="val 11238"/>
            </a:avLst>
          </a:prstGeom>
          <a:solidFill>
            <a:srgbClr val="DCE8F5"/>
          </a:solidFill>
          <a:ln/>
        </p:spPr>
      </p:sp>
      <p:sp>
        <p:nvSpPr>
          <p:cNvPr id="5" name="Text 3"/>
          <p:cNvSpPr txBox="1"/>
          <p:nvPr/>
        </p:nvSpPr>
        <p:spPr>
          <a:xfrm>
            <a:off x="812800" y="1798241"/>
            <a:ext cx="10566400" cy="452041"/>
          </a:xfrm>
          <a:prstGeom prst="rect">
            <a:avLst/>
          </a:prstGeom>
          <a:noFill/>
          <a:ln/>
        </p:spPr>
        <p:txBody>
          <a:bodyPr wrap="square" lIns="177800" tIns="101600" rIns="177800" bIns="101600" rtlCol="0" anchor="ctr"/>
          <a:lstStyle/>
          <a:p>
            <a:pPr algn="l" indent="0" marL="0">
              <a:lnSpc>
                <a:spcPct val="140000"/>
              </a:lnSpc>
              <a:buNone/>
            </a:pPr>
            <a:r>
              <a:rPr lang="en-US" sz="1400" dirty="0">
                <a:solidFill>
                  <a:srgbClr val="14213D"/>
                </a:solidFill>
                <a:latin typeface="Calibri" pitchFamily="34" charset="0"/>
                <a:ea typeface="Calibri" pitchFamily="34" charset="-122"/>
                <a:cs typeface="Calibri" pitchFamily="34" charset="-120"/>
              </a:rPr>
              <a:t>Little change is proposed, as there is not time this FY: </a:t>
            </a:r>
            <a:pPr algn="l" indent="0" marL="0">
              <a:lnSpc>
                <a:spcPct val="140000"/>
              </a:lnSpc>
              <a:buNone/>
            </a:pPr>
            <a:r>
              <a:rPr lang="en-US" sz="1400" b="1" dirty="0">
                <a:solidFill>
                  <a:srgbClr val="14213D"/>
                </a:solidFill>
                <a:latin typeface="Calibri" pitchFamily="34" charset="0"/>
                <a:ea typeface="Calibri" pitchFamily="34" charset="-122"/>
                <a:cs typeface="Calibri" pitchFamily="34" charset="-120"/>
              </a:rPr>
              <a:t>just tweaks to what is already there.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2453481"/>
          <a:ext cx="10566400" cy="914400"/>
        </p:xfrm>
        <a:graphic>
          <a:graphicData uri="http://schemas.openxmlformats.org/drawingml/2006/table">
            <a:tbl>
              <a:tblPr/>
              <a:tblGrid>
                <a:gridCol w="528241"/>
                <a:gridCol w="2324596"/>
                <a:gridCol w="3169841"/>
                <a:gridCol w="3698280"/>
                <a:gridCol w="845443"/>
              </a:tblGrid>
              <a:tr h="206375">
                <a:tc>
                  <a:txBody>
                    <a:bodyPr/>
                    <a:lstStyle/>
                    <a:p>
                      <a:pPr algn="l" indent="0" marL="0">
                        <a:lnSpc>
                          <a:spcPct val="120000"/>
                        </a:lnSpc>
                        <a:buNone/>
                      </a:pP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Starting point (exists)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Tweak proposed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CPAT–SiSePuede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Coded CPAT runs in full on the SiSePuede side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Supervise the CPM team: prices, policies, air pollution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095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Single Python platform</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CPAT, MFMod-Python and FTT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One place to run them, with one user guide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Dashboard and policy issue report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Excise Diagnostic; AI macro-fiscal dashboard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Add tax indicators; frame reports by 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Total Carbon Price into GHG accounting</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Current Total Carbon Price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Link to the GHG accounting metric; standalone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bl>
          </a:graphicData>
        </a:graphic>
      </p:graphicFrame>
      <p:sp>
        <p:nvSpPr>
          <p:cNvPr id="7" name="Text 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A · CPAT–SISEPUEDE</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Coded CPAT goes into the country pathways tool</a:t>
            </a:r>
            <a:endParaRPr lang="en-US" sz="3200" dirty="0"/>
          </a:p>
        </p:txBody>
      </p:sp>
      <p:sp>
        <p:nvSpPr>
          <p:cNvPr id="4" name="Text 2"/>
          <p:cNvSpPr txBox="1"/>
          <p:nvPr/>
        </p:nvSpPr>
        <p:spPr>
          <a:xfrm>
            <a:off x="812800" y="1823641"/>
            <a:ext cx="10464800" cy="25777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With David Groves: CPAT, CPM (formerly SiSePuede), MANAGE and MINDSET combined into one country policy analysis tool.</a:t>
            </a:r>
            <a:endParaRPr lang="en-US" sz="1400" dirty="0"/>
          </a:p>
        </p:txBody>
      </p:sp>
      <p:sp>
        <p:nvSpPr>
          <p:cNvPr id="5" name="Shape 3"/>
          <p:cNvSpPr/>
          <p:nvPr/>
        </p:nvSpPr>
        <p:spPr>
          <a:xfrm>
            <a:off x="812800" y="2310011"/>
            <a:ext cx="5156200" cy="1902420"/>
          </a:xfrm>
          <a:prstGeom prst="roundRect">
            <a:avLst>
              <a:gd name="adj" fmla="val 2670"/>
            </a:avLst>
          </a:prstGeom>
          <a:solidFill>
            <a:srgbClr val="FFFFFF"/>
          </a:solidFill>
          <a:ln/>
        </p:spPr>
      </p:sp>
      <p:sp>
        <p:nvSpPr>
          <p:cNvPr id="6" name="Shape 4"/>
          <p:cNvSpPr/>
          <p:nvPr/>
        </p:nvSpPr>
        <p:spPr>
          <a:xfrm>
            <a:off x="812800" y="2310011"/>
            <a:ext cx="5156200" cy="38100"/>
          </a:xfrm>
          <a:prstGeom prst="rect">
            <a:avLst/>
          </a:prstGeom>
          <a:solidFill>
            <a:srgbClr val="7A8494"/>
          </a:solidFill>
          <a:ln/>
        </p:spPr>
      </p:sp>
      <p:sp>
        <p:nvSpPr>
          <p:cNvPr id="7" name="Text 5"/>
          <p:cNvSpPr txBox="1"/>
          <p:nvPr/>
        </p:nvSpPr>
        <p:spPr>
          <a:xfrm>
            <a:off x="1092200" y="262751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Done · first phase, to July 2026</a:t>
            </a:r>
            <a:endParaRPr lang="en-US" sz="1200" dirty="0"/>
          </a:p>
        </p:txBody>
      </p:sp>
      <p:sp>
        <p:nvSpPr>
          <p:cNvPr id="8" name="Text 6"/>
          <p:cNvSpPr txBox="1"/>
          <p:nvPr/>
        </p:nvSpPr>
        <p:spPr>
          <a:xfrm>
            <a:off x="1092200" y="29424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Assumptions and outputs reconciled</a:t>
            </a:r>
            <a:endParaRPr lang="en-US" sz="1300" dirty="0"/>
          </a:p>
        </p:txBody>
      </p:sp>
      <p:sp>
        <p:nvSpPr>
          <p:cNvPr id="9" name="Text 7"/>
          <p:cNvSpPr txBox="1"/>
          <p:nvPr/>
        </p:nvSpPr>
        <p:spPr>
          <a:xfrm>
            <a:off x="1092200" y="31900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Variables mapped and outputs compared</a:t>
            </a:r>
            <a:endParaRPr lang="en-US" sz="1300" dirty="0"/>
          </a:p>
        </p:txBody>
      </p:sp>
      <p:sp>
        <p:nvSpPr>
          <p:cNvPr id="10" name="Text 8"/>
          <p:cNvSpPr txBox="1"/>
          <p:nvPr/>
        </p:nvSpPr>
        <p:spPr>
          <a:xfrm>
            <a:off x="1092200" y="34377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Coded CPAT runs in full on the SiSePuede side</a:t>
            </a:r>
            <a:endParaRPr lang="en-US" sz="1300" dirty="0"/>
          </a:p>
        </p:txBody>
      </p:sp>
      <p:sp>
        <p:nvSpPr>
          <p:cNvPr id="11" name="Text 9"/>
          <p:cNvSpPr txBox="1"/>
          <p:nvPr/>
        </p:nvSpPr>
        <p:spPr>
          <a:xfrm>
            <a:off x="1092200" y="36853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12" name="Shape 10"/>
          <p:cNvSpPr/>
          <p:nvPr/>
        </p:nvSpPr>
        <p:spPr>
          <a:xfrm>
            <a:off x="6223000" y="2310011"/>
            <a:ext cx="5156200" cy="1902420"/>
          </a:xfrm>
          <a:prstGeom prst="roundRect">
            <a:avLst>
              <a:gd name="adj" fmla="val 2670"/>
            </a:avLst>
          </a:prstGeom>
          <a:solidFill>
            <a:srgbClr val="FFFFFF"/>
          </a:solidFill>
          <a:ln/>
        </p:spPr>
      </p:sp>
      <p:sp>
        <p:nvSpPr>
          <p:cNvPr id="13" name="Shape 11"/>
          <p:cNvSpPr/>
          <p:nvPr/>
        </p:nvSpPr>
        <p:spPr>
          <a:xfrm>
            <a:off x="6223000" y="2310011"/>
            <a:ext cx="5156200" cy="38100"/>
          </a:xfrm>
          <a:prstGeom prst="rect">
            <a:avLst/>
          </a:prstGeom>
          <a:solidFill>
            <a:srgbClr val="1F5A96"/>
          </a:solidFill>
          <a:ln/>
        </p:spPr>
      </p:sp>
      <p:sp>
        <p:nvSpPr>
          <p:cNvPr id="14" name="Text 12"/>
          <p:cNvSpPr txBox="1"/>
          <p:nvPr/>
        </p:nvSpPr>
        <p:spPr>
          <a:xfrm>
            <a:off x="6502400" y="262751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This year · supervising the CPM team</a:t>
            </a:r>
            <a:endParaRPr lang="en-US" sz="1200" dirty="0"/>
          </a:p>
        </p:txBody>
      </p:sp>
      <p:sp>
        <p:nvSpPr>
          <p:cNvPr id="15" name="Text 13"/>
          <p:cNvSpPr txBox="1"/>
          <p:nvPr/>
        </p:nvSpPr>
        <p:spPr>
          <a:xfrm>
            <a:off x="6502400" y="29424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Finish prices, policies and the air pollution translation</a:t>
            </a:r>
            <a:endParaRPr lang="en-US" sz="1300" dirty="0"/>
          </a:p>
        </p:txBody>
      </p:sp>
      <p:sp>
        <p:nvSpPr>
          <p:cNvPr id="16" name="Text 14"/>
          <p:cNvSpPr txBox="1"/>
          <p:nvPr/>
        </p:nvSpPr>
        <p:spPr>
          <a:xfrm>
            <a:off x="6502400" y="31900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CPAT-LTS investment approach and policy interface</a:t>
            </a:r>
            <a:endParaRPr lang="en-US" sz="1300" dirty="0"/>
          </a:p>
        </p:txBody>
      </p:sp>
      <p:sp>
        <p:nvSpPr>
          <p:cNvPr id="17" name="Text 15"/>
          <p:cNvSpPr txBox="1"/>
          <p:nvPr/>
        </p:nvSpPr>
        <p:spPr>
          <a:xfrm>
            <a:off x="6502400" y="3539331"/>
            <a:ext cx="4735322" cy="213320"/>
          </a:xfrm>
          <a:prstGeom prst="rect">
            <a:avLst/>
          </a:prstGeom>
          <a:noFill/>
          <a:ln/>
        </p:spPr>
        <p:txBody>
          <a:bodyPr wrap="square" lIns="0" tIns="0" rIns="0" bIns="0" rtlCol="0" anchor="t"/>
          <a:lstStyle/>
          <a:p>
            <a:pPr algn="l" indent="0" marL="0">
              <a:lnSpc>
                <a:spcPct val="140000"/>
              </a:lnSpc>
              <a:buNone/>
            </a:pPr>
            <a:r>
              <a:rPr lang="en-US" sz="1200" dirty="0">
                <a:solidFill>
                  <a:srgbClr val="5B6573"/>
                </a:solidFill>
                <a:latin typeface="Calibri" pitchFamily="34" charset="0"/>
                <a:ea typeface="Calibri" pitchFamily="34" charset="-122"/>
                <a:cs typeface="Calibri" pitchFamily="34" charset="-120"/>
              </a:rPr>
              <a:t>Light touch: about half a day a week, a day a week in January</a:t>
            </a:r>
            <a:endParaRPr lang="en-US" sz="1200" dirty="0"/>
          </a:p>
        </p:txBody>
      </p:sp>
      <p:sp>
        <p:nvSpPr>
          <p:cNvPr id="18" name="Text 1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B · SINGLE PYTHON PLATFORM</a:t>
            </a:r>
            <a:endParaRPr lang="en-US" sz="1200" dirty="0"/>
          </a:p>
        </p:txBody>
      </p:sp>
      <p:sp>
        <p:nvSpPr>
          <p:cNvPr id="3" name="Text 1"/>
          <p:cNvSpPr txBox="1"/>
          <p:nvPr/>
        </p:nvSpPr>
        <p:spPr>
          <a:xfrm>
            <a:off x="812800" y="1127720"/>
            <a:ext cx="104648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Make existing models easy to use, not develop them further</a:t>
            </a:r>
            <a:endParaRPr lang="en-US" sz="3200" dirty="0"/>
          </a:p>
        </p:txBody>
      </p:sp>
      <p:sp>
        <p:nvSpPr>
          <p:cNvPr id="4" name="Shape 2"/>
          <p:cNvSpPr/>
          <p:nvPr/>
        </p:nvSpPr>
        <p:spPr>
          <a:xfrm>
            <a:off x="812800" y="2367161"/>
            <a:ext cx="3386634" cy="2238871"/>
          </a:xfrm>
          <a:prstGeom prst="roundRect">
            <a:avLst>
              <a:gd name="adj" fmla="val 2269"/>
            </a:avLst>
          </a:prstGeom>
          <a:solidFill>
            <a:srgbClr val="FFFFFF"/>
          </a:solidFill>
          <a:ln/>
        </p:spPr>
      </p:sp>
      <p:sp>
        <p:nvSpPr>
          <p:cNvPr id="5" name="Shape 3"/>
          <p:cNvSpPr/>
          <p:nvPr/>
        </p:nvSpPr>
        <p:spPr>
          <a:xfrm>
            <a:off x="812800" y="2367161"/>
            <a:ext cx="3386634" cy="38100"/>
          </a:xfrm>
          <a:prstGeom prst="rect">
            <a:avLst/>
          </a:prstGeom>
          <a:solidFill>
            <a:srgbClr val="1F5A96"/>
          </a:solidFill>
          <a:ln/>
        </p:spPr>
      </p:sp>
      <p:sp>
        <p:nvSpPr>
          <p:cNvPr id="6" name="Shape 4"/>
          <p:cNvSpPr/>
          <p:nvPr/>
        </p:nvSpPr>
        <p:spPr>
          <a:xfrm>
            <a:off x="1117600" y="2710061"/>
            <a:ext cx="304800" cy="304800"/>
          </a:xfrm>
          <a:prstGeom prst="ellipse">
            <a:avLst/>
          </a:prstGeom>
          <a:ln w="25400">
            <a:solidFill>
              <a:srgbClr val="1F5A96"/>
            </a:solidFill>
            <a:prstDash val="solid"/>
          </a:ln>
        </p:spPr>
      </p:sp>
      <p:sp>
        <p:nvSpPr>
          <p:cNvPr id="7" name="Shape 5"/>
          <p:cNvSpPr/>
          <p:nvPr/>
        </p:nvSpPr>
        <p:spPr>
          <a:xfrm>
            <a:off x="1210733" y="2803194"/>
            <a:ext cx="118533" cy="118533"/>
          </a:xfrm>
          <a:prstGeom prst="ellipse">
            <a:avLst/>
          </a:prstGeom>
          <a:solidFill>
            <a:srgbClr val="1F5A96"/>
          </a:solidFill>
          <a:ln/>
        </p:spPr>
      </p:sp>
      <p:sp>
        <p:nvSpPr>
          <p:cNvPr id="8" name="Text 6"/>
          <p:cNvSpPr txBox="1"/>
          <p:nvPr/>
        </p:nvSpPr>
        <p:spPr>
          <a:xfrm>
            <a:off x="1092200"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What</a:t>
            </a:r>
            <a:endParaRPr lang="en-US" sz="1700" dirty="0"/>
          </a:p>
        </p:txBody>
      </p:sp>
      <p:sp>
        <p:nvSpPr>
          <p:cNvPr id="9" name="Text 7"/>
          <p:cNvSpPr txBox="1"/>
          <p:nvPr/>
        </p:nvSpPr>
        <p:spPr>
          <a:xfrm>
            <a:off x="1092200"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CPAT, MFMod-Python and FTT, as they are today, on one common platform.</a:t>
            </a:r>
            <a:endParaRPr lang="en-US" sz="1400" dirty="0"/>
          </a:p>
        </p:txBody>
      </p:sp>
      <p:sp>
        <p:nvSpPr>
          <p:cNvPr id="10" name="Shape 8"/>
          <p:cNvSpPr/>
          <p:nvPr/>
        </p:nvSpPr>
        <p:spPr>
          <a:xfrm>
            <a:off x="4402634" y="2367161"/>
            <a:ext cx="3386634" cy="2238871"/>
          </a:xfrm>
          <a:prstGeom prst="roundRect">
            <a:avLst>
              <a:gd name="adj" fmla="val 2269"/>
            </a:avLst>
          </a:prstGeom>
          <a:solidFill>
            <a:srgbClr val="FFFFFF"/>
          </a:solidFill>
          <a:ln/>
        </p:spPr>
      </p:sp>
      <p:sp>
        <p:nvSpPr>
          <p:cNvPr id="11" name="Shape 9"/>
          <p:cNvSpPr/>
          <p:nvPr/>
        </p:nvSpPr>
        <p:spPr>
          <a:xfrm>
            <a:off x="4402634" y="2367161"/>
            <a:ext cx="3386634" cy="38100"/>
          </a:xfrm>
          <a:prstGeom prst="rect">
            <a:avLst/>
          </a:prstGeom>
          <a:solidFill>
            <a:srgbClr val="1F5A96"/>
          </a:solidFill>
          <a:ln/>
        </p:spPr>
      </p:sp>
      <p:sp>
        <p:nvSpPr>
          <p:cNvPr id="12" name="Shape 10"/>
          <p:cNvSpPr/>
          <p:nvPr/>
        </p:nvSpPr>
        <p:spPr>
          <a:xfrm>
            <a:off x="4707434" y="2710061"/>
            <a:ext cx="304800" cy="304800"/>
          </a:xfrm>
          <a:prstGeom prst="ellipse">
            <a:avLst/>
          </a:prstGeom>
          <a:ln w="25400">
            <a:solidFill>
              <a:srgbClr val="1F5A96"/>
            </a:solidFill>
            <a:prstDash val="solid"/>
          </a:ln>
        </p:spPr>
      </p:sp>
      <p:sp>
        <p:nvSpPr>
          <p:cNvPr id="13" name="Shape 11"/>
          <p:cNvSpPr/>
          <p:nvPr/>
        </p:nvSpPr>
        <p:spPr>
          <a:xfrm>
            <a:off x="4800567" y="2803194"/>
            <a:ext cx="118533" cy="118533"/>
          </a:xfrm>
          <a:prstGeom prst="ellipse">
            <a:avLst/>
          </a:prstGeom>
          <a:solidFill>
            <a:srgbClr val="1F5A96"/>
          </a:solidFill>
          <a:ln/>
        </p:spPr>
      </p:sp>
      <p:sp>
        <p:nvSpPr>
          <p:cNvPr id="14" name="Text 12"/>
          <p:cNvSpPr txBox="1"/>
          <p:nvPr/>
        </p:nvSpPr>
        <p:spPr>
          <a:xfrm>
            <a:off x="4682034"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How</a:t>
            </a:r>
            <a:endParaRPr lang="en-US" sz="1700" dirty="0"/>
          </a:p>
        </p:txBody>
      </p:sp>
      <p:sp>
        <p:nvSpPr>
          <p:cNvPr id="15" name="Text 13"/>
          <p:cNvSpPr txBox="1"/>
          <p:nvPr/>
        </p:nvSpPr>
        <p:spPr>
          <a:xfrm>
            <a:off x="4682034"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shared set-up and one user guide. FTT made ready to run, with data aligned to CPAT countries.</a:t>
            </a:r>
            <a:endParaRPr lang="en-US" sz="1400" dirty="0"/>
          </a:p>
        </p:txBody>
      </p:sp>
      <p:sp>
        <p:nvSpPr>
          <p:cNvPr id="16" name="Shape 14"/>
          <p:cNvSpPr/>
          <p:nvPr/>
        </p:nvSpPr>
        <p:spPr>
          <a:xfrm>
            <a:off x="7992467" y="2367161"/>
            <a:ext cx="3386634" cy="2238871"/>
          </a:xfrm>
          <a:prstGeom prst="roundRect">
            <a:avLst>
              <a:gd name="adj" fmla="val 2269"/>
            </a:avLst>
          </a:prstGeom>
          <a:solidFill>
            <a:srgbClr val="FFFFFF"/>
          </a:solidFill>
          <a:ln/>
        </p:spPr>
      </p:sp>
      <p:sp>
        <p:nvSpPr>
          <p:cNvPr id="17" name="Shape 15"/>
          <p:cNvSpPr/>
          <p:nvPr/>
        </p:nvSpPr>
        <p:spPr>
          <a:xfrm>
            <a:off x="7992467" y="2367161"/>
            <a:ext cx="3386634" cy="38100"/>
          </a:xfrm>
          <a:prstGeom prst="rect">
            <a:avLst/>
          </a:prstGeom>
          <a:solidFill>
            <a:srgbClr val="7A8494"/>
          </a:solidFill>
          <a:ln/>
        </p:spPr>
      </p:sp>
      <p:sp>
        <p:nvSpPr>
          <p:cNvPr id="18" name="Shape 16"/>
          <p:cNvSpPr/>
          <p:nvPr/>
        </p:nvSpPr>
        <p:spPr>
          <a:xfrm>
            <a:off x="8297267" y="2710061"/>
            <a:ext cx="304800" cy="304800"/>
          </a:xfrm>
          <a:prstGeom prst="ellipse">
            <a:avLst/>
          </a:prstGeom>
          <a:ln w="25400">
            <a:solidFill>
              <a:srgbClr val="5B6573"/>
            </a:solidFill>
            <a:prstDash val="solid"/>
          </a:ln>
        </p:spPr>
      </p:sp>
      <p:sp>
        <p:nvSpPr>
          <p:cNvPr id="19" name="Shape 17"/>
          <p:cNvSpPr/>
          <p:nvPr/>
        </p:nvSpPr>
        <p:spPr>
          <a:xfrm>
            <a:off x="8390401" y="2803194"/>
            <a:ext cx="118533" cy="118533"/>
          </a:xfrm>
          <a:prstGeom prst="ellipse">
            <a:avLst/>
          </a:prstGeom>
          <a:solidFill>
            <a:srgbClr val="5B6573"/>
          </a:solidFill>
          <a:ln/>
        </p:spPr>
      </p:sp>
      <p:sp>
        <p:nvSpPr>
          <p:cNvPr id="20" name="Text 18"/>
          <p:cNvSpPr txBox="1"/>
          <p:nvPr/>
        </p:nvSpPr>
        <p:spPr>
          <a:xfrm>
            <a:off x="8271867"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Not</a:t>
            </a:r>
            <a:endParaRPr lang="en-US" sz="1700" dirty="0"/>
          </a:p>
        </p:txBody>
      </p:sp>
      <p:sp>
        <p:nvSpPr>
          <p:cNvPr id="21" name="Text 19"/>
          <p:cNvSpPr txBox="1"/>
          <p:nvPr/>
        </p:nvSpPr>
        <p:spPr>
          <a:xfrm>
            <a:off x="8271867"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No further model development, and no full merging of FTT or MFMod into CPAT.</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DASHBOARD AND POLICY ISSUE REPORT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Two prototypes become two products</a:t>
            </a:r>
            <a:endParaRPr lang="en-US" sz="3200" dirty="0"/>
          </a:p>
        </p:txBody>
      </p:sp>
      <p:sp>
        <p:nvSpPr>
          <p:cNvPr id="4" name="Shape 2"/>
          <p:cNvSpPr/>
          <p:nvPr/>
        </p:nvSpPr>
        <p:spPr>
          <a:xfrm>
            <a:off x="812800" y="2349500"/>
            <a:ext cx="3302000" cy="1407021"/>
          </a:xfrm>
          <a:prstGeom prst="roundRect">
            <a:avLst>
              <a:gd name="adj" fmla="val 4513"/>
            </a:avLst>
          </a:prstGeom>
          <a:solidFill>
            <a:srgbClr val="FFFFFF"/>
          </a:solidFill>
          <a:ln w="12700">
            <a:solidFill>
              <a:srgbClr val="7A8494"/>
            </a:solidFill>
            <a:prstDash val="solid"/>
          </a:ln>
        </p:spPr>
      </p:sp>
      <p:sp>
        <p:nvSpPr>
          <p:cNvPr id="5" name="Text 3"/>
          <p:cNvSpPr txBox="1"/>
          <p:nvPr/>
        </p:nvSpPr>
        <p:spPr>
          <a:xfrm>
            <a:off x="1003300" y="2540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Prototype · done</a:t>
            </a:r>
            <a:endParaRPr lang="en-US" sz="1200" dirty="0"/>
          </a:p>
        </p:txBody>
      </p:sp>
      <p:sp>
        <p:nvSpPr>
          <p:cNvPr id="6" name="Text 4"/>
          <p:cNvSpPr txBox="1"/>
          <p:nvPr/>
        </p:nvSpPr>
        <p:spPr>
          <a:xfrm>
            <a:off x="1003300" y="2816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Excise Diagnostic</a:t>
            </a:r>
            <a:endParaRPr lang="en-US" sz="1700" dirty="0"/>
          </a:p>
        </p:txBody>
      </p:sp>
      <p:sp>
        <p:nvSpPr>
          <p:cNvPr id="7" name="Text 5"/>
          <p:cNvSpPr txBox="1"/>
          <p:nvPr/>
        </p:nvSpPr>
        <p:spPr>
          <a:xfrm>
            <a:off x="1003300" y="3139380"/>
            <a:ext cx="300863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Country tax system: excises, subsidies, electricity pricing</a:t>
            </a:r>
            <a:endParaRPr lang="en-US" sz="1200" dirty="0"/>
          </a:p>
        </p:txBody>
      </p:sp>
      <p:sp>
        <p:nvSpPr>
          <p:cNvPr id="8" name="Shape 6"/>
          <p:cNvSpPr/>
          <p:nvPr/>
        </p:nvSpPr>
        <p:spPr>
          <a:xfrm>
            <a:off x="812800" y="4127500"/>
            <a:ext cx="3302000" cy="1193701"/>
          </a:xfrm>
          <a:prstGeom prst="roundRect">
            <a:avLst>
              <a:gd name="adj" fmla="val 5320"/>
            </a:avLst>
          </a:prstGeom>
          <a:solidFill>
            <a:srgbClr val="FFFFFF"/>
          </a:solidFill>
          <a:ln w="12700">
            <a:solidFill>
              <a:srgbClr val="7A8494"/>
            </a:solidFill>
            <a:prstDash val="solid"/>
          </a:ln>
        </p:spPr>
      </p:sp>
      <p:sp>
        <p:nvSpPr>
          <p:cNvPr id="9" name="Text 7"/>
          <p:cNvSpPr txBox="1"/>
          <p:nvPr/>
        </p:nvSpPr>
        <p:spPr>
          <a:xfrm>
            <a:off x="1003300" y="4318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Prototype · done</a:t>
            </a:r>
            <a:endParaRPr lang="en-US" sz="1200" dirty="0"/>
          </a:p>
        </p:txBody>
      </p:sp>
      <p:sp>
        <p:nvSpPr>
          <p:cNvPr id="10" name="Text 8"/>
          <p:cNvSpPr txBox="1"/>
          <p:nvPr/>
        </p:nvSpPr>
        <p:spPr>
          <a:xfrm>
            <a:off x="1003300" y="4594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Macro-fiscal indicators</a:t>
            </a:r>
            <a:endParaRPr lang="en-US" sz="1700" dirty="0"/>
          </a:p>
        </p:txBody>
      </p:sp>
      <p:sp>
        <p:nvSpPr>
          <p:cNvPr id="11" name="Text 9"/>
          <p:cNvSpPr txBox="1"/>
          <p:nvPr/>
        </p:nvSpPr>
        <p:spPr>
          <a:xfrm>
            <a:off x="1003300" y="4917380"/>
            <a:ext cx="3008630"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AI dashboard with a full data audit trail</a:t>
            </a:r>
            <a:endParaRPr lang="en-US" sz="1200" dirty="0"/>
          </a:p>
        </p:txBody>
      </p:sp>
      <p:sp>
        <p:nvSpPr>
          <p:cNvPr id="12" name="Shape 10"/>
          <p:cNvSpPr/>
          <p:nvPr/>
        </p:nvSpPr>
        <p:spPr>
          <a:xfrm>
            <a:off x="4826000" y="3460750"/>
            <a:ext cx="1778000" cy="812800"/>
          </a:xfrm>
          <a:prstGeom prst="roundRect">
            <a:avLst>
              <a:gd name="adj" fmla="val 7813"/>
            </a:avLst>
          </a:prstGeom>
          <a:solidFill>
            <a:srgbClr val="14213D"/>
          </a:solidFill>
          <a:ln/>
        </p:spPr>
      </p:sp>
      <p:sp>
        <p:nvSpPr>
          <p:cNvPr id="13" name="Text 11"/>
          <p:cNvSpPr txBox="1"/>
          <p:nvPr/>
        </p:nvSpPr>
        <p:spPr>
          <a:xfrm>
            <a:off x="5003800" y="3638550"/>
            <a:ext cx="1465072" cy="457200"/>
          </a:xfrm>
          <a:prstGeom prst="rect">
            <a:avLst/>
          </a:prstGeom>
          <a:noFill/>
          <a:ln/>
        </p:spPr>
        <p:txBody>
          <a:bodyPr wrap="square" lIns="0" tIns="0" rIns="0" bIns="0" rtlCol="0" anchor="t"/>
          <a:lstStyle/>
          <a:p>
            <a:pPr algn="ctr" indent="0" marL="0">
              <a:lnSpc>
                <a:spcPct val="120000"/>
              </a:lnSpc>
              <a:buNone/>
            </a:pPr>
            <a:r>
              <a:rPr lang="en-US" sz="1500" b="1" dirty="0">
                <a:solidFill>
                  <a:srgbClr val="F7F6F1"/>
                </a:solidFill>
                <a:latin typeface="Calibri" pitchFamily="34" charset="0"/>
                <a:ea typeface="Calibri" pitchFamily="34" charset="-122"/>
                <a:cs typeface="Calibri" pitchFamily="34" charset="-120"/>
              </a:rPr>
              <a:t>Brought together</a:t>
            </a:r>
            <a:endParaRPr lang="en-US" sz="1500" dirty="0"/>
          </a:p>
        </p:txBody>
      </p:sp>
      <p:sp>
        <p:nvSpPr>
          <p:cNvPr id="14" name="Shape 12"/>
          <p:cNvSpPr/>
          <p:nvPr/>
        </p:nvSpPr>
        <p:spPr>
          <a:xfrm>
            <a:off x="4114800" y="2984500"/>
            <a:ext cx="711200" cy="698500"/>
          </a:xfrm>
          <a:prstGeom prst="line">
            <a:avLst/>
          </a:prstGeom>
          <a:noFill/>
          <a:ln w="25400">
            <a:solidFill>
              <a:srgbClr val="14213D"/>
            </a:solidFill>
            <a:prstDash val="solid"/>
            <a:tailEnd type="triangle"/>
          </a:ln>
        </p:spPr>
      </p:sp>
      <p:sp>
        <p:nvSpPr>
          <p:cNvPr id="15" name="Shape 13"/>
          <p:cNvSpPr/>
          <p:nvPr/>
        </p:nvSpPr>
        <p:spPr>
          <a:xfrm flipV="1">
            <a:off x="4114800" y="3937000"/>
            <a:ext cx="711200" cy="825500"/>
          </a:xfrm>
          <a:prstGeom prst="line">
            <a:avLst/>
          </a:prstGeom>
          <a:noFill/>
          <a:ln w="25400">
            <a:solidFill>
              <a:srgbClr val="14213D"/>
            </a:solidFill>
            <a:prstDash val="solid"/>
            <a:tailEnd type="triangle"/>
          </a:ln>
        </p:spPr>
      </p:sp>
      <p:sp>
        <p:nvSpPr>
          <p:cNvPr id="16" name="Shape 14"/>
          <p:cNvSpPr/>
          <p:nvPr/>
        </p:nvSpPr>
        <p:spPr>
          <a:xfrm flipV="1">
            <a:off x="6604000" y="2952750"/>
            <a:ext cx="711200" cy="730250"/>
          </a:xfrm>
          <a:prstGeom prst="line">
            <a:avLst/>
          </a:prstGeom>
          <a:noFill/>
          <a:ln w="25400">
            <a:solidFill>
              <a:srgbClr val="1F5A96"/>
            </a:solidFill>
            <a:prstDash val="solid"/>
            <a:tailEnd type="triangle"/>
          </a:ln>
        </p:spPr>
      </p:sp>
      <p:sp>
        <p:nvSpPr>
          <p:cNvPr id="17" name="Shape 15"/>
          <p:cNvSpPr/>
          <p:nvPr/>
        </p:nvSpPr>
        <p:spPr>
          <a:xfrm>
            <a:off x="6604000" y="3937000"/>
            <a:ext cx="711200" cy="920750"/>
          </a:xfrm>
          <a:prstGeom prst="line">
            <a:avLst/>
          </a:prstGeom>
          <a:noFill/>
          <a:ln w="25400">
            <a:solidFill>
              <a:srgbClr val="1F5A96"/>
            </a:solidFill>
            <a:prstDash val="solid"/>
            <a:tailEnd type="triangle"/>
          </a:ln>
        </p:spPr>
      </p:sp>
      <p:sp>
        <p:nvSpPr>
          <p:cNvPr id="18" name="Shape 16"/>
          <p:cNvSpPr/>
          <p:nvPr/>
        </p:nvSpPr>
        <p:spPr>
          <a:xfrm>
            <a:off x="7315200" y="2159000"/>
            <a:ext cx="4064000" cy="1419721"/>
          </a:xfrm>
          <a:prstGeom prst="roundRect">
            <a:avLst>
              <a:gd name="adj" fmla="val 4473"/>
            </a:avLst>
          </a:prstGeom>
          <a:solidFill>
            <a:srgbClr val="DCE8F5"/>
          </a:solidFill>
          <a:ln/>
        </p:spPr>
      </p:sp>
      <p:sp>
        <p:nvSpPr>
          <p:cNvPr id="19" name="Shape 17"/>
          <p:cNvSpPr/>
          <p:nvPr/>
        </p:nvSpPr>
        <p:spPr>
          <a:xfrm>
            <a:off x="7315200" y="2159000"/>
            <a:ext cx="4064000" cy="38100"/>
          </a:xfrm>
          <a:prstGeom prst="rect">
            <a:avLst/>
          </a:prstGeom>
          <a:solidFill>
            <a:srgbClr val="1F5A96"/>
          </a:solidFill>
          <a:ln/>
        </p:spPr>
      </p:sp>
      <p:sp>
        <p:nvSpPr>
          <p:cNvPr id="20" name="Text 18"/>
          <p:cNvSpPr txBox="1"/>
          <p:nvPr/>
        </p:nvSpPr>
        <p:spPr>
          <a:xfrm>
            <a:off x="7493000" y="2374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Output 1</a:t>
            </a:r>
            <a:endParaRPr lang="en-US" sz="1200" dirty="0"/>
          </a:p>
        </p:txBody>
      </p:sp>
      <p:sp>
        <p:nvSpPr>
          <p:cNvPr id="21" name="Text 19"/>
          <p:cNvSpPr txBox="1"/>
          <p:nvPr/>
        </p:nvSpPr>
        <p:spPr>
          <a:xfrm>
            <a:off x="7493000" y="2651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Dashboard</a:t>
            </a:r>
            <a:endParaRPr lang="en-US" sz="1700" dirty="0"/>
          </a:p>
        </p:txBody>
      </p:sp>
      <p:sp>
        <p:nvSpPr>
          <p:cNvPr id="22" name="Text 20"/>
          <p:cNvSpPr txBox="1"/>
          <p:nvPr/>
        </p:nvSpPr>
        <p:spPr>
          <a:xfrm>
            <a:off x="7493000" y="2974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Macro-fiscal indicators, now with excise and other tax indicators, and the Total Carbon Price</a:t>
            </a:r>
            <a:endParaRPr lang="en-US" sz="1200" dirty="0"/>
          </a:p>
        </p:txBody>
      </p:sp>
      <p:sp>
        <p:nvSpPr>
          <p:cNvPr id="23" name="Shape 21"/>
          <p:cNvSpPr/>
          <p:nvPr/>
        </p:nvSpPr>
        <p:spPr>
          <a:xfrm>
            <a:off x="7315200" y="4191000"/>
            <a:ext cx="4064000" cy="1419721"/>
          </a:xfrm>
          <a:prstGeom prst="roundRect">
            <a:avLst>
              <a:gd name="adj" fmla="val 4473"/>
            </a:avLst>
          </a:prstGeom>
          <a:solidFill>
            <a:srgbClr val="DCE8F5"/>
          </a:solidFill>
          <a:ln/>
        </p:spPr>
      </p:sp>
      <p:sp>
        <p:nvSpPr>
          <p:cNvPr id="24" name="Shape 22"/>
          <p:cNvSpPr/>
          <p:nvPr/>
        </p:nvSpPr>
        <p:spPr>
          <a:xfrm>
            <a:off x="7315200" y="4191000"/>
            <a:ext cx="4064000" cy="38100"/>
          </a:xfrm>
          <a:prstGeom prst="rect">
            <a:avLst/>
          </a:prstGeom>
          <a:solidFill>
            <a:srgbClr val="1F5A96"/>
          </a:solidFill>
          <a:ln/>
        </p:spPr>
      </p:sp>
      <p:sp>
        <p:nvSpPr>
          <p:cNvPr id="25" name="Text 23"/>
          <p:cNvSpPr txBox="1"/>
          <p:nvPr/>
        </p:nvSpPr>
        <p:spPr>
          <a:xfrm>
            <a:off x="7493000" y="4406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Output 2</a:t>
            </a:r>
            <a:endParaRPr lang="en-US" sz="1200" dirty="0"/>
          </a:p>
        </p:txBody>
      </p:sp>
      <p:sp>
        <p:nvSpPr>
          <p:cNvPr id="26" name="Text 24"/>
          <p:cNvSpPr txBox="1"/>
          <p:nvPr/>
        </p:nvSpPr>
        <p:spPr>
          <a:xfrm>
            <a:off x="7493000" y="4683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Policy issue report</a:t>
            </a:r>
            <a:endParaRPr lang="en-US" sz="1700" dirty="0"/>
          </a:p>
        </p:txBody>
      </p:sp>
      <p:sp>
        <p:nvSpPr>
          <p:cNvPr id="27" name="Text 25"/>
          <p:cNvSpPr txBox="1"/>
          <p:nvPr/>
        </p:nvSpPr>
        <p:spPr>
          <a:xfrm>
            <a:off x="7493000" y="5006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One issue in one country, e.g. feebates: the situation, best practice and reform</a:t>
            </a:r>
            <a:endParaRPr lang="en-US" sz="12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D · TOTAL CARBON PRICE INTO GHG ACCOUNTING</a:t>
            </a:r>
            <a:endParaRPr lang="en-US" sz="1200" dirty="0"/>
          </a:p>
        </p:txBody>
      </p:sp>
      <p:sp>
        <p:nvSpPr>
          <p:cNvPr id="3" name="Text 1"/>
          <p:cNvSpPr txBox="1"/>
          <p:nvPr/>
        </p:nvSpPr>
        <p:spPr>
          <a:xfrm>
            <a:off x="812800" y="1127720"/>
            <a:ext cx="104648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Bring the Total Carbon Price into GHG accounting</a:t>
            </a:r>
            <a:endParaRPr lang="en-US" sz="3200" dirty="0"/>
          </a:p>
        </p:txBody>
      </p:sp>
      <p:sp>
        <p:nvSpPr>
          <p:cNvPr id="4" name="Shape 2"/>
          <p:cNvSpPr/>
          <p:nvPr/>
        </p:nvSpPr>
        <p:spPr>
          <a:xfrm>
            <a:off x="812800" y="1950641"/>
            <a:ext cx="3386634" cy="1943001"/>
          </a:xfrm>
          <a:prstGeom prst="roundRect">
            <a:avLst>
              <a:gd name="adj" fmla="val 3922"/>
            </a:avLst>
          </a:prstGeom>
          <a:solidFill>
            <a:srgbClr val="14213D"/>
          </a:solidFill>
          <a:ln/>
        </p:spPr>
      </p:sp>
      <p:sp>
        <p:nvSpPr>
          <p:cNvPr id="5" name="Shape 3"/>
          <p:cNvSpPr/>
          <p:nvPr/>
        </p:nvSpPr>
        <p:spPr>
          <a:xfrm>
            <a:off x="1117600" y="2255441"/>
            <a:ext cx="304800" cy="304800"/>
          </a:xfrm>
          <a:prstGeom prst="ellipse">
            <a:avLst/>
          </a:prstGeom>
          <a:ln w="25400">
            <a:solidFill>
              <a:srgbClr val="E3A36B"/>
            </a:solidFill>
            <a:prstDash val="solid"/>
          </a:ln>
        </p:spPr>
      </p:sp>
      <p:sp>
        <p:nvSpPr>
          <p:cNvPr id="6" name="Shape 4"/>
          <p:cNvSpPr/>
          <p:nvPr/>
        </p:nvSpPr>
        <p:spPr>
          <a:xfrm>
            <a:off x="1210733" y="2348574"/>
            <a:ext cx="118533" cy="118533"/>
          </a:xfrm>
          <a:prstGeom prst="ellipse">
            <a:avLst/>
          </a:prstGeom>
          <a:solidFill>
            <a:srgbClr val="E3A36B"/>
          </a:solidFill>
          <a:ln/>
        </p:spPr>
      </p:sp>
      <p:sp>
        <p:nvSpPr>
          <p:cNvPr id="7" name="Text 5"/>
          <p:cNvSpPr txBox="1"/>
          <p:nvPr/>
        </p:nvSpPr>
        <p:spPr>
          <a:xfrm>
            <a:off x="1092200"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F7F6F1"/>
                </a:solidFill>
                <a:latin typeface="Calibri" pitchFamily="34" charset="0"/>
                <a:ea typeface="Calibri" pitchFamily="34" charset="-122"/>
                <a:cs typeface="Calibri" pitchFamily="34" charset="-120"/>
              </a:rPr>
              <a:t>A standalone product</a:t>
            </a:r>
            <a:endParaRPr lang="en-US" sz="1700" dirty="0"/>
          </a:p>
        </p:txBody>
      </p:sp>
      <p:sp>
        <p:nvSpPr>
          <p:cNvPr id="8" name="Text 6"/>
          <p:cNvSpPr txBox="1"/>
          <p:nvPr/>
        </p:nvSpPr>
        <p:spPr>
          <a:xfrm>
            <a:off x="1092200"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C9D3E0"/>
                </a:solidFill>
                <a:latin typeface="Calibri" pitchFamily="34" charset="0"/>
                <a:ea typeface="Calibri" pitchFamily="34" charset="-122"/>
                <a:cs typeface="Calibri" pitchFamily="34" charset="-120"/>
              </a:rPr>
              <a:t>Delivered on its own, not as part of Coded CPAT.</a:t>
            </a:r>
            <a:endParaRPr lang="en-US" sz="1400" dirty="0"/>
          </a:p>
        </p:txBody>
      </p:sp>
      <p:sp>
        <p:nvSpPr>
          <p:cNvPr id="9" name="Shape 7"/>
          <p:cNvSpPr/>
          <p:nvPr/>
        </p:nvSpPr>
        <p:spPr>
          <a:xfrm>
            <a:off x="4402634" y="1950641"/>
            <a:ext cx="3386634" cy="1943001"/>
          </a:xfrm>
          <a:prstGeom prst="roundRect">
            <a:avLst>
              <a:gd name="adj" fmla="val 3922"/>
            </a:avLst>
          </a:prstGeom>
          <a:solidFill>
            <a:srgbClr val="FFFFFF"/>
          </a:solidFill>
          <a:ln/>
        </p:spPr>
      </p:sp>
      <p:sp>
        <p:nvSpPr>
          <p:cNvPr id="10" name="Shape 8"/>
          <p:cNvSpPr/>
          <p:nvPr/>
        </p:nvSpPr>
        <p:spPr>
          <a:xfrm>
            <a:off x="4707434" y="2255441"/>
            <a:ext cx="304800" cy="304800"/>
          </a:xfrm>
          <a:prstGeom prst="ellipse">
            <a:avLst/>
          </a:prstGeom>
          <a:ln w="25400">
            <a:solidFill>
              <a:srgbClr val="1F5A96"/>
            </a:solidFill>
            <a:prstDash val="solid"/>
          </a:ln>
        </p:spPr>
      </p:sp>
      <p:sp>
        <p:nvSpPr>
          <p:cNvPr id="11" name="Shape 9"/>
          <p:cNvSpPr/>
          <p:nvPr/>
        </p:nvSpPr>
        <p:spPr>
          <a:xfrm>
            <a:off x="4800567" y="2348574"/>
            <a:ext cx="118533" cy="118533"/>
          </a:xfrm>
          <a:prstGeom prst="ellipse">
            <a:avLst/>
          </a:prstGeom>
          <a:solidFill>
            <a:srgbClr val="1F5A96"/>
          </a:solidFill>
          <a:ln/>
        </p:spPr>
      </p:sp>
      <p:sp>
        <p:nvSpPr>
          <p:cNvPr id="12" name="Text 10"/>
          <p:cNvSpPr txBox="1"/>
          <p:nvPr/>
        </p:nvSpPr>
        <p:spPr>
          <a:xfrm>
            <a:off x="4682034"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Linked to GHG accounting</a:t>
            </a:r>
            <a:endParaRPr lang="en-US" sz="1700" dirty="0"/>
          </a:p>
        </p:txBody>
      </p:sp>
      <p:sp>
        <p:nvSpPr>
          <p:cNvPr id="13" name="Text 11"/>
          <p:cNvSpPr txBox="1"/>
          <p:nvPr/>
        </p:nvSpPr>
        <p:spPr>
          <a:xfrm>
            <a:off x="4682034"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Consistent with the GHG accounting metric.</a:t>
            </a:r>
            <a:endParaRPr lang="en-US" sz="1400" dirty="0"/>
          </a:p>
        </p:txBody>
      </p:sp>
      <p:sp>
        <p:nvSpPr>
          <p:cNvPr id="14" name="Shape 12"/>
          <p:cNvSpPr/>
          <p:nvPr/>
        </p:nvSpPr>
        <p:spPr>
          <a:xfrm>
            <a:off x="7992467" y="1950641"/>
            <a:ext cx="3386634" cy="1943001"/>
          </a:xfrm>
          <a:prstGeom prst="roundRect">
            <a:avLst>
              <a:gd name="adj" fmla="val 3922"/>
            </a:avLst>
          </a:prstGeom>
          <a:solidFill>
            <a:srgbClr val="FFFFFF"/>
          </a:solidFill>
          <a:ln/>
        </p:spPr>
      </p:sp>
      <p:sp>
        <p:nvSpPr>
          <p:cNvPr id="15" name="Shape 13"/>
          <p:cNvSpPr/>
          <p:nvPr/>
        </p:nvSpPr>
        <p:spPr>
          <a:xfrm>
            <a:off x="8297267" y="2255441"/>
            <a:ext cx="304800" cy="304800"/>
          </a:xfrm>
          <a:prstGeom prst="ellipse">
            <a:avLst/>
          </a:prstGeom>
          <a:ln w="25400">
            <a:solidFill>
              <a:srgbClr val="1F5A96"/>
            </a:solidFill>
            <a:prstDash val="solid"/>
          </a:ln>
        </p:spPr>
      </p:sp>
      <p:sp>
        <p:nvSpPr>
          <p:cNvPr id="16" name="Shape 14"/>
          <p:cNvSpPr/>
          <p:nvPr/>
        </p:nvSpPr>
        <p:spPr>
          <a:xfrm>
            <a:off x="8390401" y="2348574"/>
            <a:ext cx="118533" cy="118533"/>
          </a:xfrm>
          <a:prstGeom prst="ellipse">
            <a:avLst/>
          </a:prstGeom>
          <a:solidFill>
            <a:srgbClr val="1F5A96"/>
          </a:solidFill>
          <a:ln/>
        </p:spPr>
      </p:sp>
      <p:sp>
        <p:nvSpPr>
          <p:cNvPr id="17" name="Text 15"/>
          <p:cNvSpPr txBox="1"/>
          <p:nvPr/>
        </p:nvSpPr>
        <p:spPr>
          <a:xfrm>
            <a:off x="8271867"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Also in the dashboard</a:t>
            </a:r>
            <a:endParaRPr lang="en-US" sz="1700" dirty="0"/>
          </a:p>
        </p:txBody>
      </p:sp>
      <p:sp>
        <p:nvSpPr>
          <p:cNvPr id="18" name="Text 16"/>
          <p:cNvSpPr txBox="1"/>
          <p:nvPr/>
        </p:nvSpPr>
        <p:spPr>
          <a:xfrm>
            <a:off x="8271867"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Shown alongside the macro-fiscal and tax indicators.</a:t>
            </a:r>
            <a:endParaRPr lang="en-US" sz="1400" dirty="0"/>
          </a:p>
        </p:txBody>
      </p:sp>
      <p:sp>
        <p:nvSpPr>
          <p:cNvPr id="19" name="Text 17"/>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consolidated summary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WHAT TO KEEP AND WHAT TO DROP</a:t>
            </a:r>
            <a:endParaRPr lang="en-US" sz="1200" dirty="0"/>
          </a:p>
        </p:txBody>
      </p:sp>
      <p:sp>
        <p:nvSpPr>
          <p:cNvPr id="3" name="Text 1"/>
          <p:cNvSpPr txBox="1"/>
          <p:nvPr/>
        </p:nvSpPr>
        <p:spPr>
          <a:xfrm>
            <a:off x="812800" y="1127720"/>
            <a:ext cx="10464800" cy="817761"/>
          </a:xfrm>
          <a:prstGeom prst="rect">
            <a:avLst/>
          </a:prstGeom>
          <a:noFill/>
          <a:ln/>
        </p:spPr>
        <p:txBody>
          <a:bodyPr wrap="square" lIns="0" tIns="0" rIns="0" bIns="0" rtlCol="0" anchor="t"/>
          <a:lstStyle/>
          <a:p>
            <a:pPr algn="l" indent="0" marL="0">
              <a:lnSpc>
                <a:spcPct val="115000"/>
              </a:lnSpc>
              <a:buNone/>
            </a:pPr>
            <a:r>
              <a:rPr lang="en-US" sz="2800" b="1" dirty="0">
                <a:solidFill>
                  <a:srgbClr val="14213D"/>
                </a:solidFill>
                <a:latin typeface="Cambria" pitchFamily="34" charset="0"/>
                <a:ea typeface="Cambria" pitchFamily="34" charset="-122"/>
                <a:cs typeface="Cambria" pitchFamily="34" charset="-120"/>
              </a:rPr>
              <a:t>The plan is full to 20 March: anything added must replace something</a:t>
            </a:r>
            <a:endParaRPr lang="en-US" sz="2800" dirty="0"/>
          </a:p>
        </p:txBody>
      </p:sp>
      <p:sp>
        <p:nvSpPr>
          <p:cNvPr id="4" name="Shape 2"/>
          <p:cNvSpPr/>
          <p:nvPr/>
        </p:nvSpPr>
        <p:spPr>
          <a:xfrm>
            <a:off x="812800" y="2148681"/>
            <a:ext cx="3403600" cy="2803922"/>
          </a:xfrm>
          <a:prstGeom prst="roundRect">
            <a:avLst>
              <a:gd name="adj" fmla="val 2265"/>
            </a:avLst>
          </a:prstGeom>
          <a:solidFill>
            <a:srgbClr val="14213D"/>
          </a:solidFill>
          <a:ln/>
        </p:spPr>
      </p:sp>
      <p:sp>
        <p:nvSpPr>
          <p:cNvPr id="5" name="Text 3"/>
          <p:cNvSpPr txBox="1"/>
          <p:nvPr/>
        </p:nvSpPr>
        <p:spPr>
          <a:xfrm>
            <a:off x="1041400" y="23772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E3A36B"/>
                </a:solidFill>
                <a:latin typeface="Calibri" pitchFamily="34" charset="0"/>
                <a:ea typeface="Calibri" pitchFamily="34" charset="-122"/>
                <a:cs typeface="Calibri" pitchFamily="34" charset="-120"/>
              </a:rPr>
              <a:t>KEEP · CORE</a:t>
            </a:r>
            <a:endParaRPr lang="en-US" sz="1300" dirty="0"/>
          </a:p>
        </p:txBody>
      </p:sp>
      <p:sp>
        <p:nvSpPr>
          <p:cNvPr id="6" name="Text 4"/>
          <p:cNvSpPr txBox="1"/>
          <p:nvPr/>
        </p:nvSpPr>
        <p:spPr>
          <a:xfrm>
            <a:off x="1041400" y="26972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Coded CPAT and AI-Excel.</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Funded; the base for everything else</a:t>
            </a:r>
            <a:endParaRPr lang="en-US" sz="1200" dirty="0"/>
          </a:p>
        </p:txBody>
      </p:sp>
      <p:sp>
        <p:nvSpPr>
          <p:cNvPr id="7" name="Text 5"/>
          <p:cNvSpPr txBox="1"/>
          <p:nvPr/>
        </p:nvSpPr>
        <p:spPr>
          <a:xfrm>
            <a:off x="1041400" y="31391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GHG accounting.</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A corporate requirement; no DPF tool exists</a:t>
            </a:r>
            <a:endParaRPr lang="en-US" sz="1200" dirty="0"/>
          </a:p>
        </p:txBody>
      </p:sp>
      <p:sp>
        <p:nvSpPr>
          <p:cNvPr id="8" name="Text 6"/>
          <p:cNvSpPr txBox="1"/>
          <p:nvPr/>
        </p:nvSpPr>
        <p:spPr>
          <a:xfrm>
            <a:off x="1041400" y="358110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CPAT–SiSePuede.</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Funded; light-touch supervision</a:t>
            </a:r>
            <a:endParaRPr lang="en-US" sz="1200" dirty="0"/>
          </a:p>
        </p:txBody>
      </p:sp>
      <p:sp>
        <p:nvSpPr>
          <p:cNvPr id="9" name="Shape 7"/>
          <p:cNvSpPr/>
          <p:nvPr/>
        </p:nvSpPr>
        <p:spPr>
          <a:xfrm>
            <a:off x="4394200" y="2148681"/>
            <a:ext cx="3403600" cy="2803922"/>
          </a:xfrm>
          <a:prstGeom prst="roundRect">
            <a:avLst>
              <a:gd name="adj" fmla="val 2265"/>
            </a:avLst>
          </a:prstGeom>
          <a:solidFill>
            <a:srgbClr val="FFFFFF"/>
          </a:solidFill>
          <a:ln/>
        </p:spPr>
      </p:sp>
      <p:sp>
        <p:nvSpPr>
          <p:cNvPr id="10" name="Shape 8"/>
          <p:cNvSpPr/>
          <p:nvPr/>
        </p:nvSpPr>
        <p:spPr>
          <a:xfrm>
            <a:off x="4394200" y="2148681"/>
            <a:ext cx="3403600" cy="38100"/>
          </a:xfrm>
          <a:prstGeom prst="rect">
            <a:avLst/>
          </a:prstGeom>
          <a:solidFill>
            <a:srgbClr val="1F5A96"/>
          </a:solidFill>
          <a:ln/>
        </p:spPr>
      </p:sp>
      <p:sp>
        <p:nvSpPr>
          <p:cNvPr id="11" name="Text 9"/>
          <p:cNvSpPr txBox="1"/>
          <p:nvPr/>
        </p:nvSpPr>
        <p:spPr>
          <a:xfrm>
            <a:off x="46228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1F5A96"/>
                </a:solidFill>
                <a:latin typeface="Calibri" pitchFamily="34" charset="0"/>
                <a:ea typeface="Calibri" pitchFamily="34" charset="-122"/>
                <a:cs typeface="Calibri" pitchFamily="34" charset="-120"/>
              </a:rPr>
              <a:t>KEEP · SMALL</a:t>
            </a:r>
            <a:endParaRPr lang="en-US" sz="1300" dirty="0"/>
          </a:p>
        </p:txBody>
      </p:sp>
      <p:sp>
        <p:nvSpPr>
          <p:cNvPr id="12" name="Text 10"/>
          <p:cNvSpPr txBox="1"/>
          <p:nvPr/>
        </p:nvSpPr>
        <p:spPr>
          <a:xfrm>
            <a:off x="4622800" y="273536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Python platform.</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Access only</a:t>
            </a:r>
            <a:endParaRPr lang="en-US" sz="1200" dirty="0"/>
          </a:p>
        </p:txBody>
      </p:sp>
      <p:sp>
        <p:nvSpPr>
          <p:cNvPr id="13" name="Text 11"/>
          <p:cNvSpPr txBox="1"/>
          <p:nvPr/>
        </p:nvSpPr>
        <p:spPr>
          <a:xfrm>
            <a:off x="4622800" y="295632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Dashboard and policy report.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Prototypes exist; funding to confirm</a:t>
            </a:r>
            <a:endParaRPr lang="en-US" sz="1200" dirty="0"/>
          </a:p>
        </p:txBody>
      </p:sp>
      <p:sp>
        <p:nvSpPr>
          <p:cNvPr id="14" name="Text 12"/>
          <p:cNvSpPr txBox="1"/>
          <p:nvPr/>
        </p:nvSpPr>
        <p:spPr>
          <a:xfrm>
            <a:off x="4622800" y="339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Policy crediting and FFI.</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One week, on GHG accounting</a:t>
            </a:r>
            <a:endParaRPr lang="en-US" sz="1200" dirty="0"/>
          </a:p>
        </p:txBody>
      </p:sp>
      <p:sp>
        <p:nvSpPr>
          <p:cNvPr id="15" name="Text 13"/>
          <p:cNvSpPr txBox="1"/>
          <p:nvPr/>
        </p:nvSpPr>
        <p:spPr>
          <a:xfrm>
            <a:off x="4622800" y="384016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Total Carbon Price into GHG accounting.</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yet scheduled</a:t>
            </a:r>
            <a:endParaRPr lang="en-US" sz="1200" dirty="0"/>
          </a:p>
        </p:txBody>
      </p:sp>
      <p:sp>
        <p:nvSpPr>
          <p:cNvPr id="16" name="Text 14"/>
          <p:cNvSpPr txBox="1"/>
          <p:nvPr/>
        </p:nvSpPr>
        <p:spPr>
          <a:xfrm>
            <a:off x="4622800" y="428208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Energy GP code help.</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on the timeline; needs a slot</a:t>
            </a:r>
            <a:endParaRPr lang="en-US" sz="1200" dirty="0"/>
          </a:p>
        </p:txBody>
      </p:sp>
      <p:sp>
        <p:nvSpPr>
          <p:cNvPr id="17" name="Shape 15"/>
          <p:cNvSpPr/>
          <p:nvPr/>
        </p:nvSpPr>
        <p:spPr>
          <a:xfrm>
            <a:off x="7975600" y="2148681"/>
            <a:ext cx="3403600" cy="2803922"/>
          </a:xfrm>
          <a:prstGeom prst="roundRect">
            <a:avLst>
              <a:gd name="adj" fmla="val 2265"/>
            </a:avLst>
          </a:prstGeom>
          <a:solidFill>
            <a:srgbClr val="EFEDE6"/>
          </a:solidFill>
          <a:ln/>
        </p:spPr>
      </p:sp>
      <p:sp>
        <p:nvSpPr>
          <p:cNvPr id="18" name="Shape 16"/>
          <p:cNvSpPr/>
          <p:nvPr/>
        </p:nvSpPr>
        <p:spPr>
          <a:xfrm>
            <a:off x="7975600" y="2148681"/>
            <a:ext cx="3403600" cy="38100"/>
          </a:xfrm>
          <a:prstGeom prst="rect">
            <a:avLst/>
          </a:prstGeom>
          <a:solidFill>
            <a:srgbClr val="7A8494"/>
          </a:solidFill>
          <a:ln/>
        </p:spPr>
      </p:sp>
      <p:sp>
        <p:nvSpPr>
          <p:cNvPr id="19" name="Text 17"/>
          <p:cNvSpPr txBox="1"/>
          <p:nvPr/>
        </p:nvSpPr>
        <p:spPr>
          <a:xfrm>
            <a:off x="82042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5B6573"/>
                </a:solidFill>
                <a:latin typeface="Calibri" pitchFamily="34" charset="0"/>
                <a:ea typeface="Calibri" pitchFamily="34" charset="-122"/>
                <a:cs typeface="Calibri" pitchFamily="34" charset="-120"/>
              </a:rPr>
              <a:t>DROP OR DEFER</a:t>
            </a:r>
            <a:endParaRPr lang="en-US" sz="1300" dirty="0"/>
          </a:p>
        </p:txBody>
      </p:sp>
      <p:sp>
        <p:nvSpPr>
          <p:cNvPr id="20" name="Text 18"/>
          <p:cNvSpPr txBox="1"/>
          <p:nvPr/>
        </p:nvSpPr>
        <p:spPr>
          <a:xfrm>
            <a:off x="82042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Patching legacy Excel</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(new tab, Lambdas): superseded</a:t>
            </a:r>
            <a:endParaRPr lang="en-US" sz="1200" dirty="0"/>
          </a:p>
        </p:txBody>
      </p:sp>
      <p:sp>
        <p:nvSpPr>
          <p:cNvPr id="21" name="Text 19"/>
          <p:cNvSpPr txBox="1"/>
          <p:nvPr/>
        </p:nvSpPr>
        <p:spPr>
          <a:xfrm>
            <a:off x="8204200" y="317728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Validating legacy CPAT: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separate note</a:t>
            </a:r>
            <a:endParaRPr lang="en-US" sz="1200" dirty="0"/>
          </a:p>
        </p:txBody>
      </p:sp>
      <p:sp>
        <p:nvSpPr>
          <p:cNvPr id="22" name="Text 20"/>
          <p:cNvSpPr txBox="1"/>
          <p:nvPr/>
        </p:nvSpPr>
        <p:spPr>
          <a:xfrm>
            <a:off x="8204200" y="339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Full CPAT replacement;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merging FTT or MFMod: later</a:t>
            </a:r>
            <a:endParaRPr lang="en-US" sz="1200" dirty="0"/>
          </a:p>
        </p:txBody>
      </p:sp>
      <p:sp>
        <p:nvSpPr>
          <p:cNvPr id="23" name="Text 21"/>
          <p:cNvSpPr txBox="1"/>
          <p:nvPr/>
        </p:nvSpPr>
        <p:spPr>
          <a:xfrm>
            <a:off x="8204200" y="384016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April items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in FY27 plan: ETS pilot, downstream pricing, CPAT paper</a:t>
            </a:r>
            <a:endParaRPr lang="en-US" sz="1200" dirty="0"/>
          </a:p>
        </p:txBody>
      </p:sp>
      <p:sp>
        <p:nvSpPr>
          <p:cNvPr id="24" name="Text 2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work plan v1.1 (28 Sept 2026) · CPAT consolidated summary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8521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FBE3C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FBF6F0"/>
                </a:solidFill>
                <a:latin typeface="Cambria" pitchFamily="34" charset="0"/>
                <a:ea typeface="Cambria" pitchFamily="34" charset="-122"/>
                <a:cs typeface="Cambria" pitchFamily="34" charset="-120"/>
              </a:rPr>
              <a:t>One AI-built engine, two forms, a few small products</a:t>
            </a:r>
            <a:endParaRPr lang="en-US" sz="3200" dirty="0"/>
          </a:p>
        </p:txBody>
      </p:sp>
      <p:sp>
        <p:nvSpPr>
          <p:cNvPr id="4" name="Shape 2"/>
          <p:cNvSpPr/>
          <p:nvPr/>
        </p:nvSpPr>
        <p:spPr>
          <a:xfrm>
            <a:off x="812800" y="1899841"/>
            <a:ext cx="5541764" cy="19050"/>
          </a:xfrm>
          <a:prstGeom prst="rect">
            <a:avLst/>
          </a:prstGeom>
          <a:solidFill>
            <a:srgbClr val="FBE3CE"/>
          </a:solidFill>
          <a:ln/>
        </p:spPr>
      </p:sp>
      <p:sp>
        <p:nvSpPr>
          <p:cNvPr id="5" name="Text 3"/>
          <p:cNvSpPr txBox="1"/>
          <p:nvPr/>
        </p:nvSpPr>
        <p:spPr>
          <a:xfrm>
            <a:off x="812800" y="2045891"/>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Fixes the module's problems</a:t>
            </a:r>
            <a:endParaRPr lang="en-US" sz="1600" dirty="0"/>
          </a:p>
        </p:txBody>
      </p:sp>
      <p:sp>
        <p:nvSpPr>
          <p:cNvPr id="6" name="Text 4"/>
          <p:cNvSpPr txBox="1"/>
          <p:nvPr/>
        </p:nvSpPr>
        <p:spPr>
          <a:xfrm>
            <a:off x="812800" y="2340471"/>
            <a:ext cx="5708017" cy="478631"/>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A compact, traceable engine replaces 250,000+ cells and handles policy mixes.</a:t>
            </a:r>
            <a:endParaRPr lang="en-US" sz="1300" dirty="0"/>
          </a:p>
        </p:txBody>
      </p:sp>
      <p:sp>
        <p:nvSpPr>
          <p:cNvPr id="7" name="Shape 5"/>
          <p:cNvSpPr/>
          <p:nvPr/>
        </p:nvSpPr>
        <p:spPr>
          <a:xfrm>
            <a:off x="812800" y="2996902"/>
            <a:ext cx="5541764" cy="19050"/>
          </a:xfrm>
          <a:prstGeom prst="rect">
            <a:avLst/>
          </a:prstGeom>
          <a:solidFill>
            <a:srgbClr val="FBE3CE"/>
          </a:solidFill>
          <a:ln/>
        </p:spPr>
      </p:sp>
      <p:sp>
        <p:nvSpPr>
          <p:cNvPr id="8" name="Text 6"/>
          <p:cNvSpPr txBox="1"/>
          <p:nvPr/>
        </p:nvSpPr>
        <p:spPr>
          <a:xfrm>
            <a:off x="812800" y="3142952"/>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Each form has a home</a:t>
            </a:r>
            <a:endParaRPr lang="en-US" sz="1600" dirty="0"/>
          </a:p>
        </p:txBody>
      </p:sp>
      <p:sp>
        <p:nvSpPr>
          <p:cNvPr id="9" name="Text 7"/>
          <p:cNvSpPr txBox="1"/>
          <p:nvPr/>
        </p:nvSpPr>
        <p:spPr>
          <a:xfrm>
            <a:off x="812800" y="3437533"/>
            <a:ext cx="5708017" cy="478631"/>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Code into SiSePuede and the Python platform; AI-Excel into the WB–IMF process and GHG accounting.</a:t>
            </a:r>
            <a:endParaRPr lang="en-US" sz="1300" dirty="0"/>
          </a:p>
        </p:txBody>
      </p:sp>
      <p:sp>
        <p:nvSpPr>
          <p:cNvPr id="10" name="Shape 8"/>
          <p:cNvSpPr/>
          <p:nvPr/>
        </p:nvSpPr>
        <p:spPr>
          <a:xfrm>
            <a:off x="812800" y="4093964"/>
            <a:ext cx="5541764" cy="19050"/>
          </a:xfrm>
          <a:prstGeom prst="rect">
            <a:avLst/>
          </a:prstGeom>
          <a:solidFill>
            <a:srgbClr val="FBE3CE"/>
          </a:solidFill>
          <a:ln/>
        </p:spPr>
      </p:sp>
      <p:sp>
        <p:nvSpPr>
          <p:cNvPr id="11" name="Text 9"/>
          <p:cNvSpPr txBox="1"/>
          <p:nvPr/>
        </p:nvSpPr>
        <p:spPr>
          <a:xfrm>
            <a:off x="812800" y="4240014"/>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Focus wins</a:t>
            </a:r>
            <a:endParaRPr lang="en-US" sz="1600" dirty="0"/>
          </a:p>
        </p:txBody>
      </p:sp>
      <p:sp>
        <p:nvSpPr>
          <p:cNvPr id="12" name="Text 10"/>
          <p:cNvSpPr txBox="1"/>
          <p:nvPr/>
        </p:nvSpPr>
        <p:spPr>
          <a:xfrm>
            <a:off x="812800" y="4534595"/>
            <a:ext cx="5708017" cy="239316"/>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Keep the core; other products are small tweaks or wait.</a:t>
            </a:r>
            <a:endParaRPr lang="en-US" sz="1300" dirty="0"/>
          </a:p>
        </p:txBody>
      </p:sp>
      <p:sp>
        <p:nvSpPr>
          <p:cNvPr id="13" name="Shape 11"/>
          <p:cNvSpPr/>
          <p:nvPr/>
        </p:nvSpPr>
        <p:spPr>
          <a:xfrm>
            <a:off x="6760964" y="1899841"/>
            <a:ext cx="4618236" cy="2874070"/>
          </a:xfrm>
          <a:prstGeom prst="roundRect">
            <a:avLst>
              <a:gd name="adj" fmla="val 2651"/>
            </a:avLst>
          </a:prstGeom>
          <a:solidFill>
            <a:srgbClr val="FBE3CE"/>
          </a:solidFill>
          <a:ln/>
        </p:spPr>
      </p:sp>
      <p:sp>
        <p:nvSpPr>
          <p:cNvPr id="14" name="Text 12"/>
          <p:cNvSpPr txBox="1"/>
          <p:nvPr/>
        </p:nvSpPr>
        <p:spPr>
          <a:xfrm>
            <a:off x="7014964" y="2153841"/>
            <a:ext cx="4233543"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8A3F10"/>
                </a:solidFill>
                <a:latin typeface="Calibri" pitchFamily="34" charset="0"/>
                <a:ea typeface="Calibri" pitchFamily="34" charset="-122"/>
                <a:cs typeface="Calibri" pitchFamily="34" charset="-120"/>
              </a:rPr>
              <a:t>NEXT STEPS</a:t>
            </a:r>
            <a:endParaRPr lang="en-US" sz="1300" dirty="0"/>
          </a:p>
        </p:txBody>
      </p:sp>
      <p:sp>
        <p:nvSpPr>
          <p:cNvPr id="15" name="Text 13"/>
          <p:cNvSpPr txBox="1"/>
          <p:nvPr/>
        </p:nvSpPr>
        <p:spPr>
          <a:xfrm>
            <a:off x="7014964" y="25119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1"/>
            </a:pPr>
            <a:r>
              <a:rPr lang="en-US" sz="1300" dirty="0">
                <a:solidFill>
                  <a:srgbClr val="14213D"/>
                </a:solidFill>
                <a:latin typeface="Calibri" pitchFamily="34" charset="0"/>
                <a:ea typeface="Calibri" pitchFamily="34" charset="-122"/>
                <a:cs typeface="Calibri" pitchFamily="34" charset="-120"/>
              </a:rPr>
              <a:t>Informal chats in the office before 16 October</a:t>
            </a:r>
            <a:endParaRPr lang="en-US" sz="1300" dirty="0"/>
          </a:p>
        </p:txBody>
      </p:sp>
      <p:sp>
        <p:nvSpPr>
          <p:cNvPr id="16" name="Text 14"/>
          <p:cNvSpPr txBox="1"/>
          <p:nvPr/>
        </p:nvSpPr>
        <p:spPr>
          <a:xfrm>
            <a:off x="7014964" y="275957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2"/>
            </a:pPr>
            <a:r>
              <a:rPr lang="en-US" sz="1300" dirty="0">
                <a:solidFill>
                  <a:srgbClr val="14213D"/>
                </a:solidFill>
                <a:latin typeface="Calibri" pitchFamily="34" charset="0"/>
                <a:ea typeface="Calibri" pitchFamily="34" charset="-122"/>
                <a:cs typeface="Calibri" pitchFamily="34" charset="-120"/>
              </a:rPr>
              <a:t>Excel and coded MVP by 16 October</a:t>
            </a:r>
            <a:endParaRPr lang="en-US" sz="1300" dirty="0"/>
          </a:p>
        </p:txBody>
      </p:sp>
      <p:sp>
        <p:nvSpPr>
          <p:cNvPr id="17" name="Text 15"/>
          <p:cNvSpPr txBox="1"/>
          <p:nvPr/>
        </p:nvSpPr>
        <p:spPr>
          <a:xfrm>
            <a:off x="7014964" y="30072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3"/>
            </a:pPr>
            <a:r>
              <a:rPr lang="en-US" sz="1300" dirty="0">
                <a:solidFill>
                  <a:srgbClr val="14213D"/>
                </a:solidFill>
                <a:latin typeface="Calibri" pitchFamily="34" charset="0"/>
                <a:ea typeface="Calibri" pitchFamily="34" charset="-122"/>
                <a:cs typeface="Calibri" pitchFamily="34" charset="-120"/>
              </a:rPr>
              <a:t>Agree on the WB side, then bring the IMF in</a:t>
            </a:r>
            <a:endParaRPr lang="en-US" sz="1300" dirty="0"/>
          </a:p>
        </p:txBody>
      </p:sp>
      <p:sp>
        <p:nvSpPr>
          <p:cNvPr id="18" name="Text 16"/>
          <p:cNvSpPr txBox="1"/>
          <p:nvPr/>
        </p:nvSpPr>
        <p:spPr>
          <a:xfrm>
            <a:off x="7014964" y="3254871"/>
            <a:ext cx="4233543" cy="49530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4"/>
            </a:pPr>
            <a:r>
              <a:rPr lang="en-US" sz="1300" dirty="0">
                <a:solidFill>
                  <a:srgbClr val="14213D"/>
                </a:solidFill>
                <a:latin typeface="Calibri" pitchFamily="34" charset="0"/>
                <a:ea typeface="Calibri" pitchFamily="34" charset="-122"/>
                <a:cs typeface="Calibri" pitchFamily="34" charset="-120"/>
              </a:rPr>
              <a:t>Confirm GHG accounting and policy crediting requirements</a:t>
            </a:r>
            <a:endParaRPr lang="en-US" sz="1300" dirty="0"/>
          </a:p>
        </p:txBody>
      </p:sp>
      <p:sp>
        <p:nvSpPr>
          <p:cNvPr id="19" name="Text 17"/>
          <p:cNvSpPr txBox="1"/>
          <p:nvPr/>
        </p:nvSpPr>
        <p:spPr>
          <a:xfrm>
            <a:off x="7014964" y="375017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5"/>
            </a:pPr>
            <a:r>
              <a:rPr lang="en-US" sz="1300" dirty="0">
                <a:solidFill>
                  <a:srgbClr val="14213D"/>
                </a:solidFill>
                <a:latin typeface="Calibri" pitchFamily="34" charset="0"/>
                <a:ea typeface="Calibri" pitchFamily="34" charset="-122"/>
                <a:cs typeface="Calibri" pitchFamily="34" charset="-120"/>
              </a:rPr>
              <a:t>Agree the keep-or-drop list</a:t>
            </a:r>
            <a:endParaRPr lang="en-US" sz="1300" dirty="0"/>
          </a:p>
        </p:txBody>
      </p:sp>
      <p:sp>
        <p:nvSpPr>
          <p:cNvPr id="20" name="Text 18"/>
          <p:cNvSpPr txBox="1"/>
          <p:nvPr/>
        </p:nvSpPr>
        <p:spPr>
          <a:xfrm>
            <a:off x="7014964" y="39978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6"/>
            </a:pPr>
            <a:r>
              <a:rPr lang="en-US" sz="1300" dirty="0">
                <a:solidFill>
                  <a:srgbClr val="14213D"/>
                </a:solidFill>
                <a:latin typeface="Calibri" pitchFamily="34" charset="0"/>
                <a:ea typeface="Calibri" pitchFamily="34" charset="-122"/>
                <a:cs typeface="Calibri" pitchFamily="34" charset="-120"/>
              </a:rPr>
              <a:t>Choose a country project (to be defined)</a:t>
            </a:r>
            <a:endParaRPr lang="en-US" sz="1300" dirty="0"/>
          </a:p>
        </p:txBody>
      </p:sp>
      <p:sp>
        <p:nvSpPr>
          <p:cNvPr id="21" name="Text 1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FBE3CE"/>
                </a:solidFill>
                <a:latin typeface="Calibri" pitchFamily="34" charset="0"/>
                <a:ea typeface="Calibri" pitchFamily="34" charset="-122"/>
                <a:cs typeface="Calibri" pitchFamily="34" charset="-120"/>
              </a:rPr>
              <a:t>CPAT consolidated summary · 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 Consolidated Summary</dc:title>
  <dc:subject>PptxGenJS Presentation</dc:subject>
  <dc:creator>Stephen Stretton</dc:creator>
  <cp:lastModifiedBy>Stephen Stretton</cp:lastModifiedBy>
  <cp:revision>1</cp:revision>
  <dcterms:created xsi:type="dcterms:W3CDTF">2026-09-28T21:33:44Z</dcterms:created>
  <dcterms:modified xsi:type="dcterms:W3CDTF">2026-09-28T21:33:44Z</dcterms:modified>
</cp:coreProperties>
</file>