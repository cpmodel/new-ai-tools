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9" r:id="rId1"/>
  </p:sldMasterIdLst>
  <p:sldIdLst>
    <p:sldId id="256" r:id="rId2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Decoration"/>
          <p:cNvSpPr/>
          <p:nvPr userDrawn="1"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2A3DF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itle"/>
          <p:cNvSpPr>
            <a:spLocks noGrp="1"/>
          </p:cNvSpPr>
          <p:nvPr>
            <p:ph type="title"/>
          </p:nvPr>
        </p:nvSpPr>
        <p:spPr>
          <a:xfrm>
            <a:off x="685800" y="2286000"/>
            <a:ext cx="10820400" cy="1143000"/>
          </a:xfrm>
        </p:spPr>
        <p:txBody>
          <a:bodyPr/>
          <a:p>
            <a:r>
              <a:rPr lang="en-US"/>
              <a:t> </a:t>
            </a:r>
          </a:p>
        </p:txBody>
      </p:sp>
      <p:sp>
        <p:nvSpPr>
          <p:cNvPr id="0" name="Subtitle"/>
          <p:cNvSpPr>
            <a:spLocks noGrp="1"/>
          </p:cNvSpPr>
          <p:nvPr>
            <p:ph type="subTitle" idx="1"/>
          </p:nvPr>
        </p:nvSpPr>
        <p:spPr>
          <a:xfrm>
            <a:off x="685800" y="3600450"/>
            <a:ext cx="10820400" cy="914400"/>
          </a:xfrm>
        </p:spPr>
        <p:txBody>
          <a:bodyPr/>
          <a:p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Divider">
    <p:bg>
      <p:bgPr>
        <a:solidFill>
          <a:srgbClr val="061F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itle"/>
          <p:cNvSpPr>
            <a:spLocks noGrp="1"/>
          </p:cNvSpPr>
          <p:nvPr>
            <p:ph type="title"/>
          </p:nvPr>
        </p:nvSpPr>
        <p:spPr>
          <a:xfrm>
            <a:off x="685800" y="2971800"/>
            <a:ext cx="10820400" cy="914400"/>
          </a:xfrm>
        </p:spPr>
        <p:txBody>
          <a:bodyPr/>
          <a:lstStyle>
            <a:lvl1pPr>
              <a:defRPr sz="40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Half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Decoration"/>
          <p:cNvSpPr/>
          <p:nvPr userDrawn="1"/>
        </p:nvSpPr>
        <p:spPr>
          <a:xfrm>
            <a:off x="6092952" y="0"/>
            <a:ext cx="6099048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Decoration"/>
          <p:cNvSpPr/>
          <p:nvPr userDrawn="1"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2A3DF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5486400" cy="685800"/>
          </a:xfrm>
        </p:spPr>
        <p:txBody>
          <a:bodyPr/>
          <a:p>
            <a:r>
              <a:rPr lang="en-US"/>
              <a:t> </a:t>
            </a:r>
          </a:p>
        </p:txBody>
      </p:sp>
      <p:sp>
        <p:nvSpPr>
          <p:cNvPr id="0" name="Bullets"/>
          <p:cNvSpPr>
            <a:spLocks noGrp="1"/>
          </p:cNvSpPr>
          <p:nvPr>
            <p:ph type="body" idx="1"/>
          </p:nvPr>
        </p:nvSpPr>
        <p:spPr>
          <a:xfrm>
            <a:off x="685800" y="1200150"/>
            <a:ext cx="5486400" cy="5200650"/>
          </a:xfrm>
        </p:spPr>
        <p:txBody>
          <a:bodyPr/>
          <a:p>
            <a:r>
              <a:rPr lang="en-US"/>
              <a:t> </a:t>
            </a:r>
          </a:p>
        </p:txBody>
      </p:sp>
      <p:sp>
        <p:nvSpPr>
          <p:cNvPr id="0" name="Image"/>
          <p:cNvSpPr>
            <a:spLocks noGrp="1"/>
          </p:cNvSpPr>
          <p:nvPr>
            <p:ph type="pic" idx="2"/>
          </p:nvPr>
        </p:nvSpPr>
        <p:spPr>
          <a:xfrm>
            <a:off x="6400800" y="0"/>
            <a:ext cx="5791200" cy="6858000"/>
          </a:xfrm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Decoration"/>
          <p:cNvSpPr/>
          <p:nvPr userDrawn="1"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2A3DF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10820400" cy="685800"/>
          </a:xfrm>
        </p:spPr>
        <p:txBody>
          <a:bodyPr/>
          <a:p>
            <a:r>
              <a:rPr lang="en-US"/>
              <a:t> </a:t>
            </a:r>
          </a:p>
        </p:txBody>
      </p:sp>
      <p:sp>
        <p:nvSpPr>
          <p:cNvPr id="0" name="Bullets"/>
          <p:cNvSpPr>
            <a:spLocks noGrp="1"/>
          </p:cNvSpPr>
          <p:nvPr>
            <p:ph type="body" idx="1"/>
          </p:nvPr>
        </p:nvSpPr>
        <p:spPr>
          <a:xfrm>
            <a:off x="685800" y="1200150"/>
            <a:ext cx="10820400" cy="5200650"/>
          </a:xfrm>
        </p:spPr>
        <p:txBody>
          <a:bodyPr/>
          <a:p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losing">
    <p:bg>
      <p:bgPr>
        <a:solidFill>
          <a:srgbClr val="061F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itle"/>
          <p:cNvSpPr>
            <a:spLocks noGrp="1"/>
          </p:cNvSpPr>
          <p:nvPr>
            <p:ph type="title"/>
          </p:nvPr>
        </p:nvSpPr>
        <p:spPr>
          <a:xfrm>
            <a:off x="685800" y="2286000"/>
            <a:ext cx="10820400" cy="914400"/>
          </a:xfrm>
        </p:spPr>
        <p:txBody>
          <a:bodyPr/>
          <a:lstStyle>
            <a:lvl1pPr>
              <a:defRPr sz="36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0" name="Message"/>
          <p:cNvSpPr>
            <a:spLocks noGrp="1"/>
          </p:cNvSpPr>
          <p:nvPr>
            <p:ph type="body" idx="1"/>
          </p:nvPr>
        </p:nvSpPr>
        <p:spPr>
          <a:xfrm>
            <a:off x="685800" y="3352800"/>
            <a:ext cx="10820400" cy="160020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itle Placeholder"/>
          <p:cNvSpPr>
            <a:spLocks noGrp="1"/>
          </p:cNvSpPr>
          <p:nvPr>
            <p:ph type="title"/>
          </p:nvPr>
        </p:nvSpPr>
        <p:spPr>
          <a:xfrm>
            <a:off x="685800" y="274638"/>
            <a:ext cx="10820400" cy="1143000"/>
          </a:xfrm>
        </p:spPr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0" name="Text Placeholder"/>
          <p:cNvSpPr>
            <a:spLocks noGrp="1"/>
          </p:cNvSpPr>
          <p:nvPr>
            <p:ph type="body" idx="1"/>
          </p:nvPr>
        </p:nvSpPr>
        <p:spPr>
          <a:xfrm>
            <a:off x="685800" y="1600200"/>
            <a:ext cx="10820400" cy="4525963"/>
          </a:xfrm>
        </p:spPr>
        <p:txBody>
          <a:bodyPr/>
          <a:lstStyle/>
          <a:p>
            <a:r>
              <a:rPr lang="en-US"/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</a:defRPr>
    </a:lvl1pPr>
  </p:defaultTextStyle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A5F"/>
                </a:solidFill>
              </a:rPr>
              <a:t>CPAT-AI (Excel-AI): mitigation MVP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00150"/>
          <a:ext cx="11277600" cy="5200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265920"/>
              </a:tblGrid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Status and timeline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What it 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Cut-down CPAT in Excel, rebuilt with AI from legacy CPAT; every figure traceable to equation, parameter and source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Reference model for both platforms; feeds the WB-IMF CPAT process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Status (20 Oct)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v6.2 (20 Oct): mitigation, power and distribution built; legacy bugs fixed, not copied; MVP 70%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Next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Equations list, traceability, known-gaps note; Kacper holds the bug list while I travel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Timeline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MVP 23 Oct; power 2-13 Nov; remaining mitigation 16-27 Nov; final 4 Dec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Ask /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Ownership with the IMF/CPAT team; one Excel model, not two; data requests (GAINS, VAT)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46520"/>
            <a:ext cx="1127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707070"/>
                </a:solidFill>
              </a:rPr>
              <a:t>CDPM = the model formerly called SiSePuede. Sources: FY27 work plan v2.6; repos CPAT-AI, CPAT-CDPM, new-ai-tools; task tracker (20 Oct 2026)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deworks">
  <a:themeElements>
    <a:clrScheme name="Slideworks">
      <a:dk1>
        <a:srgbClr val="061F32"/>
      </a:dk1>
      <a:lt1>
        <a:srgbClr val="FFFFFF"/>
      </a:lt1>
      <a:dk2>
        <a:srgbClr val="1D4769"/>
      </a:dk2>
      <a:lt2>
        <a:srgbClr val="F2F2F2"/>
      </a:lt2>
      <a:accent1>
        <a:srgbClr val="22A3DF"/>
      </a:accent1>
      <a:accent2>
        <a:srgbClr val="3478AB"/>
      </a:accent2>
      <a:accent3>
        <a:srgbClr val="1D4769"/>
      </a:accent3>
      <a:accent4>
        <a:srgbClr val="061F32"/>
      </a:accent4>
      <a:accent5>
        <a:srgbClr val="2222F6"/>
      </a:accent5>
      <a:accent6>
        <a:srgbClr val="F8BC3B"/>
      </a:accent6>
      <a:hlink>
        <a:srgbClr val="3478AB"/>
      </a:hlink>
      <a:folHlink>
        <a:srgbClr val="8B78AB"/>
      </a:folHlink>
    </a:clrScheme>
    <a:fontScheme name="Slidework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ppt-toolkit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White Template</dc:title>
  <dc:creator>ppt-toolkit</dc:creator>
</cp:coreProperties>
</file>