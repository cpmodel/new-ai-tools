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9" r:id="rId1"/>
  </p:sldMasterIdLst>
  <p:sldIdLst>
    <p:sldId id="256" r:id="rId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11430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Subtitle"/>
          <p:cNvSpPr>
            <a:spLocks noGrp="1"/>
          </p:cNvSpPr>
          <p:nvPr>
            <p:ph type="subTitle" idx="1"/>
          </p:nvPr>
        </p:nvSpPr>
        <p:spPr>
          <a:xfrm>
            <a:off x="685800" y="3600450"/>
            <a:ext cx="10820400" cy="91440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rgbClr val="06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971800"/>
            <a:ext cx="10820400" cy="91440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alf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6092952" y="0"/>
            <a:ext cx="609904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5486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5486400" cy="520065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Image"/>
          <p:cNvSpPr>
            <a:spLocks noGrp="1"/>
          </p:cNvSpPr>
          <p:nvPr>
            <p:ph type="pic" idx="2"/>
          </p:nvPr>
        </p:nvSpPr>
        <p:spPr>
          <a:xfrm>
            <a:off x="6400800" y="0"/>
            <a:ext cx="5791200" cy="6858000"/>
          </a:xfrm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10820400" cy="520065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">
    <p:bg>
      <p:bgPr>
        <a:solidFill>
          <a:srgbClr val="06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914400"/>
          </a:xfrm>
        </p:spPr>
        <p:txBody>
          <a:bodyPr/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0" name="Message"/>
          <p:cNvSpPr>
            <a:spLocks noGrp="1"/>
          </p:cNvSpPr>
          <p:nvPr>
            <p:ph type="body" idx="1"/>
          </p:nvPr>
        </p:nvSpPr>
        <p:spPr>
          <a:xfrm>
            <a:off x="685800" y="3352800"/>
            <a:ext cx="10820400" cy="1600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 Placeholder"/>
          <p:cNvSpPr>
            <a:spLocks noGrp="1"/>
          </p:cNvSpPr>
          <p:nvPr>
            <p:ph type="title"/>
          </p:nvPr>
        </p:nvSpPr>
        <p:spPr>
          <a:xfrm>
            <a:off x="685800" y="274638"/>
            <a:ext cx="10820400" cy="1143000"/>
          </a:xfrm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0" name="Text Placeholder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10820400" cy="4525963"/>
          </a:xfrm>
        </p:spPr>
        <p:txBody>
          <a:bodyPr/>
          <a:lstStyle/>
          <a:p>
            <a:r>
              <a:rPr lang="en-US"/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</a:rPr>
              <a:t>Investment needs (NMIM)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00150"/>
          <a:ext cx="11277600" cy="520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265920"/>
              </a:tblGrid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Status and timeline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National mitigation investment model: 186 countries, 2024-2050, built to CPAT norms; who pays (public, utility, private)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Both: investment for pathways; budget need for the fiscal platform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Status (20 Oct)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v0.2 (20 Oct). 2030: about USD 5.1tn total, 1.7tn incremental; direct budget need ~14% (85% in low-income countries)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Financing and debt layer linked to MFMod; load cost-of-capital data; add a price response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Proposal stage: fits the pathways timeline (Jan) and the fiscal platform (Feb)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Ask /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The natural hook for the macro unit: investment -&gt; debt and fiscal space in MFMod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7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07070"/>
                </a:solidFill>
              </a:rPr>
              <a:t>CDPM = the model formerly called SiSePuede. Sources: FY27 work plan v2.6; repos CPAT-AI, CPAT-CDPM, new-ai-tools; task tracker (20 Oct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works">
  <a:themeElements>
    <a:clrScheme name="Slideworks">
      <a:dk1>
        <a:srgbClr val="061F32"/>
      </a:dk1>
      <a:lt1>
        <a:srgbClr val="FFFFFF"/>
      </a:lt1>
      <a:dk2>
        <a:srgbClr val="1D4769"/>
      </a:dk2>
      <a:lt2>
        <a:srgbClr val="F2F2F2"/>
      </a:lt2>
      <a:accent1>
        <a:srgbClr val="22A3DF"/>
      </a:accent1>
      <a:accent2>
        <a:srgbClr val="3478AB"/>
      </a:accent2>
      <a:accent3>
        <a:srgbClr val="1D4769"/>
      </a:accent3>
      <a:accent4>
        <a:srgbClr val="061F32"/>
      </a:accent4>
      <a:accent5>
        <a:srgbClr val="2222F6"/>
      </a:accent5>
      <a:accent6>
        <a:srgbClr val="F8BC3B"/>
      </a:accent6>
      <a:hlink>
        <a:srgbClr val="3478AB"/>
      </a:hlink>
      <a:folHlink>
        <a:srgbClr val="8B78AB"/>
      </a:folHlink>
    </a:clrScheme>
    <a:fontScheme name="Slidework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ppt-toolkit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White Template</dc:title>
  <dc:creator>ppt-toolkit</dc:creator>
</cp:coreProperties>
</file>