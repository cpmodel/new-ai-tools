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9" r:id="rId1"/>
  </p:sldMasterIdLst>
  <p:sldIdLst>
    <p:sldId id="256" r:id="rId2"/>
  </p:sldIdLst>
  <p:sldSz cx="12192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</a:defRPr>
    </a:lvl1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/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theme" Target="theme/theme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Decoration"/>
          <p:cNvSpPr/>
          <p:nvPr userDrawn="1"/>
        </p:nvSpPr>
        <p:spPr>
          <a:xfrm>
            <a:off x="0" y="0"/>
            <a:ext cx="12192000" cy="137160"/>
          </a:xfrm>
          <a:prstGeom prst="rect">
            <a:avLst/>
          </a:prstGeom>
          <a:solidFill>
            <a:srgbClr val="22A3DF"/>
          </a:solidFill>
          <a:ln>
            <a:noFill/>
          </a:ln>
        </p:spPr>
        <p:txBody>
          <a:bodyPr/>
          <a:lstStyle/>
          <a:p/>
        </p:txBody>
      </p:sp>
      <p:sp>
        <p:nvSpPr>
          <p:cNvPr id="0" name="Title"/>
          <p:cNvSpPr>
            <a:spLocks noGrp="1"/>
          </p:cNvSpPr>
          <p:nvPr>
            <p:ph type="title"/>
          </p:nvPr>
        </p:nvSpPr>
        <p:spPr>
          <a:xfrm>
            <a:off x="685800" y="2286000"/>
            <a:ext cx="10820400" cy="1143000"/>
          </a:xfrm>
        </p:spPr>
        <p:txBody>
          <a:bodyPr/>
          <a:p>
            <a:r>
              <a:rPr lang="en-US"/>
              <a:t> </a:t>
            </a:r>
          </a:p>
        </p:txBody>
      </p:sp>
      <p:sp>
        <p:nvSpPr>
          <p:cNvPr id="0" name="Subtitle"/>
          <p:cNvSpPr>
            <a:spLocks noGrp="1"/>
          </p:cNvSpPr>
          <p:nvPr>
            <p:ph type="subTitle" idx="1"/>
          </p:nvPr>
        </p:nvSpPr>
        <p:spPr>
          <a:xfrm>
            <a:off x="685800" y="3600450"/>
            <a:ext cx="10820400" cy="914400"/>
          </a:xfrm>
        </p:spPr>
        <p:txBody>
          <a:bodyPr/>
          <a:p>
            <a:r>
              <a:rPr lang="en-US"/>
              <a:t> 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Divider">
    <p:bg>
      <p:bgPr>
        <a:solidFill>
          <a:srgbClr val="061F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Title"/>
          <p:cNvSpPr>
            <a:spLocks noGrp="1"/>
          </p:cNvSpPr>
          <p:nvPr>
            <p:ph type="title"/>
          </p:nvPr>
        </p:nvSpPr>
        <p:spPr>
          <a:xfrm>
            <a:off x="685800" y="2971800"/>
            <a:ext cx="10820400" cy="914400"/>
          </a:xfrm>
        </p:spPr>
        <p:txBody>
          <a:bodyPr/>
          <a:lstStyle>
            <a:lvl1pPr>
              <a:defRPr sz="4000" b="1">
                <a:solidFill>
                  <a:srgbClr val="FFFFFF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Half Half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Decoration"/>
          <p:cNvSpPr/>
          <p:nvPr userDrawn="1"/>
        </p:nvSpPr>
        <p:spPr>
          <a:xfrm>
            <a:off x="6092952" y="0"/>
            <a:ext cx="6099048" cy="685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/>
          <a:lstStyle/>
          <a:p/>
        </p:txBody>
      </p:sp>
      <p:sp>
        <p:nvSpPr>
          <p:cNvPr id="0" name="Decoration"/>
          <p:cNvSpPr/>
          <p:nvPr userDrawn="1"/>
        </p:nvSpPr>
        <p:spPr>
          <a:xfrm>
            <a:off x="0" y="0"/>
            <a:ext cx="12192000" cy="137160"/>
          </a:xfrm>
          <a:prstGeom prst="rect">
            <a:avLst/>
          </a:prstGeom>
          <a:solidFill>
            <a:srgbClr val="22A3DF"/>
          </a:solidFill>
          <a:ln>
            <a:noFill/>
          </a:ln>
        </p:spPr>
        <p:txBody>
          <a:bodyPr/>
          <a:lstStyle/>
          <a:p/>
        </p:txBody>
      </p:sp>
      <p:sp>
        <p:nvSpPr>
          <p:cNvPr id="0" name="Title"/>
          <p:cNvSpPr>
            <a:spLocks noGrp="1"/>
          </p:cNvSpPr>
          <p:nvPr>
            <p:ph type="title"/>
          </p:nvPr>
        </p:nvSpPr>
        <p:spPr>
          <a:xfrm>
            <a:off x="685800" y="457200"/>
            <a:ext cx="5486400" cy="685800"/>
          </a:xfrm>
        </p:spPr>
        <p:txBody>
          <a:bodyPr/>
          <a:p>
            <a:r>
              <a:rPr lang="en-US"/>
              <a:t> </a:t>
            </a:r>
          </a:p>
        </p:txBody>
      </p:sp>
      <p:sp>
        <p:nvSpPr>
          <p:cNvPr id="0" name="Bullets"/>
          <p:cNvSpPr>
            <a:spLocks noGrp="1"/>
          </p:cNvSpPr>
          <p:nvPr>
            <p:ph type="body" idx="1"/>
          </p:nvPr>
        </p:nvSpPr>
        <p:spPr>
          <a:xfrm>
            <a:off x="685800" y="1200150"/>
            <a:ext cx="5486400" cy="5200650"/>
          </a:xfrm>
        </p:spPr>
        <p:txBody>
          <a:bodyPr/>
          <a:p>
            <a:r>
              <a:rPr lang="en-US"/>
              <a:t> </a:t>
            </a:r>
          </a:p>
        </p:txBody>
      </p:sp>
      <p:sp>
        <p:nvSpPr>
          <p:cNvPr id="0" name="Image"/>
          <p:cNvSpPr>
            <a:spLocks noGrp="1"/>
          </p:cNvSpPr>
          <p:nvPr>
            <p:ph type="pic" idx="2"/>
          </p:nvPr>
        </p:nvSpPr>
        <p:spPr>
          <a:xfrm>
            <a:off x="6400800" y="0"/>
            <a:ext cx="5791200" cy="6858000"/>
          </a:xfrm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Decoration"/>
          <p:cNvSpPr/>
          <p:nvPr userDrawn="1"/>
        </p:nvSpPr>
        <p:spPr>
          <a:xfrm>
            <a:off x="0" y="0"/>
            <a:ext cx="12192000" cy="137160"/>
          </a:xfrm>
          <a:prstGeom prst="rect">
            <a:avLst/>
          </a:prstGeom>
          <a:solidFill>
            <a:srgbClr val="22A3DF"/>
          </a:solidFill>
          <a:ln>
            <a:noFill/>
          </a:ln>
        </p:spPr>
        <p:txBody>
          <a:bodyPr/>
          <a:lstStyle/>
          <a:p/>
        </p:txBody>
      </p:sp>
      <p:sp>
        <p:nvSpPr>
          <p:cNvPr id="0" name="Title"/>
          <p:cNvSpPr>
            <a:spLocks noGrp="1"/>
          </p:cNvSpPr>
          <p:nvPr>
            <p:ph type="title"/>
          </p:nvPr>
        </p:nvSpPr>
        <p:spPr>
          <a:xfrm>
            <a:off x="685800" y="457200"/>
            <a:ext cx="10820400" cy="685800"/>
          </a:xfrm>
        </p:spPr>
        <p:txBody>
          <a:bodyPr/>
          <a:p>
            <a:r>
              <a:rPr lang="en-US"/>
              <a:t> </a:t>
            </a:r>
          </a:p>
        </p:txBody>
      </p:sp>
      <p:sp>
        <p:nvSpPr>
          <p:cNvPr id="0" name="Bullets"/>
          <p:cNvSpPr>
            <a:spLocks noGrp="1"/>
          </p:cNvSpPr>
          <p:nvPr>
            <p:ph type="body" idx="1"/>
          </p:nvPr>
        </p:nvSpPr>
        <p:spPr>
          <a:xfrm>
            <a:off x="685800" y="1200150"/>
            <a:ext cx="10820400" cy="5200650"/>
          </a:xfrm>
        </p:spPr>
        <p:txBody>
          <a:bodyPr/>
          <a:p>
            <a:r>
              <a:rPr lang="en-US"/>
              <a:t> 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losing">
    <p:bg>
      <p:bgPr>
        <a:solidFill>
          <a:srgbClr val="061F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Title"/>
          <p:cNvSpPr>
            <a:spLocks noGrp="1"/>
          </p:cNvSpPr>
          <p:nvPr>
            <p:ph type="title"/>
          </p:nvPr>
        </p:nvSpPr>
        <p:spPr>
          <a:xfrm>
            <a:off x="685800" y="2286000"/>
            <a:ext cx="10820400" cy="914400"/>
          </a:xfrm>
        </p:spPr>
        <p:txBody>
          <a:bodyPr/>
          <a:lstStyle>
            <a:lvl1pPr>
              <a:defRPr sz="3600" b="1">
                <a:solidFill>
                  <a:srgbClr val="FFFFFF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sp>
        <p:nvSpPr>
          <p:cNvPr id="0" name="Message"/>
          <p:cNvSpPr>
            <a:spLocks noGrp="1"/>
          </p:cNvSpPr>
          <p:nvPr>
            <p:ph type="body" idx="1"/>
          </p:nvPr>
        </p:nvSpPr>
        <p:spPr>
          <a:xfrm>
            <a:off x="685800" y="3352800"/>
            <a:ext cx="10820400" cy="1600200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Title Placeholder"/>
          <p:cNvSpPr>
            <a:spLocks noGrp="1"/>
          </p:cNvSpPr>
          <p:nvPr>
            <p:ph type="title"/>
          </p:nvPr>
        </p:nvSpPr>
        <p:spPr>
          <a:xfrm>
            <a:off x="685800" y="274638"/>
            <a:ext cx="10820400" cy="1143000"/>
          </a:xfrm>
        </p:spPr>
        <p:txBody>
          <a:bodyPr/>
          <a:lstStyle/>
          <a:p>
            <a:r>
              <a:rPr lang="en-US"/>
              <a:t> </a:t>
            </a:r>
          </a:p>
        </p:txBody>
      </p:sp>
      <p:sp>
        <p:nvSpPr>
          <p:cNvPr id="0" name="Text Placeholder"/>
          <p:cNvSpPr>
            <a:spLocks noGrp="1"/>
          </p:cNvSpPr>
          <p:nvPr>
            <p:ph type="body" idx="1"/>
          </p:nvPr>
        </p:nvSpPr>
        <p:spPr>
          <a:xfrm>
            <a:off x="685800" y="1600200"/>
            <a:ext cx="10820400" cy="4525963"/>
          </a:xfrm>
        </p:spPr>
        <p:txBody>
          <a:bodyPr/>
          <a:lstStyle/>
          <a:p>
            <a:r>
              <a:rPr lang="en-US"/>
              <a:t> 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</a:defRPr>
    </a:lvl1pPr>
  </p:defaultTextStyle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600" b="1">
                <a:solidFill>
                  <a:srgbClr val="1F3A5F"/>
                </a:solidFill>
              </a:rPr>
              <a:t>Coded CPAT (Python)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200150"/>
          <a:ext cx="11277600" cy="52006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9265920"/>
              </a:tblGrid>
              <a:tr h="742950">
                <a:tc>
                  <a:txBody>
                    <a:bodyPr/>
                    <a:lstStyle/>
                    <a:p>
                      <a:pPr>
                        <a:defRPr sz="14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rPr sz="1400"/>
                        <a:t>Status and timeline</a:t>
                      </a:r>
                    </a:p>
                  </a:txBody>
                  <a:tcPr/>
                </a:tc>
              </a:tr>
              <a:tr h="74295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rPr sz="1400" b="1"/>
                        <a:t>What it 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rPr sz="1400"/>
                        <a:t>Python reimplementation of CPAT (mitigation + distribution), same codes as the Excel; Shiny app on top</a:t>
                      </a:r>
                    </a:p>
                  </a:txBody>
                  <a:tcPr/>
                </a:tc>
              </a:tr>
              <a:tr h="74295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rPr sz="1400" b="1"/>
                        <a:t>Platform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rPr sz="1400"/>
                        <a:t>The core of BOTH platforms: climate pathways and fiscal</a:t>
                      </a:r>
                    </a:p>
                  </a:txBody>
                  <a:tcPr/>
                </a:tc>
              </a:tr>
              <a:tr h="74295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rPr sz="1400" b="1"/>
                        <a:t>Status (20 Oct)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rPr sz="1400"/>
                        <a:t>Runs end to end; 57 tests; exports back to the legacy layout. Final Python 10%</a:t>
                      </a:r>
                    </a:p>
                  </a:txBody>
                  <a:tcPr/>
                </a:tc>
              </a:tr>
              <a:tr h="74295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rPr sz="1400" b="1"/>
                        <a:t>Next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rPr sz="1400"/>
                        <a:t>Port the validated Excel MVP logic; Python-vs-Excel comparison on the same inputs</a:t>
                      </a:r>
                    </a:p>
                  </a:txBody>
                  <a:tcPr/>
                </a:tc>
              </a:tr>
              <a:tr h="74295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rPr sz="1400" b="1"/>
                        <a:t>Timeline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rPr sz="1400"/>
                        <a:t>Enhanced version to Edmundo early Nov; final Python 11 Dec; Shiny app 5 Feb</a:t>
                      </a:r>
                    </a:p>
                  </a:txBody>
                  <a:tcPr/>
                </a:tc>
              </a:tr>
              <a:tr h="74295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rPr sz="1400" b="1"/>
                        <a:t>Ask / risk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rPr sz="1400"/>
                        <a:t>Open fixes: distribution revenue units, national totals, full electricity price build-up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6446520"/>
            <a:ext cx="1127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i="1">
                <a:solidFill>
                  <a:srgbClr val="707070"/>
                </a:solidFill>
              </a:rPr>
              <a:t>CDPM = the model formerly called SiSePuede. Sources: FY27 work plan v2.6; repos CPAT-AI, CPAT-CDPM, new-ai-tools; task tracker (20 Oct 2026)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lideworks">
  <a:themeElements>
    <a:clrScheme name="Slideworks">
      <a:dk1>
        <a:srgbClr val="061F32"/>
      </a:dk1>
      <a:lt1>
        <a:srgbClr val="FFFFFF"/>
      </a:lt1>
      <a:dk2>
        <a:srgbClr val="1D4769"/>
      </a:dk2>
      <a:lt2>
        <a:srgbClr val="F2F2F2"/>
      </a:lt2>
      <a:accent1>
        <a:srgbClr val="22A3DF"/>
      </a:accent1>
      <a:accent2>
        <a:srgbClr val="3478AB"/>
      </a:accent2>
      <a:accent3>
        <a:srgbClr val="1D4769"/>
      </a:accent3>
      <a:accent4>
        <a:srgbClr val="061F32"/>
      </a:accent4>
      <a:accent5>
        <a:srgbClr val="2222F6"/>
      </a:accent5>
      <a:accent6>
        <a:srgbClr val="F8BC3B"/>
      </a:accent6>
      <a:hlink>
        <a:srgbClr val="3478AB"/>
      </a:hlink>
      <a:folHlink>
        <a:srgbClr val="8B78AB"/>
      </a:folHlink>
    </a:clrScheme>
    <a:fontScheme name="Slideworks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ppt-toolkit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White Template</dc:title>
  <dc:creator>ppt-toolkit</dc:creator>
</cp:coreProperties>
</file>