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73"/>
  </p:notesMasterIdLst>
  <p:sldIdLst>
    <p:sldId id="256" r:id="rId2"/>
    <p:sldId id="321" r:id="rId3"/>
    <p:sldId id="322" r:id="rId4"/>
    <p:sldId id="323" r:id="rId5"/>
    <p:sldId id="324" r:id="rId6"/>
    <p:sldId id="325" r:id="rId7"/>
    <p:sldId id="32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82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863D3-B708-40CF-A151-511E1EA54F5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E9158-26A9-4A63-8E13-03075D12A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0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Dates to agree: not in the FY27 plan, which is full to 20 March. Something would have to be dropped or the plan extended. Uganda is named in the Fiscal-LTS master doc as the pilot for the PFR expenditure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Version history: v5.0 18 Oct to v6.2 20 Oct (power P1-P5, NDC comparison, distribution as legacy, producer subsidies, methane fee). Details in appendix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Week-of dates. Christmas leave 23 Dec-1 Jan. PFR bar is a proposal: dates to agree. Buffer about 3 days before 4 Dec.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4BE86-C283-ADDF-0988-6CBC336F0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8FA5F-A09E-175C-1A36-23C9E66DB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4B5E9-0CF7-318A-5A84-7A38FFB4B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D4C8F-9180-982E-B87A-125CA7E9E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50AA4-B7E0-3A29-16B0-32923BDC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9327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D6EC-A6C8-B696-B93D-56099C1E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6D7A9-4C9C-21FB-474C-A6C8A0EDE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BB890-5E6C-9CDE-C1D7-4BF7F7700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2BC1F-7631-ADA5-F1DD-1145ACD99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8CCED-0767-EDCF-97F5-C76C3F87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51585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C2B36-05F2-0272-57F5-B8914272B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FF2BF-A5C8-94ED-2C65-AB0D25C1F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076BE-8B37-E1A8-1863-7D21DC04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BA368-33C4-38DA-77C1-A7000B0D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49C7A-0C96-3452-A26E-47B8F1FE0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2205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BB461-EF65-936B-2212-EFDC5D2A5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CD54-E84F-6FC5-3583-3A212D289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F4933-9E4B-C80A-FE7B-522C937DC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844AF-AE29-0EF1-405D-E9B37DC8B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82847-650A-1511-76C0-85D2AB77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17ECC-A7F7-088F-5704-7B3A4A6E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6698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4F3DA-2974-48FC-7A77-E6D6C511B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FA44A-3D4C-5ED9-4D1F-DF029D019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773E0-83F1-551A-0145-35C309314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67DD92-7712-889A-D706-6A4BDF392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633A4-17B4-1231-1DC3-D9F86EFC4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F0A143-7561-C2F1-AE77-FE0851487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9C1D99-D611-5A2F-647E-DD1E1C14F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801374-6E63-D980-AE52-B814BEAF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0696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2714D-FF2F-120D-FCFA-1FB749EEF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C9018-C189-D85E-CE03-30E2CC995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B02C-4018-889E-6A01-6EAC0543D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39E2B-E189-91F0-924E-1C22B0BEC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23409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85E2E4-4353-C84C-0F32-3C8F2DB5C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19A0A9-85E9-AAB6-EEE6-5D747BC63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10AEF-332D-EEFA-685B-2C9A019D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5255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8B14E-1EC6-4E8C-49E3-FEB26D203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2E201-3E69-2648-0245-1E76F4681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C0362-4762-CD5D-45AC-A56D5958B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58267-7BA7-6E70-42F5-4F45A72C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36256-BF40-E15D-C9E2-527E01EDC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813D9-9A1F-D89F-832B-37FA28C8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8394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491B4-2B0E-FE37-FD03-D33AF8486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F046E-2773-33DE-4CF1-77954B498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7C1EF-02D7-F48D-1ED7-6EEBE0DA1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A37F9-7B01-BAC4-E417-4DD80FDF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8063A-A843-1309-33B8-FEAB33B85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DC5D9-0744-21EE-BF3F-F9FBADE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36433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ED4AE-CD11-8FE7-24D0-B39746A2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464ED-5BD0-E9DC-7805-10AC33691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39B76-A403-8FFC-89D5-25F9CDBD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32F2-100E-AF5D-29DA-454913AC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E2DF3-627A-E8AF-5C55-65AE89C04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4522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41AA9F-792C-A544-6B57-C967E57A1C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D1C6A-E10E-8CB3-05E5-471C7D8DB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AC9F3-36F1-3C8E-3008-0E4CD64B7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44E6E-DCF0-179D-64A1-ADDBF53A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750FD-BAA4-0716-3779-E6291E55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87977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618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56C103-4386-26E3-F316-D3A33F7A5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D9BD2-CA19-E70F-FBFF-5B24513AA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C0D48-87C3-8BE1-C311-5751EDB5BA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10453-CF34-1F75-00D0-10516658A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43131-3931-8421-524A-9AF973E75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0E1D8-3B87-B263-AB0C-C65A74A9717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10925" y="6642100"/>
            <a:ext cx="942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63701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1650000"/>
            <a:ext cx="845312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E3A36B"/>
                </a:solidFill>
                <a:latin typeface="Calibri"/>
              </a:rPr>
              <a:t>FOR DISCUSSION · 20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000000"/>
            <a:ext cx="79248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4000" b="1" i="0" dirty="0">
                <a:solidFill>
                  <a:srgbClr val="FFFFFF"/>
                </a:solidFill>
                <a:latin typeface="Cambria"/>
              </a:rPr>
              <a:t>Macro-Fiscal AI Brainstorm</a:t>
            </a:r>
            <a:endParaRPr sz="40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2800" y="5958000"/>
            <a:ext cx="10566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>
                <a:solidFill>
                  <a:srgbClr val="9AA8BC"/>
                </a:solidFill>
                <a:latin typeface="Calibri"/>
              </a:rPr>
              <a:t>Stephen Stretton · World Bank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1 ·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One Python platform for fiscal policy, built around the new CPAT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Stephen Stretton · meeting with Sebastian · 20 Oct 2026 ·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750000"/>
            <a:ext cx="2900000" cy="35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2800" y="1870000"/>
            <a:ext cx="258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E3A36B"/>
                </a:solidFill>
                <a:latin typeface="Calibri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800" y="2100000"/>
            <a:ext cx="2580000" cy="3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9D3E0"/>
                </a:solidFill>
                <a:latin typeface="Calibri"/>
              </a:rPr>
              <a:t>One code base for climate-related fiscal policy, shared with the macro unit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9D3E0"/>
                </a:solidFill>
                <a:latin typeface="Calibri"/>
              </a:rPr>
              <a:t>A PFR process: energy costs, fiscal risks, spending efficiency, tax changes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9D3E0"/>
                </a:solidFill>
                <a:latin typeface="Calibri"/>
              </a:rPr>
              <a:t>One country run end to end: data in, results back on one page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9D3E0"/>
                </a:solidFill>
                <a:latin typeface="Calibri"/>
              </a:rPr>
              <a:t>Replaces one-off spreadsheets; every number traceable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9D3E0"/>
                </a:solidFill>
                <a:latin typeface="Calibri"/>
              </a:rPr>
              <a:t>Lite versions now; MFMod and full IMF tools as cross-checks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62800" y="1750000"/>
            <a:ext cx="2425466" cy="16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62800" y="1750000"/>
            <a:ext cx="2425466" cy="45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02800" y="1860000"/>
            <a:ext cx="2145466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1" i="0">
                <a:solidFill>
                  <a:srgbClr val="14213D"/>
                </a:solidFill>
                <a:latin typeface="Calibri"/>
              </a:rPr>
              <a:t>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2800" y="2040000"/>
            <a:ext cx="21454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Coded CPAT (new CPAT)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2800" y="2350000"/>
            <a:ext cx="2145466" cy="7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Prices, revenue, emissions, households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Excel-AI v6.2 is the checked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2800" y="3150000"/>
            <a:ext cx="2145466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Python final 11 Dec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8266" y="1750000"/>
            <a:ext cx="2425466" cy="16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8266" y="1750000"/>
            <a:ext cx="2425466" cy="45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48266" y="1860000"/>
            <a:ext cx="2145466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1" i="0">
                <a:solidFill>
                  <a:srgbClr val="1F5A96"/>
                </a:solidFill>
                <a:latin typeface="Calibri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8266" y="2040000"/>
            <a:ext cx="21454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Tax &amp; Macro-Fiscal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8266" y="2350000"/>
            <a:ext cx="2145466" cy="7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64 indicators, 11 blocks, 217 countries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Now with macro-model inputs and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8266" y="3150000"/>
            <a:ext cx="2145466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Built; handed to Dirk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3732" y="1750000"/>
            <a:ext cx="2425466" cy="16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53732" y="1750000"/>
            <a:ext cx="2425466" cy="45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3732" y="1860000"/>
            <a:ext cx="2145466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1" i="0">
                <a:solidFill>
                  <a:srgbClr val="3D7A73"/>
                </a:solidFill>
                <a:latin typeface="Calibri"/>
              </a:rPr>
              <a:t>NEEDS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3732" y="2040000"/>
            <a:ext cx="21454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Investment needs + CDPM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3732" y="2350000"/>
            <a:ext cx="2145466" cy="7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NMIM: budget need path 2025-50, who pays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CDPM pathways (formerly SiSePuede)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3732" y="3150000"/>
            <a:ext cx="2145466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NMIM v0.2; CDPM Jan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62800" y="3560000"/>
            <a:ext cx="2425466" cy="16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62800" y="3560000"/>
            <a:ext cx="2425466" cy="45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02800" y="3670000"/>
            <a:ext cx="2145466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1" i="0">
                <a:solidFill>
                  <a:srgbClr val="A8521A"/>
                </a:solidFill>
                <a:latin typeface="Calibri"/>
              </a:rPr>
              <a:t>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2800" y="3850000"/>
            <a:ext cx="21454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Pricing and tax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2800" y="4160000"/>
            <a:ext cx="2145466" cy="7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Price feasibility (F1-F3): tax vs feebate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Excise, CBAM, crediting / FFI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2800" y="4960000"/>
            <a:ext cx="2145466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v0.1 to v3.0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8266" y="3560000"/>
            <a:ext cx="2425466" cy="16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8266" y="3560000"/>
            <a:ext cx="2425466" cy="45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48266" y="3670000"/>
            <a:ext cx="2145466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1" i="0">
                <a:solidFill>
                  <a:srgbClr val="A8521A"/>
                </a:solidFill>
                <a:latin typeface="Calibri"/>
              </a:rPr>
              <a:t>MACRO AND DEBT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8266" y="3850000"/>
            <a:ext cx="21454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GIMF / DIGNAD / DIGNAR-lite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8266" y="4160000"/>
            <a:ext cx="2145466" cy="7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Chosen by country type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LIC-DSF-lite debt verdict; MFMod option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8266" y="4960000"/>
            <a:ext cx="2145466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v0.1, 186 countries run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53732" y="3560000"/>
            <a:ext cx="2425466" cy="16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953732" y="3560000"/>
            <a:ext cx="2425466" cy="45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3732" y="3670000"/>
            <a:ext cx="2145466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1" i="0">
                <a:solidFill>
                  <a:srgbClr val="3D7A73"/>
                </a:solidFill>
                <a:latin typeface="Calibri"/>
              </a:rPr>
              <a:t>TECHNOLOGY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3732" y="3850000"/>
            <a:ext cx="21454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FTT national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3732" y="4160000"/>
            <a:ext cx="2145466" cy="7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Technology diffusion on CPAT's countries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FTT + MFMod on one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3732" y="4960000"/>
            <a:ext cx="2145466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27 Nov; 12 Feb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2800" y="5420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2800" y="5420000"/>
            <a:ext cx="101664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most components exist; the platform is one repo, one guide, one calibration and one country chain joining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2 · THE UPGRADE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 dirty="0">
                <a:solidFill>
                  <a:srgbClr val="14213D"/>
                </a:solidFill>
                <a:latin typeface="Cambria"/>
              </a:rPr>
              <a:t>Macro-fiscal block: </a:t>
            </a:r>
            <a:r>
              <a:rPr lang="en-US" sz="2600" b="1" i="0">
                <a:solidFill>
                  <a:srgbClr val="14213D"/>
                </a:solidFill>
                <a:latin typeface="Cambria"/>
              </a:rPr>
              <a:t>ai prototype</a:t>
            </a:r>
            <a:r>
              <a:rPr sz="2600" b="1" i="0">
                <a:solidFill>
                  <a:srgbClr val="14213D"/>
                </a:solidFill>
                <a:latin typeface="Cambria"/>
              </a:rPr>
              <a:t> </a:t>
            </a:r>
            <a:r>
              <a:rPr sz="2600" b="1" i="0" dirty="0">
                <a:solidFill>
                  <a:srgbClr val="14213D"/>
                </a:solidFill>
                <a:latin typeface="Cambria"/>
              </a:rPr>
              <a:t>this month, an upgrade to the new CPAT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CDPM = the model formerly called SiSePuede. · Stephen Stretton · meeting with Sebastian · 20 Oct 2026 ·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700000"/>
            <a:ext cx="1486066" cy="78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800" y="1820000"/>
            <a:ext cx="12460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800" y="2120000"/>
            <a:ext cx="12460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3F4A5A"/>
                </a:solidFill>
                <a:latin typeface="Calibri"/>
              </a:rPr>
              <a:t>Data 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8866" y="209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28866" y="1700000"/>
            <a:ext cx="1486066" cy="78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8866" y="1820000"/>
            <a:ext cx="12460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Needs (NMIM)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8866" y="2120000"/>
            <a:ext cx="12460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3F4A5A"/>
                </a:solidFill>
                <a:latin typeface="Calibri"/>
              </a:rPr>
              <a:t>Budget need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54932" y="209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444932" y="1700000"/>
            <a:ext cx="1486066" cy="78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4932" y="1820000"/>
            <a:ext cx="1246066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Price 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4932" y="2370000"/>
            <a:ext cx="1246066" cy="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3F4A5A"/>
                </a:solidFill>
                <a:latin typeface="Calibri"/>
              </a:rPr>
              <a:t>Pricing revenue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70998" y="209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60998" y="1700000"/>
            <a:ext cx="1486066" cy="78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0998" y="1820000"/>
            <a:ext cx="1246066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GIMF / DIGNAD / DIGNAR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0998" y="2370000"/>
            <a:ext cx="1246066" cy="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3F4A5A"/>
                </a:solidFill>
                <a:latin typeface="Calibri"/>
              </a:rPr>
              <a:t>GDP, fiscal path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87064" y="209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077064" y="1700000"/>
            <a:ext cx="1486066" cy="78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7064" y="1820000"/>
            <a:ext cx="12460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LIC-DSF-lite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7064" y="2120000"/>
            <a:ext cx="12460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3F4A5A"/>
                </a:solidFill>
                <a:latin typeface="Calibri"/>
              </a:rPr>
              <a:t>Debt verdict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03130" y="209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893130" y="1700000"/>
            <a:ext cx="1486066" cy="78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13130" y="1820000"/>
            <a:ext cx="12460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3130" y="2120000"/>
            <a:ext cx="12460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C9D3E0"/>
                </a:solidFill>
                <a:latin typeface="Calibri"/>
              </a:rPr>
              <a:t>Results back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12800" y="2650000"/>
          <a:ext cx="10566400" cy="233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7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9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Piece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Status (20 Oct)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Upgrade to the new CPAT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13D"/>
                          </a:solidFill>
                          <a:latin typeface="Calibri"/>
                        </a:rPr>
                        <a:t>GIMF-lite / DIGNAD-lite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v0.1; one shared calibration from the dashboard; routed by country type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Replaces CPAT's fixed fiscal multipliers with a model of GDP, prices and fiscal path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13D"/>
                          </a:solidFill>
                          <a:latin typeface="Calibri"/>
                        </a:rPr>
                        <a:t>DIGNAR-lite (resource-rich)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Built; fossil rents fall 80% by 2050 as the world decarbonises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New: stranded fossil revenue as a fiscal risk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13D"/>
                          </a:solidFill>
                          <a:latin typeface="Calibri"/>
                        </a:rPr>
                        <a:t>Debt test (LIC-DSF-lite)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Built; 5 of 66 LIC/LMIC ratings worsen with the programme; coefficients to check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Replaces the planned debt equation (investment approach V2)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13D"/>
                          </a:solidFill>
                          <a:latin typeface="Calibri"/>
                        </a:rPr>
                        <a:t>Public spending efficiency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PEFA/PIMA-mapped efficiency in the calibration; spending split from capital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Investment approach V3; next: PIMA scores, absorptive capacity, execution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13D"/>
                          </a:solidFill>
                          <a:latin typeface="Calibri"/>
                        </a:rPr>
                        <a:t>CDPM pathways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Edmundo on track; coded CPAT to CDPM in Dec; pilots Jan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Physical pathways and costs feeding the needs step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13D"/>
                          </a:solidFill>
                          <a:latin typeface="Calibri"/>
                        </a:rPr>
                        <a:t>Integrated run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186 countries: 135 GIMF, 35 DIGNAD, 16 DIGNAR; 184 solve, 2 not financeable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F4A5A"/>
                          </a:solidFill>
                          <a:latin typeface="Calibri"/>
                        </a:rPr>
                        <a:t>One country chain; results block in the dashboard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812800" y="5150000"/>
            <a:ext cx="105664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B6573"/>
                </a:solidFill>
                <a:latin typeface="Calibri"/>
              </a:rPr>
              <a:t>Caveats: calibrations illustrative; pricing revenue power-only; CPAT not yet in the chain (next: feed CPAT prices and revenue to the pricing step); not a substitute for a full DSA or MFMod.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3 · CORE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CPAT in Excel-AI and Python: ahead on build; Python is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Stephen Stretton · meeting with Sebastian · 20 Oct 2026 ·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700000"/>
            <a:ext cx="2506600" cy="1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700000"/>
            <a:ext cx="50000" cy="10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2800" y="18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4213D"/>
                </a:solidFill>
                <a:latin typeface="Cambria"/>
              </a:rPr>
              <a:t>v6.2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340000"/>
            <a:ext cx="2206600" cy="3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Excel-AI MVP, 20 Oct: mitigation, power, distribution, GDP, NDC; 56 tabs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9400" y="1700000"/>
            <a:ext cx="2506600" cy="1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99400" y="1700000"/>
            <a:ext cx="50000" cy="10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9400" y="18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9400" y="2340000"/>
            <a:ext cx="2206600" cy="3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CPAT bugs fixed, none copied; fix plans for the CPAT 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6000" y="1700000"/>
            <a:ext cx="2506600" cy="1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6000" y="1700000"/>
            <a:ext cx="50000" cy="10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6000" y="18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0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6000" y="2340000"/>
            <a:ext cx="2206600" cy="3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quick check; 12,992 output codes stable; every figure traceable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72600" y="1700000"/>
            <a:ext cx="2506600" cy="1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72600" y="1700000"/>
            <a:ext cx="50000" cy="10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2600" y="18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57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600" y="2340000"/>
            <a:ext cx="2206600" cy="3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coded CPAT runs end to end; Shiny app has six sections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2900000"/>
            <a:ext cx="5193200" cy="2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2800" y="2900000"/>
            <a:ext cx="5193200" cy="45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2800" y="3010000"/>
            <a:ext cx="49132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1" i="0">
                <a:solidFill>
                  <a:srgbClr val="14213D"/>
                </a:solidFill>
                <a:latin typeface="Calibri"/>
              </a:rPr>
              <a:t>EXCEL-AI-CPAT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0" y="3190000"/>
            <a:ext cx="491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Status and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0" y="3500000"/>
            <a:ext cx="4913200" cy="1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Power and distribution built ahead of plan (Oct, not Nov-Dec)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Usable in 15 minutes: open, change a policy, run scenarios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Next: Excel 365 review; data requests; send fix plans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Final 4 Dec (50%); MVP due 23 Oct (70%)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0" y="4860000"/>
            <a:ext cx="4913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Milestones 1a_m1, 1a_m2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6000" y="2900000"/>
            <a:ext cx="5193200" cy="2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86000" y="2900000"/>
            <a:ext cx="5193200" cy="45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6000" y="3010000"/>
            <a:ext cx="49132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1" i="0">
                <a:solidFill>
                  <a:srgbClr val="1F5A96"/>
                </a:solidFill>
                <a:latin typeface="Calibri"/>
              </a:rPr>
              <a:t>CODED CPAT (PYTHON)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6000" y="3190000"/>
            <a:ext cx="491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Status and next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6000" y="3500000"/>
            <a:ext cx="4913200" cy="1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About 20,000 lines; mitigation and distribution; legacy export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Port the validated Excel logic; fix revenue units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Feeds CDPM pathways and the fiscal platform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Final 11 Dec (10%); Shiny app 5 Feb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6000" y="4860000"/>
            <a:ext cx="4913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Milestones 1b_m1, 1c_m1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4 · OTHER PIECES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Everything else, in one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Stephen Stretton · meeting with Sebastian · 20 Oct 2026 ·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700000"/>
          <a:ext cx="105664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6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Piece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Next / date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Ask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Excise Diagnostic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SLE, UGA, LBR; handed to Dirk 16 Oct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Support 8-12 Mar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Owner; extend or fold into platform?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Tax &amp; Macro-Fiscal Dashboard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Handed to Dirk; now 64 indicators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Support 8-12 Mar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CBAM policy tool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Egypt v3.0; global MVP v1.0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No milestone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CBAM in CPAT: priority?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Crediting, GHG accounting, FFI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15 Feb-5 Mar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Charge code; requirements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FTT national (Zoe); FTT + MFMod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Zoe delivering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27 Nov; 12 Feb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MFMod in or out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Pathways with CDPM (Edmundo)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Meeting went well 19 Oct; repo created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Pilots 11-15 Jan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Agree cost split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Adaptation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DIGNAD-lite has adaptation capital and disasters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Not in plan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Now or FY28?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Energy GP cross-support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Not funded (16 days)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Funding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2800" y="5400000"/>
            <a:ext cx="105664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B6573"/>
                </a:solidFill>
                <a:latin typeface="Calibri"/>
              </a:rPr>
              <a:t>CDPM = the model formerly called SiSePuede. Full detail: Sebastian-Platforms-v2.pptx (appendix).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5 ·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Conclusions and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Stephen Stretton · meeting with Sebastian · 20 Oct 2026 · 5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7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7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8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1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Where we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490000"/>
            <a:ext cx="3022133" cy="25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The new CPAT engine is ahead of plan in Excel; Python is the next push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 macro-fiscal block now runs every country end to end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Together they make a single Python platform for fiscal policy and a PFR process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7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7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8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DECISIONS FOR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1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What I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490000"/>
            <a:ext cx="3022133" cy="25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Go-ahead: the platform as the FY27 frame; the chain as the PFR process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 pilot country (e.g. Uganda, Kenya, Egypt)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Introduction to the macro unit (MFMod)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What to drop to make days (no buffer to 20 Mar)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7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7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8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NEXT 6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1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490000"/>
            <a:ext cx="3022133" cy="25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Excel-AI MVP 23 Oct; final 4 Dec; Python 11 Dec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Feed CPAT prices and revenue into the chain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Check DSF coefficients; real calibrations for the pilot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CDPM user-flow workshop (Nov)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3E9FD-6A17-9014-739E-F6CF88B1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F61F7A-23DA-68B8-0368-FF1DC05C37AE}"/>
              </a:ext>
            </a:extLst>
          </p:cNvPr>
          <p:cNvSpPr txBox="1"/>
          <p:nvPr/>
        </p:nvSpPr>
        <p:spPr>
          <a:xfrm>
            <a:off x="812800" y="1650000"/>
            <a:ext cx="845312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E3A36B"/>
                </a:solidFill>
                <a:latin typeface="Calibri"/>
              </a:rPr>
              <a:t>FOR DISCUSSION · 20 OCTOBER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35B32-8350-4CFF-D7C7-07B754D8DFC7}"/>
              </a:ext>
            </a:extLst>
          </p:cNvPr>
          <p:cNvSpPr txBox="1"/>
          <p:nvPr/>
        </p:nvSpPr>
        <p:spPr>
          <a:xfrm>
            <a:off x="812800" y="2000000"/>
            <a:ext cx="79248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4000" b="1" i="0" dirty="0">
                <a:solidFill>
                  <a:srgbClr val="FFFFFF"/>
                </a:solidFill>
                <a:latin typeface="Cambria"/>
              </a:rPr>
              <a:t>More Information</a:t>
            </a:r>
            <a:endParaRPr sz="40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836994-D2FB-E6EA-4F4F-79DA6DFE1DD0}"/>
              </a:ext>
            </a:extLst>
          </p:cNvPr>
          <p:cNvSpPr txBox="1"/>
          <p:nvPr/>
        </p:nvSpPr>
        <p:spPr>
          <a:xfrm>
            <a:off x="812800" y="3530000"/>
            <a:ext cx="8453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0" i="0" dirty="0">
                <a:solidFill>
                  <a:srgbClr val="C9D3E0"/>
                </a:solidFill>
                <a:latin typeface="Calibri"/>
              </a:rPr>
              <a:t>T</a:t>
            </a:r>
            <a:r>
              <a:rPr sz="1600" b="0" i="0" dirty="0">
                <a:solidFill>
                  <a:srgbClr val="C9D3E0"/>
                </a:solidFill>
                <a:latin typeface="Calibri"/>
              </a:rPr>
              <a:t>he fiscal policy platform, excise, adaptation, and a PFR proposal for an end-to-end process on energy costs and fiscal risks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C035C-4F91-6F09-7F7B-EDEAFE8CB6A6}"/>
              </a:ext>
            </a:extLst>
          </p:cNvPr>
          <p:cNvSpPr txBox="1"/>
          <p:nvPr/>
        </p:nvSpPr>
        <p:spPr>
          <a:xfrm>
            <a:off x="812800" y="595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AA8BC"/>
                </a:solidFill>
                <a:latin typeface="Calibri"/>
              </a:rPr>
              <a:t>Stephen Stretton · World Bank · core slides 2-15, appendix from slide 16</a:t>
            </a:r>
          </a:p>
        </p:txBody>
      </p:sp>
    </p:spTree>
    <p:extLst>
      <p:ext uri="{BB962C8B-B14F-4D97-AF65-F5344CB8AC3E}">
        <p14:creationId xmlns:p14="http://schemas.microsoft.com/office/powerpoint/2010/main" val="2089229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PURPOSE AND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Today: agree the platforms and one PFR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Why this meeting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Agree how the tools group into platforms, with one shared engine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Agree one PFR proposal: an end-to-end process for energy costs and fiscal risks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Agree the link with the macro unit (MFMod)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Steer on what to drop, and on next steps to March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YOUR AGENDA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Three 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1  Fiscal policy platform: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crediting, FTT, MFMod, CBAM, excise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2  Excise: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the Excise Diagnostic and what comes next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3  Adaptation platform: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open question, to discuss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THEN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Status and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The PFR proposal (slides 8-9)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The latest MVP and how people use it (slides 10-11)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Timeline, next steps and questions for you (slides 12-15)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Appendix: the whole work programme, for reference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one engine (CPAT, in Excel and Python) feeds four platforms; the PFR platform is where the new proposal sits.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THE WORK PROGRAMME IN ONE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One engine, four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2350000"/>
            <a:ext cx="2500000" cy="19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2800" y="2520000"/>
            <a:ext cx="218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E3A36B"/>
                </a:solidFill>
                <a:latin typeface="Calibri"/>
              </a:rPr>
              <a:t>CORE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800" y="2770000"/>
            <a:ext cx="218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mbria"/>
              </a:rPr>
              <a:t>CPAT, one set of equations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800" y="3350000"/>
            <a:ext cx="218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9D3E0"/>
                </a:solidFill>
                <a:latin typeface="Calibri"/>
              </a:rPr>
              <a:t>Excel-AI MVP v6.2 (checked reference)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9D3E0"/>
                </a:solidFill>
                <a:latin typeface="Calibri"/>
              </a:rPr>
              <a:t>Coded CPAT (Python + Shiny)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2800" y="1720000"/>
            <a:ext cx="7266400" cy="8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2800" y="1720000"/>
            <a:ext cx="60000" cy="83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2800" y="1830000"/>
            <a:ext cx="6966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A8521A"/>
                </a:solidFill>
                <a:latin typeface="Calibri"/>
              </a:rPr>
              <a:t>Fiscal &amp; policy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2800" y="2150000"/>
            <a:ext cx="69664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Policy crediting, GHG accounting, FFI · FTT national · MFMod (macro unit) · CBAM tool · Excise Diagnostic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372800" y="2135000"/>
            <a:ext cx="680000" cy="1165000"/>
          </a:xfrm>
          <a:prstGeom prst="line">
            <a:avLst/>
          </a:prstGeom>
          <a:ln w="19050">
            <a:solidFill>
              <a:srgbClr val="9AA8B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12800" y="2670000"/>
            <a:ext cx="7266400" cy="8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2800" y="2670000"/>
            <a:ext cx="60000" cy="83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12800" y="2780000"/>
            <a:ext cx="6966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3D7A73"/>
                </a:solidFill>
                <a:latin typeface="Calibri"/>
              </a:rPr>
              <a:t>Climate policy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2800" y="3100000"/>
            <a:ext cx="69664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Pathways tool: coded CPAT inside CDPM (Edmundo) · pilots Libya, Egypt, Morocco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372800" y="3085000"/>
            <a:ext cx="680000" cy="215000"/>
          </a:xfrm>
          <a:prstGeom prst="line">
            <a:avLst/>
          </a:prstGeom>
          <a:ln w="19050">
            <a:solidFill>
              <a:srgbClr val="9AA8B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112800" y="3620000"/>
            <a:ext cx="7266400" cy="8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2800" y="3620000"/>
            <a:ext cx="60000" cy="83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12800" y="3730000"/>
            <a:ext cx="6966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F5A96"/>
                </a:solidFill>
                <a:latin typeface="Calibri"/>
              </a:rPr>
              <a:t>PFR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2800" y="4050000"/>
            <a:ext cx="69664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Energy costs and fiscal risks · investment needs (NMIM) · Tax &amp; Macro-Fiscal Dashboard · CPAT-LTS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72800" y="3300000"/>
            <a:ext cx="680000" cy="735000"/>
          </a:xfrm>
          <a:prstGeom prst="line">
            <a:avLst/>
          </a:prstGeom>
          <a:ln w="19050">
            <a:solidFill>
              <a:srgbClr val="9AA8B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2800" y="4570000"/>
            <a:ext cx="7266400" cy="8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2800" y="4570000"/>
            <a:ext cx="60000" cy="830000"/>
          </a:xfrm>
          <a:prstGeom prst="rect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12800" y="4680000"/>
            <a:ext cx="6966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9A6B12"/>
                </a:solidFill>
                <a:latin typeface="Calibri"/>
              </a:rPr>
              <a:t>Other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2800" y="5000000"/>
            <a:ext cx="69664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AI working methods and guides · Energy GP cross-support · parked ideas · handover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72800" y="3300000"/>
            <a:ext cx="680000" cy="1685000"/>
          </a:xfrm>
          <a:prstGeom prst="line">
            <a:avLst/>
          </a:prstGeom>
          <a:ln w="19050">
            <a:solidFill>
              <a:srgbClr val="9AA8B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12800" y="6028000"/>
            <a:ext cx="105664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CDPM = the model formerly called SiSePuede. Groupings follow Stephen's FY27 programme; appendix sections A-F follow the same order.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STATUS AT 20 OCTOBER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Where each platform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4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2506600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CORE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Excel-AI MVP v6.2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2126600" cy="20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Mitigation, power, distribution built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123 legacy bugs fixed, none copied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Python port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800" y="4210000"/>
            <a:ext cx="21266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14213D"/>
                </a:solidFill>
                <a:latin typeface="Cambria"/>
              </a:rPr>
              <a:t>70%</a:t>
            </a:r>
            <a:r>
              <a:rPr sz="1000" b="0" i="0">
                <a:solidFill>
                  <a:srgbClr val="5B6573"/>
                </a:solidFill>
                <a:latin typeface="Calibri"/>
              </a:rPr>
              <a:t>  MVP 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2800" y="4580000"/>
            <a:ext cx="2126600" cy="90000"/>
          </a:xfrm>
          <a:prstGeom prst="rect">
            <a:avLst/>
          </a:prstGeom>
          <a:solidFill>
            <a:srgbClr val="E3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2800" y="4580000"/>
            <a:ext cx="1488620" cy="9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2800" y="4780000"/>
            <a:ext cx="21266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MVP 23 Oct · final Excel 4 Dec · Python 11 Dec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9400" y="1800000"/>
            <a:ext cx="2506600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99400" y="1800000"/>
            <a:ext cx="250660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894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FISCAL &amp;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94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Platform being assembled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9400" y="2830000"/>
            <a:ext cx="2126600" cy="17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CBAM tool: Egypt v3.0, global v1.0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Zoe's FTT national: due 27 Nov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Crediting / FFI: Feb-Mar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Excise Diagnostic: handed to Dirk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9400" y="4780000"/>
            <a:ext cx="21266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FTT + MFMod working 12 Feb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6000" y="1800000"/>
            <a:ext cx="2506600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6000" y="1800000"/>
            <a:ext cx="2506600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60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CLIMATE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60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Pathways with CDPM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6000" y="2590000"/>
            <a:ext cx="2126600" cy="20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Edmundo meeting 19 Oct: on track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Egypt proof of concept: -7.3% vs -8.0%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CPAT sent; repo created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6000" y="4780000"/>
            <a:ext cx="21266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Integration 4-8 Jan · pilots 11-15 Jan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72600" y="1800000"/>
            <a:ext cx="2506600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72600" y="1800000"/>
            <a:ext cx="2506600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626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PFR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26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Pieces exist; process to build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2600" y="2830000"/>
            <a:ext cx="2126600" cy="17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Dashboard: 53 indicators, 217 countries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Investment needs NMIM v0.2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Proposal: end-to-end energy costs and fiscal risks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2600" y="4780000"/>
            <a:ext cx="21266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To agree today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AGENDA 1 · FISCAL POLICY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A fiscal policy platform, shared with the macro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5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1849280" cy="1350000"/>
          </a:xfrm>
          <a:prstGeom prst="rect">
            <a:avLst/>
          </a:prstGeom>
          <a:solidFill>
            <a:srgbClr val="FB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80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Coded CPAT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800" y="2220000"/>
            <a:ext cx="1609280" cy="8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Prices, revenue, emissions, households: the policy engine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02080" y="24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92080" y="1800000"/>
            <a:ext cx="1849280" cy="1350000"/>
          </a:xfrm>
          <a:prstGeom prst="rect">
            <a:avLst/>
          </a:prstGeom>
          <a:solidFill>
            <a:srgbClr val="FB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208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FTT national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2080" y="2220000"/>
            <a:ext cx="1609280" cy="8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Technology diffusion (power, cars, freight, heat, steel) on CPAT's countries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1360" y="24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71360" y="1800000"/>
            <a:ext cx="1849280" cy="1350000"/>
          </a:xfrm>
          <a:prstGeom prst="rect">
            <a:avLst/>
          </a:prstGeom>
          <a:solidFill>
            <a:srgbClr val="FB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9136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MFMod-Python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1360" y="2220000"/>
            <a:ext cx="1609280" cy="8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Macro unit's model: investment, debt, growth (ModelFlow)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60640" y="24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50640" y="1800000"/>
            <a:ext cx="1849280" cy="1350000"/>
          </a:xfrm>
          <a:prstGeom prst="rect">
            <a:avLst/>
          </a:prstGeom>
          <a:solidFill>
            <a:srgbClr val="FB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064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Policy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0" y="2220000"/>
            <a:ext cx="1609280" cy="8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Crediting, GHG accounting, FFI · CBAM · excise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9920" y="24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529920" y="1800000"/>
            <a:ext cx="1849280" cy="13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9920" y="1920000"/>
            <a:ext cx="160928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One Python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9920" y="2470000"/>
            <a:ext cx="160928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C9D3E0"/>
                </a:solidFill>
                <a:latin typeface="Calibri"/>
              </a:rPr>
              <a:t>One repo, one guide; used with the macro unit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12800" y="3450000"/>
          <a:ext cx="10566400" cy="79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2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6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Next steps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Give the macro unit and the fiscal team one code base for climate-related fiscal policy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FTT national 27 Nov · FTT + MFMod working 12 Feb · crediting, GHG accounting, FFI 5 Mar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Introduction to the macro unit; first call in November; decide MFMod in or out for February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MFMod already supplies CPAT's fiscal multipliers; the platform makes that link two-way (investment, debt, fiscal space).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AGENDA 2 · EXCISE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Excise Diagnostic: delivered; what next is 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6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10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22066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countries: Sierra Leone, Uganda, Liberia (draft v0.3)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9400" y="1800000"/>
            <a:ext cx="2506600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50000" cy="11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94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4213D"/>
                </a:solidFill>
                <a:latin typeface="Cambria"/>
              </a:rPr>
              <a:t>1.5-1.7%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9400" y="2440000"/>
            <a:ext cx="22066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of GDP from Uganda's energy, tobacco, alcohol and SSB excises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6000" y="1800000"/>
            <a:ext cx="2506600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6000" y="1800000"/>
            <a:ext cx="50000" cy="110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60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16 Oct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6000" y="2440000"/>
            <a:ext cx="22066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handed to Dirk, early (MVP 25 Sep)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72600" y="1800000"/>
            <a:ext cx="2506600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72600" y="1800000"/>
            <a:ext cx="50000" cy="110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26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no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600" y="2440000"/>
            <a:ext cx="22066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run with Claude or Copilot; Word report + Excel workbook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3100000"/>
            <a:ext cx="3402133" cy="2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2800" y="31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2800" y="32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WHAT IT 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800" y="35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A synthesis tool, not a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2800" y="3890000"/>
            <a:ext cx="3022133" cy="1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Sorts every excise line into seven categories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Each rate as US$ per unit, share of price, revenue % of GDP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Shows erosion, gaps and incoherence; a four-level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94933" y="3100000"/>
            <a:ext cx="3402133" cy="2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94933" y="31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84933" y="32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OPTIONS FOR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4933" y="35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The proposal on the 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4933" y="3890000"/>
            <a:ext cx="3022133" cy="1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Three-part report: excises, externalities, pathways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28 key questions, 20 from climate and health programmes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Pilots: Colombia or Chile (tier 1); Uganda (tier 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77066" y="3100000"/>
            <a:ext cx="3402133" cy="2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77066" y="31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67066" y="32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TO DECIDE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7066" y="35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Questions for you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7066" y="3890000"/>
            <a:ext cx="3022133" cy="1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Who owns it after Dirk's handover?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Extend to more countries, or fold into the PFR process?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Link to CPAT prices (fuel excise is most of the revenue)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AGENDA 3 · ADAPTATION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Adaptation platform: an open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7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WHAT WE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Pieces that could serve adaptation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830000"/>
            <a:ext cx="3022133" cy="2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CDPM is a mitigation pathways model today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Investment-needs method covers mitigation; adaptation totals come from UNEP's Adaptation Gap Report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The Dashboard has fiscal space and risk indicators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NOT IN THE FY27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No adaptation milestone yet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No days budgeted to 20 March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Would compete with the PFR proposal and the Python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TO DISCUSS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Questions for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What should an adaptation platform answer, and for whom?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Is it part of the PFR process (fiscal risks from climate)?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Who leads, and with which unit?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Scope now, or a note for FY28?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 short scoping note after the trip, if you want it; otherwise park it to FY28.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PFR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An end-to-end process for energy costs and fiscal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8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1849280" cy="150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80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1  Energy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800" y="2220000"/>
            <a:ext cx="1609280" cy="10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Investment needs and running costs by sector and country (NMIM, CDPM)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02080" y="255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92080" y="1800000"/>
            <a:ext cx="1849280" cy="150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208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2  Fiscal 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2080" y="2220000"/>
            <a:ext cx="1609280" cy="10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Subsidies, utility and SOE liabilities, falling fuel revenue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1360" y="255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71360" y="1800000"/>
            <a:ext cx="1849280" cy="150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91360" y="1920000"/>
            <a:ext cx="160928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3  Efficiency of spending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1360" y="2470000"/>
            <a:ext cx="1609280" cy="7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Who pays (public, utility, private); value per dollar of public money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60640" y="255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50640" y="1800000"/>
            <a:ext cx="1849280" cy="150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064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4  Tax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0" y="2220000"/>
            <a:ext cx="1609280" cy="10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Carbon price, excise, subsidy reform, CBAM, through CPAT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9920" y="255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529920" y="1800000"/>
            <a:ext cx="1849280" cy="15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992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5  PFR chapter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9920" y="2220000"/>
            <a:ext cx="1609280" cy="10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C9D3E0"/>
                </a:solidFill>
                <a:latin typeface="Calibri"/>
              </a:rPr>
              <a:t>Energy and climate in expenditure policy, with numbers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3500000"/>
            <a:ext cx="3402133" cy="16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2800" y="350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2800" y="36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WHY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2800" y="39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The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800" y="4290000"/>
            <a:ext cx="3022133" cy="7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PFRs lack a dedicated chapter on expenditure policy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Energy is where spending, risk and tax meet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94933" y="3500000"/>
            <a:ext cx="3402133" cy="16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94933" y="350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84933" y="36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WHAT EXISTS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4933" y="39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Tools already built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4933" y="4290000"/>
            <a:ext cx="3022133" cy="7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NMIM v0.2 (who pays, budget need)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Dashboard; fiscal-risk upgrade started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CPAT revenue and prices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77066" y="3500000"/>
            <a:ext cx="3402133" cy="16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77066" y="350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67066" y="36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WHAT IS 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7066" y="39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The join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7066" y="4290000"/>
            <a:ext cx="3022133" cy="7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One process, country data in, PFR text and tables out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Same engine as the other platforms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PFR PROPOSAL · HOW AND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How we would build it: mostly from parts that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750000"/>
          <a:ext cx="10566400" cy="2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2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Question for the finance ministry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Tool that answers it today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Gap to close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1 Energy costs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What must be invested, and what does it cost to run?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NMIM v0.2; investment-needs v1.1; CDPM pathways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Price response; CCDR data per country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2 Fiscal risks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What could land on the budget?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Fiscal Risk Dashboard v1.5; CPAT subsidies and fuel revenue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Utility and SOE liabilities; owner and plan for the upgrade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3 Efficiency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Who pays, and what does each public dollar buy?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NMIM who-pays split (budget need 14% world, 29% EMDCs); Dashboard PIMA block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IMF PIMA and C-PIMA scores; investment approach V3 not yet agreed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4 Tax changes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What do carbon pricing, excise and subsidy reform raise?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Excel-AI CPAT revenue by policy; Excise Diagnostic; CBAM tool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One documented chain to the debt equation (V2)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5 PFR chapter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What goes in the expenditure-policy chapter?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Template, pilot country, owner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12800" y="4450000"/>
            <a:ext cx="3402133" cy="1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2800" y="445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2800" y="464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PHASE 1 (PROPOSED)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486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Concept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800" y="5240000"/>
            <a:ext cx="3022133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Map the five steps to tools and data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Agree V2-V3 of the investment 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4933" y="4450000"/>
            <a:ext cx="3402133" cy="1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94933" y="445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4933" y="464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PHASE 2 (PROPOSED)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486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One pilot country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4933" y="5240000"/>
            <a:ext cx="3022133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Candidates: Uganda (PFR expenditure pilot), Egypt or Morocco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Same engine as the pathways tool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7066" y="4450000"/>
            <a:ext cx="3402133" cy="1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77066" y="445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67066" y="464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PHASE 3 (PROPOSED)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486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Template for PFRs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7066" y="5240000"/>
            <a:ext cx="3022133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Chapter template and tables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Hand to PFR teams with a guide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THE LATEST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Excel-AI MVP v6.2 (20 Oct): what is in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1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1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4213D"/>
                </a:solidFill>
                <a:latin typeface="Cambria"/>
              </a:rPr>
              <a:t>56 tabs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2206600" cy="4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about 560,000 formulas, 26 charts; Excel 365 with macros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9400" y="1800000"/>
            <a:ext cx="2506600" cy="1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50000" cy="11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94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9400" y="2440000"/>
            <a:ext cx="2206600" cy="4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CPAT bugs fixed, none copied (9 high, 41 medium, 73 low)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6000" y="1800000"/>
            <a:ext cx="2506600" cy="1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6000" y="1800000"/>
            <a:ext cx="50000" cy="11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60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12,992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6000" y="2440000"/>
            <a:ext cx="2206600" cy="4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output codes unchanged v6.0 to v6.1; 0 error values (quick check)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72600" y="1800000"/>
            <a:ext cx="2506600" cy="1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72600" y="1800000"/>
            <a:ext cx="50000" cy="11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26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2022-41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600" y="2440000"/>
            <a:ext cx="2206600" cy="4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Egypt data, real 2026 USD; any country by ISO code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12800" y="3150000"/>
          <a:ext cx="10566400" cy="2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Policies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Carbon tax, ETS, feebates, fuel price and subsidy reform, methane fee, regulations as shadow prices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Prices and fuel use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Retail prices by fuel and sector; 16 subsectors x 8 fuels; road engineer model (switch)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Power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Engineer model: dispatch, retirement, investment; PPAs, renewable subsidies, excise (built 15-16 Oct, ahead of plan)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Revenue, emissions, GDP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Revenue by policy; CO2 to the inventory; non-CO2; NDC comparison; fiscal space and multipliers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Household incidence by decile; recycling, transfers, Gini; matches a Python reference to 5e-13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How people use it: from download to results in 15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11</a:t>
            </a:r>
          </a:p>
        </p:txBody>
      </p:sp>
      <p:sp>
        <p:nvSpPr>
          <p:cNvPr id="5" name="Oval 4"/>
          <p:cNvSpPr/>
          <p:nvPr/>
        </p:nvSpPr>
        <p:spPr>
          <a:xfrm>
            <a:off x="812800" y="175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2800" y="175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2800" y="178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Open and enable macros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2800" y="1780000"/>
            <a:ext cx="6866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CPAT-AI-Mitigation-MVP-v6.2.xlsm in Excel 365; unblock the file</a:t>
            </a:r>
          </a:p>
        </p:txBody>
      </p:sp>
      <p:sp>
        <p:nvSpPr>
          <p:cNvPr id="9" name="Oval 8"/>
          <p:cNvSpPr/>
          <p:nvPr/>
        </p:nvSpPr>
        <p:spPr>
          <a:xfrm>
            <a:off x="812800" y="223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2800" y="223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2800" y="226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Test once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2800" y="2260000"/>
            <a:ext cx="6866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Alt+F8, run CheckBatchRun: MacroCheck shows PASS</a:t>
            </a:r>
          </a:p>
        </p:txBody>
      </p:sp>
      <p:sp>
        <p:nvSpPr>
          <p:cNvPr id="13" name="Oval 12"/>
          <p:cNvSpPr/>
          <p:nvPr/>
        </p:nvSpPr>
        <p:spPr>
          <a:xfrm>
            <a:off x="812800" y="271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2800" y="271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2800" y="274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Read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2800" y="2740000"/>
            <a:ext cx="6866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Mitigation opens rolled up: one summary row per section; '+' expands. MTOutputs lists 71 key results; Charts plots them</a:t>
            </a:r>
          </a:p>
        </p:txBody>
      </p:sp>
      <p:sp>
        <p:nvSpPr>
          <p:cNvPr id="17" name="Oval 16"/>
          <p:cNvSpPr/>
          <p:nvPr/>
        </p:nvSpPr>
        <p:spPr>
          <a:xfrm>
            <a:off x="812800" y="319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2800" y="319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2800" y="322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Change a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2800" y="3220000"/>
            <a:ext cx="6866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MTInputs column K, e.g. CPLevelTarget (carbon price in the target year); it recalculates</a:t>
            </a:r>
          </a:p>
        </p:txBody>
      </p:sp>
      <p:sp>
        <p:nvSpPr>
          <p:cNvPr id="21" name="Oval 20"/>
          <p:cNvSpPr/>
          <p:nvPr/>
        </p:nvSpPr>
        <p:spPr>
          <a:xfrm>
            <a:off x="812800" y="367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2800" y="367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800" y="370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Run many scenarios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2800" y="3700000"/>
            <a:ext cx="6866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Copy a definition column, set Run? = Yes, run RunAllScenarios; compare up to 8 in ScenarioCompare</a:t>
            </a:r>
          </a:p>
        </p:txBody>
      </p:sp>
      <p:sp>
        <p:nvSpPr>
          <p:cNvPr id="25" name="Oval 24"/>
          <p:cNvSpPr/>
          <p:nvPr/>
        </p:nvSpPr>
        <p:spPr>
          <a:xfrm>
            <a:off x="812800" y="415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" y="415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2800" y="418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Another country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2800" y="4180000"/>
            <a:ext cx="6866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Settings C4 = ISO code; paste the proprietary tables (Egypt shipped)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4750000"/>
            <a:ext cx="10566400" cy="6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2800" y="4800000"/>
            <a:ext cx="101664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Every figure is traceable: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each row has a code (e.g. egy.mit.ener.rod.gso.e.1), an equation note, and a LAMBDA formula; LegacyDiff lists every departure from legacy.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Python and Shiny: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coded CPAT runs end to end (57 tests); the Shiny app has six sections, distribution to add; a simple app by 5 Feb.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From now to the end of the contract (20 March)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2800" y="1700000"/>
            <a:ext cx="660581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19 Oct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73381" y="1700000"/>
            <a:ext cx="660581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2 Nov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3963" y="1700000"/>
            <a:ext cx="660581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545" y="1700000"/>
            <a:ext cx="660581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5127" y="1700000"/>
            <a:ext cx="660581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14 Dec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6000" y="1700000"/>
            <a:ext cx="660581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4 Jan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6581" y="1700000"/>
            <a:ext cx="660581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7163" y="1700000"/>
            <a:ext cx="660581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 Feb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7745" y="1700000"/>
            <a:ext cx="660581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8327" y="1700000"/>
            <a:ext cx="660581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 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909" y="1700000"/>
            <a:ext cx="660581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2800" y="1930000"/>
            <a:ext cx="7266400" cy="12000"/>
          </a:xfrm>
          <a:prstGeom prst="rect">
            <a:avLst/>
          </a:prstGeom>
          <a:solidFill>
            <a:srgbClr val="E3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2800" y="1960000"/>
            <a:ext cx="32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Excel-AI MVP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2800" y="2020000"/>
            <a:ext cx="310290" cy="13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iamond 18"/>
          <p:cNvSpPr/>
          <p:nvPr/>
        </p:nvSpPr>
        <p:spPr>
          <a:xfrm>
            <a:off x="4197945" y="202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2800" y="2230000"/>
            <a:ext cx="32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Manila trip, leave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2800" y="2290000"/>
            <a:ext cx="640581" cy="13000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2800" y="2500000"/>
            <a:ext cx="32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Final Excel-AI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73381" y="2560000"/>
            <a:ext cx="1631454" cy="13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iamond 23"/>
          <p:cNvSpPr/>
          <p:nvPr/>
        </p:nvSpPr>
        <p:spPr>
          <a:xfrm>
            <a:off x="6179690" y="256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2800" y="2770000"/>
            <a:ext cx="32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Final coded CPAT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381" y="2830000"/>
            <a:ext cx="1961745" cy="13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Diamond 26"/>
          <p:cNvSpPr/>
          <p:nvPr/>
        </p:nvSpPr>
        <p:spPr>
          <a:xfrm>
            <a:off x="6509981" y="283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2800" y="3040000"/>
            <a:ext cx="32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FTT national (Zoe)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fiscal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2800" y="3100000"/>
            <a:ext cx="1961745" cy="13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iamond 29"/>
          <p:cNvSpPr/>
          <p:nvPr/>
        </p:nvSpPr>
        <p:spPr>
          <a:xfrm>
            <a:off x="5849400" y="310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2800" y="3310000"/>
            <a:ext cx="32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CDPM: workshop, coded CPAT, Morocco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climate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73381" y="3370000"/>
            <a:ext cx="1961745" cy="13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2800" y="3580000"/>
            <a:ext cx="32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Pathways: integration, pilots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climate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46000" y="3640000"/>
            <a:ext cx="640581" cy="13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iamond 34"/>
          <p:cNvSpPr/>
          <p:nvPr/>
        </p:nvSpPr>
        <p:spPr>
          <a:xfrm>
            <a:off x="8161436" y="364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2800" y="3850000"/>
            <a:ext cx="32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Shiny app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core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06581" y="3910000"/>
            <a:ext cx="970872" cy="13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Diamond 37"/>
          <p:cNvSpPr/>
          <p:nvPr/>
        </p:nvSpPr>
        <p:spPr>
          <a:xfrm>
            <a:off x="9152309" y="391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2800" y="4120000"/>
            <a:ext cx="32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FTT + MFMod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fiscal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97454" y="4180000"/>
            <a:ext cx="310290" cy="13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Diamond 40"/>
          <p:cNvSpPr/>
          <p:nvPr/>
        </p:nvSpPr>
        <p:spPr>
          <a:xfrm>
            <a:off x="9482600" y="418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2800" y="4390000"/>
            <a:ext cx="32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Crediting, GHG accounting, FFI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fiscal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27745" y="4450000"/>
            <a:ext cx="970872" cy="13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iamond 43"/>
          <p:cNvSpPr/>
          <p:nvPr/>
        </p:nvSpPr>
        <p:spPr>
          <a:xfrm>
            <a:off x="10473472" y="445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2800" y="4660000"/>
            <a:ext cx="32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PFR proposal (to agree)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pfr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33963" y="4720000"/>
            <a:ext cx="1961745" cy="130000"/>
          </a:xfrm>
          <a:prstGeom prst="rect">
            <a:avLst/>
          </a:prstGeom>
          <a:solidFill>
            <a:srgbClr val="9DB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2800" y="4930000"/>
            <a:ext cx="32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Support to Dirk; handover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18618" y="4990000"/>
            <a:ext cx="640581" cy="13000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Diamond 48"/>
          <p:cNvSpPr/>
          <p:nvPr/>
        </p:nvSpPr>
        <p:spPr>
          <a:xfrm>
            <a:off x="11134054" y="499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178858" y="1890000"/>
            <a:ext cx="15000" cy="330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18858" y="1700000"/>
            <a:ext cx="9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1" i="0">
                <a:solidFill>
                  <a:srgbClr val="A8521A"/>
                </a:solidFill>
                <a:latin typeface="Calibri"/>
              </a:rPr>
              <a:t>today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2800" y="5310000"/>
            <a:ext cx="160000" cy="12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32800" y="5280000"/>
            <a:ext cx="22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B6573"/>
                </a:solidFill>
                <a:latin typeface="Calibri"/>
              </a:rPr>
              <a:t>Core engine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4800" y="5310000"/>
            <a:ext cx="160000" cy="12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234800" y="5280000"/>
            <a:ext cx="22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B6573"/>
                </a:solidFill>
                <a:latin typeface="Calibri"/>
              </a:rPr>
              <a:t>Fiscal &amp; policy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64800" y="5310000"/>
            <a:ext cx="160000" cy="12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84800" y="5280000"/>
            <a:ext cx="22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B6573"/>
                </a:solidFill>
                <a:latin typeface="Calibri"/>
              </a:rPr>
              <a:t>Climate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18800" y="5310000"/>
            <a:ext cx="160000" cy="120000"/>
          </a:xfrm>
          <a:prstGeom prst="rect">
            <a:avLst/>
          </a:prstGeom>
          <a:solidFill>
            <a:srgbClr val="9DB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638800" y="5280000"/>
            <a:ext cx="22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B6573"/>
                </a:solidFill>
                <a:latin typeface="Calibri"/>
              </a:rPr>
              <a:t>PFR (proposed)</a:t>
            </a:r>
          </a:p>
        </p:txBody>
      </p:sp>
      <p:sp>
        <p:nvSpPr>
          <p:cNvPr id="60" name="Diamond 59"/>
          <p:cNvSpPr/>
          <p:nvPr/>
        </p:nvSpPr>
        <p:spPr>
          <a:xfrm>
            <a:off x="5806800" y="5310000"/>
            <a:ext cx="160000" cy="12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26800" y="5280000"/>
            <a:ext cx="22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B6573"/>
                </a:solidFill>
                <a:latin typeface="Calibri"/>
              </a:rPr>
              <a:t>Milestone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Next steps by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BEFORE THE TRIP (THIS WEEK)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5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Excel-AI MVP sent (due 23 Oct); Kacper holds the bug list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Work programme (WPA) and one paper proposal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Introduction to the macro unit requested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NOVEMBER-DECEMBER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5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Final Excel-AI 4 Dec; coded CPAT 11 Dec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CDPM user-flow workshop; coded CPAT to Edmundo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Zoe's FTT 27 Nov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PFR proposal: concept note (if agreed)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JANUARY-MARCH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Apply and hand 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5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Pathways pilots 11-15 Jan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Shiny 5 Feb; FTT + MFMod 12 Feb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Crediting, GHG accounting, FFI 5 Mar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Handover 15-19 Mar; contract ends 20 Mar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QUESTIONS FOR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Questions and decisions for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14</a:t>
            </a:r>
          </a:p>
        </p:txBody>
      </p:sp>
      <p:sp>
        <p:nvSpPr>
          <p:cNvPr id="5" name="Oval 4"/>
          <p:cNvSpPr/>
          <p:nvPr/>
        </p:nvSpPr>
        <p:spPr>
          <a:xfrm>
            <a:off x="812800" y="1750000"/>
            <a:ext cx="330000" cy="3300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2800" y="175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2800" y="178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2800" y="1780000"/>
            <a:ext cx="68664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Do the four platforms, with one engine, match how you want to present the work?</a:t>
            </a:r>
          </a:p>
        </p:txBody>
      </p:sp>
      <p:sp>
        <p:nvSpPr>
          <p:cNvPr id="9" name="Oval 8"/>
          <p:cNvSpPr/>
          <p:nvPr/>
        </p:nvSpPr>
        <p:spPr>
          <a:xfrm>
            <a:off x="812800" y="2270000"/>
            <a:ext cx="330000" cy="3300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2800" y="227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2800" y="230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Macro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2800" y="2300000"/>
            <a:ext cx="68664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Will you introduce us to the MFMod team? MFMod in or out for the 12 Feb milestone?</a:t>
            </a:r>
          </a:p>
        </p:txBody>
      </p:sp>
      <p:sp>
        <p:nvSpPr>
          <p:cNvPr id="13" name="Oval 12"/>
          <p:cNvSpPr/>
          <p:nvPr/>
        </p:nvSpPr>
        <p:spPr>
          <a:xfrm>
            <a:off x="812800" y="2790000"/>
            <a:ext cx="330000" cy="3300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2800" y="279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2800" y="282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Excise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2800" y="2820000"/>
            <a:ext cx="68664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What next for the Excise Diagnostic beyond the handover to Dirk?</a:t>
            </a:r>
          </a:p>
        </p:txBody>
      </p:sp>
      <p:sp>
        <p:nvSpPr>
          <p:cNvPr id="17" name="Oval 16"/>
          <p:cNvSpPr/>
          <p:nvPr/>
        </p:nvSpPr>
        <p:spPr>
          <a:xfrm>
            <a:off x="812800" y="3310000"/>
            <a:ext cx="330000" cy="3300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2800" y="331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2800" y="334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Adaptation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2800" y="3340000"/>
            <a:ext cx="68664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What should an adaptation platform answer? Scope now, or FY28?</a:t>
            </a:r>
          </a:p>
        </p:txBody>
      </p:sp>
      <p:sp>
        <p:nvSpPr>
          <p:cNvPr id="21" name="Oval 20"/>
          <p:cNvSpPr/>
          <p:nvPr/>
        </p:nvSpPr>
        <p:spPr>
          <a:xfrm>
            <a:off x="812800" y="3830000"/>
            <a:ext cx="330000" cy="3300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2800" y="383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800" y="386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PFR proposal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2800" y="3860000"/>
            <a:ext cx="68664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Go ahead with the end-to-end energy costs and fiscal risks process? Which pilot country?</a:t>
            </a:r>
          </a:p>
        </p:txBody>
      </p:sp>
      <p:sp>
        <p:nvSpPr>
          <p:cNvPr id="25" name="Oval 24"/>
          <p:cNvSpPr/>
          <p:nvPr/>
        </p:nvSpPr>
        <p:spPr>
          <a:xfrm>
            <a:off x="812800" y="4350000"/>
            <a:ext cx="330000" cy="3300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" y="435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2800" y="438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Resources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2800" y="4380000"/>
            <a:ext cx="68664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Claude Code ($200); a wider prototype team; what to drop if time is short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2250000"/>
            <a:ext cx="105664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E3A36B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550000"/>
            <a:ext cx="105664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The work programme in full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00000"/>
            <a:ext cx="845312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C9D3E0"/>
                </a:solidFill>
                <a:latin typeface="Calibri"/>
              </a:rPr>
              <a:t>For reference: A core engine · B fiscal &amp; policy platform · C climate policy platform · D PFR platform · E other · F plan, days and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9AA8BC"/>
                </a:solidFill>
                <a:latin typeface="Calibri"/>
              </a:rPr>
              <a:t>Climate-fiscal tools · 20 Oct 2026 · 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2250000"/>
            <a:ext cx="105664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E3A36B"/>
                </a:solidFill>
                <a:latin typeface="Calibri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550000"/>
            <a:ext cx="105664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Core engine: CPAT in Excel and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4200000"/>
            <a:ext cx="845312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C9D3E0"/>
                </a:solidFill>
                <a:latin typeface="Calibri"/>
              </a:rPr>
              <a:t>One set of equations, two forms, kept equal by script. Status, the latest MVP, usability, quality,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9AA8BC"/>
                </a:solidFill>
                <a:latin typeface="Calibri"/>
              </a:rPr>
              <a:t>Climate-fiscal tools · 20 Oct 2026 · 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 ·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Two engines, one set of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800000"/>
          <a:ext cx="1056640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7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7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endParaRPr/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Excel-AI-CPAT (CPAT-AI)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Coded CPAT (Python + Shiny)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Cut-down CPAT in Excel, rebuilt with AI from legacy CPAT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Component-based Python model: mitigation and distribution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An auditable replacement of the mitigation chain; every figure traceable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Maintainable code with tests and an app; feeds pathways and platforms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Modellers, economists, reviewers; the WB-IMF CPAT process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Developers; CDPM integration; web users via Shiny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Legacy CPAT 1.0pre_456 (read only)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Validated Excel logic, ported with identical codes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Familiar, transparent cell by cell, easy to audit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Scales, tests, links to other Python models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Limit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Needs Excel 365 (LAMBDA); harder to scale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Not open to non-coders without Shiny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Excel-AI validates the logic first; the validated logic is then ported to Python with the same codes.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 ·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Excel-AI-CPAT serves three purposes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A8521A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5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Input to the WB-IMF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890000"/>
            <a:ext cx="3022133" cy="20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Agreed with Dirk: a contributor to future development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Not yet the full CPAT; a base for one maintainable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A8521A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5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GHG accounting and policy crediting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3130000"/>
            <a:ext cx="3022133" cy="18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 transparent Excel tool for ex-ante DPF accounting and crediting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Every figure traceable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A8521A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5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Cross-checking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890000"/>
            <a:ext cx="3022133" cy="20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An independent check on coded CPAT and legacy CPAT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Differences point to errors on either side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 · LATEST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Version history: v5.0 to v6.2 in three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800000"/>
          <a:ext cx="10566400" cy="3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Highlight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v5.0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18 Oct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Consolidated release: subsidy and price-control phase-outs, producer subsidies, regulations as shadow prices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v5.1-5.3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19 Oct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Residential LPG/kerosene switch, biomass leakage; legacy Manual inputs tab; full check repaired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v5.4-5.6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19 Oct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Power P1-P5: per-scenario inputs, PPAs, renewable subsidies, rebate, excise, manual capacity, coal cost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v5.7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19 Oct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NDC comparison (five NDC types); GDP memo rows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v6.0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19 Oct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Distribution as legacy (ASPIRE, poverty-line transfers, 11 charts); bugs D10-D31 fixed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v6.1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20 Oct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Producer-subsidy price effect; methane fee in fiscal space; NDC years 2021-24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v6.2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20 Oct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Producer-subsidy reform as a separate wedge; L67 fixed without circularity; methane fee on own activity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2800" y="5000000"/>
            <a:ext cx="105664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5B6573"/>
                </a:solidFill>
                <a:latin typeface="Calibri"/>
              </a:rPr>
              <a:t>Earlier: v0.1 on 8 Oct ($20/t cut fuel use 10.7%); v1.0 9 Oct; v4.0 16 Oct (49 legacy bugs then); build time cut from about 70 to 2 minutes (v4.9).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 · LATEST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The model, section by section (numbered as legacy)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750000"/>
          <a:ext cx="105664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7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0-1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Scenario assumptions; policies: carbon tax, ETS (cap, benchmarks, goal seek), feebates, fuel price reform, methane fee, phase-outs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Retail prices by fuel and sector; price indices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Power engineer model: costs, prices, demand, dispatch, retirement, investment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5-8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Fuel use: 16 subsectors x 8 fuels; road engineer model; residential leakage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11-13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Energy use; revenues by policy; CO2 calibrated to the inventory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14-15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Non-CO2 GHGs, methane by source, NDC comparison; local air pollutants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GDP: fiscal space, fiscal multipliers (global, income group, country, manual), external balance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17-18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Carbon pricing (implicit and effective rates, coverage); welfare (SCC, damages avoided)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Incidence by decile in one year; recycling, Gini, compensation, ASPIRE and poverty-line transfers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 · 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What the user inputs and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MTInputs and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4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Column J baseline; K the live policy; L+ scenario definitions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Power inputs per scenario (e.g. NewInvCoa, PPAs, PowerRebates)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TrModel switches the road engineer model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Settings C4: the country ISO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Results and 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4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Mitigation tab rolled up: one row per section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MTOutputs: 71 key results by code; Charts: one series per scenario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StoredResults; ScenarioCompare: up to 8 scenarios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BUILT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Scenarios and macros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4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Shipped: $20/t from 2027; Package A (to $50 by 2030 + feebates); Package B (ETS + $25)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Macros: RunAllScenarios, CheckBatchRun, SolveETS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Groups 1-2 plain formulas, so older Excel still calculates to 2040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 ·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Every figure: equation, parameter,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1849280" cy="1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80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800" y="2220000"/>
            <a:ext cx="1609280" cy="11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A result row with a code: country.mit.variable.sector.fuel.suffix.scenario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02080" y="260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92080" y="1800000"/>
            <a:ext cx="1849280" cy="1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208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Equation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2080" y="2220000"/>
            <a:ext cx="1609280" cy="11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Equations_v6_2.md: the model in mathematics, by section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1360" y="260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71360" y="1800000"/>
            <a:ext cx="1849280" cy="1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9136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Formula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1360" y="2220000"/>
            <a:ext cx="1609280" cy="11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Formulas_v6_2.md lists every formula; a LAMBDA per row; one formula per block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60640" y="260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50640" y="1800000"/>
            <a:ext cx="1849280" cy="1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064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Parameter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0" y="2220000"/>
            <a:ext cx="1609280" cy="11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Row parameters in D:G, looked up from Inputs; code, source, confidence colour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9920" y="260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529920" y="1800000"/>
            <a:ext cx="1849280" cy="1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992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9920" y="2220000"/>
            <a:ext cx="1609280" cy="11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Data tabs keep legacy layouts; LegacyDiff lists each departure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3700000"/>
            <a:ext cx="105664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4213D"/>
                </a:solidFill>
                <a:latin typeface="Calibri"/>
              </a:rPr>
              <a:t>Formula rules: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no formula over 100 characters, no numeric literals, nothing country-specific in formulas.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4213D"/>
                </a:solidFill>
                <a:latin typeface="Calibri"/>
              </a:rPr>
              <a:t>Independent check: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a Python recomputation checks every number; checks also run in LibreOffice and openpyxl, so on Linux.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 ·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Bugs are never copied; issues are copied and tracked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10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22066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bugs not replicated: fixed, or the feature left 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9400" y="1800000"/>
            <a:ext cx="2506600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50000" cy="110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94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9400" y="2440000"/>
            <a:ext cx="22066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bugs still replicated (since v4.10)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6000" y="1800000"/>
            <a:ext cx="2506600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6000" y="1800000"/>
            <a:ext cx="50000" cy="11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60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4213D"/>
                </a:solidFill>
                <a:latin typeface="Cambria"/>
              </a:rPr>
              <a:t>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6000" y="2440000"/>
            <a:ext cx="22066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issues replicated on purpose and tracked; 11 exceptions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72600" y="1800000"/>
            <a:ext cx="2506600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72600" y="1800000"/>
            <a:ext cx="50000" cy="110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26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600" y="2440000"/>
            <a:ext cx="22066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Word plans with cell-by-cell fixes for the CPAT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3250000"/>
            <a:ext cx="1849280" cy="10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800" y="337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Preflight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800" y="3670000"/>
            <a:ext cx="160928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Find rows by label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02080" y="37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992080" y="3250000"/>
            <a:ext cx="1849280" cy="10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2080" y="337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Snapshot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12080" y="3670000"/>
            <a:ext cx="160928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Copy, never save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81360" y="37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171360" y="3250000"/>
            <a:ext cx="1849280" cy="10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91360" y="337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Fix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1360" y="3670000"/>
            <a:ext cx="160928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Real drag and copy-paste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60640" y="37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350640" y="3250000"/>
            <a:ext cx="1849280" cy="10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70640" y="337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Tests T1-T7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0640" y="3670000"/>
            <a:ext cx="160928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Nothing else moved; past unchanged; no new errors; reconciled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39920" y="37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29920" y="3250000"/>
            <a:ext cx="1849280" cy="10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49920" y="337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FixLog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9920" y="3670000"/>
            <a:ext cx="160928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C9D3E0"/>
                </a:solidFill>
                <a:latin typeface="Calibri"/>
              </a:rPr>
              <a:t>Report written to the sheet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800" y="4500000"/>
            <a:ext cx="105664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5B6573"/>
                </a:solidFill>
                <a:latin typeface="Calibri"/>
              </a:rPr>
              <a:t>Worked example: legacy bug L1 (services electricity follows the industry multiple), macro FixL1_ServicesElectricity.bas. Other high bugs: L20 population 185m in 2041 vs UN 147m; L24 GDP effect compounds to about +10%.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 ·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Checks, what was dropped, and known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Run after every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5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Quick check (2-5 min): structure, literals, recalculation, output codes: PASS at v6.1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Full check (2.5 h): Python recomputation, sections 0-4 passed at v6.0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LAMBDA group matches plain formulas to 3e-15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Not yet: review in Excel 365 (13-step checklist ready)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DROPPED 20 OCT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By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5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Road model follow-ups; partial-adjustment fuel model; real local-currency prices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Air-pollution co-benefits and transport externalities (plans kept)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Standalone distribution tool (19 Oct)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KNOWN 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To 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5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ETS goal seek does not converge for one definition (6.2%)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Data requests: GAINS paths, VAT cells, other countries' tables, GHGs 2018-20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Egypt only so far; legacy file 459 not yet reconciled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 · CODED CPAT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Coded CPAT and the Shiny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Runs end to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About 20,300 lines of Python; 57 tests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Mitigation (14 components) and distribution (merged 17 Oct)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python run_model.py; shiny run app.py (Python 3.12)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SHINY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Six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Manual inputs, scenarios, raw results, indicators, charts, documentation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Distribution not yet in the app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Target: one input page and one results page by 5 Feb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LEGACY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Python back to legacy CPAT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Writes energy use, prices, household survey, IO_GTAP in legacy layout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HHSurvey and IO_GTAP match legacy cell for cell (Egypt)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Gap: 48 price columns blank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next: port the validated MVP logic, fix revenue units (USD m used as LCU), compare Python with Excel by 11 Dec.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 · STATUS, TIMELINE,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Core engine: ahead on build, Python is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800000"/>
          <a:ext cx="105664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7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49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1a_m1 Excel-AI MVP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5-23 Oct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23 Oct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70%: equations list, traceability, known-gaps note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1a_m2 Final Excel-AI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5 Oct-4 Dec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4 Dec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50%: power and distribution already built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1b_m1 Final Python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2 Nov-11 Dec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11 Dec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10%: port, compare, write up 7-11 Dec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1c_m1 Shiny app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18 Jan-5 Feb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5 Feb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0%: one input page, one results page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12800" y="3800000"/>
            <a:ext cx="5193200" cy="1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2800" y="3800000"/>
            <a:ext cx="5193200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2800" y="3990000"/>
            <a:ext cx="4813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4210000"/>
            <a:ext cx="48132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Release and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800" y="4590000"/>
            <a:ext cx="4813200" cy="6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Release v6.2 properly (log, check, Word registers, deck)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Excel 365 review on Windows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Send data requests and legacy fix plans to the CPAT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6000" y="3800000"/>
            <a:ext cx="5193200" cy="1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86000" y="3800000"/>
            <a:ext cx="519320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6000" y="3990000"/>
            <a:ext cx="4813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RISKS / 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6000" y="4210000"/>
            <a:ext cx="48132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6000" y="4590000"/>
            <a:ext cx="4813200" cy="6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Someone on Windows to run the checklist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CPAT team sign-off on the replication rule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 developer (e.g. Kacper) to share the Python port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2250000"/>
            <a:ext cx="105664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E3A36B"/>
                </a:solidFill>
                <a:latin typeface="Calibri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550000"/>
            <a:ext cx="105664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Fiscal &amp; policy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00000"/>
            <a:ext cx="845312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C9D3E0"/>
                </a:solidFill>
                <a:latin typeface="Calibri"/>
              </a:rPr>
              <a:t>Policy crediting, GHG accounting and FFI · FTT national · MFMod and the macro unit · CBAM tool · Excise Diagnostic (fiscal tools)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9AA8BC"/>
                </a:solidFill>
                <a:latin typeface="Calibri"/>
              </a:rPr>
              <a:t>Climate-fiscal tools · 20 Oct 2026 · 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B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Five parts, one Python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1969280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196928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158928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2A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158928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Crediting, GHG accounting, FFI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830000"/>
            <a:ext cx="1589280" cy="1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Ex-ante GHG figure for policy-based DPFs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Due 5 Mar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800" y="4580000"/>
            <a:ext cx="158928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15 days, TF-TCAF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62080" y="1800000"/>
            <a:ext cx="1969280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62080" y="1800000"/>
            <a:ext cx="196928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2080" y="1990000"/>
            <a:ext cx="158928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2080" y="2210000"/>
            <a:ext cx="158928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FTT national (Zoe)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2080" y="2830000"/>
            <a:ext cx="1589280" cy="1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Technology diffusion on CPAT's countries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Due 27 Nov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2080" y="4580000"/>
            <a:ext cx="158928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Zoe delivers; Stephen reviews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11360" y="1800000"/>
            <a:ext cx="1969280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11360" y="1800000"/>
            <a:ext cx="196928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1360" y="1990000"/>
            <a:ext cx="158928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1360" y="2210000"/>
            <a:ext cx="158928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FTT + MFMod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1360" y="2590000"/>
            <a:ext cx="1589280" cy="18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One Python platform, one guide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Due 12 Feb 2027; MFMod tbc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360" y="4580000"/>
            <a:ext cx="158928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5 days, TF-CSF-LTS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0640" y="1800000"/>
            <a:ext cx="1969280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60640" y="1800000"/>
            <a:ext cx="196928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50640" y="1990000"/>
            <a:ext cx="158928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0640" y="2210000"/>
            <a:ext cx="158928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CBAM policy 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0640" y="2830000"/>
            <a:ext cx="1589280" cy="1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Egypt v3.0; global MVP v1.0 (59 rows)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Feeds NMIM process emissions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640" y="4580000"/>
            <a:ext cx="158928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No dated milestone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09920" y="1800000"/>
            <a:ext cx="1969280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09920" y="1800000"/>
            <a:ext cx="196928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99920" y="1990000"/>
            <a:ext cx="158928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3A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99920" y="2210000"/>
            <a:ext cx="158928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Excise Diagnostic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9920" y="2830000"/>
            <a:ext cx="1589280" cy="1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Three countries; handed to Dirk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Fiscal tools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9920" y="4580000"/>
            <a:ext cx="158928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Support 8-12 Mar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B · CREDITING, GHG ACCOUNTING, FFI (2A)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Policy crediting: a GHG figure for policy reforms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29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0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No tool for policy-based lending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830000"/>
            <a:ext cx="3022133" cy="18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The Climate Change Action Plan update recommends GHG accounting for DPFs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DPFs turn on policy reforms, not physical assets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0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WHAT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A simple Excel-AI-CPAT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0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GHG figure for a fuel-pricing policy, with the Total Carbon Price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Then policy crediting and the FFI (cross-border externalities)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Parameters and assumptions 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0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15 Feb-5 Mar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0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15-19 Feb: GHG accounting MVP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22 Feb-5 Mar: crediting and FFI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Depends on final Excel-AI (4 Dec)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asks: confirm the TF-TCAF-Crediting charge code; requirements for accounting, crediting and FFI are still 'to be added'.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B · FTT AND MFMOD (2B)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Existing models 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394100" cy="1300000"/>
          </a:xfrm>
          <a:prstGeom prst="rect">
            <a:avLst/>
          </a:prstGeom>
          <a:solidFill>
            <a:srgbClr val="FB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800" y="1920000"/>
            <a:ext cx="21541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Zoe's FTT national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800" y="2220000"/>
            <a:ext cx="2154100" cy="8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Data so FTT runs on CPAT's countries: power, cars, freight, heat, steel. Due 27 Nov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900" y="245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36900" y="1800000"/>
            <a:ext cx="2394100" cy="1300000"/>
          </a:xfrm>
          <a:prstGeom prst="rect">
            <a:avLst/>
          </a:prstGeom>
          <a:solidFill>
            <a:srgbClr val="FB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6900" y="1920000"/>
            <a:ext cx="21541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FTT ready to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6900" y="2220000"/>
            <a:ext cx="2154100" cy="8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Data aligned to CPAT countries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71000" y="245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261000" y="1800000"/>
            <a:ext cx="2394100" cy="1300000"/>
          </a:xfrm>
          <a:prstGeom prst="rect">
            <a:avLst/>
          </a:prstGeom>
          <a:solidFill>
            <a:srgbClr val="FBE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1000" y="1920000"/>
            <a:ext cx="21541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MFMod-Python (tbc)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000" y="2220000"/>
            <a:ext cx="2154100" cy="8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Macro unit's model: investment, debt, all taxes and spending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95100" y="245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985100" y="1800000"/>
            <a:ext cx="2394100" cy="13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05100" y="1920000"/>
            <a:ext cx="21541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One platform, 8-12 Feb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5100" y="2220000"/>
            <a:ext cx="2154100" cy="8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C9D3E0"/>
                </a:solidFill>
                <a:latin typeface="Calibri"/>
              </a:rPr>
              <a:t>CPAT + FTT + MFMod; one guide; due 12 Feb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3350000"/>
            <a:ext cx="10566400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4213D"/>
                </a:solidFill>
                <a:latin typeface="Calibri"/>
              </a:rPr>
              <a:t>Macro link today: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 CPAT's GDP block uses MFMod fiscal multipliers; the debt equation does not replace MFMod, FSA or DSA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4213D"/>
                </a:solidFill>
                <a:latin typeface="Calibri"/>
              </a:rPr>
              <a:t>Master doc: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 work with the macro team on MFMod for investment-macro analysis (memo item, TBC); contact Charl Jooste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4213D"/>
                </a:solidFill>
                <a:latin typeface="Calibri"/>
              </a:rPr>
              <a:t>Grant: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 C2 'connection between CPAT and FTT', FY28 USD 25,000; FTT national database possibly with Exeter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4213D"/>
                </a:solidFill>
                <a:latin typeface="Calibri"/>
              </a:rPr>
              <a:t>Gap: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 no ModelFlow material in any repo yet; out of scope: full FTT or MFMod integration into CPAT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B · CBAM POLICY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What a domestic carbon price does to the EU border charge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750000"/>
          <a:ext cx="10566400" cy="2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2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4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Egypt v3.0 (2030, $20/t, long run)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Heavy-industry emissions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Border charge per tonne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Of which credit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1A Comprehensive levy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-12.1%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-26.7%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-18.3%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2A/2B Upstream levy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-7.3%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-14.7%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-9.1%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3A Downstream price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-12.1%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-26.7%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-18.3%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3B With feebate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-8.9%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-8.4%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3C With abatement fund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-19.8%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-32.8%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-16.8%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2800" y="3950000"/>
            <a:ext cx="10566400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Credit for the domestic price does more for the border charge than abatement; a feebate forfeits the credit; a fund roughly doubles abatement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1A nationally: 71.5% of emissions priced, $5.6bn revenue, 40.7 Mt cut, 1,659 deaths avoided a year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66 sourced inputs; EU price $100/t with no phase-in; about 40% of the long-run response by 2030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B · CBAM POLICY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Global MVP, dashboard and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32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GLOBAL MVP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59 country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Egypt reproduces the study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Other countries: heavy-industry and border-charge rows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Placeholders register for unsourced values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CBAM DASHBOARD V1.0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Five countries, 2024-35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Egypt, Albania, Uzbekistan, Azerbaijan, India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Price that captures CBAM revenue: Egypt $94/t, India $92/t (2030)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CBAM is the trigger for a domestic price, not the main 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LIMITS AND 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To 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No trade or leakage model; credit rules may change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No dated milestone in the FY27 plan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Ask: CBAM inside CPAT, a priority?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B · EXCISE DIAGNOSTIC (FISCAL TOOLS)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Excise Diagnostic: method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33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250660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Every line, three 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830000"/>
            <a:ext cx="2126600" cy="2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Seven categories, five fields; 30 standard lines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US$ per unit, share of price, revenue % of GDP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Four-level report: minister's page down to legal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2506600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9400" y="1800000"/>
            <a:ext cx="250660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94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SIERRA LEONE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4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1.25-1.28% of GDP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400" y="2590000"/>
            <a:ext cx="2126600" cy="24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About 90% from fuel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Cigarettes about US$0.14 a pack (14% of price)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Peer review: 49 entries, 16 corrected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6000" y="1800000"/>
            <a:ext cx="2506600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86000" y="1800000"/>
            <a:ext cx="250660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60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UGANDA, LIBERIA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60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1.5-1.7% of GDP (Uganda)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6000" y="2830000"/>
            <a:ext cx="2126600" cy="2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Energy, tobacco, alcohol, SSBs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Uganda lines not yet peer reviewed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Liberia draft v0.3 (not for citation)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2600" y="1800000"/>
            <a:ext cx="2506600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72600" y="1800000"/>
            <a:ext cx="2506600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626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USABILITY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26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Run with AI, no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2600" y="2590000"/>
            <a:ext cx="2126600" cy="24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Claude Projects or Copilot agent mode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Stages A1-A6; human review between stages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Word report + Excel workbook; peer review mandatory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B · STATUS, TIMELINE,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Fiscal &amp; policy platform: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800000"/>
          <a:ext cx="10566400" cy="26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9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Next step / ask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16 Oct (done)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Excise Diagnostic to Dirk (3a_m2)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Name an owner; decide on the proposal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27 Nov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Zoe's FTT national project (2b_m1)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Ask Zoe for a review date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8-12 Feb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FTT + MFMod on one platform (2b_m2, due 12 Feb)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Decide MFMod in or out; macro-unit introduction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15 Feb-5 Mar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GHG accounting, crediting, FFI (2a_m1, due 5 Mar)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Confirm charge code and requirements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8-12 Mar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Follow-up support to Dirk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tbc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CBAM in CPAT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Decide priority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2250000"/>
            <a:ext cx="105664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8CC7BD"/>
                </a:solidFill>
                <a:latin typeface="Calibri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550000"/>
            <a:ext cx="105664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Climate policy platform: the pathways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4200000"/>
            <a:ext cx="845312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C9D3E0"/>
                </a:solidFill>
                <a:latin typeface="Calibri"/>
              </a:rPr>
              <a:t>Coded CPAT inside CDPM (formerly SiSePuede): one pathways tool and one 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9AA8BC"/>
                </a:solidFill>
                <a:latin typeface="Calibri"/>
              </a:rPr>
              <a:t>Climate-fiscal tools · 20 Oct 2026 · 35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3D7A73"/>
                </a:solidFill>
                <a:latin typeface="Calibri"/>
              </a:rPr>
              <a:t>C ·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One pathways tool, one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CDPM = the model formerly called SiSePuede · Climate-fiscal tools · 20 Oct 2026 · 36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Two halves of one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CDPM builds the physical trajectory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CPAT adds policy, prices, revenue, households and health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Neither can answer it alone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FIRST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Finance and environment ministries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830000"/>
            <a:ext cx="3022133" cy="2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Tax, revenue use, investment needs, emissions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Phase one policies: carbon pricing and public investment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WIDER PROGRAMME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One country policy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With David Groves: CPAT, CDPM, MANAGE and MINDSET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Pilots: Libya, Egypt, Morocco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3D7A73"/>
                </a:solidFill>
                <a:latin typeface="Calibri"/>
              </a:rPr>
              <a:t>C · WHY JOIN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Each model fills the other's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CDPM = the model formerly called SiSePuede · Climate-fiscal tools · 20 Oct 2026 · 37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800000"/>
          <a:ext cx="10566400" cy="2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3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3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endParaRPr/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CPAT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CDPM (formerly SiSePuede)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Retail prices, elasticities, carbon-tax revenue, subsidy reform, decile incidence, air-pollution health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Full IPCC inventory, transformation library, least-cost power (NeMo-Mod), cost-benefit, about 1,000 futures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Energy CO2 only; no AFOLU, IPPU or waste; deterministic; fixed technologies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No prices inside: no revenue, no fiscal incidence, no deciles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A carbon price moved CDPM's power mix by 0.000 pp through three routes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the tax enters CDPM as a demand response written by CPAT, not as a price.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3D7A73"/>
                </a:solidFill>
                <a:latin typeface="Calibri"/>
              </a:rPr>
              <a:t>C ·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Who does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CDPM = the model formerly called SiSePuede · Climate-fiscal tools · 20 Oct 2026 · 38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3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2506600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CDPM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Edmundo Molina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2126600" cy="2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Tec de Monterrey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Decides the implementation flow behind the user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2506600" cy="3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9400" y="1800000"/>
            <a:ext cx="2506600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94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POLICY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4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David (Dave) Groves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400" y="2590000"/>
            <a:ext cx="2126600" cy="2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Leads the policy process; stress-tests the user flow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Runs the wider programme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6000" y="1800000"/>
            <a:ext cx="2506600" cy="3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86000" y="1800000"/>
            <a:ext cx="2506600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60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USER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60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Sonya Sampson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6000" y="2590000"/>
            <a:ext cx="2126600" cy="2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User interface and user story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Article 6 work for Egypt first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2600" y="1800000"/>
            <a:ext cx="2506600" cy="3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72600" y="1800000"/>
            <a:ext cx="2506600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626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CPAT 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26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Stephen Stretton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2600" y="2590000"/>
            <a:ext cx="2126600" cy="2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Policy process and user flow write-up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Delivers coded CPAT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Kacper: power, prices database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3D7A73"/>
                </a:solidFill>
                <a:latin typeface="Calibri"/>
              </a:rPr>
              <a:t>C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How coded CPAT plugs into CDPM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CDPM = the model formerly called SiSePuede · Climate-fiscal tools · 20 Oct 2026 ·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1849280" cy="1150000"/>
          </a:xfrm>
          <a:prstGeom prst="rect">
            <a:avLst/>
          </a:prstGeom>
          <a:solidFill>
            <a:srgbClr val="E1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80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800" y="2220000"/>
            <a:ext cx="1609280" cy="6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Carbon tax, revenue use (CPAT inputs)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02080" y="23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92080" y="1800000"/>
            <a:ext cx="1849280" cy="1150000"/>
          </a:xfrm>
          <a:prstGeom prst="rect">
            <a:avLst/>
          </a:prstGeom>
          <a:solidFill>
            <a:srgbClr val="E1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208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Prices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2080" y="2220000"/>
            <a:ext cx="1609280" cy="6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CPAT retail prices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1360" y="23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71360" y="1800000"/>
            <a:ext cx="1849280" cy="1150000"/>
          </a:xfrm>
          <a:prstGeom prst="rect">
            <a:avLst/>
          </a:prstGeom>
          <a:solidFill>
            <a:srgbClr val="E1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9136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CPAT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1360" y="2220000"/>
            <a:ext cx="1609280" cy="6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Demand response, revenue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60640" y="23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50640" y="1800000"/>
            <a:ext cx="1849280" cy="1150000"/>
          </a:xfrm>
          <a:prstGeom prst="rect">
            <a:avLst/>
          </a:prstGeom>
          <a:solidFill>
            <a:srgbClr val="E1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064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CDPM pathways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0" y="2220000"/>
            <a:ext cx="1609280" cy="6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Emissions, transformations, power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9920" y="23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529920" y="1800000"/>
            <a:ext cx="1849280" cy="11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992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Welfare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9920" y="2220000"/>
            <a:ext cx="1609280" cy="6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C9D3E0"/>
                </a:solidFill>
                <a:latin typeface="Calibri"/>
              </a:rPr>
              <a:t>Air pollution, households (CPAT)</a:t>
            </a:r>
          </a:p>
        </p:txBody>
      </p:sp>
      <p:sp>
        <p:nvSpPr>
          <p:cNvPr id="24" name="Oval 23"/>
          <p:cNvSpPr/>
          <p:nvPr/>
        </p:nvSpPr>
        <p:spPr>
          <a:xfrm>
            <a:off x="812800" y="3200000"/>
            <a:ext cx="330000" cy="330000"/>
          </a:xfrm>
          <a:prstGeom prst="ellipse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2800" y="320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2800" y="323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Price channel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2800" y="3230000"/>
            <a:ext cx="68664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Demand ratio R = (1 + k·tax)^ε from CPAT's elasticity table, applied to CDPM's own quantities</a:t>
            </a:r>
          </a:p>
        </p:txBody>
      </p:sp>
      <p:sp>
        <p:nvSpPr>
          <p:cNvPr id="28" name="Oval 27"/>
          <p:cNvSpPr/>
          <p:nvPr/>
        </p:nvSpPr>
        <p:spPr>
          <a:xfrm>
            <a:off x="812800" y="3640000"/>
            <a:ext cx="330000" cy="330000"/>
          </a:xfrm>
          <a:prstGeom prst="ellipse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800" y="364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2800" y="367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Income channel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2800" y="3670000"/>
            <a:ext cx="68664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CPAT's GDP effect for each revenue use scales CDPM's GDP</a:t>
            </a:r>
          </a:p>
        </p:txBody>
      </p:sp>
      <p:sp>
        <p:nvSpPr>
          <p:cNvPr id="32" name="Oval 31"/>
          <p:cNvSpPr/>
          <p:nvPr/>
        </p:nvSpPr>
        <p:spPr>
          <a:xfrm>
            <a:off x="812800" y="4080000"/>
            <a:ext cx="330000" cy="330000"/>
          </a:xfrm>
          <a:prstGeom prst="ellipse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2800" y="408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2800" y="411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Money channel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2800" y="4110000"/>
            <a:ext cx="68664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Dollars / cost per dose = a transformation magnitude, capped at the largest dose measured</a:t>
            </a:r>
          </a:p>
        </p:txBody>
      </p:sp>
      <p:sp>
        <p:nvSpPr>
          <p:cNvPr id="36" name="Oval 35"/>
          <p:cNvSpPr/>
          <p:nvPr/>
        </p:nvSpPr>
        <p:spPr>
          <a:xfrm>
            <a:off x="812800" y="4520000"/>
            <a:ext cx="330000" cy="330000"/>
          </a:xfrm>
          <a:prstGeom prst="ellipse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2800" y="4520000"/>
            <a:ext cx="33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12800" y="455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Power channel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2800" y="4550000"/>
            <a:ext cx="68664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Scale CDPM's minimum gas share by CPAT's ratio; CDPM picks the replacement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800" y="5050000"/>
            <a:ext cx="10566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5B6573"/>
                </a:solidFill>
                <a:latin typeface="Calibri"/>
              </a:rPr>
              <a:t>Rule: prices, elasticities and money cross the bridge; tonnes never do. 218 of 2,638 input columns change in a taxed copy.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3D7A73"/>
                </a:solidFill>
                <a:latin typeface="Calibri"/>
              </a:rPr>
              <a:t>C ·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Sectoral and data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CDPM = the model formerly called SiSePuede · Climate-fiscal tools · 20 Oct 2026 ·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800000"/>
            <a:ext cx="10566400" cy="3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Feasible: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a consistent two-way CPAT-CDPM conversion despite different structures (Dec 2025 study)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Structures: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CDPM 5 sectors, 20 IPCC subsectors; CPAT 16 energy sectors from 23 IEA flows plus 5 non-energy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Mapping: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non-energy sectors map almost directly; energy sectors need proxy-based split factors; cement needs special care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Shared inputs: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GDP aligned on growth (PPP vs market dollars, 3.6x apart); power aligned on fossil share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Base year 2022: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fuel totals agree to 2.6% but the mix does not; it matters ±12% on the response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Data pack: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Egypt, MENA and global files for the cpat_sisepuede repo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3D7A73"/>
                </a:solidFill>
                <a:latin typeface="Calibri"/>
              </a:rPr>
              <a:t>C · EGYPT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CDPM reproduces CPAT's carbon-tax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July test, tax $0 (2025) to $30/t (2040), 2022-40 · CDPM = the model formerly called SiSePuede · Climate-fiscal tools · 20 Oct 2026 · 41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10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-7.29%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22066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total cumulative cut in CDPM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9400" y="1800000"/>
            <a:ext cx="2506600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50000" cy="11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94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4213D"/>
                </a:solidFill>
                <a:latin typeface="Cambria"/>
              </a:rPr>
              <a:t>-8.03%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9400" y="2440000"/>
            <a:ext cx="22066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total cumulative cut in CPAT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6000" y="1800000"/>
            <a:ext cx="2506600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6000" y="1800000"/>
            <a:ext cx="50000" cy="110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60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exact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6000" y="2440000"/>
            <a:ext cx="22066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industry, transport, buildings match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72600" y="1800000"/>
            <a:ext cx="2506600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72600" y="1800000"/>
            <a:ext cx="50000" cy="110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26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600" y="2440000"/>
            <a:ext cx="22066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the whole residual: -3.6% vs -5.4%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3200000"/>
            <a:ext cx="10566400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Nothing tuned to match: CPAT's table elasticities reproduce both CPAT runs to within 2.1%; a fitted exponent drifts 17% on average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Grids aligned in the baseline first: the renewable gap went from 27 points to a 6-point overshoot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Relative responses, not tonnes: CDPM's 2040 baseline is 1.57x CPAT's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Egypt's effective carbon price is -$202/t in 2022 (net subsidy): the tool must show headline and effective prices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3D7A73"/>
                </a:solidFill>
                <a:latin typeface="Calibri"/>
              </a:rPr>
              <a:t>C · EGYPT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The two-track tool: tax, revenue,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Tax $0 (2025) to $50/t (2050) · CDPM = the model formerly called SiSePuede · Climate-fiscal tools · 20 Oct 2026 · 42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2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US$146.9bn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220660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revenue 2022-41; split 30% labour tax, 50% public investment, 20% transfers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94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50000" cy="12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94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4213D"/>
                </a:solidFill>
                <a:latin typeface="Cambria"/>
              </a:rPr>
              <a:t>-11.5%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9400" y="2440000"/>
            <a:ext cx="220660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2041 emissions: 810 to 717 MtCO2e with the tax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60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6000" y="1800000"/>
            <a:ext cx="50000" cy="12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60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-19.5%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6000" y="2440000"/>
            <a:ext cx="220660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cumulative 2025-41 when public investment buys CDPM transformations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726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72600" y="1800000"/>
            <a:ext cx="50000" cy="12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26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US$6.4/t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600" y="2440000"/>
            <a:ext cx="220660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tax in 2040 that pays for a 10% target (track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3300000"/>
            <a:ext cx="105664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Track 2: the pathway reaches 9.6% below baseline, costs US$17.2bn; the tax raises US$34.6bn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GDP +0.10% (2041); 5,301 deaths averted by 2040; poorest 10% gain 0.43% of consumption, richest lose 0.10%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Revenue surface: 35 CPAT runs (7 tax levels x 5 uses); worst error 0.09%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3D7A73"/>
                </a:solidFill>
                <a:latin typeface="Calibri"/>
              </a:rPr>
              <a:t>C ·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One flow for the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CDPM = the model formerly called SiSePuede · Climate-fiscal tools · 20 Oct 2026 · 43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1849280" cy="1250000"/>
          </a:xfrm>
          <a:prstGeom prst="rect">
            <a:avLst/>
          </a:prstGeom>
          <a:solidFill>
            <a:srgbClr val="E1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80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1  Pathway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800" y="2220000"/>
            <a:ext cx="1609280" cy="7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BAU, NDC or custom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02080" y="242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92080" y="1800000"/>
            <a:ext cx="1849280" cy="1250000"/>
          </a:xfrm>
          <a:prstGeom prst="rect">
            <a:avLst/>
          </a:prstGeom>
          <a:solidFill>
            <a:srgbClr val="E1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208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2  Policy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2080" y="2220000"/>
            <a:ext cx="1609280" cy="7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Carbon tax, revenue use, other choices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1360" y="242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71360" y="1800000"/>
            <a:ext cx="1849280" cy="1250000"/>
          </a:xfrm>
          <a:prstGeom prst="rect">
            <a:avLst/>
          </a:prstGeom>
          <a:solidFill>
            <a:srgbClr val="E1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9136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3 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1360" y="2220000"/>
            <a:ext cx="1609280" cy="7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CPAT, pathways engine, cost modules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60640" y="242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50640" y="1800000"/>
            <a:ext cx="1849280" cy="1250000"/>
          </a:xfrm>
          <a:prstGeom prst="rect">
            <a:avLst/>
          </a:prstGeom>
          <a:solidFill>
            <a:srgbClr val="E1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064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4  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0" y="2220000"/>
            <a:ext cx="1609280" cy="7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The simulated pathway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9920" y="242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529920" y="1800000"/>
            <a:ext cx="1849280" cy="12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992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5-6  Optimise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9920" y="2220000"/>
            <a:ext cx="1609280" cy="7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C9D3E0"/>
                </a:solidFill>
                <a:latin typeface="Calibri"/>
              </a:rPr>
              <a:t>Optional: tax level, investments, allocation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3300000"/>
            <a:ext cx="10566400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Every run reports emissions, revenue, investment needs, prices, GDP, households, carbon markets; distribution and CBAM to add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Three requirements: an agreed user flow; convertibility between models; one interface with integrated policy inputs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Early November workshop on user experience, kept separate from the technical integration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3D7A73"/>
                </a:solidFill>
                <a:latin typeface="Calibri"/>
              </a:rPr>
              <a:t>C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Open issue: incremental vs capital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CDPM = the model formerly called SiSePuede · Climate-fiscal tools · 20 Oct 2026 · 44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2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Two kinds of cost are mixed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CDPM: subsidies pay part of private marginal abatement cost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Upfront public investment is treated like subsidies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CDPM's 'investment' is closer to net incremental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2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Separate them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Running subsidies vs upfront public investment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Show how a carbon tax lowers each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Report dollars and marginal costs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2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Where the fix lives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Bring some CDPM data into coded CPAT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Or put demand reductions into CDPM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Next: a short methodology note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this is also the bridge to the PFR proposal: the same split drives the budget cost of energy investment.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3D7A73"/>
                </a:solidFill>
                <a:latin typeface="Calibri"/>
              </a:rPr>
              <a:t>C · STATUS, TIMELINE,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Climate platform: on track to pilots in January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CDPM = the model formerly called SiSePuede · Climate-fiscal tools · 20 Oct 2026 · 45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750000"/>
          <a:ext cx="105664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5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13 Oct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Scoping meeting with David Groves and Sonya Sampson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19 Oct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Edmundo meeting went well; CPAT sent; CPAT-CDPM repo created (milestone done)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Late Oct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Egypt mission: Article 6 and carbon markets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Early Nov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User-flow workshop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Early Dec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Final coded CPAT to Edmundo; Morocco first cut and user feedback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4-15 Jan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Integration (prices database check, Kacper); pilot projects; tool complete 15 Jan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29 Jan / Feb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Applied in Morocco; full coded integration end January; mission in February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2800" y="4700000"/>
            <a:ext cx="105664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Risks: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double counting of demand; coded CPAT reproduces about half of Excel's Egypt response so far; CPAT runs to 2041, CDPM to 2050; failed power solves return zeros.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Asks: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agree the cost split before integration; confirm when CDPM switches to coded CPAT.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2250000"/>
            <a:ext cx="105664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9DBBDD"/>
                </a:solidFill>
                <a:latin typeface="Calibri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550000"/>
            <a:ext cx="105664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PFR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00000"/>
            <a:ext cx="845312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C9D3E0"/>
                </a:solidFill>
                <a:latin typeface="Calibri"/>
              </a:rPr>
              <a:t>Energy costs and fiscal risks · efficiency of public expenditure · integration of tax changes · Tax &amp; Macro-Fiscal Dashboard · investment needs · CPAT-LTS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9AA8BC"/>
                </a:solidFill>
                <a:latin typeface="Calibri"/>
              </a:rPr>
              <a:t>Climate-fiscal tools · 20 Oct 2026 · 46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F5A96"/>
                </a:solidFill>
                <a:latin typeface="Calibri"/>
              </a:rPr>
              <a:t>D ·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The gap: PFRs have no expenditure-policy chapter on climate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47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PFRS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Debt, deficits,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17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Climate chapters on fiscal risk (macro) and revenue (e.g. carbon taxes)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No dedicated chapter on expenditure policy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CCDRS AND LTSS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The 'what', not the 'how'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17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Emissions pathways, sector transformation, co-benefits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Mitigation is mostly infrastructure: energy, transport, urban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FISCAL-LTS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'How to pay for it'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17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Less detailed than a CCDR, built on CCDR data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For PFRs and CCDR macro chapters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12800" y="4600000"/>
          <a:ext cx="10566400" cy="11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5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Fiscal-LTS component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1 Public investment model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Public investment to emissions cuts (CCDR data; CDPM pseudo-model)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2 Private investment policy model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Power sector: carbon pricing, procurement, fuel price reform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3 Debt equation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IMF revenue forecasts in forward projections, with gains from tax reform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4 Investment needs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Total mitigation needs (CCDR) against current investment and maintenance spending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F5A96"/>
                </a:solidFill>
                <a:latin typeface="Calibri"/>
              </a:rPr>
              <a:t>D · ENERGY COSTS AND FISCAL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The investment approach in three versions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48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V1 · IN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Process emissions and green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830000"/>
            <a:ext cx="3022133" cy="16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Process emissions for CBAM sectors (with Karly)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Green public investment from CCDR data (prototyped)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800" y="4110000"/>
            <a:ext cx="3022133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1F5A96"/>
                </a:solidFill>
                <a:latin typeface="Cambria"/>
              </a:rPr>
              <a:t>50%</a:t>
            </a:r>
            <a:r>
              <a:rPr sz="1000" b="0" i="0">
                <a:solidFill>
                  <a:srgbClr val="5B6573"/>
                </a:solidFill>
                <a:latin typeface="Calibri"/>
              </a:rPr>
              <a:t>  partly done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2800" y="4480000"/>
            <a:ext cx="3022133" cy="90000"/>
          </a:xfrm>
          <a:prstGeom prst="rect">
            <a:avLst/>
          </a:prstGeom>
          <a:solidFill>
            <a:srgbClr val="E3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2800" y="4480000"/>
            <a:ext cx="1511066" cy="9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94933" y="1800000"/>
            <a:ext cx="3402133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V2 · TO BE AGREED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Debt projections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4933" y="2590000"/>
            <a:ext cx="3022133" cy="19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Debt(t+1) = debt·(1+i)/(1+g+π) - primary balance + adjustments + disaster costs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IMF 10-year projections; not a DSA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933" y="4110000"/>
            <a:ext cx="3022133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1F5A96"/>
                </a:solidFill>
                <a:latin typeface="Cambria"/>
              </a:rPr>
              <a:t>0%</a:t>
            </a:r>
            <a:r>
              <a:rPr sz="1000" b="0" i="0">
                <a:solidFill>
                  <a:srgbClr val="5B6573"/>
                </a:solidFill>
                <a:latin typeface="Calibri"/>
              </a:rPr>
              <a:t>  not started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84933" y="4480000"/>
            <a:ext cx="3022133" cy="90000"/>
          </a:xfrm>
          <a:prstGeom prst="rect">
            <a:avLst/>
          </a:prstGeom>
          <a:solidFill>
            <a:srgbClr val="E3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77066" y="1800000"/>
            <a:ext cx="3402133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V3 · TO BE AGREED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Efficiency and energy fiscal 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7066" y="2830000"/>
            <a:ext cx="3022133" cy="16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Efficiency of public investment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Energy fiscal costs and risks for finance ministries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= the core of the PFR proposal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7066" y="4110000"/>
            <a:ext cx="3022133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14213D"/>
                </a:solidFill>
                <a:latin typeface="Cambria"/>
              </a:rPr>
              <a:t>0%</a:t>
            </a:r>
            <a:r>
              <a:rPr sz="1000" b="0" i="0">
                <a:solidFill>
                  <a:srgbClr val="5B6573"/>
                </a:solidFill>
                <a:latin typeface="Calibri"/>
              </a:rPr>
              <a:t>  not started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67066" y="4480000"/>
            <a:ext cx="3022133" cy="90000"/>
          </a:xfrm>
          <a:prstGeom prst="rect">
            <a:avLst/>
          </a:prstGeom>
          <a:solidFill>
            <a:srgbClr val="E3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V2 and V3 have no days or dates; the PFR proposal would give them a home.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F5A96"/>
                </a:solidFill>
                <a:latin typeface="Calibri"/>
              </a:rPr>
              <a:t>D · EFFICIENCY OF PUBLIC EXPENDITURE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Efficiency: reform is finance at negative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49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2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1.5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220660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median PEFA public investment score (61 economies); only 2 above 3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94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50000" cy="12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94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87%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9400" y="2440000"/>
            <a:ext cx="220660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median capital budget execution; 11 economies spend under half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60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6000" y="1800000"/>
            <a:ext cx="50000" cy="12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60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4213D"/>
                </a:solidFill>
                <a:latin typeface="Cambria"/>
              </a:rPr>
              <a:t>+16%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6000" y="2440000"/>
            <a:ext cx="220660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EMDC investment needs after the PIMA efficiency adjustment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726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72600" y="1800000"/>
            <a:ext cx="50000" cy="12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26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13/27/40%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600" y="2440000"/>
            <a:ext cx="220660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efficiency gaps: advanced, emerging, low-income (IMF 2015)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3300000"/>
            <a:ext cx="10566400" cy="1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Investment-needs v1.1: the PIMA adjustment lifts world needs from USD 5.2tn to 5.8tn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Dashboard PIMA block: BOOST budget execution, PEFA PI-11 and PI-12.2, UNDP climate-PFM flag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4213D"/>
                </a:solidFill>
                <a:latin typeface="Calibri"/>
              </a:rPr>
              <a:t>Gap:</a:t>
            </a:r>
            <a:r>
              <a:rPr sz="1200" b="0" i="0">
                <a:solidFill>
                  <a:srgbClr val="3F4A5A"/>
                </a:solidFill>
                <a:latin typeface="Calibri"/>
              </a:rPr>
              <a:t> IMF PIMA and C-PIMA scores not yet in the data; V3 of the investment approach not agreed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F5A96"/>
                </a:solidFill>
                <a:latin typeface="Calibri"/>
              </a:rPr>
              <a:t>D · INTEGRATION OF TAX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Tax changes: the pieces exist, the chain does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50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1849280" cy="130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80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Excise Diagnostic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800" y="2220000"/>
            <a:ext cx="1609280" cy="8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Standardised excise data for PFRs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02080" y="245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92080" y="1800000"/>
            <a:ext cx="1849280" cy="130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2080" y="1920000"/>
            <a:ext cx="160928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CPAT prices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2080" y="2470000"/>
            <a:ext cx="160928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Fuel prices, taxes, subsidies; feeds all models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1360" y="245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71360" y="1800000"/>
            <a:ext cx="1849280" cy="130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9136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Excel-AI CPAT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1360" y="2220000"/>
            <a:ext cx="1609280" cy="8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Revenue by policy; fiscal space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60640" y="245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50640" y="1800000"/>
            <a:ext cx="1849280" cy="130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0640" y="1920000"/>
            <a:ext cx="160928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Debt equation (V2)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0" y="2470000"/>
            <a:ext cx="160928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Tax gains in forward projections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9920" y="245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529920" y="1800000"/>
            <a:ext cx="1849280" cy="13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9920" y="1920000"/>
            <a:ext cx="1609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PFR chapter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9920" y="2220000"/>
            <a:ext cx="1609280" cy="8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C9D3E0"/>
                </a:solidFill>
                <a:latin typeface="Calibri"/>
              </a:rPr>
              <a:t>Revenue and spending together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3500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2800" y="3500000"/>
            <a:ext cx="101664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no single documented process links excise and tax changes through to debt and the PFR chapter: step 4 of the proposal.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F5A96"/>
                </a:solidFill>
                <a:latin typeface="Calibri"/>
              </a:rPr>
              <a:t>D · INVESTMENT NEEDS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How much, and who pays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CDPM = the model formerly called SiSePuede · Climate-fiscal tools · 20 Oct 2026 · 51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2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USD 5.2tn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220660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net zero investment in 2030, of which 1.7tn incremental (v1.1)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94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50000" cy="12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94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USD 38bn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9400" y="2440000"/>
            <a:ext cx="220660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net cost a year at 6%, about $41/t; saves $43bn with co-benefits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60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6000" y="1800000"/>
            <a:ext cx="50000" cy="12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60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6000" y="2440000"/>
            <a:ext cx="220660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direct budget need, world 2030: USD 708bn (NMIM v0.2)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726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72600" y="1800000"/>
            <a:ext cx="50000" cy="12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2600" y="1930000"/>
            <a:ext cx="2206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4213D"/>
                </a:solidFill>
                <a:latin typeface="Cambria"/>
              </a:rPr>
              <a:t>29%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600" y="2440000"/>
            <a:ext cx="2206600" cy="5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in other EMDCs (USD 379bn); two-thirds in low-income countries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12800" y="3300000"/>
          <a:ext cx="105664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Who pays (world 2030)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USD bn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P1 pure public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511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P4 viability gap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P5 pure private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1,567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Direct budget need (P1 + 30% of P4)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708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12800" y="5000000"/>
            <a:ext cx="10566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NMIM: 186 countries, 2024-50, CPAT norms; workbook equals Python for 8 test countries. Type shares are judgements; market data end 2013; no price response.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F5A96"/>
                </a:solidFill>
                <a:latin typeface="Calibri"/>
              </a:rPr>
              <a:t>D · FISCAL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Tax &amp; Macro-Fiscal Dashboard and the fiscal-risk upgrade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52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3B ·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53 indicators, 217 countries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5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9 blocks, 16 public datasets; scored 1-10, sourced, nothing imputed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Judging blocks: fiscal space, delivery (PIMA), cost of capital, financing risk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Handed to Dirk; support 8-12 Mar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FINDINGS (98 CCDR ECONOMIES)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Where risk 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5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19 net fuel exporters face a revenue cliff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23 economies get over half their power from oil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Official-private borrowing spread median 2.1pp, up to 8.7pp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UPGRADE V1.5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Climate-fiscal risk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5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Climate risk (INFORM), adaptation (ND-GAIN), mitigation, revenue, spending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PFR models catalogue (Climate Scan, CPAT, MFMod)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No owner, version plan or dates yet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F5A96"/>
                </a:solidFill>
                <a:latin typeface="Calibri"/>
              </a:rPr>
              <a:t>D · CPAT-LTS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CPAT-LTS (CSF grant): components and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53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750000"/>
          <a:ext cx="105664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USD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C1 Securing continuation (data)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07/2025-06/2028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50k a year FY26-28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C2 Power tipping points; transport technology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07/2025-06/2027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25k + 25k a year FY26-27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C2 CPAT-FTT connection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07/2027-06/2028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25k FY28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C3 Policy packages (mixes, costs, financing)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07/2025-06/2027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25k a year FY26-27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C4 Online tool; capacity building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07/2025-06/2028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25k a year; 50k, 50k, 125k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2800" y="4050000"/>
            <a:ext cx="10566400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Status (July 2026):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C1 data done; C2 transport model done, power in progress; C3 policy mixes in main CPAT; C4 Python tool done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Countries: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Uganda, Egypt, Morocco (TOR); Morocco application in FY27; capacity building done in Uzbekistan and Azerbaijan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Partners: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Tec de Monterrey USD 215k (year one), of which USD 20k for CPAT integration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F5A96"/>
                </a:solidFill>
                <a:latin typeface="Calibri"/>
              </a:rPr>
              <a:t>D · STATUS, TIMELINE,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PFR platform: from parts to a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54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800000"/>
          <a:ext cx="10566400" cy="26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2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3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Piece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Next step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Tax &amp; Macro-Fiscal Dashboard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Delivered (Dirk); support 8-12 Mar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Owner; PIMA and C-PIMA data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Fiscal Risk Dashboard v1.5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Prototype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Owner and plan (proposal step 2)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Investment needs (NMIM v0.2)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Built 20 Oct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Review market structure; link to MFMod debt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Investment approach V1 / V2 / V3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In progress / to agree / to agree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Agree V2-V3 (proposal)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CPAT-LTS grant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On track; FY27 Morocco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Online coded CPAT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End-to-end process (proposal)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Proposed today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Concept note; pilot country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2250000"/>
            <a:ext cx="105664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E8B04A"/>
                </a:solidFill>
                <a:latin typeface="Calibri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550000"/>
            <a:ext cx="105664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00000"/>
            <a:ext cx="845312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C9D3E0"/>
                </a:solidFill>
                <a:latin typeface="Calibri"/>
              </a:rPr>
              <a:t>AI working methods and guides · Energy GP cross-support · global coverage · parked and dropped · Egypt and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9AA8BC"/>
                </a:solidFill>
                <a:latin typeface="Calibri"/>
              </a:rPr>
              <a:t>Climate-fiscal tools · 20 Oct 2026 · 55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9A6B12"/>
                </a:solidFill>
                <a:latin typeface="Calibri"/>
              </a:rPr>
              <a:t>E · AI WORKING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How we use AI: one tool, two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56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2506600" cy="50000"/>
          </a:xfrm>
          <a:prstGeom prst="rect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E8B04A"/>
                </a:solidFill>
                <a:latin typeface="Calibri"/>
              </a:rPr>
              <a:t>MAIN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GitHub Copilot (and Claude)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830000"/>
            <a:ext cx="2126600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Many models; VS Code or desktop app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Default allowance about $19 a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2506600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9400" y="1800000"/>
            <a:ext cx="2506600" cy="50000"/>
          </a:xfrm>
          <a:prstGeom prst="rect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94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E8B04A"/>
                </a:solidFill>
                <a:latin typeface="Calibri"/>
              </a:rPr>
              <a:t>PERSONAL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4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Code, no proprietary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400" y="2830000"/>
            <a:ext cx="2126600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Proprietary data taken out of code and scripts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6000" y="1800000"/>
            <a:ext cx="2506600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86000" y="1800000"/>
            <a:ext cx="2506600" cy="50000"/>
          </a:xfrm>
          <a:prstGeom prst="rect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60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E8B04A"/>
                </a:solidFill>
                <a:latin typeface="Calibri"/>
              </a:rPr>
              <a:t>ENTERPRISE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60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Confidential data and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6000" y="2830000"/>
            <a:ext cx="2126600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Enterprise AI incl. MAI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Ask: enterprise access (blocked)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2600" y="1800000"/>
            <a:ext cx="2506600" cy="2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72600" y="1800000"/>
            <a:ext cx="2506600" cy="50000"/>
          </a:xfrm>
          <a:prstGeom prst="rect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626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E8B04A"/>
                </a:solidFill>
                <a:latin typeface="Calibri"/>
              </a:rPr>
              <a:t>FOR OTHERS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26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Guides and scripts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2600" y="2590000"/>
            <a:ext cx="2126600" cy="17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Copilot user guide (33 slides)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Repos in cpmodel so IMF colleagues can work in them</a:t>
            </a:r>
          </a:p>
        </p:txBody>
      </p:sp>
      <p:sp>
        <p:nvSpPr>
          <p:cNvPr id="25" name="Oval 24"/>
          <p:cNvSpPr/>
          <p:nvPr/>
        </p:nvSpPr>
        <p:spPr>
          <a:xfrm>
            <a:off x="812800" y="4550000"/>
            <a:ext cx="230000" cy="230000"/>
          </a:xfrm>
          <a:prstGeom prst="ellipse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" y="4550000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2800" y="458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AI recommends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2800" y="4580000"/>
            <a:ext cx="6866400" cy="2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3F4A5A"/>
                </a:solidFill>
                <a:latin typeface="Calibri"/>
              </a:rPr>
              <a:t>Which datasets and where to find them</a:t>
            </a:r>
          </a:p>
        </p:txBody>
      </p:sp>
      <p:sp>
        <p:nvSpPr>
          <p:cNvPr id="29" name="Oval 28"/>
          <p:cNvSpPr/>
          <p:nvPr/>
        </p:nvSpPr>
        <p:spPr>
          <a:xfrm>
            <a:off x="812800" y="4820000"/>
            <a:ext cx="230000" cy="230000"/>
          </a:xfrm>
          <a:prstGeom prst="ellipse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2800" y="4820000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2800" y="485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Scripts download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2800" y="4850000"/>
            <a:ext cx="6866400" cy="2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3F4A5A"/>
                </a:solidFill>
                <a:latin typeface="Calibri"/>
              </a:rPr>
              <a:t>Source list and download scripts</a:t>
            </a:r>
          </a:p>
        </p:txBody>
      </p:sp>
      <p:sp>
        <p:nvSpPr>
          <p:cNvPr id="33" name="Oval 32"/>
          <p:cNvSpPr/>
          <p:nvPr/>
        </p:nvSpPr>
        <p:spPr>
          <a:xfrm>
            <a:off x="812800" y="5090000"/>
            <a:ext cx="230000" cy="230000"/>
          </a:xfrm>
          <a:prstGeom prst="ellipse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2800" y="5090000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2800" y="512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AI builds the database and tool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2800" y="5120000"/>
            <a:ext cx="6866400" cy="2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3F4A5A"/>
                </a:solidFill>
                <a:latin typeface="Calibri"/>
              </a:rPr>
              <a:t>Structured, auditable, with sources</a:t>
            </a:r>
          </a:p>
        </p:txBody>
      </p:sp>
      <p:sp>
        <p:nvSpPr>
          <p:cNvPr id="37" name="Oval 36"/>
          <p:cNvSpPr/>
          <p:nvPr/>
        </p:nvSpPr>
        <p:spPr>
          <a:xfrm>
            <a:off x="812800" y="5360000"/>
            <a:ext cx="230000" cy="230000"/>
          </a:xfrm>
          <a:prstGeom prst="ellipse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2800" y="5360000"/>
            <a:ext cx="230000" cy="2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2800" y="539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14213D"/>
                </a:solidFill>
                <a:latin typeface="Calibri"/>
              </a:rPr>
              <a:t>People check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2800" y="5390000"/>
            <a:ext cx="6866400" cy="2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3F4A5A"/>
                </a:solidFill>
                <a:latin typeface="Calibri"/>
              </a:rPr>
              <a:t>AI makes many mistakes; about 3 days of checking per tool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9A6B12"/>
                </a:solidFill>
                <a:latin typeface="Calibri"/>
              </a:rPr>
              <a:t>E · ENERGY GP, COVERAGE, EGYPT,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Other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57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2506600" cy="50000"/>
          </a:xfrm>
          <a:prstGeom prst="rect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E8B04A"/>
                </a:solidFill>
                <a:latin typeface="Calibri"/>
              </a:rPr>
              <a:t>3C · NOT FUNDED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Energy GP cross-support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830000"/>
            <a:ext cx="2126600" cy="2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Treasury GP finance model with the Energy GP model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For concessional financing; code help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16 days unfunded; 0 slotted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2506600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9400" y="1800000"/>
            <a:ext cx="2506600" cy="50000"/>
          </a:xfrm>
          <a:prstGeom prst="rect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94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E8B04A"/>
                </a:solidFill>
                <a:latin typeface="Calibri"/>
              </a:rPr>
              <a:t>GLOBAL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4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Country 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400" y="2590000"/>
            <a:ext cx="2126600" cy="24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CPAT about 200 countries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Dashboard 217; investment needs 195; NMIM 186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CBAM global MVP 59 rows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6000" y="1800000"/>
            <a:ext cx="2506600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86000" y="1800000"/>
            <a:ext cx="2506600" cy="50000"/>
          </a:xfrm>
          <a:prstGeom prst="rect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60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E8B04A"/>
                </a:solidFill>
                <a:latin typeface="Calibri"/>
              </a:rPr>
              <a:t>EGYPT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60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First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6000" y="2590000"/>
            <a:ext cx="2126600" cy="24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Planning and Egypt work done (28 Sep-2 Oct)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CBAM study v3.0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Pilot projects from 11 Jan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2600" y="1800000"/>
            <a:ext cx="2506600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72600" y="1800000"/>
            <a:ext cx="2506600" cy="50000"/>
          </a:xfrm>
          <a:prstGeom prst="rect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62600" y="1990000"/>
            <a:ext cx="21266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E8B04A"/>
                </a:solidFill>
                <a:latin typeface="Calibri"/>
              </a:rPr>
              <a:t>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2600" y="2210000"/>
            <a:ext cx="21266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Capacity building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2600" y="2590000"/>
            <a:ext cx="2126600" cy="24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Done: Uzbekistan, Azerbaijan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Uganda requested training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Grant: USD 50k, 50k, 125k (FY26-28)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9A6B12"/>
                </a:solidFill>
                <a:latin typeface="Calibri"/>
              </a:rPr>
              <a:t>E ·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Where to find the decks, guides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58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700000"/>
          <a:ext cx="105664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7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Where (repo / folder)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Overview deck (this deck's predecessor): AIClimate-FiscalTools v2.5; FY27 work plan v2.6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PlanningPPTsAndGeneral and CPAT-AI: 'Presentations - Overarching'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Excel-AI MVP v6.2, QuickStart, method notes, registers, overview decks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CPAT-AI: cpat_excel/ (mitigation_copypaste/)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Coded CPAT, Shiny app, developer guide, legacy export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CPAT-AI: cpat_coded/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Pathways: CDPM decks, walkthrough, bridge map, methodology, data mappings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CPAT-CDPM: MainProjectFolder/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CPAT-LTS grant deck and Fiscal-LTS master document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CPAT-CDPM: MainProjectFolder/9. CPAT-LTS Project, 8. Archive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Excise Diagnostic: user guide, proposal, working paper v0.9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new-ai-tools: ExciseDiagnostic/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Tax &amp; Macro-Fiscal Dashboard: user guide, v1.0 deck; fiscal-risk and CBAM dashboards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new-ai-tools: TaxMacroFiscalDashboard/ (upgrades/)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CBAM policy tool: guide v3.0, Egypt study, global MVP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new-ai-tools: CBAMPolicyTool/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Investment needs: v1.1, NMIM v0.2, methodology; GitHub Copilot user guide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new-ai-tools: InvestmentNeeds/, Docs and PPTs/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9A6B12"/>
                </a:solidFill>
                <a:latin typeface="Calibri"/>
              </a:rPr>
              <a:t>E · PARKED AND DROPPED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What we are not doing this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59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800000"/>
          <a:ext cx="10566400" cy="3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5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Patching legacy Excel (new tab, LAMBDAs); full CPAT replacement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Dropped from FY27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Merging FTT or MFMod into CPAT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Out of scope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Validating legacy CPAT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Separate note, out of scope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ETS pilot, downstream pricing, CPAT paper (April items)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Confirm done, handed over or dropped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Policy issue reports (e.g. feebates)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Dropped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Air-pollution co-benefits, transport externalities, road model follow-ups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Dropped 20 Oct (plans kept)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Single Python platform; global CPAT; MAC curve for policies; investment framework for PFRs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Parked ideas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2250000"/>
            <a:ext cx="105664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E3A36B"/>
                </a:solidFill>
                <a:latin typeface="Calibri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550000"/>
            <a:ext cx="105664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Plan, days and 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00000"/>
            <a:ext cx="845312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C9D3E0"/>
                </a:solidFill>
                <a:latin typeface="Calibri"/>
              </a:rPr>
              <a:t>FY27 work plan v2.6 (15 Oct 2026): objectives, days, charge codes, milestones, sequencing,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9AA8BC"/>
                </a:solidFill>
                <a:latin typeface="Calibri"/>
              </a:rPr>
              <a:t>Climate-fiscal tools · 20 Oct 2026 · 60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F ·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Three objectives, 125 funded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61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0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OBJECTIVE ONE · 50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Engine rebuild (1a, 1b, 1c)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0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Excel-AI-CPAT and coded CPAT, one set of equations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Shiny app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 clean engine for the new WB-IMF interface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0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OBJECTIVE TWO · 35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Applications (2a, 2b, 2c)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0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GHG accounting, crediting, FFI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FTT and MFMod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Pathways tool and pilots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0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OBJECTIVE THREE · 40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Other AI tools (3a, 3b, 3c)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0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Excise Diagnostic and Dashboard: 4 of 4 milestones done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Energy GP if funded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25 days spent, 15 left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the plan is full to 20 March: anything added must replace something.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F · DAYS AND FUNDING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Days and charge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62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750000"/>
          <a:ext cx="10566400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Sub-objective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Funding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1a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Excel-AI-CPAT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TF-CSF-LTS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1b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Coded-Conversion (Python)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TF-CSF-LTS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1c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Shiny app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TF-CSF-LTS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2a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GHG accounting, crediting, FFI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TF-TCAF-Crediting (code tbc)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2b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FTT and MFMod (tbc)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TF-CSF-LTS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2c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Pathways, pilots, planning, Egypt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TF-CSF-LTS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3a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Excise Diagnostic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TF-GTP-NONSECO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3b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Tax and Macro-Fiscal Dashboard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TF-GTP-SECO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endParaRPr/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Total funded (+16 unfunded, e.g. Energy GP)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141 in all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2800" y="5150000"/>
            <a:ext cx="10566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TF-CSF-LTS AA-P508228-GPLG-TF0C8701 (70 days) · TF-GTP-NONSECO ...TF0C9102 (20) · TF-GTP-SECO ...TF0C7596 (20) · TF-TCAF-Crediting to confirm (15)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F ·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Twelve milestones, four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63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700000"/>
          <a:ext cx="10566400" cy="3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0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3a_m1 / 3b_m1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Excise Diagnostic and Dashboard MVPs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25 Sep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3a_m2 / 3b_m2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Excise Diagnostic and Dashboard to Dirk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16 / 23 Oct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Done (early)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1a_m1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Excel-AI-CPAT mitigation MVP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23 Oct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2b_m1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Zoe's FTT project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27 Nov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1a_m2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Final Excel-AI-CPAT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4 Dec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1b_m1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Final coded CPAT (Python)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11 Dec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2c_m1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Pathways tool complete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15 Jan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Open; Edmundo on track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1c_m1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Final Shiny app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5 Feb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2b_m2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FTT and MFMod working smoothly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12 Feb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4213D"/>
                          </a:solidFill>
                          <a:latin typeface="Calibri"/>
                        </a:rPr>
                        <a:t>2a_m1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GHG accounting, crediting, FFI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5 Mar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F4A5A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F · SEQUENCING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Week by week to the end of 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64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TO DECEMBER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6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26-30 Oct vacation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2-13 Nov power (already built)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16-27 Nov remaining mitigation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30 Nov-4 Dec distribution (already built)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7-11 Dec Python tests and docs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15-22 Dec buffer; 23 Dec-1 Jan leave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JANUARY TO MARCH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Apply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6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4-8 Jan pathways integration; 11-15 Jan pilots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18 Jan-5 Feb Shiny app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8-12 Feb FTT and MFMod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15 Feb-5 Mar GHG accounting, crediting, FFI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8-12 Mar support to Dirk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15-19 Mar handover; 20 Mar contract ends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WHO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Division of labour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6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Stephen: engine, GHG accounting, handovers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Paulina: co-benefits incl. air pollution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Kacper: air pollution and mitigation integration; bug list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F4A5A"/>
                </a:solidFill>
                <a:latin typeface="Calibri"/>
              </a:rPr>
              <a:t>Dirk and others: Excise and Dashboard onward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F ·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Risks and what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65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800000"/>
          <a:ext cx="105664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we need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One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CPAT not well validated or published; IMF may build its own; LAMBDA needs recent Excel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CPAT team sign-off; Excel 365 review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Two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Accounting, crediting, FFI requirements not set; TCAF code unconfirmed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Requirements and charge code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Two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Prices and policies only partly in CDPM; price database unverified; V2-V3 not agreed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Country checks; agree V2-V3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Three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Handover format and owners not agreed; MVPs not validated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Named owner per tool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No buffer in 125 days; shared AI set-up not in place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Claude Code; enterprise AI; what to drop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2800" y="4700000"/>
            <a:ext cx="10566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CDPM = the model formerly called SiSePuede.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10252</Words>
  <Application>Microsoft Office PowerPoint</Application>
  <PresentationFormat>Widescreen</PresentationFormat>
  <Paragraphs>1474</Paragraphs>
  <Slides>71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AI in developing climate fiscal tools</dc:title>
  <dc:subject>FY27 work plan: AI climate fiscal tools</dc:subject>
  <dc:creator>Stephen Stretton</dc:creator>
  <cp:lastModifiedBy>Stephen John Stretton</cp:lastModifiedBy>
  <cp:revision>7</cp:revision>
  <dcterms:created xsi:type="dcterms:W3CDTF">2026-09-28T21:49:06Z</dcterms:created>
  <dcterms:modified xsi:type="dcterms:W3CDTF">2026-10-20T15:06:28Z</dcterms:modified>
  <cp:version>1.2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2026-10-20T15:04:07Z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6bfb8d79-d7b1-44e0-aa7d-603fa1535752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Official Use Only</vt:lpwstr>
  </property>
</Properties>
</file>