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1 ·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Python platform for fiscal policy, built around the new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50000"/>
            <a:ext cx="2900000" cy="35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800" y="1870000"/>
            <a:ext cx="25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E3A36B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800" y="2100000"/>
            <a:ext cx="2580000" cy="3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One code base for climate-related fiscal policy, shared with the macro unit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A PFR process: energy costs, fiscal risks, spending efficiency, tax changes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One country run end to end: data in, results back on one page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Replaces one-off spreadsheets; every number traceable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Lite versions now; MFMod and full IMF tools as cross-checks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2800" y="175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62800" y="1750000"/>
            <a:ext cx="2425466" cy="45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2800" y="1860000"/>
            <a:ext cx="2145466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14213D"/>
                </a:solidFill>
                <a:latin typeface="Calibri"/>
              </a:rP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2800" y="2040000"/>
            <a:ext cx="21454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Coded CPAT (new CPAT)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2800" y="2350000"/>
            <a:ext cx="2145466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Prices, revenue, emissions, households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Excel-AI v6.2 is the checked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2800" y="3150000"/>
            <a:ext cx="2145466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Python final 11 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8266" y="175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8266" y="1750000"/>
            <a:ext cx="2425466" cy="45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8266" y="1860000"/>
            <a:ext cx="2145466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1F5A96"/>
                </a:solidFill>
                <a:latin typeface="Calibr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266" y="2040000"/>
            <a:ext cx="21454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Tax &amp; Macro-Fiscal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266" y="2350000"/>
            <a:ext cx="2145466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64 indicators, 11 blocks, 217 countries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Now with macro-model inputs and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266" y="3150000"/>
            <a:ext cx="2145466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Built; handed to Dirk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3732" y="175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3732" y="1750000"/>
            <a:ext cx="2425466" cy="45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3732" y="1860000"/>
            <a:ext cx="2145466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3D7A73"/>
                </a:solidFill>
                <a:latin typeface="Calibri"/>
              </a:rPr>
              <a:t>NEEDS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732" y="2040000"/>
            <a:ext cx="21454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Investment needs + CDPM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3732" y="2350000"/>
            <a:ext cx="2145466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NMIM: budget need path 2025-50, who pays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CDPM pathways (formerly SiSePuede)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3732" y="3150000"/>
            <a:ext cx="2145466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NMIM v0.2; CDPM Jan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62800" y="356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62800" y="3560000"/>
            <a:ext cx="2425466" cy="45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2800" y="3670000"/>
            <a:ext cx="2145466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A8521A"/>
                </a:solidFill>
                <a:latin typeface="Calibri"/>
              </a:rPr>
              <a:t>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2800" y="3850000"/>
            <a:ext cx="21454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Pricing and tax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2800" y="4160000"/>
            <a:ext cx="2145466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Price feasibility (F1-F3): tax vs feebate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Excise, CBAM, crediting / FFI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2800" y="4960000"/>
            <a:ext cx="2145466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v0.1 to v3.0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8266" y="356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8266" y="3560000"/>
            <a:ext cx="2425466" cy="45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8266" y="3670000"/>
            <a:ext cx="2145466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A8521A"/>
                </a:solidFill>
                <a:latin typeface="Calibri"/>
              </a:rPr>
              <a:t>MACRO AND DEBT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8266" y="3850000"/>
            <a:ext cx="21454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GIMF / DIGNAD / DIGNAR-lite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8266" y="4160000"/>
            <a:ext cx="2145466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Chosen by country type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LIC-DSF-lite debt verdict; MFMod 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8266" y="4960000"/>
            <a:ext cx="2145466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v0.1, 186 countries 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3732" y="356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53732" y="3560000"/>
            <a:ext cx="2425466" cy="45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3732" y="3670000"/>
            <a:ext cx="2145466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3D7A73"/>
                </a:solidFill>
                <a:latin typeface="Calibri"/>
              </a:rPr>
              <a:t>TECHNOLOGY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3732" y="3850000"/>
            <a:ext cx="21454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FTT national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3732" y="4160000"/>
            <a:ext cx="2145466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Technology diffusion on CPAT's countries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FTT + MFMod on one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3732" y="4960000"/>
            <a:ext cx="2145466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27 Nov; 12 Feb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800" y="5420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2800" y="5420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most components exist; the platform is one repo, one guide, one calibration and one country chain joining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2 · THE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Macro-fiscal block: built this month, an upgrade to the new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SiSePuede. · Stephen Stretton · meeting with Sebastian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800" y="18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1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Data 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8866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28866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8866" y="18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Needs (NMIM)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8866" y="21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Budget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4932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44932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4932" y="182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Price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4932" y="2370000"/>
            <a:ext cx="1246066" cy="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Pricing revenue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70998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60998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0998" y="182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GIMF / DIGNAD / DIGNAR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0998" y="2370000"/>
            <a:ext cx="1246066" cy="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GDP, fiscal path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87064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077064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7064" y="18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LIC-DSF-lite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064" y="21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Debt verdict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3130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893130" y="1700000"/>
            <a:ext cx="1486066" cy="78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3130" y="18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3130" y="212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C9D3E0"/>
                </a:solidFill>
                <a:latin typeface="Calibri"/>
              </a:rPr>
              <a:t>Results back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12800" y="2650000"/>
          <a:ext cx="10566400" cy="23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944"/>
                <a:gridCol w="4437888"/>
                <a:gridCol w="3909568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 (20 Oct)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Upgrade to the new CPAT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GIMF-lite / DIGNAD-lite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v0.1; one shared calibration from the dashboard; routed by country type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Replaces CPAT's fixed fiscal multipliers with a model of GDP, prices and fiscal path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DIGNAR-lite (resource-rich)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Built; fossil rents fall 80% by 2050 as the world decarbonises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New: stranded fossil revenue as a fiscal risk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Debt test (LIC-DSF-lite)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Built; 5 of 66 LIC/LMIC ratings worsen with the programme; coefficients to check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Replaces the planned debt equation (investment approach V2)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Public spending efficiency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PEFA/PIMA-mapped efficiency in the calibration; spending split from capital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Investment approach V3; next: PIMA scores, absorptive capacity, execution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CDPM pathways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Edmundo on track; coded CPAT to CDPM in Dec; pilots Jan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Physical pathways and costs feeding the needs step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Integrated run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186 countries: 135 GIMF, 35 DIGNAD, 16 DIGNAR; 184 solve, 2 not financeable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One country chain; results block in the dashboard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12800" y="5150000"/>
            <a:ext cx="105664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Caveats: calibrations illustrative; pricing revenue power-only; CPAT not yet in the chain (next: feed CPAT prices and revenue to the pricing step); not a substitute for a full DSA or MFMod.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3 · 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CPAT in Excel-AI and Python: ahead on build; Python is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700000"/>
            <a:ext cx="50000" cy="10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8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v6.2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340000"/>
            <a:ext cx="2206600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Excel-AI MVP, 20 Oct: mitigation, power, distribution, GDP, NDC; 56 tabs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9400" y="1700000"/>
            <a:ext cx="50000" cy="10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0" y="18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340000"/>
            <a:ext cx="2206600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CPAT bugs fixed, none copied; fix plans for the CPAT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6000" y="1700000"/>
            <a:ext cx="50000" cy="10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6000" y="18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0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340000"/>
            <a:ext cx="2206600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quick check; 12,992 output codes stable; every figure traceable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2600" y="1700000"/>
            <a:ext cx="50000" cy="10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2600" y="18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57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340000"/>
            <a:ext cx="2206600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coded CPAT runs end to end; Shiny app has six sections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2900000"/>
            <a:ext cx="51932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2900000"/>
            <a:ext cx="5193200" cy="45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0" y="3010000"/>
            <a:ext cx="49132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14213D"/>
                </a:solidFill>
                <a:latin typeface="Calibri"/>
              </a:rPr>
              <a:t>EXCEL-AI-CPAT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0" y="3190000"/>
            <a:ext cx="49132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Status and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0" y="3500000"/>
            <a:ext cx="4913200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Power and distribution built ahead of plan (Oct, not Nov-Dec)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Usable in 15 minutes: open, change a policy, run scenarios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Next: Excel 365 review; data requests; send fix plans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Final 4 Dec (50%); MVP due 23 Oct (70%)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0" y="4860000"/>
            <a:ext cx="49132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Milestones 1a_m1, 1a_m2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6000" y="2900000"/>
            <a:ext cx="51932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6000" y="2900000"/>
            <a:ext cx="5193200" cy="45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6000" y="3010000"/>
            <a:ext cx="49132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1F5A96"/>
                </a:solidFill>
                <a:latin typeface="Calibri"/>
              </a:rPr>
              <a:t>CODED CPAT (PYTHON)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6000" y="3190000"/>
            <a:ext cx="49132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Status and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6000" y="3500000"/>
            <a:ext cx="4913200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About 20,000 lines; mitigation and distribution; legacy export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Port the validated Excel logic; fix revenue units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Feeds CDPM pathways and the fiscal platform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Final 11 Dec (10%); Shiny app 5 Feb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6000" y="4860000"/>
            <a:ext cx="49132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Milestones 1b_m1, 1c_m1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4 · OTHER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Everything else, in one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00000"/>
          <a:ext cx="105664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3275584"/>
                <a:gridCol w="1796288"/>
                <a:gridCol w="2641600"/>
              </a:tblGrid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Next / date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Ask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Excise Diagnostic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SLE, UGA, LBR; handed to Dirk 16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Support 8-12 Mar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Owner; extend or fold into platform?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Tax &amp; Macro-Fiscal Dashboard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Handed to Dirk; now 64 indicators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Support 8-12 Mar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CBAM policy tool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Egypt v3.0; global MVP v1.0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 milestone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CBAM in CPAT: priority?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Crediting, GHG accounting, FFI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15 Feb-5 Mar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Charge code; requirements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FTT national (Zoe); FTT + MFMod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Zoe delivering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27 Nov; 12 Feb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MFMod in or out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Pathways with CDPM (Edmundo)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Meeting went well 19 Oct; repo created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Pilots 11-15 Jan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Agree cost split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Adaptation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DIGNAD-lite has adaptation capital and disasters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Not in plan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Now or FY28?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Energy GP cross-support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Not funded (16 days)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5400000"/>
            <a:ext cx="105664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CDPM = the model formerly called SiSePuede. Full detail: Sebastian-Platforms-v2.pptx (appendix).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5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Conclusions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7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8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1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Where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490000"/>
            <a:ext cx="3022133" cy="25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 new CPAT engine is ahead of plan in Excel; Python is the next push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macro-fiscal block now runs every country end to end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Together they make a single Python platform for fiscal policy and a PFR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7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7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8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DECISIONS FOR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1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What I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490000"/>
            <a:ext cx="3022133" cy="25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Go-ahead: the platform as the FY27 frame; the chain as the PFR process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pilot country (e.g. Uganda, Kenya, Egypt)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Introduction to the macro unit (MFMod)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What to drop to make days (no buffer to 20 Mar)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7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7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8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NEXT 6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1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490000"/>
            <a:ext cx="3022133" cy="25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Excel-AI MVP 23 Oct; final 4 Dec; Python 11 Dec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Feed CPAT prices and revenue into the chain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Check DSF coefficients; real calibrations for the pilot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 user-flow workshop (Nov)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