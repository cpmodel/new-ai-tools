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9" r:id="rId1"/>
  </p:sldMasterIdLst>
  <p:sldIdLst>
    <p:sldId id="256" r:id="rId2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2"/>
    <p:sldId id="272" r:id="rId23"/>
    <p:sldId id="273" r:id="rId24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/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notesMaster" Target="notesMasters/notesMaster1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Slack is about 3 days before 4 Dec; power was built early, which covers the 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11430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Subtitle"/>
          <p:cNvSpPr>
            <a:spLocks noGrp="1"/>
          </p:cNvSpPr>
          <p:nvPr>
            <p:ph type="subTitle" idx="1"/>
          </p:nvPr>
        </p:nvSpPr>
        <p:spPr>
          <a:xfrm>
            <a:off x="685800" y="3600450"/>
            <a:ext cx="10820400" cy="91440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Divider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971800"/>
            <a:ext cx="10820400" cy="914400"/>
          </a:xfrm>
        </p:spPr>
        <p:txBody>
          <a:bodyPr/>
          <a:lstStyle>
            <a:lvl1pPr>
              <a:defRPr sz="40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Half 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6092952" y="0"/>
            <a:ext cx="6099048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5486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5486400" cy="520065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Image"/>
          <p:cNvSpPr>
            <a:spLocks noGrp="1"/>
          </p:cNvSpPr>
          <p:nvPr>
            <p:ph type="pic" idx="2"/>
          </p:nvPr>
        </p:nvSpPr>
        <p:spPr>
          <a:xfrm>
            <a:off x="6400800" y="0"/>
            <a:ext cx="5791200" cy="6858000"/>
          </a:xfrm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Decoration"/>
          <p:cNvSpPr/>
          <p:nvPr userDrawn="1"/>
        </p:nvSpPr>
        <p:spPr>
          <a:xfrm>
            <a:off x="0" y="0"/>
            <a:ext cx="12192000" cy="137160"/>
          </a:xfrm>
          <a:prstGeom prst="rect">
            <a:avLst/>
          </a:prstGeom>
          <a:solidFill>
            <a:srgbClr val="22A3DF"/>
          </a:solidFill>
          <a:ln>
            <a:noFill/>
          </a:ln>
        </p:spPr>
        <p:txBody>
          <a:bodyPr/>
          <a:lstStyle/>
          <a:p/>
        </p:txBody>
      </p:sp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457200"/>
            <a:ext cx="10820400" cy="685800"/>
          </a:xfrm>
        </p:spPr>
        <p:txBody>
          <a:bodyPr/>
          <a:p>
            <a:r>
              <a:rPr lang="en-US"/>
              <a:t> </a:t>
            </a:r>
          </a:p>
        </p:txBody>
      </p:sp>
      <p:sp>
        <p:nvSpPr>
          <p:cNvPr id="0" name="Bullets"/>
          <p:cNvSpPr>
            <a:spLocks noGrp="1"/>
          </p:cNvSpPr>
          <p:nvPr>
            <p:ph type="body" idx="1"/>
          </p:nvPr>
        </p:nvSpPr>
        <p:spPr>
          <a:xfrm>
            <a:off x="685800" y="1200150"/>
            <a:ext cx="10820400" cy="5200650"/>
          </a:xfrm>
        </p:spPr>
        <p:txBody>
          <a:bodyPr/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losing">
    <p:bg>
      <p:bgPr>
        <a:solidFill>
          <a:srgbClr val="061F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"/>
          <p:cNvSpPr>
            <a:spLocks noGrp="1"/>
          </p:cNvSpPr>
          <p:nvPr>
            <p:ph type="title"/>
          </p:nvPr>
        </p:nvSpPr>
        <p:spPr>
          <a:xfrm>
            <a:off x="685800" y="2286000"/>
            <a:ext cx="10820400" cy="914400"/>
          </a:xfrm>
        </p:spPr>
        <p:txBody>
          <a:bodyPr/>
          <a:lstStyle>
            <a:lvl1pPr>
              <a:defRPr sz="3600" b="1"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  <p:sp>
        <p:nvSpPr>
          <p:cNvPr id="0" name="Message"/>
          <p:cNvSpPr>
            <a:spLocks noGrp="1"/>
          </p:cNvSpPr>
          <p:nvPr>
            <p:ph type="body" idx="1"/>
          </p:nvPr>
        </p:nvSpPr>
        <p:spPr>
          <a:xfrm>
            <a:off x="685800" y="3352800"/>
            <a:ext cx="10820400" cy="160020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 </a:t>
            </a:r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Title Placeholder"/>
          <p:cNvSpPr>
            <a:spLocks noGrp="1"/>
          </p:cNvSpPr>
          <p:nvPr>
            <p:ph type="title"/>
          </p:nvPr>
        </p:nvSpPr>
        <p:spPr>
          <a:xfrm>
            <a:off x="685800" y="274638"/>
            <a:ext cx="10820400" cy="1143000"/>
          </a:xfrm>
        </p:spPr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0" name="Text Placeholder"/>
          <p:cNvSpPr>
            <a:spLocks noGrp="1"/>
          </p:cNvSpPr>
          <p:nvPr>
            <p:ph type="body" idx="1"/>
          </p:nvPr>
        </p:nvSpPr>
        <p:spPr>
          <a:xfrm>
            <a:off x="685800" y="1600200"/>
            <a:ext cx="10820400" cy="4525963"/>
          </a:xfrm>
        </p:spPr>
        <p:txBody>
          <a:bodyPr/>
          <a:lstStyle/>
          <a:p>
            <a:r>
              <a:rPr lang="en-US"/>
              <a:t> 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</a:defRPr>
    </a:lvl1pPr>
  </p:defaultTextStyle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Climate-fiscal tools: two Python platforms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Status, timeline and asks</a:t>
            </a:r>
          </a:p>
          <a:p>
            <a:pPr>
              <a:spcAft>
                <a:spcPts val="800"/>
              </a:spcAft>
            </a:pPr>
            <a:r>
              <a:rPr sz="1800"/>
              <a:t>Stephen Stretton, meeting with Sebastian, 20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Summary: one code base, two platforms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• Climate policy platform (the pathways project): coded CPAT + CDPM (formerly SiSePuede) + FTT</a:t>
            </a:r>
          </a:p>
          <a:p>
            <a:pPr>
              <a:spcAft>
                <a:spcPts val="800"/>
              </a:spcAft>
            </a:pPr>
            <a:r>
              <a:rPr sz="1800"/>
              <a:t>• Fiscal policy platform: coded CPAT + MFMod-Python (macro unit) + investment needs + CBAM</a:t>
            </a:r>
          </a:p>
          <a:p>
            <a:pPr lvl="1">
              <a:spcAft>
                <a:spcPts val="800"/>
              </a:spcAft>
            </a:pPr>
            <a:r>
              <a:rPr sz="1800"/>
              <a:t>– Coded CPAT sits in both; the Excel-AI model is the checked reference</a:t>
            </a:r>
          </a:p>
          <a:p>
            <a:pPr>
              <a:spcAft>
                <a:spcPts val="800"/>
              </a:spcAft>
            </a:pPr>
            <a:r>
              <a:rPr sz="1800"/>
              <a:t>• Goal of one Python platform: work with the macro unit on a shared code base</a:t>
            </a:r>
          </a:p>
          <a:p>
            <a:pPr>
              <a:spcAft>
                <a:spcPts val="800"/>
              </a:spcAft>
            </a:pPr>
            <a:r>
              <a:rPr sz="1800"/>
              <a:t>• On track: Edmundo meeting went well (19 Oct); Excel-AI MVP due 23 Oct</a:t>
            </a:r>
          </a:p>
          <a:p>
            <a:pPr>
              <a:spcAft>
                <a:spcPts val="800"/>
              </a:spcAft>
            </a:pPr>
            <a:r>
              <a:rPr sz="1800"/>
              <a:t>• Today: agree the two platforms, the macro-unit link, and the look-ahead topics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The products at a glance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9400"/>
                <a:gridCol w="2819400"/>
                <a:gridCol w="2819400"/>
                <a:gridCol w="2819400"/>
              </a:tblGrid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Next date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CPAT-AI (Excel-AI)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MVP 70%, v6.2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23 Oct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Coded CPAT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Runs; final 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11 Dec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CPAT-CDPM pathways (Edmundo)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On track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15 Jan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FTT national (Zoe)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Zoe delivering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27 Nov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Investment needs (NMIM)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v0.2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tbc</a:t>
                      </a:r>
                    </a:p>
                  </a:txBody>
                  <a:tcPr/>
                </a:tc>
              </a:tr>
              <a:tr h="650081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CBAM policy tool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Egypt v3.0, global v1.0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tbc</a:t>
                      </a:r>
                    </a:p>
                  </a:txBody>
                  <a:tcPr/>
                </a:tc>
              </a:tr>
              <a:tr h="650083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Excise + Macro-Fiscal Dashboard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Handed to Dirk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8-12 Mar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platforms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A. Climate policy platform: the pathways project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• What: one Python tool for country decarbonisation pathways and their costs</a:t>
            </a:r>
          </a:p>
          <a:p>
            <a:pPr>
              <a:spcAft>
                <a:spcPts val="800"/>
              </a:spcAft>
            </a:pPr>
            <a:r>
              <a:rPr sz="1800"/>
              <a:t>• Parts: coded CPAT, CDPM (formerly SiSePuede; Edmundo), FTT national data (Zoe), investment needs</a:t>
            </a:r>
          </a:p>
          <a:p>
            <a:pPr>
              <a:spcAft>
                <a:spcPts val="800"/>
              </a:spcAft>
            </a:pPr>
            <a:r>
              <a:rPr sz="1800"/>
              <a:t>• Users: one integrated flow, not several tools; pilots Libya, Egypt, Morocco</a:t>
            </a:r>
          </a:p>
          <a:p>
            <a:pPr>
              <a:spcAft>
                <a:spcPts val="800"/>
              </a:spcAft>
            </a:pPr>
            <a:r>
              <a:rPr sz="1800"/>
              <a:t>• Status: Edmundo on track; Egypt proof of concept close to CPAT</a:t>
            </a:r>
          </a:p>
          <a:p>
            <a:pPr>
              <a:spcAft>
                <a:spcPts val="800"/>
              </a:spcAft>
            </a:pPr>
            <a:r>
              <a:rPr sz="1800"/>
              <a:t>• Timeline: integration 4-8 Jan; pilots 11-15 Jan; full integration end Jan</a:t>
            </a:r>
          </a:p>
          <a:p>
            <a:pPr>
              <a:spcAft>
                <a:spcPts val="800"/>
              </a:spcAft>
            </a:pPr>
            <a:r>
              <a:rPr sz="1800"/>
              <a:t>• Open: separate running subsidies from upfront public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B. Fiscal policy platform: with the macro unit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• What: one Python platform for climate-related fiscal policy, shared with the macro unit</a:t>
            </a:r>
          </a:p>
          <a:p>
            <a:pPr>
              <a:spcAft>
                <a:spcPts val="800"/>
              </a:spcAft>
            </a:pPr>
            <a:r>
              <a:rPr sz="1800"/>
              <a:t>• Parts: coded CPAT (revenue, prices, distribution), MFMod-Python (ModelFlow), FTT, investment needs, CBAM</a:t>
            </a:r>
          </a:p>
          <a:p>
            <a:pPr>
              <a:spcAft>
                <a:spcPts val="800"/>
              </a:spcAft>
            </a:pPr>
            <a:r>
              <a:rPr sz="1800"/>
              <a:t>• Why: MFMod handles investment, debt and growth; CPAT handles energy, prices and revenue</a:t>
            </a:r>
          </a:p>
          <a:p>
            <a:pPr>
              <a:spcAft>
                <a:spcPts val="800"/>
              </a:spcAft>
            </a:pPr>
            <a:r>
              <a:rPr sz="1800"/>
              <a:t>• Already linked: CPAT's GDP block uses MFMod fiscal multipliers</a:t>
            </a:r>
          </a:p>
          <a:p>
            <a:pPr>
              <a:spcAft>
                <a:spcPts val="800"/>
              </a:spcAft>
            </a:pPr>
            <a:r>
              <a:rPr sz="1800"/>
              <a:t>• Timeline: FTT + MFMod working 12 Feb; GHG accounting, crediting, FFI 5 Mar</a:t>
            </a:r>
          </a:p>
          <a:p>
            <a:pPr>
              <a:spcAft>
                <a:spcPts val="800"/>
              </a:spcAft>
            </a:pPr>
            <a:r>
              <a:rPr sz="1800"/>
              <a:t>• Discussed with Charl; next step: a first call with the macro unit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CPAT-AI (Excel-AI): mitigation MVP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Cut-down CPAT in Excel, rebuilt with AI from legacy CPAT; every figure traceable to equation, parameter and source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Reference model for both platforms; feeds the WB-IMF CPAT process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v6.2 (20 Oct): mitigation, power and distribution built; legacy bugs fixed, not copied; MVP 70%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Equations list, traceability, known-gaps note; Kacper holds the bug list while I travel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MVP 23 Oct; power 2-13 Nov; remaining mitigation 16-27 Nov; final 4 Dec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Ownership with the IMF/CPAT team; one Excel model, not two; data requests (GAINS, VAT)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Coded CPAT (Python)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Python reimplementation of CPAT (mitigation + distribution), same codes as the Excel; Shiny app on top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The core of BOTH platforms: climate pathways and fiscal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Runs end to end; 57 tests; exports back to the legacy layout. Final Python 10%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Port the validated Excel MVP logic; Python-vs-Excel comparison on the same inputs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Enhanced version to Edmundo early Nov; final Python 11 Dec; Shiny app 5 Feb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Open fixes: distribution revenue units, national totals, full electricity price build-up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Pathways: CPAT-CDPM integration (Edmundo)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Coded CPAT inside CDPM (formerly SiSePuede; Edmundo Molina, Tec de Monterrey; with Dave Groves and Sonya Sampson): one pathways tool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 platform (pathways project)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Edmundo meeting 19 Oct went well: on track. CPAT sent; CPAT-CDPM repo created. Egypt proof of concept close to CPAT (-7.3% vs -8.0% emissions)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Integrate early (no wait for a final product); one user flow; methodology note on subsidies vs public investment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User-flow workshop early Nov; integration 4-8 Jan; pilots (Libya, Egypt, Morocco) 11-15 Jan; end Jan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Agree the methodology split (running subsidies vs upfront public investment) before integration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FTT national (Zoe)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National-level data so FTT technology diffusion (power, cars, freight, heat, steel) runs on CPAT's countries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 platform; with MFMod, the bridge to the fiscal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Zoe delivering; I review. Progress % not yet reported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Ask Zoe for a review date; then FTT + MFMod on one Python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FTT project 27 Nov; FTT + MFMod working 12 Feb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Decision: MFMod in or out for Feb (FTT-only is doable in the week)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Investment needs (NMIM)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National mitigation investment model: 186 countries, 2024-2050, built to CPAT norms; who pays (public, utility, private)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Both: investment for pathways; budget need for the fiscal platform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v0.2 (20 Oct). 2030: about USD 5.1tn total, 1.7tn incremental; direct budget need ~14% (85% in low-income countries)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Financing and debt layer linked to MFMod; load cost-of-capital data; add a price response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Proposal stage: fits the pathways timeline (Jan) and the fiscal platform (Feb)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The natural hook for the macro unit: investment -&gt; debt and fiscal space in MFMod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CBAM policy tool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Excel tool: what a domestic carbon price does to heavy industry and the EU CBAM charge; 6 policy scenarios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 platform (revenue, credits); process emissions feed the investment model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Egypt v3.0 (7 CBAM goods) and a global MVP v1.0 (9 Oct)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CBAM modelling inside CPAT (to discuss); port to Python with coded CPAT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To agree: after the Excel-AI final (4 Dec)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No trade model; elasticities by judgement. Ask: is CBAM in CPAT a priority?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Excise Diagnostic and Tax &amp; Macro-Fiscal Dashboard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9265920"/>
              </a:tblGrid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Status and timeline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What it is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Excise Diagnostic (Sierra Leone, Uganda, Liberia) and a dashboard: 53 indicators, 217 countries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Platform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 platform: tax and macro-fiscal data layer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Status (20 Oct)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Done: both handed to Dirk early (week of 5 Oct); all 4 Objective 3 milestones complete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Next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 use them; one week of follow-up support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Timeline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Support 8-12 Mar 2027</a:t>
                      </a:r>
                    </a:p>
                  </a:txBody>
                  <a:tcPr/>
                </a:tc>
              </a:tr>
              <a:tr h="74295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 b="1"/>
                        <a:t>Ask /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Owners not yet named; tools not validated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Timeline: FY27 milestones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200150"/>
          <a:ext cx="11277600" cy="52006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9200"/>
                <a:gridCol w="3759200"/>
                <a:gridCol w="3759200"/>
              </a:tblGrid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Milestone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Platform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19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Edmundo on track (done)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23 Oct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Excel-AI mitigation MVP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 (reference)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27 Nov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Zoe's FTT national project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4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Final Excel-AI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 (reference)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11 Dec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Final coded CPAT (Python)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15 Jan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Pathways tool: integration and pilots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Climate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5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Shiny app over coded CPAT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Both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12 Feb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FTT + MFMod working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 (macro)</a:t>
                      </a:r>
                    </a:p>
                  </a:txBody>
                  <a:tcPr/>
                </a:tc>
              </a:tr>
              <a:tr h="472786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5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GHG accounting, crediting, FFI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Fiscal</a:t>
                      </a:r>
                    </a:p>
                  </a:txBody>
                  <a:tcPr/>
                </a:tc>
              </a:tr>
              <a:tr h="472790"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20 Mar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Handover; contract ends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/>
                      </a:pPr>
                      <a:r>
                        <a:rPr sz="1400"/>
                        <a:t>-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FY27 work plan v2.6 (15 Oct); away 21 Oct to about 2 Nov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Looking ahead: topics to agree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• Expenditure policy: PFRs lack an expenditure-policy chapter; the platforms can supply one</a:t>
            </a:r>
          </a:p>
          <a:p>
            <a:pPr>
              <a:spcAft>
                <a:spcPts val="800"/>
              </a:spcAft>
            </a:pPr>
            <a:r>
              <a:rPr sz="1800"/>
              <a:t>• Energy fiscal risks: what the finance ministry carries (subsidies, utilities, fuel revenue); scope to agree</a:t>
            </a:r>
          </a:p>
          <a:p>
            <a:pPr>
              <a:spcAft>
                <a:spcPts val="800"/>
              </a:spcAft>
            </a:pPr>
            <a:r>
              <a:rPr sz="1800"/>
              <a:t>• Investment process: who pays (public, utility, private) and the budget need, from NMIM</a:t>
            </a:r>
          </a:p>
          <a:p>
            <a:pPr>
              <a:spcAft>
                <a:spcPts val="800"/>
              </a:spcAft>
            </a:pPr>
            <a:r>
              <a:rPr sz="1800"/>
              <a:t>• Macro unit: shared Python code base; MFMod for debt and growth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600" b="1">
                <a:solidFill>
                  <a:srgbClr val="1F3A5F"/>
                </a:solidFill>
              </a:rPr>
              <a:t>Asks for today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spcAft>
                <a:spcPts val="800"/>
              </a:spcAft>
            </a:pPr>
            <a:r>
              <a:rPr sz="1800"/>
              <a:t>• Agree the two platforms, with coded CPAT in both</a:t>
            </a:r>
          </a:p>
          <a:p>
            <a:pPr>
              <a:spcAft>
                <a:spcPts val="800"/>
              </a:spcAft>
            </a:pPr>
            <a:r>
              <a:rPr sz="1800"/>
              <a:t>• An introduction to the macro unit (MFMod-Python) for a first call in November</a:t>
            </a:r>
          </a:p>
          <a:p>
            <a:pPr>
              <a:spcAft>
                <a:spcPts val="800"/>
              </a:spcAft>
            </a:pPr>
            <a:r>
              <a:rPr sz="1800"/>
              <a:t>• Steer on the look-ahead: expenditure policy, energy fiscal risks, the investment process</a:t>
            </a:r>
          </a:p>
          <a:p>
            <a:pPr>
              <a:spcAft>
                <a:spcPts val="800"/>
              </a:spcAft>
            </a:pPr>
            <a:r>
              <a:rPr sz="1800"/>
              <a:t>• Decide: MFMod in or out for the February FTT milestone</a:t>
            </a:r>
          </a:p>
          <a:p>
            <a:pPr>
              <a:spcAft>
                <a:spcPts val="800"/>
              </a:spcAft>
            </a:pPr>
            <a:r>
              <a:rPr sz="1800"/>
              <a:t>• Resources: Claude Code ($200); widening the prototype team</a:t>
            </a:r>
          </a:p>
          <a:p>
            <a:pPr>
              <a:spcAft>
                <a:spcPts val="800"/>
              </a:spcAft>
            </a:pPr>
            <a:r>
              <a:rPr sz="1800"/>
              <a:t>• CBAM in CPAT: priority or not?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46520"/>
            <a:ext cx="11277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07070"/>
                </a:solidFill>
              </a:rPr>
              <a:t>CDPM = the model formerly called SiSePuede. Sources: FY27 work plan v2.6; repos CPAT-AI, CPAT-CDPM, new-ai-tools; task tracker (20 Oct 2026)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>
              <a:spcAft>
                <a:spcPts val="800"/>
              </a:spcAft>
            </a:pPr>
            <a:r>
              <a:rPr sz="1800"/>
              <a:t>Away 21 Oct to about 2 Nov; Kacper covers CPAT</a:t>
            </a:r>
          </a:p>
          <a:p>
            <a:pPr algn="ctr">
              <a:spcAft>
                <a:spcPts val="800"/>
              </a:spcAft>
            </a:pPr>
            <a:r>
              <a:rPr sz="1800"/>
              <a:t>Stephen Stretton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ideworks">
  <a:themeElements>
    <a:clrScheme name="Slideworks">
      <a:dk1>
        <a:srgbClr val="061F32"/>
      </a:dk1>
      <a:lt1>
        <a:srgbClr val="FFFFFF"/>
      </a:lt1>
      <a:dk2>
        <a:srgbClr val="1D4769"/>
      </a:dk2>
      <a:lt2>
        <a:srgbClr val="F2F2F2"/>
      </a:lt2>
      <a:accent1>
        <a:srgbClr val="22A3DF"/>
      </a:accent1>
      <a:accent2>
        <a:srgbClr val="3478AB"/>
      </a:accent2>
      <a:accent3>
        <a:srgbClr val="1D4769"/>
      </a:accent3>
      <a:accent4>
        <a:srgbClr val="061F32"/>
      </a:accent4>
      <a:accent5>
        <a:srgbClr val="2222F6"/>
      </a:accent5>
      <a:accent6>
        <a:srgbClr val="F8BC3B"/>
      </a:accent6>
      <a:hlink>
        <a:srgbClr val="3478AB"/>
      </a:hlink>
      <a:folHlink>
        <a:srgbClr val="8B78AB"/>
      </a:folHlink>
    </a:clrScheme>
    <a:fontScheme name="Slidework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ppt-toolkit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White Template</dc:title>
  <dc:creator>ppt-toolkit</dc:creator>
</cp:coreProperties>
</file>