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FOR DISCUSSION · 20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One country, all the tools: a PFR process for energy costs and fiscal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417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Meeting with Sebastian: fiscal policy platform, excise, adaptation, and 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World Bank · full reference appendix: Sebastian-Platforms-v2.pptx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PURPOSE AND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Today: agree one proposal and three steers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THE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An end-to-end PFR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Run one country through all our tools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Energy costs, fiscal risks, efficiency of spending, tax changes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Results back in the dashboard, ready for a PFR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YOUR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Three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1  Fiscal policy platform: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the chain is its core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2  Excise: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delivered; what next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4213D"/>
                </a:solidFill>
                <a:latin typeface="Calibri"/>
              </a:rPr>
              <a:t>3  Adaptation: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 DIGNAD-lite already has the 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What I need from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Go-ahead and a pilot country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Introduction to the macro unit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What to drop to make 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pieces were built this month; the proposal is to join them, for one country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One country, run through all the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00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1  Dashboard: data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Current panel plus missing macro inputs: CPIA, reserves, remittances, debt service, NFA, Findex, public capital, import share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8866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28866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8866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2  Investment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866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How much and who pays: the budget need path 2025-2050 (NMIM)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4932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44932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4932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3  Price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4932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Most power-sector pricing the limits allow (F1-F3); which limit binds; tax revenue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70998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60998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0998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4  Macro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998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GIMF-lite (market access) · DIGNAD-lite (LIC, concessional) · DIGNAR-lite (resource-rich, new)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87064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077064" y="1750000"/>
            <a:ext cx="1486066" cy="2250000"/>
          </a:xfrm>
          <a:prstGeom prst="rect">
            <a:avLst/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7064" y="1870000"/>
            <a:ext cx="124606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5  Debt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064" y="2170000"/>
            <a:ext cx="1246066" cy="1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3F4A5A"/>
                </a:solidFill>
                <a:latin typeface="Calibri"/>
              </a:rPr>
              <a:t>LIC-DSF-lite: the verdict on the debt path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3130" y="2875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893130" y="1750000"/>
            <a:ext cx="1486066" cy="2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3130" y="1870000"/>
            <a:ext cx="1246066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6  Dashboard: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3130" y="2420000"/>
            <a:ext cx="1246066" cy="1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C9D3E0"/>
                </a:solidFill>
                <a:latin typeface="Calibri"/>
              </a:rPr>
              <a:t>Budget need, pricing revenue, financing gap, GDP and debt 2030/50, risk rating, binding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4250000"/>
            <a:ext cx="10566400" cy="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4250000"/>
            <a:ext cx="50000" cy="62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800" y="4300000"/>
            <a:ext cx="102664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A8521A"/>
                </a:solidFill>
                <a:latin typeface="Calibri"/>
              </a:rPr>
              <a:t>Prerequisite: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land-use and non-CO2 spending must stop counting as productive public capital (TODO item 7). Today they are 90% of Liberia's and 53% of Kenya's incremental investment in 2025-35, so results there are distorted until this is fixed.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050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800" y="5050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revenue from feasible pricing becomes the tax-financed share of the budget need; the rest is the financing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a PFR gets from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750000"/>
          <a:ext cx="105664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4754880"/>
                <a:gridCol w="2641600"/>
              </a:tblGrid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PFR question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the chain answers it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today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Energy costs: what must be invested, and who pays?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Step 2: NMIM budget need path (direct need 14% of the world total; 29% in EMDCs)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NMIM v0.2 built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Tax changes: what can pricing raise, politically?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Step 3: F1 tariff rise, F2 bottom-40% loss, F3 generator payments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PriceFeasibility v0.1; priors to replace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Efficiency of public spending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Step 4: PIMA-mapped efficiency; return on public capital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Calibrated from dashboard; fuller efficiency on the TODO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Fiscal risks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Steps 4-5: debt path, DSF rating; fossil revenue loss (DIGNAR-lite); utility debt as a contingent liability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GIMF/DIGNAD/DSF-lite v0.1; DIGNAR and utility debt to build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One page for the minister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Step 6: integrated results block in the dashboard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To build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000000"/>
            <a:ext cx="1056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All macro calibrations and DSF baselines are illustrative today; only the investment programme is country data. Not a substitute for CPAT or a full DSA.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AGENDA 1 · FISCAL POLICY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The fiscal policy platform: one engine, one Python code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2506600" cy="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4213D"/>
                </a:solidFill>
                <a:latin typeface="Calibri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CPAT (Excel-AI v6.2 +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2126600" cy="20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Prices, revenue, emissions, households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Feeds the price-feasibility step (to replace priors)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2506600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94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4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BUILT THIS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4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Macro and debt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400" y="2590000"/>
            <a:ext cx="2126600" cy="22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GIMF-lite, DIGNAD-lite, LIC-DSF-lite (v0.1)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Shared calibration from the dashboard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Pitch deck and user 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00" y="1800000"/>
            <a:ext cx="2506600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00" y="1800000"/>
            <a:ext cx="25066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60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ALSO IN THE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60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Policy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6000" y="2590000"/>
            <a:ext cx="2126600" cy="22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FTT national (Zoe, 27 Nov); FTT + MFMod 12 Feb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Crediting, GHG accounting, FFI (5 Mar)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CBAM tool (Egypt, global MVP)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2600" y="1800000"/>
            <a:ext cx="2506600" cy="32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600" y="1800000"/>
            <a:ext cx="25066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2600" y="1990000"/>
            <a:ext cx="21266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MACRO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600" y="2210000"/>
            <a:ext cx="21266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Why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600" y="2590000"/>
            <a:ext cx="2126600" cy="22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Our lite models mirror IMF/WB tools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MFMod is the Bank's own macro model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Ask: a first call in November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lite models make the chain work now; the macro unit's MFMod is the natural replacement or cross-check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AGENDA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Excise and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51932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193200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4813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AGENDA 2 · EXCISE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48132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Delivered; what next?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4813200" cy="25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Excise Diagnostic: Sierra Leone, Uganda, Liberia; handed to Dirk 16 Oct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Run with AI, no code; Word report + Excel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Proposal on the table: excises, externalities, pathways; pilots Colombia/Chile, Uganda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Option: fold fuel excise into step 3 of the chain (same F1 logic)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000" y="1800000"/>
            <a:ext cx="5193200" cy="3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6000" y="1800000"/>
            <a:ext cx="5193200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6000" y="1990000"/>
            <a:ext cx="4813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AGENDA 3 ·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6000" y="2210000"/>
            <a:ext cx="48132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The blocks exist in DIGNAD-lite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6000" y="2590000"/>
            <a:ext cx="4813200" cy="25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Adaptation public capital, disasters, grant/concessional/commercial financing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Dashboard: INFORM climate risk, ND-GAIN adaptation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Not in the FY27 plan: no days budgeted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Question: part of the PFR chain, or FY28?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THE LATEST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Excel-AI MVP v6.2: built, checked,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25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4213D"/>
                </a:solidFill>
                <a:latin typeface="Cambria"/>
              </a:rPr>
              <a:t>56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2206600" cy="5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about 560,000 formulas; mitigation, power, distribution, GDP, NDC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94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9400" y="1800000"/>
            <a:ext cx="50000" cy="12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9400" y="2440000"/>
            <a:ext cx="2206600" cy="5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 bugs fixed, none copied; cell-by-cell fix plans for the CPAT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60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6000" y="1800000"/>
            <a:ext cx="50000" cy="12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60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6000" y="2440000"/>
            <a:ext cx="2206600" cy="5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quick check; 12,992 output codes unchanged between releases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2600" y="1800000"/>
            <a:ext cx="2506600" cy="12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2600" y="1800000"/>
            <a:ext cx="50000" cy="12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00" y="1930000"/>
            <a:ext cx="2206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2600" y="2440000"/>
            <a:ext cx="2206600" cy="5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from download to results: open, test, change a policy, run scenarios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330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30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333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3330000"/>
            <a:ext cx="68664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Excel 365, enable macros; run CheckBatchRun once</a:t>
            </a:r>
          </a:p>
        </p:txBody>
      </p:sp>
      <p:sp>
        <p:nvSpPr>
          <p:cNvPr id="25" name="Oval 24"/>
          <p:cNvSpPr/>
          <p:nvPr/>
        </p:nvSpPr>
        <p:spPr>
          <a:xfrm>
            <a:off x="812800" y="380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380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800" y="383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Change a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800" y="3830000"/>
            <a:ext cx="68664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MTInputs column K (e.g. carbon price); it recalculates</a:t>
            </a:r>
          </a:p>
        </p:txBody>
      </p:sp>
      <p:sp>
        <p:nvSpPr>
          <p:cNvPr id="29" name="Oval 28"/>
          <p:cNvSpPr/>
          <p:nvPr/>
        </p:nvSpPr>
        <p:spPr>
          <a:xfrm>
            <a:off x="812800" y="4300000"/>
            <a:ext cx="330000" cy="330000"/>
          </a:xfrm>
          <a:prstGeom prst="ellipse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430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2800" y="433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Compare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2800" y="4330000"/>
            <a:ext cx="68664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RunAllScenarios; ScenarioCompare up to 8 scenarios; every figure traceable by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4900000"/>
            <a:ext cx="1056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B6573"/>
                </a:solidFill>
                <a:latin typeface="Calibri"/>
              </a:rPr>
              <a:t>Next: Excel 365 review on Windows; final Excel 4 Dec; Python 11 Dec; Shiny app 5 Feb.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Plan to March, and where the chain could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2800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19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3381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2 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3963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545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5127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14 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6000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4 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6581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7163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 Feb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7745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327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909" y="1700000"/>
            <a:ext cx="660581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5B6573"/>
                </a:solidFill>
                <a:latin typeface="Calibri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2800" y="1930000"/>
            <a:ext cx="7266400" cy="12000"/>
          </a:xfrm>
          <a:prstGeom prst="rect">
            <a:avLst/>
          </a:prstGeom>
          <a:solidFill>
            <a:srgbClr val="E3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196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Excel-AI MVP; final Excel; Python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2800" y="2020000"/>
            <a:ext cx="2622327" cy="19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509981" y="202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229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FTT national (Zoe)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fiscal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2800" y="2350000"/>
            <a:ext cx="1961745" cy="19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5849400" y="235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262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Pathways with CDPM: integration, pilots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climate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6000" y="2680000"/>
            <a:ext cx="640581" cy="19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8161436" y="268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295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Shiny app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6581" y="3010000"/>
            <a:ext cx="970872" cy="19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9152309" y="301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800" y="328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FTT + MFMod; crediting, GHG, FFI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fiscal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97454" y="3340000"/>
            <a:ext cx="1301163" cy="19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10473472" y="334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61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Chain: fix item 7; dashboard data block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proposed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73381" y="3670000"/>
            <a:ext cx="970872" cy="19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394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Chain: price feasibility link; DIGNAR-lite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proposed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33963" y="4000000"/>
            <a:ext cx="1301163" cy="19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800" y="427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Chain: pilot country run; PFR results block</a:t>
            </a:r>
            <a:r>
              <a:rPr sz="900" b="0" i="0">
                <a:solidFill>
                  <a:srgbClr val="5B6573"/>
                </a:solidFill>
                <a:latin typeface="Calibri"/>
              </a:rPr>
              <a:t>  proposed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6000" y="4330000"/>
            <a:ext cx="1301163" cy="19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8822018" y="433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4600000"/>
            <a:ext cx="3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4213D"/>
                </a:solidFill>
                <a:latin typeface="Calibri"/>
              </a:rPr>
              <a:t>Handover; contract ends 20 Mar</a:t>
            </a:r>
            <a:r>
              <a:rPr sz="900" b="0" i="0">
                <a:solidFill>
                  <a:srgbClr val="5B6573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0718618" y="4660000"/>
            <a:ext cx="640581" cy="190000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11134054" y="4660000"/>
            <a:ext cx="160000" cy="16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78858" y="1890000"/>
            <a:ext cx="15000" cy="303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8858" y="1700000"/>
            <a:ext cx="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A8521A"/>
                </a:solidFill>
                <a:latin typeface="Calibri"/>
              </a:rPr>
              <a:t>today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5040000"/>
            <a:ext cx="160000" cy="12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2800" y="5010000"/>
            <a:ext cx="2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Core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4800" y="5040000"/>
            <a:ext cx="160000" cy="12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34800" y="5010000"/>
            <a:ext cx="2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Fiscal &amp; policy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64800" y="5040000"/>
            <a:ext cx="160000" cy="12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84800" y="5010000"/>
            <a:ext cx="2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Climate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18800" y="5040000"/>
            <a:ext cx="160000" cy="120000"/>
          </a:xfrm>
          <a:prstGeom prst="rect">
            <a:avLst/>
          </a:prstGeom>
          <a:solidFill>
            <a:srgbClr val="9DB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8800" y="5010000"/>
            <a:ext cx="2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Chain (proposed)</a:t>
            </a:r>
          </a:p>
        </p:txBody>
      </p:sp>
      <p:sp>
        <p:nvSpPr>
          <p:cNvPr id="52" name="Diamond 51"/>
          <p:cNvSpPr/>
          <p:nvPr/>
        </p:nvSpPr>
        <p:spPr>
          <a:xfrm>
            <a:off x="5930800" y="5040000"/>
            <a:ext cx="160000" cy="120000"/>
          </a:xfrm>
          <a:prstGeom prst="diamond">
            <a:avLst/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0800" y="5010000"/>
            <a:ext cx="2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B6573"/>
                </a:solidFill>
                <a:latin typeface="Calibri"/>
              </a:rPr>
              <a:t>Milestone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800" y="5400000"/>
            <a:ext cx="10566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5B6573"/>
                </a:solidFill>
                <a:latin typeface="Calibri"/>
              </a:rPr>
              <a:t>The FY27 plan has no buffer: the chain needs days from somewhere (e.g. the Shiny app, or part of crediting). Away 21 Oct to about 2 Nov.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QUESTIONS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Questions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Climate-fiscal tools · 20 Oct 2026 · 9</a:t>
            </a:r>
          </a:p>
        </p:txBody>
      </p:sp>
      <p:sp>
        <p:nvSpPr>
          <p:cNvPr id="5" name="Oval 4"/>
          <p:cNvSpPr/>
          <p:nvPr/>
        </p:nvSpPr>
        <p:spPr>
          <a:xfrm>
            <a:off x="812800" y="175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75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2800" y="178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The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2800" y="178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Go ahead with the one-country chain as the PFR process for energy costs and fiscal risks?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27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27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2800" y="230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Pilot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2800" y="230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Which country first? (Uganda is named as the PFR expenditure pilot; Egypt and Morocco are pathways pilots)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279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79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2800" y="282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Macro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2800" y="282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Will you introduce us? MFMod as replacement or cross-check for the lite models? MFMod in or out for 12 Feb?</a:t>
            </a:r>
          </a:p>
        </p:txBody>
      </p:sp>
      <p:sp>
        <p:nvSpPr>
          <p:cNvPr id="17" name="Oval 16"/>
          <p:cNvSpPr/>
          <p:nvPr/>
        </p:nvSpPr>
        <p:spPr>
          <a:xfrm>
            <a:off x="812800" y="331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31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2800" y="334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Excise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800" y="334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Who owns it after Dirk's handover; extend, or fold fuel excise into the chain?</a:t>
            </a:r>
          </a:p>
        </p:txBody>
      </p:sp>
      <p:sp>
        <p:nvSpPr>
          <p:cNvPr id="21" name="Oval 20"/>
          <p:cNvSpPr/>
          <p:nvPr/>
        </p:nvSpPr>
        <p:spPr>
          <a:xfrm>
            <a:off x="812800" y="383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83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2800" y="386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Adaptation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2800" y="386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Use DIGNAD-lite's adaptation blocks now, or a note for FY28?</a:t>
            </a:r>
          </a:p>
        </p:txBody>
      </p:sp>
      <p:sp>
        <p:nvSpPr>
          <p:cNvPr id="25" name="Oval 24"/>
          <p:cNvSpPr/>
          <p:nvPr/>
        </p:nvSpPr>
        <p:spPr>
          <a:xfrm>
            <a:off x="812800" y="4350000"/>
            <a:ext cx="330000" cy="330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350000"/>
            <a:ext cx="330000" cy="3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800" y="4380000"/>
            <a:ext cx="3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Room in the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800" y="4380000"/>
            <a:ext cx="68664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What to drop or defer to make days for the chain; Claude Code ($200)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250000"/>
            <a:ext cx="105664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FOR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55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The full work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00000"/>
            <a:ext cx="845312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C9D3E0"/>
                </a:solidFill>
                <a:latin typeface="Calibri"/>
              </a:rPr>
              <a:t>Appendix in Sebastian-Platforms-v2.pptx: core engine, fiscal &amp; policy, climate (CDPM, formerly SiSePuede), PFR, other, plan and funding. Models: new-ai-tools/MacroFiscalModels and PriceFeasibility (pitch deck and user guides in Docs/).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9AA8BC"/>
                </a:solidFill>
                <a:latin typeface="Calibri"/>
              </a:rPr>
              <a:t>Climate-fiscal tools · 20 Oct 2026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