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650000"/>
            <a:ext cx="845312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E3A36B"/>
                </a:solidFill>
                <a:latin typeface="Calibri"/>
              </a:rPr>
              <a:t>FOLLOW-UP TO OUR MEETING · 20 OCTOBER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2000000"/>
            <a:ext cx="79248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mbria"/>
              </a:rPr>
              <a:t>The Macro-Fiscal-Energy-Scenario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530000"/>
            <a:ext cx="845312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C9D3E0"/>
                </a:solidFill>
                <a:latin typeface="Calibri"/>
              </a:rPr>
              <a:t>One country, one scenario: revenue, public investment, green investment needs and carbon pricing, through to growth, debt and debt risk to 2050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595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AA8BC"/>
                </a:solidFill>
                <a:latin typeface="Calibri"/>
              </a:rPr>
              <a:t>Stephen Stretton · World Bank · prototype v0.7 (MacFiscEnergyScenarioProto)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A scenario tool: set fiscal and energy policy, see the fiscal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Macro-Fiscal-Energy-Scenario Tool · 20 Oct 2026 · 2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3402133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3022133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YOU 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3022133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Four main levers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590000"/>
            <a:ext cx="3022133" cy="23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4213D"/>
                </a:solidFill>
                <a:latin typeface="Calibri"/>
              </a:rPr>
              <a:t>Revenue: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 increase in pp of GDP a year, up to a ceiling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4213D"/>
                </a:solidFill>
                <a:latin typeface="Calibri"/>
              </a:rPr>
              <a:t>Public investment: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 increase in pp of GDP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4213D"/>
                </a:solidFill>
                <a:latin typeface="Calibri"/>
              </a:rPr>
              <a:t>Climate investment programme: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 on or off (the budget need for net zero)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4213D"/>
                </a:solidFill>
                <a:latin typeface="Calibri"/>
              </a:rPr>
              <a:t>Carbon pricing: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 tax, feebate, or the most effective politically feasible mix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4933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4933" y="1800000"/>
            <a:ext cx="3402133" cy="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4933" y="1990000"/>
            <a:ext cx="3022133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14213D"/>
                </a:solidFill>
                <a:latin typeface="Calibri"/>
              </a:rPr>
              <a:t>IT COMPUTES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933" y="2210000"/>
            <a:ext cx="3022133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Live, for 186 countries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933" y="2590000"/>
            <a:ext cx="3022133" cy="23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Green investment need and who pays (NMIM)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Feasible carbon price and its revenue (PriceFeasibility)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Growth and debt (DIGNAD-type macro model)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Debt risk (LIC-DSF-lite, low and lower-middle income)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7066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77066" y="1800000"/>
            <a:ext cx="3402133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7066" y="1990000"/>
            <a:ext cx="3022133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YOU READ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7066" y="2210000"/>
            <a:ext cx="3022133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One Dashboard, 2025-2050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7066" y="2590000"/>
            <a:ext cx="3022133" cy="23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Public debt; revenue and expenditure; balance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GDP against no new measures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Green investment need, budget need, green public investment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Carbon price in force; debt sustainability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" y="5678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2800" y="5678000"/>
            <a:ext cx="101664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it answers 'what does this package do to the budget and debt?', in Excel, with no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Five models joined in one workbook, driven from the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Macro-Fiscal-Energy-Scenario Tool · 20 Oct 2026 · 3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750000"/>
            <a:ext cx="1486066" cy="2250000"/>
          </a:xfrm>
          <a:prstGeom prst="rect">
            <a:avLst/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800" y="1870000"/>
            <a:ext cx="124606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1 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800" y="2170000"/>
            <a:ext cx="1246066" cy="17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3F4A5A"/>
                </a:solidFill>
                <a:latin typeface="Calibri"/>
              </a:rPr>
              <a:t>Tax &amp; Macro-Fiscal Dashboard panel: 217 countries, fiscal, PIMA, debt, energy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38866" y="2875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28866" y="1750000"/>
            <a:ext cx="1486066" cy="2250000"/>
          </a:xfrm>
          <a:prstGeom prst="rect">
            <a:avLst/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8866" y="1870000"/>
            <a:ext cx="1246066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2  Green investment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8866" y="2420000"/>
            <a:ext cx="1246066" cy="1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3F4A5A"/>
                </a:solidFill>
                <a:latin typeface="Calibri"/>
              </a:rPr>
              <a:t>NMIM: net zero investment by sector, who pays (P1-P5), budget need 2025-50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54932" y="2875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444932" y="1750000"/>
            <a:ext cx="1486066" cy="2250000"/>
          </a:xfrm>
          <a:prstGeom prst="rect">
            <a:avLst/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4932" y="1870000"/>
            <a:ext cx="1246066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3  Carbon 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4932" y="2420000"/>
            <a:ext cx="1246066" cy="1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3F4A5A"/>
                </a:solidFill>
                <a:latin typeface="Calibri"/>
              </a:rPr>
              <a:t>PriceFeasibility: tax vs feebate under limits on tariffs, the poor, coal generators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70998" y="2875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260998" y="1750000"/>
            <a:ext cx="1486066" cy="2250000"/>
          </a:xfrm>
          <a:prstGeom prst="rect">
            <a:avLst/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0998" y="1870000"/>
            <a:ext cx="124606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4  Macro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0998" y="2170000"/>
            <a:ext cx="1246066" cy="17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3F4A5A"/>
                </a:solidFill>
                <a:latin typeface="Calibri"/>
              </a:rPr>
              <a:t>DIGNAD-R live; GIMF / DIGNAD / DIGNAR-lite integrated run as cross-check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87064" y="2875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077064" y="1750000"/>
            <a:ext cx="1486066" cy="2250000"/>
          </a:xfrm>
          <a:prstGeom prst="rect">
            <a:avLst/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7064" y="1870000"/>
            <a:ext cx="124606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5  Debt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7064" y="2170000"/>
            <a:ext cx="1246066" cy="17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3F4A5A"/>
                </a:solidFill>
                <a:latin typeface="Calibri"/>
              </a:rPr>
              <a:t>LIC-DSF-lite: five indicators against thresholds; risk rating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03130" y="2875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893130" y="1750000"/>
            <a:ext cx="1486066" cy="22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3130" y="1870000"/>
            <a:ext cx="124606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3130" y="2170000"/>
            <a:ext cx="1246066" cy="17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C9D3E0"/>
                </a:solidFill>
                <a:latin typeface="Calibri"/>
              </a:rPr>
              <a:t>Debt, revenue, spending, GDP, green investment, carbon price, DSA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4250000"/>
            <a:ext cx="10566400" cy="6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800" y="4250000"/>
            <a:ext cx="50000" cy="62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2800" y="4300000"/>
            <a:ext cx="102664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A8521A"/>
                </a:solidFill>
                <a:latin typeface="Calibri"/>
              </a:rPr>
              <a:t>Live, not pasted: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change an investment assumption (e.g. the public share of viability-gap investment) and the budget need, the fiscal outlook and debt all recalculate. Every formula is checked against a Python copy of the equations.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800" y="5050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2800" y="5050000"/>
            <a:ext cx="101664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the levers are few; the detail sits behind them for anyone who wants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THE WORKBOOK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One core Dashboard; the indicators dashboard is a subcomponent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Macro-Fiscal-Energy-Scenario Tool · 20 Oct 2026 · 4</a:t>
            </a:r>
          </a:p>
        </p:txBody>
      </p:sp>
      <p:pic>
        <p:nvPicPr>
          <p:cNvPr id="5" name="Picture 4" descr="scenario_tool_dashboard_v0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720000"/>
            <a:ext cx="6300000" cy="38200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62800" y="1720000"/>
            <a:ext cx="4016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Tabs, left to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2800" y="2050000"/>
            <a:ext cx="4016400" cy="3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4213D"/>
                </a:solidFill>
                <a:latin typeface="Calibri"/>
              </a:rPr>
              <a:t>Dashboard: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 the only place you drive it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4213D"/>
                </a:solidFill>
                <a:latin typeface="Calibri"/>
              </a:rPr>
              <a:t>Detail -&gt;&gt;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 Fiscal outlook · Macro &amp; debt · Green investment · Carbon pricing · Policy settings · model sheets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4213D"/>
                </a:solidFill>
                <a:latin typeface="Calibri"/>
              </a:rPr>
              <a:t>Not master -&gt;&gt;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 the Tax &amp; Macro-Fiscal Dashboard's country profile (16 blocks, 217 countries), kept as a subcomponent; its master is maintained separately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4213D"/>
                </a:solidFill>
                <a:latin typeface="Calibri"/>
              </a:rPr>
              <a:t>Data: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 the dashboard panel feeds every model's calibration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" y="5678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2800" y="5678000"/>
            <a:ext cx="101664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the dashboard is the data layer and a country profile; the scenario tool is what runs on top of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EXAMPLE · KENYA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What a package does to debt: an illustration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Macro-Fiscal-Energy-Scenario Tool · 20 Oct 2026 · 5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2506600" cy="1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50000" cy="15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2800" y="1930000"/>
            <a:ext cx="22066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4213D"/>
                </a:solidFill>
                <a:latin typeface="Cambria"/>
              </a:rPr>
              <a:t>75%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2800" y="2440000"/>
            <a:ext cx="2206600" cy="8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public debt in 2050 (% of GDP) with the climate programme and feasible carbon pricing; 67% with no new measures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9400" y="1800000"/>
            <a:ext cx="2506600" cy="1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99400" y="1800000"/>
            <a:ext cx="50000" cy="150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9400" y="1930000"/>
            <a:ext cx="22066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A8521A"/>
                </a:solidFill>
                <a:latin typeface="Cambria"/>
              </a:rPr>
              <a:t>128%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9400" y="2440000"/>
            <a:ext cx="2206600" cy="8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if public investment also rises by 1.5pp of GDP, debt-financed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6000" y="1800000"/>
            <a:ext cx="2506600" cy="1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6000" y="1800000"/>
            <a:ext cx="50000" cy="150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6000" y="1930000"/>
            <a:ext cx="22066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3D7A73"/>
                </a:solidFill>
                <a:latin typeface="Cambria"/>
              </a:rPr>
              <a:t>31%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6000" y="2440000"/>
            <a:ext cx="2206600" cy="8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if revenue rises 0.5pp of GDP a year (to 3pp) to pay for it; GDP 3.2% higher by 2050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72600" y="1800000"/>
            <a:ext cx="2506600" cy="1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72600" y="1800000"/>
            <a:ext cx="50000" cy="150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2600" y="1930000"/>
            <a:ext cx="22066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F5A96"/>
                </a:solidFill>
                <a:latin typeface="Cambria"/>
              </a:rPr>
              <a:t>89 USD/t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2600" y="2440000"/>
            <a:ext cx="2206600" cy="8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feasible power-sector carbon tax: abates 24% of power CO2, within all three limits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812800" y="3550000"/>
          <a:ext cx="10566400" cy="1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6560"/>
                <a:gridCol w="3169920"/>
                <a:gridCol w="3169920"/>
              </a:tblGrid>
              <a:tr h="33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Kenya, 2030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Source in the tool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Incremental green investment need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1.6% of GDP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Green investment (NMIM)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of which direct budget need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0.5% of GDP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Green investment: P1 + public gap of P4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Debt risk (LIC-DSF-lite)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High, before and with the programme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Macro &amp; debt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12800" y="4950000"/>
            <a:ext cx="10566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5B6573"/>
                </a:solidFill>
                <a:latin typeface="Calibri"/>
              </a:rPr>
              <a:t>Illustrative calibration: the baseline holds today's position (no WEO projections yet) and several parameters are priors. For comparing packages, not as a forecast.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A natural fit with the FSA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Macro-Fiscal-Energy-Scenario Tool · 20 Oct 2026 · 6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3402133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3022133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TOOL TO FSA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3022133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Scenario paths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590000"/>
            <a:ext cx="3022133" cy="23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Revenue and expenditure paths, by item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Primary balance, growth, interest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Green investment and budget need by year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Carbon revenue, and how it is used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4933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4933" y="1800000"/>
            <a:ext cx="3402133" cy="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4933" y="1990000"/>
            <a:ext cx="3022133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14213D"/>
                </a:solidFill>
                <a:latin typeface="Calibri"/>
              </a:rPr>
              <a:t>FSA TO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933" y="2210000"/>
            <a:ext cx="3022133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Sustainability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933" y="2590000"/>
            <a:ext cx="3022133" cy="23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A proper baseline (where ours is a placeholder)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Debt dynamics and fiscal space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Replaces our simple debt module for all income groups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One verdict, consistent with country 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7066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77066" y="1800000"/>
            <a:ext cx="3402133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7066" y="1990000"/>
            <a:ext cx="3022133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R AND ENERGY RISKS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7066" y="2210000"/>
            <a:ext cx="3022133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Two good additions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7066" y="2590000"/>
            <a:ext cx="3022133" cy="23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4213D"/>
                </a:solidFill>
                <a:latin typeface="Calibri"/>
              </a:rPr>
              <a:t>R tool: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 integrate it; the tool's data and model sheets map to a clear interface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4213D"/>
                </a:solidFill>
                <a:latin typeface="Calibri"/>
              </a:rPr>
              <a:t>Energy fiscal risks: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 fossil revenue loss, utility liabilities (P2 tariff-backed investment), subsidies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Most inputs already sit in the tool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" y="5678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2800" y="5678000"/>
            <a:ext cx="101664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the tool sets the policy scenario; the FSA judges its sustainability.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STATUS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Built and checked; next, the link to the FSA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Macro-Fiscal-Energy-Scenario Tool · 20 Oct 2026 · 7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3402133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3022133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3022133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Prototype v0.7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590000"/>
            <a:ext cx="3022133" cy="23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186 countries; Excel, no code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Formulas checked against Python to 1e-14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Green investment matches NMIM exactly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Docs and version notes in the repository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4933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4933" y="1800000"/>
            <a:ext cx="3402133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4933" y="1990000"/>
            <a:ext cx="3022133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LIMITS 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933" y="2210000"/>
            <a:ext cx="3022133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Illustrative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933" y="2590000"/>
            <a:ext cx="3022133" cy="23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Baseline holds today's ratios; no WEO path yet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Macro calibration partly income-group defaults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Carbon pricing: power sector only, several priors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7066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77066" y="1800000"/>
            <a:ext cx="3402133" cy="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7066" y="1990000"/>
            <a:ext cx="3022133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14213D"/>
                </a:solidFill>
                <a:latin typeface="Calibri"/>
              </a:rPr>
              <a:t>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7066" y="2210000"/>
            <a:ext cx="3022133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Proposed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7066" y="2590000"/>
            <a:ext cx="3022133" cy="23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Agree the FSA interface: which variables, which years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Integrate the R tool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Add the energy fiscal risks module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WEO baseline; one pilot country end to 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" y="5678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2800" y="5678000"/>
            <a:ext cx="101664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a short working session on the FSA interface would let us run one country through both.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of AI in developing climate fiscal tools</dc:title>
  <dc:subject>FY27 work plan: AI climate fiscal tools</dc:subject>
  <dc:creator>Stephen Stretton</dc:creator>
  <cp:lastModifiedBy>Stephen Stretton</cp:lastModifiedBy>
  <cp:revision>2</cp:revision>
  <dcterms:created xsi:type="dcterms:W3CDTF">2026-09-28T21:49:06Z</dcterms:created>
  <dcterms:modified xsi:type="dcterms:W3CDTF">2026-10-01T00:40:12Z</dcterms:modified>
  <cp:version>1.2</cp:version>
</cp:coreProperties>
</file>