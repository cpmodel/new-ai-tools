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0000"/>
            <a:ext cx="845312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E3A36B"/>
                </a:solidFill>
                <a:latin typeface="Calibri"/>
              </a:rPr>
              <a:t>CPAT-AI · MANAGEMENT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000000"/>
            <a:ext cx="79248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mbria"/>
              </a:rPr>
              <a:t>Legacy CPAT: bugs and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30000"/>
            <a:ext cx="845312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What we found, and how CPAT-AI treats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595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AA8BC"/>
                </a:solidFill>
                <a:latin typeface="Calibri"/>
              </a:rPr>
              <a:t>Stephen Stretton · 20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LEGACY CPAT: BUGS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159 bugs found in legacy CPAT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1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bugs: 128 mitigation, 31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4933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50000" cy="11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933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9 / 43 / 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933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mitigation bugs by priority: high / medium / 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7066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7066" y="1800000"/>
            <a:ext cx="50000" cy="11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7066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7066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bugs copied into CPAT-AI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050000"/>
            <a:ext cx="105664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Typical types: wrong row or flag referenced · effect applied twice · hard-coded values · inputs that are never read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2800" y="3400000"/>
          <a:ext cx="10566399" cy="16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80"/>
                <a:gridCol w="4754880"/>
                <a:gridCol w="3698239"/>
              </a:tblGrid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legacy does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GDP effect (L24)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Adds the GDP effect to the growth rate every year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GDP effects compound: overstated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Flaring (L19)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Counts flaring CO2 as methane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Emissions in the wrong gas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Regulations (L87)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Regulation share is always 0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Regulation scenarios do nothing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Transfers (D1)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Targeted transfer capped at 10 points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Wrong household compensation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LEGACY CPAT: ISSUES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62 issues found in legacy CPAT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50000" cy="110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800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A8521A"/>
                </a:solidFill>
                <a:latin typeface="Cambria"/>
              </a:rP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2800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legacy issues: 52 mitigation, 10 distribution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4933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50000" cy="110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4933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1F5A96"/>
                </a:solidFill>
                <a:latin typeface="Cambria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4933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replicated as legacy and tracked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7066" y="1800000"/>
            <a:ext cx="3402133" cy="11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7066" y="1800000"/>
            <a:ext cx="50000" cy="110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7066" y="1930000"/>
            <a:ext cx="3102133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3D7A73"/>
                </a:solidFill>
                <a:latin typeface="Cambria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7066" y="2440000"/>
            <a:ext cx="3102133" cy="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3F4A5A"/>
                </a:solidFill>
                <a:latin typeface="Calibri"/>
              </a:rPr>
              <a:t>not replicated, each by explicit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800" y="3050000"/>
            <a:ext cx="10566400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14213D"/>
                </a:solidFill>
                <a:latin typeface="Calibri"/>
              </a:rPr>
              <a:t>Typical types: old data · simplifications · questionable design choices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2800" y="3400000"/>
          <a:ext cx="105664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3280"/>
                <a:gridCol w="5283200"/>
                <a:gridCol w="3169920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legacy does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Why it matters</a:t>
                      </a:r>
                    </a:p>
                  </a:txBody>
                  <a:tcPr marL="90000" marR="90000" marT="40000" marB="40000">
                    <a:solidFill>
                      <a:srgbClr val="14213D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Price data (I4)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Price data end in 2022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Recent price changes missed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Fuel demand (I71)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Fuel use grows with total GDP, so population gets the income elasticity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Demand growth overstated</a:t>
                      </a:r>
                    </a:p>
                  </a:txBody>
                  <a:tcPr marL="90000" marR="90000" marT="40000" marB="40000">
                    <a:solidFill>
                      <a:srgbClr val="F1F0EB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213D"/>
                          </a:solidFill>
                          <a:latin typeface="Calibri"/>
                        </a:rPr>
                        <a:t>Prices (I63)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Demand responds to real USD prices, not local-currency prices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3F4A5A"/>
                          </a:solidFill>
                          <a:latin typeface="Calibri"/>
                        </a:rPr>
                        <a:t>Devaluations have no effect</a:t>
                      </a:r>
                    </a:p>
                  </a:txBody>
                  <a:tcPr marL="90000" marR="90000" marT="40000" marB="40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8521A"/>
                </a:solidFill>
                <a:latin typeface="Calibri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14213D"/>
                </a:solidFill>
                <a:latin typeface="Cambria"/>
              </a:rPr>
              <a:t>Remove bugs; log issues; do not replicate bugs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338000"/>
            <a:ext cx="105664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7A8494"/>
                </a:solidFill>
                <a:latin typeface="Calibri"/>
              </a:rPr>
              <a:t>Source: CPAT-AI repo, release v6.3 and bug/issue register (20 Oct 2026) · CPAT-AI · 20 Oct 2026 ·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2800" y="1800000"/>
            <a:ext cx="3402133" cy="50000"/>
          </a:xfrm>
          <a:prstGeom prst="rect">
            <a:avLst/>
          </a:prstGeom>
          <a:solidFill>
            <a:srgbClr val="A85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2800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A8521A"/>
                </a:solidFill>
                <a:latin typeface="Calibri"/>
              </a:rPr>
              <a:t>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2800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Legacy does not do what it means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2800" y="2830000"/>
            <a:ext cx="3022133" cy="2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Wrong row, double counting, a dead reference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Always fixed in CPAT-AI, never copied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Fix plans written for the legacy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4933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4933" y="1800000"/>
            <a:ext cx="3402133" cy="50000"/>
          </a:xfrm>
          <a:prstGeom prst="rect">
            <a:avLst/>
          </a:prstGeom>
          <a:solidFill>
            <a:srgbClr val="1F5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4933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1F5A96"/>
                </a:solidFill>
                <a:latin typeface="Calibri"/>
              </a:rPr>
              <a:t>ISSUE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4933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Legacy does what it means to, but it is open to question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4933" y="2830000"/>
            <a:ext cx="3022133" cy="2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Old data, simplifications, design choices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Replicated as legacy, logged and tracked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Changed only by explicit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77066" y="1800000"/>
            <a:ext cx="3402133" cy="33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77066" y="1800000"/>
            <a:ext cx="3402133" cy="50000"/>
          </a:xfrm>
          <a:prstGeom prst="rect">
            <a:avLst/>
          </a:prstGeom>
          <a:solidFill>
            <a:srgbClr val="3D7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7066" y="1990000"/>
            <a:ext cx="3022133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>
                <a:solidFill>
                  <a:srgbClr val="3D7A73"/>
                </a:solidFill>
                <a:latin typeface="Calibri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7066" y="2210000"/>
            <a:ext cx="3022133" cy="4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14213D"/>
                </a:solidFill>
                <a:latin typeface="Calibri"/>
              </a:rPr>
              <a:t>Coded CPAT matches Excel-AI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7066" y="2590000"/>
            <a:ext cx="3022133" cy="239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Like legacy CPAT, without any of the bugs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Same input and output codes as the Excel</a:t>
            </a:r>
          </a:p>
          <a:p>
            <a:pPr>
              <a:spcAft>
                <a:spcPts val="400"/>
              </a:spcAft>
            </a:pPr>
            <a:r>
              <a:rPr sz="1100" b="0" i="0">
                <a:solidFill>
                  <a:srgbClr val="A8521A"/>
                </a:solidFill>
                <a:latin typeface="Calibri"/>
              </a:rPr>
              <a:t>•  </a:t>
            </a:r>
            <a:r>
              <a:rPr sz="1100" b="0" i="0">
                <a:solidFill>
                  <a:srgbClr val="3F4A5A"/>
                </a:solidFill>
                <a:latin typeface="Calibri"/>
              </a:rPr>
              <a:t>Same results on the same inputs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5678000"/>
            <a:ext cx="10566400" cy="400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2800" y="5678000"/>
            <a:ext cx="1016640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E3A36B"/>
                </a:solidFill>
                <a:latin typeface="Calibri"/>
              </a:rPr>
              <a:t>So: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results stay comparable with legacy, except where legacy is simply wrong.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2600000"/>
            <a:ext cx="105664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00000"/>
            <a:ext cx="105664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C9D3E0"/>
                </a:solidFill>
                <a:latin typeface="Calibri"/>
              </a:rPr>
              <a:t>Questions and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 of AI in developing climate fiscal tools</dc:title>
  <dc:subject>FY27 work plan: AI climate fiscal tools</dc:subject>
  <dc:creator>Stephen Stretton</dc:creator>
  <cp:lastModifiedBy>Stephen Stretton</cp:lastModifiedBy>
  <cp:revision>2</cp:revision>
  <dcterms:created xsi:type="dcterms:W3CDTF">2026-09-28T21:49:06Z</dcterms:created>
  <dcterms:modified xsi:type="dcterms:W3CDTF">2026-10-01T00:40:12Z</dcterms:modified>
  <cp:version>1.2</cp:version>
</cp:coreProperties>
</file>