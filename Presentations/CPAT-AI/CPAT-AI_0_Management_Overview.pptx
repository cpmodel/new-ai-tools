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650000"/>
            <a:ext cx="845312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E3A36B"/>
                </a:solidFill>
                <a:latin typeface="Calibri"/>
              </a:rPr>
              <a:t>CPAT-AI · MANAGEMENT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000000"/>
            <a:ext cx="79248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mbria"/>
              </a:rPr>
              <a:t>CPAT-AI: progress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530000"/>
            <a:ext cx="845312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C9D3E0"/>
                </a:solidFill>
                <a:latin typeface="Calibri"/>
              </a:rPr>
              <a:t>A bug-free, faster, copy-pasteable CPAT in Excel and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595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AA8BC"/>
                </a:solidFill>
                <a:latin typeface="Calibri"/>
              </a:rPr>
              <a:t>Stephen Stretton · 20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Mitigation: substantial progress. Distribution: done.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Source: CPAT-AI repo, release v6.3 and bug/issue register (20 Oct 2026) · CPAT-AI · 20 Oct 2026 · 2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3402133" cy="5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3022133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1F5A96"/>
                </a:solidFill>
                <a:latin typeface="Calibri"/>
              </a:rPr>
              <a:t>MITIGATION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3022133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Substantial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590000"/>
            <a:ext cx="3022133" cy="23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Prices, demand by 16 sectors and 8 fuels, power, road transport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Revenues, CO2, other GHGs, GDP effects, carbon rates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Checked against legacy CPAT and an independent Python recomputation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Some features still being added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4933" y="1800000"/>
            <a:ext cx="3402133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4933" y="1990000"/>
            <a:ext cx="3022133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933" y="2210000"/>
            <a:ext cx="3022133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933" y="2590000"/>
            <a:ext cx="3022133" cy="23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Household impacts as legacy, by decile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ASPIRE and poverty-line transfers, production-sector prices, charts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All 31 legacy distribution bugs fixed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7066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77066" y="1800000"/>
            <a:ext cx="3402133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7066" y="1990000"/>
            <a:ext cx="3022133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AROUND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7066" y="2210000"/>
            <a:ext cx="3022133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Documentation and hand-over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7066" y="2590000"/>
            <a:ext cx="3022133" cy="23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Quick start, equations, method notes, every formula listed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Bug register and cell-by-cell fix plans for legacy CPAT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Python model (Coded CPAT) shares the same codes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" y="5678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2800" y="5678000"/>
            <a:ext cx="101664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a working, documented CPAT-AI; two co-benefit modules remain (see next steps).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CPAT-AI VS LEGACY CPAT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What is different for the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Source: CPAT-AI repo, release v6.3 and bug/issue register (20 Oct 2026) · CPAT-AI · 20 Oct 2026 · 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800000"/>
          <a:ext cx="10566400" cy="29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624"/>
                <a:gridCol w="3592576"/>
                <a:gridCol w="5283200"/>
              </a:tblGrid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Legacy CPAT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CPAT-AI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Calibri"/>
                        </a:rPr>
                        <a:t>Scenarios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Scenario columns copied in by macro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A scenario is a column group: copy-paste to add one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Calibri"/>
                        </a:rPr>
                        <a:t>How many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Two at a time (baseline + policy)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Any number: paste more groups, or batch-run and compare up to 8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Calibri"/>
                        </a:rPr>
                        <a:t>Bugs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159 known bugs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No known bugs: every legacy bug fixed, none copied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Calibri"/>
                        </a:rPr>
                        <a:t>Formulas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Long, nested formulas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Runs with LAMBDA formulae, or entirely without (four variants)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Data selected inside the calculation sheets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Data sheets at legacy addresses: paste a country's data, set its code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Calibri"/>
                        </a:rPr>
                        <a:t>Speed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More than 5 s to recalculate a scenario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Faster: Excel timings to be confirmed (TBC)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12800" y="5678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2800" y="5678000"/>
            <a:ext cx="101664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same model as legacy, easier to use, extend and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RECALCULATION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Changing a scenario: recalculation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Timings to be measured in Excel 365 on a standard WB laptop · CPAT-AI · 20 Oct 2026 · 4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1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50000" cy="130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2800" y="1930000"/>
            <a:ext cx="3102133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A8521A"/>
                </a:solidFill>
                <a:latin typeface="Cambria"/>
              </a:rPr>
              <a:t>&gt;5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2800" y="2440000"/>
            <a:ext cx="3102133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Legacy CPAT: recalculation after a scenario change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4933" y="1800000"/>
            <a:ext cx="3402133" cy="1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50000" cy="130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933" y="1930000"/>
            <a:ext cx="3102133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F5A96"/>
                </a:solidFill>
                <a:latin typeface="Cambria"/>
              </a:rPr>
              <a:t>TBC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4933" y="2440000"/>
            <a:ext cx="3102133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CPAT-AI with LAMBDA formulae: after a scenario 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7066" y="1800000"/>
            <a:ext cx="3402133" cy="1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7066" y="1800000"/>
            <a:ext cx="50000" cy="130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7066" y="1930000"/>
            <a:ext cx="3102133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3D7A73"/>
                </a:solidFill>
                <a:latin typeface="Cambria"/>
              </a:rPr>
              <a:t>TBC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7066" y="2440000"/>
            <a:ext cx="3102133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CPAT-AI without LAMBDAs: after a scenario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3400000"/>
            <a:ext cx="105664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4213D"/>
                </a:solidFill>
                <a:latin typeface="Calibri"/>
              </a:rPr>
              <a:t>Why it is faster:</a:t>
            </a:r>
            <a:r>
              <a:rPr sz="1300" b="0" i="0">
                <a:solidFill>
                  <a:srgbClr val="3F4A5A"/>
                </a:solidFill>
                <a:latin typeface="Calibri"/>
              </a:rPr>
              <a:t> short formulas (max 100 characters), one formula per block.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4213D"/>
                </a:solidFill>
                <a:latin typeface="Calibri"/>
              </a:rPr>
              <a:t>Only the changed scenario recalculates:</a:t>
            </a:r>
            <a:r>
              <a:rPr sz="1300" b="0" i="0">
                <a:solidFill>
                  <a:srgbClr val="3F4A5A"/>
                </a:solidFill>
                <a:latin typeface="Calibri"/>
              </a:rPr>
              <a:t> each scenario is its own column group.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4213D"/>
                </a:solidFill>
                <a:latin typeface="Calibri"/>
              </a:rPr>
              <a:t>To do:</a:t>
            </a:r>
            <a:r>
              <a:rPr sz="1300" b="0" i="0">
                <a:solidFill>
                  <a:srgbClr val="3F4A5A"/>
                </a:solidFill>
                <a:latin typeface="Calibri"/>
              </a:rPr>
              <a:t> time the three cases in Excel on the same machine and fill in this slide.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LEGACY CPAT: BUGS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159 bugs found in legacy CPAT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Source: CPAT-AI repo, release v6.3 and bug/issue register (20 Oct 2026) · CPAT-AI · 20 Oct 2026 · 5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1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50000" cy="110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2800" y="1930000"/>
            <a:ext cx="3102133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A8521A"/>
                </a:solidFill>
                <a:latin typeface="Cambria"/>
              </a:rPr>
              <a:t>159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2800" y="2440000"/>
            <a:ext cx="3102133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legacy bugs: 128 mitigation, 31 distribution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4933" y="1800000"/>
            <a:ext cx="3402133" cy="1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50000" cy="110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933" y="1930000"/>
            <a:ext cx="3102133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F5A96"/>
                </a:solidFill>
                <a:latin typeface="Cambria"/>
              </a:rPr>
              <a:t>9 / 43 / 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4933" y="2440000"/>
            <a:ext cx="3102133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mitigation bugs by priority: high / medium / 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7066" y="1800000"/>
            <a:ext cx="3402133" cy="1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7066" y="1800000"/>
            <a:ext cx="50000" cy="110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7066" y="1930000"/>
            <a:ext cx="3102133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3D7A73"/>
                </a:solidFill>
                <a:latin typeface="Cambria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7066" y="2440000"/>
            <a:ext cx="3102133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legacy bugs copied into CPAT-AI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3050000"/>
            <a:ext cx="1056640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Typical types: wrong row or flag referenced · effect applied twice · hard-coded values · inputs that are never read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12800" y="3400000"/>
          <a:ext cx="10566399" cy="16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3280"/>
                <a:gridCol w="4754880"/>
                <a:gridCol w="3698239"/>
              </a:tblGrid>
              <a:tr h="33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legacy does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GDP effect (L24)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Adds the GDP effect to the growth rate every year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GDP effects compound: overstated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Flaring (L19)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Counts flaring CO2 as methane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Emissions in the wrong gas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Regulations (L87)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Regulation share is always 0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Regulation scenarios do nothing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Transfers (D1)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Targeted transfer capped at 10 points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Wrong household compensation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LEGACY CPAT: ISSUES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62 issues found in legacy CPAT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Source: CPAT-AI repo, release v6.3 and bug/issue register (20 Oct 2026) · CPAT-AI · 20 Oct 2026 · 6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1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50000" cy="110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2800" y="1930000"/>
            <a:ext cx="3102133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A8521A"/>
                </a:solidFill>
                <a:latin typeface="Cambria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2800" y="2440000"/>
            <a:ext cx="3102133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legacy issues: 52 mitigation, 10 distribution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4933" y="1800000"/>
            <a:ext cx="3402133" cy="1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50000" cy="110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933" y="1930000"/>
            <a:ext cx="3102133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F5A96"/>
                </a:solidFill>
                <a:latin typeface="Cambria"/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4933" y="2440000"/>
            <a:ext cx="3102133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replicated as legacy and tracked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7066" y="1800000"/>
            <a:ext cx="3402133" cy="1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7066" y="1800000"/>
            <a:ext cx="50000" cy="110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7066" y="1930000"/>
            <a:ext cx="3102133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3D7A73"/>
                </a:solidFill>
                <a:latin typeface="Cambria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7066" y="2440000"/>
            <a:ext cx="3102133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not replicated, each by explicit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3050000"/>
            <a:ext cx="1056640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Typical types: old data · simplifications · questionable design choices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12800" y="3400000"/>
          <a:ext cx="105664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3280"/>
                <a:gridCol w="5283200"/>
                <a:gridCol w="3169920"/>
              </a:tblGrid>
              <a:tr h="36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legacy does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Price data (I4)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Price data end in 2022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Recent price changes missed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Fuel demand (I71)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Fuel use grows with total GDP, so population gets the income elasticity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Demand growth overstated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Prices (I63)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Demand responds to real USD prices, not local-currency prices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Devaluations have no effect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Remove bugs; log issues; do not replicate bugs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Source: CPAT-AI repo, release v6.3 and bug/issue register (20 Oct 2026) · CPAT-AI · 20 Oct 2026 · 7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3402133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3022133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BUG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3022133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Legacy does not do what it means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830000"/>
            <a:ext cx="3022133" cy="2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Wrong row, double counting, a dead reference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Always fixed in CPAT-AI, never copied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Fix plans written for the legacy team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4933" y="1800000"/>
            <a:ext cx="3402133" cy="5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4933" y="1990000"/>
            <a:ext cx="3022133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1F5A96"/>
                </a:solidFill>
                <a:latin typeface="Calibri"/>
              </a:rPr>
              <a:t>ISSUE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933" y="2210000"/>
            <a:ext cx="3022133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Legacy does what it means to, but it is open to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933" y="2830000"/>
            <a:ext cx="3022133" cy="2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Old data, simplifications, design choices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Replicated as legacy, logged and tracked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Changed only by explicit decision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7066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77066" y="1800000"/>
            <a:ext cx="3402133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7066" y="1990000"/>
            <a:ext cx="3022133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7066" y="2210000"/>
            <a:ext cx="3022133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Coded CPAT matches Excel-AI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7066" y="2590000"/>
            <a:ext cx="3022133" cy="23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Like legacy CPAT, without any of the bugs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Same input and output codes as the Excel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Same results on the same inputs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" y="5678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2800" y="5678000"/>
            <a:ext cx="101664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results stay comparable with legacy, except where legacy is simply wrong.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HOW IT IS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AI-assisted development on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Tools: Claude Code (main), GitHub Copilot (occasionally) · CPAT-AI · 20 Oct 2026 · 8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50000"/>
            <a:ext cx="1849280" cy="1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800" y="1970000"/>
            <a:ext cx="160928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Repos on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800" y="2270000"/>
            <a:ext cx="1609280" cy="10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Model, scripts, documents and rules in version control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02080" y="260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92080" y="1850000"/>
            <a:ext cx="1849280" cy="1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2080" y="1970000"/>
            <a:ext cx="160928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2080" y="2270000"/>
            <a:ext cx="1609280" cy="10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Writes builders, formulas, checks and documents; cloud sessions on branches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81360" y="260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171360" y="1850000"/>
            <a:ext cx="1849280" cy="1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91360" y="1970000"/>
            <a:ext cx="160928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GitHub Copilot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1360" y="2270000"/>
            <a:ext cx="1609280" cy="10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Used occasionally for smaller edits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60640" y="260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350640" y="1850000"/>
            <a:ext cx="1849280" cy="1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0640" y="1970000"/>
            <a:ext cx="160928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0640" y="2270000"/>
            <a:ext cx="1609280" cy="10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Independent Python recomputation; comparison with legacy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39920" y="260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529920" y="1850000"/>
            <a:ext cx="1849280" cy="15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9920" y="1970000"/>
            <a:ext cx="160928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Release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9920" y="2270000"/>
            <a:ext cx="1609280" cy="10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C9D3E0"/>
                </a:solidFill>
                <a:latin typeface="Calibri"/>
              </a:rPr>
              <a:t>Versioned workbook, register, docs; every task logged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" y="3650000"/>
            <a:ext cx="10566400" cy="1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4213D"/>
                </a:solidFill>
                <a:latin typeface="Calibri"/>
              </a:rPr>
              <a:t>Rules in the repo:</a:t>
            </a:r>
            <a:r>
              <a:rPr sz="1300" b="0" i="0">
                <a:solidFill>
                  <a:srgbClr val="3F4A5A"/>
                </a:solidFill>
                <a:latin typeface="Calibri"/>
              </a:rPr>
              <a:t> AGENTS.md, NORMS.md and CAVEATS.md tell any AI tool how to work and what was done.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4213D"/>
                </a:solidFill>
                <a:latin typeface="Calibri"/>
              </a:rPr>
              <a:t>Reviewable:</a:t>
            </a:r>
            <a:r>
              <a:rPr sz="1300" b="0" i="0">
                <a:solidFill>
                  <a:srgbClr val="3F4A5A"/>
                </a:solidFill>
                <a:latin typeface="Calibri"/>
              </a:rPr>
              <a:t> every change is a commit; bugs and issues are generated from one register.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4213D"/>
                </a:solidFill>
                <a:latin typeface="Calibri"/>
              </a:rPr>
              <a:t>Human in charge:</a:t>
            </a:r>
            <a:r>
              <a:rPr sz="1300" b="0" i="0">
                <a:solidFill>
                  <a:srgbClr val="3F4A5A"/>
                </a:solidFill>
                <a:latin typeface="Calibri"/>
              </a:rPr>
              <a:t> AI proposes and builds; decisions on issues are mine.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WHAT REMAINS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Four pieces of work remain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Source: CPAT-AI repo, release v6.3 and bug/issue register (20 Oct 2026) · CPAT-AI · 20 Oct 2026 · 9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2506600" cy="27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2506600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21266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21266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Air pollution co-benefits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830000"/>
            <a:ext cx="2126600" cy="15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F4A5A"/>
                </a:solidFill>
                <a:latin typeface="Calibri"/>
              </a:rPr>
              <a:t>Health and mortality effects of lower local pollution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9400" y="1800000"/>
            <a:ext cx="2506600" cy="27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9400" y="1800000"/>
            <a:ext cx="2506600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9400" y="1990000"/>
            <a:ext cx="21266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9400" y="2210000"/>
            <a:ext cx="21266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Transport co-benefits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9400" y="2590000"/>
            <a:ext cx="2126600" cy="17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F4A5A"/>
                </a:solidFill>
                <a:latin typeface="Calibri"/>
              </a:rPr>
              <a:t>Congestion, accidents, road damage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6000" y="1800000"/>
            <a:ext cx="2506600" cy="27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6000" y="1800000"/>
            <a:ext cx="2506600" cy="5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6000" y="1990000"/>
            <a:ext cx="21266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1F5A96"/>
                </a:solidFill>
                <a:latin typeface="Calibri"/>
              </a:rPr>
              <a:t>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6000" y="2210000"/>
            <a:ext cx="21266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Alignment of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6000" y="2590000"/>
            <a:ext cx="2126600" cy="17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F4A5A"/>
                </a:solidFill>
                <a:latin typeface="Calibri"/>
              </a:rPr>
              <a:t>Excel-AI, Python and the master code list use the same codes and results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72600" y="1800000"/>
            <a:ext cx="2506600" cy="27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72600" y="1800000"/>
            <a:ext cx="2506600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2600" y="1990000"/>
            <a:ext cx="21266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2600" y="2210000"/>
            <a:ext cx="21266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Database back 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2600" y="2590000"/>
            <a:ext cx="2126600" cy="17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F4A5A"/>
                </a:solidFill>
                <a:latin typeface="Calibri"/>
              </a:rPr>
              <a:t>Data outside the workbook; perhaps a second data table on SharePoint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How the CPAT-AI repo is organised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github.com/cpmodel/CPAT-AI · CPAT-AI · 20 Oct 2026 · 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800000"/>
          <a:ext cx="10566400" cy="29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0"/>
                <a:gridCol w="5283200"/>
                <a:gridCol w="2113280"/>
              </a:tblGrid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Folder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holds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Who uses it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Calibri"/>
                        </a:rPr>
                        <a:t>README, AGENTS, NORMS, CAVEATS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Who reads what; rules for people and AI; log of every task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Everyone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Calibri"/>
                        </a:rPr>
                        <a:t>cpat_excel/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Excel-AI: the CPAT-AI workbook, its builder, checks and documents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Modellers, reviewers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Calibri"/>
                        </a:rPr>
                        <a:t>cpat_excel/cpat_excel_original/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Legacy CPAT workbook: the reference (read-only)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Everyone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Calibri"/>
                        </a:rPr>
                        <a:t>cpat_coded/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Coded CPAT: the Python model, tests and Shiny app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Developers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Calibri"/>
                        </a:rPr>
                        <a:t>legacy_bugfix_plans/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Cell-by-cell fix plans for legacy CPAT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CPAT team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Calibri"/>
                        </a:rPr>
                        <a:t>templates/, _research/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Input template; source literature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Everyone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12800" y="5678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2800" y="5678000"/>
            <a:ext cx="101664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one repo, two projects (Excel and Python), one reference model and one task log.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FOR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What next, and how to work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CPAT-AI · 20 Oct 2026 · 11</a:t>
            </a:r>
          </a:p>
        </p:txBody>
      </p:sp>
      <p:sp>
        <p:nvSpPr>
          <p:cNvPr id="5" name="Oval 4"/>
          <p:cNvSpPr/>
          <p:nvPr/>
        </p:nvSpPr>
        <p:spPr>
          <a:xfrm>
            <a:off x="812800" y="1850000"/>
            <a:ext cx="330000" cy="330000"/>
          </a:xfrm>
          <a:prstGeom prst="ellipse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1850000"/>
            <a:ext cx="330000" cy="3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2800" y="18800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What to share with the IMF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12800" y="1880000"/>
            <a:ext cx="6866400" cy="5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3F4A5A"/>
                </a:solidFill>
                <a:latin typeface="Calibri"/>
              </a:rPr>
              <a:t>Which version, documents and bug list; when; in what form</a:t>
            </a:r>
          </a:p>
        </p:txBody>
      </p:sp>
      <p:sp>
        <p:nvSpPr>
          <p:cNvPr id="9" name="Oval 8"/>
          <p:cNvSpPr/>
          <p:nvPr/>
        </p:nvSpPr>
        <p:spPr>
          <a:xfrm>
            <a:off x="812800" y="2490000"/>
            <a:ext cx="330000" cy="330000"/>
          </a:xfrm>
          <a:prstGeom prst="ellipse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800" y="2490000"/>
            <a:ext cx="330000" cy="3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2800" y="25200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Involve the rest of the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2800" y="2520000"/>
            <a:ext cx="6866400" cy="5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3F4A5A"/>
                </a:solidFill>
                <a:latin typeface="Calibri"/>
              </a:rPr>
              <a:t>Open the repos and the process to colleagues, not just results</a:t>
            </a:r>
          </a:p>
        </p:txBody>
      </p:sp>
      <p:sp>
        <p:nvSpPr>
          <p:cNvPr id="13" name="Oval 12"/>
          <p:cNvSpPr/>
          <p:nvPr/>
        </p:nvSpPr>
        <p:spPr>
          <a:xfrm>
            <a:off x="812800" y="3130000"/>
            <a:ext cx="330000" cy="330000"/>
          </a:xfrm>
          <a:prstGeom prst="ellipse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" y="3130000"/>
            <a:ext cx="330000" cy="3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2800" y="31600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Two missing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2800" y="3160000"/>
            <a:ext cx="6866400" cy="5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3F4A5A"/>
                </a:solidFill>
                <a:latin typeface="Calibri"/>
              </a:rPr>
              <a:t>Proposal: you and the STCs develop air pollution and transport co-benefits</a:t>
            </a:r>
          </a:p>
        </p:txBody>
      </p:sp>
      <p:sp>
        <p:nvSpPr>
          <p:cNvPr id="17" name="Oval 16"/>
          <p:cNvSpPr/>
          <p:nvPr/>
        </p:nvSpPr>
        <p:spPr>
          <a:xfrm>
            <a:off x="812800" y="3770000"/>
            <a:ext cx="330000" cy="330000"/>
          </a:xfrm>
          <a:prstGeom prst="ellipse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00" y="3770000"/>
            <a:ext cx="330000" cy="3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2800" y="38000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User interface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2800" y="3800000"/>
            <a:ext cx="6866400" cy="5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3F4A5A"/>
                </a:solidFill>
                <a:latin typeface="Calibri"/>
              </a:rPr>
              <a:t>Proposal: us or the IMF build the UI; or we split the UI in half</a:t>
            </a:r>
          </a:p>
        </p:txBody>
      </p:sp>
      <p:sp>
        <p:nvSpPr>
          <p:cNvPr id="21" name="Oval 20"/>
          <p:cNvSpPr/>
          <p:nvPr/>
        </p:nvSpPr>
        <p:spPr>
          <a:xfrm>
            <a:off x="812800" y="4410000"/>
            <a:ext cx="330000" cy="330000"/>
          </a:xfrm>
          <a:prstGeom prst="ellipse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800" y="4410000"/>
            <a:ext cx="330000" cy="3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800" y="44400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Way of working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2800" y="4440000"/>
            <a:ext cx="6866400" cy="5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3F4A5A"/>
                </a:solidFill>
                <a:latin typeface="Calibri"/>
              </a:rPr>
              <a:t>One shared repo, one register, shared rules: collaborative by design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5678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2800" y="5678000"/>
            <a:ext cx="101664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I would like this to be a joint effort: agree owners for the modules and the UI.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2600000"/>
            <a:ext cx="105664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3500000"/>
            <a:ext cx="105664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C9D3E0"/>
                </a:solidFill>
                <a:latin typeface="Calibri"/>
              </a:rPr>
              <a:t>Questions and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of AI in developing climate fiscal tools</dc:title>
  <dc:subject>FY27 work plan: AI climate fiscal tools</dc:subject>
  <dc:creator>Stephen Stretton</dc:creator>
  <cp:lastModifiedBy>Stephen Stretton</cp:lastModifiedBy>
  <cp:revision>2</cp:revision>
  <dcterms:created xsi:type="dcterms:W3CDTF">2026-09-28T21:49:06Z</dcterms:created>
  <dcterms:modified xsi:type="dcterms:W3CDTF">2026-10-01T00:40:12Z</dcterms:modified>
  <cp:version>1.2</cp:version>
</cp:coreProperties>
</file>