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  <p:sldId id="257" r:id="rId8"/>
    <p:sldId id="258" r:id="rId9"/>
    <p:sldId id="259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 burden (% of income)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0.6</c:v>
                </c:pt>
                <c:pt idx="2">
                  <c:v>0.9</c:v>
                </c:pt>
                <c:pt idx="3">
                  <c:v>1.3</c:v>
                </c:pt>
                <c:pt idx="4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Transfer offset (% of income)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</c:v>
                </c:pt>
                <c:pt idx="1">
                  <c:v>0.9</c:v>
                </c:pt>
                <c:pt idx="2">
                  <c:v>0.5</c:v>
                </c:pt>
                <c:pt idx="3">
                  <c:v>0.2</c:v>
                </c:pt>
                <c:pt idx="4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group and set expectations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this is a policy option, not a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E74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E74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Pricing Options for Uzbekistan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CPAT Workshop -- Draft Findings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consider a carbon tax now?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Uzbekistan's emissions intensity is above the regional average</a:t>
            </a:r>
          </a:p>
          <a:p>
            <a:pPr lvl="1"/>
            <a:r>
              <a:t>Energy subsidies currently blunt price signals for households and firms</a:t>
            </a:r>
          </a:p>
          <a:p>
            <a:pPr/>
            <a:r>
              <a:t>A phased carbon tax ($5 in 2027 rising to $20 in 2030) is evaluated using CPAT</a:t>
            </a:r>
          </a:p>
          <a:p>
            <a:pPr/>
            <a:r>
              <a:t>Revenue recycling options can offset distributional impacts on poorer households</a:t>
            </a:r>
          </a:p>
          <a:p>
            <a:pPr/>
            <a:r>
              <a:t>Source: CPAT model runs, World Bank staff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impact on household welfare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200150"/>
          <a:ext cx="5486400" cy="52006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t>Questions or follow-up?</a:t>
            </a:r>
          </a:p>
          <a:p>
            <a:pPr algn="ctr"/>
            <a:r>
              <a:t>cpat@worldbank.org</a:t>
            </a:r>
          </a:p>
          <a:p>
            <a:pPr algn="ctr"/>
            <a:r>
              <a:t>https://www.worldbank.org/en/topic/climatechange/brief/climate-policy-assessment-tool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MATE WAREHOUSE 2">
  <a:themeElements>
    <a:clrScheme name="CLIMATE WAREHOUSE 2">
      <a:dk1>
        <a:srgbClr val="494949"/>
      </a:dk1>
      <a:lt1>
        <a:srgbClr val="FBFCFF"/>
      </a:lt1>
      <a:dk2>
        <a:srgbClr val="183153"/>
      </a:dk2>
      <a:lt2>
        <a:srgbClr val="F8F9F8"/>
      </a:lt2>
      <a:accent1>
        <a:srgbClr val="183153"/>
      </a:accent1>
      <a:accent2>
        <a:srgbClr val="004B87"/>
      </a:accent2>
      <a:accent3>
        <a:srgbClr val="049AD7"/>
      </a:accent3>
      <a:accent4>
        <a:srgbClr val="00955E"/>
      </a:accent4>
      <a:accent5>
        <a:srgbClr val="FCC402"/>
      </a:accent5>
      <a:accent6>
        <a:srgbClr val="E7485F"/>
      </a:accent6>
      <a:hlink>
        <a:srgbClr val="611F41"/>
      </a:hlink>
      <a:folHlink>
        <a:srgbClr val="00955E"/>
      </a:folHlink>
    </a:clrScheme>
    <a:fontScheme name="CLIMATE WAREHOUSE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WB-Branded Template</dc:title>
  <dc:creator>ppt-toolkit</dc:creator>
</cp:coreProperties>
</file>