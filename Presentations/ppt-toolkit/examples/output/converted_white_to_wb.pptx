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9" r:id="rId1"/>
  </p:sldMasterIdLst>
  <p:sldIdLst>
    <p:sldId id="256" r:id="rId2"/>
    <p:sldId id="257" r:id="rId8"/>
    <p:sldId id="258" r:id="rId9"/>
    <p:sldId id="259" r:id="rId10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the group and set expectations for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this is a policy option, not a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Decoration"/>
          <p:cNvSpPr/>
          <p:nvPr userDrawn="1"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183153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2286000"/>
            <a:ext cx="10820400" cy="1143000"/>
          </a:xfrm>
        </p:spPr>
        <p:txBody>
          <a:bodyPr/>
          <a:p>
            <a:r>
              <a:rPr lang="en-US"/>
              <a:t> </a:t>
            </a:r>
          </a:p>
        </p:txBody>
      </p:sp>
      <p:sp>
        <p:nvSpPr>
          <p:cNvPr id="0" name="Subtitle"/>
          <p:cNvSpPr>
            <a:spLocks noGrp="1"/>
          </p:cNvSpPr>
          <p:nvPr>
            <p:ph type="subTitle" idx="1"/>
          </p:nvPr>
        </p:nvSpPr>
        <p:spPr>
          <a:xfrm>
            <a:off x="685800" y="3600450"/>
            <a:ext cx="10820400" cy="914400"/>
          </a:xfrm>
        </p:spPr>
        <p:txBody>
          <a:bodyPr/>
          <a:p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rgbClr val="E748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2971800"/>
            <a:ext cx="10820400" cy="914400"/>
          </a:xfrm>
        </p:spPr>
        <p:txBody>
          <a:bodyPr/>
          <a:lstStyle>
            <a:lvl1pPr>
              <a:defRPr sz="40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Half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Decoration"/>
          <p:cNvSpPr/>
          <p:nvPr userDrawn="1"/>
        </p:nvSpPr>
        <p:spPr>
          <a:xfrm>
            <a:off x="6092952" y="0"/>
            <a:ext cx="6099048" cy="6858000"/>
          </a:xfrm>
          <a:prstGeom prst="rect">
            <a:avLst/>
          </a:prstGeom>
          <a:solidFill>
            <a:srgbClr val="F8F9F8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Decoration"/>
          <p:cNvSpPr/>
          <p:nvPr userDrawn="1"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183153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5486400" cy="685800"/>
          </a:xfrm>
        </p:spPr>
        <p:txBody>
          <a:bodyPr/>
          <a:p>
            <a:r>
              <a:rPr lang="en-US"/>
              <a:t> </a:t>
            </a:r>
          </a:p>
        </p:txBody>
      </p:sp>
      <p:sp>
        <p:nvSpPr>
          <p:cNvPr id="0" name="Bullets"/>
          <p:cNvSpPr>
            <a:spLocks noGrp="1"/>
          </p:cNvSpPr>
          <p:nvPr>
            <p:ph type="body" idx="1"/>
          </p:nvPr>
        </p:nvSpPr>
        <p:spPr>
          <a:xfrm>
            <a:off x="685800" y="1200150"/>
            <a:ext cx="5486400" cy="5200650"/>
          </a:xfrm>
        </p:spPr>
        <p:txBody>
          <a:bodyPr/>
          <a:p>
            <a:r>
              <a:rPr lang="en-US"/>
              <a:t> </a:t>
            </a:r>
          </a:p>
        </p:txBody>
      </p:sp>
      <p:sp>
        <p:nvSpPr>
          <p:cNvPr id="0" name="Image"/>
          <p:cNvSpPr>
            <a:spLocks noGrp="1"/>
          </p:cNvSpPr>
          <p:nvPr>
            <p:ph type="pic" idx="2"/>
          </p:nvPr>
        </p:nvSpPr>
        <p:spPr>
          <a:xfrm>
            <a:off x="6400800" y="0"/>
            <a:ext cx="5791200" cy="6858000"/>
          </a:xfrm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Decoration"/>
          <p:cNvSpPr/>
          <p:nvPr userDrawn="1"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183153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10820400" cy="685800"/>
          </a:xfrm>
        </p:spPr>
        <p:txBody>
          <a:bodyPr/>
          <a:p>
            <a:r>
              <a:rPr lang="en-US"/>
              <a:t> </a:t>
            </a:r>
          </a:p>
        </p:txBody>
      </p:sp>
      <p:sp>
        <p:nvSpPr>
          <p:cNvPr id="0" name="Bullets"/>
          <p:cNvSpPr>
            <a:spLocks noGrp="1"/>
          </p:cNvSpPr>
          <p:nvPr>
            <p:ph type="body" idx="1"/>
          </p:nvPr>
        </p:nvSpPr>
        <p:spPr>
          <a:xfrm>
            <a:off x="685800" y="1200150"/>
            <a:ext cx="10820400" cy="5200650"/>
          </a:xfrm>
        </p:spPr>
        <p:txBody>
          <a:bodyPr/>
          <a:p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losing">
    <p:bg>
      <p:bgPr>
        <a:solidFill>
          <a:srgbClr val="E748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2286000"/>
            <a:ext cx="10820400" cy="914400"/>
          </a:xfrm>
        </p:spPr>
        <p:txBody>
          <a:bodyPr/>
          <a:lstStyle>
            <a:lvl1pPr>
              <a:defRPr sz="36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0" name="Message"/>
          <p:cNvSpPr>
            <a:spLocks noGrp="1"/>
          </p:cNvSpPr>
          <p:nvPr>
            <p:ph type="body" idx="1"/>
          </p:nvPr>
        </p:nvSpPr>
        <p:spPr>
          <a:xfrm>
            <a:off x="685800" y="3352800"/>
            <a:ext cx="10820400" cy="160020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itle Placeholder"/>
          <p:cNvSpPr>
            <a:spLocks noGrp="1"/>
          </p:cNvSpPr>
          <p:nvPr>
            <p:ph type="title"/>
          </p:nvPr>
        </p:nvSpPr>
        <p:spPr>
          <a:xfrm>
            <a:off x="685800" y="274638"/>
            <a:ext cx="10820400" cy="1143000"/>
          </a:xfrm>
        </p:spPr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0" name="Text Placeholder"/>
          <p:cNvSpPr>
            <a:spLocks noGrp="1"/>
          </p:cNvSpPr>
          <p:nvPr>
            <p:ph type="body" idx="1"/>
          </p:nvPr>
        </p:nvSpPr>
        <p:spPr>
          <a:xfrm>
            <a:off x="685800" y="1600200"/>
            <a:ext cx="10820400" cy="4525963"/>
          </a:xfrm>
        </p:spPr>
        <p:txBody>
          <a:bodyPr/>
          <a:lstStyle/>
          <a:p>
            <a:r>
              <a:rPr lang="en-US"/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</a:defRPr>
    </a:lvl1pPr>
  </p:defaultTextStyle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Carbon Pricing Options for Uzbekistan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CPAT Workshop -- Draft Findings</a:t>
            </a:r>
          </a:p>
          <a:p>
            <a: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consider a carbon tax now?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Uzbekistan's emissions intensity is above the regional average</a:t>
            </a:r>
          </a:p>
          <a:p>
            <a:pPr lvl="1"/>
            <a:r>
              <a:t>Energy subsidies currently blunt price signals for households and firms</a:t>
            </a:r>
          </a:p>
          <a:p>
            <a:pPr/>
            <a:r>
              <a:t>A phased carbon tax ($5 in 2027 rising to $20 in 2030) is evaluated using CPAT</a:t>
            </a:r>
          </a:p>
          <a:p>
            <a:pPr/>
            <a:r>
              <a:t>Revenue recycling options can offset distributional impacts on poorer households</a:t>
            </a:r>
          </a:p>
          <a:p>
            <a:pPr/>
            <a:r>
              <a:t>Source: CPAT model runs, World Bank staff estimates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Projected impact on household welfare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2"/>
          </p:nvPr>
        </p:nvSpPr>
        <p:spPr/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t>Questions or follow-up?</a:t>
            </a:r>
          </a:p>
          <a:p>
            <a:pPr algn="ctr"/>
            <a:r>
              <a:t>cpat@worldbank.org</a:t>
            </a:r>
          </a:p>
          <a:p>
            <a:pPr algn="ctr"/>
            <a:r>
              <a:t>https://www.worldbank.org/en/topic/climatechange/brief/climate-policy-assessment-tool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IMATE WAREHOUSE 2">
  <a:themeElements>
    <a:clrScheme name="CLIMATE WAREHOUSE 2">
      <a:dk1>
        <a:srgbClr val="494949"/>
      </a:dk1>
      <a:lt1>
        <a:srgbClr val="FBFCFF"/>
      </a:lt1>
      <a:dk2>
        <a:srgbClr val="183153"/>
      </a:dk2>
      <a:lt2>
        <a:srgbClr val="F8F9F8"/>
      </a:lt2>
      <a:accent1>
        <a:srgbClr val="183153"/>
      </a:accent1>
      <a:accent2>
        <a:srgbClr val="004B87"/>
      </a:accent2>
      <a:accent3>
        <a:srgbClr val="049AD7"/>
      </a:accent3>
      <a:accent4>
        <a:srgbClr val="00955E"/>
      </a:accent4>
      <a:accent5>
        <a:srgbClr val="FCC402"/>
      </a:accent5>
      <a:accent6>
        <a:srgbClr val="E7485F"/>
      </a:accent6>
      <a:hlink>
        <a:srgbClr val="611F41"/>
      </a:hlink>
      <a:folHlink>
        <a:srgbClr val="00955E"/>
      </a:folHlink>
    </a:clrScheme>
    <a:fontScheme name="CLIMATE WAREHOUSE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ppt-toolkit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WB-Branded Template</dc:title>
  <dc:creator>ppt-toolkit</dc:creator>
</cp:coreProperties>
</file>