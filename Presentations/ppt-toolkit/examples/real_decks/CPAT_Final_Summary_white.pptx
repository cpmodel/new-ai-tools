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9"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lvl1pPr marL="0" algn="l" defTabSz="914400" rtl="0" eaLnBrk="1" latinLnBrk="0" hangingPunct="1">
      <a:defRPr sz="1800" kern="1200">
        <a:solidFill>
          <a:schemeClr val="tx1"/>
        </a:solidFill>
        <a:latin typeface="+mn-lt"/>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Draws on Issues with CPAT and Options for Remediation (first presented April 2026), the Coded CPAT and other AI tools plan (September 2026) and the FY27 work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forms share one set of equations and are kept equivalent by script. Each is built component by component, together: distribution, mitigation basics, power, other mitigation and GDP, air pollution, transport.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AI-Excel also lowers the risk of building a new user interface on an archaic back end. It is not meant to replace legacy CPAT yet; that is for later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Joint working with AI: rather than passing around long context, we keep small generative files and concise scripts. Anyone, with any AI tool, can regenerate the Excel, the code and the documentation from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what other issues should we plan for? These points come from discussion with Dirk.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Done so far (July and September, five weeks): prices proof of concept, AI dashboard and Excise Diagnostic proofs of concept, requirements and AI coding set-up, and the AI-Excel form begun. The week of 26 October is now leave, so distribution takes one week (2 November); all later dates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transition to Part 3. The coded engine is the input to the CPAT–SiSePuede project and sits on the single Python platform. AI-Excel goes to the WB–IMF process, GHG accounting and cross-checking. Part 3 starts with the two places the code goes.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AI-built dashboard proof of concept, with a full data audit trail. The tax indicators from the Excise Diagnostic join this 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says what is there; the policy issue report says what to do next. Together they give a fast, sourced starting point for policy dialogue.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discussion. The work plan selects GHG accounting (3a) and marks policy crediting (3b) and the tax/fiscal dashboard (3c) as possibly dropped, at five weeks each. The master timeline gives them much less: one week for policy crediting and FFI, two weeks each for the dashboard and policy reports. The Energy GP coding help (3d, two weeks) is in the work plan but not on the master timeline, so it needs a slot or should go. The April items (ETS pilot, downstream industrial pricing, CPAT working paper) do not appear in the FY27 plan; confirm whether they are done, handed over or dropped.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0" name="Decoration"/>
          <p:cNvSpPr/>
          <p:nvPr userDrawn="1"/>
        </p:nvSpPr>
        <p:spPr>
          <a:xfrm>
            <a:off x="0" y="0"/>
            <a:ext cx="12192000" cy="137160"/>
          </a:xfrm>
          <a:prstGeom prst="rect">
            <a:avLst/>
          </a:prstGeom>
          <a:solidFill>
            <a:srgbClr val="22A3DF"/>
          </a:solidFill>
          <a:ln>
            <a:noFill/>
          </a:ln>
        </p:spPr>
        <p:txBody>
          <a:bodyPr/>
          <a:lstStyle/>
          <a:p/>
        </p:txBody>
      </p:sp>
      <p:sp>
        <p:nvSpPr>
          <p:cNvPr id="0" name="Title"/>
          <p:cNvSpPr>
            <a:spLocks noGrp="1"/>
          </p:cNvSpPr>
          <p:nvPr>
            <p:ph type="title"/>
          </p:nvPr>
        </p:nvSpPr>
        <p:spPr>
          <a:xfrm>
            <a:off x="685800" y="2286000"/>
            <a:ext cx="10820400" cy="1143000"/>
          </a:xfrm>
        </p:spPr>
        <p:txBody>
          <a:bodyPr/>
          <a:p>
            <a:r>
              <a:rPr lang="en-US"/>
              <a:t> </a:t>
            </a:r>
          </a:p>
        </p:txBody>
      </p:sp>
      <p:sp>
        <p:nvSpPr>
          <p:cNvPr id="0" name="Subtitle"/>
          <p:cNvSpPr>
            <a:spLocks noGrp="1"/>
          </p:cNvSpPr>
          <p:nvPr>
            <p:ph type="subTitle" idx="1"/>
          </p:nvPr>
        </p:nvSpPr>
        <p:spPr>
          <a:xfrm>
            <a:off x="685800" y="3600450"/>
            <a:ext cx="10820400" cy="914400"/>
          </a:xfrm>
        </p:spPr>
        <p:txBody>
          <a:bodyPr/>
          <a:p>
            <a:r>
              <a:rPr lang="en-US"/>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Divider">
    <p:bg>
      <p:bgPr>
        <a:solidFill>
          <a:srgbClr val="061F32"/>
        </a:solidFill>
        <a:effectLst/>
      </p:bgPr>
    </p:bg>
    <p:spTree>
      <p:nvGrpSpPr>
        <p:cNvPr id="1" name=""/>
        <p:cNvGrpSpPr/>
        <p:nvPr/>
      </p:nvGrpSpPr>
      <p:grpSpPr>
        <a:xfrm>
          <a:off x="0" y="0"/>
          <a:ext cx="0" cy="0"/>
          <a:chOff x="0" y="0"/>
          <a:chExt cx="0" cy="0"/>
        </a:xfrm>
      </p:grpSpPr>
      <p:sp>
        <p:nvSpPr>
          <p:cNvPr id="0" name="Title"/>
          <p:cNvSpPr>
            <a:spLocks noGrp="1"/>
          </p:cNvSpPr>
          <p:nvPr>
            <p:ph type="title"/>
          </p:nvPr>
        </p:nvSpPr>
        <p:spPr>
          <a:xfrm>
            <a:off x="685800" y="2971800"/>
            <a:ext cx="10820400" cy="914400"/>
          </a:xfrm>
        </p:spPr>
        <p:txBody>
          <a:bodyPr/>
          <a:lstStyle>
            <a:lvl1pPr>
              <a:defRPr sz="4000" b="1">
                <a:solidFill>
                  <a:srgbClr val="FFFFFF"/>
                </a:solidFill>
              </a:defRPr>
            </a:lvl1pPr>
          </a:lstStyle>
          <a:p>
            <a:r>
              <a:rPr lang="en-US"/>
              <a:t>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Half Half">
    <p:spTree>
      <p:nvGrpSpPr>
        <p:cNvPr id="1" name=""/>
        <p:cNvGrpSpPr/>
        <p:nvPr/>
      </p:nvGrpSpPr>
      <p:grpSpPr>
        <a:xfrm>
          <a:off x="0" y="0"/>
          <a:ext cx="0" cy="0"/>
          <a:chOff x="0" y="0"/>
          <a:chExt cx="0" cy="0"/>
        </a:xfrm>
      </p:grpSpPr>
      <p:sp>
        <p:nvSpPr>
          <p:cNvPr id="0" name="Decoration"/>
          <p:cNvSpPr/>
          <p:nvPr userDrawn="1"/>
        </p:nvSpPr>
        <p:spPr>
          <a:xfrm>
            <a:off x="6092952" y="0"/>
            <a:ext cx="6099048" cy="6858000"/>
          </a:xfrm>
          <a:prstGeom prst="rect">
            <a:avLst/>
          </a:prstGeom>
          <a:solidFill>
            <a:srgbClr val="F2F2F2"/>
          </a:solidFill>
          <a:ln>
            <a:noFill/>
          </a:ln>
        </p:spPr>
        <p:txBody>
          <a:bodyPr/>
          <a:lstStyle/>
          <a:p/>
        </p:txBody>
      </p:sp>
      <p:sp>
        <p:nvSpPr>
          <p:cNvPr id="0" name="Decoration"/>
          <p:cNvSpPr/>
          <p:nvPr userDrawn="1"/>
        </p:nvSpPr>
        <p:spPr>
          <a:xfrm>
            <a:off x="0" y="0"/>
            <a:ext cx="12192000" cy="137160"/>
          </a:xfrm>
          <a:prstGeom prst="rect">
            <a:avLst/>
          </a:prstGeom>
          <a:solidFill>
            <a:srgbClr val="22A3DF"/>
          </a:solidFill>
          <a:ln>
            <a:noFill/>
          </a:ln>
        </p:spPr>
        <p:txBody>
          <a:bodyPr/>
          <a:lstStyle/>
          <a:p/>
        </p:txBody>
      </p:sp>
      <p:sp>
        <p:nvSpPr>
          <p:cNvPr id="0" name="Title"/>
          <p:cNvSpPr>
            <a:spLocks noGrp="1"/>
          </p:cNvSpPr>
          <p:nvPr>
            <p:ph type="title"/>
          </p:nvPr>
        </p:nvSpPr>
        <p:spPr>
          <a:xfrm>
            <a:off x="685800" y="457200"/>
            <a:ext cx="5486400" cy="685800"/>
          </a:xfrm>
        </p:spPr>
        <p:txBody>
          <a:bodyPr/>
          <a:p>
            <a:r>
              <a:rPr lang="en-US"/>
              <a:t> </a:t>
            </a:r>
          </a:p>
        </p:txBody>
      </p:sp>
      <p:sp>
        <p:nvSpPr>
          <p:cNvPr id="0" name="Bullets"/>
          <p:cNvSpPr>
            <a:spLocks noGrp="1"/>
          </p:cNvSpPr>
          <p:nvPr>
            <p:ph type="body" idx="1"/>
          </p:nvPr>
        </p:nvSpPr>
        <p:spPr>
          <a:xfrm>
            <a:off x="685800" y="1200150"/>
            <a:ext cx="5486400" cy="5200650"/>
          </a:xfrm>
        </p:spPr>
        <p:txBody>
          <a:bodyPr/>
          <a:p>
            <a:r>
              <a:rPr lang="en-US"/>
              <a:t> </a:t>
            </a:r>
          </a:p>
        </p:txBody>
      </p:sp>
      <p:sp>
        <p:nvSpPr>
          <p:cNvPr id="0" name="Image"/>
          <p:cNvSpPr>
            <a:spLocks noGrp="1"/>
          </p:cNvSpPr>
          <p:nvPr>
            <p:ph type="pic" idx="2"/>
          </p:nvPr>
        </p:nvSpPr>
        <p:spPr>
          <a:xfrm>
            <a:off x="6400800" y="0"/>
            <a:ext cx="5791200" cy="6858000"/>
          </a:xfrm>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Bullets">
    <p:spTree>
      <p:nvGrpSpPr>
        <p:cNvPr id="1" name=""/>
        <p:cNvGrpSpPr/>
        <p:nvPr/>
      </p:nvGrpSpPr>
      <p:grpSpPr>
        <a:xfrm>
          <a:off x="0" y="0"/>
          <a:ext cx="0" cy="0"/>
          <a:chOff x="0" y="0"/>
          <a:chExt cx="0" cy="0"/>
        </a:xfrm>
      </p:grpSpPr>
      <p:sp>
        <p:nvSpPr>
          <p:cNvPr id="0" name="Decoration"/>
          <p:cNvSpPr/>
          <p:nvPr userDrawn="1"/>
        </p:nvSpPr>
        <p:spPr>
          <a:xfrm>
            <a:off x="0" y="0"/>
            <a:ext cx="12192000" cy="137160"/>
          </a:xfrm>
          <a:prstGeom prst="rect">
            <a:avLst/>
          </a:prstGeom>
          <a:solidFill>
            <a:srgbClr val="22A3DF"/>
          </a:solidFill>
          <a:ln>
            <a:noFill/>
          </a:ln>
        </p:spPr>
        <p:txBody>
          <a:bodyPr/>
          <a:lstStyle/>
          <a:p/>
        </p:txBody>
      </p:sp>
      <p:sp>
        <p:nvSpPr>
          <p:cNvPr id="0" name="Title"/>
          <p:cNvSpPr>
            <a:spLocks noGrp="1"/>
          </p:cNvSpPr>
          <p:nvPr>
            <p:ph type="title"/>
          </p:nvPr>
        </p:nvSpPr>
        <p:spPr>
          <a:xfrm>
            <a:off x="685800" y="457200"/>
            <a:ext cx="10820400" cy="685800"/>
          </a:xfrm>
        </p:spPr>
        <p:txBody>
          <a:bodyPr/>
          <a:p>
            <a:r>
              <a:rPr lang="en-US"/>
              <a:t> </a:t>
            </a:r>
          </a:p>
        </p:txBody>
      </p:sp>
      <p:sp>
        <p:nvSpPr>
          <p:cNvPr id="0" name="Bullets"/>
          <p:cNvSpPr>
            <a:spLocks noGrp="1"/>
          </p:cNvSpPr>
          <p:nvPr>
            <p:ph type="body" idx="1"/>
          </p:nvPr>
        </p:nvSpPr>
        <p:spPr>
          <a:xfrm>
            <a:off x="685800" y="1200150"/>
            <a:ext cx="10820400" cy="5200650"/>
          </a:xfrm>
        </p:spPr>
        <p:txBody>
          <a:bodyPr/>
          <a:p>
            <a:r>
              <a:rPr lang="en-US"/>
              <a: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losing">
    <p:bg>
      <p:bgPr>
        <a:solidFill>
          <a:srgbClr val="061F32"/>
        </a:solidFill>
        <a:effectLst/>
      </p:bgPr>
    </p:bg>
    <p:spTree>
      <p:nvGrpSpPr>
        <p:cNvPr id="1" name=""/>
        <p:cNvGrpSpPr/>
        <p:nvPr/>
      </p:nvGrpSpPr>
      <p:grpSpPr>
        <a:xfrm>
          <a:off x="0" y="0"/>
          <a:ext cx="0" cy="0"/>
          <a:chOff x="0" y="0"/>
          <a:chExt cx="0" cy="0"/>
        </a:xfrm>
      </p:grpSpPr>
      <p:sp>
        <p:nvSpPr>
          <p:cNvPr id="0" name="Title"/>
          <p:cNvSpPr>
            <a:spLocks noGrp="1"/>
          </p:cNvSpPr>
          <p:nvPr>
            <p:ph type="title"/>
          </p:nvPr>
        </p:nvSpPr>
        <p:spPr>
          <a:xfrm>
            <a:off x="685800" y="2286000"/>
            <a:ext cx="10820400" cy="914400"/>
          </a:xfrm>
        </p:spPr>
        <p:txBody>
          <a:bodyPr/>
          <a:lstStyle>
            <a:lvl1pPr>
              <a:defRPr sz="3600" b="1">
                <a:solidFill>
                  <a:srgbClr val="FFFFFF"/>
                </a:solidFill>
              </a:defRPr>
            </a:lvl1pPr>
          </a:lstStyle>
          <a:p>
            <a:r>
              <a:rPr lang="en-US"/>
              <a:t> </a:t>
            </a:r>
          </a:p>
        </p:txBody>
      </p:sp>
      <p:sp>
        <p:nvSpPr>
          <p:cNvPr id="0" name="Message"/>
          <p:cNvSpPr>
            <a:spLocks noGrp="1"/>
          </p:cNvSpPr>
          <p:nvPr>
            <p:ph type="body" idx="1"/>
          </p:nvPr>
        </p:nvSpPr>
        <p:spPr>
          <a:xfrm>
            <a:off x="685800" y="3352800"/>
            <a:ext cx="10820400" cy="1600200"/>
          </a:xfrm>
        </p:spPr>
        <p:txBody>
          <a:bodyPr/>
          <a:lstStyle>
            <a:lvl1pPr>
              <a:defRPr>
                <a:solidFill>
                  <a:srgbClr val="FFFFFF"/>
                </a:solidFill>
              </a:defRPr>
            </a:lvl1pPr>
          </a:lstStyle>
          <a:p>
            <a:r>
              <a:rPr lang="en-US"/>
              <a:t> </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0" name="Title Placeholder"/>
          <p:cNvSpPr>
            <a:spLocks noGrp="1"/>
          </p:cNvSpPr>
          <p:nvPr>
            <p:ph type="title"/>
          </p:nvPr>
        </p:nvSpPr>
        <p:spPr>
          <a:xfrm>
            <a:off x="685800" y="274638"/>
            <a:ext cx="10820400" cy="1143000"/>
          </a:xfrm>
        </p:spPr>
        <p:txBody>
          <a:bodyPr/>
          <a:lstStyle/>
          <a:p>
            <a:r>
              <a:rPr lang="en-US"/>
              <a:t> </a:t>
            </a:r>
          </a:p>
        </p:txBody>
      </p:sp>
      <p:sp>
        <p:nvSpPr>
          <p:cNvPr id="0" name="Text Placeholder"/>
          <p:cNvSpPr>
            <a:spLocks noGrp="1"/>
          </p:cNvSpPr>
          <p:nvPr>
            <p:ph type="body" idx="1"/>
          </p:nvPr>
        </p:nvSpPr>
        <p:spPr>
          <a:xfrm>
            <a:off x="685800" y="1600200"/>
            <a:ext cx="10820400" cy="4525963"/>
          </a:xfrm>
        </p:spPr>
        <p:txBody>
          <a:bodyPr/>
          <a:lstStyle/>
          <a:p>
            <a:r>
              <a:rPr lang="en-US"/>
              <a: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defaultTextStyle>
    <a:lvl1pPr marL="0" algn="l" defTabSz="914400" rtl="0" eaLnBrk="1" latinLnBrk="0" hangingPunct="1">
      <a:defRPr sz="1800" kern="1200">
        <a:solidFill>
          <a:schemeClr val="tx1"/>
        </a:solidFill>
        <a:latin typeface="+mn-lt"/>
      </a:defRPr>
    </a:lvl1pPr>
  </p:defaultTextStyle>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new CPAT engine, and what we build on it</a:t>
            </a:r>
          </a:p>
        </p:txBody>
      </p:sp>
      <p:sp>
        <p:nvSpPr>
          <p:cNvPr id="3" name="Subtitle 2"/>
          <p:cNvSpPr>
            <a:spLocks noGrp="1"/>
          </p:cNvSpPr>
          <p:nvPr>
            <p:ph type="subTitle" idx="1"/>
          </p:nvPr>
        </p:nvSpPr>
        <p:spPr/>
        <p:txBody>
          <a:bodyPr/>
          <a:lstStyle/>
          <a:p>
            <a:r>
              <a:t>CPAT · FOR DISCUSSION · SEPTEMBER 2026</a:t>
            </a:r>
          </a:p>
          <a:p>
            <a:r>
              <a:t>The problem, the coded and AI-Excel conversion, other products, and what to keep</a:t>
            </a:r>
          </a:p>
          <a:p>
            <a:r>
              <a:t>AI-Excel</a:t>
            </a:r>
          </a:p>
          <a:p>
            <a:r>
              <a:t>Coded: Python + Shiny</a:t>
            </a:r>
          </a:p>
          <a:p>
            <a:r>
              <a:t>Other products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Contents — Purpose: agree the plan for rebuilding CPAT's engine with AI, in code and in Excel, and decide which smaller products to keep alongside it.</a:t>
            </a:r>
          </a:p>
        </p:txBody>
      </p:sp>
      <p:sp>
        <p:nvSpPr>
          <p:cNvPr id="3" name="Text Placeholder 2"/>
          <p:cNvSpPr>
            <a:spLocks noGrp="1"/>
          </p:cNvSpPr>
          <p:nvPr>
            <p:ph type="body" idx="1"/>
          </p:nvPr>
        </p:nvSpPr>
        <p:spPr/>
        <p:txBody>
          <a:bodyPr/>
          <a:lstStyle/>
          <a:p>
            <a:pPr/>
            <a:r>
              <a:t>PART 1 · SLIDES 3–5</a:t>
            </a:r>
          </a:p>
          <a:p>
            <a:pPr/>
            <a:r>
              <a:t>The problem</a:t>
            </a:r>
          </a:p>
          <a:p>
            <a:pPr/>
            <a:r>
              <a:t>Three problems</a:t>
            </a:r>
          </a:p>
          <a:p>
            <a:pPr/>
            <a:r>
              <a:t>Main coding issues</a:t>
            </a:r>
          </a:p>
          <a:p>
            <a:pPr/>
            <a:r>
              <a:t>Why a patch is not enough</a:t>
            </a:r>
          </a:p>
          <a:p>
            <a:pPr/>
            <a:r>
              <a:t>PART 2 · SLIDES 6–12</a:t>
            </a:r>
          </a:p>
          <a:p>
            <a:pPr/>
            <a:r>
              <a:t>Coded CPAT and AI-Excel</a:t>
            </a:r>
          </a:p>
          <a:p>
            <a:pPr/>
            <a:r>
              <a:t>Two products compared</a:t>
            </a:r>
          </a:p>
          <a:p>
            <a:pPr/>
            <a:r>
              <a:t>Purposes of AI-Excel</a:t>
            </a:r>
          </a:p>
          <a:p>
            <a:pPr/>
            <a:r>
              <a:t>Maintainability</a:t>
            </a:r>
          </a:p>
          <a:p>
            <a:pPr/>
            <a:r>
              <a:t>Issues and resolutions</a:t>
            </a:r>
          </a:p>
          <a:p>
            <a:pPr/>
            <a:r>
              <a:t>Status and timeline</a:t>
            </a:r>
          </a:p>
          <a:p>
            <a:pPr/>
            <a:r>
              <a:t>Where each form goes</a:t>
            </a:r>
          </a:p>
          <a:p>
            <a:pPr/>
            <a:r>
              <a:t>PART 3 · SLIDES 13–19</a:t>
            </a:r>
          </a:p>
          <a:p>
            <a:pPr/>
            <a:r>
              <a:t>Other products</a:t>
            </a:r>
          </a:p>
          <a:p>
            <a:pPr/>
            <a:r>
              <a:t>Overview (13)</a:t>
            </a:r>
          </a:p>
          <a:p>
            <a:pPr/>
            <a:r>
              <a:t>A · CPAT–SiSePuede (14)</a:t>
            </a:r>
          </a:p>
          <a:p>
            <a:pPr/>
            <a:r>
              <a:t>B · Python platform (15)</a:t>
            </a:r>
          </a:p>
          <a:p>
            <a:pPr/>
            <a:r>
              <a:t>C · Dashboard and policy report (16–18)</a:t>
            </a:r>
          </a:p>
          <a:p>
            <a:pPr lvl="1"/>
            <a:r>
              <a:t>D · Total Carbon Price into GHG accounting (19)</a:t>
            </a:r>
          </a:p>
          <a:p>
            <a:pPr/>
            <a:r>
              <a:t>PART 4 · SLIDES 20–21</a:t>
            </a:r>
          </a:p>
          <a:p>
            <a:pPr/>
            <a:r>
              <a:t>Keep, drop and conclude</a:t>
            </a:r>
          </a:p>
          <a:p>
            <a:pPr/>
            <a:r>
              <a:t>What to keep and what to drop</a:t>
            </a:r>
          </a:p>
          <a:p>
            <a:pPr/>
            <a:r>
              <a:t>Conclusion and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 · THE PROBLEM — CPAT's mitigation module has three problems</a:t>
            </a:r>
          </a:p>
        </p:txBody>
      </p:sp>
      <p:sp>
        <p:nvSpPr>
          <p:cNvPr id="3" name="Text Placeholder 2"/>
          <p:cNvSpPr>
            <a:spLocks noGrp="1"/>
          </p:cNvSpPr>
          <p:nvPr>
            <p:ph type="body" idx="1"/>
          </p:nvPr>
        </p:nvSpPr>
        <p:spPr/>
        <p:txBody>
          <a:bodyPr/>
          <a:lstStyle/>
          <a:p>
            <a:pPr/>
            <a:r>
              <a:t>Code quality</a:t>
            </a:r>
          </a:p>
          <a:p>
            <a:pPr lvl="1"/>
            <a:r>
              <a:t>The module is large, slow, heavy and hard to maintain. No user can understand or validate 250,000+ spreadsheet cells.</a:t>
            </a:r>
          </a:p>
          <a:p>
            <a:pPr/>
            <a:r>
              <a:t>Empirical validation</a:t>
            </a:r>
          </a:p>
          <a:p>
            <a:pPr lvl="1"/>
            <a:r>
              <a:t>The WB side has not published CPAT. The IMF publication relies mostly on an elasticity meta-analysis.</a:t>
            </a:r>
          </a:p>
          <a:p>
            <a:pPr/>
            <a:r>
              <a:t>Short-term usability</a:t>
            </a:r>
          </a:p>
          <a:p>
            <a:pPr lvl="1"/>
            <a:r>
              <a:t>A few bugs, and hard to demonstrate: it can take ten minutes to load. This limits its use in country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 · MAIN CODING ISSUES — Heavy, slow and hard to keep consistent</a:t>
            </a:r>
          </a:p>
        </p:txBody>
      </p:sp>
      <p:sp>
        <p:nvSpPr>
          <p:cNvPr id="3" name="Text Placeholder 2"/>
          <p:cNvSpPr>
            <a:spLocks noGrp="1"/>
          </p:cNvSpPr>
          <p:nvPr>
            <p:ph type="body" idx="1"/>
          </p:nvPr>
        </p:nvSpPr>
        <p:spPr/>
        <p:txBody>
          <a:bodyPr/>
          <a:lstStyle/>
          <a:p>
            <a:pPr/>
            <a:r>
              <a:t>Heavy</a:t>
            </a:r>
          </a:p>
          <a:p>
            <a:pPr/>
            <a:r>
              <a:t>Slow</a:t>
            </a:r>
          </a:p>
          <a:p>
            <a:pPr/>
            <a:r>
              <a:t>Hard to maintain</a:t>
            </a:r>
          </a:p>
          <a:p>
            <a:pPr/>
            <a:r>
              <a:t>Hard to keep consistent</a:t>
            </a:r>
          </a:p>
          <a:p>
            <a:pPr/>
            <a:r>
              <a:t>Not fit for the new UI</a:t>
            </a:r>
          </a:p>
          <a:p>
            <a:pPr lvl="1"/>
            <a:r>
              <a:t>The mitigation module is the largest part of CPAT.</a:t>
            </a:r>
          </a:p>
          <a:p>
            <a:pPr lvl="1"/>
            <a:r>
              <a:t>Other modules depend on it, so they wait for it.</a:t>
            </a:r>
          </a:p>
          <a:p>
            <a:pPr lvl="1"/>
            <a:r>
              <a:t>250,000+ cells are hard to understand and validate.</a:t>
            </a:r>
          </a:p>
          <a:p>
            <a:pPr lvl="1"/>
            <a:r>
              <a:t>Excel, Python CPAT and documentation drift apart; a spreadsheet is hard to publish in a peer-reviewed journal.</a:t>
            </a:r>
          </a:p>
          <a:p>
            <a:pPr lvl="1"/>
            <a:r>
              <a:t>Policy mixes need every sector and fuel combination handled properly: a fully consistent approach.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 · WHY A PATCH IS NOT ENOUGH — Patching the old Excel will not be enough</a:t>
            </a:r>
          </a:p>
        </p:txBody>
      </p:sp>
      <p:sp>
        <p:nvSpPr>
          <p:cNvPr id="3" name="Text Placeholder 2"/>
          <p:cNvSpPr>
            <a:spLocks noGrp="1"/>
          </p:cNvSpPr>
          <p:nvPr>
            <p:ph type="body" idx="1"/>
          </p:nvPr>
        </p:nvSpPr>
        <p:spPr/>
        <p:txBody>
          <a:bodyPr/>
          <a:lstStyle/>
          <a:p>
            <a:pPr lvl="1"/>
            <a:r>
              <a:t>So: rebuild the engine with AI, in code and in Excel, and keep them equal.</a:t>
            </a:r>
          </a:p>
          <a:p>
            <a:pPr/>
            <a:r>
              <a:t>The April option</a:t>
            </a:r>
          </a:p>
          <a:p>
            <a:pPr/>
            <a:r>
              <a:t>A new engine tab in legacy CPAT</a:t>
            </a:r>
          </a:p>
          <a:p>
            <a:pPr lvl="1"/>
            <a:r>
              <a:t>Lambda functions, arrays and simpler prices. Result: a more consistent engine, but CPAT not much faster or smaller.</a:t>
            </a:r>
          </a:p>
          <a:p>
            <a:pPr/>
            <a:r>
              <a:t>What the engine must now do</a:t>
            </a:r>
          </a:p>
          <a:p>
            <a:pPr lvl="1"/>
            <a:r>
              <a:t>Policy mixes across every sector, fuel and policy</a:t>
            </a:r>
          </a:p>
          <a:p>
            <a:pPr lvl="1"/>
            <a:r>
              <a:t>A clean back end for the new WB–IMF interface</a:t>
            </a:r>
          </a:p>
          <a:p>
            <a:pPr lvl="1"/>
            <a:r>
              <a:t>GHG accounting, with every figure traceable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TWO PRODUCTS, COMPARED — One set of equations, two forms</a:t>
            </a:r>
          </a:p>
        </p:txBody>
      </p:sp>
      <p:graphicFrame>
        <p:nvGraphicFramePr>
          <p:cNvPr id="3" name="Table 2"/>
          <p:cNvGraphicFramePr>
            <a:graphicFrameLocks noGrp="1"/>
          </p:cNvGraphicFramePr>
          <p:nvPr/>
        </p:nvGraphicFramePr>
        <p:xfrm>
          <a:off x="685800" y="1200150"/>
          <a:ext cx="10820400" cy="5200650"/>
        </p:xfrm>
        <a:graphic>
          <a:graphicData uri="http://schemas.openxmlformats.org/drawingml/2006/table">
            <a:tbl>
              <a:tblPr firstRow="1" bandRow="1">
                <a:tableStyleId>{5C22544A-7EE6-4342-B048-85BDC9FD1C3A}</a:tableStyleId>
              </a:tblPr>
              <a:tblGrid>
                <a:gridCol w="3606800"/>
                <a:gridCol w="3606800"/>
                <a:gridCol w="3606800"/>
              </a:tblGrid>
              <a:tr h="866775">
                <a:tc>
                  <a:txBody>
                    <a:bodyPr/>
                    <a:lstStyle/>
                    <a:p/>
                  </a:txBody>
                  <a:tcPr/>
                </a:tc>
                <a:tc>
                  <a:txBody>
                    <a:bodyPr/>
                    <a:lstStyle/>
                    <a:p>
                      <a:r>
                        <a:t>1 · Coded (Python + Shiny)</a:t>
                      </a:r>
                    </a:p>
                  </a:txBody>
                  <a:tcPr/>
                </a:tc>
                <a:tc>
                  <a:txBody>
                    <a:bodyPr/>
                    <a:lstStyle/>
                    <a:p>
                      <a:r>
                        <a:t>2 · AI-Excel</a:t>
                      </a:r>
                    </a:p>
                  </a:txBody>
                  <a:tcPr/>
                </a:tc>
              </a:tr>
              <a:tr h="866775">
                <a:tc>
                  <a:txBody>
                    <a:bodyPr/>
                    <a:lstStyle/>
                    <a:p>
                      <a:r>
                        <a:t>What it is</a:t>
                      </a:r>
                    </a:p>
                  </a:txBody>
                  <a:tcPr/>
                </a:tc>
                <a:tc>
                  <a:txBody>
                    <a:bodyPr/>
                    <a:lstStyle/>
                    <a:p>
                      <a:r>
                        <a:t>The core engine in Python, with an online Shiny interface</a:t>
                      </a:r>
                    </a:p>
                  </a:txBody>
                  <a:tcPr/>
                </a:tc>
                <a:tc>
                  <a:txBody>
                    <a:bodyPr/>
                    <a:lstStyle/>
                    <a:p>
                      <a:r>
                        <a:t>A cut-down CPAT in Excel, built from scratch with AI</a:t>
                      </a:r>
                    </a:p>
                  </a:txBody>
                  <a:tcPr/>
                </a:tc>
              </a:tr>
              <a:tr h="866775">
                <a:tc>
                  <a:txBody>
                    <a:bodyPr/>
                    <a:lstStyle/>
                    <a:p>
                      <a:r>
                        <a:t>First uses</a:t>
                      </a:r>
                    </a:p>
                  </a:txBody>
                  <a:tcPr/>
                </a:tc>
                <a:tc>
                  <a:txBody>
                    <a:bodyPr/>
                    <a:lstStyle/>
                    <a:p>
                      <a:r>
                        <a:t>Model comparison; full country work once complete; SiSePuede and pathways tool</a:t>
                      </a:r>
                    </a:p>
                  </a:txBody>
                  <a:tcPr/>
                </a:tc>
                <a:tc>
                  <a:txBody>
                    <a:bodyPr/>
                    <a:lstStyle/>
                    <a:p>
                      <a:r>
                        <a:t>GHG accounting; a clean back end for the new WB–IMF interface</a:t>
                      </a:r>
                    </a:p>
                  </a:txBody>
                  <a:tcPr/>
                </a:tc>
              </a:tr>
              <a:tr h="866775">
                <a:tc>
                  <a:txBody>
                    <a:bodyPr/>
                    <a:lstStyle/>
                    <a:p>
                      <a:r>
                        <a:t>Users</a:t>
                      </a:r>
                    </a:p>
                  </a:txBody>
                  <a:tcPr/>
                </a:tc>
                <a:tc>
                  <a:txBody>
                    <a:bodyPr/>
                    <a:lstStyle/>
                    <a:p>
                      <a:r>
                        <a:t>Modelers and teams who run code; web users via Shiny</a:t>
                      </a:r>
                    </a:p>
                  </a:txBody>
                  <a:tcPr/>
                </a:tc>
                <a:tc>
                  <a:txBody>
                    <a:bodyPr/>
                    <a:lstStyle/>
                    <a:p>
                      <a:r>
                        <a:t>Economists who work in Excel; IMF and WB CPAT teams</a:t>
                      </a:r>
                    </a:p>
                  </a:txBody>
                  <a:tcPr/>
                </a:tc>
              </a:tr>
              <a:tr h="866775">
                <a:tc>
                  <a:txBody>
                    <a:bodyPr/>
                    <a:lstStyle/>
                    <a:p>
                      <a:r>
                        <a:t>Strength</a:t>
                      </a:r>
                    </a:p>
                  </a:txBody>
                  <a:tcPr/>
                </a:tc>
                <a:tc>
                  <a:txBody>
                    <a:bodyPr/>
                    <a:lstStyle/>
                    <a:p>
                      <a:r>
                        <a:t>Scales, tests and links to other Python models</a:t>
                      </a:r>
                    </a:p>
                  </a:txBody>
                  <a:tcPr/>
                </a:tc>
                <a:tc>
                  <a:txBody>
                    <a:bodyPr/>
                    <a:lstStyle/>
                    <a:p>
                      <a:r>
                        <a:t>Familiar, transparent cell by cell, easy to audit</a:t>
                      </a:r>
                    </a:p>
                  </a:txBody>
                  <a:tcPr/>
                </a:tc>
              </a:tr>
              <a:tr h="866775">
                <a:tc>
                  <a:txBody>
                    <a:bodyPr/>
                    <a:lstStyle/>
                    <a:p>
                      <a:r>
                        <a:t>Limit</a:t>
                      </a:r>
                    </a:p>
                  </a:txBody>
                  <a:tcPr/>
                </a:tc>
                <a:tc>
                  <a:txBody>
                    <a:bodyPr/>
                    <a:lstStyle/>
                    <a:p>
                      <a:r>
                        <a:t>Not open to non-coders without Shiny</a:t>
                      </a:r>
                    </a:p>
                  </a:txBody>
                  <a:tcPr/>
                </a:tc>
                <a:tc>
                  <a:txBody>
                    <a:bodyPr/>
                    <a:lstStyle/>
                    <a:p>
                      <a:r>
                        <a:t>Harder to scale; LAMBDA needs a recent Excel</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THE CASE FOR AI-EXCEL — AI-Excel serves three purposes</a:t>
            </a:r>
          </a:p>
        </p:txBody>
      </p:sp>
      <p:sp>
        <p:nvSpPr>
          <p:cNvPr id="3" name="Text Placeholder 2"/>
          <p:cNvSpPr>
            <a:spLocks noGrp="1"/>
          </p:cNvSpPr>
          <p:nvPr>
            <p:ph type="body" idx="1"/>
          </p:nvPr>
        </p:nvSpPr>
        <p:spPr/>
        <p:txBody>
          <a:bodyPr/>
          <a:lstStyle/>
          <a:p>
            <a:pPr/>
            <a:r>
              <a:t>1</a:t>
            </a:r>
          </a:p>
          <a:p>
            <a:pPr/>
            <a:r>
              <a:t>Input to the WB–IMF process</a:t>
            </a:r>
          </a:p>
          <a:p>
            <a:pPr lvl="1"/>
            <a:r>
              <a:t>Agreed with Dirk: a contributor to future development, not yet the full CPAT. A base for one maintainable model.</a:t>
            </a:r>
          </a:p>
          <a:p>
            <a:pPr/>
            <a:r>
              <a:t>2</a:t>
            </a:r>
          </a:p>
          <a:p>
            <a:pPr/>
            <a:r>
              <a:t>GHG accounting and policy crediting</a:t>
            </a:r>
          </a:p>
          <a:p>
            <a:pPr lvl="1"/>
            <a:r>
              <a:t>A transparent Excel tool for ex-ante DPF accounting and crediting, where each figure is traceable.</a:t>
            </a:r>
          </a:p>
          <a:p>
            <a:pPr/>
            <a:r>
              <a:t>3</a:t>
            </a:r>
          </a:p>
          <a:p>
            <a:pPr/>
            <a:r>
              <a:t>Cross-checking</a:t>
            </a:r>
          </a:p>
          <a:p>
            <a:pPr lvl="1"/>
            <a:r>
              <a:t>An independent check on the coded engine and on legacy CPAT. Differences point to errors on either side.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MAINTAINABILITY — Scripts keep code, Excel and docs equal</a:t>
            </a:r>
          </a:p>
        </p:txBody>
      </p:sp>
      <p:sp>
        <p:nvSpPr>
          <p:cNvPr id="3" name="Text Placeholder 2"/>
          <p:cNvSpPr>
            <a:spLocks noGrp="1"/>
          </p:cNvSpPr>
          <p:nvPr>
            <p:ph type="body" idx="1"/>
          </p:nvPr>
        </p:nvSpPr>
        <p:spPr/>
        <p:txBody>
          <a:bodyPr/>
          <a:lstStyle/>
          <a:p>
            <a:pPr/>
            <a:r>
              <a:t>Excel CPAT</a:t>
            </a:r>
          </a:p>
          <a:p>
            <a:pPr/>
            <a:r>
              <a:t>Legacy data and parameters</a:t>
            </a:r>
          </a:p>
          <a:p>
            <a:pPr/>
            <a:r>
              <a:t>Share generators, not context</a:t>
            </a:r>
          </a:p>
          <a:p>
            <a:pPr lvl="1"/>
            <a:r>
              <a:t>Claude builds the Excel through a Python script. We save (a) that full script and (b) a readable pseudocode version that produces it.</a:t>
            </a:r>
          </a:p>
          <a:p>
            <a:pPr/>
            <a:r>
              <a:t>Extraction scripts</a:t>
            </a:r>
          </a:p>
          <a:p>
            <a:pPr/>
            <a:r>
              <a:t>Pull data out, with a source trail</a:t>
            </a:r>
          </a:p>
          <a:p>
            <a:pPr/>
            <a:r>
              <a:t>Works with Claude or Copilot</a:t>
            </a:r>
          </a:p>
          <a:p>
            <a:pPr lvl="1"/>
            <a:r>
              <a:t>Any AI coding tool can pick it up. Proprietary data stays ring-fenced outside the shared files.</a:t>
            </a:r>
          </a:p>
          <a:p>
            <a:pPr/>
            <a:r>
              <a:t>Generative files</a:t>
            </a:r>
          </a:p>
          <a:p>
            <a:pPr/>
            <a:r>
              <a:t>Build script + pseudocode</a:t>
            </a:r>
          </a:p>
          <a:p>
            <a:pPr/>
            <a:r>
              <a:t>Python engine</a:t>
            </a:r>
          </a:p>
          <a:p>
            <a:pPr/>
            <a:r>
              <a:t>AI-Excel</a:t>
            </a:r>
          </a:p>
          <a:p>
            <a:pPr/>
            <a:r>
              <a:t>Documentation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ISSUES AND RESOLUTIONS — The main risks are known and manageable</a:t>
            </a:r>
          </a:p>
        </p:txBody>
      </p:sp>
      <p:graphicFrame>
        <p:nvGraphicFramePr>
          <p:cNvPr id="3" name="Table 2"/>
          <p:cNvGraphicFramePr>
            <a:graphicFrameLocks noGrp="1"/>
          </p:cNvGraphicFramePr>
          <p:nvPr/>
        </p:nvGraphicFramePr>
        <p:xfrm>
          <a:off x="685800" y="1200150"/>
          <a:ext cx="10820400" cy="5200650"/>
        </p:xfrm>
        <a:graphic>
          <a:graphicData uri="http://schemas.openxmlformats.org/drawingml/2006/table">
            <a:tbl>
              <a:tblPr firstRow="1" bandRow="1">
                <a:tableStyleId>{5C22544A-7EE6-4342-B048-85BDC9FD1C3A}</a:tableStyleId>
              </a:tblPr>
              <a:tblGrid>
                <a:gridCol w="3606800"/>
                <a:gridCol w="3606800"/>
                <a:gridCol w="3606800"/>
              </a:tblGrid>
              <a:tr h="866775">
                <a:tc>
                  <a:txBody>
                    <a:bodyPr/>
                    <a:lstStyle/>
                    <a:p>
                      <a:r>
                        <a:t>Topic</a:t>
                      </a:r>
                    </a:p>
                  </a:txBody>
                  <a:tcPr/>
                </a:tc>
                <a:tc>
                  <a:txBody>
                    <a:bodyPr/>
                    <a:lstStyle/>
                    <a:p>
                      <a:r>
                        <a:t>Issue</a:t>
                      </a:r>
                    </a:p>
                  </a:txBody>
                  <a:tcPr/>
                </a:tc>
                <a:tc>
                  <a:txBody>
                    <a:bodyPr/>
                    <a:lstStyle/>
                    <a:p>
                      <a:r>
                        <a:t>Resolution</a:t>
                      </a:r>
                    </a:p>
                  </a:txBody>
                  <a:tcPr/>
                </a:tc>
              </a:tr>
              <a:tr h="866775">
                <a:tc>
                  <a:txBody>
                    <a:bodyPr/>
                    <a:lstStyle/>
                    <a:p>
                      <a:r>
                        <a:t>IMF ownership</a:t>
                      </a:r>
                    </a:p>
                  </a:txBody>
                  <a:tcPr/>
                </a:tc>
                <a:tc>
                  <a:txBody>
                    <a:bodyPr/>
                    <a:lstStyle/>
                    <a:p>
                      <a:r>
                        <a:t>The IMF may want to take control, and could build its own version.</a:t>
                      </a:r>
                    </a:p>
                  </a:txBody>
                  <a:tcPr/>
                </a:tc>
                <a:tc>
                  <a:txBody>
                    <a:bodyPr/>
                    <a:lstStyle/>
                    <a:p>
                      <a:r>
                        <a:t>Agree the WB side first, then bring the IMF in early. Their version may look like ours.</a:t>
                      </a:r>
                    </a:p>
                  </a:txBody>
                  <a:tcPr/>
                </a:tc>
              </a:tr>
              <a:tr h="866775">
                <a:tc>
                  <a:txBody>
                    <a:bodyPr/>
                    <a:lstStyle/>
                    <a:p>
                      <a:r>
                        <a:t>Compatibility</a:t>
                      </a:r>
                    </a:p>
                  </a:txBody>
                  <a:tcPr/>
                </a:tc>
                <a:tc>
                  <a:txBody>
                    <a:bodyPr/>
                    <a:lstStyle/>
                    <a:p>
                      <a:r>
                        <a:t>LAMBDA functions need recent Excel; older copies, e.g. in finance ministries, may fail.</a:t>
                      </a:r>
                    </a:p>
                  </a:txBody>
                  <a:tcPr/>
                </a:tc>
                <a:tc>
                  <a:txBody>
                    <a:bodyPr/>
                    <a:lstStyle/>
                    <a:p>
                      <a:r>
                        <a:t>Finance ministries are not the first audience. LAMBDAs can be turned back into direct formulae.</a:t>
                      </a:r>
                    </a:p>
                  </a:txBody>
                  <a:tcPr/>
                </a:tc>
              </a:tr>
              <a:tr h="866775">
                <a:tc>
                  <a:txBody>
                    <a:bodyPr/>
                    <a:lstStyle/>
                    <a:p>
                      <a:r>
                        <a:t>Functionality</a:t>
                      </a:r>
                    </a:p>
                  </a:txBody>
                  <a:tcPr/>
                </a:tc>
                <a:tc>
                  <a:txBody>
                    <a:bodyPr/>
                    <a:lstStyle/>
                    <a:p>
                      <a:r>
                        <a:t>Excel CPAT holds many ad hoc changes; the new model will not match them all at first.</a:t>
                      </a:r>
                    </a:p>
                  </a:txBody>
                  <a:tcPr/>
                </a:tc>
                <a:tc>
                  <a:txBody>
                    <a:bodyPr/>
                    <a:lstStyle/>
                    <a:p>
                      <a:r>
                        <a:t>Build a sound, maintainable base; extend it once code and AI-Excel are adequate.</a:t>
                      </a:r>
                    </a:p>
                  </a:txBody>
                  <a:tcPr/>
                </a:tc>
              </a:tr>
              <a:tr h="866775">
                <a:tc>
                  <a:txBody>
                    <a:bodyPr/>
                    <a:lstStyle/>
                    <a:p>
                      <a:r>
                        <a:t>Scope</a:t>
                      </a:r>
                    </a:p>
                  </a:txBody>
                  <a:tcPr/>
                </a:tc>
                <a:tc>
                  <a:txBody>
                    <a:bodyPr/>
                    <a:lstStyle/>
                    <a:p>
                      <a:r>
                        <a:t>Risk of two Excel models to maintain in the long run.</a:t>
                      </a:r>
                    </a:p>
                  </a:txBody>
                  <a:tcPr/>
                </a:tc>
                <a:tc>
                  <a:txBody>
                    <a:bodyPr/>
                    <a:lstStyle/>
                    <a:p>
                      <a:r>
                        <a:t>A contributor to the WB–IMF process, not yet the full CPAT. Long-term, keep one Excel.</a:t>
                      </a:r>
                    </a:p>
                  </a:txBody>
                  <a:tcPr/>
                </a:tc>
              </a:tr>
              <a:tr h="866775">
                <a:tc>
                  <a:txBody>
                    <a:bodyPr/>
                    <a:lstStyle/>
                    <a:p>
                      <a:r>
                        <a:t>Accessibility</a:t>
                      </a:r>
                    </a:p>
                  </a:txBody>
                  <a:tcPr/>
                </a:tc>
                <a:tc>
                  <a:txBody>
                    <a:bodyPr/>
                    <a:lstStyle/>
                    <a:p>
                      <a:r>
                        <a:t>Teams use different AI tools, and some data is proprietary.</a:t>
                      </a:r>
                    </a:p>
                  </a:txBody>
                  <a:tcPr/>
                </a:tc>
                <a:tc>
                  <a:txBody>
                    <a:bodyPr/>
                    <a:lstStyle/>
                    <a:p>
                      <a:r>
                        <a:t>Works with Claude or GitHub Copilot; proprietary data kept ring-fenced.</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CURRENT STATUS · 28 SEPTEMBER — Five weeks spent; the proofs of concept are done</a:t>
            </a:r>
          </a:p>
        </p:txBody>
      </p:sp>
      <p:sp>
        <p:nvSpPr>
          <p:cNvPr id="3" name="Text Placeholder 2"/>
          <p:cNvSpPr>
            <a:spLocks noGrp="1"/>
          </p:cNvSpPr>
          <p:nvPr>
            <p:ph type="body" idx="1"/>
          </p:nvPr>
        </p:nvSpPr>
        <p:spPr/>
        <p:txBody>
          <a:bodyPr/>
          <a:lstStyle/>
          <a:p>
            <a:pPr lvl="1"/>
            <a:r>
              <a:t>Blocked by leave to 14 July and through August (leave without pay). Next: mitigation basics and the Excel MVP, from 5 October.</a:t>
            </a:r>
          </a:p>
          <a:p>
            <a:pPr/>
            <a:r>
              <a:t>July · 2 weeks · done</a:t>
            </a:r>
          </a:p>
          <a:p>
            <a:pPr/>
            <a:r>
              <a:t>Proofs of concept</a:t>
            </a:r>
          </a:p>
          <a:p>
            <a:pPr lvl="1"/>
            <a:r>
              <a:t>Coded CPAT prototype, proof of concept on prices</a:t>
            </a:r>
          </a:p>
          <a:p>
            <a:pPr/>
            <a:r>
              <a:t>AI dashboard, with full data audit trail</a:t>
            </a:r>
          </a:p>
          <a:p>
            <a:pPr/>
            <a:r>
              <a:t>Excise Diagnostic</a:t>
            </a:r>
          </a:p>
          <a:p>
            <a:pPr/>
            <a:r>
              <a:t>September · 3 weeks · done</a:t>
            </a:r>
          </a:p>
          <a:p>
            <a:pPr/>
            <a:r>
              <a:t>Set-up</a:t>
            </a:r>
          </a:p>
          <a:p>
            <a:pPr/>
            <a:r>
              <a:t>Requirements and scope</a:t>
            </a:r>
          </a:p>
          <a:p>
            <a:pPr/>
            <a:r>
              <a:t>AI coding set-up</a:t>
            </a:r>
          </a:p>
          <a:p>
            <a:pPr/>
            <a:r>
              <a:t>AI-Excel form begun</a:t>
            </a:r>
          </a:p>
          <a:p>
            <a:pPr/>
            <a:r>
              <a:t>Pathways tool · in progress</a:t>
            </a:r>
          </a:p>
          <a:p>
            <a:pPr/>
            <a:r>
              <a:t>CPAT and SiSePuede</a:t>
            </a:r>
          </a:p>
          <a:p>
            <a:pPr/>
            <a:r>
              <a:t>Assumptions reconciled; variables mapped</a:t>
            </a:r>
          </a:p>
          <a:p>
            <a:pPr lvl="1"/>
            <a:r>
              <a:t>Coded CPAT run in full on the SiSePuede side</a:t>
            </a:r>
          </a:p>
          <a:p>
            <a:pPr/>
            <a:r>
              <a:t>Prices and policies partly brought in</a:t>
            </a:r>
          </a:p>
          <a:p>
            <a:pPr/>
            <a:r>
              <a:t>Source: Source: FY27 work plan v1.1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MASTER TIMELINE² — Excel MVP¹ by 16 October; all modules by February</a:t>
            </a:r>
          </a:p>
        </p:txBody>
      </p:sp>
      <p:sp>
        <p:nvSpPr>
          <p:cNvPr id="3" name="Text Placeholder 2"/>
          <p:cNvSpPr>
            <a:spLocks noGrp="1"/>
          </p:cNvSpPr>
          <p:nvPr>
            <p:ph type="body" idx="1"/>
          </p:nvPr>
        </p:nvSpPr>
        <p:spPr/>
        <p:txBody>
          <a:bodyPr/>
          <a:lstStyle/>
          <a:p>
            <a:pPr/>
            <a:r>
              <a:t>Mitigation basics + Excel MVP¹</a:t>
            </a:r>
          </a:p>
          <a:p>
            <a:pPr/>
            <a:r>
              <a:t>Code MVP + Shiny</a:t>
            </a:r>
          </a:p>
          <a:p>
            <a:pPr/>
            <a:r>
              <a:t>Distribution</a:t>
            </a:r>
          </a:p>
          <a:p>
            <a:pPr/>
            <a:r>
              <a:t>Power</a:t>
            </a:r>
          </a:p>
          <a:p>
            <a:pPr/>
            <a:r>
              <a:t>Air pollution</a:t>
            </a:r>
          </a:p>
          <a:p>
            <a:pPr/>
            <a:r>
              <a:t>Remainder of mitigation</a:t>
            </a:r>
          </a:p>
          <a:p>
            <a:pPr/>
            <a:r>
              <a:t>Shiny prototype</a:t>
            </a:r>
          </a:p>
          <a:p>
            <a:pPr/>
            <a:r>
              <a:t>GHG accounting</a:t>
            </a:r>
          </a:p>
          <a:p>
            <a:pPr/>
            <a:r>
              <a:t>Transport</a:t>
            </a:r>
          </a:p>
          <a:p>
            <a:pPr/>
            <a:r>
              <a:t>Policy crediting and FFI</a:t>
            </a:r>
          </a:p>
          <a:p>
            <a:pPr/>
            <a:r>
              <a:t>Macro-fiscal dashboard updates</a:t>
            </a:r>
          </a:p>
          <a:p>
            <a:pPr/>
            <a:r>
              <a:t>Policy reports</a:t>
            </a:r>
          </a:p>
          <a:p>
            <a:pPr lvl="1"/>
            <a:r>
              <a:t>¹ MVP = minimum viable product: mitigation basics working, and matching, in code and AI-Excel. Hatched = leave.</a:t>
            </a:r>
          </a:p>
          <a:p>
            <a:pPr lvl="1"/>
            <a:r>
              <a:t>² In parallel, not shown: CPAT–SiSePuede supervision (half a day a week to mid-Dec, a day a week in Jan); Python platform with Zoe (Feb, about half of each week); Energy GP finance model review (two weeks, late Jan–Feb, not yet slotted).</a:t>
            </a:r>
          </a:p>
          <a:p>
            <a:pPr/>
            <a:r>
              <a:t>Model + AI-Excel</a:t>
            </a:r>
          </a:p>
          <a:p>
            <a:pPr/>
            <a:r>
              <a:t>Application</a:t>
            </a:r>
          </a:p>
          <a:p>
            <a:pPr/>
            <a:r>
              <a:t>Other products</a:t>
            </a:r>
          </a:p>
          <a:p>
            <a:pPr/>
            <a:r>
              <a:t>Shiny + code</a:t>
            </a:r>
          </a:p>
          <a:p>
            <a:pPr/>
            <a:r>
              <a:t>5</a:t>
            </a:r>
          </a:p>
          <a:p>
            <a:pPr/>
            <a:r>
              <a:t>Oct</a:t>
            </a:r>
          </a:p>
          <a:p>
            <a:pPr/>
            <a:r>
              <a:t>12</a:t>
            </a:r>
          </a:p>
          <a:p>
            <a:pPr/>
            <a:r>
              <a:t>19</a:t>
            </a:r>
          </a:p>
          <a:p>
            <a:pPr/>
            <a:r>
              <a:t>26</a:t>
            </a:r>
          </a:p>
          <a:p>
            <a:pPr/>
            <a:r>
              <a:t>2</a:t>
            </a:r>
          </a:p>
          <a:p>
            <a:pPr/>
            <a:r>
              <a:t>Nov</a:t>
            </a:r>
          </a:p>
          <a:p>
            <a:pPr/>
            <a:r>
              <a:t>MVP · 16 Oct</a:t>
            </a:r>
          </a:p>
          <a:p>
            <a:pPr/>
            <a:r>
              <a:t>9</a:t>
            </a:r>
          </a:p>
          <a:p>
            <a:pPr/>
            <a:r>
              <a:t>16</a:t>
            </a:r>
          </a:p>
          <a:p>
            <a:pPr/>
            <a:r>
              <a:t>23</a:t>
            </a:r>
          </a:p>
          <a:p>
            <a:pPr/>
            <a:r>
              <a:t>30</a:t>
            </a:r>
          </a:p>
          <a:p>
            <a:pPr/>
            <a:r>
              <a:t>7</a:t>
            </a:r>
          </a:p>
          <a:p>
            <a:pPr/>
            <a:r>
              <a:t>Dec</a:t>
            </a:r>
          </a:p>
          <a:p>
            <a:pPr/>
            <a:r>
              <a:t>14</a:t>
            </a:r>
          </a:p>
          <a:p>
            <a:pPr/>
            <a:r>
              <a:t>Leave</a:t>
            </a:r>
          </a:p>
          <a:p>
            <a:pPr/>
            <a:r>
              <a:t>4</a:t>
            </a:r>
          </a:p>
          <a:p>
            <a:pPr/>
            <a:r>
              <a:t>Jan</a:t>
            </a:r>
          </a:p>
          <a:p>
            <a:pPr/>
            <a:r>
              <a:t>11</a:t>
            </a:r>
          </a:p>
          <a:p>
            <a:pPr/>
            <a:r>
              <a:t>18</a:t>
            </a:r>
          </a:p>
          <a:p>
            <a:pPr/>
            <a:r>
              <a:t>25</a:t>
            </a:r>
          </a:p>
          <a:p>
            <a:pPr/>
            <a:r>
              <a:t>1</a:t>
            </a:r>
          </a:p>
          <a:p>
            <a:pPr/>
            <a:r>
              <a:t>Feb</a:t>
            </a:r>
          </a:p>
          <a:p>
            <a:pPr/>
            <a:r>
              <a:t>8</a:t>
            </a:r>
          </a:p>
          <a:p>
            <a:pPr/>
            <a:r>
              <a:t>15</a:t>
            </a:r>
          </a:p>
          <a:p>
            <a:pPr/>
            <a:r>
              <a:t>22</a:t>
            </a:r>
          </a:p>
          <a:p>
            <a:pPr/>
            <a:r>
              <a:t>1</a:t>
            </a:r>
          </a:p>
          <a:p>
            <a:pPr/>
            <a:r>
              <a:t>Mar</a:t>
            </a:r>
          </a:p>
          <a:p>
            <a:pPr/>
            <a:r>
              <a:t>8</a:t>
            </a:r>
          </a:p>
          <a:p>
            <a:pPr/>
            <a:r>
              <a:t>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 · WHERE THE CODE AND THE EXCEL GO — The code feeds SiSePuede; the Excel feeds the WB–IMF process</a:t>
            </a:r>
          </a:p>
        </p:txBody>
      </p:sp>
      <p:sp>
        <p:nvSpPr>
          <p:cNvPr id="3" name="Text Placeholder 2"/>
          <p:cNvSpPr>
            <a:spLocks noGrp="1"/>
          </p:cNvSpPr>
          <p:nvPr>
            <p:ph type="body" idx="1"/>
          </p:nvPr>
        </p:nvSpPr>
        <p:spPr/>
        <p:txBody>
          <a:bodyPr/>
          <a:lstStyle/>
          <a:p>
            <a:pPr/>
            <a:r>
              <a:t>One engine</a:t>
            </a:r>
          </a:p>
          <a:p>
            <a:pPr lvl="1"/>
            <a:r>
              <a:t>One set of equations, kept equal by script</a:t>
            </a:r>
          </a:p>
          <a:p>
            <a:pPr/>
            <a:r>
              <a:t>Coded (Python)</a:t>
            </a:r>
          </a:p>
          <a:p>
            <a:pPr/>
            <a:r>
              <a:t>With a Shiny web interface</a:t>
            </a:r>
          </a:p>
          <a:p>
            <a:pPr/>
            <a:r>
              <a:t>AI-Excel</a:t>
            </a:r>
          </a:p>
          <a:p>
            <a:pPr/>
            <a:r>
              <a:t>A cut-down CPAT in Excel</a:t>
            </a:r>
          </a:p>
          <a:p>
            <a:pPr/>
            <a:r>
              <a:t>CPAT–SiSePuede pathways tool · slide 14</a:t>
            </a:r>
          </a:p>
          <a:p>
            <a:pPr lvl="1"/>
            <a:r>
              <a:t>Single Python platform with MFMod and FTT · slide 15</a:t>
            </a:r>
          </a:p>
          <a:p>
            <a:pPr/>
            <a:r>
              <a:t>Model comparison and web users via Shiny</a:t>
            </a:r>
          </a:p>
          <a:p>
            <a:pPr/>
            <a:r>
              <a:t>WB–IMF CPAT process, as a contributor</a:t>
            </a:r>
          </a:p>
          <a:p>
            <a:pPr/>
            <a:r>
              <a:t>GHG accounting and policy crediting tool</a:t>
            </a:r>
          </a:p>
          <a:p>
            <a:pPr/>
            <a:r>
              <a:t>Cross-check of the code and legacy CPAT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OTHER PRODUCTS — Small tasks, built on what already exists</a:t>
            </a:r>
          </a:p>
        </p:txBody>
      </p:sp>
      <p:graphicFrame>
        <p:nvGraphicFramePr>
          <p:cNvPr id="3" name="Table 2"/>
          <p:cNvGraphicFramePr>
            <a:graphicFrameLocks noGrp="1"/>
          </p:cNvGraphicFramePr>
          <p:nvPr/>
        </p:nvGraphicFramePr>
        <p:xfrm>
          <a:off x="685800" y="1200150"/>
          <a:ext cx="10820400" cy="5200650"/>
        </p:xfrm>
        <a:graphic>
          <a:graphicData uri="http://schemas.openxmlformats.org/drawingml/2006/table">
            <a:tbl>
              <a:tblPr firstRow="1" bandRow="1">
                <a:tableStyleId>{5C22544A-7EE6-4342-B048-85BDC9FD1C3A}</a:tableStyleId>
              </a:tblPr>
              <a:tblGrid>
                <a:gridCol w="2164080"/>
                <a:gridCol w="2164080"/>
                <a:gridCol w="2164080"/>
                <a:gridCol w="2164080"/>
                <a:gridCol w="2164080"/>
              </a:tblGrid>
              <a:tr h="1040130">
                <a:tc>
                  <a:txBody>
                    <a:bodyPr/>
                    <a:lstStyle/>
                    <a:p/>
                  </a:txBody>
                  <a:tcPr/>
                </a:tc>
                <a:tc>
                  <a:txBody>
                    <a:bodyPr/>
                    <a:lstStyle/>
                    <a:p>
                      <a:r>
                        <a:t>Product</a:t>
                      </a:r>
                    </a:p>
                  </a:txBody>
                  <a:tcPr/>
                </a:tc>
                <a:tc>
                  <a:txBody>
                    <a:bodyPr/>
                    <a:lstStyle/>
                    <a:p>
                      <a:r>
                        <a:t>Starting point (exists)</a:t>
                      </a:r>
                    </a:p>
                  </a:txBody>
                  <a:tcPr/>
                </a:tc>
                <a:tc>
                  <a:txBody>
                    <a:bodyPr/>
                    <a:lstStyle/>
                    <a:p>
                      <a:r>
                        <a:t>Tweak proposed</a:t>
                      </a:r>
                    </a:p>
                  </a:txBody>
                  <a:tcPr/>
                </a:tc>
                <a:tc>
                  <a:txBody>
                    <a:bodyPr/>
                    <a:lstStyle/>
                    <a:p>
                      <a:r>
                        <a:t>Slide</a:t>
                      </a:r>
                    </a:p>
                  </a:txBody>
                  <a:tcPr/>
                </a:tc>
              </a:tr>
              <a:tr h="1040130">
                <a:tc>
                  <a:txBody>
                    <a:bodyPr/>
                    <a:lstStyle/>
                    <a:p>
                      <a:r>
                        <a:t>A</a:t>
                      </a:r>
                    </a:p>
                  </a:txBody>
                  <a:tcPr/>
                </a:tc>
                <a:tc>
                  <a:txBody>
                    <a:bodyPr/>
                    <a:lstStyle/>
                    <a:p>
                      <a:r>
                        <a:t>CPAT–SiSePuede</a:t>
                      </a:r>
                    </a:p>
                  </a:txBody>
                  <a:tcPr/>
                </a:tc>
                <a:tc>
                  <a:txBody>
                    <a:bodyPr/>
                    <a:lstStyle/>
                    <a:p>
                      <a:r>
                        <a:t>Coded CPAT runs in full on the SiSePuede side</a:t>
                      </a:r>
                    </a:p>
                  </a:txBody>
                  <a:tcPr/>
                </a:tc>
                <a:tc>
                  <a:txBody>
                    <a:bodyPr/>
                    <a:lstStyle/>
                    <a:p>
                      <a:r>
                        <a:t>Supervise the CPM team: prices, policies, air pollution</a:t>
                      </a:r>
                    </a:p>
                  </a:txBody>
                  <a:tcPr/>
                </a:tc>
                <a:tc>
                  <a:txBody>
                    <a:bodyPr/>
                    <a:lstStyle/>
                    <a:p>
                      <a:r>
                        <a:t>16–18</a:t>
                      </a:r>
                    </a:p>
                  </a:txBody>
                  <a:tcPr/>
                </a:tc>
              </a:tr>
              <a:tr h="1040130">
                <a:tc>
                  <a:txBody>
                    <a:bodyPr/>
                    <a:lstStyle/>
                    <a:p>
                      <a:r>
                        <a:t>B</a:t>
                      </a:r>
                    </a:p>
                  </a:txBody>
                  <a:tcPr/>
                </a:tc>
                <a:tc>
                  <a:txBody>
                    <a:bodyPr/>
                    <a:lstStyle/>
                    <a:p>
                      <a:r>
                        <a:t>Single Python platform</a:t>
                      </a:r>
                    </a:p>
                  </a:txBody>
                  <a:tcPr/>
                </a:tc>
                <a:tc>
                  <a:txBody>
                    <a:bodyPr/>
                    <a:lstStyle/>
                    <a:p>
                      <a:r>
                        <a:t>CPAT, MFMod-Python and FTT</a:t>
                      </a:r>
                    </a:p>
                  </a:txBody>
                  <a:tcPr/>
                </a:tc>
                <a:tc>
                  <a:txBody>
                    <a:bodyPr/>
                    <a:lstStyle/>
                    <a:p>
                      <a:r>
                        <a:t>One place to run them, with one user guide</a:t>
                      </a:r>
                    </a:p>
                  </a:txBody>
                  <a:tcPr/>
                </a:tc>
                <a:tc>
                  <a:txBody>
                    <a:bodyPr/>
                    <a:lstStyle/>
                    <a:p>
                      <a:r>
                        <a:t>19</a:t>
                      </a:r>
                    </a:p>
                  </a:txBody>
                  <a:tcPr/>
                </a:tc>
              </a:tr>
              <a:tr h="1040130">
                <a:tc>
                  <a:txBody>
                    <a:bodyPr/>
                    <a:lstStyle/>
                    <a:p>
                      <a:r>
                        <a:t>C</a:t>
                      </a:r>
                    </a:p>
                  </a:txBody>
                  <a:tcPr/>
                </a:tc>
                <a:tc>
                  <a:txBody>
                    <a:bodyPr/>
                    <a:lstStyle/>
                    <a:p>
                      <a:r>
                        <a:t>Dashboard and policy issue report</a:t>
                      </a:r>
                    </a:p>
                  </a:txBody>
                  <a:tcPr/>
                </a:tc>
                <a:tc>
                  <a:txBody>
                    <a:bodyPr/>
                    <a:lstStyle/>
                    <a:p>
                      <a:r>
                        <a:t>Excise Diagnostic; AI macro-fiscal dashboard</a:t>
                      </a:r>
                    </a:p>
                  </a:txBody>
                  <a:tcPr/>
                </a:tc>
                <a:tc>
                  <a:txBody>
                    <a:bodyPr/>
                    <a:lstStyle/>
                    <a:p>
                      <a:r>
                        <a:t>Add tax indicators; frame reports by issue</a:t>
                      </a:r>
                    </a:p>
                  </a:txBody>
                  <a:tcPr/>
                </a:tc>
                <a:tc>
                  <a:txBody>
                    <a:bodyPr/>
                    <a:lstStyle/>
                    <a:p>
                      <a:r>
                        <a:t>16–18</a:t>
                      </a:r>
                    </a:p>
                  </a:txBody>
                  <a:tcPr/>
                </a:tc>
              </a:tr>
              <a:tr h="1040130">
                <a:tc>
                  <a:txBody>
                    <a:bodyPr/>
                    <a:lstStyle/>
                    <a:p>
                      <a:r>
                        <a:t>D</a:t>
                      </a:r>
                    </a:p>
                  </a:txBody>
                  <a:tcPr/>
                </a:tc>
                <a:tc>
                  <a:txBody>
                    <a:bodyPr/>
                    <a:lstStyle/>
                    <a:p>
                      <a:r>
                        <a:t>Total Carbon Price into GHG accounting</a:t>
                      </a:r>
                    </a:p>
                  </a:txBody>
                  <a:tcPr/>
                </a:tc>
                <a:tc>
                  <a:txBody>
                    <a:bodyPr/>
                    <a:lstStyle/>
                    <a:p>
                      <a:r>
                        <a:t>Current Total Carbon Price</a:t>
                      </a:r>
                    </a:p>
                  </a:txBody>
                  <a:tcPr/>
                </a:tc>
                <a:tc>
                  <a:txBody>
                    <a:bodyPr/>
                    <a:lstStyle/>
                    <a:p>
                      <a:r>
                        <a:t>Link to the GHG accounting metric; standalone</a:t>
                      </a:r>
                    </a:p>
                  </a:txBody>
                  <a:tcPr/>
                </a:tc>
                <a:tc>
                  <a:txBody>
                    <a:bodyPr/>
                    <a:lstStyle/>
                    <a:p>
                      <a:r>
                        <a:t>19</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A · CPAT–SISEPUEDE — Coded CPAT goes into the country pathways tool</a:t>
            </a:r>
          </a:p>
        </p:txBody>
      </p:sp>
      <p:sp>
        <p:nvSpPr>
          <p:cNvPr id="3" name="Text Placeholder 2"/>
          <p:cNvSpPr>
            <a:spLocks noGrp="1"/>
          </p:cNvSpPr>
          <p:nvPr>
            <p:ph type="body" idx="1"/>
          </p:nvPr>
        </p:nvSpPr>
        <p:spPr/>
        <p:txBody>
          <a:bodyPr/>
          <a:lstStyle/>
          <a:p>
            <a:pPr lvl="1"/>
            <a:r>
              <a:t>With David Groves: CPAT, CPM (formerly SiSePuede), MANAGE and MINDSET combined into one country policy analysis tool.</a:t>
            </a:r>
          </a:p>
          <a:p>
            <a:pPr/>
            <a:r>
              <a:t>Done · first phase, to July 2026</a:t>
            </a:r>
          </a:p>
          <a:p>
            <a:pPr/>
            <a:r>
              <a:t>Assumptions and outputs reconciled</a:t>
            </a:r>
          </a:p>
          <a:p>
            <a:pPr/>
            <a:r>
              <a:t>Variables mapped and outputs compared</a:t>
            </a:r>
          </a:p>
          <a:p>
            <a:pPr lvl="1"/>
            <a:r>
              <a:t>Coded CPAT runs in full on the SiSePuede side</a:t>
            </a:r>
          </a:p>
          <a:p>
            <a:pPr/>
            <a:r>
              <a:t>Prices and policies partly brought in</a:t>
            </a:r>
          </a:p>
          <a:p>
            <a:pPr/>
            <a:r>
              <a:t>This year · supervising the CPM team</a:t>
            </a:r>
          </a:p>
          <a:p>
            <a:pPr lvl="1"/>
            <a:r>
              <a:t>Finish prices, policies and the air pollution translation</a:t>
            </a:r>
          </a:p>
          <a:p>
            <a:pPr lvl="1"/>
            <a:r>
              <a:t>CPAT-LTS investment approach and policy interface</a:t>
            </a:r>
          </a:p>
          <a:p>
            <a:pPr lvl="1"/>
            <a:r>
              <a:t>Light touch: about half a day a week, a day a week in January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B · SINGLE PYTHON PLATFORM — Make existing models easy to use, not develop them further</a:t>
            </a:r>
          </a:p>
        </p:txBody>
      </p:sp>
      <p:sp>
        <p:nvSpPr>
          <p:cNvPr id="3" name="Text Placeholder 2"/>
          <p:cNvSpPr>
            <a:spLocks noGrp="1"/>
          </p:cNvSpPr>
          <p:nvPr>
            <p:ph type="body" idx="1"/>
          </p:nvPr>
        </p:nvSpPr>
        <p:spPr/>
        <p:txBody>
          <a:bodyPr/>
          <a:lstStyle/>
          <a:p>
            <a:pPr/>
            <a:r>
              <a:t>What</a:t>
            </a:r>
          </a:p>
          <a:p>
            <a:pPr lvl="1"/>
            <a:r>
              <a:t>CPAT, MFMod-Python and FTT, as they are today, on one common platform.</a:t>
            </a:r>
          </a:p>
          <a:p>
            <a:pPr/>
            <a:r>
              <a:t>How</a:t>
            </a:r>
          </a:p>
          <a:p>
            <a:pPr lvl="1"/>
            <a:r>
              <a:t>A shared set-up and one user guide. FTT made ready to run, with data aligned to CPAT countries.</a:t>
            </a:r>
          </a:p>
          <a:p>
            <a:pPr/>
            <a:r>
              <a:t>Not</a:t>
            </a:r>
          </a:p>
          <a:p>
            <a:pPr lvl="1"/>
            <a:r>
              <a:t>No further model development, and no full merging of FTT or MFMod into CPAT.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C · DASHBOARD AND POLICY ISSUE REPORT — Two prototypes become two products</a:t>
            </a:r>
          </a:p>
        </p:txBody>
      </p:sp>
      <p:sp>
        <p:nvSpPr>
          <p:cNvPr id="3" name="Text Placeholder 2"/>
          <p:cNvSpPr>
            <a:spLocks noGrp="1"/>
          </p:cNvSpPr>
          <p:nvPr>
            <p:ph type="body" idx="1"/>
          </p:nvPr>
        </p:nvSpPr>
        <p:spPr/>
        <p:txBody>
          <a:bodyPr/>
          <a:lstStyle/>
          <a:p>
            <a:pPr/>
            <a:r>
              <a:t>Prototype · done</a:t>
            </a:r>
          </a:p>
          <a:p>
            <a:pPr/>
            <a:r>
              <a:t>Excise Diagnostic</a:t>
            </a:r>
          </a:p>
          <a:p>
            <a:pPr lvl="1"/>
            <a:r>
              <a:t>Country tax system: excises, subsidies, electricity pricing</a:t>
            </a:r>
          </a:p>
          <a:p>
            <a:pPr/>
            <a:r>
              <a:t>Prototype · done</a:t>
            </a:r>
          </a:p>
          <a:p>
            <a:pPr/>
            <a:r>
              <a:t>Macro-fiscal indicators</a:t>
            </a:r>
          </a:p>
          <a:p>
            <a:pPr lvl="1"/>
            <a:r>
              <a:t>AI dashboard with a full data audit trail</a:t>
            </a:r>
          </a:p>
          <a:p>
            <a:pPr/>
            <a:r>
              <a:t>Brought together</a:t>
            </a:r>
          </a:p>
          <a:p>
            <a:pPr/>
            <a:r>
              <a:t>Output 1</a:t>
            </a:r>
          </a:p>
          <a:p>
            <a:pPr/>
            <a:r>
              <a:t>Dashboard</a:t>
            </a:r>
          </a:p>
          <a:p>
            <a:pPr lvl="1"/>
            <a:r>
              <a:t>Macro-fiscal indicators, now with excise and other tax indicators, and the Total Carbon Price</a:t>
            </a:r>
          </a:p>
          <a:p>
            <a:pPr/>
            <a:r>
              <a:t>Output 2</a:t>
            </a:r>
          </a:p>
          <a:p>
            <a:pPr/>
            <a:r>
              <a:t>Policy issue report</a:t>
            </a:r>
          </a:p>
          <a:p>
            <a:pPr lvl="1"/>
            <a:r>
              <a:t>One issue in one country, e.g. feebates: the situation, best practice and reform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C · THE DASHBOARD INTERFACE IN DEVELOPMENT — The interface in development</a:t>
            </a:r>
          </a:p>
        </p:txBody>
      </p:sp>
      <p:sp>
        <p:nvSpPr>
          <p:cNvPr id="3" name="Text Placeholder 2"/>
          <p:cNvSpPr>
            <a:spLocks noGrp="1"/>
          </p:cNvSpPr>
          <p:nvPr>
            <p:ph type="body" idx="1"/>
          </p:nvPr>
        </p:nvSpPr>
        <p:spPr/>
        <p:txBody>
          <a:bodyPr/>
          <a:lstStyle/>
          <a:p>
            <a:pPr/>
            <a:r>
              <a:t>A country profile</a:t>
            </a:r>
          </a:p>
          <a:p>
            <a:pPr lvl="1"/>
            <a:r>
              <a:t>Kenya shown: 35 of 35 indicators with data</a:t>
            </a:r>
          </a:p>
          <a:p>
            <a:pPr/>
            <a:r>
              <a:t>Grouped by question</a:t>
            </a:r>
          </a:p>
          <a:p>
            <a:pPr lvl="1"/>
            <a:r>
              <a:t>Fossil revenue, mitigation cost, fiscal space, investment, cost of capital, finance</a:t>
            </a:r>
          </a:p>
          <a:p>
            <a:pPr/>
            <a:r>
              <a:t>Scored and sourced</a:t>
            </a:r>
          </a:p>
          <a:p>
            <a:pPr lvl="1"/>
            <a:r>
              <a:t>Each indicator rated, scored out of 10, with year and coverage</a:t>
            </a:r>
          </a:p>
        </p:txBody>
      </p:sp>
      <p:pic>
        <p:nvPicPr>
          <p:cNvPr id="4" name="Picture Placeholder 3" descr="slide17_pic0.png"/>
          <p:cNvPicPr>
            <a:picLocks noGrp="1" noChangeAspect="1"/>
          </p:cNvPicPr>
          <p:nvPr>
            <p:ph type="pic" idx="2"/>
          </p:nvPr>
        </p:nvPicPr>
        <p:blipFill>
          <a:blip r:embed="rId2"/>
          <a:srcRect l="23561" r="23561"/>
          <a:stretch>
            <a:fillRect/>
          </a:stretch>
        </p:blipFill>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C · POLICY ISSUE REPORT — One issue, one country, for example feebates</a:t>
            </a:r>
          </a:p>
        </p:txBody>
      </p:sp>
      <p:sp>
        <p:nvSpPr>
          <p:cNvPr id="3" name="Text Placeholder 2"/>
          <p:cNvSpPr>
            <a:spLocks noGrp="1"/>
          </p:cNvSpPr>
          <p:nvPr>
            <p:ph type="body" idx="1"/>
          </p:nvPr>
        </p:nvSpPr>
        <p:spPr/>
        <p:txBody>
          <a:bodyPr/>
          <a:lstStyle/>
          <a:p>
            <a:pPr/>
            <a:r>
              <a:t>1</a:t>
            </a:r>
          </a:p>
          <a:p>
            <a:pPr/>
            <a:r>
              <a:t>The situation</a:t>
            </a:r>
          </a:p>
          <a:p>
            <a:pPr lvl="1"/>
            <a:r>
              <a:t>Where the country stands on the issue, drawn from the dashboard and diagnostic.</a:t>
            </a:r>
          </a:p>
          <a:p>
            <a:pPr/>
            <a:r>
              <a:t>2</a:t>
            </a:r>
          </a:p>
          <a:p>
            <a:pPr/>
            <a:r>
              <a:t>Best practice</a:t>
            </a:r>
          </a:p>
          <a:p>
            <a:pPr lvl="1"/>
            <a:r>
              <a:t>The best policy design, and what other countries did and learned.</a:t>
            </a:r>
          </a:p>
          <a:p>
            <a:pPr/>
            <a:r>
              <a:t>3</a:t>
            </a:r>
          </a:p>
          <a:p>
            <a:pPr/>
            <a:r>
              <a:t>Reform</a:t>
            </a:r>
          </a:p>
          <a:p>
            <a:pPr lvl="1"/>
            <a:r>
              <a:t>The opportunities for reform in that country, and how to get there.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 · D · TOTAL CARBON PRICE INTO GHG ACCOUNTING — Bring the Total Carbon Price into GHG accounting</a:t>
            </a:r>
          </a:p>
        </p:txBody>
      </p:sp>
      <p:sp>
        <p:nvSpPr>
          <p:cNvPr id="3" name="Text Placeholder 2"/>
          <p:cNvSpPr>
            <a:spLocks noGrp="1"/>
          </p:cNvSpPr>
          <p:nvPr>
            <p:ph type="body" idx="1"/>
          </p:nvPr>
        </p:nvSpPr>
        <p:spPr/>
        <p:txBody>
          <a:bodyPr/>
          <a:lstStyle/>
          <a:p>
            <a:pPr/>
            <a:r>
              <a:t>A standalone product</a:t>
            </a:r>
          </a:p>
          <a:p>
            <a:pPr lvl="1"/>
            <a:r>
              <a:t>Delivered on its own, not as part of Coded CPAT.</a:t>
            </a:r>
          </a:p>
          <a:p>
            <a:pPr/>
            <a:r>
              <a:t>Linked to GHG accounting</a:t>
            </a:r>
          </a:p>
          <a:p>
            <a:pPr lvl="1"/>
            <a:r>
              <a:t>Consistent with the GHG accounting metric.</a:t>
            </a:r>
          </a:p>
          <a:p>
            <a:pPr/>
            <a:r>
              <a:t>Also in the dashboard</a:t>
            </a:r>
          </a:p>
          <a:p>
            <a:pPr lvl="1"/>
            <a:r>
              <a:t>Shown alongside the macro-fiscal and tax indicators.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4 · WHAT TO KEEP AND WHAT TO DROP — The plan is full to 20 March: anything added must replace something</a:t>
            </a:r>
          </a:p>
        </p:txBody>
      </p:sp>
      <p:sp>
        <p:nvSpPr>
          <p:cNvPr id="3" name="Text Placeholder 2"/>
          <p:cNvSpPr>
            <a:spLocks noGrp="1"/>
          </p:cNvSpPr>
          <p:nvPr>
            <p:ph type="body" idx="1"/>
          </p:nvPr>
        </p:nvSpPr>
        <p:spPr/>
        <p:txBody>
          <a:bodyPr/>
          <a:lstStyle/>
          <a:p>
            <a:pPr/>
            <a:r>
              <a:t>KEEP · CORE</a:t>
            </a:r>
          </a:p>
          <a:p>
            <a:pPr lvl="1"/>
            <a:r>
              <a:t>Coded CPAT and AI-Excel. Funded; the base for everything else</a:t>
            </a:r>
          </a:p>
          <a:p>
            <a:pPr lvl="1"/>
            <a:r>
              <a:t>GHG accounting. A corporate requirement; no DPF tool exists</a:t>
            </a:r>
          </a:p>
          <a:p>
            <a:pPr lvl="1"/>
            <a:r>
              <a:t>CPAT–SiSePuede. Funded; light-touch supervision</a:t>
            </a:r>
          </a:p>
          <a:p>
            <a:pPr/>
            <a:r>
              <a:t>KEEP · SMALL</a:t>
            </a:r>
          </a:p>
          <a:p>
            <a:pPr/>
            <a:r>
              <a:t>Python platform. Access only</a:t>
            </a:r>
          </a:p>
          <a:p>
            <a:pPr lvl="1"/>
            <a:r>
              <a:t>Dashboard and policy report. Prototypes exist; funding to confirm</a:t>
            </a:r>
          </a:p>
          <a:p>
            <a:pPr lvl="1"/>
            <a:r>
              <a:t>Policy crediting and FFI. One week, on GHG accounting</a:t>
            </a:r>
          </a:p>
          <a:p>
            <a:pPr lvl="1"/>
            <a:r>
              <a:t>Total Carbon Price into GHG accounting. Not yet scheduled</a:t>
            </a:r>
          </a:p>
          <a:p>
            <a:pPr lvl="1"/>
            <a:r>
              <a:t>Energy GP code help. Not on the timeline; needs a slot</a:t>
            </a:r>
          </a:p>
          <a:p>
            <a:pPr/>
            <a:r>
              <a:t>DROP OR DEFER</a:t>
            </a:r>
          </a:p>
          <a:p>
            <a:pPr lvl="1"/>
            <a:r>
              <a:t>Patching legacy Excel (new tab, Lambdas): superseded</a:t>
            </a:r>
          </a:p>
          <a:p>
            <a:pPr/>
            <a:r>
              <a:t>Validating legacy CPAT: separate note</a:t>
            </a:r>
          </a:p>
          <a:p>
            <a:pPr lvl="1"/>
            <a:r>
              <a:t>Full CPAT replacement; merging FTT or MFMod: later</a:t>
            </a:r>
          </a:p>
          <a:p>
            <a:pPr lvl="1"/>
            <a:r>
              <a:t>April items not in FY27 plan: ETS pilot, downstream pricing, CPAT paper</a:t>
            </a:r>
          </a:p>
          <a:p>
            <a:pPr/>
            <a:r>
              <a:t>Source: Source: FY27 work plan v1.1 (28 Sept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 One AI-built engine, two forms, a few small products</a:t>
            </a:r>
          </a:p>
        </p:txBody>
      </p:sp>
      <p:sp>
        <p:nvSpPr>
          <p:cNvPr id="3" name="Text Placeholder 2"/>
          <p:cNvSpPr>
            <a:spLocks noGrp="1"/>
          </p:cNvSpPr>
          <p:nvPr>
            <p:ph type="body" idx="1"/>
          </p:nvPr>
        </p:nvSpPr>
        <p:spPr/>
        <p:txBody>
          <a:bodyPr/>
          <a:lstStyle/>
          <a:p>
            <a:pPr/>
            <a:r>
              <a:t>Fixes the module's problems</a:t>
            </a:r>
          </a:p>
          <a:p>
            <a:pPr lvl="1"/>
            <a:r>
              <a:t>A compact, traceable engine replaces 250,000+ cells and handles policy mixes.</a:t>
            </a:r>
          </a:p>
          <a:p>
            <a:pPr/>
            <a:r>
              <a:t>Each form has a home</a:t>
            </a:r>
          </a:p>
          <a:p>
            <a:pPr lvl="1"/>
            <a:r>
              <a:t>Code into SiSePuede and the Python platform; AI-Excel into the WB–IMF process and GHG accounting.</a:t>
            </a:r>
          </a:p>
          <a:p>
            <a:pPr/>
            <a:r>
              <a:t>Focus wins</a:t>
            </a:r>
          </a:p>
          <a:p>
            <a:pPr lvl="1"/>
            <a:r>
              <a:t>Keep the core; other products are small tweaks or wait.</a:t>
            </a:r>
          </a:p>
          <a:p>
            <a:pPr/>
            <a:r>
              <a:t>NEXT STEPS</a:t>
            </a:r>
          </a:p>
          <a:p>
            <a:pPr lvl="1"/>
            <a:r>
              <a:t>Informal chats in the office before 16 October</a:t>
            </a:r>
          </a:p>
          <a:p>
            <a:pPr/>
            <a:r>
              <a:t>Excel and coded MVP by 16 October</a:t>
            </a:r>
          </a:p>
          <a:p>
            <a:pPr lvl="1"/>
            <a:r>
              <a:t>Agree on the WB side, then bring the IMF in</a:t>
            </a:r>
          </a:p>
          <a:p>
            <a:pPr lvl="1"/>
            <a:r>
              <a:t>Confirm GHG accounting and policy crediting requirements</a:t>
            </a:r>
          </a:p>
          <a:p>
            <a:pPr/>
            <a:r>
              <a:t>Agree the keep-or-drop list</a:t>
            </a:r>
          </a:p>
          <a:p>
            <a:pPr/>
            <a:r>
              <a:t>Choose a country project (to be defined)</a:t>
            </a:r>
          </a:p>
        </p:txBody>
      </p:sp>
    </p:spTree>
  </p:cSld>
  <p:clrMapOvr>
    <a:masterClrMapping/>
  </p:clrMapOvr>
</p:sld>
</file>

<file path=ppt/theme/theme1.xml><?xml version="1.0" encoding="utf-8"?>
<a:theme xmlns:a="http://schemas.openxmlformats.org/drawingml/2006/main" name="Slideworks">
  <a:themeElements>
    <a:clrScheme name="Slideworks">
      <a:dk1>
        <a:srgbClr val="061F32"/>
      </a:dk1>
      <a:lt1>
        <a:srgbClr val="FFFFFF"/>
      </a:lt1>
      <a:dk2>
        <a:srgbClr val="1D4769"/>
      </a:dk2>
      <a:lt2>
        <a:srgbClr val="F2F2F2"/>
      </a:lt2>
      <a:accent1>
        <a:srgbClr val="22A3DF"/>
      </a:accent1>
      <a:accent2>
        <a:srgbClr val="3478AB"/>
      </a:accent2>
      <a:accent3>
        <a:srgbClr val="1D4769"/>
      </a:accent3>
      <a:accent4>
        <a:srgbClr val="061F32"/>
      </a:accent4>
      <a:accent5>
        <a:srgbClr val="2222F6"/>
      </a:accent5>
      <a:accent6>
        <a:srgbClr val="F8BC3B"/>
      </a:accent6>
      <a:hlink>
        <a:srgbClr val="3478AB"/>
      </a:hlink>
      <a:folHlink>
        <a:srgbClr val="8B78AB"/>
      </a:folHlink>
    </a:clrScheme>
    <a:fontScheme name="Slideworks">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ppt-toolkit</Application>
</Properties>
</file>

<file path=docProps/core.xml><?xml version="1.0" encoding="utf-8"?>
<cp:coreProperties xmlns:cp="http://schemas.openxmlformats.org/package/2006/metadata/core-properties" xmlns:dc="http://purl.org/dc/elements/1.1/" xmlns:dcterms="http://purl.org/dc/terms/" xmlns:xsi="http://www.w3.org/2001/XMLSchema-instance">
  <dc:title>White Template</dc:title>
  <dc:creator>ppt-toolkit</dc:creator>
</cp:coreProperties>
</file>