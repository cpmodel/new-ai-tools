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73" r:id="rId5"/>
    <p:sldId id="260" r:id="rId6"/>
    <p:sldId id="263" r:id="rId7"/>
    <p:sldId id="262" r:id="rId8"/>
    <p:sldId id="261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5E233-5681-4081-A1C4-91EEF5A61697}" v="1" dt="2024-10-29T04:50:30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0" d="100"/>
          <a:sy n="60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Stretton" userId="d46b5d2afcd4ceb0" providerId="LiveId" clId="{6018606E-EB2E-4213-A36B-C7DFE05F4B44}"/>
    <pc:docChg chg="modSld">
      <pc:chgData name="Steve Stretton" userId="d46b5d2afcd4ceb0" providerId="LiveId" clId="{6018606E-EB2E-4213-A36B-C7DFE05F4B44}" dt="2023-11-23T16:19:39.834" v="52" actId="20577"/>
      <pc:docMkLst>
        <pc:docMk/>
      </pc:docMkLst>
      <pc:sldChg chg="modSp mod">
        <pc:chgData name="Steve Stretton" userId="d46b5d2afcd4ceb0" providerId="LiveId" clId="{6018606E-EB2E-4213-A36B-C7DFE05F4B44}" dt="2023-11-23T16:19:39.834" v="52" actId="20577"/>
        <pc:sldMkLst>
          <pc:docMk/>
          <pc:sldMk cId="1864588011" sldId="256"/>
        </pc:sldMkLst>
        <pc:spChg chg="mod">
          <ac:chgData name="Steve Stretton" userId="d46b5d2afcd4ceb0" providerId="LiveId" clId="{6018606E-EB2E-4213-A36B-C7DFE05F4B44}" dt="2023-11-23T16:19:39.834" v="52" actId="20577"/>
          <ac:spMkLst>
            <pc:docMk/>
            <pc:sldMk cId="1864588011" sldId="256"/>
            <ac:spMk id="2" creationId="{A4219379-B3C5-3965-4687-1F1BBE45A7F8}"/>
          </ac:spMkLst>
        </pc:spChg>
      </pc:sldChg>
    </pc:docChg>
  </pc:docChgLst>
  <pc:docChgLst>
    <pc:chgData name="Stephen Stretton" userId="d46b5d2afcd4ceb0" providerId="LiveId" clId="{7EF5E233-5681-4081-A1C4-91EEF5A61697}"/>
    <pc:docChg chg="addSld modSld">
      <pc:chgData name="Stephen Stretton" userId="d46b5d2afcd4ceb0" providerId="LiveId" clId="{7EF5E233-5681-4081-A1C4-91EEF5A61697}" dt="2024-10-29T04:50:35.957" v="5" actId="962"/>
      <pc:docMkLst>
        <pc:docMk/>
      </pc:docMkLst>
      <pc:sldChg chg="addSp delSp modSp new mod">
        <pc:chgData name="Stephen Stretton" userId="d46b5d2afcd4ceb0" providerId="LiveId" clId="{7EF5E233-5681-4081-A1C4-91EEF5A61697}" dt="2024-10-29T04:50:35.957" v="5" actId="962"/>
        <pc:sldMkLst>
          <pc:docMk/>
          <pc:sldMk cId="3629422507" sldId="274"/>
        </pc:sldMkLst>
        <pc:spChg chg="del">
          <ac:chgData name="Stephen Stretton" userId="d46b5d2afcd4ceb0" providerId="LiveId" clId="{7EF5E233-5681-4081-A1C4-91EEF5A61697}" dt="2024-10-29T04:50:30.838" v="1"/>
          <ac:spMkLst>
            <pc:docMk/>
            <pc:sldMk cId="3629422507" sldId="274"/>
            <ac:spMk id="3" creationId="{670DA562-A6D8-B9F2-82B0-B4A1AA3ECD63}"/>
          </ac:spMkLst>
        </pc:spChg>
        <pc:picChg chg="add mod">
          <ac:chgData name="Stephen Stretton" userId="d46b5d2afcd4ceb0" providerId="LiveId" clId="{7EF5E233-5681-4081-A1C4-91EEF5A61697}" dt="2024-10-29T04:50:35.957" v="5" actId="962"/>
          <ac:picMkLst>
            <pc:docMk/>
            <pc:sldMk cId="3629422507" sldId="274"/>
            <ac:picMk id="5" creationId="{240480A5-39D8-B963-A539-B5FC6C844F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B2D6-61FB-D3DB-9BC0-95F89B10D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09733-CF96-F74D-4B71-EDA8A8F0D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C3184-3B90-2CF5-718C-5F09BD10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D51C5-70C8-C985-0AF8-5E3DB280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C8A4-60F6-4018-E4D8-D08F1E0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9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2AB2-2C04-8634-4968-42CBE990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25CFA-2988-17DB-1CA7-935AE53FD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0F909-37B1-20F9-07B8-242D6AEB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B90A3-2FA0-86AC-B2E5-CCBBDBC4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1A189-375B-8BF7-7BED-C522E1E0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0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BAA9-7B21-9D3E-175E-0D555754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72C30-97E3-CDF6-3543-17CFBE684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52163-BC7D-A6F6-D2BE-C1C3EC38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18767-F0F9-6D6D-F48E-83DA86E2C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C481F-D097-FA7C-4517-2BE7C509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8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2035-C2BF-4931-E1C3-80B027EB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53754-86B8-099C-0085-358475A05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900D8-CB9E-2D9F-AF90-0C8CA3F6D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765D5-06D8-CEC1-E89F-F8EE7D29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CE648-ACFE-C87B-64D8-33FFCBB2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AC7D1-E4D9-252A-06B0-3D67F9BB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2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00E9-8045-55A6-E67D-DA23B334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4A0E8-FA99-1F6E-A6D7-2FB9DF615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1C65D-2B5D-2FB8-64EF-EADCF3593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0833C-CC19-2132-E676-B6393D9F5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BCF0FE-5C1A-ADC7-62B1-FB439F3E0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57AD5-046F-3627-B58E-CD4E1C330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494D9-158A-3597-083C-53C2FDFF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752A1-F736-ED92-788D-6503F61A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4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DCD1-AA26-123A-8665-7AE0B0B5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96E7F-3DDB-F6CB-7965-01535679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B70BD-FD9D-F246-6E46-CA6CD0D6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CC050-8C74-13F2-4384-1FAD9BBA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668F9-C36A-C0E3-23D8-FABB0BC6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D0746-3F23-7FF5-AC1E-9085E741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92146-ABAB-F480-C97D-2B5D78F0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1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9507-210A-A272-4648-FD6124B7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5EB1-2651-180E-B4BF-5E99CA1B6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424B5-02AC-15BC-C003-D1BB4F248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63624-5105-BECF-FA5E-198CABED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D704E-5778-E02B-5E55-50B32FCF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8A9E4-7D3F-CB43-30AF-BB12730D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1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3606-EDB6-D672-9461-F842F2A7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CE063-1F3D-9495-12C9-91E918B5F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75C67-264F-FF42-A196-658CF27B9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C4444-75B9-6A5C-ACCD-181183A4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E43D2-1CDA-7E1E-A160-034290C4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309A5-509E-1F00-FF72-31056D3B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7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39C2-089E-025F-E438-4CC21117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F869F-891B-EB38-EB99-BEB988654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D8E5F-9D56-98D4-E477-B9E3CB6D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993A0-D0A7-959C-C68C-44977AF85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CD02B-F175-D75A-ADFA-90D393D1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428F8-AB10-23E5-EF75-9741BADD6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BD0BD-B173-79AB-0A4A-F50D31F6E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6945-2BDE-068E-C911-1EDFCFCB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FAE1E-0517-3602-5754-F96BAE13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084E6-C732-2904-987F-7E321A89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7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1F9CA-A02F-6815-BF67-09A5D1F8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AE340-512C-E527-C0D2-40C833E73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34557-A5FC-3D32-FF49-619D637E4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15703-9F02-4D02-8D50-67CDEF4C63A2}" type="datetimeFigureOut">
              <a:rPr lang="en-US" smtClean="0"/>
              <a:t>29-Oct-24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0952-C66A-F80F-A143-C016AA46E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52E72-591D-1B7A-C35A-A879F5927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BBAFE-E96D-4393-AA55-329111A55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1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ea.blob.core.windows.net/assets/7ebafc81-74ed-412b-9c60-5cc32c8396e4/NetZeroby2050-ARoadmapfortheGlobalEnergySector-SummaryforPolicyMakers_CORR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ea.org/reports/financing-clean-energy-transitions-in-emerging-and-developing-economies/financing-clean-power-efficiency-and-electrification#abstrac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9379-B3C5-3965-4687-1F1BBE45A7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Clean </a:t>
            </a:r>
            <a:r>
              <a:rPr lang="en-US"/>
              <a:t>Finance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088A6-AC82-3F2D-C1A6-1C8AF8D51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88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6B70-D1AA-434F-A033-4C4AB1A9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Clean Energy Investment (Global)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3A0359-5FC5-4B19-A974-FBE462153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923" y="1941513"/>
            <a:ext cx="9086154" cy="42354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CB8330-526D-4EF6-8B26-4BD6010ABD68}"/>
              </a:ext>
            </a:extLst>
          </p:cNvPr>
          <p:cNvSpPr txBox="1"/>
          <p:nvPr/>
        </p:nvSpPr>
        <p:spPr>
          <a:xfrm>
            <a:off x="1352060" y="5810628"/>
            <a:ext cx="88415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IEA Net zero report </a:t>
            </a:r>
            <a:r>
              <a:rPr lang="en-US" dirty="0">
                <a:hlinkClick r:id="rId3"/>
              </a:rPr>
              <a:t>https://iea.blob.core.windows.net/assets/7ebafc81-74ed-412b-9c60-5cc32c8396e4/NetZeroby2050-ARoadmapfortheGlobalEnergySector-SummaryforPolicyMakers_CORR.pdf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066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A860-61F3-494F-B289-F3F3F703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95748" cy="2378075"/>
          </a:xfrm>
        </p:spPr>
        <p:txBody>
          <a:bodyPr>
            <a:noAutofit/>
          </a:bodyPr>
          <a:lstStyle/>
          <a:p>
            <a:r>
              <a:rPr lang="en-US" sz="3600" dirty="0"/>
              <a:t>Emerging Market and Developing Economy (Excluding China) Only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552513-DB69-45BF-B7D9-A92EE54A8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3948" y="951278"/>
            <a:ext cx="5081505" cy="483210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A0F635-663D-423D-89DF-0304EC3C8A8B}"/>
              </a:ext>
            </a:extLst>
          </p:cNvPr>
          <p:cNvSpPr txBox="1"/>
          <p:nvPr/>
        </p:nvSpPr>
        <p:spPr>
          <a:xfrm>
            <a:off x="625231" y="4331344"/>
            <a:ext cx="44156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https://www.iea.org/reports/financing-clean-energy-transitions-in-emerging-and-developing-economies/financing-clean-power-efficiency-and-electrification#abstract</a:t>
            </a:r>
            <a:r>
              <a:rPr lang="en-US" dirty="0"/>
              <a:t> 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32E5E73-85AA-4EAD-9E9A-6EEF4183FA0C}"/>
              </a:ext>
            </a:extLst>
          </p:cNvPr>
          <p:cNvSpPr/>
          <p:nvPr/>
        </p:nvSpPr>
        <p:spPr>
          <a:xfrm>
            <a:off x="9620739" y="2332653"/>
            <a:ext cx="54708" cy="16922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C695A-F3CD-4B07-ACA6-70BDB26D93AE}"/>
              </a:ext>
            </a:extLst>
          </p:cNvPr>
          <p:cNvSpPr txBox="1"/>
          <p:nvPr/>
        </p:nvSpPr>
        <p:spPr>
          <a:xfrm>
            <a:off x="9675446" y="2877960"/>
            <a:ext cx="2026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$1tr/year gap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BEF845-A565-4F14-A758-5DB72A0D58A4}"/>
              </a:ext>
            </a:extLst>
          </p:cNvPr>
          <p:cNvCxnSpPr/>
          <p:nvPr/>
        </p:nvCxnSpPr>
        <p:spPr>
          <a:xfrm>
            <a:off x="6299199" y="4024923"/>
            <a:ext cx="332153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386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6FD5-B4D4-45FF-AF0C-38B8151E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‘Big Push’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6558A-28BE-438F-A43A-66565C698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call an internationally-coordinated attempt to meet net zero investment needs across state, private developed and developing countries a ‘big push’. What would it take to finance a big push</a:t>
            </a:r>
          </a:p>
        </p:txBody>
      </p:sp>
    </p:spTree>
    <p:extLst>
      <p:ext uri="{BB962C8B-B14F-4D97-AF65-F5344CB8AC3E}">
        <p14:creationId xmlns:p14="http://schemas.microsoft.com/office/powerpoint/2010/main" val="294615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60D4-33EE-4F01-92E4-CF4B6757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big push can </a:t>
            </a:r>
            <a:r>
              <a:rPr lang="en-US" i="1" dirty="0"/>
              <a:t>improve</a:t>
            </a:r>
            <a:r>
              <a:rPr lang="en-US" dirty="0"/>
              <a:t> developing country credit ratings…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6CCC50-C1E5-4A4E-8630-FED4F13C0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Current Ratings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E6B52DB-A7ED-466C-9CAA-1182D28959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37997" y="2866873"/>
            <a:ext cx="3354563" cy="323532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EF3EFED-4740-4574-8072-DD23517DD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Big push on climate: (slightly better developing country sovereign risk rates– including climate risks as well as fiscal position)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F7B36C-D04D-4797-BF4F-4ABD7E6B7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13" y="2924921"/>
            <a:ext cx="5125427" cy="303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3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5EC8-EAEB-40D3-92E2-579D942A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.. But only if at IBRD rates: not at market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81C4-CBE3-4DC1-9697-452A7D294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875"/>
            <a:ext cx="4101548" cy="4236087"/>
          </a:xfrm>
        </p:spPr>
        <p:txBody>
          <a:bodyPr/>
          <a:lstStyle/>
          <a:p>
            <a:r>
              <a:rPr lang="en-US" dirty="0"/>
              <a:t>Big push increases debt, but only somewhat at IBRD interest rates</a:t>
            </a:r>
          </a:p>
          <a:p>
            <a:r>
              <a:rPr lang="en-US" dirty="0"/>
              <a:t>At Market rates it leads to a compound-interest problem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5CF98-3E20-43E6-951F-F71F91231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995" y="1810392"/>
            <a:ext cx="6948542" cy="449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40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ED53-17BB-40FD-97DD-8ADDF0D9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6A334-ECC7-4597-8B97-320B36E62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1F8341-DEC4-4D9A-A13E-E534275F4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79" y="0"/>
            <a:ext cx="10773821" cy="8858250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F2E2B8EE-9E4A-406A-8119-7DEFF7023D53}"/>
              </a:ext>
            </a:extLst>
          </p:cNvPr>
          <p:cNvSpPr/>
          <p:nvPr/>
        </p:nvSpPr>
        <p:spPr>
          <a:xfrm>
            <a:off x="5563916" y="681038"/>
            <a:ext cx="513184" cy="5505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E9D9251-17DF-4C90-9A4F-C9945ED88085}"/>
              </a:ext>
            </a:extLst>
          </p:cNvPr>
          <p:cNvSpPr/>
          <p:nvPr/>
        </p:nvSpPr>
        <p:spPr>
          <a:xfrm>
            <a:off x="11004062" y="1164492"/>
            <a:ext cx="515815" cy="1563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E4A8B-3719-4DD5-8A0F-C316010A09DA}"/>
              </a:ext>
            </a:extLst>
          </p:cNvPr>
          <p:cNvSpPr txBox="1"/>
          <p:nvPr/>
        </p:nvSpPr>
        <p:spPr>
          <a:xfrm>
            <a:off x="9300308" y="365125"/>
            <a:ext cx="1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$2.5tr </a:t>
            </a:r>
          </a:p>
        </p:txBody>
      </p:sp>
    </p:spTree>
    <p:extLst>
      <p:ext uri="{BB962C8B-B14F-4D97-AF65-F5344CB8AC3E}">
        <p14:creationId xmlns:p14="http://schemas.microsoft.com/office/powerpoint/2010/main" val="222471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30DC-8093-4A6B-BA81-B6CB2190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F9AA6-E3C9-4EC5-9D6A-7CD1E8060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D0196-8BD6-4FEE-9859-076CDDAB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87" y="106808"/>
            <a:ext cx="10107613" cy="664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71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E5C3-71A1-E2B2-C95E-01DFB806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document&#10;&#10;Description automatically generated">
            <a:extLst>
              <a:ext uri="{FF2B5EF4-FFF2-40B4-BE49-F238E27FC236}">
                <a16:creationId xmlns:a16="http://schemas.microsoft.com/office/drawing/2014/main" id="{240480A5-39D8-B963-A539-B5FC6C844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72" y="230741"/>
            <a:ext cx="11062647" cy="6106264"/>
          </a:xfrm>
        </p:spPr>
      </p:pic>
    </p:spTree>
    <p:extLst>
      <p:ext uri="{BB962C8B-B14F-4D97-AF65-F5344CB8AC3E}">
        <p14:creationId xmlns:p14="http://schemas.microsoft.com/office/powerpoint/2010/main" val="3629422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Introduction to Clean Finance Structure</vt:lpstr>
      <vt:lpstr>Clean Energy Investment (Global)</vt:lpstr>
      <vt:lpstr>Emerging Market and Developing Economy (Excluding China) Only</vt:lpstr>
      <vt:lpstr>The ‘Big Push’</vt:lpstr>
      <vt:lpstr>A big push can improve developing country credit ratings…</vt:lpstr>
      <vt:lpstr>.. But only if at IBRD rates: not at market rates</vt:lpstr>
      <vt:lpstr>PowerPoint Presentation</vt:lpstr>
      <vt:lpstr>PowerPoint Presentation</vt:lpstr>
      <vt:lpstr>PowerPoint Presentation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John Stretton</dc:creator>
  <cp:lastModifiedBy>Stephen Stretton</cp:lastModifiedBy>
  <cp:revision>1</cp:revision>
  <dcterms:created xsi:type="dcterms:W3CDTF">2023-03-22T19:59:09Z</dcterms:created>
  <dcterms:modified xsi:type="dcterms:W3CDTF">2024-10-29T04:50:36Z</dcterms:modified>
</cp:coreProperties>
</file>