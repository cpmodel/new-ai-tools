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67" r:id="rId4"/>
    <p:sldId id="260" r:id="rId5"/>
    <p:sldId id="266" r:id="rId6"/>
    <p:sldId id="257" r:id="rId7"/>
    <p:sldId id="258" r:id="rId8"/>
    <p:sldId id="259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217FA6-9346-45A8-9BF2-15B08A6A642E}" v="5" dt="2026-05-16T00:22:51.492"/>
    <p1510:client id="{49EB1852-E6BF-4312-8C9C-1F6FF4AF7A9E}" v="3" dt="2026-05-15T17:38:16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Stretton" userId="d46b5d2afcd4ceb0" providerId="LiveId" clId="{7E7E2659-BA6C-4D09-B9C0-1FDEAFE5516B}"/>
    <pc:docChg chg="undo custSel addSld modSld">
      <pc:chgData name="Stephen Stretton" userId="d46b5d2afcd4ceb0" providerId="LiveId" clId="{7E7E2659-BA6C-4D09-B9C0-1FDEAFE5516B}" dt="2026-05-16T00:24:28.479" v="780" actId="113"/>
      <pc:docMkLst>
        <pc:docMk/>
      </pc:docMkLst>
      <pc:sldChg chg="modSp mod">
        <pc:chgData name="Stephen Stretton" userId="d46b5d2afcd4ceb0" providerId="LiveId" clId="{7E7E2659-BA6C-4D09-B9C0-1FDEAFE5516B}" dt="2026-05-15T18:08:50.765" v="488" actId="14100"/>
        <pc:sldMkLst>
          <pc:docMk/>
          <pc:sldMk cId="967964320" sldId="257"/>
        </pc:sldMkLst>
        <pc:spChg chg="mod">
          <ac:chgData name="Stephen Stretton" userId="d46b5d2afcd4ceb0" providerId="LiveId" clId="{7E7E2659-BA6C-4D09-B9C0-1FDEAFE5516B}" dt="2026-05-15T18:08:45.985" v="486" actId="27636"/>
          <ac:spMkLst>
            <pc:docMk/>
            <pc:sldMk cId="967964320" sldId="257"/>
            <ac:spMk id="2" creationId="{43BFE13D-43B4-4EE4-124E-5A3905FCFED1}"/>
          </ac:spMkLst>
        </pc:spChg>
        <pc:spChg chg="mod">
          <ac:chgData name="Stephen Stretton" userId="d46b5d2afcd4ceb0" providerId="LiveId" clId="{7E7E2659-BA6C-4D09-B9C0-1FDEAFE5516B}" dt="2026-05-15T18:08:50.765" v="488" actId="14100"/>
          <ac:spMkLst>
            <pc:docMk/>
            <pc:sldMk cId="967964320" sldId="257"/>
            <ac:spMk id="3" creationId="{1A32E65D-AEEC-3124-A9A9-65F5199336BA}"/>
          </ac:spMkLst>
        </pc:spChg>
      </pc:sldChg>
      <pc:sldChg chg="modSp mod">
        <pc:chgData name="Stephen Stretton" userId="d46b5d2afcd4ceb0" providerId="LiveId" clId="{7E7E2659-BA6C-4D09-B9C0-1FDEAFE5516B}" dt="2026-05-15T18:09:27.187" v="499" actId="14100"/>
        <pc:sldMkLst>
          <pc:docMk/>
          <pc:sldMk cId="2018966031" sldId="258"/>
        </pc:sldMkLst>
        <pc:spChg chg="mod">
          <ac:chgData name="Stephen Stretton" userId="d46b5d2afcd4ceb0" providerId="LiveId" clId="{7E7E2659-BA6C-4D09-B9C0-1FDEAFE5516B}" dt="2026-05-15T18:09:21.921" v="497" actId="14100"/>
          <ac:spMkLst>
            <pc:docMk/>
            <pc:sldMk cId="2018966031" sldId="258"/>
            <ac:spMk id="2" creationId="{802B4AE8-26ED-7B22-EB1C-531A842B7F4E}"/>
          </ac:spMkLst>
        </pc:spChg>
        <pc:spChg chg="mod">
          <ac:chgData name="Stephen Stretton" userId="d46b5d2afcd4ceb0" providerId="LiveId" clId="{7E7E2659-BA6C-4D09-B9C0-1FDEAFE5516B}" dt="2026-05-15T18:09:27.187" v="499" actId="14100"/>
          <ac:spMkLst>
            <pc:docMk/>
            <pc:sldMk cId="2018966031" sldId="258"/>
            <ac:spMk id="3" creationId="{5834F58B-A98D-4171-D08C-4AF3DCE46EAF}"/>
          </ac:spMkLst>
        </pc:spChg>
      </pc:sldChg>
      <pc:sldChg chg="modSp mod">
        <pc:chgData name="Stephen Stretton" userId="d46b5d2afcd4ceb0" providerId="LiveId" clId="{7E7E2659-BA6C-4D09-B9C0-1FDEAFE5516B}" dt="2026-05-15T18:09:37.770" v="503" actId="14100"/>
        <pc:sldMkLst>
          <pc:docMk/>
          <pc:sldMk cId="196902276" sldId="259"/>
        </pc:sldMkLst>
        <pc:spChg chg="mod">
          <ac:chgData name="Stephen Stretton" userId="d46b5d2afcd4ceb0" providerId="LiveId" clId="{7E7E2659-BA6C-4D09-B9C0-1FDEAFE5516B}" dt="2026-05-15T18:09:33.048" v="501" actId="14100"/>
          <ac:spMkLst>
            <pc:docMk/>
            <pc:sldMk cId="196902276" sldId="259"/>
            <ac:spMk id="2" creationId="{693049D8-AA7B-098F-BD74-AAB8DFD69193}"/>
          </ac:spMkLst>
        </pc:spChg>
        <pc:spChg chg="mod">
          <ac:chgData name="Stephen Stretton" userId="d46b5d2afcd4ceb0" providerId="LiveId" clId="{7E7E2659-BA6C-4D09-B9C0-1FDEAFE5516B}" dt="2026-05-15T18:09:37.770" v="503" actId="14100"/>
          <ac:spMkLst>
            <pc:docMk/>
            <pc:sldMk cId="196902276" sldId="259"/>
            <ac:spMk id="3" creationId="{46357BA3-25C0-8D9A-A85C-555D438E283F}"/>
          </ac:spMkLst>
        </pc:spChg>
      </pc:sldChg>
      <pc:sldChg chg="modSp mod">
        <pc:chgData name="Stephen Stretton" userId="d46b5d2afcd4ceb0" providerId="LiveId" clId="{7E7E2659-BA6C-4D09-B9C0-1FDEAFE5516B}" dt="2026-05-16T00:23:46.619" v="730" actId="20577"/>
        <pc:sldMkLst>
          <pc:docMk/>
          <pc:sldMk cId="1967901633" sldId="260"/>
        </pc:sldMkLst>
        <pc:spChg chg="mod">
          <ac:chgData name="Stephen Stretton" userId="d46b5d2afcd4ceb0" providerId="LiveId" clId="{7E7E2659-BA6C-4D09-B9C0-1FDEAFE5516B}" dt="2026-05-15T17:38:02.473" v="160" actId="20577"/>
          <ac:spMkLst>
            <pc:docMk/>
            <pc:sldMk cId="1967901633" sldId="260"/>
            <ac:spMk id="2" creationId="{75C2683A-7D64-3B8B-40A2-8D7EF7A37318}"/>
          </ac:spMkLst>
        </pc:spChg>
        <pc:spChg chg="mod">
          <ac:chgData name="Stephen Stretton" userId="d46b5d2afcd4ceb0" providerId="LiveId" clId="{7E7E2659-BA6C-4D09-B9C0-1FDEAFE5516B}" dt="2026-05-15T17:38:08.673" v="162" actId="27636"/>
          <ac:spMkLst>
            <pc:docMk/>
            <pc:sldMk cId="1967901633" sldId="260"/>
            <ac:spMk id="3" creationId="{E95F57BF-8C73-6E34-67C8-58D5977B5B90}"/>
          </ac:spMkLst>
        </pc:spChg>
        <pc:spChg chg="mod">
          <ac:chgData name="Stephen Stretton" userId="d46b5d2afcd4ceb0" providerId="LiveId" clId="{7E7E2659-BA6C-4D09-B9C0-1FDEAFE5516B}" dt="2026-05-16T00:20:43.304" v="592" actId="6549"/>
          <ac:spMkLst>
            <pc:docMk/>
            <pc:sldMk cId="1967901633" sldId="260"/>
            <ac:spMk id="4" creationId="{B89044D9-1EE4-C195-2F9A-01BCB2EF804D}"/>
          </ac:spMkLst>
        </pc:spChg>
        <pc:spChg chg="mod">
          <ac:chgData name="Stephen Stretton" userId="d46b5d2afcd4ceb0" providerId="LiveId" clId="{7E7E2659-BA6C-4D09-B9C0-1FDEAFE5516B}" dt="2026-05-16T00:23:46.619" v="730" actId="20577"/>
          <ac:spMkLst>
            <pc:docMk/>
            <pc:sldMk cId="1967901633" sldId="260"/>
            <ac:spMk id="6" creationId="{62C1AF2B-FD58-1A7C-6167-02D84C20D428}"/>
          </ac:spMkLst>
        </pc:spChg>
      </pc:sldChg>
      <pc:sldChg chg="modSp mod">
        <pc:chgData name="Stephen Stretton" userId="d46b5d2afcd4ceb0" providerId="LiveId" clId="{7E7E2659-BA6C-4D09-B9C0-1FDEAFE5516B}" dt="2026-05-15T18:09:10.526" v="494" actId="14100"/>
        <pc:sldMkLst>
          <pc:docMk/>
          <pc:sldMk cId="693333363" sldId="261"/>
        </pc:sldMkLst>
        <pc:spChg chg="mod">
          <ac:chgData name="Stephen Stretton" userId="d46b5d2afcd4ceb0" providerId="LiveId" clId="{7E7E2659-BA6C-4D09-B9C0-1FDEAFE5516B}" dt="2026-05-15T18:09:10.526" v="494" actId="14100"/>
          <ac:spMkLst>
            <pc:docMk/>
            <pc:sldMk cId="693333363" sldId="261"/>
            <ac:spMk id="2" creationId="{E63A6449-0B82-2C63-0DB4-A3ED603F8F63}"/>
          </ac:spMkLst>
        </pc:spChg>
        <pc:spChg chg="mod">
          <ac:chgData name="Stephen Stretton" userId="d46b5d2afcd4ceb0" providerId="LiveId" clId="{7E7E2659-BA6C-4D09-B9C0-1FDEAFE5516B}" dt="2026-05-15T18:08:59.896" v="490" actId="14100"/>
          <ac:spMkLst>
            <pc:docMk/>
            <pc:sldMk cId="693333363" sldId="261"/>
            <ac:spMk id="3" creationId="{0F0AD2D9-493C-95D2-9395-B5A8383076EC}"/>
          </ac:spMkLst>
        </pc:spChg>
      </pc:sldChg>
      <pc:sldChg chg="modSp mod">
        <pc:chgData name="Stephen Stretton" userId="d46b5d2afcd4ceb0" providerId="LiveId" clId="{7E7E2659-BA6C-4D09-B9C0-1FDEAFE5516B}" dt="2026-05-15T18:09:53.135" v="507" actId="14100"/>
        <pc:sldMkLst>
          <pc:docMk/>
          <pc:sldMk cId="2049606415" sldId="262"/>
        </pc:sldMkLst>
        <pc:spChg chg="mod">
          <ac:chgData name="Stephen Stretton" userId="d46b5d2afcd4ceb0" providerId="LiveId" clId="{7E7E2659-BA6C-4D09-B9C0-1FDEAFE5516B}" dt="2026-05-15T18:09:47.299" v="505" actId="1076"/>
          <ac:spMkLst>
            <pc:docMk/>
            <pc:sldMk cId="2049606415" sldId="262"/>
            <ac:spMk id="2" creationId="{121C06C2-CE54-32B1-F8D8-D056EF3CA157}"/>
          </ac:spMkLst>
        </pc:spChg>
        <pc:spChg chg="mod">
          <ac:chgData name="Stephen Stretton" userId="d46b5d2afcd4ceb0" providerId="LiveId" clId="{7E7E2659-BA6C-4D09-B9C0-1FDEAFE5516B}" dt="2026-05-15T18:09:53.135" v="507" actId="14100"/>
          <ac:spMkLst>
            <pc:docMk/>
            <pc:sldMk cId="2049606415" sldId="262"/>
            <ac:spMk id="3" creationId="{21687AB8-63A3-5B81-ABFF-990D0A8A0272}"/>
          </ac:spMkLst>
        </pc:spChg>
      </pc:sldChg>
      <pc:sldChg chg="modSp mod">
        <pc:chgData name="Stephen Stretton" userId="d46b5d2afcd4ceb0" providerId="LiveId" clId="{7E7E2659-BA6C-4D09-B9C0-1FDEAFE5516B}" dt="2026-05-15T18:09:59.892" v="509" actId="14100"/>
        <pc:sldMkLst>
          <pc:docMk/>
          <pc:sldMk cId="3236539516" sldId="263"/>
        </pc:sldMkLst>
        <pc:spChg chg="mod">
          <ac:chgData name="Stephen Stretton" userId="d46b5d2afcd4ceb0" providerId="LiveId" clId="{7E7E2659-BA6C-4D09-B9C0-1FDEAFE5516B}" dt="2026-05-15T18:09:57.308" v="508" actId="14100"/>
          <ac:spMkLst>
            <pc:docMk/>
            <pc:sldMk cId="3236539516" sldId="263"/>
            <ac:spMk id="2" creationId="{040B0D0D-BDA2-28C4-DB7C-6A26A6549FDB}"/>
          </ac:spMkLst>
        </pc:spChg>
        <pc:spChg chg="mod">
          <ac:chgData name="Stephen Stretton" userId="d46b5d2afcd4ceb0" providerId="LiveId" clId="{7E7E2659-BA6C-4D09-B9C0-1FDEAFE5516B}" dt="2026-05-15T18:09:59.892" v="509" actId="14100"/>
          <ac:spMkLst>
            <pc:docMk/>
            <pc:sldMk cId="3236539516" sldId="263"/>
            <ac:spMk id="3" creationId="{047B80B9-1E92-945D-D9AD-E5269E4504EA}"/>
          </ac:spMkLst>
        </pc:spChg>
      </pc:sldChg>
      <pc:sldChg chg="modSp mod">
        <pc:chgData name="Stephen Stretton" userId="d46b5d2afcd4ceb0" providerId="LiveId" clId="{7E7E2659-BA6C-4D09-B9C0-1FDEAFE5516B}" dt="2026-05-15T18:10:15.455" v="524" actId="113"/>
        <pc:sldMkLst>
          <pc:docMk/>
          <pc:sldMk cId="4131791559" sldId="264"/>
        </pc:sldMkLst>
        <pc:spChg chg="mod">
          <ac:chgData name="Stephen Stretton" userId="d46b5d2afcd4ceb0" providerId="LiveId" clId="{7E7E2659-BA6C-4D09-B9C0-1FDEAFE5516B}" dt="2026-05-15T18:10:15.455" v="524" actId="113"/>
          <ac:spMkLst>
            <pc:docMk/>
            <pc:sldMk cId="4131791559" sldId="264"/>
            <ac:spMk id="2" creationId="{84E5DAE2-5876-4E72-B7C7-80BA9205152F}"/>
          </ac:spMkLst>
        </pc:spChg>
        <pc:spChg chg="mod">
          <ac:chgData name="Stephen Stretton" userId="d46b5d2afcd4ceb0" providerId="LiveId" clId="{7E7E2659-BA6C-4D09-B9C0-1FDEAFE5516B}" dt="2026-05-15T18:10:09.419" v="511" actId="14100"/>
          <ac:spMkLst>
            <pc:docMk/>
            <pc:sldMk cId="4131791559" sldId="264"/>
            <ac:spMk id="3" creationId="{0EF76B98-59A4-56B2-1C5A-1E2328AD505A}"/>
          </ac:spMkLst>
        </pc:spChg>
      </pc:sldChg>
      <pc:sldChg chg="addSp delSp modSp add mod">
        <pc:chgData name="Stephen Stretton" userId="d46b5d2afcd4ceb0" providerId="LiveId" clId="{7E7E2659-BA6C-4D09-B9C0-1FDEAFE5516B}" dt="2026-05-16T00:22:22.548" v="658" actId="20577"/>
        <pc:sldMkLst>
          <pc:docMk/>
          <pc:sldMk cId="588094925" sldId="265"/>
        </pc:sldMkLst>
        <pc:spChg chg="mod">
          <ac:chgData name="Stephen Stretton" userId="d46b5d2afcd4ceb0" providerId="LiveId" clId="{7E7E2659-BA6C-4D09-B9C0-1FDEAFE5516B}" dt="2026-05-15T17:55:22.918" v="437" actId="20577"/>
          <ac:spMkLst>
            <pc:docMk/>
            <pc:sldMk cId="588094925" sldId="265"/>
            <ac:spMk id="2" creationId="{CD40E064-F1C0-1E02-AB8A-5D515EAB2AB6}"/>
          </ac:spMkLst>
        </pc:spChg>
        <pc:spChg chg="mod">
          <ac:chgData name="Stephen Stretton" userId="d46b5d2afcd4ceb0" providerId="LiveId" clId="{7E7E2659-BA6C-4D09-B9C0-1FDEAFE5516B}" dt="2026-05-16T00:22:22.548" v="658" actId="20577"/>
          <ac:spMkLst>
            <pc:docMk/>
            <pc:sldMk cId="588094925" sldId="265"/>
            <ac:spMk id="3" creationId="{C13C43D3-8BD9-3F17-743C-FB158A5EC0C4}"/>
          </ac:spMkLst>
        </pc:spChg>
        <pc:spChg chg="add del mod">
          <ac:chgData name="Stephen Stretton" userId="d46b5d2afcd4ceb0" providerId="LiveId" clId="{7E7E2659-BA6C-4D09-B9C0-1FDEAFE5516B}" dt="2026-05-16T00:21:55.338" v="627" actId="478"/>
          <ac:spMkLst>
            <pc:docMk/>
            <pc:sldMk cId="588094925" sldId="265"/>
            <ac:spMk id="4" creationId="{CB104900-4CDA-9ECE-A473-0748B9A01BB0}"/>
          </ac:spMkLst>
        </pc:spChg>
      </pc:sldChg>
      <pc:sldChg chg="modSp new mod">
        <pc:chgData name="Stephen Stretton" userId="d46b5d2afcd4ceb0" providerId="LiveId" clId="{7E7E2659-BA6C-4D09-B9C0-1FDEAFE5516B}" dt="2026-05-16T00:24:28.479" v="780" actId="113"/>
        <pc:sldMkLst>
          <pc:docMk/>
          <pc:sldMk cId="1521292713" sldId="266"/>
        </pc:sldMkLst>
        <pc:spChg chg="mod">
          <ac:chgData name="Stephen Stretton" userId="d46b5d2afcd4ceb0" providerId="LiveId" clId="{7E7E2659-BA6C-4D09-B9C0-1FDEAFE5516B}" dt="2026-05-15T18:08:40.583" v="483" actId="14100"/>
          <ac:spMkLst>
            <pc:docMk/>
            <pc:sldMk cId="1521292713" sldId="266"/>
            <ac:spMk id="2" creationId="{F58910AC-15D2-FCBC-6DA3-F4EE69B1A216}"/>
          </ac:spMkLst>
        </pc:spChg>
        <pc:spChg chg="mod">
          <ac:chgData name="Stephen Stretton" userId="d46b5d2afcd4ceb0" providerId="LiveId" clId="{7E7E2659-BA6C-4D09-B9C0-1FDEAFE5516B}" dt="2026-05-16T00:24:28.479" v="780" actId="113"/>
          <ac:spMkLst>
            <pc:docMk/>
            <pc:sldMk cId="1521292713" sldId="266"/>
            <ac:spMk id="3" creationId="{7D277DC4-6BC0-7466-26BA-FE3809707EFF}"/>
          </ac:spMkLst>
        </pc:spChg>
        <pc:spChg chg="mod">
          <ac:chgData name="Stephen Stretton" userId="d46b5d2afcd4ceb0" providerId="LiveId" clId="{7E7E2659-BA6C-4D09-B9C0-1FDEAFE5516B}" dt="2026-05-16T00:20:49.731" v="594" actId="113"/>
          <ac:spMkLst>
            <pc:docMk/>
            <pc:sldMk cId="1521292713" sldId="266"/>
            <ac:spMk id="4" creationId="{B305DE42-E4A2-22F1-F9D1-3A116642B853}"/>
          </ac:spMkLst>
        </pc:spChg>
        <pc:spChg chg="mod">
          <ac:chgData name="Stephen Stretton" userId="d46b5d2afcd4ceb0" providerId="LiveId" clId="{7E7E2659-BA6C-4D09-B9C0-1FDEAFE5516B}" dt="2026-05-16T00:23:53.725" v="731" actId="115"/>
          <ac:spMkLst>
            <pc:docMk/>
            <pc:sldMk cId="1521292713" sldId="266"/>
            <ac:spMk id="7" creationId="{AF552B21-5E4C-61BF-8738-6E42EAD13B69}"/>
          </ac:spMkLst>
        </pc:spChg>
      </pc:sldChg>
      <pc:sldChg chg="addSp delSp modSp add mod">
        <pc:chgData name="Stephen Stretton" userId="d46b5d2afcd4ceb0" providerId="LiveId" clId="{7E7E2659-BA6C-4D09-B9C0-1FDEAFE5516B}" dt="2026-05-16T00:23:01.126" v="712" actId="5793"/>
        <pc:sldMkLst>
          <pc:docMk/>
          <pc:sldMk cId="3900224610" sldId="267"/>
        </pc:sldMkLst>
        <pc:spChg chg="mod">
          <ac:chgData name="Stephen Stretton" userId="d46b5d2afcd4ceb0" providerId="LiveId" clId="{7E7E2659-BA6C-4D09-B9C0-1FDEAFE5516B}" dt="2026-05-16T00:22:45.273" v="707" actId="313"/>
          <ac:spMkLst>
            <pc:docMk/>
            <pc:sldMk cId="3900224610" sldId="267"/>
            <ac:spMk id="2" creationId="{A7DF8887-1664-7890-2D7B-770FDFC71CC6}"/>
          </ac:spMkLst>
        </pc:spChg>
        <pc:spChg chg="add del">
          <ac:chgData name="Stephen Stretton" userId="d46b5d2afcd4ceb0" providerId="LiveId" clId="{7E7E2659-BA6C-4D09-B9C0-1FDEAFE5516B}" dt="2026-05-16T00:22:47.764" v="708" actId="478"/>
          <ac:spMkLst>
            <pc:docMk/>
            <pc:sldMk cId="3900224610" sldId="267"/>
            <ac:spMk id="3" creationId="{155595CF-7B9E-9B07-6FFE-52EE192F121B}"/>
          </ac:spMkLst>
        </pc:spChg>
        <pc:spChg chg="mod">
          <ac:chgData name="Stephen Stretton" userId="d46b5d2afcd4ceb0" providerId="LiveId" clId="{7E7E2659-BA6C-4D09-B9C0-1FDEAFE5516B}" dt="2026-05-16T00:22:50.508" v="710" actId="27636"/>
          <ac:spMkLst>
            <pc:docMk/>
            <pc:sldMk cId="3900224610" sldId="267"/>
            <ac:spMk id="4" creationId="{B87EB96F-CF93-DB9D-BEE0-D5419AD0D722}"/>
          </ac:spMkLst>
        </pc:spChg>
        <pc:spChg chg="add del mod">
          <ac:chgData name="Stephen Stretton" userId="d46b5d2afcd4ceb0" providerId="LiveId" clId="{7E7E2659-BA6C-4D09-B9C0-1FDEAFE5516B}" dt="2026-05-16T00:21:38.584" v="618" actId="478"/>
          <ac:spMkLst>
            <pc:docMk/>
            <pc:sldMk cId="3900224610" sldId="267"/>
            <ac:spMk id="6" creationId="{42D93AE5-7742-2776-9DB4-AD9A6938AC86}"/>
          </ac:spMkLst>
        </pc:spChg>
        <pc:spChg chg="add mod">
          <ac:chgData name="Stephen Stretton" userId="d46b5d2afcd4ceb0" providerId="LiveId" clId="{7E7E2659-BA6C-4D09-B9C0-1FDEAFE5516B}" dt="2026-05-16T00:23:01.126" v="712" actId="5793"/>
          <ac:spMkLst>
            <pc:docMk/>
            <pc:sldMk cId="3900224610" sldId="267"/>
            <ac:spMk id="8" creationId="{4A4558FF-9469-50A2-DE16-FAE8D474E5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6EB1-E083-DD75-C29B-DDEE681FF7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Climate policy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1036C-182B-1BBD-838A-662D639F6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What’s broken, </a:t>
            </a:r>
            <a:r>
              <a:rPr lang="en-US"/>
              <a:t>what’s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7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0C13-2957-FE38-695B-ED0001961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E064-F1C0-1E02-AB8A-5D515EAB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569" y="284176"/>
            <a:ext cx="10037430" cy="1508760"/>
          </a:xfrm>
        </p:spPr>
        <p:txBody>
          <a:bodyPr>
            <a:normAutofit/>
          </a:bodyPr>
          <a:lstStyle/>
          <a:p>
            <a:r>
              <a:rPr lang="en-US" b="1" dirty="0"/>
              <a:t>Overview: </a:t>
            </a:r>
            <a:br>
              <a:rPr lang="en-US" b="1" dirty="0"/>
            </a:br>
            <a:r>
              <a:rPr lang="en-US" dirty="0"/>
              <a:t>What's BROKEN, WHAT’s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C43D3-8BD9-3F17-743C-FB158A5EC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6471735" cy="420624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Overview</a:t>
            </a:r>
          </a:p>
          <a:p>
            <a:r>
              <a:rPr lang="en-US" b="1" dirty="0"/>
              <a:t>Theory of change</a:t>
            </a:r>
          </a:p>
          <a:p>
            <a:r>
              <a:rPr lang="en-US" b="1" dirty="0"/>
              <a:t>Carbon Pricing</a:t>
            </a:r>
          </a:p>
          <a:p>
            <a:r>
              <a:rPr lang="en-US" b="1" dirty="0"/>
              <a:t>Sovereign Incentives</a:t>
            </a:r>
          </a:p>
          <a:p>
            <a:r>
              <a:rPr lang="en-US" b="1" dirty="0"/>
              <a:t>Infrastructure support</a:t>
            </a:r>
            <a:r>
              <a:rPr lang="en-US" dirty="0"/>
              <a:t> (policy and finance)</a:t>
            </a:r>
          </a:p>
          <a:p>
            <a:r>
              <a:rPr lang="en-US" b="1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588094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38CA-63CF-40F7-3649-F3E51BD3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8887-1664-7890-2D7B-770FDFC7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569" y="284176"/>
            <a:ext cx="10037430" cy="1508760"/>
          </a:xfrm>
        </p:spPr>
        <p:txBody>
          <a:bodyPr>
            <a:normAutofit/>
          </a:bodyPr>
          <a:lstStyle/>
          <a:p>
            <a:r>
              <a:rPr lang="en-US" b="1" dirty="0"/>
              <a:t>Overview:</a:t>
            </a:r>
            <a:br>
              <a:rPr lang="en-US" b="1" dirty="0"/>
            </a:br>
            <a:r>
              <a:rPr lang="en-US" dirty="0"/>
              <a:t>KEY Success FACTORS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7EB96F-CF93-DB9D-BEE0-D5419AD0D722}"/>
              </a:ext>
            </a:extLst>
          </p:cNvPr>
          <p:cNvSpPr txBox="1">
            <a:spLocks/>
          </p:cNvSpPr>
          <p:nvPr/>
        </p:nvSpPr>
        <p:spPr>
          <a:xfrm>
            <a:off x="7792304" y="1992761"/>
            <a:ext cx="3824242" cy="4660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4558FF-9469-50A2-DE16-FAE8D474E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Five Key Success Factors for Policies, Finance and Commitments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Targeted to </a:t>
            </a:r>
            <a:r>
              <a:rPr lang="en-US" b="1" dirty="0"/>
              <a:t>technological learning dynamics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Works with political economy </a:t>
            </a:r>
            <a:r>
              <a:rPr lang="en-US" b="1" dirty="0"/>
              <a:t>within countries</a:t>
            </a:r>
            <a:r>
              <a:rPr lang="en-US" dirty="0"/>
              <a:t> (in general)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Gives </a:t>
            </a:r>
            <a:r>
              <a:rPr lang="en-US" b="1" dirty="0"/>
              <a:t>geostrategic advantage</a:t>
            </a:r>
            <a:r>
              <a:rPr lang="en-US" dirty="0"/>
              <a:t> (in general)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Consistent with (specific national) character of key players (</a:t>
            </a:r>
            <a:r>
              <a:rPr lang="en-US" b="1" dirty="0"/>
              <a:t>China </a:t>
            </a:r>
            <a:r>
              <a:rPr lang="en-US" dirty="0"/>
              <a:t>etc.)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Locks</a:t>
            </a:r>
            <a:r>
              <a:rPr lang="en-US" dirty="0"/>
              <a:t> </a:t>
            </a:r>
            <a:r>
              <a:rPr lang="en-US" b="1" dirty="0"/>
              <a:t>in good outcomes </a:t>
            </a:r>
            <a:r>
              <a:rPr lang="en-US" dirty="0"/>
              <a:t>(includes commitment device and/or helps irreversible change)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22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849A-D5E7-ECC7-E4C7-59F8F3C3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683A-7D64-3B8B-40A2-8D7EF7A3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50" y="284176"/>
            <a:ext cx="10091649" cy="1508760"/>
          </a:xfrm>
        </p:spPr>
        <p:txBody>
          <a:bodyPr>
            <a:normAutofit/>
          </a:bodyPr>
          <a:lstStyle/>
          <a:p>
            <a:r>
              <a:rPr lang="en-US" b="1" dirty="0"/>
              <a:t>THEORY OF CHANGE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What's Broken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F57BF-8C73-6E34-67C8-58D5977B5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217" y="2062480"/>
            <a:ext cx="5124450" cy="420624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Major threads of climate policy do not have a realistic theory of change to achieve transformative change (see next slide for what is needed)</a:t>
            </a:r>
          </a:p>
          <a:p>
            <a:r>
              <a:rPr lang="en-US" dirty="0"/>
              <a:t>Main instruments suggested as norms are unpopular (e.g., carbon pricing)</a:t>
            </a:r>
          </a:p>
          <a:p>
            <a:r>
              <a:rPr lang="en-US" dirty="0"/>
              <a:t>Main structures (e.g., UNFCCC) require consensus and therefore become a talking shop </a:t>
            </a:r>
          </a:p>
          <a:p>
            <a:r>
              <a:rPr lang="en-US" dirty="0"/>
              <a:t>More controversial / polemical:</a:t>
            </a:r>
          </a:p>
          <a:p>
            <a:pPr lvl="1"/>
            <a:r>
              <a:rPr lang="en-US" dirty="0"/>
              <a:t>OPEC/warmongers are doing their job (restricting supply). The importers are not!</a:t>
            </a:r>
          </a:p>
          <a:p>
            <a:pPr lvl="1"/>
            <a:r>
              <a:rPr lang="en-US" dirty="0"/>
              <a:t>Arsenal versus Manchester United idea - competitive collaboration</a:t>
            </a:r>
          </a:p>
          <a:p>
            <a:r>
              <a:rPr lang="en-US" dirty="0"/>
              <a:t>Not covered: </a:t>
            </a:r>
          </a:p>
          <a:p>
            <a:pPr lvl="1"/>
            <a:r>
              <a:rPr lang="en-US" dirty="0"/>
              <a:t>Bottom-up initiatives (Elinor Ostrom style).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9044D9-1EE4-C195-2F9A-01BCB2EF804D}"/>
              </a:ext>
            </a:extLst>
          </p:cNvPr>
          <p:cNvSpPr txBox="1">
            <a:spLocks/>
          </p:cNvSpPr>
          <p:nvPr/>
        </p:nvSpPr>
        <p:spPr>
          <a:xfrm>
            <a:off x="6051791" y="2062479"/>
            <a:ext cx="3824242" cy="46600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Five Key Success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Targeted to </a:t>
            </a:r>
            <a:r>
              <a:rPr lang="en-US" b="1" dirty="0"/>
              <a:t>technological learning dynamics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Works with political economy </a:t>
            </a:r>
            <a:r>
              <a:rPr lang="en-US" b="1" dirty="0"/>
              <a:t>within countries</a:t>
            </a:r>
            <a:r>
              <a:rPr lang="en-US" dirty="0"/>
              <a:t> (in general)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Gives </a:t>
            </a:r>
            <a:r>
              <a:rPr lang="en-US" b="1" dirty="0"/>
              <a:t>geostrategic advantage</a:t>
            </a:r>
            <a:r>
              <a:rPr lang="en-US" dirty="0"/>
              <a:t> (in general)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Consistent with (specific national) character of key players (</a:t>
            </a:r>
            <a:r>
              <a:rPr lang="en-US" b="1" dirty="0"/>
              <a:t>China </a:t>
            </a:r>
            <a:r>
              <a:rPr lang="en-US" dirty="0"/>
              <a:t>etc.)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Locks</a:t>
            </a:r>
            <a:r>
              <a:rPr lang="en-US" dirty="0"/>
              <a:t> </a:t>
            </a:r>
            <a:r>
              <a:rPr lang="en-US" b="1" dirty="0"/>
              <a:t>in good outcomes </a:t>
            </a:r>
            <a:r>
              <a:rPr lang="en-US" dirty="0"/>
              <a:t>(includes commitment device and/or helps irreversible change)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4AB8912-0F6F-75EF-F37D-9C0DB641182E}"/>
              </a:ext>
            </a:extLst>
          </p:cNvPr>
          <p:cNvSpPr/>
          <p:nvPr/>
        </p:nvSpPr>
        <p:spPr>
          <a:xfrm>
            <a:off x="9876033" y="2194104"/>
            <a:ext cx="213645" cy="416425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1AF2B-FD58-1A7C-6167-02D84C20D428}"/>
              </a:ext>
            </a:extLst>
          </p:cNvPr>
          <p:cNvSpPr txBox="1"/>
          <p:nvPr/>
        </p:nvSpPr>
        <p:spPr>
          <a:xfrm>
            <a:off x="10171532" y="2734965"/>
            <a:ext cx="17262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Keystone policy norm (carbon pricing) recommended by ‘economics 101’ arguably violates </a:t>
            </a:r>
            <a:r>
              <a:rPr lang="en-US" b="1" i="1" u="sng" dirty="0"/>
              <a:t>all five </a:t>
            </a:r>
            <a:r>
              <a:rPr lang="en-US" b="1" i="1" dirty="0"/>
              <a:t>success factors</a:t>
            </a:r>
          </a:p>
        </p:txBody>
      </p:sp>
    </p:spTree>
    <p:extLst>
      <p:ext uri="{BB962C8B-B14F-4D97-AF65-F5344CB8AC3E}">
        <p14:creationId xmlns:p14="http://schemas.microsoft.com/office/powerpoint/2010/main" val="196790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10AC-15D2-FCBC-6DA3-F4EE69B1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78" y="220310"/>
            <a:ext cx="8840550" cy="1508760"/>
          </a:xfrm>
        </p:spPr>
        <p:txBody>
          <a:bodyPr/>
          <a:lstStyle/>
          <a:p>
            <a:r>
              <a:rPr lang="en-US" b="1" dirty="0"/>
              <a:t>THEORY OF CHANGE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What’s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77DC4-6BC0-7466-26BA-FE3809707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69" y="2127065"/>
            <a:ext cx="5705831" cy="451062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RE support (subsidies and then RE auctions) </a:t>
            </a:r>
            <a:r>
              <a:rPr lang="en-US" b="1" i="1" dirty="0"/>
              <a:t>has worked</a:t>
            </a:r>
            <a:r>
              <a:rPr lang="en-US" dirty="0"/>
              <a:t>, due to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fast learning of renewables (especially PV)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instrument having concentrated winners &amp; diffuse losers,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gives </a:t>
            </a:r>
            <a:r>
              <a:rPr lang="en-US" b="1" dirty="0"/>
              <a:t>strategic benefit </a:t>
            </a:r>
            <a:r>
              <a:rPr lang="en-US" dirty="0"/>
              <a:t>(big gains to PV manufacturers, and some energy security to PV installing countries)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one altruistic player with broad shoulders (Germany) and one capable and strategic scale player (China)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locks in good outcomes locally (policy is contractual, investment is irreversible) and globally (cost reductions irreversible)</a:t>
            </a:r>
          </a:p>
          <a:p>
            <a:r>
              <a:rPr lang="en-US" dirty="0"/>
              <a:t>See rest of the document for:</a:t>
            </a:r>
          </a:p>
          <a:p>
            <a:pPr lvl="1"/>
            <a:r>
              <a:rPr lang="en-US" dirty="0"/>
              <a:t>Carbon Pricing</a:t>
            </a:r>
          </a:p>
          <a:p>
            <a:pPr lvl="1"/>
            <a:r>
              <a:rPr lang="en-US" dirty="0"/>
              <a:t>Sovereign Incentives</a:t>
            </a:r>
          </a:p>
          <a:p>
            <a:pPr lvl="1"/>
            <a:r>
              <a:rPr lang="en-US" dirty="0"/>
              <a:t>Infrastructure Policy and Finance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05DE42-E4A2-22F1-F9D1-3A116642B853}"/>
              </a:ext>
            </a:extLst>
          </p:cNvPr>
          <p:cNvSpPr txBox="1">
            <a:spLocks/>
          </p:cNvSpPr>
          <p:nvPr/>
        </p:nvSpPr>
        <p:spPr>
          <a:xfrm>
            <a:off x="6096000" y="1990485"/>
            <a:ext cx="3824242" cy="46992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Five Key Success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Targeted to technological learning dynamics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Works with political economy within countries (in general)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Gives geostrategic advantage (in general)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Consistent with (specific national) character of key players (China etc.)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Locks in good outcomes (includes commitment device and/or helps irreversible change)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37891CA-1872-83C3-43B4-496E74BA57DF}"/>
              </a:ext>
            </a:extLst>
          </p:cNvPr>
          <p:cNvSpPr/>
          <p:nvPr/>
        </p:nvSpPr>
        <p:spPr>
          <a:xfrm>
            <a:off x="10375548" y="2257970"/>
            <a:ext cx="213645" cy="416425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52B21-5E4C-61BF-8738-6E42EAD13B69}"/>
              </a:ext>
            </a:extLst>
          </p:cNvPr>
          <p:cNvSpPr txBox="1"/>
          <p:nvPr/>
        </p:nvSpPr>
        <p:spPr>
          <a:xfrm>
            <a:off x="10671047" y="2798830"/>
            <a:ext cx="1520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RE support satisfies </a:t>
            </a:r>
            <a:r>
              <a:rPr lang="en-US" b="1" i="1" u="sng" dirty="0"/>
              <a:t>all five </a:t>
            </a:r>
            <a:r>
              <a:rPr lang="en-US" b="1" i="1" dirty="0"/>
              <a:t>conditions</a:t>
            </a:r>
          </a:p>
        </p:txBody>
      </p:sp>
    </p:spTree>
    <p:extLst>
      <p:ext uri="{BB962C8B-B14F-4D97-AF65-F5344CB8AC3E}">
        <p14:creationId xmlns:p14="http://schemas.microsoft.com/office/powerpoint/2010/main" val="1521292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E13D-43B4-4EE4-124E-5A3905FC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284176"/>
            <a:ext cx="8594182" cy="1508760"/>
          </a:xfrm>
        </p:spPr>
        <p:txBody>
          <a:bodyPr>
            <a:normAutofit/>
          </a:bodyPr>
          <a:lstStyle/>
          <a:p>
            <a:r>
              <a:rPr lang="en-US" b="1" dirty="0"/>
              <a:t>'Carbon Pricing' Instruments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What's Broken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2E65D-AEEC-3124-A9A9-65F519933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4" y="2011680"/>
            <a:ext cx="11379200" cy="42062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Unpopular - no mandate</a:t>
            </a:r>
          </a:p>
          <a:p>
            <a:r>
              <a:rPr lang="en-US" dirty="0"/>
              <a:t>Oligarchs can coordinate popular discontent</a:t>
            </a:r>
          </a:p>
          <a:p>
            <a:r>
              <a:rPr lang="en-US" dirty="0"/>
              <a:t>Does not directly impact investment, impermanent</a:t>
            </a:r>
          </a:p>
          <a:p>
            <a:r>
              <a:rPr lang="en-US" dirty="0"/>
              <a:t>Price inelasticity (except for coal-to-gas power transition in liberalized markets with coal &amp; gas)</a:t>
            </a:r>
          </a:p>
          <a:p>
            <a:r>
              <a:rPr lang="en-US" dirty="0"/>
              <a:t>Lifecycle leaks of methane usually neglected, leading to switch to gas with security implications</a:t>
            </a:r>
          </a:p>
          <a:p>
            <a:r>
              <a:rPr lang="en-US" dirty="0"/>
              <a:t>Renewable support by contracts anyway and always-run so c-pricing often irrelevant</a:t>
            </a:r>
          </a:p>
          <a:p>
            <a:r>
              <a:rPr lang="en-US" dirty="0"/>
              <a:t>Usually designed with no extra-jurisdictional impact (except CBAM)</a:t>
            </a:r>
          </a:p>
          <a:p>
            <a:r>
              <a:rPr lang="en-US" dirty="0"/>
              <a:t>ETS and Carbon Tax: ETS is complicated (bad) and a feebate instrument (good, but doesn’t help the consumption side)</a:t>
            </a:r>
          </a:p>
          <a:p>
            <a:pPr lvl="1"/>
            <a:r>
              <a:rPr lang="en-US" dirty="0"/>
              <a:t>OK for incremental change (ignoring politics), but poorly designed for net zero (</a:t>
            </a:r>
            <a:r>
              <a:rPr lang="en-US" dirty="0" err="1"/>
              <a:t>ie</a:t>
            </a:r>
            <a:r>
              <a:rPr lang="en-US" dirty="0"/>
              <a:t> not targeted to electrification) </a:t>
            </a:r>
          </a:p>
        </p:txBody>
      </p:sp>
    </p:spTree>
    <p:extLst>
      <p:ext uri="{BB962C8B-B14F-4D97-AF65-F5344CB8AC3E}">
        <p14:creationId xmlns:p14="http://schemas.microsoft.com/office/powerpoint/2010/main" val="96796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17EF8-6FE8-6C28-744F-D968813C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4AE8-26ED-7B22-EB1C-531A842B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376" y="284176"/>
            <a:ext cx="8309502" cy="1508760"/>
          </a:xfrm>
        </p:spPr>
        <p:txBody>
          <a:bodyPr>
            <a:normAutofit/>
          </a:bodyPr>
          <a:lstStyle/>
          <a:p>
            <a:r>
              <a:rPr lang="en-US" b="1" dirty="0"/>
              <a:t>'Carbon Pricing' Instruments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what's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4F58B-A98D-4171-D08C-4AF3DCE46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039" y="2011680"/>
            <a:ext cx="10805532" cy="420624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Separation of production side and consumption side</a:t>
            </a:r>
          </a:p>
          <a:p>
            <a:r>
              <a:rPr lang="en-US" dirty="0"/>
              <a:t>Feebates (and ETS) </a:t>
            </a:r>
          </a:p>
          <a:p>
            <a:r>
              <a:rPr lang="en-US" dirty="0"/>
              <a:t>Destination-basis consumption pricing (adjustment of EU-VAT 15% minimum rate)</a:t>
            </a:r>
          </a:p>
          <a:p>
            <a:r>
              <a:rPr lang="en-US" dirty="0"/>
              <a:t>Revenue guarantee instruments (PPAs)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6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F258-8CA0-33C8-F643-D63C00A2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049D8-AA7B-098F-BD74-AAB8DFD69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354" y="284176"/>
            <a:ext cx="8224670" cy="1508760"/>
          </a:xfrm>
        </p:spPr>
        <p:txBody>
          <a:bodyPr/>
          <a:lstStyle/>
          <a:p>
            <a:r>
              <a:rPr lang="en-US" b="1" dirty="0"/>
              <a:t>Sovereign Incentives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What's broken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57BA3-25C0-8D9A-A85C-555D438E2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10" y="2178948"/>
            <a:ext cx="8496624" cy="4206240"/>
          </a:xfrm>
        </p:spPr>
        <p:txBody>
          <a:bodyPr/>
          <a:lstStyle/>
          <a:p>
            <a:r>
              <a:rPr lang="en-US" dirty="0"/>
              <a:t>UNFCCC doesn't work except possibly for 'Presidential initiatives' that require only buy-in of the COP-president (NB Türkiye has an Important presidential initiative this year, but 1 year is not much time to achieve something substantial!)</a:t>
            </a:r>
          </a:p>
          <a:p>
            <a:r>
              <a:rPr lang="en-US" dirty="0"/>
              <a:t>We should have built an OPIC not a global talking shop!!</a:t>
            </a:r>
          </a:p>
          <a:p>
            <a:r>
              <a:rPr lang="en-US" dirty="0"/>
              <a:t>‘Carbon Markets’ (offsets) are currently counterproductive (also need instruments compatible with global net zero not national net zero in rich countries)</a:t>
            </a:r>
          </a:p>
        </p:txBody>
      </p:sp>
    </p:spTree>
    <p:extLst>
      <p:ext uri="{BB962C8B-B14F-4D97-AF65-F5344CB8AC3E}">
        <p14:creationId xmlns:p14="http://schemas.microsoft.com/office/powerpoint/2010/main" val="19690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A6449-0B82-2C63-0DB4-A3ED603F8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69" y="416690"/>
            <a:ext cx="9962464" cy="1236264"/>
          </a:xfrm>
        </p:spPr>
        <p:txBody>
          <a:bodyPr>
            <a:normAutofit/>
          </a:bodyPr>
          <a:lstStyle/>
          <a:p>
            <a:r>
              <a:rPr lang="en-US" b="1" dirty="0"/>
              <a:t>Sovereign Incentives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What's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AD2D9-493C-95D2-9395-B5A838307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69" y="2011680"/>
            <a:ext cx="10205532" cy="4206240"/>
          </a:xfrm>
        </p:spPr>
        <p:txBody>
          <a:bodyPr/>
          <a:lstStyle/>
          <a:p>
            <a:r>
              <a:rPr lang="en-US" dirty="0"/>
              <a:t>For poor small countries and some larger countries (Türkiye, Nigeria, Egypt, Pakistan), finance is crucial - WB has a lot of leverage</a:t>
            </a:r>
          </a:p>
          <a:p>
            <a:r>
              <a:rPr lang="en-US" dirty="0"/>
              <a:t> For larger countries, EU is crucial - see the destination basis approach. CBAM makes a big difference - if CBAM is messed up, it puts back the agenda</a:t>
            </a:r>
          </a:p>
          <a:p>
            <a:r>
              <a:rPr lang="en-US" dirty="0"/>
              <a:t> Oil importers are an important coalition (EU + China + India). Industrial policy and norms are vital, plus buyer's cartel.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33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06C2-CE54-32B1-F8D8-D056EF3C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92" y="276224"/>
            <a:ext cx="9661272" cy="1508760"/>
          </a:xfrm>
        </p:spPr>
        <p:txBody>
          <a:bodyPr>
            <a:normAutofit/>
          </a:bodyPr>
          <a:lstStyle/>
          <a:p>
            <a:r>
              <a:rPr lang="en-US" b="1" dirty="0"/>
              <a:t>Infrastructure Support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What's broken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87AB8-63A3-5B81-ABFF-990D0A8A0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32" y="2011680"/>
            <a:ext cx="8464717" cy="4206240"/>
          </a:xfrm>
        </p:spPr>
        <p:txBody>
          <a:bodyPr/>
          <a:lstStyle/>
          <a:p>
            <a:r>
              <a:rPr lang="en-US" dirty="0"/>
              <a:t>Ad hoc, no major coordination </a:t>
            </a:r>
          </a:p>
          <a:p>
            <a:r>
              <a:rPr lang="en-US" dirty="0"/>
              <a:t>Needs economic development focus.</a:t>
            </a:r>
          </a:p>
          <a:p>
            <a:r>
              <a:rPr lang="en-US" dirty="0"/>
              <a:t> WB takes fund and hold: does not scale impact or create risk absorption beyond the standard MDB model (i.e. no equity + insurance funds)</a:t>
            </a:r>
          </a:p>
          <a:p>
            <a:r>
              <a:rPr lang="en-US" dirty="0"/>
              <a:t>Needs macro scale.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06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0D0D-BDA2-28C4-DB7C-6A26A654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4176"/>
            <a:ext cx="10301199" cy="1508760"/>
          </a:xfrm>
        </p:spPr>
        <p:txBody>
          <a:bodyPr>
            <a:normAutofit/>
          </a:bodyPr>
          <a:lstStyle/>
          <a:p>
            <a:r>
              <a:rPr lang="en-US" b="1" dirty="0"/>
              <a:t>Infrastructure Support: </a:t>
            </a:r>
            <a:br>
              <a:rPr lang="en-US" dirty="0"/>
            </a:br>
            <a:r>
              <a:rPr lang="en-US" dirty="0"/>
              <a:t>What's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B80B9-1E92-945D-D9AD-E5269E450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11680"/>
            <a:ext cx="10946757" cy="4206240"/>
          </a:xfrm>
        </p:spPr>
        <p:txBody>
          <a:bodyPr/>
          <a:lstStyle/>
          <a:p>
            <a:r>
              <a:rPr lang="en-US" dirty="0"/>
              <a:t>Revenue guarantee instruments</a:t>
            </a:r>
          </a:p>
          <a:p>
            <a:r>
              <a:rPr lang="en-US" dirty="0"/>
              <a:t> Guarantees of revenue guarantee instruments</a:t>
            </a:r>
          </a:p>
          <a:p>
            <a:r>
              <a:rPr lang="en-US" dirty="0"/>
              <a:t> Coordinated up-front plan of net zero given infrastructure lead times and permitting delays.</a:t>
            </a:r>
          </a:p>
          <a:p>
            <a:r>
              <a:rPr lang="en-US" dirty="0"/>
              <a:t> Know-how needs to be not all located in countries; e.g. 'Net Zero consortia' can be corporation + IFI led.</a:t>
            </a:r>
          </a:p>
        </p:txBody>
      </p:sp>
    </p:spTree>
    <p:extLst>
      <p:ext uri="{BB962C8B-B14F-4D97-AF65-F5344CB8AC3E}">
        <p14:creationId xmlns:p14="http://schemas.microsoft.com/office/powerpoint/2010/main" val="3236539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DAE2-5876-4E72-B7C7-80BA92051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57" y="284176"/>
            <a:ext cx="10373542" cy="1508760"/>
          </a:xfrm>
        </p:spPr>
        <p:txBody>
          <a:bodyPr/>
          <a:lstStyle/>
          <a:p>
            <a:r>
              <a:rPr lang="en-US" b="1" dirty="0"/>
              <a:t>CONCLUSION:</a:t>
            </a:r>
            <a:br>
              <a:rPr lang="en-US" b="1" dirty="0"/>
            </a:br>
            <a:r>
              <a:rPr lang="en-US" dirty="0"/>
              <a:t>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76B98-59A4-56B2-1C5A-1E2328AD5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58" y="2011680"/>
            <a:ext cx="10373541" cy="4206240"/>
          </a:xfrm>
        </p:spPr>
        <p:txBody>
          <a:bodyPr/>
          <a:lstStyle/>
          <a:p>
            <a:r>
              <a:rPr lang="en-US" b="1" dirty="0"/>
              <a:t>What's broken</a:t>
            </a:r>
            <a:r>
              <a:rPr lang="en-US" dirty="0"/>
              <a:t>? UNFCCC</a:t>
            </a:r>
          </a:p>
          <a:p>
            <a:r>
              <a:rPr lang="en-US" b="1" dirty="0"/>
              <a:t>What’s needed</a:t>
            </a:r>
            <a:r>
              <a:rPr lang="en-US" dirty="0"/>
              <a:t>: Oil-importer collaboration (EU, Japan, China, India)</a:t>
            </a:r>
          </a:p>
        </p:txBody>
      </p:sp>
    </p:spTree>
    <p:extLst>
      <p:ext uri="{BB962C8B-B14F-4D97-AF65-F5344CB8AC3E}">
        <p14:creationId xmlns:p14="http://schemas.microsoft.com/office/powerpoint/2010/main" val="41317915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163</TotalTime>
  <Words>913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Corbel</vt:lpstr>
      <vt:lpstr>Wingdings</vt:lpstr>
      <vt:lpstr>Banded</vt:lpstr>
      <vt:lpstr>Climate policy</vt:lpstr>
      <vt:lpstr>Overview:  What's BROKEN, WHAT’s NEEDED?</vt:lpstr>
      <vt:lpstr>Overview: KEY Success FACTORS </vt:lpstr>
      <vt:lpstr>THEORY OF CHANGE:  What's Broken</vt:lpstr>
      <vt:lpstr>THEORY OF CHANGE:  What’s NEEDED</vt:lpstr>
      <vt:lpstr>'Carbon Pricing' Instruments:  What's Broken</vt:lpstr>
      <vt:lpstr>'Carbon Pricing' Instruments: what's needed</vt:lpstr>
      <vt:lpstr>Sovereign Incentives:  What's broken</vt:lpstr>
      <vt:lpstr>Sovereign Incentives:  What's needed</vt:lpstr>
      <vt:lpstr>Infrastructure Support:  What's broken</vt:lpstr>
      <vt:lpstr>Infrastructure Support:  What's needed</vt:lpstr>
      <vt:lpstr>CONCLUSION: Governance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Stretton</dc:creator>
  <cp:lastModifiedBy>Stephen Stretton</cp:lastModifiedBy>
  <cp:revision>63</cp:revision>
  <dcterms:created xsi:type="dcterms:W3CDTF">2026-05-15T16:35:33Z</dcterms:created>
  <dcterms:modified xsi:type="dcterms:W3CDTF">2026-05-16T00:24:29Z</dcterms:modified>
</cp:coreProperties>
</file>